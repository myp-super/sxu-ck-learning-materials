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3" r:id="rId3"/>
    <p:sldId id="257" r:id="rId4"/>
    <p:sldId id="274" r:id="rId5"/>
    <p:sldId id="282" r:id="rId6"/>
    <p:sldId id="283" r:id="rId7"/>
    <p:sldId id="275" r:id="rId8"/>
    <p:sldId id="276" r:id="rId9"/>
    <p:sldId id="277" r:id="rId10"/>
    <p:sldId id="278" r:id="rId11"/>
    <p:sldId id="267" r:id="rId12"/>
    <p:sldId id="279" r:id="rId13"/>
    <p:sldId id="281" r:id="rId14"/>
    <p:sldId id="280" r:id="rId1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626"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800" b="0" i="0">
                <a:solidFill>
                  <a:schemeClr val="tx1"/>
                </a:solidFill>
                <a:latin typeface="Tahoma"/>
                <a:cs typeface="Tahoma"/>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Tahoma"/>
                <a:cs typeface="Tahom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962" y="686562"/>
            <a:ext cx="8229600" cy="0"/>
          </a:xfrm>
          <a:custGeom>
            <a:avLst/>
            <a:gdLst/>
            <a:ahLst/>
            <a:cxnLst/>
            <a:rect l="l" t="t" r="r" b="b"/>
            <a:pathLst>
              <a:path w="8229600">
                <a:moveTo>
                  <a:pt x="0" y="0"/>
                </a:moveTo>
                <a:lnTo>
                  <a:pt x="8229600" y="0"/>
                </a:lnTo>
              </a:path>
            </a:pathLst>
          </a:custGeom>
          <a:ln w="38100">
            <a:solidFill>
              <a:srgbClr val="000000"/>
            </a:solidFill>
          </a:ln>
        </p:spPr>
        <p:txBody>
          <a:bodyPr wrap="square" lIns="0" tIns="0" rIns="0" bIns="0" rtlCol="0"/>
          <a:lstStyle/>
          <a:p>
            <a:endParaRPr/>
          </a:p>
        </p:txBody>
      </p:sp>
      <p:sp>
        <p:nvSpPr>
          <p:cNvPr id="2" name="Holder 2"/>
          <p:cNvSpPr>
            <a:spLocks noGrp="1"/>
          </p:cNvSpPr>
          <p:nvPr>
            <p:ph type="title"/>
          </p:nvPr>
        </p:nvSpPr>
        <p:spPr>
          <a:xfrm>
            <a:off x="444500" y="125933"/>
            <a:ext cx="8255000" cy="452120"/>
          </a:xfrm>
          <a:prstGeom prst="rect">
            <a:avLst/>
          </a:prstGeom>
        </p:spPr>
        <p:txBody>
          <a:bodyPr wrap="square" lIns="0" tIns="0" rIns="0" bIns="0">
            <a:spAutoFit/>
          </a:bodyPr>
          <a:lstStyle>
            <a:lvl1pPr>
              <a:defRPr sz="2800" b="0" i="0">
                <a:solidFill>
                  <a:schemeClr val="tx1"/>
                </a:solidFill>
                <a:latin typeface="Tahoma"/>
                <a:cs typeface="Tahoma"/>
              </a:defRPr>
            </a:lvl1pPr>
          </a:lstStyle>
          <a:p>
            <a:endParaRPr/>
          </a:p>
        </p:txBody>
      </p:sp>
      <p:sp>
        <p:nvSpPr>
          <p:cNvPr id="3" name="Holder 3"/>
          <p:cNvSpPr>
            <a:spLocks noGrp="1"/>
          </p:cNvSpPr>
          <p:nvPr>
            <p:ph type="body" idx="1"/>
          </p:nvPr>
        </p:nvSpPr>
        <p:spPr>
          <a:xfrm>
            <a:off x="604754" y="1638076"/>
            <a:ext cx="5521325" cy="26384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wmf"/><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oleObject" Target="../embeddings/oleObject3.bin"/><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oleObject" Target="../embeddings/oleObject9.bin"/><Relationship Id="rId3" Type="http://schemas.openxmlformats.org/officeDocument/2006/relationships/image" Target="../media/image23.png"/><Relationship Id="rId7" Type="http://schemas.openxmlformats.org/officeDocument/2006/relationships/oleObject" Target="../embeddings/oleObject6.bin"/><Relationship Id="rId12"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26.png"/><Relationship Id="rId4" Type="http://schemas.openxmlformats.org/officeDocument/2006/relationships/image" Target="../media/image22.jpg"/><Relationship Id="rId9" Type="http://schemas.openxmlformats.org/officeDocument/2006/relationships/oleObject" Target="../embeddings/oleObject7.bin"/><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8299" y="1067167"/>
            <a:ext cx="5867401" cy="535403"/>
          </a:xfrm>
          <a:prstGeom prst="rect">
            <a:avLst/>
          </a:prstGeom>
        </p:spPr>
        <p:txBody>
          <a:bodyPr vert="horz" wrap="square" lIns="0" tIns="12065" rIns="0" bIns="0" rtlCol="0">
            <a:spAutoFit/>
          </a:bodyPr>
          <a:lstStyle/>
          <a:p>
            <a:pPr marL="12700">
              <a:lnSpc>
                <a:spcPct val="100000"/>
              </a:lnSpc>
              <a:spcBef>
                <a:spcPts val="95"/>
              </a:spcBef>
            </a:pPr>
            <a:r>
              <a:rPr sz="3400" dirty="0"/>
              <a:t>The</a:t>
            </a:r>
            <a:r>
              <a:rPr lang="en-US" sz="3400" spc="-85" dirty="0"/>
              <a:t> </a:t>
            </a:r>
            <a:r>
              <a:rPr sz="3400" dirty="0"/>
              <a:t>Nyquist</a:t>
            </a:r>
            <a:r>
              <a:rPr sz="3400" spc="-85" dirty="0"/>
              <a:t> </a:t>
            </a:r>
            <a:r>
              <a:rPr sz="3400" dirty="0"/>
              <a:t>Stability</a:t>
            </a:r>
            <a:r>
              <a:rPr sz="3400" spc="-95" dirty="0"/>
              <a:t> </a:t>
            </a:r>
            <a:r>
              <a:rPr sz="3400" spc="-10" dirty="0"/>
              <a:t>Criterion</a:t>
            </a:r>
            <a:endParaRPr sz="3400" dirty="0"/>
          </a:p>
        </p:txBody>
      </p:sp>
      <p:pic>
        <p:nvPicPr>
          <p:cNvPr id="3" name="图片 2">
            <a:extLst>
              <a:ext uri="{FF2B5EF4-FFF2-40B4-BE49-F238E27FC236}">
                <a16:creationId xmlns:a16="http://schemas.microsoft.com/office/drawing/2014/main" id="{7D9750CD-E634-5E7D-F241-88A94628A0D3}"/>
              </a:ext>
            </a:extLst>
          </p:cNvPr>
          <p:cNvPicPr>
            <a:picLocks noChangeAspect="1"/>
          </p:cNvPicPr>
          <p:nvPr/>
        </p:nvPicPr>
        <p:blipFill>
          <a:blip r:embed="rId2">
            <a:extLst>
              <a:ext uri="{28A0092B-C50C-407E-A947-70E740481C1C}">
                <a14:useLocalDpi xmlns:a14="http://schemas.microsoft.com/office/drawing/2010/main" val="0"/>
              </a:ext>
            </a:extLst>
          </a:blip>
          <a:srcRect b="5555"/>
          <a:stretch>
            <a:fillRect/>
          </a:stretch>
        </p:blipFill>
        <p:spPr>
          <a:xfrm>
            <a:off x="312853" y="1828800"/>
            <a:ext cx="3992447" cy="4343400"/>
          </a:xfrm>
          <a:prstGeom prst="rect">
            <a:avLst/>
          </a:prstGeom>
        </p:spPr>
      </p:pic>
      <p:sp>
        <p:nvSpPr>
          <p:cNvPr id="4" name="文本框 3">
            <a:extLst>
              <a:ext uri="{FF2B5EF4-FFF2-40B4-BE49-F238E27FC236}">
                <a16:creationId xmlns:a16="http://schemas.microsoft.com/office/drawing/2014/main" id="{D1F277E4-4C63-46D0-A988-1857DF18AE32}"/>
              </a:ext>
            </a:extLst>
          </p:cNvPr>
          <p:cNvSpPr txBox="1"/>
          <p:nvPr/>
        </p:nvSpPr>
        <p:spPr>
          <a:xfrm>
            <a:off x="4873338" y="4876800"/>
            <a:ext cx="3124200" cy="646331"/>
          </a:xfrm>
          <a:prstGeom prst="rect">
            <a:avLst/>
          </a:prstGeom>
          <a:noFill/>
        </p:spPr>
        <p:txBody>
          <a:bodyPr wrap="square" rtlCol="0">
            <a:spAutoFit/>
          </a:bodyPr>
          <a:lstStyle/>
          <a:p>
            <a:r>
              <a:rPr lang="zh-CN" altLang="en-US" dirty="0"/>
              <a:t>小组成员：马宇佩、王浩锦</a:t>
            </a:r>
            <a:r>
              <a:rPr lang="en-US" altLang="zh-CN" dirty="0"/>
              <a:t>	    </a:t>
            </a:r>
            <a:r>
              <a:rPr lang="zh-CN" altLang="en-US" dirty="0"/>
              <a:t>图尔贡、秦谐民</a:t>
            </a:r>
          </a:p>
        </p:txBody>
      </p:sp>
      <p:sp>
        <p:nvSpPr>
          <p:cNvPr id="5" name="文本框 4">
            <a:extLst>
              <a:ext uri="{FF2B5EF4-FFF2-40B4-BE49-F238E27FC236}">
                <a16:creationId xmlns:a16="http://schemas.microsoft.com/office/drawing/2014/main" id="{28FA1088-6780-98A4-8623-D1D2197CCE71}"/>
              </a:ext>
            </a:extLst>
          </p:cNvPr>
          <p:cNvSpPr txBox="1"/>
          <p:nvPr/>
        </p:nvSpPr>
        <p:spPr>
          <a:xfrm>
            <a:off x="4873338" y="4267200"/>
            <a:ext cx="3200400" cy="369332"/>
          </a:xfrm>
          <a:prstGeom prst="rect">
            <a:avLst/>
          </a:prstGeom>
          <a:noFill/>
        </p:spPr>
        <p:txBody>
          <a:bodyPr wrap="square" rtlCol="0">
            <a:spAutoFit/>
          </a:bodyPr>
          <a:lstStyle/>
          <a:p>
            <a:r>
              <a:rPr lang="zh-CN" altLang="en-US" dirty="0"/>
              <a:t>汇报人顺序：王浩锦、马宇佩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7933D0F-637D-65E3-DB97-1DE8D5AD767A}"/>
              </a:ext>
            </a:extLst>
          </p:cNvPr>
          <p:cNvPicPr>
            <a:picLocks noChangeAspect="1"/>
          </p:cNvPicPr>
          <p:nvPr/>
        </p:nvPicPr>
        <p:blipFill>
          <a:blip r:embed="rId2"/>
          <a:stretch>
            <a:fillRect/>
          </a:stretch>
        </p:blipFill>
        <p:spPr>
          <a:xfrm>
            <a:off x="927056" y="743148"/>
            <a:ext cx="3568745" cy="5371704"/>
          </a:xfrm>
          <a:prstGeom prst="rect">
            <a:avLst/>
          </a:prstGeom>
        </p:spPr>
      </p:pic>
      <p:sp>
        <p:nvSpPr>
          <p:cNvPr id="6" name="文本框 5">
            <a:extLst>
              <a:ext uri="{FF2B5EF4-FFF2-40B4-BE49-F238E27FC236}">
                <a16:creationId xmlns:a16="http://schemas.microsoft.com/office/drawing/2014/main" id="{FE08928F-5296-AA97-EEC9-6CACCE4813E6}"/>
              </a:ext>
            </a:extLst>
          </p:cNvPr>
          <p:cNvSpPr txBox="1"/>
          <p:nvPr/>
        </p:nvSpPr>
        <p:spPr>
          <a:xfrm>
            <a:off x="4800600" y="1336119"/>
            <a:ext cx="3810000" cy="4185761"/>
          </a:xfrm>
          <a:prstGeom prst="rect">
            <a:avLst/>
          </a:prstGeom>
          <a:noFill/>
        </p:spPr>
        <p:txBody>
          <a:bodyPr wrap="square" rtlCol="0">
            <a:spAutoFit/>
          </a:bodyPr>
          <a:lstStyle/>
          <a:p>
            <a:r>
              <a:rPr lang="en-US" altLang="zh-CN" sz="1400" dirty="0">
                <a:solidFill>
                  <a:schemeClr val="tx1"/>
                </a:solidFill>
                <a:latin typeface="Tahoma"/>
                <a:ea typeface="+mj-ea"/>
                <a:cs typeface="Tahoma"/>
              </a:rPr>
              <a:t>A stability test for time invariant linear systems can also be derived in the frequency domain. It is known as Nyquist stability criterion. It is based on the complex analysis result known as Cauchy’s principle of argument. Note that the system transfer function is a complex function. By applying Cauchy's principle of argument to the open-loop system transfer function, we will get information about stability of the closed-loop system transfer function and arrive at the Nyquist stability criterion (Nyquist, 1932). The importance of Nyquist stability lies in the fact that it can also be used to determine the relative degree of system stability by producing the so-called phase and gain stability margins. These stability margins are needed for frequency domain controller design techniques</a:t>
            </a:r>
            <a:endParaRPr lang="zh-CN" altLang="en-US" sz="1400" dirty="0">
              <a:solidFill>
                <a:schemeClr val="tx1"/>
              </a:solidFill>
              <a:latin typeface="Tahoma"/>
              <a:ea typeface="+mj-ea"/>
              <a:cs typeface="Tahoma"/>
            </a:endParaRPr>
          </a:p>
        </p:txBody>
      </p:sp>
    </p:spTree>
    <p:extLst>
      <p:ext uri="{BB962C8B-B14F-4D97-AF65-F5344CB8AC3E}">
        <p14:creationId xmlns:p14="http://schemas.microsoft.com/office/powerpoint/2010/main" val="270201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125933"/>
            <a:ext cx="8255000" cy="505908"/>
          </a:xfrm>
          <a:prstGeom prst="rect">
            <a:avLst/>
          </a:prstGeom>
        </p:spPr>
        <p:txBody>
          <a:bodyPr vert="horz" wrap="square" lIns="0" tIns="13335" rIns="0" bIns="0" rtlCol="0">
            <a:spAutoFit/>
          </a:bodyPr>
          <a:lstStyle/>
          <a:p>
            <a:pPr marL="12700">
              <a:lnSpc>
                <a:spcPct val="100000"/>
              </a:lnSpc>
              <a:spcBef>
                <a:spcPts val="105"/>
              </a:spcBef>
            </a:pPr>
            <a:r>
              <a:rPr sz="3200" b="1" dirty="0"/>
              <a:t>Feedback</a:t>
            </a:r>
            <a:r>
              <a:rPr sz="3200" b="1" spc="-50" dirty="0"/>
              <a:t> </a:t>
            </a:r>
            <a:r>
              <a:rPr sz="3200" b="1" dirty="0"/>
              <a:t>loop</a:t>
            </a:r>
            <a:r>
              <a:rPr sz="3200" b="1" spc="-40" dirty="0"/>
              <a:t> </a:t>
            </a:r>
            <a:r>
              <a:rPr sz="3200" b="1" spc="-10" dirty="0"/>
              <a:t>stability</a:t>
            </a:r>
            <a:endParaRPr sz="3200" b="1" dirty="0"/>
          </a:p>
        </p:txBody>
      </p:sp>
      <p:pic>
        <p:nvPicPr>
          <p:cNvPr id="12" name="object 12"/>
          <p:cNvPicPr/>
          <p:nvPr/>
        </p:nvPicPr>
        <p:blipFill>
          <a:blip r:embed="rId2" cstate="print"/>
          <a:stretch>
            <a:fillRect/>
          </a:stretch>
        </p:blipFill>
        <p:spPr>
          <a:xfrm>
            <a:off x="4604327" y="1083172"/>
            <a:ext cx="3691943" cy="1643121"/>
          </a:xfrm>
          <a:prstGeom prst="rect">
            <a:avLst/>
          </a:prstGeom>
        </p:spPr>
      </p:pic>
      <p:sp>
        <p:nvSpPr>
          <p:cNvPr id="13" name="object 13"/>
          <p:cNvSpPr txBox="1"/>
          <p:nvPr/>
        </p:nvSpPr>
        <p:spPr>
          <a:xfrm>
            <a:off x="1295400" y="1184305"/>
            <a:ext cx="5521325" cy="2638425"/>
          </a:xfrm>
          <a:prstGeom prst="rect">
            <a:avLst/>
          </a:prstGeom>
        </p:spPr>
        <p:txBody>
          <a:bodyPr vert="horz" wrap="square" lIns="0" tIns="76835" rIns="0" bIns="0" rtlCol="0">
            <a:spAutoFit/>
          </a:bodyPr>
          <a:lstStyle/>
          <a:p>
            <a:pPr marL="496570">
              <a:lnSpc>
                <a:spcPct val="100000"/>
              </a:lnSpc>
              <a:spcBef>
                <a:spcPts val="605"/>
              </a:spcBef>
            </a:pPr>
            <a:endParaRPr sz="2400" dirty="0">
              <a:latin typeface="Times New Roman"/>
              <a:cs typeface="Times New Roman"/>
            </a:endParaRPr>
          </a:p>
          <a:p>
            <a:pPr marL="774700">
              <a:lnSpc>
                <a:spcPct val="100000"/>
              </a:lnSpc>
              <a:spcBef>
                <a:spcPts val="509"/>
              </a:spcBef>
            </a:pPr>
            <a:endParaRPr sz="2400" dirty="0">
              <a:latin typeface="Times New Roman"/>
              <a:cs typeface="Times New Roman"/>
            </a:endParaRPr>
          </a:p>
          <a:p>
            <a:pPr>
              <a:lnSpc>
                <a:spcPct val="100000"/>
              </a:lnSpc>
            </a:pPr>
            <a:endParaRPr sz="2400" dirty="0">
              <a:latin typeface="Times New Roman"/>
              <a:cs typeface="Times New Roman"/>
            </a:endParaRPr>
          </a:p>
          <a:p>
            <a:pPr>
              <a:lnSpc>
                <a:spcPct val="100000"/>
              </a:lnSpc>
              <a:spcBef>
                <a:spcPts val="1725"/>
              </a:spcBef>
            </a:pPr>
            <a:endParaRPr sz="2400" dirty="0">
              <a:latin typeface="Times New Roman"/>
              <a:cs typeface="Times New Roman"/>
            </a:endParaRPr>
          </a:p>
          <a:p>
            <a:pPr marL="55244">
              <a:lnSpc>
                <a:spcPct val="100000"/>
              </a:lnSpc>
            </a:pPr>
            <a:br>
              <a:rPr lang="en-US" sz="2400" dirty="0">
                <a:latin typeface="Times New Roman"/>
                <a:cs typeface="Times New Roman"/>
              </a:rPr>
            </a:br>
            <a:endParaRPr sz="2400" dirty="0">
              <a:latin typeface="Times New Roman"/>
              <a:cs typeface="Times New Roman"/>
            </a:endParaRPr>
          </a:p>
        </p:txBody>
      </p:sp>
      <p:pic>
        <p:nvPicPr>
          <p:cNvPr id="16" name="图片 15">
            <a:extLst>
              <a:ext uri="{FF2B5EF4-FFF2-40B4-BE49-F238E27FC236}">
                <a16:creationId xmlns:a16="http://schemas.microsoft.com/office/drawing/2014/main" id="{DB3E4744-47CB-B236-9A74-F3DFE7BEF1CD}"/>
              </a:ext>
            </a:extLst>
          </p:cNvPr>
          <p:cNvPicPr>
            <a:picLocks noChangeAspect="1"/>
          </p:cNvPicPr>
          <p:nvPr/>
        </p:nvPicPr>
        <p:blipFill>
          <a:blip r:embed="rId3"/>
          <a:stretch>
            <a:fillRect/>
          </a:stretch>
        </p:blipFill>
        <p:spPr>
          <a:xfrm>
            <a:off x="2133600" y="3482896"/>
            <a:ext cx="4114057" cy="969177"/>
          </a:xfrm>
          <a:prstGeom prst="rect">
            <a:avLst/>
          </a:prstGeom>
        </p:spPr>
      </p:pic>
      <p:sp>
        <p:nvSpPr>
          <p:cNvPr id="20" name="文本框 19">
            <a:extLst>
              <a:ext uri="{FF2B5EF4-FFF2-40B4-BE49-F238E27FC236}">
                <a16:creationId xmlns:a16="http://schemas.microsoft.com/office/drawing/2014/main" id="{C481FEBC-7505-57AD-F6DD-99A40F23B8E8}"/>
              </a:ext>
            </a:extLst>
          </p:cNvPr>
          <p:cNvSpPr txBox="1"/>
          <p:nvPr/>
        </p:nvSpPr>
        <p:spPr>
          <a:xfrm>
            <a:off x="1524000" y="4501586"/>
            <a:ext cx="5791200" cy="2246769"/>
          </a:xfrm>
          <a:prstGeom prst="rect">
            <a:avLst/>
          </a:prstGeom>
          <a:noFill/>
        </p:spPr>
        <p:txBody>
          <a:bodyPr wrap="square">
            <a:spAutoFit/>
          </a:bodyPr>
          <a:lstStyle/>
          <a:p>
            <a:r>
              <a:rPr lang="en-US" altLang="zh-CN" sz="2000" dirty="0">
                <a:solidFill>
                  <a:schemeClr val="tx1"/>
                </a:solidFill>
                <a:latin typeface="Tahoma"/>
                <a:ea typeface="+mj-ea"/>
                <a:cs typeface="Tahoma"/>
              </a:rPr>
              <a:t>where represents the system and is the feedback element. Since the system poles are determined as those values at which its transfer function becomes infinity, it follows that the closed-loop system poles are obtained by solving the following equation which, in fact, represents the system characteristic equation.</a:t>
            </a:r>
            <a:endParaRPr lang="zh-CN" altLang="en-US" sz="2000" dirty="0">
              <a:solidFill>
                <a:schemeClr val="tx1"/>
              </a:solidFill>
              <a:latin typeface="Tahoma"/>
              <a:ea typeface="+mj-ea"/>
              <a:cs typeface="Tahoma"/>
            </a:endParaRPr>
          </a:p>
        </p:txBody>
      </p:sp>
      <p:sp>
        <p:nvSpPr>
          <p:cNvPr id="21" name="文本框 20">
            <a:extLst>
              <a:ext uri="{FF2B5EF4-FFF2-40B4-BE49-F238E27FC236}">
                <a16:creationId xmlns:a16="http://schemas.microsoft.com/office/drawing/2014/main" id="{0511997A-1795-BC20-085F-4CB8B21924C9}"/>
              </a:ext>
            </a:extLst>
          </p:cNvPr>
          <p:cNvSpPr txBox="1"/>
          <p:nvPr/>
        </p:nvSpPr>
        <p:spPr>
          <a:xfrm>
            <a:off x="395498" y="1044855"/>
            <a:ext cx="3886200" cy="2554545"/>
          </a:xfrm>
          <a:prstGeom prst="rect">
            <a:avLst/>
          </a:prstGeom>
          <a:noFill/>
        </p:spPr>
        <p:txBody>
          <a:bodyPr wrap="square" rtlCol="0">
            <a:spAutoFit/>
          </a:bodyPr>
          <a:lstStyle/>
          <a:p>
            <a:r>
              <a:rPr lang="en-US" altLang="zh-CN" sz="2000" dirty="0">
                <a:solidFill>
                  <a:schemeClr val="tx1"/>
                </a:solidFill>
                <a:latin typeface="Tahoma"/>
                <a:ea typeface="+mj-ea"/>
                <a:cs typeface="Tahoma"/>
              </a:rPr>
              <a:t>We present only the essence of the Nyquist stability criterion .The Nyquist method is used for studying the stability of linear systems with pure time delay. For a SISO feedback system the closed-loop transfer function is given by</a:t>
            </a:r>
            <a:endParaRPr lang="zh-CN" altLang="en-US" sz="2000" dirty="0">
              <a:solidFill>
                <a:schemeClr val="tx1"/>
              </a:solidFill>
              <a:latin typeface="Tahoma"/>
              <a:ea typeface="+mj-ea"/>
              <a:cs typeface="Tahoma"/>
            </a:endParaRPr>
          </a:p>
        </p:txBody>
      </p:sp>
      <p:sp>
        <p:nvSpPr>
          <p:cNvPr id="22" name="等腰三角形 21">
            <a:extLst>
              <a:ext uri="{FF2B5EF4-FFF2-40B4-BE49-F238E27FC236}">
                <a16:creationId xmlns:a16="http://schemas.microsoft.com/office/drawing/2014/main" id="{5E484EA9-1762-8C61-82B2-6639B70967E4}"/>
              </a:ext>
            </a:extLst>
          </p:cNvPr>
          <p:cNvSpPr/>
          <p:nvPr/>
        </p:nvSpPr>
        <p:spPr>
          <a:xfrm rot="5400000">
            <a:off x="6333316" y="1210485"/>
            <a:ext cx="574704" cy="592137"/>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5" name="矩形 24">
            <a:extLst>
              <a:ext uri="{FF2B5EF4-FFF2-40B4-BE49-F238E27FC236}">
                <a16:creationId xmlns:a16="http://schemas.microsoft.com/office/drawing/2014/main" id="{5F31BBA6-5427-9C2B-9DC4-959CD645E488}"/>
              </a:ext>
            </a:extLst>
          </p:cNvPr>
          <p:cNvSpPr/>
          <p:nvPr/>
        </p:nvSpPr>
        <p:spPr>
          <a:xfrm>
            <a:off x="6247657" y="1929935"/>
            <a:ext cx="991343" cy="7963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6D6CA8CD-B3C9-DCBD-8BA3-B611DADA5E51}"/>
              </a:ext>
            </a:extLst>
          </p:cNvPr>
          <p:cNvSpPr/>
          <p:nvPr/>
        </p:nvSpPr>
        <p:spPr>
          <a:xfrm>
            <a:off x="6124996" y="1044855"/>
            <a:ext cx="991343" cy="7963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 name="对象 27">
            <a:extLst>
              <a:ext uri="{FF2B5EF4-FFF2-40B4-BE49-F238E27FC236}">
                <a16:creationId xmlns:a16="http://schemas.microsoft.com/office/drawing/2014/main" id="{DA8C0280-FCD2-751E-D9CC-99E0E79CF191}"/>
              </a:ext>
            </a:extLst>
          </p:cNvPr>
          <p:cNvGraphicFramePr>
            <a:graphicFrameLocks noChangeAspect="1"/>
          </p:cNvGraphicFramePr>
          <p:nvPr>
            <p:extLst>
              <p:ext uri="{D42A27DB-BD31-4B8C-83A1-F6EECF244321}">
                <p14:modId xmlns:p14="http://schemas.microsoft.com/office/powerpoint/2010/main" val="1894257716"/>
              </p:ext>
            </p:extLst>
          </p:nvPr>
        </p:nvGraphicFramePr>
        <p:xfrm>
          <a:off x="6280062" y="1247636"/>
          <a:ext cx="681210" cy="476528"/>
        </p:xfrm>
        <a:graphic>
          <a:graphicData uri="http://schemas.openxmlformats.org/presentationml/2006/ole">
            <mc:AlternateContent xmlns:mc="http://schemas.openxmlformats.org/markup-compatibility/2006">
              <mc:Choice xmlns:v="urn:schemas-microsoft-com:vml" Requires="v">
                <p:oleObj name="AxMath" r:id="rId4" imgW="338400" imgH="235800" progId="Equation.AxMath">
                  <p:embed/>
                </p:oleObj>
              </mc:Choice>
              <mc:Fallback>
                <p:oleObj name="AxMath" r:id="rId4" imgW="338400" imgH="235800" progId="Equation.AxMath">
                  <p:embed/>
                  <p:pic>
                    <p:nvPicPr>
                      <p:cNvPr id="24" name="对象 23">
                        <a:extLst>
                          <a:ext uri="{FF2B5EF4-FFF2-40B4-BE49-F238E27FC236}">
                            <a16:creationId xmlns:a16="http://schemas.microsoft.com/office/drawing/2014/main" id="{77FE9083-879B-4AFD-C8EF-1C54DAB22416}"/>
                          </a:ext>
                        </a:extLst>
                      </p:cNvPr>
                      <p:cNvPicPr/>
                      <p:nvPr/>
                    </p:nvPicPr>
                    <p:blipFill>
                      <a:blip r:embed="rId5"/>
                      <a:stretch>
                        <a:fillRect/>
                      </a:stretch>
                    </p:blipFill>
                    <p:spPr>
                      <a:xfrm>
                        <a:off x="6280062" y="1247636"/>
                        <a:ext cx="681210" cy="476528"/>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C2C9E7F9-A8D4-B9DA-81F7-6D3F64F57C0E}"/>
              </a:ext>
            </a:extLst>
          </p:cNvPr>
          <p:cNvGraphicFramePr>
            <a:graphicFrameLocks noChangeAspect="1"/>
          </p:cNvGraphicFramePr>
          <p:nvPr>
            <p:extLst>
              <p:ext uri="{D42A27DB-BD31-4B8C-83A1-F6EECF244321}">
                <p14:modId xmlns:p14="http://schemas.microsoft.com/office/powerpoint/2010/main" val="1212494335"/>
              </p:ext>
            </p:extLst>
          </p:nvPr>
        </p:nvGraphicFramePr>
        <p:xfrm>
          <a:off x="6443662" y="2133601"/>
          <a:ext cx="642937" cy="402570"/>
        </p:xfrm>
        <a:graphic>
          <a:graphicData uri="http://schemas.openxmlformats.org/presentationml/2006/ole">
            <mc:AlternateContent xmlns:mc="http://schemas.openxmlformats.org/markup-compatibility/2006">
              <mc:Choice xmlns:v="urn:schemas-microsoft-com:vml" Requires="v">
                <p:oleObj name="AxMath" r:id="rId6" imgW="358560" imgH="235800" progId="Equation.AxMath">
                  <p:embed/>
                </p:oleObj>
              </mc:Choice>
              <mc:Fallback>
                <p:oleObj name="AxMath" r:id="rId6" imgW="358560" imgH="235800" progId="Equation.AxMath">
                  <p:embed/>
                  <p:pic>
                    <p:nvPicPr>
                      <p:cNvPr id="24" name="对象 23">
                        <a:extLst>
                          <a:ext uri="{FF2B5EF4-FFF2-40B4-BE49-F238E27FC236}">
                            <a16:creationId xmlns:a16="http://schemas.microsoft.com/office/drawing/2014/main" id="{77FE9083-879B-4AFD-C8EF-1C54DAB22416}"/>
                          </a:ext>
                        </a:extLst>
                      </p:cNvPr>
                      <p:cNvPicPr/>
                      <p:nvPr/>
                    </p:nvPicPr>
                    <p:blipFill>
                      <a:blip r:embed="rId7"/>
                      <a:stretch>
                        <a:fillRect/>
                      </a:stretch>
                    </p:blipFill>
                    <p:spPr>
                      <a:xfrm>
                        <a:off x="6443662" y="2133601"/>
                        <a:ext cx="642937" cy="402570"/>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B2A4EF-3D4D-D9A9-7A91-41F849FBAB80}"/>
              </a:ext>
            </a:extLst>
          </p:cNvPr>
          <p:cNvSpPr>
            <a:spLocks noGrp="1"/>
          </p:cNvSpPr>
          <p:nvPr>
            <p:ph type="title"/>
          </p:nvPr>
        </p:nvSpPr>
        <p:spPr>
          <a:xfrm>
            <a:off x="444500" y="125933"/>
            <a:ext cx="8255000" cy="430887"/>
          </a:xfrm>
        </p:spPr>
        <p:txBody>
          <a:bodyPr/>
          <a:lstStyle/>
          <a:p>
            <a:r>
              <a:rPr lang="en-US" altLang="zh-CN" dirty="0"/>
              <a:t> </a:t>
            </a:r>
            <a:endParaRPr lang="zh-CN" altLang="en-US" dirty="0"/>
          </a:p>
        </p:txBody>
      </p:sp>
      <p:pic>
        <p:nvPicPr>
          <p:cNvPr id="5" name="图片 4">
            <a:extLst>
              <a:ext uri="{FF2B5EF4-FFF2-40B4-BE49-F238E27FC236}">
                <a16:creationId xmlns:a16="http://schemas.microsoft.com/office/drawing/2014/main" id="{5E2EBF5E-E884-1FE8-05BA-A691580392E9}"/>
              </a:ext>
            </a:extLst>
          </p:cNvPr>
          <p:cNvPicPr>
            <a:picLocks noChangeAspect="1"/>
          </p:cNvPicPr>
          <p:nvPr/>
        </p:nvPicPr>
        <p:blipFill>
          <a:blip r:embed="rId2"/>
          <a:srcRect b="11681"/>
          <a:stretch>
            <a:fillRect/>
          </a:stretch>
        </p:blipFill>
        <p:spPr>
          <a:xfrm>
            <a:off x="141225" y="838200"/>
            <a:ext cx="8861550" cy="5566305"/>
          </a:xfrm>
          <a:prstGeom prst="rect">
            <a:avLst/>
          </a:prstGeom>
        </p:spPr>
      </p:pic>
    </p:spTree>
    <p:extLst>
      <p:ext uri="{BB962C8B-B14F-4D97-AF65-F5344CB8AC3E}">
        <p14:creationId xmlns:p14="http://schemas.microsoft.com/office/powerpoint/2010/main" val="749872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52E9F-570E-395B-557D-2AB8CF8AEDA5}"/>
              </a:ext>
            </a:extLst>
          </p:cNvPr>
          <p:cNvSpPr>
            <a:spLocks noGrp="1"/>
          </p:cNvSpPr>
          <p:nvPr>
            <p:ph type="title"/>
          </p:nvPr>
        </p:nvSpPr>
        <p:spPr>
          <a:xfrm>
            <a:off x="444500" y="125933"/>
            <a:ext cx="8255000" cy="430887"/>
          </a:xfrm>
        </p:spPr>
        <p:txBody>
          <a:bodyPr/>
          <a:lstStyle/>
          <a:p>
            <a:r>
              <a:rPr lang="sv-SE" altLang="zh-CN" b="1" dirty="0"/>
              <a:t>Cauchy's Principle of Argument</a:t>
            </a:r>
            <a:endParaRPr lang="zh-CN" altLang="en-US" b="1" dirty="0"/>
          </a:p>
        </p:txBody>
      </p:sp>
      <p:pic>
        <p:nvPicPr>
          <p:cNvPr id="5" name="图片 4">
            <a:extLst>
              <a:ext uri="{FF2B5EF4-FFF2-40B4-BE49-F238E27FC236}">
                <a16:creationId xmlns:a16="http://schemas.microsoft.com/office/drawing/2014/main" id="{69804FF9-67A0-145D-CD32-65ED8C04CE22}"/>
              </a:ext>
            </a:extLst>
          </p:cNvPr>
          <p:cNvPicPr>
            <a:picLocks noChangeAspect="1"/>
          </p:cNvPicPr>
          <p:nvPr/>
        </p:nvPicPr>
        <p:blipFill>
          <a:blip r:embed="rId2"/>
          <a:stretch>
            <a:fillRect/>
          </a:stretch>
        </p:blipFill>
        <p:spPr>
          <a:xfrm>
            <a:off x="762000" y="990600"/>
            <a:ext cx="7371428" cy="5114286"/>
          </a:xfrm>
          <a:prstGeom prst="rect">
            <a:avLst/>
          </a:prstGeom>
        </p:spPr>
      </p:pic>
    </p:spTree>
    <p:extLst>
      <p:ext uri="{BB962C8B-B14F-4D97-AF65-F5344CB8AC3E}">
        <p14:creationId xmlns:p14="http://schemas.microsoft.com/office/powerpoint/2010/main" val="3884421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568CB06-FAA5-BBB7-DEEA-E2DC4CB43E96}"/>
              </a:ext>
            </a:extLst>
          </p:cNvPr>
          <p:cNvPicPr>
            <a:picLocks noChangeAspect="1"/>
          </p:cNvPicPr>
          <p:nvPr/>
        </p:nvPicPr>
        <p:blipFill>
          <a:blip r:embed="rId2"/>
          <a:stretch>
            <a:fillRect/>
          </a:stretch>
        </p:blipFill>
        <p:spPr>
          <a:xfrm>
            <a:off x="1143000" y="990600"/>
            <a:ext cx="7142857" cy="4257143"/>
          </a:xfrm>
          <a:prstGeom prst="rect">
            <a:avLst/>
          </a:prstGeom>
        </p:spPr>
      </p:pic>
    </p:spTree>
    <p:extLst>
      <p:ext uri="{BB962C8B-B14F-4D97-AF65-F5344CB8AC3E}">
        <p14:creationId xmlns:p14="http://schemas.microsoft.com/office/powerpoint/2010/main" val="2735263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CE3816-C223-BB26-81CE-1F8728A45D6C}"/>
              </a:ext>
            </a:extLst>
          </p:cNvPr>
          <p:cNvSpPr>
            <a:spLocks noGrp="1"/>
          </p:cNvSpPr>
          <p:nvPr>
            <p:ph type="title"/>
          </p:nvPr>
        </p:nvSpPr>
        <p:spPr>
          <a:xfrm>
            <a:off x="444500" y="125933"/>
            <a:ext cx="8255000" cy="861774"/>
          </a:xfrm>
        </p:spPr>
        <p:txBody>
          <a:bodyPr/>
          <a:lstStyle/>
          <a:p>
            <a:r>
              <a:rPr lang="sv-SE" altLang="zh-CN" b="1" dirty="0"/>
              <a:t>Nyquist P</a:t>
            </a:r>
            <a:r>
              <a:rPr lang="en-US" altLang="zh-CN" b="1" dirty="0"/>
              <a:t>lot and stability criterion</a:t>
            </a:r>
            <a:br>
              <a:rPr lang="sv-SE" altLang="zh-CN" dirty="0"/>
            </a:b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E323D88-E64F-0281-BB68-88F4638AAA1C}"/>
                  </a:ext>
                </a:extLst>
              </p:cNvPr>
              <p:cNvSpPr txBox="1"/>
              <p:nvPr/>
            </p:nvSpPr>
            <p:spPr>
              <a:xfrm>
                <a:off x="494395" y="1910262"/>
                <a:ext cx="4572000" cy="64633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zh-CN" altLang="en-US" sz="3600" i="1" smtClean="0">
                          <a:solidFill>
                            <a:srgbClr val="000000"/>
                          </a:solidFill>
                          <a:latin typeface="Cambria Math" panose="02040503050406030204" pitchFamily="18" charset="0"/>
                        </a:rPr>
                        <m:t>𝑍</m:t>
                      </m:r>
                      <m:r>
                        <a:rPr lang="zh-CN" altLang="en-US" sz="3600" i="1" smtClean="0">
                          <a:solidFill>
                            <a:srgbClr val="000000"/>
                          </a:solidFill>
                          <a:latin typeface="Cambria Math" panose="02040503050406030204" pitchFamily="18" charset="0"/>
                        </a:rPr>
                        <m:t>=</m:t>
                      </m:r>
                      <m:r>
                        <a:rPr lang="zh-CN" altLang="en-US" sz="3600" i="1" smtClean="0">
                          <a:solidFill>
                            <a:srgbClr val="000000"/>
                          </a:solidFill>
                          <a:latin typeface="Cambria Math" panose="02040503050406030204" pitchFamily="18" charset="0"/>
                        </a:rPr>
                        <m:t>𝑃</m:t>
                      </m:r>
                      <m:r>
                        <a:rPr lang="zh-CN" altLang="en-US" sz="3600" i="1" smtClean="0">
                          <a:solidFill>
                            <a:srgbClr val="000000"/>
                          </a:solidFill>
                          <a:latin typeface="Cambria Math" panose="02040503050406030204" pitchFamily="18" charset="0"/>
                        </a:rPr>
                        <m:t>−</m:t>
                      </m:r>
                      <m:r>
                        <a:rPr lang="zh-CN" altLang="en-US" sz="3600" i="1" smtClean="0">
                          <a:solidFill>
                            <a:srgbClr val="000000"/>
                          </a:solidFill>
                          <a:latin typeface="Cambria Math" panose="02040503050406030204" pitchFamily="18" charset="0"/>
                        </a:rPr>
                        <m:t>𝑅</m:t>
                      </m:r>
                      <m:r>
                        <a:rPr lang="zh-CN" altLang="en-US" sz="3600" i="1" smtClean="0">
                          <a:solidFill>
                            <a:srgbClr val="000000"/>
                          </a:solidFill>
                          <a:latin typeface="Cambria Math" panose="02040503050406030204" pitchFamily="18" charset="0"/>
                        </a:rPr>
                        <m:t>=</m:t>
                      </m:r>
                      <m:r>
                        <a:rPr lang="zh-CN" altLang="en-US" sz="3600" i="1" smtClean="0">
                          <a:solidFill>
                            <a:srgbClr val="000000"/>
                          </a:solidFill>
                          <a:latin typeface="Cambria Math" panose="02040503050406030204" pitchFamily="18" charset="0"/>
                        </a:rPr>
                        <m:t>𝑃</m:t>
                      </m:r>
                      <m:r>
                        <a:rPr lang="zh-CN" altLang="en-US" sz="3600" i="1" smtClean="0">
                          <a:solidFill>
                            <a:srgbClr val="000000"/>
                          </a:solidFill>
                          <a:latin typeface="Cambria Math" panose="02040503050406030204" pitchFamily="18" charset="0"/>
                        </a:rPr>
                        <m:t>−2</m:t>
                      </m:r>
                      <m:r>
                        <a:rPr lang="zh-CN" altLang="en-US" sz="3600" i="1" smtClean="0">
                          <a:solidFill>
                            <a:srgbClr val="000000"/>
                          </a:solidFill>
                          <a:latin typeface="Cambria Math" panose="02040503050406030204" pitchFamily="18" charset="0"/>
                        </a:rPr>
                        <m:t>𝑁</m:t>
                      </m:r>
                    </m:oMath>
                  </m:oMathPara>
                </a14:m>
                <a:endParaRPr lang="zh-CN" altLang="en-US" sz="3600" dirty="0"/>
              </a:p>
            </p:txBody>
          </p:sp>
        </mc:Choice>
        <mc:Fallback xmlns="">
          <p:sp>
            <p:nvSpPr>
              <p:cNvPr id="9" name="文本框 8">
                <a:extLst>
                  <a:ext uri="{FF2B5EF4-FFF2-40B4-BE49-F238E27FC236}">
                    <a16:creationId xmlns:a16="http://schemas.microsoft.com/office/drawing/2014/main" id="{4E323D88-E64F-0281-BB68-88F4638AAA1C}"/>
                  </a:ext>
                </a:extLst>
              </p:cNvPr>
              <p:cNvSpPr txBox="1">
                <a:spLocks noRot="1" noChangeAspect="1" noMove="1" noResize="1" noEditPoints="1" noAdjustHandles="1" noChangeArrowheads="1" noChangeShapeType="1" noTextEdit="1"/>
              </p:cNvSpPr>
              <p:nvPr/>
            </p:nvSpPr>
            <p:spPr>
              <a:xfrm>
                <a:off x="494395" y="1910262"/>
                <a:ext cx="4572000" cy="646331"/>
              </a:xfrm>
              <a:prstGeom prst="rect">
                <a:avLst/>
              </a:prstGeom>
              <a:blipFill>
                <a:blip r:embed="rId2"/>
                <a:stretch>
                  <a:fillRect/>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34E78BE8-7D11-91A5-260A-546E1DEE92D9}"/>
              </a:ext>
            </a:extLst>
          </p:cNvPr>
          <p:cNvPicPr>
            <a:picLocks noChangeAspect="1"/>
          </p:cNvPicPr>
          <p:nvPr/>
        </p:nvPicPr>
        <p:blipFill>
          <a:blip r:embed="rId3"/>
          <a:stretch>
            <a:fillRect/>
          </a:stretch>
        </p:blipFill>
        <p:spPr>
          <a:xfrm>
            <a:off x="5144000" y="762000"/>
            <a:ext cx="4000000" cy="2942857"/>
          </a:xfrm>
          <a:prstGeom prst="rect">
            <a:avLst/>
          </a:prstGeom>
        </p:spPr>
      </p:pic>
      <p:pic>
        <p:nvPicPr>
          <p:cNvPr id="14" name="图片 13">
            <a:extLst>
              <a:ext uri="{FF2B5EF4-FFF2-40B4-BE49-F238E27FC236}">
                <a16:creationId xmlns:a16="http://schemas.microsoft.com/office/drawing/2014/main" id="{9BCB9A05-DB4B-E4B4-C7A5-291C153AA20B}"/>
              </a:ext>
            </a:extLst>
          </p:cNvPr>
          <p:cNvPicPr>
            <a:picLocks noChangeAspect="1"/>
          </p:cNvPicPr>
          <p:nvPr/>
        </p:nvPicPr>
        <p:blipFill>
          <a:blip r:embed="rId4"/>
          <a:stretch>
            <a:fillRect/>
          </a:stretch>
        </p:blipFill>
        <p:spPr>
          <a:xfrm>
            <a:off x="152400" y="3704857"/>
            <a:ext cx="8448696" cy="1620445"/>
          </a:xfrm>
          <a:prstGeom prst="rect">
            <a:avLst/>
          </a:prstGeom>
        </p:spPr>
      </p:pic>
      <p:pic>
        <p:nvPicPr>
          <p:cNvPr id="16" name="图片 15">
            <a:extLst>
              <a:ext uri="{FF2B5EF4-FFF2-40B4-BE49-F238E27FC236}">
                <a16:creationId xmlns:a16="http://schemas.microsoft.com/office/drawing/2014/main" id="{F41C2E81-CFA1-F7B9-8EAD-775B455F27C1}"/>
              </a:ext>
            </a:extLst>
          </p:cNvPr>
          <p:cNvPicPr>
            <a:picLocks noChangeAspect="1"/>
          </p:cNvPicPr>
          <p:nvPr/>
        </p:nvPicPr>
        <p:blipFill>
          <a:blip r:embed="rId5"/>
          <a:srcRect l="1666"/>
          <a:stretch>
            <a:fillRect/>
          </a:stretch>
        </p:blipFill>
        <p:spPr>
          <a:xfrm>
            <a:off x="0" y="5268515"/>
            <a:ext cx="8991600" cy="1032794"/>
          </a:xfrm>
          <a:prstGeom prst="rect">
            <a:avLst/>
          </a:prstGeom>
        </p:spPr>
      </p:pic>
    </p:spTree>
    <p:extLst>
      <p:ext uri="{BB962C8B-B14F-4D97-AF65-F5344CB8AC3E}">
        <p14:creationId xmlns:p14="http://schemas.microsoft.com/office/powerpoint/2010/main" val="1754605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对象 25">
                <a:extLst>
                  <a:ext uri="{FF2B5EF4-FFF2-40B4-BE49-F238E27FC236}">
                    <a16:creationId xmlns:a16="http://schemas.microsoft.com/office/drawing/2014/main" id="{0B628E2E-0D46-C762-1128-A52F3174C52A}"/>
                  </a:ext>
                </a:extLst>
              </p:cNvPr>
              <p:cNvSpPr txBox="1"/>
              <p:nvPr/>
            </p:nvSpPr>
            <p:spPr bwMode="auto">
              <a:xfrm>
                <a:off x="404091" y="1744722"/>
                <a:ext cx="5334000" cy="8175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000000"/>
                          </a:solidFill>
                          <a:latin typeface="Cambria Math" panose="02040503050406030204" pitchFamily="18" charset="0"/>
                        </a:rPr>
                        <m:t>𝑫</m:t>
                      </m:r>
                      <m:r>
                        <a:rPr lang="en-US" altLang="zh-CN" sz="2000" b="1" i="1" smtClean="0">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𝒋</m:t>
                      </m:r>
                      <m:r>
                        <a:rPr lang="zh-CN" altLang="en-US" sz="2000" b="1" i="1" smtClean="0">
                          <a:solidFill>
                            <a:srgbClr val="000000"/>
                          </a:solidFill>
                          <a:latin typeface="Cambria Math" panose="02040503050406030204" pitchFamily="18" charset="0"/>
                        </a:rPr>
                        <m:t>𝝎</m:t>
                      </m:r>
                      <m:r>
                        <a:rPr lang="en-US" altLang="zh-CN" sz="2000" b="1" i="1" smtClean="0">
                          <a:solidFill>
                            <a:srgbClr val="000000"/>
                          </a:solidFill>
                          <a:latin typeface="Cambria Math" panose="02040503050406030204" pitchFamily="18" charset="0"/>
                        </a:rPr>
                        <m:t>)</m:t>
                      </m:r>
                      <m:r>
                        <a:rPr lang="zh-CN" altLang="en-US" sz="2000" b="1" i="1" smtClean="0">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en-US" altLang="zh-CN" sz="2000" b="1" i="1" smtClean="0">
                              <a:solidFill>
                                <a:srgbClr val="000000"/>
                              </a:solidFill>
                              <a:latin typeface="Cambria Math" panose="02040503050406030204" pitchFamily="18" charset="0"/>
                            </a:rPr>
                            <m:t>𝑴</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num>
                        <m:den>
                          <m:r>
                            <a:rPr lang="zh-CN" altLang="en-US" sz="2000" b="1" i="1">
                              <a:solidFill>
                                <a:srgbClr val="000000"/>
                              </a:solidFill>
                              <a:latin typeface="Cambria Math" panose="02040503050406030204" pitchFamily="18" charset="0"/>
                            </a:rPr>
                            <m:t>𝑵</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den>
                      </m:f>
                      <m:r>
                        <a:rPr lang="zh-CN" altLang="en-US" sz="2000" b="1" i="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𝝀</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𝝀</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𝝀</m:t>
                              </m:r>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num>
                        <m:den>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𝒑</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𝒑</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𝒑</m:t>
                              </m:r>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den>
                      </m:f>
                    </m:oMath>
                  </m:oMathPara>
                </a14:m>
                <a:endParaRPr lang="zh-CN" altLang="en-US" sz="2000" b="1" dirty="0"/>
              </a:p>
            </p:txBody>
          </p:sp>
        </mc:Choice>
        <mc:Fallback xmlns="">
          <p:sp>
            <p:nvSpPr>
              <p:cNvPr id="4" name="对象 25">
                <a:extLst>
                  <a:ext uri="{FF2B5EF4-FFF2-40B4-BE49-F238E27FC236}">
                    <a16:creationId xmlns:a16="http://schemas.microsoft.com/office/drawing/2014/main" id="{0B628E2E-0D46-C762-1128-A52F3174C52A}"/>
                  </a:ext>
                </a:extLst>
              </p:cNvPr>
              <p:cNvSpPr txBox="1">
                <a:spLocks noRot="1" noChangeAspect="1" noMove="1" noResize="1" noEditPoints="1" noAdjustHandles="1" noChangeArrowheads="1" noChangeShapeType="1" noTextEdit="1"/>
              </p:cNvSpPr>
              <p:nvPr/>
            </p:nvSpPr>
            <p:spPr bwMode="auto">
              <a:xfrm>
                <a:off x="404091" y="1744722"/>
                <a:ext cx="5334000" cy="817563"/>
              </a:xfrm>
              <a:prstGeom prst="rect">
                <a:avLst/>
              </a:prstGeom>
              <a:blipFill>
                <a:blip r:embed="rId2"/>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FEEDDC0-C451-3442-3966-343BB9E427A3}"/>
              </a:ext>
            </a:extLst>
          </p:cNvPr>
          <p:cNvPicPr>
            <a:picLocks noChangeAspect="1"/>
          </p:cNvPicPr>
          <p:nvPr/>
        </p:nvPicPr>
        <p:blipFill>
          <a:blip r:embed="rId3"/>
          <a:stretch>
            <a:fillRect/>
          </a:stretch>
        </p:blipFill>
        <p:spPr>
          <a:xfrm>
            <a:off x="496455" y="914400"/>
            <a:ext cx="3371429" cy="742857"/>
          </a:xfrm>
          <a:prstGeom prst="rect">
            <a:avLst/>
          </a:prstGeom>
        </p:spPr>
      </p:pic>
      <p:sp>
        <p:nvSpPr>
          <p:cNvPr id="7" name="文本框 6">
            <a:extLst>
              <a:ext uri="{FF2B5EF4-FFF2-40B4-BE49-F238E27FC236}">
                <a16:creationId xmlns:a16="http://schemas.microsoft.com/office/drawing/2014/main" id="{DC79CF9E-DA0A-4963-C6F8-98F589295BAF}"/>
              </a:ext>
            </a:extLst>
          </p:cNvPr>
          <p:cNvSpPr txBox="1"/>
          <p:nvPr/>
        </p:nvSpPr>
        <p:spPr>
          <a:xfrm>
            <a:off x="5486400" y="766491"/>
            <a:ext cx="3563082" cy="1631216"/>
          </a:xfrm>
          <a:prstGeom prst="rect">
            <a:avLst/>
          </a:prstGeom>
          <a:noFill/>
        </p:spPr>
        <p:txBody>
          <a:bodyPr wrap="square" rtlCol="0">
            <a:spAutoFit/>
          </a:bodyPr>
          <a:lstStyle/>
          <a:p>
            <a:r>
              <a:rPr lang="en-US" altLang="zh-CN" sz="2000" dirty="0">
                <a:solidFill>
                  <a:schemeClr val="tx1"/>
                </a:solidFill>
                <a:latin typeface="Tahoma"/>
                <a:ea typeface="+mj-ea"/>
                <a:cs typeface="Tahoma"/>
              </a:rPr>
              <a:t>whose zeros are the closed-loop poles of the transfer function. In </a:t>
            </a:r>
            <a:r>
              <a:rPr lang="en-US" altLang="zh-CN" sz="2000" dirty="0" err="1">
                <a:solidFill>
                  <a:schemeClr val="tx1"/>
                </a:solidFill>
                <a:latin typeface="Tahoma"/>
                <a:ea typeface="+mj-ea"/>
                <a:cs typeface="Tahoma"/>
              </a:rPr>
              <a:t>addition,it</a:t>
            </a:r>
            <a:r>
              <a:rPr lang="en-US" altLang="zh-CN" sz="2000" dirty="0">
                <a:solidFill>
                  <a:schemeClr val="tx1"/>
                </a:solidFill>
                <a:latin typeface="Tahoma"/>
                <a:ea typeface="+mj-ea"/>
                <a:cs typeface="Tahoma"/>
              </a:rPr>
              <a:t> is easy to see that the poles of D(s) are the zeros of M(s). </a:t>
            </a:r>
            <a:endParaRPr lang="zh-CN" altLang="en-US" sz="2000" dirty="0">
              <a:solidFill>
                <a:schemeClr val="tx1"/>
              </a:solidFill>
              <a:latin typeface="Tahoma"/>
              <a:ea typeface="+mj-ea"/>
              <a:cs typeface="Tahoma"/>
            </a:endParaRPr>
          </a:p>
        </p:txBody>
      </p:sp>
      <p:graphicFrame>
        <p:nvGraphicFramePr>
          <p:cNvPr id="8" name="对象 35">
            <a:extLst>
              <a:ext uri="{FF2B5EF4-FFF2-40B4-BE49-F238E27FC236}">
                <a16:creationId xmlns:a16="http://schemas.microsoft.com/office/drawing/2014/main" id="{B4C633AA-AEB1-0E07-B6D1-EBE9A4819978}"/>
              </a:ext>
            </a:extLst>
          </p:cNvPr>
          <p:cNvGraphicFramePr>
            <a:graphicFrameLocks noChangeAspect="1"/>
          </p:cNvGraphicFramePr>
          <p:nvPr>
            <p:extLst>
              <p:ext uri="{D42A27DB-BD31-4B8C-83A1-F6EECF244321}">
                <p14:modId xmlns:p14="http://schemas.microsoft.com/office/powerpoint/2010/main" val="2266018576"/>
              </p:ext>
            </p:extLst>
          </p:nvPr>
        </p:nvGraphicFramePr>
        <p:xfrm>
          <a:off x="5865091" y="2566253"/>
          <a:ext cx="2495550" cy="2286000"/>
        </p:xfrm>
        <a:graphic>
          <a:graphicData uri="http://schemas.openxmlformats.org/presentationml/2006/ole">
            <mc:AlternateContent xmlns:mc="http://schemas.openxmlformats.org/markup-compatibility/2006">
              <mc:Choice xmlns:v="urn:schemas-microsoft-com:vml" Requires="v">
                <p:oleObj name="位图图像" r:id="rId4" imgW="3486637" imgH="3134162" progId="Paint.Picture">
                  <p:embed/>
                </p:oleObj>
              </mc:Choice>
              <mc:Fallback>
                <p:oleObj name="位图图像" r:id="rId4" imgW="3486637" imgH="3134162" progId="Paint.Picture">
                  <p:embed/>
                  <p:pic>
                    <p:nvPicPr>
                      <p:cNvPr id="412707" name="对象 3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65091" y="2566253"/>
                        <a:ext cx="249555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38">
            <a:extLst>
              <a:ext uri="{FF2B5EF4-FFF2-40B4-BE49-F238E27FC236}">
                <a16:creationId xmlns:a16="http://schemas.microsoft.com/office/drawing/2014/main" id="{37F29185-8D1B-C84B-6D5A-E45A522EAE64}"/>
              </a:ext>
            </a:extLst>
          </p:cNvPr>
          <p:cNvGraphicFramePr>
            <a:graphicFrameLocks noChangeAspect="1"/>
          </p:cNvGraphicFramePr>
          <p:nvPr>
            <p:extLst>
              <p:ext uri="{D42A27DB-BD31-4B8C-83A1-F6EECF244321}">
                <p14:modId xmlns:p14="http://schemas.microsoft.com/office/powerpoint/2010/main" val="2967288439"/>
              </p:ext>
            </p:extLst>
          </p:nvPr>
        </p:nvGraphicFramePr>
        <p:xfrm>
          <a:off x="7112866" y="2727758"/>
          <a:ext cx="1111250" cy="2014537"/>
        </p:xfrm>
        <a:graphic>
          <a:graphicData uri="http://schemas.openxmlformats.org/presentationml/2006/ole">
            <mc:AlternateContent xmlns:mc="http://schemas.openxmlformats.org/markup-compatibility/2006">
              <mc:Choice xmlns:v="urn:schemas-microsoft-com:vml" Requires="v">
                <p:oleObj name="位图图像" r:id="rId6" imgW="1552792" imgH="2762636" progId="Paint.Picture">
                  <p:embed/>
                </p:oleObj>
              </mc:Choice>
              <mc:Fallback>
                <p:oleObj name="位图图像" r:id="rId6" imgW="1552792" imgH="2762636" progId="Paint.Picture">
                  <p:embed/>
                  <p:pic>
                    <p:nvPicPr>
                      <p:cNvPr id="412710" name="对象 38"/>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12866" y="2727758"/>
                        <a:ext cx="1111250"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 name="对象 24">
                <a:extLst>
                  <a:ext uri="{FF2B5EF4-FFF2-40B4-BE49-F238E27FC236}">
                    <a16:creationId xmlns:a16="http://schemas.microsoft.com/office/drawing/2014/main" id="{1193D1A9-2B19-D231-810B-74150A2A7BD7}"/>
                  </a:ext>
                </a:extLst>
              </p:cNvPr>
              <p:cNvSpPr txBox="1"/>
              <p:nvPr/>
            </p:nvSpPr>
            <p:spPr bwMode="auto">
              <a:xfrm>
                <a:off x="404091" y="3554317"/>
                <a:ext cx="5324475" cy="39211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000" b="1" i="1" smtClean="0">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𝑫</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𝒋</m:t>
                      </m:r>
                      <m:r>
                        <a:rPr lang="zh-CN" altLang="en-US" sz="2000" b="1" i="1">
                          <a:solidFill>
                            <a:srgbClr val="000000"/>
                          </a:solidFill>
                          <a:latin typeface="Cambria Math" panose="02040503050406030204" pitchFamily="18" charset="0"/>
                        </a:rPr>
                        <m:t>𝝎</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r>
                        <a:rPr lang="zh-CN" altLang="en-US" sz="2000" b="1" i="1">
                          <a:solidFill>
                            <a:srgbClr val="000000"/>
                          </a:solidFill>
                          <a:latin typeface="Cambria Math" panose="02040503050406030204" pitchFamily="18" charset="0"/>
                        </a:rPr>
                        <m:t>𝝅</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𝑷</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r>
                        <a:rPr lang="zh-CN" altLang="en-US" sz="2000" b="1" i="1">
                          <a:solidFill>
                            <a:srgbClr val="000000"/>
                          </a:solidFill>
                          <a:latin typeface="Cambria Math" panose="02040503050406030204" pitchFamily="18" charset="0"/>
                        </a:rPr>
                        <m:t>𝝅</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𝑷</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r>
                        <a:rPr lang="zh-CN" altLang="en-US" sz="2000" b="1" i="1">
                          <a:solidFill>
                            <a:srgbClr val="000000"/>
                          </a:solidFill>
                          <a:latin typeface="Cambria Math" panose="02040503050406030204" pitchFamily="18" charset="0"/>
                        </a:rPr>
                        <m:t>𝝅</m:t>
                      </m:r>
                      <m:r>
                        <a:rPr lang="zh-CN" altLang="en-US" sz="2000" b="1" i="1">
                          <a:solidFill>
                            <a:srgbClr val="000000"/>
                          </a:solidFill>
                          <a:latin typeface="Cambria Math" panose="02040503050406030204" pitchFamily="18" charset="0"/>
                        </a:rPr>
                        <m:t>𝑹</m:t>
                      </m:r>
                    </m:oMath>
                  </m:oMathPara>
                </a14:m>
                <a:endParaRPr lang="zh-CN" altLang="en-US" sz="2000" b="1" i="1" dirty="0">
                  <a:solidFill>
                    <a:srgbClr val="000000"/>
                  </a:solidFill>
                  <a:latin typeface="Cambria Math" panose="02040503050406030204" pitchFamily="18" charset="0"/>
                </a:endParaRPr>
              </a:p>
            </p:txBody>
          </p:sp>
        </mc:Choice>
        <mc:Fallback xmlns="">
          <p:sp>
            <p:nvSpPr>
              <p:cNvPr id="11" name="对象 24">
                <a:extLst>
                  <a:ext uri="{FF2B5EF4-FFF2-40B4-BE49-F238E27FC236}">
                    <a16:creationId xmlns:a16="http://schemas.microsoft.com/office/drawing/2014/main" id="{1193D1A9-2B19-D231-810B-74150A2A7BD7}"/>
                  </a:ext>
                </a:extLst>
              </p:cNvPr>
              <p:cNvSpPr txBox="1">
                <a:spLocks noRot="1" noChangeAspect="1" noMove="1" noResize="1" noEditPoints="1" noAdjustHandles="1" noChangeArrowheads="1" noChangeShapeType="1" noTextEdit="1"/>
              </p:cNvSpPr>
              <p:nvPr/>
            </p:nvSpPr>
            <p:spPr bwMode="auto">
              <a:xfrm>
                <a:off x="404091" y="3554317"/>
                <a:ext cx="5324475" cy="392112"/>
              </a:xfrm>
              <a:prstGeom prst="rect">
                <a:avLst/>
              </a:prstGeom>
              <a:blipFill>
                <a:blip r:embed="rId8"/>
                <a:stretch>
                  <a:fillRect b="-21875"/>
                </a:stretch>
              </a:blipFill>
            </p:spPr>
            <p:txBody>
              <a:bodyPr/>
              <a:lstStyle/>
              <a:p>
                <a:r>
                  <a:rPr lang="zh-CN" altLang="en-US">
                    <a:noFill/>
                  </a:rPr>
                  <a:t> </a:t>
                </a:r>
              </a:p>
            </p:txBody>
          </p:sp>
        </mc:Fallback>
      </mc:AlternateContent>
      <p:pic>
        <p:nvPicPr>
          <p:cNvPr id="15" name="图片 14">
            <a:extLst>
              <a:ext uri="{FF2B5EF4-FFF2-40B4-BE49-F238E27FC236}">
                <a16:creationId xmlns:a16="http://schemas.microsoft.com/office/drawing/2014/main" id="{D1F8A943-47D2-E3C9-376B-77F730FB12EA}"/>
              </a:ext>
            </a:extLst>
          </p:cNvPr>
          <p:cNvPicPr>
            <a:picLocks noChangeAspect="1"/>
          </p:cNvPicPr>
          <p:nvPr/>
        </p:nvPicPr>
        <p:blipFill>
          <a:blip r:embed="rId9"/>
          <a:stretch>
            <a:fillRect/>
          </a:stretch>
        </p:blipFill>
        <p:spPr>
          <a:xfrm>
            <a:off x="2309" y="4930583"/>
            <a:ext cx="9144000" cy="1780954"/>
          </a:xfrm>
          <a:prstGeom prst="rect">
            <a:avLst/>
          </a:prstGeom>
        </p:spPr>
      </p:pic>
      <mc:AlternateContent xmlns:mc="http://schemas.openxmlformats.org/markup-compatibility/2006" xmlns:a14="http://schemas.microsoft.com/office/drawing/2010/main">
        <mc:Choice Requires="a14">
          <p:sp>
            <p:nvSpPr>
              <p:cNvPr id="16" name="对象 24">
                <a:extLst>
                  <a:ext uri="{FF2B5EF4-FFF2-40B4-BE49-F238E27FC236}">
                    <a16:creationId xmlns:a16="http://schemas.microsoft.com/office/drawing/2014/main" id="{116B3E54-1F2A-49CE-A730-DFD1452946A8}"/>
                  </a:ext>
                </a:extLst>
              </p:cNvPr>
              <p:cNvSpPr txBox="1"/>
              <p:nvPr/>
            </p:nvSpPr>
            <p:spPr bwMode="auto">
              <a:xfrm>
                <a:off x="523298" y="4442676"/>
                <a:ext cx="5324475" cy="392112"/>
              </a:xfrm>
              <a:prstGeom prst="rect">
                <a:avLst/>
              </a:prstGeom>
              <a:noFill/>
            </p:spPr>
            <p:txBody>
              <a:bodyPr>
                <a:noAutofit/>
              </a:bodyPr>
              <a:lstStyle/>
              <a:p>
                <a:pPr/>
                <a14:m>
                  <m:oMathPara xmlns:m="http://schemas.openxmlformats.org/officeDocument/2006/math">
                    <m:oMathParaPr>
                      <m:jc m:val="center"/>
                    </m:oMathParaPr>
                    <m:oMath xmlns:m="http://schemas.openxmlformats.org/officeDocument/2006/math">
                      <m:r>
                        <a:rPr lang="zh-CN" altLang="en-US" sz="2000" b="1" i="1">
                          <a:solidFill>
                            <a:srgbClr val="000000"/>
                          </a:solidFill>
                          <a:latin typeface="Cambria Math" panose="02040503050406030204" pitchFamily="18" charset="0"/>
                        </a:rPr>
                        <m:t>𝒁</m:t>
                      </m:r>
                      <m:r>
                        <a:rPr lang="zh-CN" altLang="en-US" sz="2000" b="1" i="1" smtClean="0">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𝑷</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𝑹</m:t>
                      </m:r>
                    </m:oMath>
                  </m:oMathPara>
                </a14:m>
                <a:endParaRPr lang="zh-CN" altLang="en-US" sz="2000" b="1" i="1" dirty="0">
                  <a:solidFill>
                    <a:srgbClr val="000000"/>
                  </a:solidFill>
                  <a:latin typeface="Cambria Math" panose="02040503050406030204" pitchFamily="18" charset="0"/>
                </a:endParaRPr>
              </a:p>
            </p:txBody>
          </p:sp>
        </mc:Choice>
        <mc:Fallback xmlns="">
          <p:sp>
            <p:nvSpPr>
              <p:cNvPr id="16" name="对象 24">
                <a:extLst>
                  <a:ext uri="{FF2B5EF4-FFF2-40B4-BE49-F238E27FC236}">
                    <a16:creationId xmlns:a16="http://schemas.microsoft.com/office/drawing/2014/main" id="{116B3E54-1F2A-49CE-A730-DFD1452946A8}"/>
                  </a:ext>
                </a:extLst>
              </p:cNvPr>
              <p:cNvSpPr txBox="1">
                <a:spLocks noRot="1" noChangeAspect="1" noMove="1" noResize="1" noEditPoints="1" noAdjustHandles="1" noChangeArrowheads="1" noChangeShapeType="1" noTextEdit="1"/>
              </p:cNvSpPr>
              <p:nvPr/>
            </p:nvSpPr>
            <p:spPr bwMode="auto">
              <a:xfrm>
                <a:off x="523298" y="4442676"/>
                <a:ext cx="5324475" cy="392112"/>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03534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34EEA-AAE5-F99D-F34E-0F1E7EE6A173}"/>
              </a:ext>
            </a:extLst>
          </p:cNvPr>
          <p:cNvSpPr>
            <a:spLocks noGrp="1"/>
          </p:cNvSpPr>
          <p:nvPr>
            <p:ph type="title"/>
          </p:nvPr>
        </p:nvSpPr>
        <p:spPr>
          <a:xfrm>
            <a:off x="444500" y="125933"/>
            <a:ext cx="8255000" cy="430887"/>
          </a:xfrm>
        </p:spPr>
        <p:txBody>
          <a:bodyPr/>
          <a:lstStyle/>
          <a:p>
            <a:r>
              <a:rPr lang="en-US" altLang="zh-CN" b="1" dirty="0"/>
              <a:t>Question</a:t>
            </a:r>
            <a:endParaRPr lang="zh-CN" altLang="en-US" b="1"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3D33AB4-E0DE-773C-C068-6CE25EC33998}"/>
                  </a:ext>
                </a:extLst>
              </p:cNvPr>
              <p:cNvSpPr txBox="1"/>
              <p:nvPr/>
            </p:nvSpPr>
            <p:spPr>
              <a:xfrm>
                <a:off x="76200" y="2782669"/>
                <a:ext cx="8991600" cy="646331"/>
              </a:xfrm>
              <a:prstGeom prst="rect">
                <a:avLst/>
              </a:prstGeom>
              <a:noFill/>
            </p:spPr>
            <p:txBody>
              <a:bodyPr wrap="square" rtlCol="0">
                <a:spAutoFit/>
              </a:bodyPr>
              <a:lstStyle/>
              <a:p>
                <a:pPr algn="ctr"/>
                <a:r>
                  <a:rPr lang="en-US" altLang="zh-CN" sz="3600" dirty="0"/>
                  <a:t>How to plot the Nyquist diagram of </a:t>
                </a:r>
                <a14:m>
                  <m:oMath xmlns:m="http://schemas.openxmlformats.org/officeDocument/2006/math">
                    <m:r>
                      <a:rPr lang="en-US" altLang="zh-CN" sz="3600" b="1" i="1" smtClean="0">
                        <a:solidFill>
                          <a:srgbClr val="000000"/>
                        </a:solidFill>
                        <a:latin typeface="Cambria Math" panose="02040503050406030204" pitchFamily="18" charset="0"/>
                      </a:rPr>
                      <m:t>𝑫</m:t>
                    </m:r>
                    <m:r>
                      <a:rPr lang="en-US" altLang="zh-CN" sz="3600" b="1" i="1" smtClean="0">
                        <a:solidFill>
                          <a:srgbClr val="000000"/>
                        </a:solidFill>
                        <a:latin typeface="Cambria Math" panose="02040503050406030204" pitchFamily="18" charset="0"/>
                      </a:rPr>
                      <m:t>(</m:t>
                    </m:r>
                    <m:r>
                      <a:rPr lang="en-US" altLang="zh-CN" sz="3600" b="1" i="1" smtClean="0">
                        <a:solidFill>
                          <a:srgbClr val="000000"/>
                        </a:solidFill>
                        <a:latin typeface="Cambria Math" panose="02040503050406030204" pitchFamily="18" charset="0"/>
                      </a:rPr>
                      <m:t>𝒋</m:t>
                    </m:r>
                    <m:r>
                      <a:rPr lang="zh-CN" altLang="en-US" sz="3600" b="1" i="1" smtClean="0">
                        <a:solidFill>
                          <a:srgbClr val="000000"/>
                        </a:solidFill>
                        <a:latin typeface="Cambria Math" panose="02040503050406030204" pitchFamily="18" charset="0"/>
                      </a:rPr>
                      <m:t>𝝎</m:t>
                    </m:r>
                    <m:r>
                      <a:rPr lang="en-US" altLang="zh-CN" sz="3600" b="1" i="1" smtClean="0">
                        <a:solidFill>
                          <a:srgbClr val="000000"/>
                        </a:solidFill>
                        <a:latin typeface="Cambria Math" panose="02040503050406030204" pitchFamily="18" charset="0"/>
                      </a:rPr>
                      <m:t>)</m:t>
                    </m:r>
                  </m:oMath>
                </a14:m>
                <a:endParaRPr lang="zh-CN" altLang="en-US" sz="3600" dirty="0"/>
              </a:p>
            </p:txBody>
          </p:sp>
        </mc:Choice>
        <mc:Fallback xmlns="">
          <p:sp>
            <p:nvSpPr>
              <p:cNvPr id="4" name="文本框 3">
                <a:extLst>
                  <a:ext uri="{FF2B5EF4-FFF2-40B4-BE49-F238E27FC236}">
                    <a16:creationId xmlns:a16="http://schemas.microsoft.com/office/drawing/2014/main" id="{D3D33AB4-E0DE-773C-C068-6CE25EC33998}"/>
                  </a:ext>
                </a:extLst>
              </p:cNvPr>
              <p:cNvSpPr txBox="1">
                <a:spLocks noRot="1" noChangeAspect="1" noMove="1" noResize="1" noEditPoints="1" noAdjustHandles="1" noChangeArrowheads="1" noChangeShapeType="1" noTextEdit="1"/>
              </p:cNvSpPr>
              <p:nvPr/>
            </p:nvSpPr>
            <p:spPr>
              <a:xfrm>
                <a:off x="76200" y="2782669"/>
                <a:ext cx="8991600" cy="646331"/>
              </a:xfrm>
              <a:prstGeom prst="rect">
                <a:avLst/>
              </a:prstGeom>
              <a:blipFill>
                <a:blip r:embed="rId2"/>
                <a:stretch>
                  <a:fillRect t="-14019" b="-336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25">
                <a:extLst>
                  <a:ext uri="{FF2B5EF4-FFF2-40B4-BE49-F238E27FC236}">
                    <a16:creationId xmlns:a16="http://schemas.microsoft.com/office/drawing/2014/main" id="{7B6C8843-A97B-DCBF-4BA1-C268ECAE739E}"/>
                  </a:ext>
                </a:extLst>
              </p:cNvPr>
              <p:cNvSpPr txBox="1"/>
              <p:nvPr/>
            </p:nvSpPr>
            <p:spPr bwMode="auto">
              <a:xfrm>
                <a:off x="1828800" y="4572000"/>
                <a:ext cx="5334000" cy="8175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altLang="zh-CN" sz="2000" b="1" i="1" smtClean="0">
                          <a:solidFill>
                            <a:srgbClr val="000000"/>
                          </a:solidFill>
                          <a:latin typeface="Cambria Math" panose="02040503050406030204" pitchFamily="18" charset="0"/>
                        </a:rPr>
                        <m:t>𝑫</m:t>
                      </m:r>
                      <m:r>
                        <a:rPr lang="en-US" altLang="zh-CN" sz="2000" b="1" i="1" smtClean="0">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𝒋</m:t>
                      </m:r>
                      <m:r>
                        <a:rPr lang="zh-CN" altLang="en-US" sz="2000" b="1" i="1" smtClean="0">
                          <a:solidFill>
                            <a:srgbClr val="000000"/>
                          </a:solidFill>
                          <a:latin typeface="Cambria Math" panose="02040503050406030204" pitchFamily="18" charset="0"/>
                        </a:rPr>
                        <m:t>𝝎</m:t>
                      </m:r>
                      <m:r>
                        <a:rPr lang="en-US" altLang="zh-CN" sz="2000" b="1" i="1" smtClean="0">
                          <a:solidFill>
                            <a:srgbClr val="000000"/>
                          </a:solidFill>
                          <a:latin typeface="Cambria Math" panose="02040503050406030204" pitchFamily="18" charset="0"/>
                        </a:rPr>
                        <m:t>)</m:t>
                      </m:r>
                      <m:r>
                        <a:rPr lang="zh-CN" altLang="en-US" sz="2000" b="1" i="1" smtClean="0">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en-US" altLang="zh-CN" sz="2000" b="1" i="1" smtClean="0">
                              <a:solidFill>
                                <a:srgbClr val="000000"/>
                              </a:solidFill>
                              <a:latin typeface="Cambria Math" panose="02040503050406030204" pitchFamily="18" charset="0"/>
                            </a:rPr>
                            <m:t>𝑴</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num>
                        <m:den>
                          <m:r>
                            <a:rPr lang="zh-CN" altLang="en-US" sz="2000" b="1" i="1">
                              <a:solidFill>
                                <a:srgbClr val="000000"/>
                              </a:solidFill>
                              <a:latin typeface="Cambria Math" panose="02040503050406030204" pitchFamily="18" charset="0"/>
                            </a:rPr>
                            <m:t>𝑵</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den>
                      </m:f>
                      <m:r>
                        <a:rPr lang="zh-CN" altLang="en-US" sz="2000" b="1" i="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𝝀</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𝝀</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𝝀</m:t>
                              </m:r>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num>
                        <m:den>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𝒑</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𝒑</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𝒔</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𝒑</m:t>
                              </m:r>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den>
                      </m:f>
                    </m:oMath>
                  </m:oMathPara>
                </a14:m>
                <a:endParaRPr lang="zh-CN" altLang="en-US" sz="2000" b="1" dirty="0"/>
              </a:p>
            </p:txBody>
          </p:sp>
        </mc:Choice>
        <mc:Fallback xmlns="">
          <p:sp>
            <p:nvSpPr>
              <p:cNvPr id="5" name="对象 25">
                <a:extLst>
                  <a:ext uri="{FF2B5EF4-FFF2-40B4-BE49-F238E27FC236}">
                    <a16:creationId xmlns:a16="http://schemas.microsoft.com/office/drawing/2014/main" id="{7B6C8843-A97B-DCBF-4BA1-C268ECAE739E}"/>
                  </a:ext>
                </a:extLst>
              </p:cNvPr>
              <p:cNvSpPr txBox="1">
                <a:spLocks noRot="1" noChangeAspect="1" noMove="1" noResize="1" noEditPoints="1" noAdjustHandles="1" noChangeArrowheads="1" noChangeShapeType="1" noTextEdit="1"/>
              </p:cNvSpPr>
              <p:nvPr/>
            </p:nvSpPr>
            <p:spPr bwMode="auto">
              <a:xfrm>
                <a:off x="1828800" y="4572000"/>
                <a:ext cx="5334000" cy="81756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85307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0279C1-CA48-AFB0-8342-4A4F41B936A3}"/>
              </a:ext>
            </a:extLst>
          </p:cNvPr>
          <p:cNvSpPr>
            <a:spLocks noGrp="1"/>
          </p:cNvSpPr>
          <p:nvPr>
            <p:ph type="title"/>
          </p:nvPr>
        </p:nvSpPr>
        <p:spPr>
          <a:xfrm>
            <a:off x="444500" y="125933"/>
            <a:ext cx="8255000" cy="430887"/>
          </a:xfrm>
        </p:spPr>
        <p:txBody>
          <a:bodyPr/>
          <a:lstStyle/>
          <a:p>
            <a:r>
              <a:rPr lang="en-US" altLang="zh-CN" b="1" dirty="0"/>
              <a:t>The ingenious aspect of the  stability criterion</a:t>
            </a:r>
            <a:endParaRPr lang="zh-CN" altLang="en-US" dirty="0"/>
          </a:p>
        </p:txBody>
      </p:sp>
      <p:pic>
        <p:nvPicPr>
          <p:cNvPr id="5" name="图片 4">
            <a:extLst>
              <a:ext uri="{FF2B5EF4-FFF2-40B4-BE49-F238E27FC236}">
                <a16:creationId xmlns:a16="http://schemas.microsoft.com/office/drawing/2014/main" id="{94078385-45E4-58EA-47C5-39A6CA227166}"/>
              </a:ext>
            </a:extLst>
          </p:cNvPr>
          <p:cNvPicPr>
            <a:picLocks noChangeAspect="1"/>
          </p:cNvPicPr>
          <p:nvPr/>
        </p:nvPicPr>
        <p:blipFill>
          <a:blip r:embed="rId2"/>
          <a:stretch>
            <a:fillRect/>
          </a:stretch>
        </p:blipFill>
        <p:spPr>
          <a:xfrm>
            <a:off x="-4618" y="2057400"/>
            <a:ext cx="9144000" cy="2551651"/>
          </a:xfrm>
          <a:prstGeom prst="rect">
            <a:avLst/>
          </a:prstGeom>
        </p:spPr>
      </p:pic>
    </p:spTree>
    <p:extLst>
      <p:ext uri="{BB962C8B-B14F-4D97-AF65-F5344CB8AC3E}">
        <p14:creationId xmlns:p14="http://schemas.microsoft.com/office/powerpoint/2010/main" val="253512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125933"/>
            <a:ext cx="8255000" cy="505908"/>
          </a:xfrm>
          <a:prstGeom prst="rect">
            <a:avLst/>
          </a:prstGeom>
        </p:spPr>
        <p:txBody>
          <a:bodyPr vert="horz" wrap="square" lIns="0" tIns="13335" rIns="0" bIns="0" rtlCol="0">
            <a:spAutoFit/>
          </a:bodyPr>
          <a:lstStyle/>
          <a:p>
            <a:pPr marL="12700">
              <a:lnSpc>
                <a:spcPct val="100000"/>
              </a:lnSpc>
              <a:spcBef>
                <a:spcPts val="105"/>
              </a:spcBef>
            </a:pPr>
            <a:r>
              <a:rPr sz="3200" b="1" dirty="0"/>
              <a:t>Nyquist's</a:t>
            </a:r>
            <a:r>
              <a:rPr sz="3200" b="1" spc="-65" dirty="0"/>
              <a:t> </a:t>
            </a:r>
            <a:r>
              <a:rPr sz="3200" b="1" dirty="0"/>
              <a:t>criterion</a:t>
            </a:r>
            <a:r>
              <a:rPr sz="3200" b="1" spc="-65" dirty="0"/>
              <a:t> </a:t>
            </a:r>
            <a:endParaRPr sz="3200" b="1" dirty="0"/>
          </a:p>
        </p:txBody>
      </p:sp>
      <mc:AlternateContent xmlns:mc="http://schemas.openxmlformats.org/markup-compatibility/2006" xmlns:a14="http://schemas.microsoft.com/office/drawing/2010/main">
        <mc:Choice Requires="a14">
          <p:sp>
            <p:nvSpPr>
              <p:cNvPr id="3" name="object 3"/>
              <p:cNvSpPr txBox="1"/>
              <p:nvPr/>
            </p:nvSpPr>
            <p:spPr>
              <a:xfrm>
                <a:off x="1980911" y="3954476"/>
                <a:ext cx="4876800" cy="346249"/>
              </a:xfrm>
              <a:prstGeom prst="rect">
                <a:avLst/>
              </a:prstGeom>
              <a:solidFill>
                <a:srgbClr val="FF9999"/>
              </a:solidFill>
            </p:spPr>
            <p:txBody>
              <a:bodyPr vert="horz" wrap="square" lIns="0" tIns="0" rIns="0" bIns="0" rtlCol="0">
                <a:spAutoFit/>
              </a:bodyPr>
              <a:lstStyle/>
              <a:p>
                <a:pPr marL="45720" algn="ctr">
                  <a:lnSpc>
                    <a:spcPts val="2680"/>
                  </a:lnSpc>
                </a:pPr>
                <a:r>
                  <a:rPr sz="2400" spc="-10" dirty="0">
                    <a:latin typeface="Times New Roman"/>
                    <a:cs typeface="Times New Roman"/>
                  </a:rPr>
                  <a:t>Let's</a:t>
                </a:r>
                <a:r>
                  <a:rPr sz="2400" spc="-45" dirty="0">
                    <a:latin typeface="Times New Roman"/>
                    <a:cs typeface="Times New Roman"/>
                  </a:rPr>
                  <a:t> </a:t>
                </a:r>
                <a:r>
                  <a:rPr sz="2400" dirty="0">
                    <a:latin typeface="Times New Roman"/>
                    <a:cs typeface="Times New Roman"/>
                  </a:rPr>
                  <a:t>plot</a:t>
                </a:r>
                <a:r>
                  <a:rPr sz="2400" spc="-40" dirty="0">
                    <a:latin typeface="Times New Roman"/>
                    <a:cs typeface="Times New Roman"/>
                  </a:rPr>
                  <a:t> </a:t>
                </a:r>
                <a:r>
                  <a:rPr lang="en-US" altLang="zh-CN" sz="2400" spc="-25" dirty="0">
                    <a:latin typeface="Times New Roman"/>
                    <a:cs typeface="Times New Roman"/>
                  </a:rPr>
                  <a:t>G</a:t>
                </a:r>
                <a:r>
                  <a:rPr lang="en-US" altLang="zh-CN" sz="2400" dirty="0">
                    <a:latin typeface="Times New Roman"/>
                    <a:cs typeface="Times New Roman"/>
                  </a:rPr>
                  <a:t>H(j</a:t>
                </a:r>
                <a14:m>
                  <m:oMath xmlns:m="http://schemas.openxmlformats.org/officeDocument/2006/math">
                    <m:r>
                      <a:rPr lang="zh-CN" altLang="en-US" sz="2400" i="1" smtClean="0">
                        <a:latin typeface="Cambria Math" panose="02040503050406030204" pitchFamily="18" charset="0"/>
                        <a:ea typeface="Cambria Math" panose="02040503050406030204" pitchFamily="18" charset="0"/>
                        <a:cs typeface="Times New Roman"/>
                      </a:rPr>
                      <m:t>𝜔</m:t>
                    </m:r>
                  </m:oMath>
                </a14:m>
                <a:r>
                  <a:rPr lang="en-US" altLang="zh-CN" sz="2400" dirty="0">
                    <a:latin typeface="Times New Roman"/>
                    <a:cs typeface="Times New Roman"/>
                  </a:rPr>
                  <a:t>)</a:t>
                </a:r>
                <a:r>
                  <a:rPr lang="en-US" altLang="zh-CN" sz="2400" spc="-40" dirty="0">
                    <a:latin typeface="Times New Roman"/>
                    <a:cs typeface="Times New Roman"/>
                  </a:rPr>
                  <a:t> </a:t>
                </a:r>
                <a:r>
                  <a:rPr sz="2400" dirty="0">
                    <a:latin typeface="Times New Roman"/>
                    <a:cs typeface="Times New Roman"/>
                  </a:rPr>
                  <a:t>instead</a:t>
                </a:r>
                <a:r>
                  <a:rPr sz="2400" spc="-40" dirty="0">
                    <a:latin typeface="Times New Roman"/>
                    <a:cs typeface="Times New Roman"/>
                  </a:rPr>
                  <a:t> </a:t>
                </a:r>
                <a:r>
                  <a:rPr sz="2400" dirty="0">
                    <a:latin typeface="Times New Roman"/>
                    <a:cs typeface="Times New Roman"/>
                  </a:rPr>
                  <a:t>of</a:t>
                </a:r>
                <a:r>
                  <a:rPr sz="2400" spc="-60" dirty="0">
                    <a:latin typeface="Times New Roman"/>
                    <a:cs typeface="Times New Roman"/>
                  </a:rPr>
                  <a:t> </a:t>
                </a:r>
                <a14:m>
                  <m:oMath xmlns:m="http://schemas.openxmlformats.org/officeDocument/2006/math">
                    <m:r>
                      <a:rPr lang="en-US" altLang="zh-CN" sz="2400" b="1" i="1" smtClean="0">
                        <a:solidFill>
                          <a:srgbClr val="000000"/>
                        </a:solidFill>
                        <a:latin typeface="Cambria Math" panose="02040503050406030204" pitchFamily="18" charset="0"/>
                      </a:rPr>
                      <m:t>𝑫</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𝒋</m:t>
                    </m:r>
                    <m:r>
                      <a:rPr lang="zh-CN" altLang="en-US" sz="2400" b="1" i="1" smtClean="0">
                        <a:solidFill>
                          <a:srgbClr val="000000"/>
                        </a:solidFill>
                        <a:latin typeface="Cambria Math" panose="02040503050406030204" pitchFamily="18" charset="0"/>
                      </a:rPr>
                      <m:t>𝝎</m:t>
                    </m:r>
                    <m:r>
                      <a:rPr lang="en-US" altLang="zh-CN" sz="2400" b="1" i="1" smtClean="0">
                        <a:solidFill>
                          <a:srgbClr val="000000"/>
                        </a:solidFill>
                        <a:latin typeface="Cambria Math" panose="02040503050406030204" pitchFamily="18" charset="0"/>
                      </a:rPr>
                      <m:t>)</m:t>
                    </m:r>
                  </m:oMath>
                </a14:m>
                <a:endParaRPr sz="2400" dirty="0">
                  <a:latin typeface="Times New Roman"/>
                  <a:cs typeface="Times New Roman"/>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980911" y="3954476"/>
                <a:ext cx="4876800" cy="346249"/>
              </a:xfrm>
              <a:prstGeom prst="rect">
                <a:avLst/>
              </a:prstGeom>
              <a:blipFill>
                <a:blip r:embed="rId2"/>
                <a:stretch>
                  <a:fillRect t="-33929" b="-553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5"/>
              <p:cNvSpPr txBox="1"/>
              <p:nvPr/>
            </p:nvSpPr>
            <p:spPr>
              <a:xfrm>
                <a:off x="1035396" y="4454683"/>
                <a:ext cx="8312200" cy="1880001"/>
              </a:xfrm>
              <a:prstGeom prst="rect">
                <a:avLst/>
              </a:prstGeom>
            </p:spPr>
            <p:txBody>
              <a:bodyPr vert="horz" wrap="square" lIns="0" tIns="104139" rIns="0" bIns="0" rtlCol="0">
                <a:spAutoFit/>
              </a:bodyPr>
              <a:lstStyle/>
              <a:p>
                <a:pPr marL="38100">
                  <a:lnSpc>
                    <a:spcPct val="100000"/>
                  </a:lnSpc>
                  <a:spcBef>
                    <a:spcPts val="819"/>
                  </a:spcBef>
                </a:pPr>
                <a:r>
                  <a:rPr sz="2400" dirty="0">
                    <a:latin typeface="Times New Roman"/>
                    <a:cs typeface="Times New Roman"/>
                  </a:rPr>
                  <a:t>So:</a:t>
                </a:r>
                <a:r>
                  <a:rPr sz="2400" spc="330" dirty="0">
                    <a:latin typeface="Times New Roman"/>
                    <a:cs typeface="Times New Roman"/>
                  </a:rPr>
                  <a:t> </a:t>
                </a:r>
                <a:r>
                  <a:rPr sz="2400" b="1" i="1" dirty="0">
                    <a:latin typeface="Times New Roman"/>
                    <a:cs typeface="Times New Roman"/>
                  </a:rPr>
                  <a:t>Z</a:t>
                </a:r>
                <a:r>
                  <a:rPr sz="2400" b="1" i="1" spc="190" dirty="0">
                    <a:latin typeface="Times New Roman"/>
                    <a:cs typeface="Times New Roman"/>
                  </a:rPr>
                  <a:t> </a:t>
                </a:r>
                <a:r>
                  <a:rPr sz="2400" b="1" dirty="0">
                    <a:latin typeface="Symbol"/>
                    <a:cs typeface="Symbol"/>
                  </a:rPr>
                  <a:t></a:t>
                </a:r>
                <a:r>
                  <a:rPr sz="2400" b="1" spc="25" dirty="0">
                    <a:latin typeface="Times New Roman"/>
                    <a:cs typeface="Times New Roman"/>
                  </a:rPr>
                  <a:t> </a:t>
                </a:r>
                <a:r>
                  <a:rPr sz="2400" b="1" i="1" dirty="0">
                    <a:latin typeface="Times New Roman"/>
                    <a:cs typeface="Times New Roman"/>
                  </a:rPr>
                  <a:t>P</a:t>
                </a:r>
                <a:r>
                  <a:rPr sz="2400" b="1" i="1" spc="-160" dirty="0">
                    <a:latin typeface="Times New Roman"/>
                    <a:cs typeface="Times New Roman"/>
                  </a:rPr>
                  <a:t> </a:t>
                </a:r>
                <a:r>
                  <a:rPr lang="en-US" sz="2400" b="1" i="1" spc="-160" dirty="0">
                    <a:latin typeface="Symbol"/>
                    <a:cs typeface="Times New Roman"/>
                  </a:rPr>
                  <a:t>-2</a:t>
                </a:r>
                <a:r>
                  <a:rPr sz="2400" b="1" spc="-55" dirty="0">
                    <a:latin typeface="Times New Roman"/>
                    <a:cs typeface="Times New Roman"/>
                  </a:rPr>
                  <a:t> </a:t>
                </a:r>
                <a:r>
                  <a:rPr sz="2400" b="1" i="1" dirty="0">
                    <a:latin typeface="Times New Roman"/>
                    <a:cs typeface="Times New Roman"/>
                  </a:rPr>
                  <a:t>N</a:t>
                </a:r>
                <a:r>
                  <a:rPr sz="2400" b="1" i="1" spc="-370" dirty="0">
                    <a:latin typeface="Times New Roman"/>
                    <a:cs typeface="Times New Roman"/>
                  </a:rPr>
                  <a:t> </a:t>
                </a:r>
                <a:r>
                  <a:rPr sz="2400" dirty="0">
                    <a:latin typeface="Times New Roman"/>
                    <a:cs typeface="Times New Roman"/>
                  </a:rPr>
                  <a:t>,</a:t>
                </a:r>
                <a:r>
                  <a:rPr sz="2400" spc="325" dirty="0">
                    <a:latin typeface="Times New Roman"/>
                    <a:cs typeface="Times New Roman"/>
                  </a:rPr>
                  <a:t> </a:t>
                </a:r>
                <a:r>
                  <a:rPr sz="2400" spc="-20" dirty="0">
                    <a:latin typeface="Times New Roman"/>
                    <a:cs typeface="Times New Roman"/>
                  </a:rPr>
                  <a:t>where</a:t>
                </a:r>
                <a:endParaRPr sz="2400" dirty="0">
                  <a:latin typeface="Times New Roman"/>
                  <a:cs typeface="Times New Roman"/>
                </a:endParaRPr>
              </a:p>
              <a:p>
                <a:pPr marL="56515">
                  <a:lnSpc>
                    <a:spcPct val="100000"/>
                  </a:lnSpc>
                  <a:spcBef>
                    <a:spcPts val="720"/>
                  </a:spcBef>
                </a:pPr>
                <a:r>
                  <a:rPr sz="2400" i="1" dirty="0">
                    <a:latin typeface="Times New Roman"/>
                    <a:cs typeface="Times New Roman"/>
                  </a:rPr>
                  <a:t>Z</a:t>
                </a:r>
                <a:r>
                  <a:rPr sz="2400" i="1" spc="175" dirty="0">
                    <a:latin typeface="Times New Roman"/>
                    <a:cs typeface="Times New Roman"/>
                  </a:rPr>
                  <a:t> </a:t>
                </a:r>
                <a:r>
                  <a:rPr sz="2400" dirty="0">
                    <a:latin typeface="Symbol"/>
                    <a:cs typeface="Symbol"/>
                  </a:rPr>
                  <a:t></a:t>
                </a:r>
                <a:r>
                  <a:rPr sz="2400" spc="-55" dirty="0">
                    <a:latin typeface="Times New Roman"/>
                    <a:cs typeface="Times New Roman"/>
                  </a:rPr>
                  <a:t> </a:t>
                </a:r>
                <a:r>
                  <a:rPr sz="2400" spc="-10" dirty="0">
                    <a:latin typeface="Times New Roman"/>
                    <a:cs typeface="Times New Roman"/>
                  </a:rPr>
                  <a:t> </a:t>
                </a:r>
                <a:r>
                  <a:rPr sz="2400" dirty="0">
                    <a:latin typeface="Times New Roman"/>
                    <a:cs typeface="Times New Roman"/>
                  </a:rPr>
                  <a:t>unstable</a:t>
                </a:r>
                <a:r>
                  <a:rPr sz="2400" spc="-30" dirty="0">
                    <a:latin typeface="Times New Roman"/>
                    <a:cs typeface="Times New Roman"/>
                  </a:rPr>
                  <a:t> </a:t>
                </a:r>
                <a:r>
                  <a:rPr sz="2400" dirty="0">
                    <a:latin typeface="Times New Roman"/>
                    <a:cs typeface="Times New Roman"/>
                  </a:rPr>
                  <a:t>poles</a:t>
                </a:r>
                <a:r>
                  <a:rPr sz="2400" spc="-1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lang="en-US" sz="2400" i="1" spc="-95" dirty="0">
                    <a:latin typeface="Times New Roman"/>
                    <a:cs typeface="Times New Roman"/>
                  </a:rPr>
                  <a:t>M</a:t>
                </a:r>
                <a:r>
                  <a:rPr sz="2100" i="1" spc="-89" baseline="-23809" dirty="0">
                    <a:latin typeface="Times New Roman"/>
                    <a:cs typeface="Times New Roman"/>
                  </a:rPr>
                  <a:t> </a:t>
                </a:r>
                <a:r>
                  <a:rPr sz="2400" dirty="0">
                    <a:latin typeface="Times New Roman"/>
                    <a:cs typeface="Times New Roman"/>
                  </a:rPr>
                  <a:t>(</a:t>
                </a:r>
                <a:r>
                  <a:rPr sz="2400" i="1" dirty="0">
                    <a:latin typeface="Times New Roman"/>
                    <a:cs typeface="Times New Roman"/>
                  </a:rPr>
                  <a:t>s</a:t>
                </a:r>
                <a:r>
                  <a:rPr sz="2400" dirty="0">
                    <a:latin typeface="Times New Roman"/>
                    <a:cs typeface="Times New Roman"/>
                  </a:rPr>
                  <a:t>),</a:t>
                </a:r>
                <a:r>
                  <a:rPr sz="2400" spc="31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closed</a:t>
                </a:r>
                <a:r>
                  <a:rPr sz="2400" spc="-10" dirty="0">
                    <a:latin typeface="Times New Roman"/>
                    <a:cs typeface="Times New Roman"/>
                  </a:rPr>
                  <a:t> </a:t>
                </a:r>
                <a:r>
                  <a:rPr sz="2400" dirty="0">
                    <a:latin typeface="Times New Roman"/>
                    <a:cs typeface="Times New Roman"/>
                  </a:rPr>
                  <a:t>loop</a:t>
                </a:r>
                <a:r>
                  <a:rPr sz="2400" spc="-10" dirty="0">
                    <a:latin typeface="Times New Roman"/>
                    <a:cs typeface="Times New Roman"/>
                  </a:rPr>
                  <a:t> </a:t>
                </a:r>
                <a:r>
                  <a:rPr sz="2400" spc="-20" dirty="0">
                    <a:latin typeface="Times New Roman"/>
                    <a:cs typeface="Times New Roman"/>
                  </a:rPr>
                  <a:t>gain</a:t>
                </a:r>
                <a:endParaRPr sz="2400" dirty="0">
                  <a:latin typeface="Times New Roman"/>
                  <a:cs typeface="Times New Roman"/>
                </a:endParaRPr>
              </a:p>
              <a:p>
                <a:pPr marL="61594">
                  <a:lnSpc>
                    <a:spcPct val="100000"/>
                  </a:lnSpc>
                  <a:spcBef>
                    <a:spcPts val="695"/>
                  </a:spcBef>
                </a:pPr>
                <a:r>
                  <a:rPr sz="2400" i="1" dirty="0">
                    <a:latin typeface="Times New Roman"/>
                    <a:cs typeface="Times New Roman"/>
                  </a:rPr>
                  <a:t>P</a:t>
                </a:r>
                <a:r>
                  <a:rPr sz="2400" i="1" spc="-75" dirty="0">
                    <a:latin typeface="Times New Roman"/>
                    <a:cs typeface="Times New Roman"/>
                  </a:rPr>
                  <a:t> </a:t>
                </a:r>
                <a:r>
                  <a:rPr sz="2400" dirty="0">
                    <a:latin typeface="Symbol"/>
                    <a:cs typeface="Symbol"/>
                  </a:rPr>
                  <a:t></a:t>
                </a:r>
                <a:r>
                  <a:rPr sz="2400" spc="-95" dirty="0">
                    <a:latin typeface="Times New Roman"/>
                    <a:cs typeface="Times New Roman"/>
                  </a:rPr>
                  <a:t> </a:t>
                </a:r>
                <a:r>
                  <a:rPr sz="2400" spc="-40" dirty="0">
                    <a:latin typeface="Times New Roman"/>
                    <a:cs typeface="Times New Roman"/>
                  </a:rPr>
                  <a:t> </a:t>
                </a:r>
                <a:r>
                  <a:rPr sz="2400" dirty="0">
                    <a:latin typeface="Times New Roman"/>
                    <a:cs typeface="Times New Roman"/>
                  </a:rPr>
                  <a:t>unstable</a:t>
                </a:r>
                <a:r>
                  <a:rPr sz="2400" spc="-65" dirty="0">
                    <a:latin typeface="Times New Roman"/>
                    <a:cs typeface="Times New Roman"/>
                  </a:rPr>
                  <a:t> </a:t>
                </a:r>
                <a:r>
                  <a:rPr sz="2400" dirty="0">
                    <a:latin typeface="Times New Roman"/>
                    <a:cs typeface="Times New Roman"/>
                  </a:rPr>
                  <a:t>poles</a:t>
                </a:r>
                <a:r>
                  <a:rPr sz="2400" spc="-45" dirty="0">
                    <a:latin typeface="Times New Roman"/>
                    <a:cs typeface="Times New Roman"/>
                  </a:rPr>
                  <a:t> </a:t>
                </a:r>
                <a:r>
                  <a:rPr sz="2400" dirty="0">
                    <a:latin typeface="Times New Roman"/>
                    <a:cs typeface="Times New Roman"/>
                  </a:rPr>
                  <a:t>in</a:t>
                </a:r>
                <a:r>
                  <a:rPr sz="2400" spc="-45" dirty="0">
                    <a:latin typeface="Times New Roman"/>
                    <a:cs typeface="Times New Roman"/>
                  </a:rPr>
                  <a:t> </a:t>
                </a:r>
                <a:r>
                  <a:rPr lang="en-US" sz="2400" spc="-45" dirty="0">
                    <a:latin typeface="Times New Roman"/>
                    <a:cs typeface="Times New Roman"/>
                  </a:rPr>
                  <a:t>G</a:t>
                </a:r>
                <a:r>
                  <a:rPr sz="2400" spc="-10" dirty="0">
                    <a:latin typeface="Times New Roman"/>
                    <a:cs typeface="Times New Roman"/>
                  </a:rPr>
                  <a:t>(</a:t>
                </a:r>
                <a:r>
                  <a:rPr sz="2400" i="1" spc="-10" dirty="0">
                    <a:latin typeface="Times New Roman"/>
                    <a:cs typeface="Times New Roman"/>
                  </a:rPr>
                  <a:t>s</a:t>
                </a:r>
                <a:r>
                  <a:rPr sz="2400" spc="-10" dirty="0">
                    <a:latin typeface="Times New Roman"/>
                    <a:cs typeface="Times New Roman"/>
                  </a:rPr>
                  <a:t>)</a:t>
                </a:r>
                <a:r>
                  <a:rPr lang="en-US" sz="2500" spc="-10" dirty="0">
                    <a:latin typeface="Symbol"/>
                    <a:cs typeface="Times New Roman"/>
                  </a:rPr>
                  <a:t>H</a:t>
                </a:r>
                <a:r>
                  <a:rPr sz="2400" spc="-10" dirty="0">
                    <a:latin typeface="Times New Roman"/>
                    <a:cs typeface="Times New Roman"/>
                  </a:rPr>
                  <a:t>(</a:t>
                </a:r>
                <a:r>
                  <a:rPr sz="2400" i="1" spc="-10" dirty="0">
                    <a:latin typeface="Times New Roman"/>
                    <a:cs typeface="Times New Roman"/>
                  </a:rPr>
                  <a:t>s</a:t>
                </a:r>
                <a:r>
                  <a:rPr sz="2400" spc="-10" dirty="0">
                    <a:latin typeface="Times New Roman"/>
                    <a:cs typeface="Times New Roman"/>
                  </a:rPr>
                  <a:t>),</a:t>
                </a:r>
                <a:r>
                  <a:rPr sz="2400" spc="265" dirty="0">
                    <a:latin typeface="Times New Roman"/>
                    <a:cs typeface="Times New Roman"/>
                  </a:rPr>
                  <a:t> </a:t>
                </a:r>
                <a:r>
                  <a:rPr sz="2400" dirty="0">
                    <a:latin typeface="Times New Roman"/>
                    <a:cs typeface="Times New Roman"/>
                  </a:rPr>
                  <a:t>the</a:t>
                </a:r>
                <a:r>
                  <a:rPr sz="2400" spc="-60" dirty="0">
                    <a:latin typeface="Times New Roman"/>
                    <a:cs typeface="Times New Roman"/>
                  </a:rPr>
                  <a:t> </a:t>
                </a:r>
                <a:r>
                  <a:rPr sz="2400" dirty="0">
                    <a:latin typeface="Times New Roman"/>
                    <a:cs typeface="Times New Roman"/>
                  </a:rPr>
                  <a:t>loop</a:t>
                </a:r>
                <a:r>
                  <a:rPr sz="2400" spc="-55" dirty="0">
                    <a:latin typeface="Times New Roman"/>
                    <a:cs typeface="Times New Roman"/>
                  </a:rPr>
                  <a:t> </a:t>
                </a:r>
                <a:r>
                  <a:rPr sz="2400" spc="-10" dirty="0">
                    <a:latin typeface="Times New Roman"/>
                    <a:cs typeface="Times New Roman"/>
                  </a:rPr>
                  <a:t>transmission.</a:t>
                </a:r>
                <a:endParaRPr sz="2400" dirty="0">
                  <a:latin typeface="Times New Roman"/>
                  <a:cs typeface="Times New Roman"/>
                </a:endParaRPr>
              </a:p>
              <a:p>
                <a:pPr marL="66040">
                  <a:lnSpc>
                    <a:spcPct val="100000"/>
                  </a:lnSpc>
                  <a:spcBef>
                    <a:spcPts val="780"/>
                  </a:spcBef>
                </a:pPr>
                <a:r>
                  <a:rPr sz="2400" i="1" dirty="0">
                    <a:latin typeface="Times New Roman"/>
                    <a:cs typeface="Times New Roman"/>
                  </a:rPr>
                  <a:t>N</a:t>
                </a:r>
                <a:r>
                  <a:rPr sz="2400" i="1" spc="155" dirty="0">
                    <a:latin typeface="Times New Roman"/>
                    <a:cs typeface="Times New Roman"/>
                  </a:rPr>
                  <a:t> </a:t>
                </a:r>
                <a:r>
                  <a:rPr sz="2400" dirty="0">
                    <a:latin typeface="Symbol"/>
                    <a:cs typeface="Symbol"/>
                  </a:rPr>
                  <a:t></a:t>
                </a:r>
                <a:r>
                  <a:rPr sz="2400" spc="-70" dirty="0">
                    <a:latin typeface="Times New Roman"/>
                    <a:cs typeface="Times New Roman"/>
                  </a:rPr>
                  <a:t> </a:t>
                </a:r>
                <a:r>
                  <a:rPr sz="2400" dirty="0">
                    <a:latin typeface="Times New Roman"/>
                    <a:cs typeface="Times New Roman"/>
                  </a:rPr>
                  <a:t>times</a:t>
                </a:r>
                <a:r>
                  <a:rPr sz="2400" spc="-25" dirty="0">
                    <a:latin typeface="Times New Roman"/>
                    <a:cs typeface="Times New Roman"/>
                  </a:rPr>
                  <a:t> </a:t>
                </a:r>
                <a:r>
                  <a:rPr lang="en-US" sz="2400" spc="-25" dirty="0">
                    <a:latin typeface="Times New Roman"/>
                    <a:cs typeface="Times New Roman"/>
                  </a:rPr>
                  <a:t>G</a:t>
                </a:r>
                <a:r>
                  <a:rPr lang="en-US" sz="2400" dirty="0">
                    <a:latin typeface="Times New Roman"/>
                    <a:cs typeface="Times New Roman"/>
                  </a:rPr>
                  <a:t>H(j</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a:rPr>
                      <m:t>𝜔</m:t>
                    </m:r>
                  </m:oMath>
                </a14:m>
                <a:r>
                  <a:rPr lang="en-US" sz="2400" dirty="0">
                    <a:latin typeface="Times New Roman"/>
                    <a:cs typeface="Times New Roman"/>
                  </a:rPr>
                  <a:t>)</a:t>
                </a:r>
                <a:r>
                  <a:rPr sz="2400" spc="-40" dirty="0">
                    <a:latin typeface="Times New Roman"/>
                    <a:cs typeface="Times New Roman"/>
                  </a:rPr>
                  <a:t> </a:t>
                </a:r>
                <a:r>
                  <a:rPr sz="2400" dirty="0">
                    <a:latin typeface="Times New Roman"/>
                    <a:cs typeface="Times New Roman"/>
                  </a:rPr>
                  <a:t>wraps</a:t>
                </a:r>
                <a:r>
                  <a:rPr sz="2400" spc="-25" dirty="0">
                    <a:latin typeface="Times New Roman"/>
                    <a:cs typeface="Times New Roman"/>
                  </a:rPr>
                  <a:t> </a:t>
                </a:r>
                <a:r>
                  <a:rPr sz="2400" dirty="0">
                    <a:latin typeface="Times New Roman"/>
                    <a:cs typeface="Times New Roman"/>
                  </a:rPr>
                  <a:t>clockwise</a:t>
                </a:r>
                <a:r>
                  <a:rPr sz="2400" spc="-50" dirty="0">
                    <a:latin typeface="Times New Roman"/>
                    <a:cs typeface="Times New Roman"/>
                  </a:rPr>
                  <a:t> </a:t>
                </a:r>
                <a:r>
                  <a:rPr sz="2400" dirty="0">
                    <a:latin typeface="Times New Roman"/>
                    <a:cs typeface="Times New Roman"/>
                  </a:rPr>
                  <a:t>around</a:t>
                </a:r>
                <a:r>
                  <a:rPr sz="2400" spc="-2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point</a:t>
                </a:r>
                <a:r>
                  <a:rPr sz="2400" spc="75" dirty="0">
                    <a:latin typeface="Times New Roman"/>
                    <a:cs typeface="Times New Roman"/>
                  </a:rPr>
                  <a:t> </a:t>
                </a:r>
                <a:r>
                  <a:rPr sz="2400" spc="-50" dirty="0">
                    <a:latin typeface="Times New Roman"/>
                    <a:cs typeface="Times New Roman"/>
                  </a:rPr>
                  <a:t>(-</a:t>
                </a:r>
                <a:r>
                  <a:rPr sz="2400" spc="90" dirty="0">
                    <a:latin typeface="Times New Roman"/>
                    <a:cs typeface="Times New Roman"/>
                  </a:rPr>
                  <a:t>1</a:t>
                </a:r>
                <a:r>
                  <a:rPr sz="2400" spc="90" dirty="0">
                    <a:latin typeface="Symbol"/>
                    <a:cs typeface="Symbol"/>
                  </a:rPr>
                  <a:t></a:t>
                </a:r>
                <a:r>
                  <a:rPr sz="2400" spc="254" dirty="0">
                    <a:latin typeface="Times New Roman"/>
                    <a:cs typeface="Times New Roman"/>
                  </a:rPr>
                  <a:t> </a:t>
                </a:r>
                <a:r>
                  <a:rPr sz="2400" i="1" spc="-25" dirty="0">
                    <a:latin typeface="Times New Roman"/>
                    <a:cs typeface="Times New Roman"/>
                  </a:rPr>
                  <a:t>j</a:t>
                </a:r>
                <a:r>
                  <a:rPr sz="2400" spc="-25" dirty="0">
                    <a:latin typeface="Times New Roman"/>
                    <a:cs typeface="Times New Roman"/>
                  </a:rPr>
                  <a:t>0)</a:t>
                </a:r>
                <a:endParaRPr sz="2400" dirty="0">
                  <a:latin typeface="Times New Roman"/>
                  <a:cs typeface="Times New Roman"/>
                </a:endParaRPr>
              </a:p>
            </p:txBody>
          </p:sp>
        </mc:Choice>
        <mc:Fallback xmlns="">
          <p:sp>
            <p:nvSpPr>
              <p:cNvPr id="5" name="object 5"/>
              <p:cNvSpPr txBox="1">
                <a:spLocks noRot="1" noChangeAspect="1" noMove="1" noResize="1" noEditPoints="1" noAdjustHandles="1" noChangeArrowheads="1" noChangeShapeType="1" noTextEdit="1"/>
              </p:cNvSpPr>
              <p:nvPr/>
            </p:nvSpPr>
            <p:spPr>
              <a:xfrm>
                <a:off x="1035396" y="4454683"/>
                <a:ext cx="8312200" cy="1880001"/>
              </a:xfrm>
              <a:prstGeom prst="rect">
                <a:avLst/>
              </a:prstGeom>
              <a:blipFill>
                <a:blip r:embed="rId3"/>
                <a:stretch>
                  <a:fillRect l="-1834" b="-9091"/>
                </a:stretch>
              </a:blipFill>
            </p:spPr>
            <p:txBody>
              <a:bodyPr/>
              <a:lstStyle/>
              <a:p>
                <a:r>
                  <a:rPr lang="zh-CN" altLang="en-US">
                    <a:noFill/>
                  </a:rPr>
                  <a:t> </a:t>
                </a:r>
              </a:p>
            </p:txBody>
          </p:sp>
        </mc:Fallback>
      </mc:AlternateContent>
      <p:pic>
        <p:nvPicPr>
          <p:cNvPr id="6" name="object 6"/>
          <p:cNvPicPr/>
          <p:nvPr/>
        </p:nvPicPr>
        <p:blipFill>
          <a:blip r:embed="rId4" cstate="print"/>
          <a:stretch>
            <a:fillRect/>
          </a:stretch>
        </p:blipFill>
        <p:spPr>
          <a:xfrm>
            <a:off x="3416808" y="963484"/>
            <a:ext cx="5041392" cy="2743473"/>
          </a:xfrm>
          <a:prstGeom prst="rect">
            <a:avLst/>
          </a:prstGeom>
        </p:spPr>
      </p:pic>
      <p:grpSp>
        <p:nvGrpSpPr>
          <p:cNvPr id="15" name="组合 14">
            <a:extLst>
              <a:ext uri="{FF2B5EF4-FFF2-40B4-BE49-F238E27FC236}">
                <a16:creationId xmlns:a16="http://schemas.microsoft.com/office/drawing/2014/main" id="{CE4267D7-891A-75DF-C256-E4E8AA51199D}"/>
              </a:ext>
            </a:extLst>
          </p:cNvPr>
          <p:cNvGrpSpPr/>
          <p:nvPr/>
        </p:nvGrpSpPr>
        <p:grpSpPr>
          <a:xfrm>
            <a:off x="669636" y="1409700"/>
            <a:ext cx="2400300" cy="2019300"/>
            <a:chOff x="6553200" y="3886200"/>
            <a:chExt cx="2400300" cy="2019300"/>
          </a:xfrm>
        </p:grpSpPr>
        <p:graphicFrame>
          <p:nvGraphicFramePr>
            <p:cNvPr id="8" name="对象 52">
              <a:extLst>
                <a:ext uri="{FF2B5EF4-FFF2-40B4-BE49-F238E27FC236}">
                  <a16:creationId xmlns:a16="http://schemas.microsoft.com/office/drawing/2014/main" id="{EA0CE54E-2F0F-9D56-D7CD-7D3E440CED57}"/>
                </a:ext>
              </a:extLst>
            </p:cNvPr>
            <p:cNvGraphicFramePr>
              <a:graphicFrameLocks noChangeAspect="1"/>
            </p:cNvGraphicFramePr>
            <p:nvPr>
              <p:extLst>
                <p:ext uri="{D42A27DB-BD31-4B8C-83A1-F6EECF244321}">
                  <p14:modId xmlns:p14="http://schemas.microsoft.com/office/powerpoint/2010/main" val="4267822117"/>
                </p:ext>
              </p:extLst>
            </p:nvPr>
          </p:nvGraphicFramePr>
          <p:xfrm>
            <a:off x="6553200" y="3886200"/>
            <a:ext cx="2400300" cy="2019300"/>
          </p:xfrm>
          <a:graphic>
            <a:graphicData uri="http://schemas.openxmlformats.org/presentationml/2006/ole">
              <mc:AlternateContent xmlns:mc="http://schemas.openxmlformats.org/markup-compatibility/2006">
                <mc:Choice xmlns:v="urn:schemas-microsoft-com:vml" Requires="v">
                  <p:oleObj name="位图图像" r:id="rId5" imgW="2400635" imgH="2019048" progId="Paint.Picture">
                    <p:embed/>
                  </p:oleObj>
                </mc:Choice>
                <mc:Fallback>
                  <p:oleObj name="位图图像" r:id="rId5" imgW="2400635" imgH="2019048" progId="Paint.Picture">
                    <p:embed/>
                    <p:pic>
                      <p:nvPicPr>
                        <p:cNvPr id="8" name="对象 52">
                          <a:extLst>
                            <a:ext uri="{FF2B5EF4-FFF2-40B4-BE49-F238E27FC236}">
                              <a16:creationId xmlns:a16="http://schemas.microsoft.com/office/drawing/2014/main" id="{EA0CE54E-2F0F-9D56-D7CD-7D3E440CED57}"/>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53200" y="3886200"/>
                          <a:ext cx="24003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对象 42">
              <a:extLst>
                <a:ext uri="{FF2B5EF4-FFF2-40B4-BE49-F238E27FC236}">
                  <a16:creationId xmlns:a16="http://schemas.microsoft.com/office/drawing/2014/main" id="{CFA4D1F5-7052-B2CA-F1B4-FE09EF384D78}"/>
                </a:ext>
              </a:extLst>
            </p:cNvPr>
            <p:cNvGraphicFramePr>
              <a:graphicFrameLocks noChangeAspect="1"/>
            </p:cNvGraphicFramePr>
            <p:nvPr>
              <p:extLst>
                <p:ext uri="{D42A27DB-BD31-4B8C-83A1-F6EECF244321}">
                  <p14:modId xmlns:p14="http://schemas.microsoft.com/office/powerpoint/2010/main" val="2139975834"/>
                </p:ext>
              </p:extLst>
            </p:nvPr>
          </p:nvGraphicFramePr>
          <p:xfrm>
            <a:off x="6731000" y="4241800"/>
            <a:ext cx="1133475" cy="762000"/>
          </p:xfrm>
          <a:graphic>
            <a:graphicData uri="http://schemas.openxmlformats.org/presentationml/2006/ole">
              <mc:AlternateContent xmlns:mc="http://schemas.openxmlformats.org/markup-compatibility/2006">
                <mc:Choice xmlns:v="urn:schemas-microsoft-com:vml" Requires="v">
                  <p:oleObj name="位图图像" r:id="rId7" imgW="1133633" imgH="762106" progId="Paint.Picture">
                    <p:embed/>
                  </p:oleObj>
                </mc:Choice>
                <mc:Fallback>
                  <p:oleObj name="位图图像" r:id="rId7" imgW="1133633" imgH="762106" progId="Paint.Picture">
                    <p:embed/>
                    <p:pic>
                      <p:nvPicPr>
                        <p:cNvPr id="10" name="对象 42">
                          <a:extLst>
                            <a:ext uri="{FF2B5EF4-FFF2-40B4-BE49-F238E27FC236}">
                              <a16:creationId xmlns:a16="http://schemas.microsoft.com/office/drawing/2014/main" id="{CFA4D1F5-7052-B2CA-F1B4-FE09EF384D78}"/>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31000" y="4241800"/>
                          <a:ext cx="11334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44">
              <a:extLst>
                <a:ext uri="{FF2B5EF4-FFF2-40B4-BE49-F238E27FC236}">
                  <a16:creationId xmlns:a16="http://schemas.microsoft.com/office/drawing/2014/main" id="{F5E7191B-1F6D-1783-342F-E6D0AE9F93D0}"/>
                </a:ext>
              </a:extLst>
            </p:cNvPr>
            <p:cNvGraphicFramePr>
              <a:graphicFrameLocks noChangeAspect="1"/>
            </p:cNvGraphicFramePr>
            <p:nvPr>
              <p:extLst>
                <p:ext uri="{D42A27DB-BD31-4B8C-83A1-F6EECF244321}">
                  <p14:modId xmlns:p14="http://schemas.microsoft.com/office/powerpoint/2010/main" val="2008028080"/>
                </p:ext>
              </p:extLst>
            </p:nvPr>
          </p:nvGraphicFramePr>
          <p:xfrm>
            <a:off x="6731000" y="4927600"/>
            <a:ext cx="1133475" cy="771525"/>
          </p:xfrm>
          <a:graphic>
            <a:graphicData uri="http://schemas.openxmlformats.org/presentationml/2006/ole">
              <mc:AlternateContent xmlns:mc="http://schemas.openxmlformats.org/markup-compatibility/2006">
                <mc:Choice xmlns:v="urn:schemas-microsoft-com:vml" Requires="v">
                  <p:oleObj name="位图图像" r:id="rId9" imgW="1133633" imgH="771429" progId="Paint.Picture">
                    <p:embed/>
                  </p:oleObj>
                </mc:Choice>
                <mc:Fallback>
                  <p:oleObj name="位图图像" r:id="rId9" imgW="1133633" imgH="771429" progId="Paint.Picture">
                    <p:embed/>
                    <p:pic>
                      <p:nvPicPr>
                        <p:cNvPr id="11" name="对象 44">
                          <a:extLst>
                            <a:ext uri="{FF2B5EF4-FFF2-40B4-BE49-F238E27FC236}">
                              <a16:creationId xmlns:a16="http://schemas.microsoft.com/office/drawing/2014/main" id="{F5E7191B-1F6D-1783-342F-E6D0AE9F93D0}"/>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31000" y="4927600"/>
                          <a:ext cx="1133475"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46">
              <a:extLst>
                <a:ext uri="{FF2B5EF4-FFF2-40B4-BE49-F238E27FC236}">
                  <a16:creationId xmlns:a16="http://schemas.microsoft.com/office/drawing/2014/main" id="{8D62F814-3BC2-EBDA-27E6-CFF31A3FDFEB}"/>
                </a:ext>
              </a:extLst>
            </p:cNvPr>
            <p:cNvGraphicFramePr>
              <a:graphicFrameLocks noChangeAspect="1"/>
            </p:cNvGraphicFramePr>
            <p:nvPr>
              <p:extLst>
                <p:ext uri="{D42A27DB-BD31-4B8C-83A1-F6EECF244321}">
                  <p14:modId xmlns:p14="http://schemas.microsoft.com/office/powerpoint/2010/main" val="3405863800"/>
                </p:ext>
              </p:extLst>
            </p:nvPr>
          </p:nvGraphicFramePr>
          <p:xfrm>
            <a:off x="7467600" y="4902200"/>
            <a:ext cx="1162050" cy="781050"/>
          </p:xfrm>
          <a:graphic>
            <a:graphicData uri="http://schemas.openxmlformats.org/presentationml/2006/ole">
              <mc:AlternateContent xmlns:mc="http://schemas.openxmlformats.org/markup-compatibility/2006">
                <mc:Choice xmlns:v="urn:schemas-microsoft-com:vml" Requires="v">
                  <p:oleObj name="位图图像" r:id="rId11" imgW="1162212" imgH="781159" progId="Paint.Picture">
                    <p:embed/>
                  </p:oleObj>
                </mc:Choice>
                <mc:Fallback>
                  <p:oleObj name="位图图像" r:id="rId11" imgW="1162212" imgH="781159" progId="Paint.Picture">
                    <p:embed/>
                    <p:pic>
                      <p:nvPicPr>
                        <p:cNvPr id="13" name="对象 46">
                          <a:extLst>
                            <a:ext uri="{FF2B5EF4-FFF2-40B4-BE49-F238E27FC236}">
                              <a16:creationId xmlns:a16="http://schemas.microsoft.com/office/drawing/2014/main" id="{8D62F814-3BC2-EBDA-27E6-CFF31A3FDFEB}"/>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67600" y="4902200"/>
                          <a:ext cx="11620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对象 45">
              <a:extLst>
                <a:ext uri="{FF2B5EF4-FFF2-40B4-BE49-F238E27FC236}">
                  <a16:creationId xmlns:a16="http://schemas.microsoft.com/office/drawing/2014/main" id="{51D10954-E706-6579-BEF0-02DCDDE67C35}"/>
                </a:ext>
              </a:extLst>
            </p:cNvPr>
            <p:cNvGraphicFramePr>
              <a:graphicFrameLocks noChangeAspect="1"/>
            </p:cNvGraphicFramePr>
            <p:nvPr>
              <p:extLst>
                <p:ext uri="{D42A27DB-BD31-4B8C-83A1-F6EECF244321}">
                  <p14:modId xmlns:p14="http://schemas.microsoft.com/office/powerpoint/2010/main" val="2435965940"/>
                </p:ext>
              </p:extLst>
            </p:nvPr>
          </p:nvGraphicFramePr>
          <p:xfrm>
            <a:off x="7454900" y="4241800"/>
            <a:ext cx="1162050" cy="723900"/>
          </p:xfrm>
          <a:graphic>
            <a:graphicData uri="http://schemas.openxmlformats.org/presentationml/2006/ole">
              <mc:AlternateContent xmlns:mc="http://schemas.openxmlformats.org/markup-compatibility/2006">
                <mc:Choice xmlns:v="urn:schemas-microsoft-com:vml" Requires="v">
                  <p:oleObj name="位图图像" r:id="rId13" imgW="1162212" imgH="724001" progId="Paint.Picture">
                    <p:embed/>
                  </p:oleObj>
                </mc:Choice>
                <mc:Fallback>
                  <p:oleObj name="位图图像" r:id="rId13" imgW="1162212" imgH="724001" progId="Paint.Picture">
                    <p:embed/>
                    <p:pic>
                      <p:nvPicPr>
                        <p:cNvPr id="14" name="对象 45">
                          <a:extLst>
                            <a:ext uri="{FF2B5EF4-FFF2-40B4-BE49-F238E27FC236}">
                              <a16:creationId xmlns:a16="http://schemas.microsoft.com/office/drawing/2014/main" id="{51D10954-E706-6579-BEF0-02DCDDE67C35}"/>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54900" y="4241800"/>
                          <a:ext cx="11620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ACB75A40-EEDA-776C-312C-67397221481A}"/>
              </a:ext>
            </a:extLst>
          </p:cNvPr>
          <p:cNvSpPr>
            <a:spLocks noGrp="1"/>
          </p:cNvSpPr>
          <p:nvPr>
            <p:ph type="body" idx="1"/>
          </p:nvPr>
        </p:nvSpPr>
        <p:spPr>
          <a:xfrm>
            <a:off x="342900" y="4800600"/>
            <a:ext cx="8458200" cy="1477328"/>
          </a:xfrm>
        </p:spPr>
        <p:txBody>
          <a:bodyPr/>
          <a:lstStyle/>
          <a:p>
            <a:r>
              <a:rPr lang="en-US" altLang="zh-CN" sz="4800" b="1" dirty="0"/>
              <a:t>Thank you</a:t>
            </a:r>
            <a:r>
              <a:rPr lang="zh-CN" altLang="en-US" sz="4800" b="1" dirty="0"/>
              <a:t>，</a:t>
            </a:r>
            <a:r>
              <a:rPr lang="en-US" altLang="zh-CN" sz="4800" b="1" dirty="0"/>
              <a:t>Nyquist and </a:t>
            </a:r>
            <a:r>
              <a:rPr lang="sv-SE" altLang="zh-CN" sz="4800" b="1" dirty="0"/>
              <a:t>Cauchy</a:t>
            </a:r>
          </a:p>
          <a:p>
            <a:r>
              <a:rPr lang="en-US" altLang="zh-CN" sz="4800" b="1" dirty="0"/>
              <a:t>for your</a:t>
            </a:r>
            <a:r>
              <a:rPr lang="zh-CN" altLang="en-US" sz="4800" b="1" dirty="0"/>
              <a:t> </a:t>
            </a:r>
            <a:r>
              <a:rPr lang="en-US" altLang="zh-CN" sz="4800" b="1" dirty="0"/>
              <a:t>great contribution</a:t>
            </a:r>
            <a:r>
              <a:rPr lang="zh-CN" altLang="en-US" sz="4800" b="1" dirty="0"/>
              <a:t>！</a:t>
            </a:r>
            <a:endParaRPr lang="en-US" altLang="zh-CN" sz="4800" b="1" dirty="0"/>
          </a:p>
        </p:txBody>
      </p:sp>
      <p:pic>
        <p:nvPicPr>
          <p:cNvPr id="4" name="图片 3">
            <a:extLst>
              <a:ext uri="{FF2B5EF4-FFF2-40B4-BE49-F238E27FC236}">
                <a16:creationId xmlns:a16="http://schemas.microsoft.com/office/drawing/2014/main" id="{C074AFAC-42C2-8DD3-2E42-71F6AD476C55}"/>
              </a:ext>
            </a:extLst>
          </p:cNvPr>
          <p:cNvPicPr>
            <a:picLocks noChangeAspect="1"/>
          </p:cNvPicPr>
          <p:nvPr/>
        </p:nvPicPr>
        <p:blipFill>
          <a:blip r:embed="rId2">
            <a:extLst>
              <a:ext uri="{28A0092B-C50C-407E-A947-70E740481C1C}">
                <a14:useLocalDpi xmlns:a14="http://schemas.microsoft.com/office/drawing/2010/main" val="0"/>
              </a:ext>
            </a:extLst>
          </a:blip>
          <a:srcRect b="5555"/>
          <a:stretch>
            <a:fillRect/>
          </a:stretch>
        </p:blipFill>
        <p:spPr>
          <a:xfrm>
            <a:off x="1219200" y="1103642"/>
            <a:ext cx="2895600" cy="3150135"/>
          </a:xfrm>
          <a:prstGeom prst="rect">
            <a:avLst/>
          </a:prstGeom>
        </p:spPr>
      </p:pic>
      <p:sp>
        <p:nvSpPr>
          <p:cNvPr id="7" name="标题 1">
            <a:extLst>
              <a:ext uri="{FF2B5EF4-FFF2-40B4-BE49-F238E27FC236}">
                <a16:creationId xmlns:a16="http://schemas.microsoft.com/office/drawing/2014/main" id="{24E96662-CA46-CD76-0DC4-151E51E4D78F}"/>
              </a:ext>
            </a:extLst>
          </p:cNvPr>
          <p:cNvSpPr>
            <a:spLocks noGrp="1"/>
          </p:cNvSpPr>
          <p:nvPr>
            <p:ph type="title"/>
          </p:nvPr>
        </p:nvSpPr>
        <p:spPr>
          <a:xfrm>
            <a:off x="444500" y="125933"/>
            <a:ext cx="8255000" cy="430887"/>
          </a:xfrm>
        </p:spPr>
        <p:txBody>
          <a:bodyPr/>
          <a:lstStyle/>
          <a:p>
            <a:r>
              <a:rPr lang="en-US" altLang="zh-CN" b="1" dirty="0"/>
              <a:t>Finally</a:t>
            </a:r>
            <a:endParaRPr lang="zh-CN" altLang="en-US" b="1" dirty="0"/>
          </a:p>
        </p:txBody>
      </p:sp>
      <p:pic>
        <p:nvPicPr>
          <p:cNvPr id="8" name="图片 7">
            <a:extLst>
              <a:ext uri="{FF2B5EF4-FFF2-40B4-BE49-F238E27FC236}">
                <a16:creationId xmlns:a16="http://schemas.microsoft.com/office/drawing/2014/main" id="{01DB7DFD-DEAA-3491-38FF-7B3E74114F5B}"/>
              </a:ext>
            </a:extLst>
          </p:cNvPr>
          <p:cNvPicPr>
            <a:picLocks noChangeAspect="1"/>
          </p:cNvPicPr>
          <p:nvPr/>
        </p:nvPicPr>
        <p:blipFill>
          <a:blip r:embed="rId3">
            <a:extLst>
              <a:ext uri="{28A0092B-C50C-407E-A947-70E740481C1C}">
                <a14:useLocalDpi xmlns:a14="http://schemas.microsoft.com/office/drawing/2010/main" val="0"/>
              </a:ext>
            </a:extLst>
          </a:blip>
          <a:srcRect b="13092"/>
          <a:stretch>
            <a:fillRect/>
          </a:stretch>
        </p:blipFill>
        <p:spPr>
          <a:xfrm>
            <a:off x="5029202" y="1103643"/>
            <a:ext cx="2985000" cy="3150134"/>
          </a:xfrm>
          <a:prstGeom prst="rect">
            <a:avLst/>
          </a:prstGeom>
        </p:spPr>
      </p:pic>
    </p:spTree>
    <p:extLst>
      <p:ext uri="{BB962C8B-B14F-4D97-AF65-F5344CB8AC3E}">
        <p14:creationId xmlns:p14="http://schemas.microsoft.com/office/powerpoint/2010/main" val="2408212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3AEEC2B8-804B-9D77-37C6-82E6140AE624}"/>
              </a:ext>
            </a:extLst>
          </p:cNvPr>
          <p:cNvSpPr>
            <a:spLocks noGrp="1"/>
          </p:cNvSpPr>
          <p:nvPr>
            <p:ph type="body" idx="1"/>
          </p:nvPr>
        </p:nvSpPr>
        <p:spPr>
          <a:xfrm>
            <a:off x="304800" y="2819400"/>
            <a:ext cx="8534400" cy="609600"/>
          </a:xfrm>
        </p:spPr>
        <p:txBody>
          <a:bodyPr/>
          <a:lstStyle/>
          <a:p>
            <a:r>
              <a:rPr lang="en-US" altLang="zh-CN" sz="4800" b="1" dirty="0"/>
              <a:t>Thank you everyone for listening</a:t>
            </a:r>
            <a:endParaRPr lang="zh-CN" altLang="en-US" sz="4800" b="1" dirty="0"/>
          </a:p>
        </p:txBody>
      </p:sp>
    </p:spTree>
    <p:extLst>
      <p:ext uri="{BB962C8B-B14F-4D97-AF65-F5344CB8AC3E}">
        <p14:creationId xmlns:p14="http://schemas.microsoft.com/office/powerpoint/2010/main" val="4083213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290CB5-C6F5-BFA1-2855-EC37FA31A1FA}"/>
              </a:ext>
            </a:extLst>
          </p:cNvPr>
          <p:cNvSpPr>
            <a:spLocks noGrp="1"/>
          </p:cNvSpPr>
          <p:nvPr>
            <p:ph type="title"/>
          </p:nvPr>
        </p:nvSpPr>
        <p:spPr>
          <a:xfrm>
            <a:off x="444500" y="125933"/>
            <a:ext cx="8255000" cy="430887"/>
          </a:xfrm>
        </p:spPr>
        <p:txBody>
          <a:bodyPr/>
          <a:lstStyle/>
          <a:p>
            <a:r>
              <a:rPr lang="zh-CN" altLang="en-US" dirty="0"/>
              <a:t>分工</a:t>
            </a:r>
          </a:p>
        </p:txBody>
      </p:sp>
      <p:sp>
        <p:nvSpPr>
          <p:cNvPr id="3" name="文本占位符 2">
            <a:extLst>
              <a:ext uri="{FF2B5EF4-FFF2-40B4-BE49-F238E27FC236}">
                <a16:creationId xmlns:a16="http://schemas.microsoft.com/office/drawing/2014/main" id="{0444B1ED-3E21-D18C-B1D6-167CF50CB353}"/>
              </a:ext>
            </a:extLst>
          </p:cNvPr>
          <p:cNvSpPr>
            <a:spLocks noGrp="1"/>
          </p:cNvSpPr>
          <p:nvPr>
            <p:ph type="body" idx="1"/>
          </p:nvPr>
        </p:nvSpPr>
        <p:spPr>
          <a:xfrm>
            <a:off x="2708275" y="2316386"/>
            <a:ext cx="6435725" cy="1107996"/>
          </a:xfrm>
        </p:spPr>
        <p:txBody>
          <a:bodyPr/>
          <a:lstStyle/>
          <a:p>
            <a:r>
              <a:rPr lang="zh-CN" altLang="en-US" dirty="0"/>
              <a:t>马宇佩：资料收集、</a:t>
            </a:r>
            <a:r>
              <a:rPr lang="en-US" altLang="zh-CN" dirty="0"/>
              <a:t>PPT</a:t>
            </a:r>
            <a:r>
              <a:rPr lang="zh-CN" altLang="en-US" dirty="0"/>
              <a:t>制作、</a:t>
            </a:r>
            <a:r>
              <a:rPr lang="en-US" altLang="zh-CN" dirty="0"/>
              <a:t>PPT</a:t>
            </a:r>
            <a:r>
              <a:rPr lang="zh-CN" altLang="en-US" dirty="0"/>
              <a:t>讲解</a:t>
            </a:r>
            <a:endParaRPr lang="en-US" altLang="zh-CN" dirty="0"/>
          </a:p>
          <a:p>
            <a:r>
              <a:rPr lang="zh-CN" altLang="en-US" dirty="0"/>
              <a:t>王浩锦：</a:t>
            </a:r>
            <a:r>
              <a:rPr lang="en-US" altLang="zh-CN" dirty="0"/>
              <a:t>PPT</a:t>
            </a:r>
            <a:r>
              <a:rPr lang="zh-CN" altLang="en-US" dirty="0"/>
              <a:t>制作、</a:t>
            </a:r>
            <a:r>
              <a:rPr lang="en-US" altLang="zh-CN" dirty="0"/>
              <a:t>PPT</a:t>
            </a:r>
            <a:r>
              <a:rPr lang="zh-CN" altLang="en-US" dirty="0"/>
              <a:t>讲解</a:t>
            </a:r>
            <a:endParaRPr lang="en-US" altLang="zh-CN" dirty="0"/>
          </a:p>
          <a:p>
            <a:r>
              <a:rPr lang="zh-CN" altLang="en-US" dirty="0"/>
              <a:t>图尔贡：</a:t>
            </a:r>
            <a:r>
              <a:rPr lang="en-US" altLang="zh-CN" dirty="0"/>
              <a:t>PPT</a:t>
            </a:r>
            <a:r>
              <a:rPr lang="zh-CN" altLang="en-US" dirty="0"/>
              <a:t>制作与美化</a:t>
            </a:r>
            <a:endParaRPr lang="en-US" altLang="zh-CN" dirty="0"/>
          </a:p>
          <a:p>
            <a:r>
              <a:rPr lang="zh-CN" altLang="en-US" dirty="0"/>
              <a:t>秦谐民：</a:t>
            </a:r>
            <a:r>
              <a:rPr lang="en-US" altLang="zh-CN" dirty="0"/>
              <a:t>PPT</a:t>
            </a:r>
            <a:r>
              <a:rPr lang="zh-CN" altLang="en-US" dirty="0"/>
              <a:t>制作与美化</a:t>
            </a:r>
            <a:endParaRPr lang="en-US" altLang="zh-CN" dirty="0"/>
          </a:p>
        </p:txBody>
      </p:sp>
    </p:spTree>
    <p:extLst>
      <p:ext uri="{BB962C8B-B14F-4D97-AF65-F5344CB8AC3E}">
        <p14:creationId xmlns:p14="http://schemas.microsoft.com/office/powerpoint/2010/main" val="2961093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315</TotalTime>
  <Words>501</Words>
  <Application>Microsoft Office PowerPoint</Application>
  <PresentationFormat>全屏显示(4:3)</PresentationFormat>
  <Paragraphs>39</Paragraphs>
  <Slides>14</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14</vt:i4>
      </vt:variant>
    </vt:vector>
  </HeadingPairs>
  <TitlesOfParts>
    <vt:vector size="22" baseType="lpstr">
      <vt:lpstr>Calibri</vt:lpstr>
      <vt:lpstr>Cambria Math</vt:lpstr>
      <vt:lpstr>Symbol</vt:lpstr>
      <vt:lpstr>Tahoma</vt:lpstr>
      <vt:lpstr>Times New Roman</vt:lpstr>
      <vt:lpstr>Office Theme</vt:lpstr>
      <vt:lpstr>AxMath</vt:lpstr>
      <vt:lpstr>位图图像</vt:lpstr>
      <vt:lpstr>The Nyquist Stability Criterion</vt:lpstr>
      <vt:lpstr>PowerPoint 演示文稿</vt:lpstr>
      <vt:lpstr>Feedback loop stability</vt:lpstr>
      <vt:lpstr> </vt:lpstr>
      <vt:lpstr>Cauchy's Principle of Argument</vt:lpstr>
      <vt:lpstr>PowerPoint 演示文稿</vt:lpstr>
      <vt:lpstr>Nyquist Plot and stability criterion </vt:lpstr>
      <vt:lpstr>PowerPoint 演示文稿</vt:lpstr>
      <vt:lpstr>Question</vt:lpstr>
      <vt:lpstr>The ingenious aspect of the  stability criterion</vt:lpstr>
      <vt:lpstr>Nyquist's criterion </vt:lpstr>
      <vt:lpstr>Finally</vt:lpstr>
      <vt:lpstr>PowerPoint 演示文稿</vt:lpstr>
      <vt:lpstr>分工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Nyquist Feedback Stability Criterion</dc:title>
  <dc:creator>mark rodwell</dc:creator>
  <cp:lastModifiedBy>宇佩 马</cp:lastModifiedBy>
  <cp:revision>19</cp:revision>
  <dcterms:created xsi:type="dcterms:W3CDTF">2025-11-13T11:24:40Z</dcterms:created>
  <dcterms:modified xsi:type="dcterms:W3CDTF">2025-12-07T11:43:23Z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2018-06-04T00:00:00Z</vt:filetime>
  </property>
  <property fmtid="{D5CDD505-2E9C-101B-9397-08002B2CF9AE}" pid="3" name="Creator">
    <vt:lpwstr>Microsoft® PowerPoint® 2013</vt:lpwstr>
  </property>
  <property fmtid="{D5CDD505-2E9C-101B-9397-08002B2CF9AE}" pid="4" name="LastSaved">
    <vt:filetime>2025-11-13T00:00:00Z</vt:filetime>
  </property>
  <property fmtid="{D5CDD505-2E9C-101B-9397-08002B2CF9AE}" pid="5" name="Producer">
    <vt:lpwstr>3-Heights(TM) PDF Security Shell 4.8.25.2 (http://www.pdf-tools.com)</vt:lpwstr>
  </property>
</Properties>
</file>