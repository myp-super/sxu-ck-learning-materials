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" initials="m" lastIdx="1" clrIdx="0"/>
  <p:cmAuthor id="2" name="Administrat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80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标题 197633"/>
          <p:cNvSpPr>
            <a:spLocks noGrp="1"/>
          </p:cNvSpPr>
          <p:nvPr>
            <p:ph type="title"/>
          </p:nvPr>
        </p:nvSpPr>
        <p:spPr>
          <a:xfrm>
            <a:off x="1981200" y="687705"/>
            <a:ext cx="8229600" cy="1143000"/>
          </a:xfrm>
          <a:noFill/>
          <a:ln>
            <a:noFill/>
          </a:ln>
        </p:spPr>
        <p:txBody>
          <a:bodyPr anchor="t" anchorCtr="0"/>
          <a:lstStyle/>
          <a:p>
            <a:pPr algn="ctr"/>
            <a:r>
              <a:rPr lang="zh-CN" altLang="en-US" sz="4400" b="1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课设题目</a:t>
            </a:r>
            <a:r>
              <a:rPr lang="en-US" altLang="zh-CN" sz="4400" b="1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1      </a:t>
            </a:r>
            <a:r>
              <a:rPr lang="zh-CN" altLang="en-US" sz="4400" b="1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数字钟设计</a:t>
            </a:r>
          </a:p>
        </p:txBody>
      </p:sp>
      <p:sp>
        <p:nvSpPr>
          <p:cNvPr id="73730" name="内容占位符 197634"/>
          <p:cNvSpPr>
            <a:spLocks noGrp="1"/>
          </p:cNvSpPr>
          <p:nvPr>
            <p:ph idx="1"/>
          </p:nvPr>
        </p:nvSpPr>
        <p:spPr>
          <a:xfrm>
            <a:off x="311150" y="3308350"/>
            <a:ext cx="11405870" cy="2992120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zh-CN" b="1">
                <a:latin typeface="+mn-ea"/>
                <a:cs typeface="+mn-ea"/>
              </a:rPr>
              <a:t>模24的计数器（行为描述      状态机描述）</a:t>
            </a:r>
          </a:p>
          <a:p>
            <a:pPr>
              <a:lnSpc>
                <a:spcPct val="140000"/>
              </a:lnSpc>
            </a:pPr>
            <a:r>
              <a:rPr lang="zh-CN" altLang="zh-CN" b="1">
                <a:latin typeface="+mn-ea"/>
                <a:cs typeface="+mn-ea"/>
              </a:rPr>
              <a:t>模60的计数器（行为描述      状态机描述）</a:t>
            </a:r>
          </a:p>
          <a:p>
            <a:pPr>
              <a:lnSpc>
                <a:spcPct val="140000"/>
              </a:lnSpc>
            </a:pPr>
            <a:r>
              <a:rPr lang="zh-CN" altLang="zh-CN" b="1">
                <a:solidFill>
                  <a:srgbClr val="070BB9"/>
                </a:solidFill>
                <a:latin typeface="+mn-ea"/>
                <a:cs typeface="+mn-ea"/>
                <a:sym typeface="+mn-ea"/>
              </a:rPr>
              <a:t>BCD</a:t>
            </a:r>
            <a:r>
              <a:rPr lang="en-US" altLang="zh-CN" b="1">
                <a:solidFill>
                  <a:srgbClr val="070BB9"/>
                </a:solidFill>
                <a:latin typeface="+mn-ea"/>
                <a:cs typeface="+mn-ea"/>
                <a:sym typeface="+mn-ea"/>
              </a:rPr>
              <a:t>7</a:t>
            </a:r>
            <a:r>
              <a:rPr lang="zh-CN" altLang="en-US" b="1">
                <a:solidFill>
                  <a:srgbClr val="070BB9"/>
                </a:solidFill>
                <a:latin typeface="+mn-ea"/>
                <a:cs typeface="+mn-ea"/>
                <a:sym typeface="+mn-ea"/>
              </a:rPr>
              <a:t>段</a:t>
            </a:r>
            <a:r>
              <a:rPr lang="zh-CN" altLang="zh-CN" b="1">
                <a:solidFill>
                  <a:srgbClr val="070BB9"/>
                </a:solidFill>
                <a:latin typeface="+mn-ea"/>
                <a:cs typeface="+mn-ea"/>
                <a:sym typeface="+mn-ea"/>
              </a:rPr>
              <a:t>数码管译码电路（行为描述、数据流描述   ）</a:t>
            </a:r>
            <a:endParaRPr lang="zh-CN" altLang="zh-CN" b="1">
              <a:latin typeface="+mn-ea"/>
              <a:cs typeface="+mn-ea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思考：输入是几位二进制数？如何实现二进制转换为对应的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BCD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码？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7636" name="矩形 197635"/>
          <p:cNvSpPr/>
          <p:nvPr/>
        </p:nvSpPr>
        <p:spPr>
          <a:xfrm>
            <a:off x="557848" y="2595880"/>
            <a:ext cx="3095625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b="1" dirty="0">
                <a:latin typeface="+mn-ea"/>
              </a:rPr>
              <a:t>方案一：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96330" y="1694180"/>
            <a:ext cx="4765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</a:rPr>
              <a:t>————</a:t>
            </a:r>
            <a:r>
              <a:rPr lang="zh-CN" altLang="en-US" sz="3200">
                <a:solidFill>
                  <a:srgbClr val="FF0000"/>
                </a:solidFill>
              </a:rPr>
              <a:t>结构化设计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标题 197633"/>
          <p:cNvSpPr>
            <a:spLocks noGrp="1"/>
          </p:cNvSpPr>
          <p:nvPr>
            <p:ph type="title"/>
          </p:nvPr>
        </p:nvSpPr>
        <p:spPr>
          <a:xfrm>
            <a:off x="1779905" y="423545"/>
            <a:ext cx="8229600" cy="1143000"/>
          </a:xfrm>
          <a:noFill/>
          <a:ln>
            <a:noFill/>
          </a:ln>
        </p:spPr>
        <p:txBody>
          <a:bodyPr anchor="t" anchorCtr="0"/>
          <a:lstStyle/>
          <a:p>
            <a:pPr algn="ctr"/>
            <a:r>
              <a:rPr lang="zh-CN" altLang="en-US" sz="4400" b="1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课设题目</a:t>
            </a:r>
            <a:r>
              <a:rPr lang="en-US" altLang="zh-CN" sz="4400" b="1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1      </a:t>
            </a:r>
            <a:r>
              <a:rPr lang="zh-CN" altLang="en-US" sz="4400" b="1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数字钟设计</a:t>
            </a:r>
          </a:p>
        </p:txBody>
      </p:sp>
      <p:sp>
        <p:nvSpPr>
          <p:cNvPr id="73730" name="内容占位符 197634"/>
          <p:cNvSpPr>
            <a:spLocks noGrp="1"/>
          </p:cNvSpPr>
          <p:nvPr>
            <p:ph idx="1"/>
          </p:nvPr>
        </p:nvSpPr>
        <p:spPr>
          <a:xfrm>
            <a:off x="330200" y="2684780"/>
            <a:ext cx="11405870" cy="3597910"/>
          </a:xfrm>
        </p:spPr>
        <p:txBody>
          <a:bodyPr anchor="t" anchorCtr="0">
            <a:normAutofit/>
          </a:bodyPr>
          <a:lstStyle/>
          <a:p>
            <a:pPr algn="l">
              <a:lnSpc>
                <a:spcPct val="140000"/>
              </a:lnSpc>
              <a:buClrTx/>
              <a:buSzTx/>
            </a:pPr>
            <a:r>
              <a:rPr lang="en-US" altLang="zh-CN" b="1">
                <a:solidFill>
                  <a:srgbClr val="070BB9"/>
                </a:solidFill>
                <a:latin typeface="+mn-ea"/>
                <a:cs typeface="+mn-ea"/>
              </a:rPr>
              <a:t>模24的BCD计数器（行为描述      状态机描述）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b="1">
                <a:latin typeface="+mn-ea"/>
                <a:cs typeface="+mn-ea"/>
              </a:rPr>
              <a:t>      </a:t>
            </a:r>
            <a:r>
              <a:rPr lang="en-US" altLang="zh-CN" b="1">
                <a:solidFill>
                  <a:srgbClr val="FF0000"/>
                </a:solidFill>
                <a:latin typeface="+mn-ea"/>
                <a:cs typeface="+mn-ea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+mn-ea"/>
                <a:cs typeface="+mn-ea"/>
              </a:rPr>
              <a:t>注意：最后输出的是</a:t>
            </a:r>
            <a:r>
              <a:rPr lang="en-US" altLang="zh-CN" b="1">
                <a:solidFill>
                  <a:srgbClr val="FF0000"/>
                </a:solidFill>
                <a:latin typeface="+mn-ea"/>
                <a:cs typeface="+mn-ea"/>
              </a:rPr>
              <a:t>8421BCD</a:t>
            </a:r>
            <a:r>
              <a:rPr lang="zh-CN" altLang="en-US" b="1">
                <a:solidFill>
                  <a:srgbClr val="FF0000"/>
                </a:solidFill>
                <a:latin typeface="+mn-ea"/>
                <a:cs typeface="+mn-ea"/>
              </a:rPr>
              <a:t>码（十位、个位）</a:t>
            </a:r>
            <a:endParaRPr lang="zh-CN" altLang="zh-CN" b="1">
              <a:solidFill>
                <a:srgbClr val="FF0000"/>
              </a:solidFill>
              <a:latin typeface="+mn-ea"/>
              <a:cs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b="1">
                <a:solidFill>
                  <a:srgbClr val="070BB9"/>
                </a:solidFill>
                <a:latin typeface="+mn-ea"/>
                <a:cs typeface="+mn-ea"/>
              </a:rPr>
              <a:t>模60的BCD计数器（行为描述      状态机描述）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      </a:t>
            </a:r>
            <a:r>
              <a:rPr lang="zh-CN" altLang="en-US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注意：最后输出的是</a:t>
            </a:r>
            <a:r>
              <a:rPr lang="en-US" altLang="zh-CN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8421BCD</a:t>
            </a:r>
            <a:r>
              <a:rPr lang="zh-CN" altLang="en-US" b="1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码（十位、个位）</a:t>
            </a:r>
            <a:endParaRPr lang="zh-CN" altLang="zh-CN" b="1">
              <a:latin typeface="+mn-ea"/>
              <a:cs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7</a:t>
            </a:r>
            <a:r>
              <a:rPr lang="zh-CN" altLang="en-US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段</a:t>
            </a:r>
            <a:r>
              <a:rPr lang="zh-CN" altLang="zh-CN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数码管译码电路（行为描述、数据流描述   ）</a:t>
            </a:r>
            <a:endParaRPr lang="zh-CN" altLang="zh-CN" b="1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>
              <a:lnSpc>
                <a:spcPct val="140000"/>
              </a:lnSpc>
              <a:buNone/>
            </a:pP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endParaRPr lang="zh-CN" altLang="zh-CN" dirty="0"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7636" name="矩形 197635"/>
          <p:cNvSpPr/>
          <p:nvPr/>
        </p:nvSpPr>
        <p:spPr>
          <a:xfrm>
            <a:off x="696913" y="2101215"/>
            <a:ext cx="3095625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3200" b="1" dirty="0">
                <a:latin typeface="+mn-ea"/>
              </a:rPr>
              <a:t>方案二：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42075" y="1276350"/>
            <a:ext cx="4765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</a:rPr>
              <a:t>————</a:t>
            </a:r>
            <a:r>
              <a:rPr lang="zh-CN" altLang="en-US" sz="3200">
                <a:solidFill>
                  <a:srgbClr val="FF0000"/>
                </a:solidFill>
              </a:rPr>
              <a:t>结构化设计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内容占位符 197634"/>
          <p:cNvSpPr>
            <a:spLocks noGrp="1"/>
          </p:cNvSpPr>
          <p:nvPr>
            <p:ph idx="1"/>
          </p:nvPr>
        </p:nvSpPr>
        <p:spPr>
          <a:xfrm>
            <a:off x="294640" y="3073400"/>
            <a:ext cx="11405870" cy="2444115"/>
          </a:xfrm>
        </p:spPr>
        <p:txBody>
          <a:bodyPr anchor="t" anchorCtr="0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altLang="zh-CN" b="1">
                <a:solidFill>
                  <a:schemeClr val="tx1"/>
                </a:solidFill>
                <a:latin typeface="+mn-ea"/>
                <a:cs typeface="+mn-ea"/>
              </a:rPr>
              <a:t>    </a:t>
            </a:r>
            <a:r>
              <a:rPr lang="zh-CN" altLang="en-US" b="1">
                <a:solidFill>
                  <a:schemeClr val="tx1"/>
                </a:solidFill>
                <a:latin typeface="+mn-ea"/>
                <a:cs typeface="+mn-ea"/>
              </a:rPr>
              <a:t>比较</a:t>
            </a:r>
            <a:r>
              <a:rPr lang="en-US" altLang="zh-CN" b="1">
                <a:solidFill>
                  <a:schemeClr val="tx1"/>
                </a:solidFill>
                <a:latin typeface="+mn-ea"/>
                <a:cs typeface="+mn-ea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+mn-ea"/>
                <a:cs typeface="+mn-ea"/>
              </a:rPr>
              <a:t>种设计方案</a:t>
            </a:r>
            <a:endParaRPr lang="en-US" altLang="zh-CN" b="1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altLang="zh-CN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    </a:t>
            </a:r>
            <a:r>
              <a:rPr lang="zh-CN" altLang="en-US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完成设计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 </a:t>
            </a:r>
            <a:r>
              <a:rPr lang="en-US" altLang="zh-CN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   </a:t>
            </a:r>
            <a:r>
              <a:rPr lang="zh-CN" altLang="en-US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分析设计并撰写报告</a:t>
            </a:r>
            <a:r>
              <a:rPr lang="en-US" altLang="zh-CN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 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endParaRPr lang="zh-CN" altLang="zh-CN" dirty="0">
              <a:latin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3729" name="标题 197633"/>
          <p:cNvSpPr>
            <a:spLocks noGrp="1"/>
          </p:cNvSpPr>
          <p:nvPr>
            <p:ph type="title"/>
          </p:nvPr>
        </p:nvSpPr>
        <p:spPr>
          <a:xfrm>
            <a:off x="1981200" y="687705"/>
            <a:ext cx="8229600" cy="1143000"/>
          </a:xfrm>
          <a:noFill/>
          <a:ln>
            <a:noFill/>
          </a:ln>
        </p:spPr>
        <p:txBody>
          <a:bodyPr anchor="t" anchorCtr="0"/>
          <a:lstStyle/>
          <a:p>
            <a:pPr algn="ctr"/>
            <a:r>
              <a:rPr lang="zh-CN" altLang="en-US" sz="4400" b="1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课设题目</a:t>
            </a:r>
            <a:r>
              <a:rPr lang="en-US" altLang="zh-CN" sz="4400" b="1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1      </a:t>
            </a:r>
            <a:r>
              <a:rPr lang="zh-CN" altLang="en-US" sz="4400" b="1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数字钟设计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96330" y="1694180"/>
            <a:ext cx="4765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</a:rPr>
              <a:t>————</a:t>
            </a:r>
            <a:r>
              <a:rPr lang="zh-CN" altLang="en-US" sz="3200">
                <a:solidFill>
                  <a:srgbClr val="FF0000"/>
                </a:solidFill>
              </a:rPr>
              <a:t>结构化设计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宽屏</PresentationFormat>
  <Paragraphs>21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主题</vt:lpstr>
      <vt:lpstr>课设题目1      数字钟设计</vt:lpstr>
      <vt:lpstr>课设题目1      数字钟设计</vt:lpstr>
      <vt:lpstr>课设题目1      数字钟设计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宇佩 马</cp:lastModifiedBy>
  <cp:revision>35</cp:revision>
  <dcterms:created xsi:type="dcterms:W3CDTF">2021-05-17T16:15:00Z</dcterms:created>
  <dcterms:modified xsi:type="dcterms:W3CDTF">2026-06-15T13:18:32Z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45180BC720BB43FCBA661E43A00DC889_12</vt:lpwstr>
  </property>
</Properties>
</file>