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387" r:id="rId3"/>
    <p:sldId id="388" r:id="rId4"/>
    <p:sldId id="389" r:id="rId5"/>
    <p:sldId id="597" r:id="rId6"/>
    <p:sldId id="598" r:id="rId7"/>
    <p:sldId id="599" r:id="rId8"/>
    <p:sldId id="393" r:id="rId9"/>
    <p:sldId id="395" r:id="rId10"/>
    <p:sldId id="394" r:id="rId11"/>
    <p:sldId id="396" r:id="rId12"/>
    <p:sldId id="397" r:id="rId13"/>
    <p:sldId id="398" r:id="rId14"/>
    <p:sldId id="399" r:id="rId15"/>
    <p:sldId id="402" r:id="rId16"/>
    <p:sldId id="403" r:id="rId17"/>
    <p:sldId id="404" r:id="rId18"/>
    <p:sldId id="804" r:id="rId19"/>
    <p:sldId id="805" r:id="rId20"/>
    <p:sldId id="806" r:id="rId21"/>
    <p:sldId id="807" r:id="rId22"/>
    <p:sldId id="808" r:id="rId23"/>
    <p:sldId id="809" r:id="rId24"/>
    <p:sldId id="810" r:id="rId25"/>
    <p:sldId id="411" r:id="rId26"/>
    <p:sldId id="412" r:id="rId27"/>
    <p:sldId id="811" r:id="rId28"/>
    <p:sldId id="854" r:id="rId29"/>
    <p:sldId id="855" r:id="rId30"/>
    <p:sldId id="856" r:id="rId31"/>
    <p:sldId id="858" r:id="rId32"/>
    <p:sldId id="812" r:id="rId33"/>
    <p:sldId id="813" r:id="rId34"/>
    <p:sldId id="415" r:id="rId35"/>
    <p:sldId id="416" r:id="rId36"/>
    <p:sldId id="816" r:id="rId37"/>
    <p:sldId id="821" r:id="rId38"/>
    <p:sldId id="817" r:id="rId39"/>
    <p:sldId id="815" r:id="rId40"/>
    <p:sldId id="818" r:id="rId41"/>
    <p:sldId id="814" r:id="rId42"/>
    <p:sldId id="424" r:id="rId44"/>
    <p:sldId id="820" r:id="rId45"/>
    <p:sldId id="822" r:id="rId46"/>
    <p:sldId id="825" r:id="rId47"/>
    <p:sldId id="426" r:id="rId48"/>
    <p:sldId id="830" r:id="rId49"/>
    <p:sldId id="827" r:id="rId50"/>
    <p:sldId id="831" r:id="rId51"/>
    <p:sldId id="829" r:id="rId52"/>
    <p:sldId id="823" r:id="rId53"/>
    <p:sldId id="429" r:id="rId54"/>
    <p:sldId id="428" r:id="rId55"/>
    <p:sldId id="430" r:id="rId56"/>
    <p:sldId id="859" r:id="rId57"/>
    <p:sldId id="860" r:id="rId58"/>
    <p:sldId id="862" r:id="rId59"/>
    <p:sldId id="863" r:id="rId60"/>
    <p:sldId id="864" r:id="rId61"/>
    <p:sldId id="436" r:id="rId62"/>
    <p:sldId id="841" r:id="rId63"/>
    <p:sldId id="869" r:id="rId64"/>
    <p:sldId id="870" r:id="rId65"/>
    <p:sldId id="871" r:id="rId66"/>
    <p:sldId id="844" r:id="rId67"/>
    <p:sldId id="845" r:id="rId68"/>
    <p:sldId id="872" r:id="rId69"/>
    <p:sldId id="873" r:id="rId70"/>
    <p:sldId id="846" r:id="rId71"/>
    <p:sldId id="847" r:id="rId72"/>
    <p:sldId id="848" r:id="rId73"/>
    <p:sldId id="849" r:id="rId74"/>
    <p:sldId id="874" r:id="rId75"/>
    <p:sldId id="879" r:id="rId76"/>
    <p:sldId id="875" r:id="rId77"/>
    <p:sldId id="876" r:id="rId78"/>
    <p:sldId id="877" r:id="rId79"/>
    <p:sldId id="878" r:id="rId80"/>
    <p:sldId id="880" r:id="rId81"/>
    <p:sldId id="881" r:id="rId82"/>
    <p:sldId id="868" r:id="rId83"/>
  </p:sldIdLst>
  <p:sldSz cx="9144000" cy="6858000" type="screen4x3"/>
  <p:notesSz cx="6858000" cy="9144000"/>
  <p:custDataLst>
    <p:tags r:id="rId8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  <p:cmAuthor id="3" name="ASUS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178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8" Type="http://schemas.openxmlformats.org/officeDocument/2006/relationships/tags" Target="tags/tag14.xml"/><Relationship Id="rId87" Type="http://schemas.openxmlformats.org/officeDocument/2006/relationships/commentAuthors" Target="commentAuthors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11188" y="1628775"/>
            <a:ext cx="80010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image" Target="../media/image12.png"/><Relationship Id="rId1" Type="http://schemas.openxmlformats.org/officeDocument/2006/relationships/tags" Target="../tags/tag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" Type="http://schemas.openxmlformats.org/officeDocument/2006/relationships/image" Target="../media/image12.png"/><Relationship Id="rId1" Type="http://schemas.openxmlformats.org/officeDocument/2006/relationships/tags" Target="../tags/tag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97633"/>
          <p:cNvSpPr>
            <a:spLocks noGrp="1"/>
          </p:cNvSpPr>
          <p:nvPr>
            <p:ph type="title"/>
          </p:nvPr>
        </p:nvSpPr>
        <p:spPr>
          <a:xfrm>
            <a:off x="251460" y="692785"/>
            <a:ext cx="8654415" cy="1143000"/>
          </a:xfrm>
        </p:spPr>
        <p:txBody>
          <a:bodyPr anchor="t" anchorCtr="0"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章 </a:t>
            </a:r>
            <a:r>
              <a:rPr 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VHDL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语言基础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94" name="内容占位符 197634"/>
          <p:cNvSpPr>
            <a:spLocks noGrp="1"/>
          </p:cNvSpPr>
          <p:nvPr>
            <p:ph idx="1"/>
          </p:nvPr>
        </p:nvSpPr>
        <p:spPr>
          <a:xfrm>
            <a:off x="1259205" y="2851785"/>
            <a:ext cx="7367905" cy="2305050"/>
          </a:xfrm>
        </p:spPr>
        <p:txBody>
          <a:bodyPr anchor="t" anchorCtr="0"/>
          <a:p>
            <a:pPr>
              <a:lnSpc>
                <a:spcPct val="140000"/>
              </a:lnSpc>
            </a:pPr>
            <a:r>
              <a:rPr lang="zh-CN" sz="2400" b="1">
                <a:latin typeface="微软雅黑" panose="020B0503020204020204" charset="-122"/>
                <a:ea typeface="微软雅黑" panose="020B0503020204020204" charset="-122"/>
              </a:rPr>
              <a:t>基本组成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400" b="1">
                <a:latin typeface="微软雅黑" panose="020B0503020204020204" charset="-122"/>
                <a:ea typeface="微软雅黑" panose="020B0503020204020204" charset="-122"/>
              </a:rPr>
              <a:t>语言要素</a:t>
            </a:r>
            <a:endParaRPr 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400" b="1">
                <a:latin typeface="微软雅黑" panose="020B0503020204020204" charset="-122"/>
                <a:ea typeface="微软雅黑" panose="020B0503020204020204" charset="-122"/>
              </a:rPr>
              <a:t>运算符</a:t>
            </a:r>
            <a:endParaRPr 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636" name="矩形 197635"/>
          <p:cNvSpPr/>
          <p:nvPr/>
        </p:nvSpPr>
        <p:spPr>
          <a:xfrm>
            <a:off x="827088" y="1987550"/>
            <a:ext cx="3095625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本章内容：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819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标题 23553"/>
          <p:cNvSpPr>
            <a:spLocks noGrp="1"/>
          </p:cNvSpPr>
          <p:nvPr/>
        </p:nvSpPr>
        <p:spPr>
          <a:xfrm>
            <a:off x="596900" y="1536700"/>
            <a:ext cx="8115300" cy="3978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VHDL</a:t>
            </a: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程序是由设计单元组成的，基本的设计单元包括：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● 实体 </a:t>
            </a: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Entity</a:t>
            </a: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● 结构体 </a:t>
            </a: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Architecture</a:t>
            </a: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● 配置 </a:t>
            </a: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Configuration</a:t>
            </a: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● 包集合 </a:t>
            </a: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Package</a:t>
            </a: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● 库 </a:t>
            </a: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Library</a:t>
            </a: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。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设计中的一个模块可以是芯片的顶层模块，即芯片本身，也可以是芯片内的任意模块。</a:t>
            </a:r>
            <a:endParaRPr lang="zh-CN" altLang="en-US" sz="2400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9090" name="标题 3"/>
          <p:cNvSpPr>
            <a:spLocks noGrp="1"/>
          </p:cNvSpPr>
          <p:nvPr>
            <p:ph type="title"/>
          </p:nvPr>
        </p:nvSpPr>
        <p:spPr>
          <a:xfrm>
            <a:off x="755650" y="764540"/>
            <a:ext cx="8229600" cy="666750"/>
          </a:xfrm>
          <a:noFill/>
          <a:ln>
            <a:noFill/>
          </a:ln>
        </p:spPr>
        <p:txBody>
          <a:bodyPr anchor="t" anchorCtr="0"/>
          <a:p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4.1 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基本结构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700213"/>
            <a:ext cx="9131300" cy="5157788"/>
          </a:xfrm>
        </p:spPr>
        <p:txBody>
          <a:bodyPr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j-ea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0114" name="组合 6"/>
          <p:cNvGrpSpPr/>
          <p:nvPr/>
        </p:nvGrpSpPr>
        <p:grpSpPr>
          <a:xfrm>
            <a:off x="925513" y="1241425"/>
            <a:ext cx="6408737" cy="5111750"/>
            <a:chOff x="2324" y="2565"/>
            <a:chExt cx="10092" cy="8050"/>
          </a:xfrm>
        </p:grpSpPr>
        <p:sp>
          <p:nvSpPr>
            <p:cNvPr id="3" name="矩形 2"/>
            <p:cNvSpPr/>
            <p:nvPr/>
          </p:nvSpPr>
          <p:spPr>
            <a:xfrm>
              <a:off x="2323" y="2565"/>
              <a:ext cx="10092" cy="80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矩形 3"/>
            <p:cNvSpPr/>
            <p:nvPr/>
          </p:nvSpPr>
          <p:spPr>
            <a:xfrm>
              <a:off x="2550" y="2791"/>
              <a:ext cx="9525" cy="113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 fontAlgn="base"/>
              <a:r>
                <a:rPr lang="zh-CN" altLang="en-US" sz="2800" strike="noStrike" noProof="1" dirty="0" smtClean="0">
                  <a:solidFill>
                    <a:srgbClr val="C00000"/>
                  </a:solidFill>
                </a:rPr>
                <a:t>库、程序包</a:t>
              </a:r>
              <a:endParaRPr lang="zh-CN" altLang="en-US" sz="2800" strike="noStrike" noProof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50" y="4379"/>
              <a:ext cx="9525" cy="113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 fontAlgn="base"/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实体（</a:t>
              </a:r>
              <a:r>
                <a:rPr lang="en-US" altLang="zh-CN" sz="2800" strike="noStrike" noProof="1" dirty="0">
                  <a:solidFill>
                    <a:srgbClr val="C00000"/>
                  </a:solidFill>
                </a:rPr>
                <a:t>entity</a:t>
              </a:r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）</a:t>
              </a:r>
              <a:endParaRPr lang="zh-CN" altLang="en-US" sz="2800" strike="noStrike" noProof="1" dirty="0">
                <a:solidFill>
                  <a:srgbClr val="C00000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550" y="5853"/>
              <a:ext cx="9525" cy="306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 fontAlgn="base"/>
              <a:endParaRPr lang="zh-CN" altLang="en-US" sz="2800" strike="noStrike" noProof="1" dirty="0">
                <a:solidFill>
                  <a:srgbClr val="C00000"/>
                </a:solidFill>
              </a:endParaRPr>
            </a:p>
            <a:p>
              <a:pPr algn="ctr" fontAlgn="base"/>
              <a:endParaRPr lang="zh-CN" altLang="en-US" sz="2800" strike="noStrike" noProof="1" dirty="0">
                <a:solidFill>
                  <a:srgbClr val="C00000"/>
                </a:solidFill>
              </a:endParaRPr>
            </a:p>
            <a:p>
              <a:pPr algn="ctr" fontAlgn="base"/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结构体</a:t>
              </a:r>
              <a:endParaRPr lang="en-US" altLang="zh-CN" sz="2800" strike="noStrike" noProof="1" dirty="0">
                <a:solidFill>
                  <a:srgbClr val="C00000"/>
                </a:solidFill>
              </a:endParaRPr>
            </a:p>
            <a:p>
              <a:pPr algn="ctr" fontAlgn="base"/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（</a:t>
              </a:r>
              <a:r>
                <a:rPr lang="en-US" altLang="zh-CN" sz="2800" strike="noStrike" noProof="1" dirty="0">
                  <a:solidFill>
                    <a:srgbClr val="C00000"/>
                  </a:solidFill>
                </a:rPr>
                <a:t>architecture</a:t>
              </a:r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）</a:t>
              </a:r>
              <a:endParaRPr lang="en-US" altLang="zh-CN" sz="2800" strike="noStrike" noProof="1" dirty="0">
                <a:solidFill>
                  <a:srgbClr val="C00000"/>
                </a:solidFill>
              </a:endParaRPr>
            </a:p>
            <a:p>
              <a:pPr algn="ctr" fontAlgn="base"/>
              <a:endParaRPr lang="en-US" altLang="zh-CN" strike="noStrike" noProof="1" dirty="0"/>
            </a:p>
            <a:p>
              <a:pPr algn="ctr" fontAlgn="base"/>
              <a:endParaRPr lang="en-US" altLang="zh-CN" strike="noStrike" noProof="1" dirty="0" smtClean="0"/>
            </a:p>
            <a:p>
              <a:pPr algn="ctr" fontAlgn="base"/>
              <a:endParaRPr lang="en-US" altLang="zh-CN" strike="noStrike" noProof="1" dirty="0"/>
            </a:p>
            <a:p>
              <a:pPr algn="ctr" fontAlgn="base"/>
              <a:endParaRPr lang="zh-CN" altLang="en-US" strike="noStrike" noProof="1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934" y="7368"/>
              <a:ext cx="8461" cy="132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进程</a:t>
              </a:r>
              <a:endParaRPr lang="en-US" altLang="zh-CN" sz="2800" strike="noStrike" noProof="1" dirty="0">
                <a:solidFill>
                  <a:srgbClr val="C00000"/>
                </a:solidFill>
              </a:endParaRPr>
            </a:p>
            <a:p>
              <a:pPr algn="ctr" fontAlgn="base"/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或其它并行结构</a:t>
              </a:r>
              <a:endParaRPr lang="zh-CN" altLang="en-US" sz="2800" strike="noStrike" noProof="1" dirty="0">
                <a:solidFill>
                  <a:srgbClr val="C00000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607" y="9255"/>
              <a:ext cx="9525" cy="113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 fontAlgn="base"/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配置（</a:t>
              </a:r>
              <a:r>
                <a:rPr lang="en-US" altLang="zh-CN" sz="2800" strike="noStrike" noProof="1" dirty="0">
                  <a:solidFill>
                    <a:srgbClr val="C00000"/>
                  </a:solidFill>
                </a:rPr>
                <a:t>configuration</a:t>
              </a:r>
              <a:r>
                <a:rPr lang="zh-CN" altLang="en-US" sz="2800" strike="noStrike" noProof="1" dirty="0">
                  <a:solidFill>
                    <a:srgbClr val="C00000"/>
                  </a:solidFill>
                </a:rPr>
                <a:t>）</a:t>
              </a:r>
              <a:endParaRPr lang="zh-CN" altLang="en-US" sz="2800" strike="noStrike" noProof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90121" name="文本框 4"/>
          <p:cNvSpPr txBox="1"/>
          <p:nvPr/>
        </p:nvSpPr>
        <p:spPr>
          <a:xfrm>
            <a:off x="946150" y="444500"/>
            <a:ext cx="3336925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b="1" dirty="0">
                <a:solidFill>
                  <a:srgbClr val="840C18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800" b="1" dirty="0">
                <a:solidFill>
                  <a:srgbClr val="840C18"/>
                </a:solidFill>
                <a:latin typeface="微软雅黑" panose="020B0503020204020204" charset="-122"/>
                <a:ea typeface="微软雅黑" panose="020B0503020204020204" charset="-122"/>
              </a:rPr>
              <a:t>程序结构框架</a:t>
            </a:r>
            <a:endParaRPr lang="zh-CN" altLang="en-US" sz="2800" b="1" dirty="0">
              <a:solidFill>
                <a:srgbClr val="840C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0050" y="1409700"/>
            <a:ext cx="8343900" cy="5157788"/>
          </a:xfrm>
        </p:spPr>
        <p:txBody>
          <a:bodyPr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具体来说，一个完整的</a:t>
            </a: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VHDL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设计应该包括</a:t>
            </a:r>
            <a:r>
              <a:rPr kumimoji="0" lang="zh-CN" altLang="en-US" sz="2800" b="1" i="0" u="none" strike="noStrike" kern="1200" cap="none" spc="0" normalizeH="0" baseline="0" noProof="1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：</a:t>
            </a:r>
            <a:endParaRPr kumimoji="0" lang="en-US" altLang="zh-CN" sz="2800" b="1" i="0" u="none" strike="noStrike" kern="1200" cap="none" spc="0" normalizeH="0" baseline="0" noProof="1" dirty="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实体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entity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）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     主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要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是用于描述和外部设备的接口信号，以及类属等。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结构体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architecture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     用于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描述系统的具体逻辑行为功能。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配置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configuration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1" dirty="0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     配置用来从库中选择所需单元来组成系统设计的不同版本。</a:t>
            </a:r>
            <a:endParaRPr kumimoji="0" lang="zh-CN" altLang="en-US" sz="2400" b="1" i="0" u="none" strike="noStrike" kern="1200" cap="none" spc="0" normalizeH="0" baseline="0" noProof="1" dirty="0" smtClean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17500" y="1700213"/>
            <a:ext cx="8509000" cy="5157788"/>
          </a:xfrm>
        </p:spPr>
        <p:txBody>
          <a:bodyPr/>
          <a:p>
            <a:pPr marL="457200" marR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包集合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package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）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      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包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存放设计使用到的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公共数据类型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、常数和子程序等。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库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library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）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      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库存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放已经编译的实体、构造体、包集合和配置等。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625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900113"/>
            <a:ext cx="4981575" cy="5868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3717" name="右大括号 243716"/>
          <p:cNvSpPr/>
          <p:nvPr/>
        </p:nvSpPr>
        <p:spPr>
          <a:xfrm>
            <a:off x="4686300" y="3454400"/>
            <a:ext cx="381000" cy="1169988"/>
          </a:xfrm>
          <a:prstGeom prst="rightBrace">
            <a:avLst>
              <a:gd name="adj1" fmla="val 35000"/>
              <a:gd name="adj2" fmla="val 48611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243718" name="文本框 243717"/>
          <p:cNvSpPr txBox="1"/>
          <p:nvPr/>
        </p:nvSpPr>
        <p:spPr>
          <a:xfrm>
            <a:off x="5387975" y="3779838"/>
            <a:ext cx="10318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实体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3719" name="右大括号 243718"/>
          <p:cNvSpPr/>
          <p:nvPr/>
        </p:nvSpPr>
        <p:spPr>
          <a:xfrm>
            <a:off x="5232400" y="4905375"/>
            <a:ext cx="457200" cy="1385888"/>
          </a:xfrm>
          <a:prstGeom prst="rightBrace">
            <a:avLst>
              <a:gd name="adj1" fmla="val 3356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243720" name="文本框 243719"/>
          <p:cNvSpPr txBox="1"/>
          <p:nvPr/>
        </p:nvSpPr>
        <p:spPr>
          <a:xfrm>
            <a:off x="5857875" y="5337175"/>
            <a:ext cx="1341438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结构体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4851400" y="900113"/>
            <a:ext cx="381000" cy="795338"/>
          </a:xfrm>
          <a:prstGeom prst="rightBrace">
            <a:avLst>
              <a:gd name="adj1" fmla="val 35000"/>
              <a:gd name="adj2" fmla="val 48611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p>
            <a:pPr fontAlgn="base"/>
            <a:endParaRPr lang="zh-CN" altLang="en-US" strike="noStrike" noProof="1"/>
          </a:p>
        </p:txBody>
      </p:sp>
      <p:sp>
        <p:nvSpPr>
          <p:cNvPr id="96263" name="文本框 3"/>
          <p:cNvSpPr txBox="1"/>
          <p:nvPr/>
        </p:nvSpPr>
        <p:spPr>
          <a:xfrm>
            <a:off x="5592763" y="1079500"/>
            <a:ext cx="2685415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库、程序包调用</a:t>
            </a:r>
            <a:b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</a:b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88138" y="2311400"/>
            <a:ext cx="2332037" cy="1938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无论是简单的还是复杂的数字电路，最基本由实体和结构体两部分组成。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96265" name="文本框 4"/>
          <p:cNvSpPr txBox="1"/>
          <p:nvPr/>
        </p:nvSpPr>
        <p:spPr>
          <a:xfrm>
            <a:off x="898525" y="355600"/>
            <a:ext cx="12541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【例</a:t>
            </a:r>
            <a:r>
              <a:rPr lang="en-US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8" grpId="0"/>
      <p:bldP spid="243720" grpId="0"/>
      <p:bldP spid="12" grpId="0"/>
      <p:bldP spid="12" grpId="1"/>
      <p:bldP spid="96263" grpId="0"/>
      <p:bldP spid="9626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文本框 667651"/>
          <p:cNvSpPr txBox="1"/>
          <p:nvPr/>
        </p:nvSpPr>
        <p:spPr>
          <a:xfrm>
            <a:off x="487363" y="1412875"/>
            <a:ext cx="3440112" cy="3927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　由上面例子可以看出，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VHDL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程序中设计实体的保留字为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ENTITY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，结构体的保留字为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ARCHITECTURE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。一个设计实体有且只能有一个实体说明，但可以有一个或多个结构体。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9938" name="图片 668677" descr="3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0" y="2416175"/>
            <a:ext cx="4176713" cy="2597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60845"/>
          <p:cNvGrpSpPr/>
          <p:nvPr/>
        </p:nvGrpSpPr>
        <p:grpSpPr>
          <a:xfrm>
            <a:off x="1600200" y="1219200"/>
            <a:ext cx="6272213" cy="4876800"/>
            <a:chOff x="1008" y="384"/>
            <a:chExt cx="3951" cy="3072"/>
          </a:xfrm>
        </p:grpSpPr>
        <p:sp>
          <p:nvSpPr>
            <p:cNvPr id="3" name="文本框 160809"/>
            <p:cNvSpPr txBox="1"/>
            <p:nvPr/>
          </p:nvSpPr>
          <p:spPr>
            <a:xfrm>
              <a:off x="1285" y="384"/>
              <a:ext cx="1020" cy="38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调用程序包语句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" name="文本框 160810"/>
            <p:cNvSpPr txBox="1"/>
            <p:nvPr/>
          </p:nvSpPr>
          <p:spPr>
            <a:xfrm>
              <a:off x="1328" y="1024"/>
              <a:ext cx="920" cy="38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实体及实体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声明语句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" name="文本框 160811"/>
            <p:cNvSpPr txBox="1"/>
            <p:nvPr/>
          </p:nvSpPr>
          <p:spPr>
            <a:xfrm>
              <a:off x="1008" y="1792"/>
              <a:ext cx="306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结构体 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" name="文本框 160812"/>
            <p:cNvSpPr txBox="1"/>
            <p:nvPr/>
          </p:nvSpPr>
          <p:spPr>
            <a:xfrm>
              <a:off x="1620" y="1792"/>
              <a:ext cx="306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结构体 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文本框 160813"/>
            <p:cNvSpPr txBox="1"/>
            <p:nvPr/>
          </p:nvSpPr>
          <p:spPr>
            <a:xfrm>
              <a:off x="2233" y="1822"/>
              <a:ext cx="379" cy="73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结构体 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n</a:t>
              </a:r>
              <a:endParaRPr lang="en-US" altLang="zh-CN" sz="1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" name="矩形 160814"/>
            <p:cNvSpPr/>
            <p:nvPr/>
          </p:nvSpPr>
          <p:spPr>
            <a:xfrm>
              <a:off x="1008" y="2816"/>
              <a:ext cx="306" cy="64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160815"/>
            <p:cNvSpPr/>
            <p:nvPr/>
          </p:nvSpPr>
          <p:spPr>
            <a:xfrm>
              <a:off x="1620" y="2816"/>
              <a:ext cx="306" cy="64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160816"/>
            <p:cNvSpPr/>
            <p:nvPr/>
          </p:nvSpPr>
          <p:spPr>
            <a:xfrm>
              <a:off x="2233" y="2816"/>
              <a:ext cx="306" cy="64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160817"/>
            <p:cNvSpPr txBox="1"/>
            <p:nvPr/>
          </p:nvSpPr>
          <p:spPr>
            <a:xfrm>
              <a:off x="3020" y="1152"/>
              <a:ext cx="306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标准程序包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2" name="文本框 160818"/>
            <p:cNvSpPr txBox="1"/>
            <p:nvPr/>
          </p:nvSpPr>
          <p:spPr>
            <a:xfrm>
              <a:off x="3530" y="1152"/>
              <a:ext cx="306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标准程序包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3" name="文本框 160819"/>
            <p:cNvSpPr txBox="1"/>
            <p:nvPr/>
          </p:nvSpPr>
          <p:spPr>
            <a:xfrm>
              <a:off x="4143" y="1152"/>
              <a:ext cx="305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定义程序包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" name="文本框 160820"/>
            <p:cNvSpPr txBox="1"/>
            <p:nvPr/>
          </p:nvSpPr>
          <p:spPr>
            <a:xfrm>
              <a:off x="4653" y="1152"/>
              <a:ext cx="306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定义程序包</a:t>
              </a:r>
              <a:endParaRPr lang="zh-CN" altLang="en-US" sz="1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" name="文本框 160821"/>
            <p:cNvSpPr txBox="1"/>
            <p:nvPr/>
          </p:nvSpPr>
          <p:spPr>
            <a:xfrm>
              <a:off x="3224" y="2816"/>
              <a:ext cx="306" cy="51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进程 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" name="文本框 160822"/>
            <p:cNvSpPr txBox="1"/>
            <p:nvPr/>
          </p:nvSpPr>
          <p:spPr>
            <a:xfrm>
              <a:off x="3734" y="2816"/>
              <a:ext cx="307" cy="51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进程 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" name="文本框 160823"/>
            <p:cNvSpPr txBox="1"/>
            <p:nvPr/>
          </p:nvSpPr>
          <p:spPr>
            <a:xfrm>
              <a:off x="4245" y="2816"/>
              <a:ext cx="305" cy="51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0" tIns="0" rIns="0" bIns="0" anchor="ctr" anchorCtr="0"/>
            <a:p>
              <a:pPr algn="just" eaLnBrk="0" hangingPunct="0"/>
              <a:r>
                <a:rPr lang="zh-CN" altLang="en-US" sz="1800" b="1" dirty="0">
                  <a:latin typeface="楷体_GB2312" pitchFamily="49" charset="-122"/>
                  <a:ea typeface="楷体_GB2312" pitchFamily="49" charset="-122"/>
                </a:rPr>
                <a:t>进程 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n</a:t>
              </a:r>
              <a:endParaRPr lang="en-US" altLang="zh-CN" sz="18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" name="矩形 160824"/>
            <p:cNvSpPr/>
            <p:nvPr/>
          </p:nvSpPr>
          <p:spPr>
            <a:xfrm>
              <a:off x="3020" y="2688"/>
              <a:ext cx="1735" cy="7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直接连接符 160825"/>
            <p:cNvSpPr/>
            <p:nvPr/>
          </p:nvSpPr>
          <p:spPr>
            <a:xfrm>
              <a:off x="1795" y="768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" name="直接连接符 160826"/>
            <p:cNvSpPr/>
            <p:nvPr/>
          </p:nvSpPr>
          <p:spPr>
            <a:xfrm>
              <a:off x="1154" y="1627"/>
              <a:ext cx="122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" name="直接连接符 160827"/>
            <p:cNvSpPr/>
            <p:nvPr/>
          </p:nvSpPr>
          <p:spPr>
            <a:xfrm>
              <a:off x="1154" y="1647"/>
              <a:ext cx="0" cy="1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" name="直接连接符 160828"/>
            <p:cNvSpPr/>
            <p:nvPr/>
          </p:nvSpPr>
          <p:spPr>
            <a:xfrm>
              <a:off x="1781" y="1652"/>
              <a:ext cx="0" cy="1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" name="直接连接符 160829"/>
            <p:cNvSpPr/>
            <p:nvPr/>
          </p:nvSpPr>
          <p:spPr>
            <a:xfrm>
              <a:off x="2407" y="1639"/>
              <a:ext cx="0" cy="1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" name="直接连接符 160830"/>
            <p:cNvSpPr/>
            <p:nvPr/>
          </p:nvSpPr>
          <p:spPr>
            <a:xfrm>
              <a:off x="1781" y="1408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" name="直接连接符 160831"/>
            <p:cNvSpPr/>
            <p:nvPr/>
          </p:nvSpPr>
          <p:spPr>
            <a:xfrm>
              <a:off x="3122" y="896"/>
              <a:ext cx="17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" name="直接连接符 160832"/>
            <p:cNvSpPr/>
            <p:nvPr/>
          </p:nvSpPr>
          <p:spPr>
            <a:xfrm>
              <a:off x="3122" y="896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" name="直接连接符 160833"/>
            <p:cNvSpPr/>
            <p:nvPr/>
          </p:nvSpPr>
          <p:spPr>
            <a:xfrm>
              <a:off x="4289" y="896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直接连接符 160834"/>
            <p:cNvSpPr/>
            <p:nvPr/>
          </p:nvSpPr>
          <p:spPr>
            <a:xfrm>
              <a:off x="3676" y="896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直接连接符 160835"/>
            <p:cNvSpPr/>
            <p:nvPr/>
          </p:nvSpPr>
          <p:spPr>
            <a:xfrm>
              <a:off x="4857" y="896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直接连接符 160836"/>
            <p:cNvSpPr/>
            <p:nvPr/>
          </p:nvSpPr>
          <p:spPr>
            <a:xfrm>
              <a:off x="2305" y="578"/>
              <a:ext cx="173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" name="直接连接符 160837"/>
            <p:cNvSpPr/>
            <p:nvPr/>
          </p:nvSpPr>
          <p:spPr>
            <a:xfrm>
              <a:off x="4041" y="561"/>
              <a:ext cx="0" cy="3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" name="直接连接符 160838"/>
            <p:cNvSpPr/>
            <p:nvPr/>
          </p:nvSpPr>
          <p:spPr>
            <a:xfrm>
              <a:off x="1183" y="2560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" name="直接连接符 160839"/>
            <p:cNvSpPr/>
            <p:nvPr/>
          </p:nvSpPr>
          <p:spPr>
            <a:xfrm>
              <a:off x="1795" y="2560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直接连接符 160840"/>
            <p:cNvSpPr/>
            <p:nvPr/>
          </p:nvSpPr>
          <p:spPr>
            <a:xfrm>
              <a:off x="2407" y="2560"/>
              <a:ext cx="0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" name="直接连接符 160841"/>
            <p:cNvSpPr/>
            <p:nvPr/>
          </p:nvSpPr>
          <p:spPr>
            <a:xfrm flipV="1">
              <a:off x="2612" y="3072"/>
              <a:ext cx="306" cy="2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" name="直接连接符 160842"/>
            <p:cNvSpPr/>
            <p:nvPr/>
          </p:nvSpPr>
          <p:spPr>
            <a:xfrm>
              <a:off x="2000" y="2176"/>
              <a:ext cx="20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7" name="直接连接符 160843"/>
            <p:cNvSpPr/>
            <p:nvPr/>
          </p:nvSpPr>
          <p:spPr>
            <a:xfrm>
              <a:off x="3895" y="1519"/>
              <a:ext cx="20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文本占位符 158721"/>
          <p:cNvSpPr>
            <a:spLocks noGrp="1"/>
          </p:cNvSpPr>
          <p:nvPr>
            <p:ph idx="1"/>
          </p:nvPr>
        </p:nvSpPr>
        <p:spPr>
          <a:xfrm>
            <a:off x="395605" y="1052830"/>
            <a:ext cx="8077200" cy="5087620"/>
          </a:xfrm>
        </p:spPr>
        <p:txBody>
          <a:bodyPr/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strike="noStrike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800" strike="noStrike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程序设计约定</a:t>
            </a:r>
            <a:r>
              <a:rPr lang="zh-CN" altLang="en-US" sz="2400" b="0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endParaRPr lang="zh-CN" altLang="en-US" sz="2400" b="0" strike="noStrike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语句结构描述中方括号“</a:t>
            </a:r>
            <a:r>
              <a:rPr lang="en-US" altLang="zh-CN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 ]”</a:t>
            </a: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内的内容为可选内容。</a:t>
            </a:r>
            <a:endParaRPr lang="zh-CN" altLang="en-US" sz="2400" strike="noStrike" noProof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程序文字的大小写是不加区分的。</a:t>
            </a: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但是为了方便阅读和识别，建议将</a:t>
            </a:r>
            <a:r>
              <a:rPr lang="en-US" altLang="zh-CN" sz="2400" strike="noStrike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VHDL</a:t>
            </a: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语句中的保留字用大写字母来表示，设计者自己添加的内容用小写字母来表示。</a:t>
            </a:r>
            <a:endParaRPr lang="zh-CN" altLang="en-US" sz="2400" strike="noStrike" noProof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程序中的注释使用双横线“</a:t>
            </a:r>
            <a:r>
              <a:rPr lang="en-US" altLang="zh-CN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--”</a:t>
            </a: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strike="noStrike" noProof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建议书写使用层次缩进格式。</a:t>
            </a:r>
            <a:endParaRPr lang="zh-CN" altLang="en-US" sz="2400" strike="noStrike" noProof="1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fontAlgn="base">
              <a:lnSpc>
                <a:spcPct val="150000"/>
              </a:lnSpc>
            </a:pPr>
            <a:r>
              <a:rPr lang="zh-CN" altLang="en-US" sz="24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建议各个源程序文件的命名均与其实体名一致。</a:t>
            </a:r>
            <a:endParaRPr lang="zh-CN" altLang="en-US" sz="2400" strike="noStrike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fontAlgn="base">
              <a:lnSpc>
                <a:spcPct val="80000"/>
              </a:lnSpc>
            </a:pPr>
            <a:endParaRPr lang="zh-CN" altLang="en-US"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标题 161793"/>
          <p:cNvSpPr>
            <a:spLocks noGrp="1"/>
          </p:cNvSpPr>
          <p:nvPr>
            <p:ph type="title"/>
          </p:nvPr>
        </p:nvSpPr>
        <p:spPr>
          <a:xfrm>
            <a:off x="609600" y="990600"/>
            <a:ext cx="7848600" cy="2675255"/>
          </a:xfrm>
          <a:noFill/>
          <a:ln>
            <a:noFill/>
          </a:ln>
        </p:spPr>
        <p:txBody>
          <a:bodyPr anchor="t" anchorCtr="0">
            <a:spAutoFit/>
          </a:bodyPr>
          <a:p>
            <a:pPr algn="l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库说明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b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存放已经编译的实体、结构体、程序包和配置，用于设计共享，是编程资源。</a:t>
            </a:r>
            <a:b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library &lt;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库名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b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24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0354" name="矩形 161794"/>
          <p:cNvSpPr/>
          <p:nvPr/>
        </p:nvSpPr>
        <p:spPr>
          <a:xfrm>
            <a:off x="609600" y="4635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4.1.1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参数部分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796" name="矩形 161795"/>
          <p:cNvSpPr/>
          <p:nvPr/>
        </p:nvSpPr>
        <p:spPr>
          <a:xfrm>
            <a:off x="609600" y="3098800"/>
            <a:ext cx="7772400" cy="162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程序包引用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使用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USE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子句指明要使用库中某一个设计单元。</a:t>
            </a:r>
            <a:b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use &lt;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库名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&gt;. &lt;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程序包名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&gt;.all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1797" name="矩形 161796"/>
          <p:cNvSpPr/>
          <p:nvPr/>
        </p:nvSpPr>
        <p:spPr>
          <a:xfrm>
            <a:off x="671513" y="4699000"/>
            <a:ext cx="5881687" cy="1641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【例</a:t>
            </a:r>
            <a:r>
              <a:rPr lang="en-US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endParaRPr lang="zh-CN" altLang="en-US" sz="24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err="1"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en-US" altLang="zh-CN" sz="2400" b="1" err="1">
                <a:latin typeface="楷体_GB2312" pitchFamily="49" charset="-122"/>
                <a:ea typeface="楷体_GB2312" pitchFamily="49" charset="-122"/>
              </a:rPr>
              <a:t>LIBRARY  ieee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;</a:t>
            </a:r>
            <a:br>
              <a:rPr lang="en-US" altLang="zh-CN" sz="2400" b="1"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        USE ieee.std_logic_1164.ALL;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796" grpId="0"/>
      <p:bldP spid="16179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文本占位符 26625"/>
          <p:cNvSpPr>
            <a:spLocks noGrp="1"/>
          </p:cNvSpPr>
          <p:nvPr>
            <p:ph idx="1"/>
          </p:nvPr>
        </p:nvSpPr>
        <p:spPr>
          <a:xfrm>
            <a:off x="533400" y="1798638"/>
            <a:ext cx="7772400" cy="3382962"/>
          </a:xfrm>
        </p:spPr>
        <p:txBody>
          <a:bodyPr anchor="t" anchorCtr="0"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b="1" kern="12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实体(ENTITY)</a:t>
            </a:r>
            <a:endParaRPr kumimoji="0" lang="zh-CN" altLang="en-US" sz="2800" b="1" kern="12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kumimoji="0" lang="zh-CN" altLang="en-US" sz="2800" b="1" kern="12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0" lang="en-US" altLang="zh-CN" sz="2800" b="1" kern="12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0"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实体是一个设计实体的表层设计单元，其功能是对这个设计实体与外部电路进行接口描述。它规定了设计单元的输入/输出接口信号或引脚，是设计实体经封装后对外的一个通信界面。类似于原理图中的一个部件符号。</a:t>
            </a:r>
            <a:endParaRPr kumimoji="0" lang="zh-CN" altLang="en-US" sz="2800" b="1" kern="12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endParaRPr lang="zh-CN" altLang="en-US" sz="3400" b="1"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101378" name="矩形 26626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4.1.2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实体部分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文本占位符 27649"/>
          <p:cNvSpPr>
            <a:spLocks noGrp="1"/>
          </p:cNvSpPr>
          <p:nvPr>
            <p:ph idx="1"/>
          </p:nvPr>
        </p:nvSpPr>
        <p:spPr>
          <a:xfrm>
            <a:off x="609600" y="1219200"/>
            <a:ext cx="8229600" cy="4876800"/>
          </a:xfrm>
        </p:spPr>
        <p:txBody>
          <a:bodyPr/>
          <a:p>
            <a:pPr marL="469900" marR="0" indent="-469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实体格式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ENTITY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实体名 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IS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GENERIC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（常数名：数据类型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：设定值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--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类属表</a:t>
            </a:r>
            <a:endParaRPr kumimoji="0" lang="zh-CN" altLang="en-US" sz="2400" b="1" i="0" u="none" strike="noStrike" kern="1200" cap="none" spc="0" normalizeH="0" baseline="0" noProof="1">
              <a:solidFill>
                <a:srgbClr val="000099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PORT                                                 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--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端口表</a:t>
            </a:r>
            <a:endParaRPr kumimoji="0" lang="zh-CN" altLang="en-US" sz="2400" b="1" i="0" u="none" strike="noStrike" kern="1200" cap="none" spc="0" normalizeH="0" baseline="0" noProof="1">
              <a:solidFill>
                <a:srgbClr val="000099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（端口名：方向（端口模式） 端口类型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：                        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端口名：方向（端口模式） 端口类型   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1">
              <a:solidFill>
                <a:schemeClr val="accent6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END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ENTITY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6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]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实体名；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文本占位符 162817"/>
          <p:cNvSpPr>
            <a:spLocks noGrp="1"/>
          </p:cNvSpPr>
          <p:nvPr>
            <p:ph idx="1"/>
          </p:nvPr>
        </p:nvSpPr>
        <p:spPr>
          <a:xfrm>
            <a:off x="609600" y="607695"/>
            <a:ext cx="7924800" cy="6173470"/>
          </a:xfrm>
        </p:spPr>
        <p:txBody>
          <a:bodyPr anchor="t" anchorCtr="0"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1. GENERIC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类属参数</a:t>
            </a:r>
            <a:r>
              <a:rPr lang="zh-CN" altLang="en-US" sz="2100" b="1" dirty="0"/>
              <a:t> </a:t>
            </a:r>
            <a:endParaRPr lang="zh-CN" altLang="en-US" sz="2100" b="1" dirty="0"/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类属说明是实体说明中的可选项，放在端口说明之前。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定义端口</a:t>
            </a: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界面常数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端口宽度、器件延迟时间</a:t>
            </a:r>
            <a:r>
              <a:rPr lang="zh-CN" altLang="en-US" sz="2400" b="1" dirty="0">
                <a:latin typeface="宋体" panose="02010600030101010101" pitchFamily="2" charset="-122"/>
              </a:rPr>
              <a:t>）。类属参量的值可由设计实体的外部提供。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书写格式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GENERIC([</a:t>
            </a:r>
            <a:r>
              <a:rPr lang="zh-CN" altLang="en-US" sz="2400" b="1" dirty="0">
                <a:latin typeface="宋体" panose="02010600030101010101" pitchFamily="2" charset="-122"/>
              </a:rPr>
              <a:t>常数名：数据类型</a:t>
            </a:r>
            <a:r>
              <a:rPr lang="en-US" altLang="zh-CN" sz="2400" b="1" dirty="0"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宋体" panose="02010600030101010101" pitchFamily="2" charset="-122"/>
              </a:rPr>
              <a:t>：设定值</a:t>
            </a:r>
            <a:r>
              <a:rPr lang="en-US" altLang="zh-CN" sz="2400" b="1">
                <a:latin typeface="宋体" panose="02010600030101010101" pitchFamily="2" charset="-122"/>
              </a:rPr>
              <a:t>]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         {</a:t>
            </a:r>
            <a:r>
              <a:rPr lang="zh-CN" altLang="en-US" sz="2400" b="1" dirty="0">
                <a:latin typeface="宋体" panose="02010600030101010101" pitchFamily="2" charset="-122"/>
              </a:rPr>
              <a:t>；常数名：数据类型</a:t>
            </a:r>
            <a:r>
              <a:rPr lang="en-US" altLang="zh-CN" sz="2400" b="1" dirty="0">
                <a:latin typeface="宋体" panose="02010600030101010101" pitchFamily="2" charset="-122"/>
              </a:rPr>
              <a:t>[:=</a:t>
            </a:r>
            <a:r>
              <a:rPr lang="zh-CN" altLang="en-US" sz="2400" b="1" dirty="0">
                <a:latin typeface="宋体" panose="02010600030101010101" pitchFamily="2" charset="-122"/>
              </a:rPr>
              <a:t>设定值 </a:t>
            </a:r>
            <a:r>
              <a:rPr lang="en-US" altLang="zh-CN" sz="2400" b="1" dirty="0">
                <a:latin typeface="宋体" panose="02010600030101010101" pitchFamily="2" charset="-122"/>
              </a:rPr>
              <a:t>]})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>
                <a:latin typeface="宋体" panose="02010600030101010101" pitchFamily="2" charset="-122"/>
              </a:rPr>
              <a:t>   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黑体" panose="02010609060101010101" pitchFamily="2" charset="-122"/>
              </a:rPr>
              <a:t>        GENERIC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</a:rPr>
              <a:t>(N: Natural:=2);</a:t>
            </a:r>
            <a:endParaRPr lang="zh-CN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黑体" panose="02010609060101010101" pitchFamily="2" charset="-122"/>
              </a:rPr>
              <a:t>        GENERIC (cntwidth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2" charset="-122"/>
              </a:rPr>
              <a:t> : integer:=4);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文本占位符 163841"/>
          <p:cNvSpPr>
            <a:spLocks noGrp="1"/>
          </p:cNvSpPr>
          <p:nvPr>
            <p:ph idx="1"/>
          </p:nvPr>
        </p:nvSpPr>
        <p:spPr>
          <a:xfrm>
            <a:off x="609600" y="1219200"/>
            <a:ext cx="7924800" cy="4826000"/>
          </a:xfrm>
        </p:spPr>
        <p:txBody>
          <a:bodyPr/>
          <a:p>
            <a:pPr marL="0" marR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2.  PORT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端口</a:t>
            </a:r>
            <a:r>
              <a:rPr kumimoji="0" lang="zh-CN" altLang="en-US" sz="21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定义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实体的一组端口称作端口说明。端口说明是对设计实体与外部接口的描述，是设计实体和外部环境动态通信的通道，其功能对应于电路图符号的一个引脚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。</a:t>
            </a:r>
            <a:endParaRPr kumimoji="0" lang="zh-CN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实体说明中的每一个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I/O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信号被称为一个端口，一个端口就是一个数据对象。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端口可以被赋值，也可以当作变量用在逻辑表达式中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ea"/>
                <a:ea typeface="+mn-ea"/>
                <a:cs typeface="+mn-ea"/>
                <a:sym typeface="+mn-ea"/>
              </a:rPr>
              <a:t>。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+mn-ea"/>
            </a:endParaRPr>
          </a:p>
          <a:p>
            <a:pPr marL="0" marR="0" indent="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  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文本占位符 163841"/>
          <p:cNvSpPr>
            <a:spLocks noGrp="1"/>
          </p:cNvSpPr>
          <p:nvPr>
            <p:ph idx="1"/>
          </p:nvPr>
        </p:nvSpPr>
        <p:spPr>
          <a:xfrm>
            <a:off x="609600" y="1219200"/>
            <a:ext cx="7924800" cy="1260475"/>
          </a:xfrm>
        </p:spPr>
        <p:txBody>
          <a:bodyPr/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端口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j-ea"/>
                <a:ea typeface="+mn-ea"/>
                <a:cs typeface="+mn-cs"/>
                <a:sym typeface="+mn-ea"/>
              </a:rPr>
              <a:t>说明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  <a:sym typeface="+mn-ea"/>
              </a:rPr>
              <a:t>中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j-ea"/>
                <a:ea typeface="+mn-ea"/>
                <a:cs typeface="+mn-cs"/>
                <a:sym typeface="+mn-ea"/>
              </a:rPr>
              <a:t>必须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  <a:sym typeface="+mn-ea"/>
              </a:rPr>
              <a:t>有端口名、端口方向和数据类型。端口说明的语法格式为：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  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9570" name="文本框 1"/>
          <p:cNvSpPr txBox="1"/>
          <p:nvPr/>
        </p:nvSpPr>
        <p:spPr>
          <a:xfrm>
            <a:off x="835025" y="2828925"/>
            <a:ext cx="7473950" cy="1938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fr-FR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fr-FR" altLang="zh-CN" sz="2400" b="1" dirty="0">
                <a:latin typeface="Times New Roman" panose="02020603050405020304" pitchFamily="18" charset="0"/>
                <a:ea typeface="楷体" panose="02010609060101010101" charset="-122"/>
              </a:rPr>
              <a:t>port  (</a:t>
            </a:r>
            <a:endParaRPr lang="fr-FR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fr-FR" altLang="zh-CN" sz="2400" b="1" dirty="0">
                <a:latin typeface="Times New Roman" panose="02020603050405020304" pitchFamily="18" charset="0"/>
                <a:ea typeface="楷体" panose="02010609060101010101" charset="-122"/>
              </a:rPr>
              <a:t>                port_name_1  :  port_mode  port_type;</a:t>
            </a:r>
            <a:endParaRPr lang="fr-FR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fr-FR" altLang="zh-CN" sz="2400" b="1" dirty="0">
                <a:latin typeface="Times New Roman" panose="02020603050405020304" pitchFamily="18" charset="0"/>
                <a:ea typeface="楷体" panose="02010609060101010101" charset="-122"/>
              </a:rPr>
              <a:t>                                                     ...</a:t>
            </a:r>
            <a:endParaRPr lang="fr-FR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fr-FR" altLang="zh-CN" sz="2400" b="1" dirty="0">
                <a:latin typeface="Times New Roman" panose="02020603050405020304" pitchFamily="18" charset="0"/>
                <a:ea typeface="楷体" panose="02010609060101010101" charset="-122"/>
              </a:rPr>
              <a:t>                port_name_n  :  port_mode  port_type</a:t>
            </a:r>
            <a:endParaRPr lang="fr-FR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fr-FR" altLang="zh-CN" sz="2400" b="1" dirty="0">
                <a:latin typeface="Times New Roman" panose="02020603050405020304" pitchFamily="18" charset="0"/>
                <a:ea typeface="楷体" panose="02010609060101010101" charset="-122"/>
              </a:rPr>
              <a:t>           );</a:t>
            </a:r>
            <a:endParaRPr lang="fr-FR" altLang="zh-CN" sz="2400" b="1" dirty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3700" y="1216025"/>
            <a:ext cx="8356600" cy="2687320"/>
          </a:xfrm>
        </p:spPr>
        <p:txBody>
          <a:bodyPr/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port_name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（端口名）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端口名通常用几个英文字母或一个英文字母加数字表示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下面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是合法的端口名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CLK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A0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8775" y="880745"/>
            <a:ext cx="8426450" cy="1936750"/>
          </a:xfrm>
        </p:spPr>
        <p:txBody>
          <a:bodyPr/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port_mode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（模式）</a:t>
            </a:r>
            <a:endParaRPr kumimoji="0" lang="zh-CN" altLang="en-US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 用来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说明数据、信号通过该端口的传输方向。端口模式有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in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、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out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、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+mn-ea"/>
                <a:ea typeface="+mn-ea"/>
                <a:cs typeface="+mn-ea"/>
              </a:rPr>
              <a:t>inout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、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buffer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和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linkage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。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12643" name="Rectangle 3"/>
          <p:cNvSpPr>
            <a:spLocks noGrp="1"/>
          </p:cNvSpPr>
          <p:nvPr/>
        </p:nvSpPr>
        <p:spPr>
          <a:xfrm>
            <a:off x="12700" y="3295015"/>
            <a:ext cx="9131300" cy="1285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linkage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（连接模式）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连接模式没有方向。用于表示诸如电阻这种没有方向的器件。</a:t>
            </a:r>
            <a:endParaRPr lang="zh-CN" altLang="en-US" sz="24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zh-CN" sz="3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文本框 2"/>
          <p:cNvSpPr txBox="1"/>
          <p:nvPr/>
        </p:nvSpPr>
        <p:spPr>
          <a:xfrm>
            <a:off x="358775" y="1529080"/>
            <a:ext cx="8636000" cy="2953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（输入模式）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输入仅允许数据流入端口。输入信号的驱动源由外部提供。输入模式主要用于时钟输入、控制输入（如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Load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Reset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CLK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）和单向的数据输入，如地址信号（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address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9" name="Rectangle 3"/>
          <p:cNvSpPr>
            <a:spLocks noGrp="1"/>
          </p:cNvSpPr>
          <p:nvPr>
            <p:ph type="body" sz="half" idx="1"/>
          </p:nvPr>
        </p:nvSpPr>
        <p:spPr>
          <a:xfrm>
            <a:off x="186055" y="1029335"/>
            <a:ext cx="8772525" cy="3077210"/>
          </a:xfrm>
        </p:spPr>
        <p:txBody>
          <a:bodyPr anchor="t" anchorCtr="0"/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（输出模式）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 输出仅允许数据流从实体内部输出。如下图所示，端口的驱动源由设计实体内部提供。输出模式不能用于设计实体的内部反馈，因为在实体内输出端口是不可可读的。输出模式常用于计数输出、单向数据输出、设计实体产生控制其他实体的信号等。</a:t>
            </a:r>
            <a:endParaRPr lang="zh-CN" altLang="en-US" sz="24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zh-CN" b="1" dirty="0">
              <a:latin typeface="宋体" panose="02010600030101010101" pitchFamily="2" charset="-122"/>
            </a:endParaRPr>
          </a:p>
        </p:txBody>
      </p:sp>
      <p:pic>
        <p:nvPicPr>
          <p:cNvPr id="11469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13" y="4128135"/>
            <a:ext cx="4105275" cy="1852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38138" y="954088"/>
            <a:ext cx="8469313" cy="5157788"/>
          </a:xfrm>
        </p:spPr>
        <p:txBody>
          <a:bodyPr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（缓冲模式）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缓冲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模式的端口与输出模式的端口类似，只是缓冲模式允许内部引用该端口的信号。缓冲端口既能用于输出，也能用于反馈。缓冲端口的驱动源可以是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：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设计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实体的内部信号源；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其他实体的缓冲端口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。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缓冲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不允许多重驱动，不与其他实体的双向端口和输出端口相连。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Rectangle 3"/>
          <p:cNvSpPr>
            <a:spLocks noGrp="1"/>
          </p:cNvSpPr>
          <p:nvPr>
            <p:ph type="body" sz="half" idx="1"/>
          </p:nvPr>
        </p:nvSpPr>
        <p:spPr>
          <a:xfrm>
            <a:off x="117475" y="1382713"/>
            <a:ext cx="8909050" cy="1784350"/>
          </a:xfrm>
        </p:spPr>
        <p:txBody>
          <a:bodyPr anchor="t" anchorCtr="0"/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如下图所示，缓冲模式用于在实体内部建立一个可读的输出端口，例如计数器输出，计数器的现态用来决定计数器的次态。当实体既需要输出又需要反馈时，端口模式应为缓冲模式。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87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282950"/>
            <a:ext cx="7200900" cy="2711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Rectangle 3"/>
          <p:cNvSpPr>
            <a:spLocks noGrp="1"/>
          </p:cNvSpPr>
          <p:nvPr/>
        </p:nvSpPr>
        <p:spPr>
          <a:xfrm>
            <a:off x="106998" y="692785"/>
            <a:ext cx="9009062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inout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（双向模式）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双向模式可以代替输入模式、输出模式和缓冲模式。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在设计实体的数据流中，有些数据是双向的，数据可以输入该设计实体，也有数据从设计实体输出，这时需要将端口模式设计为双向端口。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双向模式的端口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允许引入内部反馈</a:t>
            </a:r>
            <a:r>
              <a:rPr lang="zh-CN" altLang="en-US" sz="2400" dirty="0">
                <a:latin typeface="宋体" panose="02010600030101010101" pitchFamily="2" charset="-122"/>
              </a:rPr>
              <a:t>，所以双向模式端口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也可以作为缓冲模式用</a:t>
            </a:r>
            <a:r>
              <a:rPr lang="zh-CN" altLang="en-US" sz="2400" dirty="0">
                <a:latin typeface="宋体" panose="02010600030101010101" pitchFamily="2" charset="-122"/>
              </a:rPr>
              <a:t>。由上述分析可见，双向端口是一个完备的端口模式。典型的，常见的</a:t>
            </a:r>
            <a:r>
              <a:rPr lang="en-US" altLang="zh-CN" sz="2400" dirty="0">
                <a:latin typeface="宋体" panose="02010600030101010101" pitchFamily="2" charset="-122"/>
              </a:rPr>
              <a:t>SRAM</a:t>
            </a:r>
            <a:r>
              <a:rPr lang="zh-CN" altLang="en-US" sz="2400" dirty="0"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</a:rPr>
              <a:t>SDRAM</a:t>
            </a:r>
            <a:r>
              <a:rPr lang="zh-CN" altLang="en-US" sz="2400" dirty="0">
                <a:latin typeface="宋体" panose="02010600030101010101" pitchFamily="2" charset="-122"/>
              </a:rPr>
              <a:t>芯片的数据端口就是双向的。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2881" name="组合 32770"/>
          <p:cNvGrpSpPr/>
          <p:nvPr/>
        </p:nvGrpSpPr>
        <p:grpSpPr>
          <a:xfrm>
            <a:off x="228600" y="1219200"/>
            <a:ext cx="8932441" cy="3886200"/>
            <a:chOff x="-3" y="-3"/>
            <a:chExt cx="3353" cy="1876"/>
          </a:xfrm>
        </p:grpSpPr>
        <p:grpSp>
          <p:nvGrpSpPr>
            <p:cNvPr id="122882" name="组合 32771"/>
            <p:cNvGrpSpPr/>
            <p:nvPr/>
          </p:nvGrpSpPr>
          <p:grpSpPr>
            <a:xfrm>
              <a:off x="0" y="0"/>
              <a:ext cx="3350" cy="1870"/>
              <a:chOff x="0" y="0"/>
              <a:chExt cx="3350" cy="1870"/>
            </a:xfrm>
          </p:grpSpPr>
          <p:grpSp>
            <p:nvGrpSpPr>
              <p:cNvPr id="122883" name="组合 32772"/>
              <p:cNvGrpSpPr/>
              <p:nvPr/>
            </p:nvGrpSpPr>
            <p:grpSpPr>
              <a:xfrm>
                <a:off x="0" y="0"/>
                <a:ext cx="1052" cy="374"/>
                <a:chOff x="0" y="0"/>
                <a:chExt cx="1052" cy="374"/>
              </a:xfrm>
            </p:grpSpPr>
            <p:sp>
              <p:nvSpPr>
                <p:cNvPr id="122884" name="矩形 32773"/>
                <p:cNvSpPr/>
                <p:nvPr/>
              </p:nvSpPr>
              <p:spPr>
                <a:xfrm>
                  <a:off x="43" y="0"/>
                  <a:ext cx="966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pPr algn="just"/>
                  <a:r>
                    <a:rPr lang="zh-CN" altLang="en-US" sz="2000" b="1" dirty="0">
                      <a:latin typeface="宋体" panose="02010600030101010101" pitchFamily="2" charset="-122"/>
                      <a:cs typeface="宋体" panose="02010600030101010101" pitchFamily="2" charset="-122"/>
                    </a:rPr>
                    <a:t>端 口 模 式</a:t>
                  </a:r>
                  <a:endPara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  <a:p>
                  <a:pPr algn="just" eaLnBrk="0" hangingPunct="0"/>
                  <a:endParaRPr lang="zh-CN" altLang="en-US" sz="2000" b="1" dirty="0"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22885" name="矩形 32774"/>
                <p:cNvSpPr/>
                <p:nvPr/>
              </p:nvSpPr>
              <p:spPr>
                <a:xfrm>
                  <a:off x="0" y="0"/>
                  <a:ext cx="1052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886" name="组合 32775"/>
              <p:cNvGrpSpPr/>
              <p:nvPr/>
            </p:nvGrpSpPr>
            <p:grpSpPr>
              <a:xfrm>
                <a:off x="1052" y="0"/>
                <a:ext cx="2260" cy="374"/>
                <a:chOff x="1052" y="0"/>
                <a:chExt cx="2260" cy="374"/>
              </a:xfrm>
            </p:grpSpPr>
            <p:sp>
              <p:nvSpPr>
                <p:cNvPr id="122887" name="矩形 32776"/>
                <p:cNvSpPr/>
                <p:nvPr/>
              </p:nvSpPr>
              <p:spPr>
                <a:xfrm>
                  <a:off x="1095" y="0"/>
                  <a:ext cx="2174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pPr algn="ctr"/>
                  <a:r>
                    <a:rPr lang="zh-CN" altLang="en-US" sz="2000" b="1" dirty="0">
                      <a:latin typeface="宋体" panose="02010600030101010101" pitchFamily="2" charset="-122"/>
                      <a:cs typeface="宋体" panose="02010600030101010101" pitchFamily="2" charset="-122"/>
                    </a:rPr>
                    <a:t>端口模式说明</a:t>
                  </a:r>
                  <a:r>
                    <a:rPr lang="en-US" altLang="zh-CN" sz="2000" b="1" dirty="0">
                      <a:latin typeface="宋体" panose="02010600030101010101" pitchFamily="2" charset="-122"/>
                      <a:cs typeface="宋体" panose="02010600030101010101" pitchFamily="2" charset="-122"/>
                    </a:rPr>
                    <a:t>(</a:t>
                  </a:r>
                  <a:r>
                    <a:rPr lang="zh-CN" altLang="en-US" sz="2000" b="1" dirty="0">
                      <a:latin typeface="宋体" panose="02010600030101010101" pitchFamily="2" charset="-122"/>
                      <a:cs typeface="宋体" panose="02010600030101010101" pitchFamily="2" charset="-122"/>
                    </a:rPr>
                    <a:t>以设计实体为主体</a:t>
                  </a:r>
                  <a:r>
                    <a:rPr lang="en-US" altLang="zh-CN" sz="2000" b="1">
                      <a:latin typeface="宋体" panose="02010600030101010101" pitchFamily="2" charset="-122"/>
                      <a:cs typeface="宋体" panose="02010600030101010101" pitchFamily="2" charset="-122"/>
                    </a:rPr>
                    <a:t>)</a:t>
                  </a:r>
                  <a:endParaRPr lang="en-US" altLang="zh-CN" sz="2000" b="1"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  <a:p>
                  <a:pPr algn="ctr" eaLnBrk="0" hangingPunct="0"/>
                  <a:endParaRPr lang="en-US" altLang="zh-CN" sz="2000" b="1" dirty="0">
                    <a:latin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22888" name="矩形 32777"/>
                <p:cNvSpPr/>
                <p:nvPr/>
              </p:nvSpPr>
              <p:spPr>
                <a:xfrm>
                  <a:off x="1052" y="0"/>
                  <a:ext cx="2260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889" name="组合 32778"/>
              <p:cNvGrpSpPr/>
              <p:nvPr/>
            </p:nvGrpSpPr>
            <p:grpSpPr>
              <a:xfrm>
                <a:off x="0" y="374"/>
                <a:ext cx="1052" cy="374"/>
                <a:chOff x="0" y="374"/>
                <a:chExt cx="1052" cy="374"/>
              </a:xfrm>
            </p:grpSpPr>
            <p:sp>
              <p:nvSpPr>
                <p:cNvPr id="122890" name="矩形 32779"/>
                <p:cNvSpPr/>
                <p:nvPr/>
              </p:nvSpPr>
              <p:spPr>
                <a:xfrm>
                  <a:off x="43" y="374"/>
                  <a:ext cx="966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r>
                    <a:rPr lang="en-US" altLang="zh-CN" sz="2000" b="1">
                      <a:latin typeface="宋体" panose="02010600030101010101" pitchFamily="2" charset="-122"/>
                    </a:rPr>
                    <a:t>IN</a:t>
                  </a:r>
                  <a:endParaRPr lang="en-US" altLang="zh-CN" sz="2000" b="1">
                    <a:latin typeface="宋体" panose="02010600030101010101" pitchFamily="2" charset="-122"/>
                  </a:endParaRPr>
                </a:p>
                <a:p>
                  <a:pPr eaLnBrk="0" hangingPunct="0"/>
                  <a:endParaRPr lang="en-US" altLang="zh-CN" sz="2000" b="1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891" name="矩形 32780"/>
                <p:cNvSpPr/>
                <p:nvPr/>
              </p:nvSpPr>
              <p:spPr>
                <a:xfrm>
                  <a:off x="0" y="374"/>
                  <a:ext cx="1052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892" name="组合 32781"/>
              <p:cNvGrpSpPr/>
              <p:nvPr/>
            </p:nvGrpSpPr>
            <p:grpSpPr>
              <a:xfrm>
                <a:off x="1048" y="374"/>
                <a:ext cx="2302" cy="374"/>
                <a:chOff x="1048" y="374"/>
                <a:chExt cx="2302" cy="374"/>
              </a:xfrm>
            </p:grpSpPr>
            <p:sp>
              <p:nvSpPr>
                <p:cNvPr id="122893" name="矩形 32782"/>
                <p:cNvSpPr/>
                <p:nvPr/>
              </p:nvSpPr>
              <p:spPr>
                <a:xfrm>
                  <a:off x="1048" y="374"/>
                  <a:ext cx="2302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pPr algn="l"/>
                  <a:r>
                    <a:rPr lang="zh-CN" altLang="en-US" sz="2000" b="1" dirty="0">
                      <a:latin typeface="宋体" panose="02010600030101010101" pitchFamily="2" charset="-122"/>
                    </a:rPr>
                    <a:t>输入，只读模式，将变量或信号信息通过该端口读入</a:t>
                  </a:r>
                  <a:endParaRPr lang="zh-CN" altLang="en-US" sz="2000" b="1" dirty="0">
                    <a:latin typeface="宋体" panose="02010600030101010101" pitchFamily="2" charset="-122"/>
                  </a:endParaRPr>
                </a:p>
                <a:p>
                  <a:pPr algn="l" eaLnBrk="0" hangingPunct="0"/>
                  <a:endParaRPr lang="zh-CN" altLang="en-US" sz="20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894" name="矩形 32783"/>
                <p:cNvSpPr/>
                <p:nvPr/>
              </p:nvSpPr>
              <p:spPr>
                <a:xfrm>
                  <a:off x="1052" y="374"/>
                  <a:ext cx="2260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895" name="组合 32784"/>
              <p:cNvGrpSpPr/>
              <p:nvPr/>
            </p:nvGrpSpPr>
            <p:grpSpPr>
              <a:xfrm>
                <a:off x="0" y="748"/>
                <a:ext cx="1052" cy="374"/>
                <a:chOff x="0" y="748"/>
                <a:chExt cx="1052" cy="374"/>
              </a:xfrm>
            </p:grpSpPr>
            <p:sp>
              <p:nvSpPr>
                <p:cNvPr id="122896" name="矩形 32785"/>
                <p:cNvSpPr/>
                <p:nvPr/>
              </p:nvSpPr>
              <p:spPr>
                <a:xfrm>
                  <a:off x="43" y="748"/>
                  <a:ext cx="966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r>
                    <a:rPr lang="en-US" altLang="zh-CN" sz="2000" b="1">
                      <a:latin typeface="宋体" panose="02010600030101010101" pitchFamily="2" charset="-122"/>
                    </a:rPr>
                    <a:t>OUT</a:t>
                  </a:r>
                  <a:endParaRPr lang="en-US" altLang="zh-CN" sz="2000" b="1">
                    <a:latin typeface="宋体" panose="02010600030101010101" pitchFamily="2" charset="-122"/>
                  </a:endParaRPr>
                </a:p>
                <a:p>
                  <a:pPr eaLnBrk="0" hangingPunct="0"/>
                  <a:endParaRPr lang="en-US" altLang="zh-CN" sz="2000" b="1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897" name="矩形 32786"/>
                <p:cNvSpPr/>
                <p:nvPr/>
              </p:nvSpPr>
              <p:spPr>
                <a:xfrm>
                  <a:off x="0" y="748"/>
                  <a:ext cx="1052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898" name="组合 32787"/>
              <p:cNvGrpSpPr/>
              <p:nvPr/>
            </p:nvGrpSpPr>
            <p:grpSpPr>
              <a:xfrm>
                <a:off x="1052" y="748"/>
                <a:ext cx="2260" cy="374"/>
                <a:chOff x="1052" y="748"/>
                <a:chExt cx="2260" cy="374"/>
              </a:xfrm>
            </p:grpSpPr>
            <p:sp>
              <p:nvSpPr>
                <p:cNvPr id="122899" name="矩形 32788"/>
                <p:cNvSpPr/>
                <p:nvPr/>
              </p:nvSpPr>
              <p:spPr>
                <a:xfrm>
                  <a:off x="1095" y="748"/>
                  <a:ext cx="2174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pPr algn="just"/>
                  <a:r>
                    <a:rPr lang="zh-CN" altLang="en-US" sz="2000" b="1" dirty="0">
                      <a:latin typeface="宋体" panose="02010600030101010101" pitchFamily="2" charset="-122"/>
                    </a:rPr>
                    <a:t>输出，单向赋值模式，将信号通过该端口输出</a:t>
                  </a:r>
                  <a:endParaRPr lang="zh-CN" altLang="en-US" sz="2000" b="1" dirty="0">
                    <a:latin typeface="宋体" panose="02010600030101010101" pitchFamily="2" charset="-122"/>
                  </a:endParaRPr>
                </a:p>
                <a:p>
                  <a:pPr algn="just" eaLnBrk="0" hangingPunct="0"/>
                  <a:endParaRPr lang="zh-CN" altLang="en-US" sz="20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900" name="矩形 32789"/>
                <p:cNvSpPr/>
                <p:nvPr/>
              </p:nvSpPr>
              <p:spPr>
                <a:xfrm>
                  <a:off x="1052" y="748"/>
                  <a:ext cx="2260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901" name="组合 32790"/>
              <p:cNvGrpSpPr/>
              <p:nvPr/>
            </p:nvGrpSpPr>
            <p:grpSpPr>
              <a:xfrm>
                <a:off x="0" y="1122"/>
                <a:ext cx="1052" cy="374"/>
                <a:chOff x="0" y="1122"/>
                <a:chExt cx="1052" cy="374"/>
              </a:xfrm>
            </p:grpSpPr>
            <p:sp>
              <p:nvSpPr>
                <p:cNvPr id="122902" name="矩形 32791"/>
                <p:cNvSpPr/>
                <p:nvPr/>
              </p:nvSpPr>
              <p:spPr>
                <a:xfrm>
                  <a:off x="43" y="1122"/>
                  <a:ext cx="966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r>
                    <a:rPr lang="en-US" altLang="zh-CN" sz="2000" b="1">
                      <a:latin typeface="宋体" panose="02010600030101010101" pitchFamily="2" charset="-122"/>
                    </a:rPr>
                    <a:t>BUFFER</a:t>
                  </a:r>
                  <a:endParaRPr lang="en-US" altLang="zh-CN" sz="2000" b="1">
                    <a:latin typeface="宋体" panose="02010600030101010101" pitchFamily="2" charset="-122"/>
                  </a:endParaRPr>
                </a:p>
                <a:p>
                  <a:pPr eaLnBrk="0" hangingPunct="0"/>
                  <a:endParaRPr lang="en-US" altLang="zh-CN" sz="2000" b="1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903" name="矩形 32792"/>
                <p:cNvSpPr/>
                <p:nvPr/>
              </p:nvSpPr>
              <p:spPr>
                <a:xfrm>
                  <a:off x="0" y="1122"/>
                  <a:ext cx="1052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904" name="组合 32793"/>
              <p:cNvGrpSpPr/>
              <p:nvPr/>
            </p:nvGrpSpPr>
            <p:grpSpPr>
              <a:xfrm>
                <a:off x="979" y="1122"/>
                <a:ext cx="2365" cy="374"/>
                <a:chOff x="979" y="1122"/>
                <a:chExt cx="2365" cy="374"/>
              </a:xfrm>
            </p:grpSpPr>
            <p:sp>
              <p:nvSpPr>
                <p:cNvPr id="122905" name="矩形 32794"/>
                <p:cNvSpPr/>
                <p:nvPr/>
              </p:nvSpPr>
              <p:spPr>
                <a:xfrm>
                  <a:off x="979" y="1122"/>
                  <a:ext cx="2365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pPr algn="just"/>
                  <a:r>
                    <a:rPr lang="en-US" altLang="zh-CN" sz="2000" b="1" dirty="0">
                      <a:latin typeface="宋体" panose="02010600030101010101" pitchFamily="2" charset="-122"/>
                    </a:rPr>
                    <a:t>   </a:t>
                  </a:r>
                  <a:r>
                    <a:rPr lang="zh-CN" altLang="en-US" sz="2000" b="1" dirty="0">
                      <a:latin typeface="宋体" panose="02010600030101010101" pitchFamily="2" charset="-122"/>
                    </a:rPr>
                    <a:t>输出，可以读或写，只能有一个驱动源</a:t>
                  </a:r>
                  <a:endParaRPr lang="zh-CN" altLang="en-US" sz="2000" b="1" dirty="0">
                    <a:latin typeface="宋体" panose="02010600030101010101" pitchFamily="2" charset="-122"/>
                  </a:endParaRPr>
                </a:p>
                <a:p>
                  <a:pPr algn="just" eaLnBrk="0" hangingPunct="0"/>
                  <a:endParaRPr lang="zh-CN" altLang="en-US" sz="20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906" name="矩形 32795"/>
                <p:cNvSpPr/>
                <p:nvPr/>
              </p:nvSpPr>
              <p:spPr>
                <a:xfrm>
                  <a:off x="1052" y="1122"/>
                  <a:ext cx="2260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907" name="组合 32796"/>
              <p:cNvGrpSpPr/>
              <p:nvPr/>
            </p:nvGrpSpPr>
            <p:grpSpPr>
              <a:xfrm>
                <a:off x="0" y="1496"/>
                <a:ext cx="1052" cy="374"/>
                <a:chOff x="0" y="1496"/>
                <a:chExt cx="1052" cy="374"/>
              </a:xfrm>
            </p:grpSpPr>
            <p:sp>
              <p:nvSpPr>
                <p:cNvPr id="122908" name="矩形 32797"/>
                <p:cNvSpPr/>
                <p:nvPr/>
              </p:nvSpPr>
              <p:spPr>
                <a:xfrm>
                  <a:off x="43" y="1496"/>
                  <a:ext cx="966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r>
                    <a:rPr lang="en-US" altLang="zh-CN" sz="2000" b="1">
                      <a:latin typeface="宋体" panose="02010600030101010101" pitchFamily="2" charset="-122"/>
                    </a:rPr>
                    <a:t>INOUT</a:t>
                  </a:r>
                  <a:endParaRPr lang="en-US" altLang="zh-CN" sz="2000" b="1">
                    <a:latin typeface="宋体" panose="02010600030101010101" pitchFamily="2" charset="-122"/>
                  </a:endParaRPr>
                </a:p>
                <a:p>
                  <a:pPr eaLnBrk="0" hangingPunct="0"/>
                  <a:endParaRPr lang="en-US" altLang="zh-CN" sz="2000" b="1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909" name="矩形 32798"/>
                <p:cNvSpPr/>
                <p:nvPr/>
              </p:nvSpPr>
              <p:spPr>
                <a:xfrm>
                  <a:off x="0" y="1496"/>
                  <a:ext cx="1052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2910" name="组合 32799"/>
              <p:cNvGrpSpPr/>
              <p:nvPr/>
            </p:nvGrpSpPr>
            <p:grpSpPr>
              <a:xfrm>
                <a:off x="1052" y="1496"/>
                <a:ext cx="2260" cy="374"/>
                <a:chOff x="1052" y="1496"/>
                <a:chExt cx="2260" cy="374"/>
              </a:xfrm>
            </p:grpSpPr>
            <p:sp>
              <p:nvSpPr>
                <p:cNvPr id="122911" name="矩形 32800"/>
                <p:cNvSpPr/>
                <p:nvPr/>
              </p:nvSpPr>
              <p:spPr>
                <a:xfrm>
                  <a:off x="1095" y="1496"/>
                  <a:ext cx="2174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/>
                <a:p>
                  <a:pPr algn="just"/>
                  <a:r>
                    <a:rPr lang="zh-CN" altLang="en-US" sz="2000" b="1" dirty="0">
                      <a:latin typeface="宋体" panose="02010600030101010101" pitchFamily="2" charset="-122"/>
                    </a:rPr>
                    <a:t>双向，可以通过该端口读入或写出信息</a:t>
                  </a:r>
                  <a:endParaRPr lang="zh-CN" altLang="en-US" sz="2000" b="1" dirty="0">
                    <a:latin typeface="宋体" panose="02010600030101010101" pitchFamily="2" charset="-122"/>
                  </a:endParaRPr>
                </a:p>
                <a:p>
                  <a:pPr algn="just" eaLnBrk="0" hangingPunct="0"/>
                  <a:endParaRPr lang="zh-CN" altLang="en-US" sz="20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122912" name="矩形 32801"/>
                <p:cNvSpPr/>
                <p:nvPr/>
              </p:nvSpPr>
              <p:spPr>
                <a:xfrm>
                  <a:off x="1052" y="1496"/>
                  <a:ext cx="2260" cy="37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 sz="2000">
                    <a:latin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22913" name="矩形 32802"/>
            <p:cNvSpPr/>
            <p:nvPr/>
          </p:nvSpPr>
          <p:spPr>
            <a:xfrm>
              <a:off x="-3" y="-3"/>
              <a:ext cx="3318" cy="1876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sz="2000">
                <a:latin typeface="宋体" panose="02010600030101010101" pitchFamily="2" charset="-122"/>
              </a:endParaRPr>
            </a:p>
          </p:txBody>
        </p:sp>
      </p:grpSp>
      <p:sp>
        <p:nvSpPr>
          <p:cNvPr id="122914" name="矩形 32803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en-US" altLang="zh-CN" sz="32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</a:t>
            </a:r>
            <a:r>
              <a:rPr lang="zh-CN" altLang="en-US" sz="32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端口模式总结</a:t>
            </a:r>
            <a:endParaRPr lang="zh-CN" altLang="en-US" sz="32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805" name="图片 328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14950"/>
            <a:ext cx="8153400" cy="93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矩形 33794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端口数据类型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798" name="文本框 33797"/>
          <p:cNvSpPr txBox="1"/>
          <p:nvPr/>
        </p:nvSpPr>
        <p:spPr>
          <a:xfrm>
            <a:off x="0" y="1412558"/>
            <a:ext cx="9144000" cy="5220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端口说明除了定义端口标识名称、端口定义外，还要标明出入端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口的数据类型。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VHDL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数据类型：预定义数据类型、自定义数据类型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只能使用已经定义的数据类型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上例中数据类型</a:t>
            </a:r>
            <a:r>
              <a: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rPr>
              <a:t>Std_logic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rPr>
              <a:t>Std_logic_vector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ieee.std_logic_1164.all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程序包中说明，使用时首先打开。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8" name="文本框 33797"/>
          <p:cNvSpPr txBox="1"/>
          <p:nvPr/>
        </p:nvSpPr>
        <p:spPr>
          <a:xfrm>
            <a:off x="0" y="1046163"/>
            <a:ext cx="9144000" cy="3846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其他常见的数据类型：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boolean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（布尔型）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bit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（比特位型）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std_logic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（标准位型）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bit-vector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（位矢量型）和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std_logic_vector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（标准位矢量型）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integer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（整数型）</a:t>
            </a:r>
            <a:endParaRPr lang="zh-CN" altLang="en-US" sz="2400" b="1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  <a:buClr>
                <a:schemeClr val="accent2"/>
              </a:buClr>
              <a:buFont typeface="Wingdings" panose="05000000000000000000" pitchFamily="2" charset="2"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968375"/>
            <a:ext cx="9131300" cy="995363"/>
          </a:xfrm>
        </p:spPr>
        <p:txBody>
          <a:bodyPr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1" dirty="0" smtClean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、实体由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类属说明列表和端口列表说明两个部分组成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103426" name="Rectangle 3"/>
          <p:cNvSpPr>
            <a:spLocks noGrp="1"/>
          </p:cNvSpPr>
          <p:nvPr/>
        </p:nvSpPr>
        <p:spPr>
          <a:xfrm>
            <a:off x="692150" y="1700213"/>
            <a:ext cx="7126288" cy="4411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带有端口和类属声明的一个实体声明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entity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AndGate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is</a:t>
            </a:r>
            <a:endParaRPr lang="zh-CN" altLang="zh-CN" sz="2400" b="1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generic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(N: Natural:=2);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port </a:t>
            </a:r>
            <a:endParaRPr lang="zh-CN" altLang="zh-CN" sz="2400" b="1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         (Inputs :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in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Bit_Vector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(1 to N);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          Result :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out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Bit);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end entity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AndGate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zh-CN" sz="3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7" name="矩形 164865"/>
          <p:cNvSpPr/>
          <p:nvPr/>
        </p:nvSpPr>
        <p:spPr>
          <a:xfrm>
            <a:off x="395288" y="40449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实体实例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3"/>
          <p:cNvSpPr>
            <a:spLocks noGrp="1"/>
          </p:cNvSpPr>
          <p:nvPr/>
        </p:nvSpPr>
        <p:spPr>
          <a:xfrm>
            <a:off x="467043" y="908368"/>
            <a:ext cx="7554912" cy="25447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、只带有端口声明的一个实体声明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entity </a:t>
            </a:r>
            <a:r>
              <a:rPr lang="en-US" altLang="zh-CN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Full_Adder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is</a:t>
            </a:r>
            <a:endParaRPr lang="en-US" altLang="zh-CN" sz="2400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port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( X, Y, </a:t>
            </a:r>
            <a:r>
              <a:rPr lang="en-US" altLang="zh-CN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Cin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: in Bit; </a:t>
            </a:r>
            <a:r>
              <a:rPr lang="en-US" altLang="zh-CN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Cout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, Sum: out Bit);</a:t>
            </a:r>
            <a:endParaRPr lang="en-US" altLang="zh-CN" sz="24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end </a:t>
            </a:r>
            <a:r>
              <a:rPr lang="en-US" altLang="zh-CN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Full_Adder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; </a:t>
            </a:r>
            <a:endParaRPr lang="en-US" altLang="zh-CN" sz="24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文本框 164866"/>
          <p:cNvSpPr txBox="1"/>
          <p:nvPr/>
        </p:nvSpPr>
        <p:spPr>
          <a:xfrm>
            <a:off x="827405" y="1124585"/>
            <a:ext cx="7467600" cy="4575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5000"/>
              </a:lnSpc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【例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4-3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位全加器的实体描述。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Library ieee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Entity add4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Port (a,b: in std_logic_vector (3 downto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Ci: 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Sum: out std_logic_vector (3 downto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Co: out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add4;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文本框 1"/>
          <p:cNvSpPr txBox="1"/>
          <p:nvPr/>
        </p:nvSpPr>
        <p:spPr>
          <a:xfrm>
            <a:off x="539433" y="836613"/>
            <a:ext cx="6230937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、不带有端口和类属声明的一个实体声明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entity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TestBench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is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            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</a:rPr>
              <a:t>end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TestBench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</a:rPr>
              <a:t>;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文本框 4"/>
          <p:cNvSpPr txBox="1"/>
          <p:nvPr>
            <p:custDataLst>
              <p:tags r:id="rId1"/>
            </p:custDataLst>
          </p:nvPr>
        </p:nvSpPr>
        <p:spPr>
          <a:xfrm>
            <a:off x="788988" y="1403350"/>
            <a:ext cx="7315200" cy="871538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设计</a:t>
            </a:r>
            <a:r>
              <a:rPr lang="en-US" altLang="zh-CN" sz="2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选</a:t>
            </a:r>
            <a:r>
              <a:rPr lang="en-US" altLang="zh-CN" sz="2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多路选择器的实体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0642" name="图片 2406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7138"/>
            <a:ext cx="3816350" cy="31686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40662" name="对象 240661"/>
          <p:cNvGraphicFramePr/>
          <p:nvPr/>
        </p:nvGraphicFramePr>
        <p:xfrm>
          <a:off x="5257800" y="4851400"/>
          <a:ext cx="26685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698500" imgH="241300" progId="Equation.3">
                  <p:embed/>
                </p:oleObj>
              </mc:Choice>
              <mc:Fallback>
                <p:oleObj name="" r:id="rId3" imgW="6985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4851400"/>
                        <a:ext cx="2668588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7" name="矩形 164865"/>
          <p:cNvSpPr/>
          <p:nvPr/>
        </p:nvSpPr>
        <p:spPr>
          <a:xfrm>
            <a:off x="395288" y="54864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练习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文本框 3"/>
          <p:cNvSpPr txBox="1"/>
          <p:nvPr/>
        </p:nvSpPr>
        <p:spPr>
          <a:xfrm>
            <a:off x="1258888" y="1489075"/>
            <a:ext cx="5394325" cy="1860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ct val="96000"/>
              </a:lnSpc>
            </a:pP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ENTITY mux21a IS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6000"/>
              </a:lnSpc>
            </a:pP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PORT ( a, b : IN  BIT; 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6000"/>
              </a:lnSpc>
            </a:pP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    s : IN  BIT;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6000"/>
              </a:lnSpc>
            </a:pP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    y : OUT BIT  );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96000"/>
              </a:lnSpc>
            </a:pP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END ENTITY mux21a;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0642" name="图片 2406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688" y="3476625"/>
            <a:ext cx="3271837" cy="2716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文本占位符 165889"/>
          <p:cNvSpPr>
            <a:spLocks noGrp="1"/>
          </p:cNvSpPr>
          <p:nvPr>
            <p:ph idx="1"/>
          </p:nvPr>
        </p:nvSpPr>
        <p:spPr>
          <a:xfrm>
            <a:off x="539750" y="908050"/>
            <a:ext cx="7772400" cy="1873885"/>
          </a:xfrm>
        </p:spPr>
        <p:txBody>
          <a:bodyPr anchor="t" anchorCtr="0"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结构体</a:t>
            </a: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ARCHITECTURE</a:t>
            </a: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b="1"/>
              <a:t>        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结构体主要用来描述实体的内部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结构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，即描述一个实体的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功能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5891" name="矩形 165890"/>
          <p:cNvSpPr/>
          <p:nvPr/>
        </p:nvSpPr>
        <p:spPr>
          <a:xfrm>
            <a:off x="683260" y="18859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800" b="1" u="none" kern="1200" baseline="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lvl="0" fontAlgn="base"/>
            <a:r>
              <a:rPr lang="en-US" altLang="zh-CN" sz="3600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4.1.3 </a:t>
            </a:r>
            <a:r>
              <a:rPr lang="zh-CN" altLang="en-US" sz="3600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结构体部分</a:t>
            </a:r>
            <a:endParaRPr lang="zh-CN" altLang="en-US" sz="3600" strike="noStrike" noProof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025" name="文本占位符 166913"/>
          <p:cNvSpPr>
            <a:spLocks noGrp="1"/>
          </p:cNvSpPr>
          <p:nvPr/>
        </p:nvSpPr>
        <p:spPr>
          <a:xfrm>
            <a:off x="828040" y="2781935"/>
            <a:ext cx="7772400" cy="4032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结构体格式</a:t>
            </a:r>
            <a:endParaRPr lang="zh-CN" altLang="en-US" sz="28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ARCHITECTURE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结构体名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OF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实体名 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IS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 [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结构体说明部分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];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BEGIN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结构体描述部分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 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END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结构体名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323850" y="1772920"/>
            <a:ext cx="8472170" cy="350710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结构体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名称由设计者自由命名，是结构体的惟一名称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。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of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后面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的实体名称表明该结构体属于哪个设计实体，有些设计实体中可能含有多个结构体。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这些结构体的命名可以从不同侧面反映结构体的特色，让其它设计者一目了然。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65891" name="矩形 165890"/>
          <p:cNvSpPr/>
          <p:nvPr/>
        </p:nvSpPr>
        <p:spPr>
          <a:xfrm>
            <a:off x="755650" y="105283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800" b="1" u="none" kern="1200" baseline="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lvl="0" fontAlgn="base"/>
            <a:r>
              <a:rPr lang="en-US" altLang="zh-CN" sz="2800" strike="noStrike" noProof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strike="noStrike" noProof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结构体命名</a:t>
            </a:r>
            <a:endParaRPr lang="en-US" altLang="zh-CN" sz="2800" strike="noStrike" noProof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标题 49153"/>
          <p:cNvSpPr>
            <a:spLocks noGrp="1"/>
          </p:cNvSpPr>
          <p:nvPr>
            <p:ph type="title"/>
          </p:nvPr>
        </p:nvSpPr>
        <p:spPr>
          <a:xfrm>
            <a:off x="457200" y="1412558"/>
            <a:ext cx="8229600" cy="5176837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声明语句在构造体的关键字“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begin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之前，可用于声明下列描述语句：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常量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constant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声明；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type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声明；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　　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子类型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subtype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声明；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　　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信号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signal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声明；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元件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component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声明；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 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子程序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subprogram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声明；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●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 “</a:t>
            </a:r>
            <a:r>
              <a:rPr lang="en-US" altLang="zh-CN" sz="24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use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语句；</a:t>
            </a:r>
            <a:b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　　　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5891" name="矩形 165890"/>
          <p:cNvSpPr/>
          <p:nvPr/>
        </p:nvSpPr>
        <p:spPr>
          <a:xfrm>
            <a:off x="611505" y="74612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800" b="1" u="none" kern="1200" baseline="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lvl="0" fontAlgn="base"/>
            <a:r>
              <a:rPr lang="en-US" altLang="zh-CN" sz="2800" strike="noStrike" noProof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strike="noStrike" noProof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结构体声明</a:t>
            </a:r>
            <a:endParaRPr lang="en-US" altLang="zh-CN" sz="2800" strike="noStrike" noProof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539115" y="980440"/>
            <a:ext cx="8158480" cy="5563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n-ea"/>
                <a:cs typeface="+mn-cs"/>
              </a:rPr>
              <a:t>   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特别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需要注意的是，这些声明用于结构体内部，而不能用于实体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内。</a:t>
            </a:r>
            <a:endParaRPr kumimoji="0" lang="zh-CN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此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外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，实体说明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中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所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定义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的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I/O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信号为外部信号，而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结构体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内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定义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的信号为内部信号</a:t>
            </a: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。</a:t>
            </a:r>
            <a:endParaRPr kumimoji="0" lang="zh-CN" altLang="en-US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结构体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的信号定义和实体的端口说明一样，应有信号名称和数据类型定义。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这些结构体的内部信号是用来描述结构体内部的连接关系，不需要说明信号方向。所以，不需要定义信号模式。</a:t>
            </a:r>
            <a:endParaRPr kumimoji="0" lang="zh-CN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1" name="矩形 165890"/>
          <p:cNvSpPr/>
          <p:nvPr/>
        </p:nvSpPr>
        <p:spPr>
          <a:xfrm>
            <a:off x="755650" y="112458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800" b="1" u="none" kern="1200" baseline="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lvl="0" fontAlgn="base"/>
            <a:r>
              <a:rPr lang="en-US" altLang="zh-CN" sz="2800" strike="noStrike" noProof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strike="noStrike" noProof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结构体描述</a:t>
            </a:r>
            <a:endParaRPr lang="en-US" altLang="zh-CN" sz="2800" strike="noStrike" noProof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1988820"/>
            <a:ext cx="8196580" cy="2460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10000"/>
              </a:lnSpc>
            </a:pPr>
            <a:r>
              <a:rPr lang="en-US" altLang="zh-CN" sz="1800" dirty="0">
                <a:latin typeface="楷体_GB2312" pitchFamily="49" charset="-122"/>
                <a:ea typeface="楷体_GB2312" pitchFamily="49" charset="-122"/>
                <a:sym typeface="+mn-ea"/>
              </a:rPr>
              <a:t>     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结构体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描述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部分是从</a:t>
            </a:r>
            <a:r>
              <a:rPr lang="en-US" altLang="zh-CN" dirty="0" smtClean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begin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到结构体结束之间是对实体逻辑行为的具体描述。该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部分由</a:t>
            </a:r>
            <a:r>
              <a:rPr lang="zh-CN" altLang="en-US" dirty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顺序语句和并发</a:t>
            </a:r>
            <a:r>
              <a:rPr lang="zh-CN" altLang="en-US" dirty="0" smtClean="0">
                <a:solidFill>
                  <a:schemeClr val="tx1"/>
                </a:solidFill>
                <a:latin typeface="+mj-ea"/>
                <a:ea typeface="+mn-ea"/>
                <a:sym typeface="+mn-ea"/>
              </a:rPr>
              <a:t>语句构成。</a:t>
            </a:r>
            <a:endParaRPr kumimoji="0" lang="zh-CN" altLang="en-US" b="1" i="0" u="none" strike="noStrike" kern="1200" cap="none" spc="0" normalizeH="0" baseline="0" noProof="1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algn="just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</a:t>
            </a:r>
            <a:endParaRPr lang="en-US" altLang="zh-CN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  <a:p>
            <a:pPr algn="just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   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标题 48129"/>
          <p:cNvSpPr>
            <a:spLocks noGrp="1"/>
          </p:cNvSpPr>
          <p:nvPr/>
        </p:nvSpPr>
        <p:spPr>
          <a:xfrm>
            <a:off x="467360" y="1484630"/>
            <a:ext cx="8229600" cy="3579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　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并发语句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</a:t>
            </a:r>
            <a:r>
              <a:rPr kumimoji="0" lang="zh-CN" altLang="en-US" sz="2800" i="0" u="none" strike="noStrike" kern="1200" cap="none" spc="0" normalizeH="0" baseline="0" noProof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结构体中的每一个并发语句都定义了一个运算单元，这个单元包括三个部分：</a:t>
            </a:r>
            <a:b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kumimoji="0" lang="zh-CN" altLang="en-US" sz="2800" i="0" u="none" strike="noStrike" kern="1200" cap="none" spc="0" normalizeH="0" baseline="0" noProof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● 读取信号值；</a:t>
            </a:r>
            <a:b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kumimoji="0" lang="zh-CN" altLang="en-US" sz="2800" i="0" u="none" strike="noStrike" kern="1200" cap="none" spc="0" normalizeH="0" baseline="0" noProof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● 用读取的信号值进行运算；</a:t>
            </a:r>
            <a:b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kumimoji="0" lang="zh-CN" altLang="en-US" sz="2800" i="0" u="none" strike="noStrike" kern="1200" cap="none" spc="0" normalizeH="0" baseline="0" noProof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● 将运算的结果赋值给另外一个信号。</a:t>
            </a:r>
            <a:endParaRPr kumimoji="0" lang="zh-CN" altLang="en-US" sz="2800" i="0" u="none" strike="noStrike" kern="1200" cap="none" spc="0" normalizeH="0" baseline="0" noProof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9" name="标题 47105"/>
          <p:cNvSpPr>
            <a:spLocks noGrp="1"/>
          </p:cNvSpPr>
          <p:nvPr>
            <p:ph type="title"/>
          </p:nvPr>
        </p:nvSpPr>
        <p:spPr>
          <a:xfrm>
            <a:off x="457200" y="980440"/>
            <a:ext cx="8229600" cy="4457065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结构体中的所有并发语句都是同时进行运算的，与语句的书写顺序没有任何关系。并发语句有五种类型：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● 块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8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block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语句；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● 进程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8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process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● 信号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8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signal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赋值。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● </a:t>
            </a:r>
            <a:r>
              <a:rPr 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子程序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调用；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● 元件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800" b="1" i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component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例化；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　　</a:t>
            </a:r>
            <a:b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　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文本占位符 167937"/>
          <p:cNvSpPr>
            <a:spLocks noGrp="1"/>
          </p:cNvSpPr>
          <p:nvPr/>
        </p:nvSpPr>
        <p:spPr>
          <a:xfrm>
            <a:off x="323215" y="44450"/>
            <a:ext cx="3924300" cy="71310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结构体组成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0050" name="内容占位符 167939"/>
          <p:cNvGraphicFramePr>
            <a:graphicFrameLocks noGrp="1"/>
          </p:cNvGraphicFramePr>
          <p:nvPr>
            <p:ph sz="half" idx="2"/>
          </p:nvPr>
        </p:nvGraphicFramePr>
        <p:xfrm>
          <a:off x="166370" y="603885"/>
          <a:ext cx="6320155" cy="626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331845" imgH="3339465" progId="Visio.Drawing.4">
                  <p:embed/>
                </p:oleObj>
              </mc:Choice>
              <mc:Fallback>
                <p:oleObj name="" r:id="rId1" imgW="3331845" imgH="3339465" progId="Visio.Drawing.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6370" y="603885"/>
                        <a:ext cx="6320155" cy="626491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6652260" y="2796540"/>
            <a:ext cx="2386330" cy="3963035"/>
            <a:chOff x="10236" y="4361"/>
            <a:chExt cx="3131" cy="6241"/>
          </a:xfrm>
        </p:grpSpPr>
        <p:sp>
          <p:nvSpPr>
            <p:cNvPr id="8" name="AutoShape 5"/>
            <p:cNvSpPr/>
            <p:nvPr/>
          </p:nvSpPr>
          <p:spPr>
            <a:xfrm rot="10800000">
              <a:off x="11963" y="6194"/>
              <a:ext cx="1404" cy="2944"/>
            </a:xfrm>
            <a:prstGeom prst="wedgeRoundRectCallout">
              <a:avLst>
                <a:gd name="adj1" fmla="val 128731"/>
                <a:gd name="adj2" fmla="val -2817"/>
                <a:gd name="adj3" fmla="val 16667"/>
              </a:avLst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p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" name="左大括号 1"/>
            <p:cNvSpPr/>
            <p:nvPr/>
          </p:nvSpPr>
          <p:spPr>
            <a:xfrm rot="10800000">
              <a:off x="10236" y="4361"/>
              <a:ext cx="749" cy="6241"/>
            </a:xfrm>
            <a:prstGeom prst="leftBrace">
              <a:avLst>
                <a:gd name="adj1" fmla="val 37738"/>
                <a:gd name="adj2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upright="1"/>
            <a:lstStyle/>
            <a:p>
              <a:pPr algn="ctr"/>
              <a:r>
                <a:rPr lang="en-US" altLang="zh-CN" sz="105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 </a:t>
              </a:r>
              <a:endPara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266" y="6237"/>
              <a:ext cx="874" cy="2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结构描述</a:t>
              </a:r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796280" y="3357245"/>
            <a:ext cx="1992630" cy="2727960"/>
            <a:chOff x="9128" y="5287"/>
            <a:chExt cx="3138" cy="4296"/>
          </a:xfrm>
        </p:grpSpPr>
        <p:grpSp>
          <p:nvGrpSpPr>
            <p:cNvPr id="13" name="组合 12"/>
            <p:cNvGrpSpPr/>
            <p:nvPr/>
          </p:nvGrpSpPr>
          <p:grpSpPr>
            <a:xfrm>
              <a:off x="9128" y="5287"/>
              <a:ext cx="3138" cy="4296"/>
              <a:chOff x="9128" y="5287"/>
              <a:chExt cx="3138" cy="4296"/>
            </a:xfrm>
          </p:grpSpPr>
          <p:sp>
            <p:nvSpPr>
              <p:cNvPr id="9" name="左大括号 1"/>
              <p:cNvSpPr/>
              <p:nvPr/>
            </p:nvSpPr>
            <p:spPr>
              <a:xfrm rot="10800000">
                <a:off x="9128" y="5287"/>
                <a:ext cx="749" cy="4296"/>
              </a:xfrm>
              <a:prstGeom prst="leftBrace">
                <a:avLst>
                  <a:gd name="adj1" fmla="val 37738"/>
                  <a:gd name="adj2" fmla="val 50000"/>
                </a:avLst>
              </a:prstGeom>
              <a:noFill/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upright="1"/>
              <a:lstStyle/>
              <a:p>
                <a:pPr algn="ctr"/>
                <a:r>
                  <a:rPr lang="en-US" altLang="zh-CN" sz="1050" kern="100"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  <a:sym typeface="Times New Roman" panose="02020603050405020304"/>
                  </a:rPr>
                  <a:t> </a:t>
                </a:r>
                <a:endParaRPr lang="en-US" altLang="zh-CN" sz="105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1" name="AutoShape 5"/>
              <p:cNvSpPr/>
              <p:nvPr/>
            </p:nvSpPr>
            <p:spPr>
              <a:xfrm rot="10800000">
                <a:off x="10862" y="5854"/>
                <a:ext cx="1404" cy="2944"/>
              </a:xfrm>
              <a:prstGeom prst="wedgeRoundRectCallout">
                <a:avLst>
                  <a:gd name="adj1" fmla="val 128731"/>
                  <a:gd name="adj2" fmla="val -2817"/>
                  <a:gd name="adj3" fmla="val 16667"/>
                </a:avLst>
              </a:prstGeom>
              <a:solidFill>
                <a:srgbClr val="FF3300"/>
              </a:solidFill>
              <a:ln w="9525" cap="flat" cmpd="sng">
                <a:solidFill>
                  <a:srgbClr val="FF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p>
                <a:endParaRPr lang="zh-CN" altLang="en-US" sz="2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11056" y="6080"/>
              <a:ext cx="966" cy="254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/>
                <a:t>设计资源</a:t>
              </a:r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796280" y="757555"/>
            <a:ext cx="2115820" cy="1600200"/>
            <a:chOff x="9128" y="1193"/>
            <a:chExt cx="3332" cy="2520"/>
          </a:xfrm>
        </p:grpSpPr>
        <p:sp>
          <p:nvSpPr>
            <p:cNvPr id="15" name="左大括号 1"/>
            <p:cNvSpPr/>
            <p:nvPr/>
          </p:nvSpPr>
          <p:spPr>
            <a:xfrm rot="10800000">
              <a:off x="9128" y="1193"/>
              <a:ext cx="749" cy="2520"/>
            </a:xfrm>
            <a:prstGeom prst="leftBrace">
              <a:avLst>
                <a:gd name="adj1" fmla="val 37738"/>
                <a:gd name="adj2" fmla="val 50000"/>
              </a:avLst>
            </a:prstGeom>
            <a:noFill/>
            <a:ln w="9525" cap="flat" cmpd="sng">
              <a:solidFill>
                <a:srgbClr val="00B050"/>
              </a:solidFill>
              <a:prstDash val="solid"/>
              <a:headEnd type="none" w="med" len="med"/>
              <a:tailEnd type="none" w="med" len="med"/>
            </a:ln>
          </p:spPr>
          <p:txBody>
            <a:bodyPr upright="1"/>
            <a:p>
              <a:pPr algn="ctr"/>
              <a:r>
                <a:rPr lang="en-US" altLang="zh-CN" sz="105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 </a:t>
              </a:r>
              <a:endPara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1056" y="1403"/>
              <a:ext cx="1404" cy="1819"/>
              <a:chOff x="12163" y="1083"/>
              <a:chExt cx="1404" cy="2944"/>
            </a:xfrm>
            <a:solidFill>
              <a:srgbClr val="00B050"/>
            </a:solidFill>
          </p:grpSpPr>
          <p:sp>
            <p:nvSpPr>
              <p:cNvPr id="16" name="AutoShape 5"/>
              <p:cNvSpPr/>
              <p:nvPr/>
            </p:nvSpPr>
            <p:spPr>
              <a:xfrm rot="10800000">
                <a:off x="12163" y="1083"/>
                <a:ext cx="1404" cy="2944"/>
              </a:xfrm>
              <a:prstGeom prst="wedgeRoundRectCallout">
                <a:avLst>
                  <a:gd name="adj1" fmla="val 128731"/>
                  <a:gd name="adj2" fmla="val -2817"/>
                  <a:gd name="adj3" fmla="val 16667"/>
                </a:avLst>
              </a:prstGeom>
              <a:grpFill/>
              <a:ln w="9525" cap="flat" cmpd="sng">
                <a:solidFill>
                  <a:srgbClr val="00B05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p>
                <a:endParaRPr lang="zh-CN" altLang="en-US" sz="2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2390" y="1340"/>
                <a:ext cx="874" cy="2429"/>
              </a:xfrm>
              <a:prstGeom prst="rect">
                <a:avLst/>
              </a:prstGeom>
              <a:grp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p>
                <a:r>
                  <a:rPr lang="zh-CN" altLang="en-US"/>
                  <a:t>必需</a:t>
                </a:r>
                <a:endParaRPr lang="zh-CN" altLang="en-US"/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2051685" y="3250449"/>
            <a:ext cx="2059940" cy="3235268"/>
            <a:chOff x="3231" y="5119"/>
            <a:chExt cx="3244" cy="5095"/>
          </a:xfrm>
        </p:grpSpPr>
        <p:sp>
          <p:nvSpPr>
            <p:cNvPr id="19" name="左大括号 1"/>
            <p:cNvSpPr/>
            <p:nvPr/>
          </p:nvSpPr>
          <p:spPr>
            <a:xfrm>
              <a:off x="5726" y="6175"/>
              <a:ext cx="749" cy="2520"/>
            </a:xfrm>
            <a:prstGeom prst="leftBrace">
              <a:avLst>
                <a:gd name="adj1" fmla="val 37738"/>
                <a:gd name="adj2" fmla="val 50000"/>
              </a:avLst>
            </a:prstGeom>
            <a:noFill/>
            <a:ln w="9525" cap="flat" cmpd="sng">
              <a:solidFill>
                <a:srgbClr val="FFC000"/>
              </a:solidFill>
              <a:prstDash val="solid"/>
              <a:headEnd type="none" w="med" len="med"/>
              <a:tailEnd type="none" w="med" len="med"/>
            </a:ln>
          </p:spPr>
          <p:txBody>
            <a:bodyPr upright="1"/>
            <a:p>
              <a:pPr algn="ctr"/>
              <a:r>
                <a:rPr lang="en-US" altLang="zh-CN" sz="1050" kern="100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 </a:t>
              </a:r>
              <a:endParaRPr lang="en-US" altLang="zh-CN" sz="1050" kern="100">
                <a:latin typeface="Calibri" panose="020F0502020204030204"/>
                <a:ea typeface="宋体" panose="02010600030101010101" pitchFamily="2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 rot="10800000">
              <a:off x="3231" y="5119"/>
              <a:ext cx="1404" cy="5095"/>
              <a:chOff x="12238" y="-216"/>
              <a:chExt cx="1404" cy="5196"/>
            </a:xfrm>
            <a:solidFill>
              <a:srgbClr val="FFC000"/>
            </a:solidFill>
          </p:grpSpPr>
          <p:sp>
            <p:nvSpPr>
              <p:cNvPr id="21" name="AutoShape 5"/>
              <p:cNvSpPr/>
              <p:nvPr/>
            </p:nvSpPr>
            <p:spPr>
              <a:xfrm rot="10800000">
                <a:off x="12238" y="-216"/>
                <a:ext cx="1404" cy="5196"/>
              </a:xfrm>
              <a:prstGeom prst="wedgeRoundRectCallout">
                <a:avLst>
                  <a:gd name="adj1" fmla="val 128731"/>
                  <a:gd name="adj2" fmla="val -2817"/>
                  <a:gd name="adj3" fmla="val 16667"/>
                </a:avLst>
              </a:prstGeom>
              <a:grpFill/>
              <a:ln w="9525" cap="flat" cmpd="sng">
                <a:solidFill>
                  <a:srgbClr val="FFC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p>
                <a:endParaRPr lang="zh-CN" altLang="en-US" sz="2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 rot="10800000">
                <a:off x="12503" y="-216"/>
                <a:ext cx="874" cy="4991"/>
              </a:xfrm>
              <a:prstGeom prst="rect">
                <a:avLst/>
              </a:prstGeom>
              <a:grpFill/>
              <a:ln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p>
                <a:r>
                  <a:rPr lang="zh-CN" altLang="en-US"/>
                  <a:t>并行语句</a:t>
                </a:r>
                <a:endParaRPr lang="zh-CN" altLang="en-US"/>
              </a:p>
              <a:p>
                <a:r>
                  <a:rPr lang="zh-CN" altLang="en-US"/>
                  <a:t>数据流</a:t>
                </a:r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4067810" y="2348865"/>
            <a:ext cx="5076190" cy="3924300"/>
            <a:chOff x="6406" y="3699"/>
            <a:chExt cx="7994" cy="6180"/>
          </a:xfrm>
        </p:grpSpPr>
        <p:sp>
          <p:nvSpPr>
            <p:cNvPr id="25" name="文本框 24"/>
            <p:cNvSpPr txBox="1"/>
            <p:nvPr/>
          </p:nvSpPr>
          <p:spPr>
            <a:xfrm>
              <a:off x="9565" y="3713"/>
              <a:ext cx="4835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内部使用顺序语句</a:t>
              </a:r>
              <a:endParaRPr lang="zh-CN" altLang="en-US"/>
            </a:p>
            <a:p>
              <a:r>
                <a:rPr lang="zh-CN" altLang="en-US"/>
                <a:t>行为描述</a:t>
              </a:r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406" y="3699"/>
              <a:ext cx="7935" cy="6180"/>
              <a:chOff x="6406" y="3699"/>
              <a:chExt cx="7935" cy="6180"/>
            </a:xfrm>
          </p:grpSpPr>
          <p:sp>
            <p:nvSpPr>
              <p:cNvPr id="183309" name="Rectangle 13"/>
              <p:cNvSpPr/>
              <p:nvPr/>
            </p:nvSpPr>
            <p:spPr>
              <a:xfrm>
                <a:off x="6689" y="7156"/>
                <a:ext cx="2275" cy="557"/>
              </a:xfrm>
              <a:prstGeom prst="rect">
                <a:avLst/>
              </a:prstGeom>
              <a:noFill/>
              <a:ln w="38100" cap="flat" cmpd="sng">
                <a:solidFill>
                  <a:srgbClr val="703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2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83303" name="Line 14"/>
              <p:cNvSpPr/>
              <p:nvPr/>
            </p:nvSpPr>
            <p:spPr>
              <a:xfrm rot="1800000" flipH="1">
                <a:off x="9125" y="4616"/>
                <a:ext cx="1300" cy="3057"/>
              </a:xfrm>
              <a:prstGeom prst="line">
                <a:avLst/>
              </a:prstGeom>
              <a:ln w="76200" cap="flat" cmpd="sng">
                <a:solidFill>
                  <a:srgbClr val="7030A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" name="Rectangle 13"/>
              <p:cNvSpPr/>
              <p:nvPr/>
            </p:nvSpPr>
            <p:spPr>
              <a:xfrm>
                <a:off x="6406" y="9142"/>
                <a:ext cx="1220" cy="557"/>
              </a:xfrm>
              <a:prstGeom prst="rect">
                <a:avLst/>
              </a:prstGeom>
              <a:noFill/>
              <a:ln w="38100" cap="flat" cmpd="sng">
                <a:solidFill>
                  <a:srgbClr val="703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2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7" name="Rectangle 13"/>
              <p:cNvSpPr/>
              <p:nvPr/>
            </p:nvSpPr>
            <p:spPr>
              <a:xfrm>
                <a:off x="9490" y="3699"/>
                <a:ext cx="4851" cy="1397"/>
              </a:xfrm>
              <a:prstGeom prst="rect">
                <a:avLst/>
              </a:prstGeom>
              <a:noFill/>
              <a:ln w="38100" cap="flat" cmpd="sng">
                <a:solidFill>
                  <a:srgbClr val="703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2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8" name="Line 14"/>
              <p:cNvSpPr/>
              <p:nvPr/>
            </p:nvSpPr>
            <p:spPr>
              <a:xfrm rot="1800000" flipH="1">
                <a:off x="8794" y="4594"/>
                <a:ext cx="1088" cy="5285"/>
              </a:xfrm>
              <a:prstGeom prst="line">
                <a:avLst/>
              </a:prstGeom>
              <a:ln w="76200" cap="flat" cmpd="sng">
                <a:solidFill>
                  <a:srgbClr val="7030A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文本框 685059"/>
          <p:cNvSpPr txBox="1"/>
          <p:nvPr/>
        </p:nvSpPr>
        <p:spPr>
          <a:xfrm>
            <a:off x="323215" y="2997200"/>
            <a:ext cx="8458200" cy="24676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三种描述方式的划分是根据寄存器和组合逻辑的确定性而言的：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　　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行为级描述，寄存器和组合逻辑都不明确；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　　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数据流级描述，寄存器明确，组合逻辑不明确；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　　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结构级描述，寄存器和组合逻辑都明确。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291" name="矩形 169986"/>
          <p:cNvSpPr/>
          <p:nvPr/>
        </p:nvSpPr>
        <p:spPr>
          <a:xfrm>
            <a:off x="827088" y="764223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结构体描述风格</a:t>
            </a:r>
            <a:endParaRPr lang="zh-CN" altLang="en-US" sz="28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1700530"/>
            <a:ext cx="798957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10000"/>
              </a:lnSpc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  <a:sym typeface="+mn-ea"/>
              </a:rPr>
              <a:t>   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  <a:sym typeface="+mn-ea"/>
              </a:rPr>
              <a:t>结构体的描述方式为行为描述方式、数据流描述方式、结构描述方式、混合描述方式。</a:t>
            </a:r>
            <a:endParaRPr lang="zh-CN" altLang="en-US" sz="2400" dirty="0"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>
    <p:checker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文本框 685059"/>
          <p:cNvSpPr txBox="1"/>
          <p:nvPr/>
        </p:nvSpPr>
        <p:spPr>
          <a:xfrm>
            <a:off x="323215" y="260350"/>
            <a:ext cx="8458200" cy="6470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数据选择器为例说明一下三种描述方式。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20335" y="4077335"/>
            <a:ext cx="3999230" cy="2599690"/>
            <a:chOff x="3118" y="3812"/>
            <a:chExt cx="8778" cy="5306"/>
          </a:xfrm>
        </p:grpSpPr>
        <p:pic>
          <p:nvPicPr>
            <p:cNvPr id="140289" name="图片 687109" descr="3-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18" y="3812"/>
              <a:ext cx="7855" cy="46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0" y="8008"/>
              <a:ext cx="5377" cy="1110"/>
            </a:xfrm>
            <a:prstGeom prst="rect">
              <a:avLst/>
            </a:prstGeom>
          </p:spPr>
        </p:pic>
      </p:grpSp>
      <p:graphicFrame>
        <p:nvGraphicFramePr>
          <p:cNvPr id="240662" name="对象 240661"/>
          <p:cNvGraphicFramePr/>
          <p:nvPr/>
        </p:nvGraphicFramePr>
        <p:xfrm>
          <a:off x="5076190" y="2708910"/>
          <a:ext cx="26685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698500" imgH="241300" progId="Equation.3">
                  <p:embed/>
                </p:oleObj>
              </mc:Choice>
              <mc:Fallback>
                <p:oleObj name="" r:id="rId3" imgW="6985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6190" y="2708910"/>
                        <a:ext cx="2668588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65" name="表格 240664"/>
          <p:cNvGraphicFramePr/>
          <p:nvPr/>
        </p:nvGraphicFramePr>
        <p:xfrm>
          <a:off x="1409700" y="2897823"/>
          <a:ext cx="1868488" cy="2362200"/>
        </p:xfrm>
        <a:graphic>
          <a:graphicData uri="http://schemas.openxmlformats.org/drawingml/2006/table">
            <a:tbl>
              <a:tblPr/>
              <a:tblGrid>
                <a:gridCol w="935038"/>
                <a:gridCol w="933450"/>
              </a:tblGrid>
              <a:tr h="787400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y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7400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a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7400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b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59865" y="1772920"/>
            <a:ext cx="649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先回忆一下</a:t>
            </a:r>
            <a:r>
              <a:rPr lang="en-US" altLang="zh-CN" sz="2400"/>
              <a:t>2</a:t>
            </a:r>
            <a:r>
              <a:rPr lang="zh-CN" altLang="en-US" sz="2400"/>
              <a:t>选</a:t>
            </a:r>
            <a:r>
              <a:rPr lang="en-US" altLang="zh-CN" sz="2400"/>
              <a:t>1</a:t>
            </a:r>
            <a:r>
              <a:rPr lang="zh-CN" altLang="en-US" sz="2400"/>
              <a:t>数据选择器是一个什么器件？</a:t>
            </a:r>
            <a:endParaRPr lang="zh-CN" altLang="en-US" sz="240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文本占位符 169985"/>
          <p:cNvSpPr>
            <a:spLocks noGrp="1"/>
          </p:cNvSpPr>
          <p:nvPr/>
        </p:nvSpPr>
        <p:spPr>
          <a:xfrm>
            <a:off x="273685" y="908685"/>
            <a:ext cx="8597265" cy="5159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行为描述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6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endParaRPr kumimoji="0" lang="zh-CN" altLang="en-US" sz="26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6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行为级描述是描述该设计单元的功能，即该硬件能做什么。 </a:t>
            </a: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endParaRPr kumimoji="0" lang="en-US" altLang="zh-CN" sz="28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457200" algn="just" defTabSz="914400" rtl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采用行为级描述方式的程序中，大量采用了逻辑运算、算术运算和关系运算，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以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算法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形式描述数据的变换和传送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在是对系统基本模型的数学描述，抽象程度较高。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457200" algn="just" defTabSz="914400" rtl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主要使用函数、过程和进程语句。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5" name="文本框 689156"/>
          <p:cNvSpPr txBox="1"/>
          <p:nvPr/>
        </p:nvSpPr>
        <p:spPr>
          <a:xfrm>
            <a:off x="1691640" y="1700213"/>
            <a:ext cx="5213350" cy="3192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LIBRARY IEEE;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USE IEEE.STD_LOGIC_1164.ALL;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ENTITY mux2 IS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rPr>
              <a:t>  PORT (a, b, sel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: IN STD_LOGIC;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q : OUT STD_LOGIC);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 END mux2; 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7" name="文本框 688131"/>
          <p:cNvSpPr txBox="1"/>
          <p:nvPr/>
        </p:nvSpPr>
        <p:spPr>
          <a:xfrm>
            <a:off x="323533" y="332740"/>
            <a:ext cx="5407025" cy="53673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ARCHITECTURE behavioral OF mux2 IS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BEGIN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PROCESS (a, b)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BEGIN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rPr>
              <a:t>    IF sel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='1' THEN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q&lt;=a;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　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ELSE 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q&lt;=b;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END IF;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END PROCESS;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END behavioral; 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7450" y="6093460"/>
            <a:ext cx="4197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基于功能（真值表）描述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314" name="文本框 1"/>
          <p:cNvSpPr txBox="1"/>
          <p:nvPr/>
        </p:nvSpPr>
        <p:spPr>
          <a:xfrm>
            <a:off x="6731953" y="404495"/>
            <a:ext cx="1600200" cy="1365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二选一复用器的行为级描述。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0050" name="内容占位符 167939"/>
          <p:cNvGraphicFramePr>
            <a:graphicFrameLocks noGrp="1"/>
          </p:cNvGraphicFramePr>
          <p:nvPr/>
        </p:nvGraphicFramePr>
        <p:xfrm>
          <a:off x="5730875" y="2420620"/>
          <a:ext cx="3145790" cy="425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331845" imgH="3339465" progId="Visio.Drawing.4">
                  <p:embed/>
                </p:oleObj>
              </mc:Choice>
              <mc:Fallback>
                <p:oleObj name="" r:id="rId1" imgW="3331845" imgH="3339465" progId="Visio.Drawing.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30875" y="2420620"/>
                        <a:ext cx="3145790" cy="425831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41314" grpId="0"/>
      <p:bldP spid="141314" grpId="1"/>
      <p:bldP spid="142337" grpId="0"/>
      <p:bldP spid="142337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文本占位符 169985"/>
          <p:cNvSpPr>
            <a:spLocks noGrp="1"/>
          </p:cNvSpPr>
          <p:nvPr/>
        </p:nvSpPr>
        <p:spPr>
          <a:xfrm>
            <a:off x="273685" y="908685"/>
            <a:ext cx="8597265" cy="574611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结构描述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indent="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6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endParaRPr kumimoji="0" lang="zh-CN" altLang="en-US" sz="26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711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结构</a:t>
            </a:r>
            <a:r>
              <a:rPr lang="zh-CN" altLang="en-US" sz="2800" dirty="0">
                <a:ea typeface="楷体_GB2312" pitchFamily="49" charset="-122"/>
                <a:sym typeface="+mn-ea"/>
              </a:rPr>
              <a:t>描述方法描述的是该设计单元的硬件结构，经常在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多层次的设计中使用。</a:t>
            </a:r>
            <a:endParaRPr lang="zh-CN" altLang="en-US" sz="2800" dirty="0">
              <a:latin typeface="宋体" panose="02010600030101010101" pitchFamily="2" charset="-122"/>
              <a:sym typeface="+mn-ea"/>
            </a:endParaRPr>
          </a:p>
          <a:p>
            <a:pPr marL="0" indent="711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高层次的设计模块调用低层次的设计模块，也</a:t>
            </a:r>
            <a:r>
              <a:rPr lang="zh-CN" altLang="en-US" sz="2800" dirty="0">
                <a:ea typeface="楷体_GB2312" pitchFamily="49" charset="-122"/>
                <a:sym typeface="+mn-ea"/>
              </a:rPr>
              <a:t>可以直接调用库中的元件或是设计模块。</a:t>
            </a:r>
            <a:endParaRPr lang="zh-CN" altLang="en-US" sz="2800" dirty="0">
              <a:ea typeface="楷体_GB2312" pitchFamily="49" charset="-122"/>
              <a:sym typeface="+mn-ea"/>
            </a:endParaRPr>
          </a:p>
          <a:p>
            <a:pPr marL="0" indent="7112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dirty="0">
                <a:ea typeface="楷体_GB2312" pitchFamily="49" charset="-122"/>
                <a:sym typeface="+mn-ea"/>
              </a:rPr>
              <a:t>主要使用</a:t>
            </a:r>
            <a:r>
              <a:rPr lang="zh-CN" altLang="en-US" sz="2800" dirty="0">
                <a:solidFill>
                  <a:srgbClr val="000099"/>
                </a:solidFill>
                <a:ea typeface="楷体_GB2312" pitchFamily="49" charset="-122"/>
                <a:sym typeface="+mn-ea"/>
              </a:rPr>
              <a:t>元件说明语句及元件例化语句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5364480" y="44450"/>
            <a:ext cx="4168140" cy="2564130"/>
            <a:chOff x="3118" y="3812"/>
            <a:chExt cx="8778" cy="5306"/>
          </a:xfrm>
        </p:grpSpPr>
        <p:pic>
          <p:nvPicPr>
            <p:cNvPr id="140289" name="图片 687109" descr="3-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18" y="3812"/>
              <a:ext cx="7855" cy="46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0" y="8008"/>
              <a:ext cx="5377" cy="1110"/>
            </a:xfrm>
            <a:prstGeom prst="rect">
              <a:avLst/>
            </a:prstGeom>
          </p:spPr>
        </p:pic>
      </p:grpSp>
      <p:sp>
        <p:nvSpPr>
          <p:cNvPr id="148481" name="文本框 694275"/>
          <p:cNvSpPr txBox="1"/>
          <p:nvPr/>
        </p:nvSpPr>
        <p:spPr>
          <a:xfrm>
            <a:off x="0" y="0"/>
            <a:ext cx="7266940" cy="6367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【例】  二选一复用器的结构级描述。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LIBRARY IEEE;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USE IEEE.STD_LOGIC_1164.ALL;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ENTITY mux2 IS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 err="1">
                <a:latin typeface="宋体" panose="02010600030101010101" pitchFamily="2" charset="-122"/>
                <a:ea typeface="宋体" panose="02010600030101010101" pitchFamily="2" charset="-122"/>
              </a:rPr>
              <a:t>  PORT (a, b, sel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: IN STD_LOGIC;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        q : OUT STD_LOGIC);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END mux2;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ARCHITECTURE structural OF mux2 IS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COMPONENT and2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PORT (a, b : IN STD_LOGIC; 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           c : OUT STD_LOGIC);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END COMPONENT</a:t>
            </a:r>
            <a:r>
              <a:rPr lang="zh-CN" altLang="en-US" sz="2400">
                <a:latin typeface="宋体" panose="02010600030101010101" pitchFamily="2" charset="-122"/>
                <a:sym typeface="+mn-ea"/>
              </a:rPr>
              <a:t>；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130050" name="内容占位符 167939"/>
          <p:cNvGraphicFramePr>
            <a:graphicFrameLocks noGrp="1"/>
          </p:cNvGraphicFramePr>
          <p:nvPr/>
        </p:nvGraphicFramePr>
        <p:xfrm>
          <a:off x="5948680" y="2420620"/>
          <a:ext cx="3145790" cy="425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3331845" imgH="3339465" progId="Visio.Drawing.4">
                  <p:embed/>
                </p:oleObj>
              </mc:Choice>
              <mc:Fallback>
                <p:oleObj name="" r:id="rId3" imgW="3331845" imgH="3339465" progId="Visio.Drawing.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8680" y="2420620"/>
                        <a:ext cx="3145790" cy="425831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4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4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4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4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84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84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84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84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84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4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5" name="文本框 697347"/>
          <p:cNvSpPr txBox="1"/>
          <p:nvPr/>
        </p:nvSpPr>
        <p:spPr>
          <a:xfrm>
            <a:off x="828040" y="332423"/>
            <a:ext cx="4786630" cy="58464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COMPONENT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and2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PORT (a, b : IN STD_LOGIC;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　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c : OUT STD_LOGIC);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END COMPONENT;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400">
                <a:latin typeface="宋体" panose="02010600030101010101" pitchFamily="2" charset="-122"/>
                <a:sym typeface="+mn-ea"/>
              </a:rPr>
              <a:t>COMPONENT 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or2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 PORT (a, b : IN STD_LOGIC;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>
                <a:latin typeface="宋体" panose="02010600030101010101" pitchFamily="2" charset="-122"/>
                <a:sym typeface="+mn-ea"/>
              </a:rPr>
              <a:t>　　　　　</a:t>
            </a:r>
            <a:r>
              <a:rPr lang="en-US" altLang="zh-CN" sz="2400">
                <a:latin typeface="宋体" panose="02010600030101010101" pitchFamily="2" charset="-122"/>
                <a:sym typeface="+mn-ea"/>
              </a:rPr>
              <a:t>c : OUT STD_LOGIC);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>
                <a:latin typeface="宋体" panose="02010600030101010101" pitchFamily="2" charset="-122"/>
                <a:sym typeface="+mn-ea"/>
              </a:rPr>
              <a:t> END COMPONENT;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COMPONENT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inv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PORT (a : IN STD_LOGIC;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b : OUT STD_LOGIC);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 END COMPONENT; </a:t>
            </a:r>
            <a:endParaRPr lang="en-US" altLang="zh-CN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29" name="文本框 696323"/>
          <p:cNvSpPr txBox="1"/>
          <p:nvPr/>
        </p:nvSpPr>
        <p:spPr>
          <a:xfrm>
            <a:off x="898843" y="1484630"/>
            <a:ext cx="5233987" cy="42259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</a:rPr>
              <a:t>SIGNAL aa, ab, nsel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: STD_LOGIC;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</a:rPr>
              <a:t>  g1 : inv PORT MAP (sel, nsel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</a:rPr>
              <a:t>  g2 : and2 PORT MAP (nsel, b, ab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</a:rPr>
              <a:t>  g3 : and2 PORT MAP (a, sel, aa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</a:rPr>
              <a:t>  g4 : or2 PORT MAP (aa, ab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, q);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END structural;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35825" y="2521585"/>
            <a:ext cx="10299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基于硬件结构描述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文本占位符 178177"/>
          <p:cNvSpPr>
            <a:spLocks noGrp="1"/>
          </p:cNvSpPr>
          <p:nvPr/>
        </p:nvSpPr>
        <p:spPr>
          <a:xfrm>
            <a:off x="107950" y="476885"/>
            <a:ext cx="8689340" cy="54946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数据流描述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indent="609600" algn="just" defTabSz="914400" rtl="0">
              <a:lnSpc>
                <a:spcPct val="100000"/>
              </a:lnSpc>
              <a:spcBef>
                <a:spcPts val="20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  <a:sym typeface="+mn-ea"/>
              </a:rPr>
              <a:t>数据流描述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</a:t>
            </a: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  <a:sym typeface="+mn-ea"/>
              </a:rPr>
              <a:t>从信号到信号的数据流的路径形式进行描述。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indent="609600" algn="just" defTabSz="914400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数据流描述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明确规定寄存器的情况，它要么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采用寄存器之间的功能描述（</a:t>
            </a: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  <a:sym typeface="+mn-ea"/>
              </a:rPr>
              <a:t>显式表示了该设计单元的行为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），要么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采用寄存器硬件的一一对应的直接描述（</a:t>
            </a:r>
            <a:r>
              <a:rPr kumimoji="0" lang="zh-CN" altLang="en-US" sz="2400" dirty="0">
                <a:latin typeface="楷体_GB2312" pitchFamily="49" charset="-122"/>
                <a:ea typeface="楷体_GB2312" pitchFamily="49" charset="-122"/>
                <a:sym typeface="+mn-ea"/>
              </a:rPr>
              <a:t>隐式表示了该设计单元的结构）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609600" algn="just" defTabSz="914400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数据流级描述方式可以进行真正的逻辑综合，模拟实际电路和元器件的工作性能。   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609600" algn="just" defTabSz="914400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主要使用并行语句，如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when</a:t>
            </a:r>
            <a:r>
              <a:rPr kumimoji="0"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－</a:t>
            </a:r>
            <a:r>
              <a:rPr kumimoji="0"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else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条件信号赋值语句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With</a:t>
            </a:r>
            <a:r>
              <a:rPr kumimoji="0"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－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select</a:t>
            </a:r>
            <a:r>
              <a:rPr kumimoji="0"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－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when(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选择信号赋值语句</a:t>
            </a:r>
            <a:r>
              <a:rPr kumimoji="0"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kumimoji="0"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09" name="文本框 693251"/>
          <p:cNvSpPr txBox="1"/>
          <p:nvPr/>
        </p:nvSpPr>
        <p:spPr>
          <a:xfrm>
            <a:off x="251460" y="502603"/>
            <a:ext cx="5711190" cy="58515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【例】  二选一复用器的数据流描述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LIBRARY IEEE;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USE IEEE.STD_LOGIC_1164.ALL;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ENTITY mux2 IS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rPr>
              <a:t>  PORT (a, b, sel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: IN STD_LOGIC;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  q : OUT STD_LOGIC);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END mux2;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ARCHITECTURE dataflow OF mux2 IS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BEGIN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rPr>
              <a:t>  q&lt;=a WHEN sel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='1' ELSE b;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END dataflow; 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44615" y="3429000"/>
            <a:ext cx="22307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明确寄存器的输出情况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文本框 693251"/>
          <p:cNvSpPr txBox="1"/>
          <p:nvPr/>
        </p:nvSpPr>
        <p:spPr>
          <a:xfrm>
            <a:off x="395605" y="-27305"/>
            <a:ext cx="5668963" cy="6737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【例】  二选一复用器的数据流描述</a:t>
            </a:r>
            <a:r>
              <a:rPr lang="en-US" altLang="zh-CN" sz="240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240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400" b="1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LIBRARY IEEE;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USE IEEE.STD_LOGIC_1164.ALL;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 ENTITY mux2 IS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PORT (a, b, sel</a:t>
            </a: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: IN STD_LOGIC;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q : OUT STD_LOGIC);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END mux2;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ARCHITECTURE dataflow OF mux2 IS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signal aa,ab,nsel:STD_LOGIC;</a:t>
            </a:r>
            <a:endParaRPr lang="en-US" altLang="zh-CN" sz="2400" b="1" strike="noStrike" noProof="1">
              <a:solidFill>
                <a:schemeClr val="accent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BEGIN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 err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q&lt;=aa or ab;</a:t>
            </a:r>
            <a:endParaRPr lang="en-US" altLang="zh-CN" sz="2400" b="1" strike="noStrike" noProof="1" err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 err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aa&lt;= a and sel;</a:t>
            </a:r>
            <a:endParaRPr lang="en-US" altLang="zh-CN" sz="2400" b="1" strike="noStrike" noProof="1" err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 err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nsel&lt;= not sel;</a:t>
            </a:r>
            <a:endParaRPr lang="en-US" altLang="zh-CN" sz="2400" b="1" strike="noStrike" noProof="1" err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 err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ab&lt;= b and nsel;</a:t>
            </a:r>
            <a:endParaRPr lang="en-US" altLang="zh-CN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 algn="l" fontAlgn="base">
              <a:lnSpc>
                <a:spcPct val="120000"/>
              </a:lnSpc>
            </a:pPr>
            <a:r>
              <a:rPr lang="en-US" altLang="zh-CN" sz="24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END dataflow; </a:t>
            </a:r>
            <a:endParaRPr lang="en-US" altLang="zh-CN" b="1" strike="noStrike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537200" y="3961765"/>
            <a:ext cx="3419475" cy="2308225"/>
            <a:chOff x="3118" y="3812"/>
            <a:chExt cx="8778" cy="5306"/>
          </a:xfrm>
        </p:grpSpPr>
        <p:pic>
          <p:nvPicPr>
            <p:cNvPr id="140289" name="图片 687109" descr="3-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18" y="3812"/>
              <a:ext cx="7855" cy="46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20" y="8008"/>
              <a:ext cx="5377" cy="111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3" name="文本框 692227"/>
          <p:cNvSpPr txBox="1"/>
          <p:nvPr/>
        </p:nvSpPr>
        <p:spPr>
          <a:xfrm>
            <a:off x="611188" y="1268413"/>
            <a:ext cx="7818437" cy="3907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2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采用数据流级描述方式的程序设计中，必须注意以下几项原则：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禁止在一个进程中存在两个寄存器描述；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禁止使用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语句中的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项；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寄存器描述中必须代入信号值。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90" name="矩形 169989"/>
          <p:cNvSpPr/>
          <p:nvPr/>
        </p:nvSpPr>
        <p:spPr>
          <a:xfrm>
            <a:off x="611505" y="1772920"/>
            <a:ext cx="8075295" cy="259334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4-4</a:t>
            </a:r>
            <a:endParaRPr lang="en-US" altLang="zh-CN" sz="24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600" b="1" err="1">
                <a:latin typeface="Times New Roman" panose="02020603050405020304" pitchFamily="18" charset="0"/>
                <a:ea typeface="宋体" panose="02010600030101010101" pitchFamily="2" charset="-122"/>
              </a:rPr>
              <a:t>Library ieee</a:t>
            </a:r>
            <a:r>
              <a:rPr lang="en-US" altLang="zh-CN" sz="2600" b="1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6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600" b="1"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en-US" altLang="zh-CN" sz="26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600" b="1" err="1">
                <a:latin typeface="Times New Roman" panose="02020603050405020304" pitchFamily="18" charset="0"/>
                <a:ea typeface="宋体" panose="02010600030101010101" pitchFamily="2" charset="-122"/>
              </a:rPr>
              <a:t>Use ieee.std_logic_unsigned.all</a:t>
            </a:r>
            <a:r>
              <a:rPr lang="en-US" altLang="zh-CN" sz="2600" b="1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6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600" b="1" err="1">
                <a:latin typeface="Times New Roman" panose="02020603050405020304" pitchFamily="18" charset="0"/>
                <a:ea typeface="宋体" panose="02010600030101010101" pitchFamily="2" charset="-122"/>
              </a:rPr>
              <a:t>Use ieee.std_logic_arith.all</a:t>
            </a:r>
            <a:r>
              <a:rPr lang="en-US" altLang="zh-CN" sz="2600" b="1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7" name="矩形 164865"/>
          <p:cNvSpPr/>
          <p:nvPr/>
        </p:nvSpPr>
        <p:spPr>
          <a:xfrm>
            <a:off x="395288" y="40449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实例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1052830"/>
            <a:ext cx="724852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10000"/>
              </a:lnSpc>
            </a:pP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用三种描述方式描述</a:t>
            </a:r>
            <a:r>
              <a:rPr lang="en-US" altLang="zh-CN" sz="2400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位等值比较器。 </a:t>
            </a:r>
            <a:endParaRPr lang="zh-CN" altLang="en-US" sz="24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4653280"/>
            <a:ext cx="682942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sym typeface="+mn-ea"/>
              </a:rPr>
              <a:t>Entity eqcomp4 is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sym typeface="+mn-ea"/>
              </a:rPr>
              <a:t>     Port (a,b: in std_logic_vector (3 downto</a:t>
            </a:r>
            <a:r>
              <a:rPr lang="en-US" altLang="zh-CN" sz="2400">
                <a:sym typeface="+mn-ea"/>
              </a:rPr>
              <a:t> 0);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sym typeface="+mn-ea"/>
              </a:rPr>
              <a:t>               equals: out std_logic</a:t>
            </a:r>
            <a:r>
              <a:rPr lang="en-US" altLang="zh-CN" sz="2400">
                <a:sym typeface="+mn-ea"/>
              </a:rPr>
              <a:t>);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sym typeface="+mn-ea"/>
              </a:rPr>
              <a:t>End eqcomp4;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文本占位符 173057"/>
          <p:cNvSpPr>
            <a:spLocks noGrp="1"/>
          </p:cNvSpPr>
          <p:nvPr>
            <p:ph type="body" sz="half" idx="4294967295"/>
          </p:nvPr>
        </p:nvSpPr>
        <p:spPr>
          <a:xfrm>
            <a:off x="323850" y="476885"/>
            <a:ext cx="6858000" cy="5112385"/>
          </a:xfrm>
        </p:spPr>
        <p:txBody>
          <a:bodyPr vert="horz" wrap="square" lIns="91440" tIns="45720" rIns="91440" bIns="45720" anchor="t" anchorCtr="0"/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Architecture behavioral of eqcomp4 is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Begin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err="1">
                <a:latin typeface="Times New Roman" panose="02020603050405020304" pitchFamily="18" charset="0"/>
              </a:rPr>
              <a:t>  Comp:process (a,b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Begin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If a=b then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   Equals&lt;=’1’;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Else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   Equals&lt;=’0’;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  End if;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 End process comp;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End behavioral;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9938" name="矩形 173058"/>
          <p:cNvSpPr/>
          <p:nvPr/>
        </p:nvSpPr>
        <p:spPr>
          <a:xfrm>
            <a:off x="5940425" y="3573145"/>
            <a:ext cx="272923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行为描述</a:t>
            </a:r>
            <a:endParaRPr lang="zh-CN" altLang="en-US" sz="2400" b="1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文本占位符 177153"/>
          <p:cNvSpPr>
            <a:spLocks noGrp="1"/>
          </p:cNvSpPr>
          <p:nvPr>
            <p:ph type="body" sz="half" idx="4294967295"/>
          </p:nvPr>
        </p:nvSpPr>
        <p:spPr>
          <a:xfrm>
            <a:off x="0" y="980440"/>
            <a:ext cx="6858000" cy="53784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Architecture struct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of eqcomp4 is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Component xnor2        --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元件说明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Port (a,b:in std_logic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               X: out std_logic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End component;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Component and4        --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  <a:sym typeface="+mn-ea"/>
              </a:rPr>
              <a:t>元件说明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     Port (a,b,c,d:in std_logic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                   y: out std_logic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End component;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Signal x:std_logic_vector(0 to 3);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6" name="矩形 177154"/>
          <p:cNvSpPr/>
          <p:nvPr/>
        </p:nvSpPr>
        <p:spPr>
          <a:xfrm>
            <a:off x="5292090" y="332740"/>
            <a:ext cx="3362325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结构描述</a:t>
            </a:r>
            <a:endParaRPr lang="zh-CN" altLang="en-US" sz="2800" b="1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6132" name="矩形 176131"/>
          <p:cNvSpPr/>
          <p:nvPr/>
        </p:nvSpPr>
        <p:spPr>
          <a:xfrm>
            <a:off x="34608" y="188595"/>
            <a:ext cx="1598612" cy="809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just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4-5</a:t>
            </a:r>
            <a:endParaRPr lang="en-US" altLang="zh-CN" sz="24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76133" name="组合 176132"/>
          <p:cNvGrpSpPr/>
          <p:nvPr/>
        </p:nvGrpSpPr>
        <p:grpSpPr>
          <a:xfrm>
            <a:off x="4816475" y="2199640"/>
            <a:ext cx="4495800" cy="2971800"/>
            <a:chOff x="1684" y="4607"/>
            <a:chExt cx="5227" cy="3891"/>
          </a:xfrm>
        </p:grpSpPr>
        <p:sp>
          <p:nvSpPr>
            <p:cNvPr id="40965" name="矩形 176133"/>
            <p:cNvSpPr/>
            <p:nvPr/>
          </p:nvSpPr>
          <p:spPr>
            <a:xfrm>
              <a:off x="2404" y="4873"/>
              <a:ext cx="1080" cy="62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6" name="文本框 176134"/>
            <p:cNvSpPr txBox="1"/>
            <p:nvPr/>
          </p:nvSpPr>
          <p:spPr>
            <a:xfrm>
              <a:off x="2839" y="4607"/>
              <a:ext cx="32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U0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7" name="直接连接符 176135"/>
            <p:cNvSpPr/>
            <p:nvPr/>
          </p:nvSpPr>
          <p:spPr>
            <a:xfrm>
              <a:off x="2044" y="5030"/>
              <a:ext cx="3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68" name="直接连接符 176136"/>
            <p:cNvSpPr/>
            <p:nvPr/>
          </p:nvSpPr>
          <p:spPr>
            <a:xfrm>
              <a:off x="2044" y="5312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69" name="文本框 176137"/>
            <p:cNvSpPr txBox="1"/>
            <p:nvPr/>
          </p:nvSpPr>
          <p:spPr>
            <a:xfrm>
              <a:off x="2719" y="5045"/>
              <a:ext cx="567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xnor2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直接连接符 176138"/>
            <p:cNvSpPr/>
            <p:nvPr/>
          </p:nvSpPr>
          <p:spPr>
            <a:xfrm>
              <a:off x="3484" y="5186"/>
              <a:ext cx="54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1" name="文本框 176139"/>
            <p:cNvSpPr txBox="1"/>
            <p:nvPr/>
          </p:nvSpPr>
          <p:spPr>
            <a:xfrm>
              <a:off x="3589" y="491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x(0)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2" name="文本框 176140"/>
            <p:cNvSpPr txBox="1"/>
            <p:nvPr/>
          </p:nvSpPr>
          <p:spPr>
            <a:xfrm>
              <a:off x="1684" y="488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a(0)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3" name="文本框 176141"/>
            <p:cNvSpPr txBox="1"/>
            <p:nvPr/>
          </p:nvSpPr>
          <p:spPr>
            <a:xfrm>
              <a:off x="1684" y="5171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b(0)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4" name="矩形 176142"/>
            <p:cNvSpPr/>
            <p:nvPr/>
          </p:nvSpPr>
          <p:spPr>
            <a:xfrm>
              <a:off x="2419" y="5893"/>
              <a:ext cx="1080" cy="62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5" name="文本框 176143"/>
            <p:cNvSpPr txBox="1"/>
            <p:nvPr/>
          </p:nvSpPr>
          <p:spPr>
            <a:xfrm>
              <a:off x="2854" y="5627"/>
              <a:ext cx="32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U1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6" name="直接连接符 176144"/>
            <p:cNvSpPr/>
            <p:nvPr/>
          </p:nvSpPr>
          <p:spPr>
            <a:xfrm>
              <a:off x="2059" y="6050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7" name="直接连接符 176145"/>
            <p:cNvSpPr/>
            <p:nvPr/>
          </p:nvSpPr>
          <p:spPr>
            <a:xfrm>
              <a:off x="2059" y="6332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8" name="文本框 176146"/>
            <p:cNvSpPr txBox="1"/>
            <p:nvPr/>
          </p:nvSpPr>
          <p:spPr>
            <a:xfrm>
              <a:off x="2734" y="6065"/>
              <a:ext cx="567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xnor2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9" name="直接连接符 176147"/>
            <p:cNvSpPr/>
            <p:nvPr/>
          </p:nvSpPr>
          <p:spPr>
            <a:xfrm>
              <a:off x="3499" y="6206"/>
              <a:ext cx="5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0" name="文本框 176148"/>
            <p:cNvSpPr txBox="1"/>
            <p:nvPr/>
          </p:nvSpPr>
          <p:spPr>
            <a:xfrm>
              <a:off x="3604" y="593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x(1)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1" name="文本框 176149"/>
            <p:cNvSpPr txBox="1"/>
            <p:nvPr/>
          </p:nvSpPr>
          <p:spPr>
            <a:xfrm>
              <a:off x="1699" y="590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a(1)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2" name="文本框 176150"/>
            <p:cNvSpPr txBox="1"/>
            <p:nvPr/>
          </p:nvSpPr>
          <p:spPr>
            <a:xfrm>
              <a:off x="1699" y="6191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b(1)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3" name="矩形 176151"/>
            <p:cNvSpPr/>
            <p:nvPr/>
          </p:nvSpPr>
          <p:spPr>
            <a:xfrm>
              <a:off x="2404" y="6883"/>
              <a:ext cx="1080" cy="62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4" name="文本框 176152"/>
            <p:cNvSpPr txBox="1"/>
            <p:nvPr/>
          </p:nvSpPr>
          <p:spPr>
            <a:xfrm>
              <a:off x="2839" y="6617"/>
              <a:ext cx="32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U2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5" name="直接连接符 176153"/>
            <p:cNvSpPr/>
            <p:nvPr/>
          </p:nvSpPr>
          <p:spPr>
            <a:xfrm>
              <a:off x="2044" y="7040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86" name="直接连接符 176154"/>
            <p:cNvSpPr/>
            <p:nvPr/>
          </p:nvSpPr>
          <p:spPr>
            <a:xfrm>
              <a:off x="2044" y="7322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87" name="文本框 176155"/>
            <p:cNvSpPr txBox="1"/>
            <p:nvPr/>
          </p:nvSpPr>
          <p:spPr>
            <a:xfrm>
              <a:off x="2719" y="7055"/>
              <a:ext cx="567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xnor2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8" name="直接连接符 176156"/>
            <p:cNvSpPr/>
            <p:nvPr/>
          </p:nvSpPr>
          <p:spPr>
            <a:xfrm>
              <a:off x="3484" y="7196"/>
              <a:ext cx="5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9" name="文本框 176157"/>
            <p:cNvSpPr txBox="1"/>
            <p:nvPr/>
          </p:nvSpPr>
          <p:spPr>
            <a:xfrm>
              <a:off x="3589" y="692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x(2)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0" name="文本框 176158"/>
            <p:cNvSpPr txBox="1"/>
            <p:nvPr/>
          </p:nvSpPr>
          <p:spPr>
            <a:xfrm>
              <a:off x="1684" y="689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a(2)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1" name="文本框 176159"/>
            <p:cNvSpPr txBox="1"/>
            <p:nvPr/>
          </p:nvSpPr>
          <p:spPr>
            <a:xfrm>
              <a:off x="1684" y="7181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b(2)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2" name="矩形 176160"/>
            <p:cNvSpPr/>
            <p:nvPr/>
          </p:nvSpPr>
          <p:spPr>
            <a:xfrm>
              <a:off x="2419" y="7873"/>
              <a:ext cx="1080" cy="62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3" name="文本框 176161"/>
            <p:cNvSpPr txBox="1"/>
            <p:nvPr/>
          </p:nvSpPr>
          <p:spPr>
            <a:xfrm>
              <a:off x="2854" y="7607"/>
              <a:ext cx="32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U3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4" name="直接连接符 176162"/>
            <p:cNvSpPr/>
            <p:nvPr/>
          </p:nvSpPr>
          <p:spPr>
            <a:xfrm>
              <a:off x="2059" y="8030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95" name="直接连接符 176163"/>
            <p:cNvSpPr/>
            <p:nvPr/>
          </p:nvSpPr>
          <p:spPr>
            <a:xfrm>
              <a:off x="2059" y="8312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96" name="文本框 176164"/>
            <p:cNvSpPr txBox="1"/>
            <p:nvPr/>
          </p:nvSpPr>
          <p:spPr>
            <a:xfrm>
              <a:off x="2734" y="8045"/>
              <a:ext cx="567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xnor2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7" name="直接连接符 176165"/>
            <p:cNvSpPr/>
            <p:nvPr/>
          </p:nvSpPr>
          <p:spPr>
            <a:xfrm>
              <a:off x="3499" y="8186"/>
              <a:ext cx="54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8" name="文本框 176166"/>
            <p:cNvSpPr txBox="1"/>
            <p:nvPr/>
          </p:nvSpPr>
          <p:spPr>
            <a:xfrm>
              <a:off x="3604" y="791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x(3)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9" name="文本框 176167"/>
            <p:cNvSpPr txBox="1"/>
            <p:nvPr/>
          </p:nvSpPr>
          <p:spPr>
            <a:xfrm>
              <a:off x="1699" y="7889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a(3)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0" name="文本框 176168"/>
            <p:cNvSpPr txBox="1"/>
            <p:nvPr/>
          </p:nvSpPr>
          <p:spPr>
            <a:xfrm>
              <a:off x="1699" y="8171"/>
              <a:ext cx="38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b(3)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1" name="矩形 176169"/>
            <p:cNvSpPr/>
            <p:nvPr/>
          </p:nvSpPr>
          <p:spPr>
            <a:xfrm>
              <a:off x="4729" y="5684"/>
              <a:ext cx="1125" cy="199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2" name="文本框 176170"/>
            <p:cNvSpPr txBox="1"/>
            <p:nvPr/>
          </p:nvSpPr>
          <p:spPr>
            <a:xfrm>
              <a:off x="5134" y="5402"/>
              <a:ext cx="32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U4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3" name="文本框 176171"/>
            <p:cNvSpPr txBox="1"/>
            <p:nvPr/>
          </p:nvSpPr>
          <p:spPr>
            <a:xfrm>
              <a:off x="5074" y="6434"/>
              <a:ext cx="550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and4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4" name="直接连接符 176172"/>
            <p:cNvSpPr/>
            <p:nvPr/>
          </p:nvSpPr>
          <p:spPr>
            <a:xfrm>
              <a:off x="4024" y="5186"/>
              <a:ext cx="0" cy="7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5" name="直接连接符 176173"/>
            <p:cNvSpPr/>
            <p:nvPr/>
          </p:nvSpPr>
          <p:spPr>
            <a:xfrm>
              <a:off x="4024" y="5966"/>
              <a:ext cx="72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006" name="直接连接符 176174"/>
            <p:cNvSpPr/>
            <p:nvPr/>
          </p:nvSpPr>
          <p:spPr>
            <a:xfrm>
              <a:off x="4009" y="6413"/>
              <a:ext cx="72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007" name="直接连接符 176175"/>
            <p:cNvSpPr/>
            <p:nvPr/>
          </p:nvSpPr>
          <p:spPr>
            <a:xfrm flipV="1">
              <a:off x="4024" y="6746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8" name="直接连接符 176176"/>
            <p:cNvSpPr/>
            <p:nvPr/>
          </p:nvSpPr>
          <p:spPr>
            <a:xfrm>
              <a:off x="4024" y="6746"/>
              <a:ext cx="72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009" name="直接连接符 176177"/>
            <p:cNvSpPr/>
            <p:nvPr/>
          </p:nvSpPr>
          <p:spPr>
            <a:xfrm>
              <a:off x="4024" y="7343"/>
              <a:ext cx="72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010" name="直接连接符 176178"/>
            <p:cNvSpPr/>
            <p:nvPr/>
          </p:nvSpPr>
          <p:spPr>
            <a:xfrm>
              <a:off x="4024" y="6203"/>
              <a:ext cx="1" cy="21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11" name="直接连接符 176179"/>
            <p:cNvSpPr/>
            <p:nvPr/>
          </p:nvSpPr>
          <p:spPr>
            <a:xfrm flipV="1">
              <a:off x="4024" y="7355"/>
              <a:ext cx="1" cy="83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12" name="直接连接符 176180"/>
            <p:cNvSpPr/>
            <p:nvPr/>
          </p:nvSpPr>
          <p:spPr>
            <a:xfrm>
              <a:off x="5869" y="6590"/>
              <a:ext cx="360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013" name="文本框 176181"/>
            <p:cNvSpPr txBox="1"/>
            <p:nvPr/>
          </p:nvSpPr>
          <p:spPr>
            <a:xfrm>
              <a:off x="6304" y="6434"/>
              <a:ext cx="607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equals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14" name="文本框 176182"/>
            <p:cNvSpPr txBox="1"/>
            <p:nvPr/>
          </p:nvSpPr>
          <p:spPr>
            <a:xfrm>
              <a:off x="4789" y="5825"/>
              <a:ext cx="26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15" name="文本框 176183"/>
            <p:cNvSpPr txBox="1"/>
            <p:nvPr/>
          </p:nvSpPr>
          <p:spPr>
            <a:xfrm>
              <a:off x="4804" y="6275"/>
              <a:ext cx="26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16" name="文本框 176184"/>
            <p:cNvSpPr txBox="1"/>
            <p:nvPr/>
          </p:nvSpPr>
          <p:spPr>
            <a:xfrm>
              <a:off x="4804" y="6620"/>
              <a:ext cx="26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17" name="文本框 176185"/>
            <p:cNvSpPr txBox="1"/>
            <p:nvPr/>
          </p:nvSpPr>
          <p:spPr>
            <a:xfrm>
              <a:off x="4819" y="7214"/>
              <a:ext cx="26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18" name="文本框 176186"/>
            <p:cNvSpPr txBox="1"/>
            <p:nvPr/>
          </p:nvSpPr>
          <p:spPr>
            <a:xfrm>
              <a:off x="5629" y="6464"/>
              <a:ext cx="26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 anchor="t" anchorCtr="0"/>
            <a:p>
              <a:pPr algn="just"/>
              <a:r>
                <a:rPr lang="en-US" altLang="zh-CN" sz="90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文本占位符 180225"/>
          <p:cNvSpPr>
            <a:spLocks noGrp="1"/>
          </p:cNvSpPr>
          <p:nvPr>
            <p:ph type="body" sz="half" idx="4294967295"/>
          </p:nvPr>
        </p:nvSpPr>
        <p:spPr>
          <a:xfrm>
            <a:off x="539750" y="1628775"/>
            <a:ext cx="7543800" cy="3733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Begin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U0: xnor2  port map (a(0),b(0),x(0));        --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元件例化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U1: xnor2  port map (a(1),b(1),x(1));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U2: xnor2  port map (a(2),b(2),x(2));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U3: xnor2  port map (a(3),b(3),x(3));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  U4: and4  port map (x(0),x(1),x(2),x(3),equals);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err="1">
                <a:latin typeface="楷体_GB2312" pitchFamily="49" charset="-122"/>
                <a:ea typeface="楷体_GB2312" pitchFamily="49" charset="-122"/>
              </a:rPr>
              <a:t>End struct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0" name="矩形 180226"/>
          <p:cNvSpPr/>
          <p:nvPr/>
        </p:nvSpPr>
        <p:spPr>
          <a:xfrm>
            <a:off x="395605" y="548640"/>
            <a:ext cx="2388235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结构描述</a:t>
            </a:r>
            <a:endParaRPr lang="zh-CN" altLang="en-US" sz="2800" b="1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80" name="矩形 178179"/>
          <p:cNvSpPr/>
          <p:nvPr/>
        </p:nvSpPr>
        <p:spPr>
          <a:xfrm>
            <a:off x="323850" y="1557020"/>
            <a:ext cx="8514080" cy="32086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4-6</a:t>
            </a:r>
            <a:endParaRPr lang="en-US" altLang="zh-CN" sz="24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Architecture dataflow of eqcomp4 is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 Begin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Equals&lt;=’1’ when (a=b) else ‘0’; 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并行信号赋值语句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Tx/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End dataflow;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2577" name="图片 26627" descr="2-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54150" y="1820863"/>
            <a:ext cx="6234113" cy="3771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1553" name="文本框 2"/>
          <p:cNvSpPr txBox="1"/>
          <p:nvPr>
            <p:custDataLst>
              <p:tags r:id="rId3"/>
            </p:custDataLst>
          </p:nvPr>
        </p:nvSpPr>
        <p:spPr>
          <a:xfrm>
            <a:off x="467043" y="188595"/>
            <a:ext cx="7566025" cy="21431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分别用三种描述方式设计下图的</a:t>
            </a:r>
            <a:r>
              <a:rPr lang="en-US" altLang="zh-CN" sz="2600" dirty="0">
                <a:latin typeface="Arial" panose="020B0604020202020204" pitchFamily="34" charset="0"/>
                <a:ea typeface="宋体" panose="02010600030101010101" pitchFamily="2" charset="-122"/>
              </a:rPr>
              <a:t>AND_OR</a:t>
            </a:r>
            <a:r>
              <a:rPr lang="zh-CN" altLang="en-US" sz="2600" dirty="0">
                <a:latin typeface="Arial" panose="020B0604020202020204" pitchFamily="34" charset="0"/>
                <a:ea typeface="宋体" panose="02010600030101010101" pitchFamily="2" charset="-122"/>
              </a:rPr>
              <a:t>的结构体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1" name="文本框 1"/>
          <p:cNvSpPr txBox="1"/>
          <p:nvPr/>
        </p:nvSpPr>
        <p:spPr>
          <a:xfrm>
            <a:off x="288925" y="1697038"/>
            <a:ext cx="8566150" cy="1938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entity AND_OR 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Port ( INP : in  STD_LOGIC_VECTOR (3 downto 0);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        Z : out  STD_LOGIC);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AND_OR;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02" name="文本占位符 44034"/>
          <p:cNvSpPr>
            <a:spLocks noGrp="1"/>
          </p:cNvSpPr>
          <p:nvPr>
            <p:ph idx="1"/>
          </p:nvPr>
        </p:nvSpPr>
        <p:spPr>
          <a:xfrm>
            <a:off x="571183" y="620395"/>
            <a:ext cx="8001000" cy="655638"/>
          </a:xfrm>
        </p:spPr>
        <p:txBody>
          <a:bodyPr anchor="t" anchorCtr="0"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AND_OR</a:t>
            </a:r>
            <a:r>
              <a:rPr lang="zh-CN" altLang="en-US" dirty="0"/>
              <a:t>的实体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11505" y="1196975"/>
            <a:ext cx="764095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architecture Behavioral of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AND_OR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process(inp)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if(inp="0011" or inp="0111" or inp="1011" or inp="1100" or inp="1101" or inp="1110" or inp="1111") then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z&lt;='1';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else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z&lt;='0';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if;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process;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Behavioral;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352223" y="3932873"/>
            <a:ext cx="225694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r>
              <a:rPr lang="en-US" altLang="zh-CN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625" name="文本占位符 44034"/>
          <p:cNvSpPr>
            <a:spLocks noGrp="1"/>
          </p:cNvSpPr>
          <p:nvPr>
            <p:ph idx="1"/>
          </p:nvPr>
        </p:nvSpPr>
        <p:spPr>
          <a:xfrm>
            <a:off x="467360" y="404495"/>
            <a:ext cx="6000750" cy="800100"/>
          </a:xfrm>
        </p:spPr>
        <p:txBody>
          <a:bodyPr anchor="t" anchorCtr="0"/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 AND_OR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行为描述</a:t>
            </a:r>
            <a:r>
              <a:rPr lang="zh-CN" altLang="en-US" b="1" dirty="0"/>
              <a:t>代码</a:t>
            </a:r>
            <a:endParaRPr lang="zh-CN" altLang="en-US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5" name="文本占位符 44034"/>
          <p:cNvSpPr>
            <a:spLocks noGrp="1"/>
          </p:cNvSpPr>
          <p:nvPr>
            <p:ph idx="1"/>
          </p:nvPr>
        </p:nvSpPr>
        <p:spPr>
          <a:xfrm>
            <a:off x="467360" y="476885"/>
            <a:ext cx="6000750" cy="863600"/>
          </a:xfrm>
        </p:spPr>
        <p:txBody>
          <a:bodyPr anchor="t" anchorCtr="0"/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 AND_OR</a:t>
            </a:r>
            <a:r>
              <a:rPr lang="zh-CN" altLang="en-US" b="1" dirty="0"/>
              <a:t>的行为描述代码</a:t>
            </a:r>
            <a:endParaRPr lang="zh-CN" altLang="en-US" b="1" dirty="0"/>
          </a:p>
        </p:txBody>
      </p:sp>
      <p:sp>
        <p:nvSpPr>
          <p:cNvPr id="154626" name="文本框 1"/>
          <p:cNvSpPr txBox="1"/>
          <p:nvPr/>
        </p:nvSpPr>
        <p:spPr>
          <a:xfrm>
            <a:off x="683895" y="1484630"/>
            <a:ext cx="743458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architecture Behavioral of AND_OR 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 SIG1,SIG2:STD_LOGIC;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process(INP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(3),INP(2)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if(INP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(3)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and INP(2)=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) then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&lt;='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else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if;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process;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639878" y="2924493"/>
            <a:ext cx="225694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r>
              <a:rPr lang="en-US" altLang="zh-CN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文本框 1"/>
          <p:cNvSpPr txBox="1"/>
          <p:nvPr/>
        </p:nvSpPr>
        <p:spPr>
          <a:xfrm>
            <a:off x="323850" y="184150"/>
            <a:ext cx="7154545" cy="63696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process(INP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(1),INP(0)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if(INP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(1)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 INP(0)=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') then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end if;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end process;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process(</a:t>
            </a:r>
            <a:r>
              <a:rPr 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SIG1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,SIG2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if(</a:t>
            </a:r>
            <a:r>
              <a:rPr 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 SIG2=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') then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Z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Z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&lt;='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';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end if;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end process;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Behavioral;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300153" y="3068638"/>
            <a:ext cx="225694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行为描述</a:t>
            </a:r>
            <a:r>
              <a:rPr lang="en-US" altLang="zh-CN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49" name="文本占位符 46082"/>
          <p:cNvSpPr>
            <a:spLocks noGrp="1"/>
          </p:cNvSpPr>
          <p:nvPr>
            <p:ph idx="1"/>
          </p:nvPr>
        </p:nvSpPr>
        <p:spPr>
          <a:xfrm>
            <a:off x="467360" y="404178"/>
            <a:ext cx="8001000" cy="712787"/>
          </a:xfrm>
        </p:spPr>
        <p:txBody>
          <a:bodyPr anchor="t" anchorCtr="0"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AND_OR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数据流描述</a:t>
            </a:r>
            <a:r>
              <a:rPr lang="zh-CN" altLang="en-US" dirty="0"/>
              <a:t>代码</a:t>
            </a:r>
            <a:endParaRPr lang="zh-CN" altLang="en-US" dirty="0"/>
          </a:p>
        </p:txBody>
      </p:sp>
      <p:sp>
        <p:nvSpPr>
          <p:cNvPr id="155650" name="文本框 1"/>
          <p:cNvSpPr txBox="1"/>
          <p:nvPr/>
        </p:nvSpPr>
        <p:spPr>
          <a:xfrm>
            <a:off x="384175" y="1700530"/>
            <a:ext cx="856615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architecture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dataflow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of AND_OR 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signal SIG1,SIG2:STD_LOGIC;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SIG1&lt;=INP(3) and INP(2);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SIG2&lt;=INP(1) and INP(0);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Z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&lt;=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SIG1 or SIG2;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dataflow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3" name="文本占位符 50178"/>
          <p:cNvSpPr>
            <a:spLocks noGrp="1"/>
          </p:cNvSpPr>
          <p:nvPr>
            <p:ph idx="1"/>
          </p:nvPr>
        </p:nvSpPr>
        <p:spPr>
          <a:xfrm>
            <a:off x="571500" y="201613"/>
            <a:ext cx="8001000" cy="698500"/>
          </a:xfrm>
        </p:spPr>
        <p:txBody>
          <a:bodyPr anchor="t" anchorCtr="0"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AND_OR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结构描述</a:t>
            </a:r>
            <a:r>
              <a:rPr lang="zh-CN" altLang="en-US" dirty="0"/>
              <a:t>代码</a:t>
            </a:r>
            <a:endParaRPr lang="zh-CN" altLang="en-US" dirty="0"/>
          </a:p>
        </p:txBody>
      </p:sp>
      <p:sp>
        <p:nvSpPr>
          <p:cNvPr id="156674" name="文本框 1"/>
          <p:cNvSpPr txBox="1"/>
          <p:nvPr/>
        </p:nvSpPr>
        <p:spPr>
          <a:xfrm>
            <a:off x="149225" y="900113"/>
            <a:ext cx="934085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architecture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structure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of AND_OR 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component 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MY_AND2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port(a,b:in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c:out std_logic);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component 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MY_OR2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port(a,b:in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c:out std_logic);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signal SIG1,SIG2:STD_LOGIC;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U0:MY_AND2 port map(a=&gt;INP(0),b=&gt;INP(1),c=&gt;SIG1);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U1:MY_AND2 port map(a=&gt;INP(2),b=&gt;INP(3),c=&gt;SIG2);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U2:MY_OR2 port map(a=&gt;SIG1,b=&gt;SIG2,c=&gt;Z);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structure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03826" y="1772761"/>
            <a:ext cx="5159216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entity my_and2 is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    Port ( a : in  STD_LOGIC;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           b : in  STD_LOGIC;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           c : out  STD_LOGIC);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my_and2;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architecture rtl of my_and2 is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c&lt;=a and b;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rtl;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984" y="944880"/>
            <a:ext cx="330565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底层元件</a:t>
            </a:r>
            <a:r>
              <a:rPr lang="en-US" altLang="zh-CN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100" b="1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32071" y="1892141"/>
            <a:ext cx="4572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entity my_or2 is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    Port ( a : in  STD_LOGIC;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           b : in  STD_LOGIC;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           c : out  STD_LOGIC);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end my_or2;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architecture rtl of my_or2 is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c&lt;=a or b;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end rtl;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1224915"/>
            <a:ext cx="330565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底层元件</a:t>
            </a:r>
            <a:r>
              <a:rPr lang="en-US" altLang="zh-CN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100" b="1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1" name="矩形 165890"/>
          <p:cNvSpPr/>
          <p:nvPr/>
        </p:nvSpPr>
        <p:spPr>
          <a:xfrm>
            <a:off x="240030" y="2603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800" b="1" u="none" kern="1200" baseline="0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</a:lstStyle>
          <a:p>
            <a:pPr lvl="0" fontAlgn="base"/>
            <a:r>
              <a:rPr lang="en-US" altLang="zh-CN" sz="3600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4.1.4 </a:t>
            </a:r>
            <a:r>
              <a:rPr lang="zh-CN" altLang="en-US" sz="3600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lang="zh-CN" altLang="en-US" sz="3600" strike="noStrike" noProof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722" name="Rectangle 3"/>
          <p:cNvSpPr>
            <a:spLocks noGrp="1"/>
          </p:cNvSpPr>
          <p:nvPr/>
        </p:nvSpPr>
        <p:spPr>
          <a:xfrm>
            <a:off x="240030" y="1124585"/>
            <a:ext cx="8663305" cy="515747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配置文件的应用通常有两种情况：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6096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7DA0D3"/>
              </a:buClr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一个实体可有多种方案的结构体，但仿真和综合时要用</a:t>
            </a:r>
            <a:r>
              <a:rPr lang="en-US" altLang="zh-CN" sz="2400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configuration</a:t>
            </a:r>
            <a:r>
              <a:rPr lang="zh-CN" altLang="en-US" sz="2400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配置语句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选择一个结构体映射到硬件电路，即为实体选择、指定或者激活一个结构体。</a:t>
            </a:r>
            <a:r>
              <a:rPr lang="zh-CN" altLang="en-US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6096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7DA0D3"/>
              </a:buClr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一般层次化设计中通过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元件例化语句将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元件实例和设计实体绑定在一起，这些说明在块内创建。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如果没有指定的元件例化绑定，那么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将在其延后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进行仿真时，使用元件配置语句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进行指定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宋体" panose="02010600030101010101" pitchFamily="2" charset="-122"/>
            </a:endParaRPr>
          </a:p>
          <a:p>
            <a:pPr indent="6096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7DA0D3"/>
              </a:buClr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配置不是所有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VHDL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代码必备的一部分，它不是从属单元，可以独立存在。通常在使用时都会将配置单独写入一个文件中。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endParaRPr lang="zh-CN" altLang="en-US" sz="2400" b="1" dirty="0"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文本占位符 166913"/>
          <p:cNvSpPr>
            <a:spLocks noGrp="1"/>
          </p:cNvSpPr>
          <p:nvPr>
            <p:ph idx="1"/>
          </p:nvPr>
        </p:nvSpPr>
        <p:spPr>
          <a:xfrm>
            <a:off x="685800" y="121285"/>
            <a:ext cx="7772400" cy="4476750"/>
          </a:xfrm>
        </p:spPr>
        <p:txBody>
          <a:bodyPr anchor="t"/>
          <a:p>
            <a:pPr marL="469900" marR="0" indent="-469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配置声明语句格式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configuration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配置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名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OF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实体名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IS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 for....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    configuration_declarative_part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   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     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block_configuration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   end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for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;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       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charset="-122"/>
                <a:cs typeface="+mn-cs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END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配置名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5576888" y="1632585"/>
            <a:ext cx="74613" cy="208915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159747" name="文本框 2"/>
          <p:cNvSpPr txBox="1"/>
          <p:nvPr/>
        </p:nvSpPr>
        <p:spPr>
          <a:xfrm>
            <a:off x="6157913" y="2467610"/>
            <a:ext cx="19415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配置语句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0769" name="标题 53249"/>
          <p:cNvSpPr>
            <a:spLocks noGrp="1"/>
          </p:cNvSpPr>
          <p:nvPr/>
        </p:nvSpPr>
        <p:spPr>
          <a:xfrm>
            <a:off x="251460" y="4509135"/>
            <a:ext cx="8528050" cy="21443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．实体名称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配置中的实体名称必须与实体声明中的实体名称一致。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．配置名称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配置名称是配置的标识。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69" name="标题 53249"/>
          <p:cNvSpPr>
            <a:spLocks noGrp="1"/>
          </p:cNvSpPr>
          <p:nvPr/>
        </p:nvSpPr>
        <p:spPr>
          <a:xfrm>
            <a:off x="179705" y="764540"/>
            <a:ext cx="8891270" cy="544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．配置语句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根据使用情况不同，配置语句有简有繁。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for  .......end for</a:t>
            </a:r>
            <a:endParaRPr lang="en-US" altLang="zh-CN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configuration_declarative_part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配置声明的声明部分，可包含：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语句、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attribute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说明、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group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声明。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block_configuration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配置声明中的块配置语句。具体见后面描述。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3" name="文本占位符 166913"/>
          <p:cNvSpPr>
            <a:spLocks noGrp="1"/>
          </p:cNvSpPr>
          <p:nvPr>
            <p:ph idx="1"/>
          </p:nvPr>
        </p:nvSpPr>
        <p:spPr>
          <a:xfrm>
            <a:off x="685800" y="908685"/>
            <a:ext cx="7772400" cy="5303838"/>
          </a:xfrm>
        </p:spPr>
        <p:txBody>
          <a:bodyPr anchor="t" anchorCtr="0"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简单的配置语句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configuration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配置名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实体名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for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结构体名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配置项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end for;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配置名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2577" name="图片 26627" descr="2-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136" y="2852817"/>
            <a:ext cx="4675585" cy="2828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4" name="内容占位符 19763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974090" y="1268730"/>
            <a:ext cx="6685915" cy="794385"/>
          </a:xfrm>
        </p:spPr>
        <p:txBody>
          <a:bodyPr anchor="t" anchorCtr="0"/>
          <a:p>
            <a:pPr marL="0" indent="0">
              <a:lnSpc>
                <a:spcPct val="140000"/>
              </a:lnSpc>
              <a:buNone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思考：在结构描述中，编写配置文件，使得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U0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U1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分别使用行为描述的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my_and2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，数据流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描述的</a:t>
            </a: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my_and2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80499" y="1196658"/>
            <a:ext cx="195310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顶层元件</a:t>
            </a:r>
            <a:endParaRPr lang="zh-CN" altLang="en-US" sz="2100" b="1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01" name="文本框 1"/>
          <p:cNvSpPr txBox="1"/>
          <p:nvPr/>
        </p:nvSpPr>
        <p:spPr>
          <a:xfrm>
            <a:off x="251460" y="1988503"/>
            <a:ext cx="8566150" cy="1938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entity AND_OR 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Port ( INP : in  STD_LOGIC_VECTOR (3 downto 0);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        Z : out  STD_LOGIC);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AND_OR;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95605" y="1196975"/>
            <a:ext cx="723138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architecture structure of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AND_OR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component my_and2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port(a,b:in 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c:out std_logic);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component my_or2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port(a,b:in 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c:out std_logic);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u0:my_and2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 entity work.my_and2(rtl);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u1:my_and2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 entity work.my_and2(Behavioral);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signal SIG1,SIG2:STD_LOGIC;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047899" y="3115628"/>
            <a:ext cx="225694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结构体描述之前说明配置</a:t>
            </a:r>
            <a:endParaRPr lang="zh-CN" altLang="en-US" sz="2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1550" y="476885"/>
            <a:ext cx="4914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第一种配置方式</a:t>
            </a:r>
            <a:endParaRPr lang="zh-CN" altLang="en-US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7360" y="1628775"/>
            <a:ext cx="77863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U0:my_and2 port map(a=&gt;INP(0),b=&gt;INP(1),c=&gt;SIG1);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U1:my_and2 port map(a=&gt;INP(2),b=&gt;INP(3),c=&gt;SIG2);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U2:my_or2 port map(a=&gt;SIG1,b=&gt;SIG2,c=&gt;Z);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structure;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7360" y="1484630"/>
            <a:ext cx="723138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architecture structure of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AND_OR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is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component my_and2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port(a,b:in 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c:out std_logic);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component my_or2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port(a,b:in 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c:out std_logic);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component;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signal SIG1,SIG2:STD_LOGIC;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047899" y="3115628"/>
            <a:ext cx="225694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结构体描述之后说明配置</a:t>
            </a:r>
            <a:endParaRPr lang="zh-CN" altLang="en-US" sz="2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260" y="692785"/>
            <a:ext cx="4914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第二种配置方式</a:t>
            </a:r>
            <a:endParaRPr lang="zh-CN" altLang="en-US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3260" y="332740"/>
            <a:ext cx="7814945" cy="6369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U0:my_and2 port map(a=&gt;INP(0),b=&gt;INP(1),c=&gt;SIG1);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U1:my_and2 port map(a=&gt;INP(2),b=&gt;INP(3),c=&gt;SIG2);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U2:my_or2 port map(a=&gt;SIG1,b=&gt;SIG2,c=&gt;Z);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structure;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configuration conf of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AND_OR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is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structure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u0:my_and2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 entity work.my_and2(rtl);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end for;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u1:my_and2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use entity work.my_and2(Behavioral);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end for;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end for;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end conf;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93006" y="1271111"/>
            <a:ext cx="5159216" cy="752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entity my_and2 is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    Port ( a : in  STD_LOGIC;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           b : in  STD_LOGIC;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           c : out  STD_LOGIC);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my_and2;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architecture Behavioral of my_and2 is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process(a,b)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if(a='1' and b='1') then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c&lt;='1';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else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c&lt;='0';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if;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process;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Behavioral;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architecture rtl of my_and2 is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c&lt;=a and b;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end rtl;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984" y="944880"/>
            <a:ext cx="330565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底层元件</a:t>
            </a:r>
            <a:r>
              <a:rPr lang="en-US" altLang="zh-CN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100" b="1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32071" y="1892141"/>
            <a:ext cx="457200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entity my_or2 is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    Port ( a : in  STD_LOGIC;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           b : in  STD_LOGIC;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           c : out  STD_LOGIC);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end my_or2;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architecture rtl of my_or2 is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c&lt;=a or b;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end rtl;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00" y="1224915"/>
            <a:ext cx="330565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底层元件</a:t>
            </a:r>
            <a:r>
              <a:rPr lang="en-US" altLang="zh-CN" sz="2100" b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100" b="1">
              <a:solidFill>
                <a:srgbClr val="FF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文本框 249857"/>
          <p:cNvSpPr txBox="1"/>
          <p:nvPr/>
        </p:nvSpPr>
        <p:spPr>
          <a:xfrm>
            <a:off x="899795" y="404495"/>
            <a:ext cx="7086600" cy="460375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小结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859" name="流程图: 可选过程 249858"/>
          <p:cNvSpPr/>
          <p:nvPr/>
        </p:nvSpPr>
        <p:spPr>
          <a:xfrm>
            <a:off x="4114800" y="1679575"/>
            <a:ext cx="863600" cy="433388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数据类型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0" name="流程图: 可选过程 249859"/>
          <p:cNvSpPr/>
          <p:nvPr/>
        </p:nvSpPr>
        <p:spPr>
          <a:xfrm>
            <a:off x="2916238" y="3716338"/>
            <a:ext cx="863600" cy="433387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信号赋值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1" name="流程图: 可选过程 249860"/>
          <p:cNvSpPr/>
          <p:nvPr/>
        </p:nvSpPr>
        <p:spPr>
          <a:xfrm>
            <a:off x="6032500" y="5013325"/>
            <a:ext cx="844550" cy="360363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属性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2" name="流程图: 可选过程 249861"/>
          <p:cNvSpPr/>
          <p:nvPr/>
        </p:nvSpPr>
        <p:spPr>
          <a:xfrm>
            <a:off x="323850" y="1196975"/>
            <a:ext cx="1295400" cy="503238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库和程序包</a:t>
            </a:r>
            <a:endParaRPr lang="zh-CN" altLang="en-US" sz="20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49863" name="流程图: 可选过程 249862"/>
          <p:cNvSpPr/>
          <p:nvPr/>
        </p:nvSpPr>
        <p:spPr>
          <a:xfrm>
            <a:off x="323850" y="1989138"/>
            <a:ext cx="1223963" cy="503237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实体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9864" name="流程图: 可选过程 249863"/>
          <p:cNvSpPr/>
          <p:nvPr/>
        </p:nvSpPr>
        <p:spPr>
          <a:xfrm>
            <a:off x="395288" y="3357563"/>
            <a:ext cx="1152525" cy="431800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2000" dirty="0">
                <a:latin typeface="隶书" panose="02010509060101010101" pitchFamily="49" charset="-122"/>
                <a:ea typeface="隶书" panose="02010509060101010101" pitchFamily="49" charset="-122"/>
              </a:rPr>
              <a:t>结构体</a:t>
            </a:r>
            <a:endParaRPr lang="zh-CN" altLang="en-US" sz="20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49865" name="流程图: 可选过程 249864"/>
          <p:cNvSpPr/>
          <p:nvPr/>
        </p:nvSpPr>
        <p:spPr>
          <a:xfrm>
            <a:off x="1692275" y="1700213"/>
            <a:ext cx="1081088" cy="433387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端口定义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6" name="流程图: 可选过程 249865"/>
          <p:cNvSpPr/>
          <p:nvPr/>
        </p:nvSpPr>
        <p:spPr>
          <a:xfrm>
            <a:off x="2962275" y="1692275"/>
            <a:ext cx="936625" cy="431800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端口模式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7" name="流程图: 可选过程 249866"/>
          <p:cNvSpPr/>
          <p:nvPr/>
        </p:nvSpPr>
        <p:spPr>
          <a:xfrm>
            <a:off x="7019925" y="5445125"/>
            <a:ext cx="1152525" cy="358775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逻辑操作符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8" name="流程图: 可选过程 249867"/>
          <p:cNvSpPr/>
          <p:nvPr/>
        </p:nvSpPr>
        <p:spPr>
          <a:xfrm>
            <a:off x="5003800" y="5013325"/>
            <a:ext cx="863600" cy="287338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3366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IF</a:t>
            </a:r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语句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69" name="流程图: 可选过程 249868"/>
          <p:cNvSpPr/>
          <p:nvPr/>
        </p:nvSpPr>
        <p:spPr>
          <a:xfrm>
            <a:off x="3924300" y="4365625"/>
            <a:ext cx="936625" cy="431800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3366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变量对象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0" name="流程图: 可选过程 249869"/>
          <p:cNvSpPr/>
          <p:nvPr/>
        </p:nvSpPr>
        <p:spPr>
          <a:xfrm>
            <a:off x="2916238" y="4581525"/>
            <a:ext cx="879475" cy="431800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3366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进程语句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1" name="流程图: 可选过程 249870"/>
          <p:cNvSpPr/>
          <p:nvPr/>
        </p:nvSpPr>
        <p:spPr>
          <a:xfrm>
            <a:off x="3924300" y="4941888"/>
            <a:ext cx="936625" cy="431800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顺序语句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2" name="流程图: 可选过程 249871"/>
          <p:cNvSpPr/>
          <p:nvPr/>
        </p:nvSpPr>
        <p:spPr>
          <a:xfrm>
            <a:off x="1619250" y="3932238"/>
            <a:ext cx="1081088" cy="433387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并行语句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3" name="流程图: 可选过程 249872"/>
          <p:cNvSpPr/>
          <p:nvPr/>
        </p:nvSpPr>
        <p:spPr>
          <a:xfrm>
            <a:off x="1619250" y="2997200"/>
            <a:ext cx="1081088" cy="433388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说明部分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4" name="流程图: 可选过程 249873"/>
          <p:cNvSpPr/>
          <p:nvPr/>
        </p:nvSpPr>
        <p:spPr>
          <a:xfrm>
            <a:off x="4067175" y="2997200"/>
            <a:ext cx="865188" cy="433388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元件说明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5" name="流程图: 可选过程 249874"/>
          <p:cNvSpPr/>
          <p:nvPr/>
        </p:nvSpPr>
        <p:spPr>
          <a:xfrm>
            <a:off x="2916238" y="5373688"/>
            <a:ext cx="863600" cy="360362"/>
          </a:xfrm>
          <a:prstGeom prst="flowChartAlternateProcess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元件例化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6" name="流程图: 可选过程 249875"/>
          <p:cNvSpPr/>
          <p:nvPr/>
        </p:nvSpPr>
        <p:spPr>
          <a:xfrm>
            <a:off x="2916238" y="2997200"/>
            <a:ext cx="936625" cy="433388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3366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信号对象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7" name="流程图: 可选过程 249876"/>
          <p:cNvSpPr/>
          <p:nvPr/>
        </p:nvSpPr>
        <p:spPr>
          <a:xfrm>
            <a:off x="1692275" y="2349500"/>
            <a:ext cx="1081088" cy="433388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类属定义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8" name="流程图: 可选过程 249877"/>
          <p:cNvSpPr/>
          <p:nvPr/>
        </p:nvSpPr>
        <p:spPr>
          <a:xfrm>
            <a:off x="5003800" y="5446713"/>
            <a:ext cx="936625" cy="287337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en-US" altLang="zh-CN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CASE</a:t>
            </a:r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语句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79" name="流程图: 可选过程 249878"/>
          <p:cNvSpPr/>
          <p:nvPr/>
        </p:nvSpPr>
        <p:spPr>
          <a:xfrm>
            <a:off x="7019925" y="4797425"/>
            <a:ext cx="1152525" cy="360363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条件操作符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0" name="流程图: 可选过程 249879"/>
          <p:cNvSpPr/>
          <p:nvPr/>
        </p:nvSpPr>
        <p:spPr>
          <a:xfrm>
            <a:off x="395288" y="4941888"/>
            <a:ext cx="1152525" cy="431800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隶书" panose="02010509060101010101" pitchFamily="49" charset="-122"/>
              </a:rPr>
              <a:t>配置</a:t>
            </a:r>
            <a:endParaRPr lang="zh-CN" altLang="en-US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1" name="流程图: 可选过程 249880"/>
          <p:cNvSpPr/>
          <p:nvPr/>
        </p:nvSpPr>
        <p:spPr>
          <a:xfrm>
            <a:off x="3924300" y="3716338"/>
            <a:ext cx="1295400" cy="433387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条件信号赋值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2" name="流程图: 可选过程 249881"/>
          <p:cNvSpPr/>
          <p:nvPr/>
        </p:nvSpPr>
        <p:spPr>
          <a:xfrm>
            <a:off x="7019925" y="2205038"/>
            <a:ext cx="844550" cy="360362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数字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3" name="流程图: 可选过程 249882"/>
          <p:cNvSpPr/>
          <p:nvPr/>
        </p:nvSpPr>
        <p:spPr>
          <a:xfrm>
            <a:off x="6011863" y="2205038"/>
            <a:ext cx="844550" cy="360362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文字规则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4" name="流程图: 可选过程 249883"/>
          <p:cNvSpPr/>
          <p:nvPr/>
        </p:nvSpPr>
        <p:spPr>
          <a:xfrm>
            <a:off x="7164388" y="4076700"/>
            <a:ext cx="844550" cy="360363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运算符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5" name="流程图: 可选过程 249884"/>
          <p:cNvSpPr/>
          <p:nvPr/>
        </p:nvSpPr>
        <p:spPr>
          <a:xfrm>
            <a:off x="2987675" y="1196975"/>
            <a:ext cx="1079500" cy="360363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运算符重载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9886" name="流程图: 可选过程 249885"/>
          <p:cNvSpPr/>
          <p:nvPr/>
        </p:nvSpPr>
        <p:spPr>
          <a:xfrm>
            <a:off x="1763713" y="1125538"/>
            <a:ext cx="863600" cy="433387"/>
          </a:xfrm>
          <a:prstGeom prst="flowChartAlternateProcess">
            <a:avLst/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 anchor="ctr" anchorCtr="0"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  <a:ea typeface="隶书" panose="02010509060101010101" pitchFamily="49" charset="-122"/>
              </a:rPr>
              <a:t>类型定义</a:t>
            </a:r>
            <a:endParaRPr lang="zh-CN" altLang="en-US" sz="1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4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4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4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4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4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4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4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24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24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24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24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24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500"/>
                                        <p:tgtEl>
                                          <p:spTgt spid="24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9" grpId="0" bldLvl="0" animBg="1"/>
      <p:bldP spid="249860" grpId="0" bldLvl="0" animBg="1"/>
      <p:bldP spid="249861" grpId="0" bldLvl="0" animBg="1"/>
      <p:bldP spid="249862" grpId="0" bldLvl="0" animBg="1"/>
      <p:bldP spid="249863" grpId="0" bldLvl="0" animBg="1"/>
      <p:bldP spid="249864" grpId="0" bldLvl="0" animBg="1"/>
      <p:bldP spid="249865" grpId="0" bldLvl="0" animBg="1"/>
      <p:bldP spid="249866" grpId="0" bldLvl="0" animBg="1"/>
      <p:bldP spid="249867" grpId="0" bldLvl="0" animBg="1"/>
      <p:bldP spid="249868" grpId="0" bldLvl="0" animBg="1"/>
      <p:bldP spid="249869" grpId="0" bldLvl="0" animBg="1"/>
      <p:bldP spid="249870" grpId="0" bldLvl="0" animBg="1"/>
      <p:bldP spid="249871" grpId="0" bldLvl="0" animBg="1"/>
      <p:bldP spid="249872" grpId="0" bldLvl="0" animBg="1"/>
      <p:bldP spid="249873" grpId="0" bldLvl="0" animBg="1"/>
      <p:bldP spid="249874" grpId="0" bldLvl="0" animBg="1"/>
      <p:bldP spid="249875" grpId="0" bldLvl="0" animBg="1"/>
      <p:bldP spid="249876" grpId="0" bldLvl="0" animBg="1"/>
      <p:bldP spid="249877" grpId="0" bldLvl="0" animBg="1"/>
      <p:bldP spid="249878" grpId="0" bldLvl="0" animBg="1"/>
      <p:bldP spid="249879" grpId="0" bldLvl="0" animBg="1"/>
      <p:bldP spid="249880" grpId="0" bldLvl="0" animBg="1"/>
      <p:bldP spid="249881" grpId="0" bldLvl="0" animBg="1"/>
      <p:bldP spid="249882" grpId="0" bldLvl="0" animBg="1"/>
      <p:bldP spid="249883" grpId="0" bldLvl="0" animBg="1"/>
      <p:bldP spid="249884" grpId="0" bldLvl="0" animBg="1"/>
      <p:bldP spid="249885" grpId="0" bldLvl="0" animBg="1"/>
      <p:bldP spid="249886" grpId="0" bldLvl="0" animBg="1"/>
    </p:bld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KSO_WM_UNIT_PLACING_PICTURE_USER_VIEWPORT" val="{&quot;height&quot;:5940,&quot;width&quot;:9817.4992125984245}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PLACING_PICTURE_USER_VIEWPORT" val="{&quot;height&quot;:5940,&quot;width&quot;:9817.4992125984245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MDRiNWM4ZTRkMzMxZWMzM2IxMDc5NzU0Njk3ODNlNzAifQ=="/>
  <p:tag name="KSO_WPP_MARK_KEY" val="5612570d-eab9-4d20-a755-8902472c2e8e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12772</Words>
  <Application>WPS 演示</Application>
  <PresentationFormat>全屏显示(4:3)</PresentationFormat>
  <Paragraphs>932</Paragraphs>
  <Slides>80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80</vt:i4>
      </vt:variant>
    </vt:vector>
  </HeadingPairs>
  <TitlesOfParts>
    <vt:vector size="109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微软雅黑</vt:lpstr>
      <vt:lpstr>Arial Narrow</vt:lpstr>
      <vt:lpstr>楷体</vt:lpstr>
      <vt:lpstr>楷体_GB2312</vt:lpstr>
      <vt:lpstr>新宋体</vt:lpstr>
      <vt:lpstr>Arial Unicode MS</vt:lpstr>
      <vt:lpstr>Calibri</vt:lpstr>
      <vt:lpstr>方正楷体_GB2312</vt:lpstr>
      <vt:lpstr>黑体</vt:lpstr>
      <vt:lpstr>Courier New</vt:lpstr>
      <vt:lpstr>Calibri</vt:lpstr>
      <vt:lpstr>Times New Roman</vt:lpstr>
      <vt:lpstr>Symbol</vt:lpstr>
      <vt:lpstr>Symbol</vt:lpstr>
      <vt:lpstr>Wingdings</vt:lpstr>
      <vt:lpstr>楷体_GB2312</vt:lpstr>
      <vt:lpstr>1_默认设计模板</vt:lpstr>
      <vt:lpstr>Equation.3</vt:lpstr>
      <vt:lpstr>Visio.Drawing.4</vt:lpstr>
      <vt:lpstr>Equation.3</vt:lpstr>
      <vt:lpstr>Visio.Drawing.4</vt:lpstr>
      <vt:lpstr>Visio.Drawing.4</vt:lpstr>
      <vt:lpstr>PowerPoint 演示文稿</vt:lpstr>
      <vt:lpstr>第4章 VHDL语言基础</vt:lpstr>
      <vt:lpstr>4.1 基本结构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库说明          存放已经编译的实体、结构体、程序包和配置，用于设计共享，是编程资源。    library &lt;库名&gt;；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　声明语句在构造体的关键字“begin”之前，可用于声明下列描述语句：  　　●  常量(constant)声明；     ●  类型(type)声明； 　　●  子类型(subtype)声明； 　　●  信号(signal)声明；     ●  元件(component)声明；     ●  子程序(subprogram)声明；     ●  “use”语句； 　　　　　</vt:lpstr>
      <vt:lpstr>PowerPoint 演示文稿</vt:lpstr>
      <vt:lpstr>PowerPoint 演示文稿</vt:lpstr>
      <vt:lpstr>PowerPoint 演示文稿</vt:lpstr>
      <vt:lpstr>　　结构体中的所有并发语句都是同时进行运算的，与语句的书写顺序没有任何关系。并发语句有五种类型：  　　● 块(block)语句； 　　● 进程(process)； 　　● 信号(signal)赋值。     ● 子程序调用；     ● 元件(component)例化； 　　 　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310</cp:revision>
  <dcterms:created xsi:type="dcterms:W3CDTF">2006-04-19T05:22:00Z</dcterms:created>
  <dcterms:modified xsi:type="dcterms:W3CDTF">2026-03-31T05:20:55Z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5697599ECCA24FEF9DCF7629C7543150</vt:lpwstr>
  </property>
</Properties>
</file>