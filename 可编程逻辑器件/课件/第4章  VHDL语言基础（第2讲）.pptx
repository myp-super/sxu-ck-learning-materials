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6"/>
  </p:notesMasterIdLst>
  <p:sldIdLst>
    <p:sldId id="387" r:id="rId3"/>
    <p:sldId id="448" r:id="rId4"/>
    <p:sldId id="449" r:id="rId5"/>
    <p:sldId id="450" r:id="rId6"/>
    <p:sldId id="451" r:id="rId7"/>
    <p:sldId id="452" r:id="rId8"/>
    <p:sldId id="453" r:id="rId9"/>
    <p:sldId id="454" r:id="rId10"/>
    <p:sldId id="455" r:id="rId11"/>
    <p:sldId id="457" r:id="rId12"/>
    <p:sldId id="462" r:id="rId13"/>
    <p:sldId id="463" r:id="rId14"/>
    <p:sldId id="464" r:id="rId15"/>
    <p:sldId id="466" r:id="rId16"/>
    <p:sldId id="467" r:id="rId17"/>
    <p:sldId id="468" r:id="rId18"/>
    <p:sldId id="469" r:id="rId19"/>
    <p:sldId id="470" r:id="rId20"/>
    <p:sldId id="471" r:id="rId21"/>
    <p:sldId id="472" r:id="rId22"/>
    <p:sldId id="473" r:id="rId23"/>
    <p:sldId id="474" r:id="rId24"/>
    <p:sldId id="475" r:id="rId25"/>
    <p:sldId id="476" r:id="rId26"/>
    <p:sldId id="477" r:id="rId27"/>
    <p:sldId id="1060" r:id="rId28"/>
    <p:sldId id="478" r:id="rId29"/>
    <p:sldId id="479" r:id="rId30"/>
    <p:sldId id="480" r:id="rId31"/>
    <p:sldId id="481" r:id="rId32"/>
    <p:sldId id="487" r:id="rId33"/>
    <p:sldId id="488" r:id="rId34"/>
    <p:sldId id="491" r:id="rId35"/>
    <p:sldId id="492" r:id="rId36"/>
    <p:sldId id="1010" r:id="rId37"/>
    <p:sldId id="494" r:id="rId38"/>
    <p:sldId id="495" r:id="rId39"/>
    <p:sldId id="496" r:id="rId40"/>
    <p:sldId id="497" r:id="rId41"/>
    <p:sldId id="1012" r:id="rId42"/>
    <p:sldId id="1013" r:id="rId43"/>
    <p:sldId id="1014" r:id="rId44"/>
    <p:sldId id="498" r:id="rId45"/>
    <p:sldId id="503" r:id="rId46"/>
    <p:sldId id="1015" r:id="rId47"/>
    <p:sldId id="505" r:id="rId48"/>
    <p:sldId id="506" r:id="rId49"/>
    <p:sldId id="507" r:id="rId50"/>
    <p:sldId id="508" r:id="rId51"/>
    <p:sldId id="509" r:id="rId52"/>
    <p:sldId id="510" r:id="rId53"/>
    <p:sldId id="511" r:id="rId54"/>
    <p:sldId id="512" r:id="rId55"/>
    <p:sldId id="514" r:id="rId56"/>
    <p:sldId id="515" r:id="rId57"/>
    <p:sldId id="516" r:id="rId58"/>
    <p:sldId id="517" r:id="rId59"/>
    <p:sldId id="518" r:id="rId60"/>
    <p:sldId id="519" r:id="rId61"/>
    <p:sldId id="520" r:id="rId62"/>
    <p:sldId id="521" r:id="rId63"/>
    <p:sldId id="522" r:id="rId64"/>
    <p:sldId id="523" r:id="rId65"/>
    <p:sldId id="524" r:id="rId66"/>
    <p:sldId id="525" r:id="rId67"/>
    <p:sldId id="526" r:id="rId68"/>
    <p:sldId id="527" r:id="rId69"/>
    <p:sldId id="528" r:id="rId70"/>
    <p:sldId id="531" r:id="rId71"/>
    <p:sldId id="532" r:id="rId72"/>
    <p:sldId id="535" r:id="rId73"/>
    <p:sldId id="536" r:id="rId74"/>
    <p:sldId id="537" r:id="rId75"/>
    <p:sldId id="538" r:id="rId76"/>
    <p:sldId id="539" r:id="rId77"/>
    <p:sldId id="541" r:id="rId78"/>
    <p:sldId id="542" r:id="rId79"/>
    <p:sldId id="548" r:id="rId80"/>
    <p:sldId id="549" r:id="rId81"/>
    <p:sldId id="550" r:id="rId82"/>
    <p:sldId id="551" r:id="rId83"/>
    <p:sldId id="552" r:id="rId84"/>
    <p:sldId id="553" r:id="rId85"/>
  </p:sldIdLst>
  <p:sldSz cx="9144000" cy="6858000" type="screen4x3"/>
  <p:notesSz cx="6858000" cy="9144000"/>
  <p:custDataLst>
    <p:tags r:id="rId9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" initials="m" lastIdx="1" clrIdx="0"/>
  <p:cmAuthor id="2" name="Administrator" initials="A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9"/>
    <p:restoredTop sz="94655"/>
  </p:normalViewPr>
  <p:slideViewPr>
    <p:cSldViewPr showGuides="1">
      <p:cViewPr varScale="1">
        <p:scale>
          <a:sx n="45" d="100"/>
          <a:sy n="45" d="100"/>
        </p:scale>
        <p:origin x="970" y="34"/>
      </p:cViewPr>
      <p:guideLst>
        <p:guide orient="horz" pos="2160"/>
        <p:guide pos="27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1" Type="http://schemas.openxmlformats.org/officeDocument/2006/relationships/tags" Target="tags/tag1.xml"/><Relationship Id="rId90" Type="http://schemas.openxmlformats.org/officeDocument/2006/relationships/commentAuthors" Target="commentAuthors.xml"/><Relationship Id="rId9" Type="http://schemas.openxmlformats.org/officeDocument/2006/relationships/slide" Target="slides/slide7.xml"/><Relationship Id="rId89" Type="http://schemas.openxmlformats.org/officeDocument/2006/relationships/tableStyles" Target="tableStyles.xml"/><Relationship Id="rId88" Type="http://schemas.openxmlformats.org/officeDocument/2006/relationships/viewProps" Target="viewProps.xml"/><Relationship Id="rId87" Type="http://schemas.openxmlformats.org/officeDocument/2006/relationships/presProps" Target="presProps.xml"/><Relationship Id="rId86" Type="http://schemas.openxmlformats.org/officeDocument/2006/relationships/notesMaster" Target="notesMasters/notesMaster1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pattFill prst="ltHorz">
          <a:fgClr>
            <a:srgbClr val="E0E0E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fontAlgn="base"/>
            <a:endParaRPr lang="en-US" strike="noStrike" noProof="1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fontAlgn="base"/>
            <a:fld id="{B5BAE9EB-4175-4107-BAE7-3DF64F6C22AB}" type="slidenum">
              <a:rPr lang="zh-CN" altLang="zh-CN" strike="noStrike" noProof="1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11188" y="1628775"/>
            <a:ext cx="8001000" cy="4267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2.bin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3.bin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4.bin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矩形 181249"/>
          <p:cNvSpPr>
            <a:spLocks noRot="1"/>
          </p:cNvSpPr>
          <p:nvPr/>
        </p:nvSpPr>
        <p:spPr>
          <a:xfrm>
            <a:off x="1257300" y="1731963"/>
            <a:ext cx="6811963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zh-CN" sz="5100" dirty="0">
                <a:solidFill>
                  <a:srgbClr val="7C020E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可编程逻辑器件</a:t>
            </a:r>
            <a:r>
              <a:rPr lang="zh-CN" altLang="en-US" sz="5100" dirty="0">
                <a:solidFill>
                  <a:srgbClr val="FB051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</a:t>
            </a:r>
            <a:endParaRPr lang="zh-CN" altLang="en-US" sz="5100">
              <a:solidFill>
                <a:srgbClr val="FB051C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170" name="文本框 181250"/>
          <p:cNvSpPr txBox="1"/>
          <p:nvPr/>
        </p:nvSpPr>
        <p:spPr>
          <a:xfrm>
            <a:off x="1835150" y="3429000"/>
            <a:ext cx="5257800" cy="1322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山西大学</a:t>
            </a:r>
            <a:endParaRPr lang="zh-CN" altLang="en-US" sz="3200" dirty="0"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白婷婷</a:t>
            </a:r>
            <a:endParaRPr lang="zh-CN" altLang="en-US" sz="3200" dirty="0"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pic>
        <p:nvPicPr>
          <p:cNvPr id="717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9825" y="0"/>
            <a:ext cx="2619375" cy="1038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510665" y="1350645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6913" name="标题 182273"/>
          <p:cNvSpPr>
            <a:spLocks noGrp="1"/>
          </p:cNvSpPr>
          <p:nvPr>
            <p:ph type="title"/>
          </p:nvPr>
        </p:nvSpPr>
        <p:spPr>
          <a:xfrm>
            <a:off x="538798" y="1052513"/>
            <a:ext cx="8229600" cy="666750"/>
          </a:xfrm>
          <a:noFill/>
          <a:ln>
            <a:noFill/>
          </a:ln>
        </p:spPr>
        <p:txBody>
          <a:bodyPr anchor="t" anchorCtr="0"/>
          <a:p>
            <a:r>
              <a:rPr lang="en-US" altLang="zh-CN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4.2 VHDL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语言要素</a:t>
            </a:r>
            <a:endParaRPr lang="zh-CN" altLang="en-US" sz="4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914" name="文本占位符 182274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pPr>
              <a:lnSpc>
                <a:spcPct val="135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文字规则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数据对象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数据类型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运算符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属性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937" name="矩形 183298"/>
          <p:cNvSpPr/>
          <p:nvPr/>
        </p:nvSpPr>
        <p:spPr>
          <a:xfrm>
            <a:off x="468313" y="47625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4.2.1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文字规则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938" name="文本占位符 2"/>
          <p:cNvSpPr>
            <a:spLocks noGrp="1"/>
          </p:cNvSpPr>
          <p:nvPr>
            <p:ph idx="1"/>
          </p:nvPr>
        </p:nvSpPr>
        <p:spPr>
          <a:xfrm>
            <a:off x="755650" y="2277110"/>
            <a:ext cx="8001000" cy="4278630"/>
          </a:xfrm>
        </p:spPr>
        <p:txBody>
          <a:bodyPr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字符集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标识符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数值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字符和字符串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下标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注释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939" name="文本框 4"/>
          <p:cNvSpPr txBox="1"/>
          <p:nvPr/>
        </p:nvSpPr>
        <p:spPr>
          <a:xfrm>
            <a:off x="409575" y="995363"/>
            <a:ext cx="873442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文字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包括标识符（可能是保留字）、数值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抽象文字、字符串文字、比特字符串文字或者注释。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8961" name="文本占位符 184322"/>
          <p:cNvSpPr>
            <a:spLocks noGrp="1"/>
          </p:cNvSpPr>
          <p:nvPr>
            <p:ph idx="1"/>
          </p:nvPr>
        </p:nvSpPr>
        <p:spPr>
          <a:xfrm>
            <a:off x="609600" y="1295400"/>
            <a:ext cx="8001000" cy="885825"/>
          </a:xfrm>
        </p:spPr>
        <p:txBody>
          <a:bodyPr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字符集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962" name="文本框 184323"/>
          <p:cNvSpPr txBox="1"/>
          <p:nvPr/>
        </p:nvSpPr>
        <p:spPr>
          <a:xfrm>
            <a:off x="1143000" y="2819400"/>
            <a:ext cx="5334000" cy="366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8963" name="Rectangle 3"/>
          <p:cNvSpPr>
            <a:spLocks noGrp="1"/>
          </p:cNvSpPr>
          <p:nvPr/>
        </p:nvSpPr>
        <p:spPr>
          <a:xfrm>
            <a:off x="609600" y="2073275"/>
            <a:ext cx="7708900" cy="271145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zh-CN" altLang="en-US" sz="2800" b="1" dirty="0">
                <a:solidFill>
                  <a:srgbClr val="2163B4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VHDL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的设计中，一个完整的设计由一个或者多个设计文件构成。一个设计文件的正文由一系列词法要素构成。每个语法要素又是由文本构成。下面给出构成的规则。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3"/>
          <p:cNvSpPr>
            <a:spLocks noGrp="1" noChangeArrowheads="1"/>
          </p:cNvSpPr>
          <p:nvPr/>
        </p:nvSpPr>
        <p:spPr>
          <a:xfrm>
            <a:off x="165100" y="1341438"/>
            <a:ext cx="9131300" cy="30686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65AAE9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indent="0" eaLnBrk="1" fontAlgn="base" hangingPunct="1">
              <a:lnSpc>
                <a:spcPct val="150000"/>
              </a:lnSpc>
              <a:buNone/>
              <a:defRPr/>
            </a:pPr>
            <a:r>
              <a:rPr lang="zh-CN" altLang="en-US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在一个</a:t>
            </a:r>
            <a:r>
              <a:rPr lang="en-US" altLang="zh-CN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VHDL</a:t>
            </a:r>
            <a:r>
              <a:rPr lang="zh-CN" altLang="en-US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描述的正文中，允许的字符包括</a:t>
            </a:r>
            <a:r>
              <a:rPr lang="zh-CN" altLang="en-US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endParaRPr lang="en-US" altLang="zh-CN" sz="2400" b="1" strike="noStrike" noProof="1" dirty="0" smtClean="0">
              <a:solidFill>
                <a:schemeClr val="tx1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图形</a:t>
            </a:r>
            <a:r>
              <a:rPr lang="zh-CN" altLang="en-US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（显示）</a:t>
            </a:r>
            <a:r>
              <a:rPr lang="zh-CN" altLang="en-US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字符</a:t>
            </a:r>
            <a:endParaRPr lang="en-US" altLang="zh-CN" sz="2400" b="1" strike="noStrike" noProof="1" dirty="0" smtClean="0">
              <a:solidFill>
                <a:schemeClr val="tx1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格式控制字符</a:t>
            </a:r>
            <a:endParaRPr lang="en-US" altLang="zh-CN" sz="2400" b="1" strike="noStrike" noProof="1" dirty="0" smtClean="0">
              <a:solidFill>
                <a:schemeClr val="tx1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  <a:p>
            <a:pPr marL="0" indent="0" eaLnBrk="1" fontAlgn="base" hangingPunct="1">
              <a:lnSpc>
                <a:spcPct val="150000"/>
              </a:lnSpc>
              <a:buNone/>
              <a:defRPr/>
            </a:pPr>
            <a:r>
              <a:rPr lang="zh-CN" altLang="en-US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每个</a:t>
            </a:r>
            <a:r>
              <a:rPr lang="zh-CN" altLang="en-US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图形（显示）字符对应于</a:t>
            </a:r>
            <a:r>
              <a:rPr lang="en-US" altLang="zh-CN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ISO</a:t>
            </a:r>
            <a:r>
              <a:rPr lang="zh-CN" altLang="en-US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八比特编码字符集</a:t>
            </a:r>
            <a:r>
              <a:rPr lang="en-US" altLang="zh-CN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[ISO 8859-1:1987(E)]</a:t>
            </a:r>
            <a:r>
              <a:rPr lang="zh-CN" altLang="en-US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的一个唯一的编码，它由一个图形符号表示</a:t>
            </a:r>
            <a:r>
              <a:rPr lang="zh-CN" altLang="en-US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zh-CN" altLang="en-US" sz="2400" b="1" strike="noStrike" noProof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3"/>
          <p:cNvSpPr>
            <a:spLocks noGrp="1" noChangeArrowheads="1"/>
          </p:cNvSpPr>
          <p:nvPr/>
        </p:nvSpPr>
        <p:spPr>
          <a:xfrm>
            <a:off x="150813" y="982663"/>
            <a:ext cx="9131300" cy="5156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65AAE9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indent="0" eaLnBrk="1" fontAlgn="base" hangingPunct="1">
              <a:lnSpc>
                <a:spcPct val="150000"/>
              </a:lnSpc>
              <a:buNone/>
              <a:defRPr/>
            </a:pPr>
            <a:r>
              <a:rPr lang="en-US" altLang="zh-CN" sz="2400" b="1" strike="noStrike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1 、</a:t>
            </a:r>
            <a:r>
              <a:rPr lang="zh-CN" altLang="en-US" sz="2400" b="1" strike="noStrike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图形（显示）字符包括</a:t>
            </a:r>
            <a:r>
              <a:rPr lang="zh-CN" altLang="en-US" sz="2400" b="1" strike="noStrike" noProof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zh-CN" sz="2400" b="1" strike="noStrike" noProof="1" dirty="0" smtClean="0">
              <a:solidFill>
                <a:srgbClr val="C00000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fontAlgn="base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</a:t>
            </a:r>
            <a:r>
              <a:rPr lang="zh-CN" altLang="zh-CN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图形（显示）字符</a:t>
            </a:r>
            <a:endParaRPr lang="zh-CN" altLang="zh-CN" sz="2400" b="1" strike="noStrike" noProof="1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fontAlgn="base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小写</a:t>
            </a:r>
            <a:r>
              <a:rPr lang="zh-CN" altLang="zh-CN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</a:t>
            </a:r>
            <a:endParaRPr lang="zh-CN" altLang="zh-CN" sz="2400" b="1" strike="noStrike" noProof="1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fontAlgn="base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其它特殊字符</a:t>
            </a:r>
            <a:endParaRPr lang="en-US" altLang="zh-CN" sz="2400" b="1" strike="noStrike" noProof="1" dirty="0" smtClean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 fontAlgn="base">
              <a:buNone/>
            </a:pPr>
            <a:r>
              <a:rPr lang="en-US" altLang="zh-CN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其中</a:t>
            </a:r>
            <a:r>
              <a:rPr lang="zh-CN" altLang="zh-CN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zh-CN" sz="2400" b="1" strike="noStrike" noProof="1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 fontAlgn="base">
              <a:buNone/>
            </a:pPr>
            <a:r>
              <a:rPr lang="en-US" altLang="zh-CN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zh-CN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</a:t>
            </a:r>
            <a:r>
              <a:rPr lang="zh-CN" altLang="zh-CN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的图形（显示）字符包括：</a:t>
            </a:r>
            <a:endParaRPr lang="zh-CN" altLang="zh-CN" sz="2400" b="1" strike="noStrike" noProof="1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indent="342900" fontAlgn="base">
              <a:buFont typeface="Wingdings" panose="05000000000000000000" pitchFamily="2" charset="2"/>
              <a:buChar char="Ø"/>
            </a:pPr>
            <a:r>
              <a:rPr lang="zh-CN" altLang="zh-CN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大写</a:t>
            </a:r>
            <a:r>
              <a:rPr lang="zh-CN" altLang="zh-CN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</a:t>
            </a:r>
            <a:endParaRPr lang="zh-CN" altLang="zh-CN" sz="2400" b="1" strike="noStrike" noProof="1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indent="342900" fontAlgn="base">
              <a:buFont typeface="Wingdings" panose="05000000000000000000" pitchFamily="2" charset="2"/>
              <a:buChar char="Ø"/>
            </a:pPr>
            <a:r>
              <a:rPr lang="zh-CN" altLang="zh-CN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</a:t>
            </a:r>
            <a:endParaRPr lang="zh-CN" altLang="zh-CN" sz="2400" b="1" strike="noStrike" noProof="1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indent="342900" fontAlgn="base">
              <a:buFont typeface="Wingdings" panose="05000000000000000000" pitchFamily="2" charset="2"/>
              <a:buChar char="Ø"/>
            </a:pPr>
            <a:r>
              <a:rPr lang="zh-CN" altLang="zh-CN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特殊字符 </a:t>
            </a:r>
            <a:endParaRPr lang="zh-CN" altLang="zh-CN" sz="2400" b="1" strike="noStrike" noProof="1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indent="342900" fontAlgn="base">
              <a:buFont typeface="Wingdings" panose="05000000000000000000" pitchFamily="2" charset="2"/>
              <a:buChar char="Ø"/>
            </a:pPr>
            <a:r>
              <a:rPr lang="zh-CN" altLang="zh-CN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空格</a:t>
            </a:r>
            <a:r>
              <a:rPr lang="zh-CN" altLang="zh-CN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字符。</a:t>
            </a:r>
            <a:endParaRPr lang="zh-CN" altLang="zh-CN" sz="2400" b="1" strike="noStrike" noProof="1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 fontAlgn="base">
              <a:buNone/>
            </a:pPr>
            <a:endParaRPr lang="zh-CN" altLang="zh-CN" sz="2400" b="1" strike="noStrike" noProof="1" dirty="0">
              <a:solidFill>
                <a:schemeClr val="tx1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12700" y="1174750"/>
            <a:ext cx="9131300" cy="5157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65AAE9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indent="0" eaLnBrk="1" fontAlgn="base" hangingPunct="1">
              <a:lnSpc>
                <a:spcPct val="150000"/>
              </a:lnSpc>
              <a:buNone/>
              <a:defRPr/>
            </a:pPr>
            <a:r>
              <a:rPr lang="zh-CN" altLang="en-US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基本的字符集对于书写任何描述已经足够了。基本字符集的每个类别所包含的字符如下</a:t>
            </a:r>
            <a:r>
              <a:rPr lang="zh-CN" altLang="en-US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endParaRPr lang="en-US" altLang="zh-CN" sz="2400" b="1" strike="noStrike" noProof="1" dirty="0" smtClean="0">
              <a:solidFill>
                <a:schemeClr val="tx1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strike="noStrike" noProof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大写字母</a:t>
            </a:r>
            <a:endParaRPr lang="en-US" altLang="zh-CN" sz="2400" b="1" strike="noStrike" noProof="1" dirty="0" smtClean="0">
              <a:solidFill>
                <a:srgbClr val="C00000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  <a:p>
            <a:pPr marL="0" indent="0" fontAlgn="base">
              <a:lnSpc>
                <a:spcPct val="150000"/>
              </a:lnSpc>
              <a:buNone/>
            </a:pPr>
            <a:r>
              <a:rPr lang="en-US" altLang="zh-CN" sz="2400" b="1" strike="noStrike" noProof="1" dirty="0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A  B  C  D  E  F  G  H  I  G  K  L  M  N  O  P  Q  R  S  T  U  V  W</a:t>
            </a:r>
            <a:endParaRPr lang="zh-CN" altLang="zh-CN" sz="2400" b="1" strike="noStrike" noProof="1" dirty="0">
              <a:solidFill>
                <a:srgbClr val="00B050"/>
              </a:solidFill>
            </a:endParaRPr>
          </a:p>
          <a:p>
            <a:pPr marL="0" indent="0" fontAlgn="base">
              <a:lnSpc>
                <a:spcPct val="150000"/>
              </a:lnSpc>
              <a:buNone/>
            </a:pPr>
            <a:r>
              <a:rPr lang="en-US" altLang="zh-CN" sz="2400" b="1" strike="noStrike" noProof="1" dirty="0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X  Y  Z  À  Á  Â  Ã  Ä  Å  Æ  Ç  È  É  Ê  Ë  Ì  Í  Î  Ï  Ð  Ñ  Ò  Ó  Ô </a:t>
            </a:r>
            <a:endParaRPr lang="zh-CN" altLang="zh-CN" sz="2400" b="1" strike="noStrike" noProof="1" dirty="0">
              <a:solidFill>
                <a:srgbClr val="00B050"/>
              </a:solidFill>
            </a:endParaRPr>
          </a:p>
          <a:p>
            <a:pPr marL="0" indent="0" fontAlgn="base">
              <a:lnSpc>
                <a:spcPct val="150000"/>
              </a:lnSpc>
              <a:buNone/>
            </a:pPr>
            <a:r>
              <a:rPr lang="en-US" altLang="zh-CN" sz="2400" b="1" strike="noStrike" noProof="1" dirty="0">
                <a:solidFill>
                  <a:srgbClr val="00B05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Õ  Ö  Ø  Ù  Ú  Û  Ü  Ý  Þ</a:t>
            </a:r>
            <a:endParaRPr lang="zh-CN" altLang="zh-CN" sz="2400" b="1" strike="noStrike" noProof="1" dirty="0">
              <a:solidFill>
                <a:srgbClr val="00B050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12700" y="1355725"/>
            <a:ext cx="9131300" cy="5156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65AAE9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fontAlgn="base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zh-CN" sz="2400" b="1" strike="noStrike" noProof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数字</a:t>
            </a:r>
            <a:endParaRPr lang="en-US" altLang="zh-CN" sz="2400" b="1" strike="noStrike" noProof="1" dirty="0" smtClean="0">
              <a:solidFill>
                <a:srgbClr val="C00000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  <a:p>
            <a:pPr marL="0" indent="0" algn="ctr" fontAlgn="base">
              <a:lnSpc>
                <a:spcPct val="150000"/>
              </a:lnSpc>
              <a:buNone/>
              <a:defRPr/>
            </a:pPr>
            <a:r>
              <a:rPr lang="zh-CN" altLang="en-US" sz="2400" b="1" strike="noStrike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strike="noStrike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0  1  2  3  4  5  6  7  8  9 </a:t>
            </a:r>
            <a:endParaRPr lang="en-US" altLang="zh-CN" sz="2400" b="1" strike="noStrike" noProof="1" dirty="0" smtClean="0">
              <a:solidFill>
                <a:srgbClr val="00B050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zh-CN" sz="2400" b="1" strike="noStrike" noProof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特殊字符</a:t>
            </a:r>
            <a:endParaRPr lang="en-US" altLang="zh-CN" sz="2400" b="1" strike="noStrike" noProof="1" dirty="0" smtClean="0">
              <a:solidFill>
                <a:srgbClr val="C00000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  <a:p>
            <a:pPr marL="0" indent="0" algn="ctr" fontAlgn="base">
              <a:lnSpc>
                <a:spcPct val="150000"/>
              </a:lnSpc>
              <a:buNone/>
              <a:defRPr/>
            </a:pPr>
            <a:r>
              <a:rPr lang="zh-CN" altLang="en-US" sz="2400" b="1" strike="noStrike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“  </a:t>
            </a:r>
            <a:r>
              <a:rPr lang="en-US" altLang="zh-CN" sz="2400" b="1" strike="noStrike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#  &amp;  ‘  (  )  *  +  ,  -  .   /  :  ;  &lt;  =   &gt;   [    ]   _   </a:t>
            </a:r>
            <a:r>
              <a:rPr lang="en-US" altLang="zh-CN" sz="2400" b="1" strike="noStrike" noProof="1" dirty="0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|</a:t>
            </a:r>
            <a:endParaRPr lang="en-US" altLang="zh-CN" sz="2400" b="1" strike="noStrike" noProof="1" dirty="0" smtClean="0">
              <a:solidFill>
                <a:srgbClr val="00B050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zh-CN" sz="2400" b="1" strike="noStrike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空格</a:t>
            </a:r>
            <a:r>
              <a:rPr lang="zh-CN" altLang="zh-CN" sz="2400" b="1" strike="noStrike" noProof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字符</a:t>
            </a:r>
            <a:endParaRPr lang="en-US" altLang="zh-CN" sz="2400" b="1" strike="noStrike" noProof="1" dirty="0" smtClean="0">
              <a:solidFill>
                <a:srgbClr val="C00000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  <a:p>
            <a:pPr marL="0" indent="0" algn="ctr" fontAlgn="base">
              <a:lnSpc>
                <a:spcPct val="150000"/>
              </a:lnSpc>
              <a:buNone/>
              <a:defRPr/>
            </a:pPr>
            <a:r>
              <a:rPr lang="en-US" altLang="zh-CN" sz="2400" b="1" strike="noStrike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SPACE  NBSP</a:t>
            </a:r>
            <a:endParaRPr lang="zh-CN" altLang="zh-CN" sz="2400" b="1" strike="noStrike" noProof="1" dirty="0">
              <a:solidFill>
                <a:srgbClr val="00B050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3"/>
          <p:cNvSpPr>
            <a:spLocks noGrp="1" noChangeArrowheads="1"/>
          </p:cNvSpPr>
          <p:nvPr/>
        </p:nvSpPr>
        <p:spPr>
          <a:xfrm>
            <a:off x="107315" y="908685"/>
            <a:ext cx="9131300" cy="49726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65AAE9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strike="noStrike" noProof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小写字母</a:t>
            </a:r>
            <a:endParaRPr lang="en-US" altLang="zh-CN" sz="2400" b="1" strike="noStrike" noProof="1" dirty="0" smtClean="0">
              <a:solidFill>
                <a:srgbClr val="C00000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  <a:p>
            <a:pPr marL="0" indent="0" eaLnBrk="1" fontAlgn="base" hangingPunct="1">
              <a:lnSpc>
                <a:spcPct val="150000"/>
              </a:lnSpc>
              <a:buNone/>
              <a:defRPr/>
            </a:pPr>
            <a:r>
              <a:rPr lang="en-US" altLang="zh-CN" sz="2400" b="1" strike="noStrike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a  b  c d  e  f  g  h  </a:t>
            </a:r>
            <a:r>
              <a:rPr lang="en-US" altLang="zh-CN" sz="2400" b="1" strike="noStrike" noProof="1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strike="noStrike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g  k  l  m  n   o  p  q  r  s  t  u  v  w  x  y  z  ß  à  á  â  ã  ä  å  æ  ç  è  é  ê  ë  ì  í  î  ï  ð  ñ  ò  ó  ô  õ  ö  ø  ù  ú  û  ü  ý  þ  ÿ</a:t>
            </a:r>
            <a:endParaRPr lang="en-US" altLang="zh-CN" sz="2400" b="1" strike="noStrike" noProof="1" dirty="0">
              <a:solidFill>
                <a:srgbClr val="00B050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  <a:p>
            <a:pPr algn="l" eaLnBrk="1" fontAlgn="base" hangingPunct="1">
              <a:lnSpc>
                <a:spcPct val="150000"/>
              </a:lnSpc>
              <a:buChar char="p"/>
              <a:defRPr/>
            </a:pPr>
            <a:r>
              <a:rPr lang="zh-CN" altLang="en-US" sz="2400" b="1" strike="noStrike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其它</a:t>
            </a:r>
            <a:r>
              <a:rPr lang="zh-CN" altLang="en-US" sz="2400" b="1" strike="noStrike" noProof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特殊字符</a:t>
            </a:r>
            <a:endParaRPr lang="en-US" altLang="zh-CN" sz="2400" b="1" strike="noStrike" noProof="1" dirty="0" smtClean="0">
              <a:solidFill>
                <a:srgbClr val="C00000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  <a:p>
            <a:pPr marL="0" indent="0" algn="ctr" eaLnBrk="1" fontAlgn="base" hangingPunct="1">
              <a:lnSpc>
                <a:spcPct val="150000"/>
              </a:lnSpc>
              <a:buNone/>
              <a:defRPr/>
            </a:pPr>
            <a:r>
              <a:rPr lang="en-US" altLang="zh-CN" sz="2400" b="1" strike="noStrike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!  $  %  @  ?  \  ^  `  {  }  ~  ¡  ¢  £  ¤  ¥  ¦  §  ¨  ©  ª  «  ¬   ­  ®  ¯  ° ±  ²  ³  ´  µ  ¶  •  ¸  ¹  º  »  ¼  ½  ¾  ¿  ×  ÷   -</a:t>
            </a:r>
            <a:endParaRPr lang="en-US" altLang="zh-CN" sz="2400" b="1" strike="noStrike" noProof="1" dirty="0">
              <a:solidFill>
                <a:srgbClr val="00B050"/>
              </a:solidFill>
              <a:latin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0" indent="0" algn="ctr" eaLnBrk="1" fontAlgn="base" hangingPunct="1">
              <a:lnSpc>
                <a:spcPct val="150000"/>
              </a:lnSpc>
              <a:buNone/>
              <a:defRPr/>
            </a:pPr>
            <a:endParaRPr lang="zh-CN" altLang="en-US" sz="2400" b="1" strike="noStrike" noProof="1" dirty="0">
              <a:solidFill>
                <a:srgbClr val="00B050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6129" name="Rectangle 3"/>
          <p:cNvSpPr>
            <a:spLocks noGrp="1"/>
          </p:cNvSpPr>
          <p:nvPr/>
        </p:nvSpPr>
        <p:spPr>
          <a:xfrm>
            <a:off x="455930" y="1646555"/>
            <a:ext cx="8232775" cy="286448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en-US" altLang="zh-CN" sz="2400" b="1" dirty="0">
                <a:solidFill>
                  <a:srgbClr val="2163B4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2 、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格式化控制字符</a:t>
            </a:r>
            <a:endParaRPr lang="en-US" altLang="zh-CN" sz="2400" b="1" dirty="0">
              <a:solidFill>
                <a:srgbClr val="2163B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en-US" altLang="zh-CN" sz="2400" b="1" dirty="0">
                <a:solidFill>
                  <a:srgbClr val="2163B4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格式化控制字符是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ISO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（和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ASCII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）字符，称为横向制表符、垂直制表符、回车符、换行符和换页符。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1249" name="文本占位符 184322"/>
          <p:cNvSpPr>
            <a:spLocks noGrp="1"/>
          </p:cNvSpPr>
          <p:nvPr>
            <p:ph idx="1"/>
          </p:nvPr>
        </p:nvSpPr>
        <p:spPr>
          <a:xfrm>
            <a:off x="609600" y="936625"/>
            <a:ext cx="8001000" cy="885825"/>
          </a:xfrm>
        </p:spPr>
        <p:txBody>
          <a:bodyPr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标识符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250" name="文本框 184323"/>
          <p:cNvSpPr txBox="1"/>
          <p:nvPr/>
        </p:nvSpPr>
        <p:spPr>
          <a:xfrm>
            <a:off x="1143000" y="2460625"/>
            <a:ext cx="5334000" cy="366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1251" name="文本框 2"/>
          <p:cNvSpPr txBox="1"/>
          <p:nvPr/>
        </p:nvSpPr>
        <p:spPr>
          <a:xfrm>
            <a:off x="331788" y="1822450"/>
            <a:ext cx="8556625" cy="23066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32946A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zh-CN" altLang="en-US" sz="2400" b="1" dirty="0">
                <a:solidFill>
                  <a:srgbClr val="32946A"/>
                </a:solidFill>
                <a:latin typeface="微软雅黑" panose="020B0503020204020204" charset="-122"/>
                <a:ea typeface="微软雅黑" panose="020B0503020204020204" charset="-122"/>
              </a:rPr>
              <a:t>标识符用于名字和保留字。</a:t>
            </a:r>
            <a:endParaRPr lang="zh-CN" altLang="en-US" sz="2400" b="1" dirty="0">
              <a:solidFill>
                <a:srgbClr val="32946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标识符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(IDENTIFIERS)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规则是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VHDL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语言中符号书写的一般规则，用以表示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VHDL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语句中的变量、块、进程等对象和保留字。基本的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VHDL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程序就是由标识符和分界符构成的。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252" name="文本框 3"/>
          <p:cNvSpPr txBox="1"/>
          <p:nvPr/>
        </p:nvSpPr>
        <p:spPr>
          <a:xfrm>
            <a:off x="1143000" y="4368800"/>
            <a:ext cx="2540000" cy="1273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基本标识符</a:t>
            </a:r>
            <a:endParaRPr lang="en-US" altLang="zh-CN" sz="2400" b="1" dirty="0">
              <a:solidFill>
                <a:srgbClr val="7030A0"/>
              </a:solidFill>
              <a:latin typeface="微软雅黑" panose="020B0503020204020204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扩展标识符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35560" y="404495"/>
            <a:ext cx="9131300" cy="666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65AAE9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strike="noStrike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</a:t>
            </a:r>
            <a:r>
              <a:rPr lang="zh-CN" altLang="en-US" sz="2400" b="1" strike="noStrike" noProof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标识符</a:t>
            </a:r>
            <a:endParaRPr lang="en-US" altLang="zh-CN" sz="2400" b="1" strike="noStrike" noProof="1" dirty="0" smtClean="0">
              <a:solidFill>
                <a:srgbClr val="C00000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 eaLnBrk="1" fontAlgn="base" hangingPunct="1">
              <a:lnSpc>
                <a:spcPct val="150000"/>
              </a:lnSpc>
              <a:buNone/>
              <a:defRPr/>
            </a:pPr>
            <a:endParaRPr lang="zh-CN" altLang="zh-CN" b="1" strike="noStrike" noProof="1" dirty="0">
              <a:solidFill>
                <a:srgbClr val="B8D2F2">
                  <a:lumMod val="50000"/>
                </a:srgbClr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215" y="1557020"/>
            <a:ext cx="8444865" cy="3303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* 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基本标识符由</a:t>
            </a:r>
            <a:r>
              <a:rPr lang="en-US" altLang="zh-CN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26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个字母</a:t>
            </a:r>
            <a:r>
              <a:rPr lang="en-US" altLang="zh-CN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(A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～</a:t>
            </a:r>
            <a:r>
              <a:rPr lang="en-US" altLang="zh-CN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Z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～</a:t>
            </a:r>
            <a:r>
              <a:rPr lang="en-US" altLang="zh-CN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z)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、数字</a:t>
            </a:r>
            <a:r>
              <a:rPr lang="en-US" altLang="zh-CN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(0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～</a:t>
            </a:r>
            <a:r>
              <a:rPr lang="en-US" altLang="zh-CN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9)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和下划线“</a:t>
            </a:r>
            <a:r>
              <a:rPr lang="en-US" altLang="zh-CN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_”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字符组成；</a:t>
            </a:r>
            <a:endParaRPr lang="zh-CN" altLang="en-US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　　如：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counter_ adder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FIRST_2000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为合法命名，而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counter &amp; adder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为不合法命名。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* 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基本标识符必须以英文字母开头；</a:t>
            </a:r>
            <a:endParaRPr lang="zh-CN" altLang="en-US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　　如：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adder4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为合法命名，而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4ladder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为不合法命名。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3297" name="文本框 794627"/>
          <p:cNvSpPr txBox="1"/>
          <p:nvPr/>
        </p:nvSpPr>
        <p:spPr>
          <a:xfrm>
            <a:off x="35560" y="1557020"/>
            <a:ext cx="8534400" cy="30441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* 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下划线“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_”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的前后都必须有英文字母或者数字；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　如：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adder4_1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为合法命名，而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adder4_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_first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均为不合法命名。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* 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基本标识符不区分大小写；</a:t>
            </a:r>
            <a:endParaRPr lang="zh-CN" altLang="en-US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      如：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EDA</a:t>
            </a:r>
            <a:r>
              <a:rPr lang="zh-CN" altLang="en-US" sz="2400" b="1" err="1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Eda</a:t>
            </a:r>
            <a:r>
              <a:rPr lang="zh-CN" altLang="en-US" sz="2400" b="1" err="1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eda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均为相同的命名。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* 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基本标识符不使用空格；</a:t>
            </a: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因为</a:t>
            </a:r>
            <a:r>
              <a:rPr lang="zh-CN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空格符就是分隔符。</a:t>
            </a:r>
            <a:endParaRPr lang="zh-CN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5345" name="文本框 793603"/>
          <p:cNvSpPr txBox="1"/>
          <p:nvPr/>
        </p:nvSpPr>
        <p:spPr>
          <a:xfrm>
            <a:off x="763588" y="1238250"/>
            <a:ext cx="6823075" cy="39290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* 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扩展标识符用反斜杠来分隔；</a:t>
            </a:r>
            <a:endParaRPr lang="zh-CN" altLang="en-US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如：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\adde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\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\begin-add\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等。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* 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扩展标识符允许包含图形符号及空格等；</a:t>
            </a:r>
            <a:endParaRPr lang="zh-CN" altLang="en-US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如：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\counter &amp; adder\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\entity%end\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等。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* 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扩展标识符的两个反斜杠之间可以用保留字；</a:t>
            </a:r>
            <a:endParaRPr lang="zh-CN" altLang="en-US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如：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\entity\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\architecture\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等。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* 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扩展标识符的两个反斜杠之间可以用数字开头；</a:t>
            </a:r>
            <a:endParaRPr lang="zh-CN" altLang="en-US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如：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\ l adder\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\44counter\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等。 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179705" y="476885"/>
            <a:ext cx="9131300" cy="6413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65AAE9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2400" b="1" strike="noStrike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</a:t>
            </a:r>
            <a:r>
              <a:rPr lang="zh-CN" altLang="en-US" sz="2400" b="1" strike="noStrike" noProof="1" dirty="0" smtClean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标识符</a:t>
            </a:r>
            <a:endParaRPr lang="en-US" altLang="zh-CN" sz="2400" b="1" strike="noStrike" noProof="1" dirty="0" smtClean="0">
              <a:solidFill>
                <a:srgbClr val="C00000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 fontAlgn="base">
              <a:lnSpc>
                <a:spcPct val="150000"/>
              </a:lnSpc>
              <a:buNone/>
              <a:defRPr/>
            </a:pPr>
            <a:endParaRPr lang="zh-CN" altLang="zh-CN" sz="2400" b="1" strike="noStrike" noProof="1" dirty="0">
              <a:solidFill>
                <a:srgbClr val="B8D2F2">
                  <a:lumMod val="50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6369" name="文本框 801795"/>
          <p:cNvSpPr txBox="1"/>
          <p:nvPr/>
        </p:nvSpPr>
        <p:spPr>
          <a:xfrm>
            <a:off x="346075" y="1225550"/>
            <a:ext cx="8451850" cy="50784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* 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扩展标识符中允许多个下划线相连；</a:t>
            </a:r>
            <a:endParaRPr lang="zh-CN" altLang="en-US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如：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\adder.es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__ counter\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等。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* 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同名的扩展标识符和基本标识符不表示同一名称；</a:t>
            </a:r>
            <a:endParaRPr lang="zh-CN" altLang="en-US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如：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\adder\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adder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不相同。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* 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扩展标识符区分大小写字母；</a:t>
            </a:r>
            <a:endParaRPr lang="zh-CN" altLang="en-US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如：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\EDA\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\eda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\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不相同。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* 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扩展标识符中如果含有一个反斜杠，可以两个反斜杠来代替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如：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\adder\\counter\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表示的扩展标识符名称为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adder\countera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。 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7393" name="Rectangle 3"/>
          <p:cNvSpPr>
            <a:spLocks noGrp="1"/>
          </p:cNvSpPr>
          <p:nvPr/>
        </p:nvSpPr>
        <p:spPr>
          <a:xfrm>
            <a:off x="0" y="0"/>
            <a:ext cx="9316720" cy="65659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50000"/>
              </a:lnSpc>
              <a:spcBef>
                <a:spcPct val="20000"/>
              </a:spcBef>
              <a:buSzTx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标识符中很重要的一部分是保留字，下表给出了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VHDL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提供的保留字。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739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650" y="692468"/>
            <a:ext cx="7770813" cy="58086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8417" name="文本占位符 185346"/>
          <p:cNvSpPr>
            <a:spLocks noGrp="1"/>
          </p:cNvSpPr>
          <p:nvPr>
            <p:ph idx="1"/>
          </p:nvPr>
        </p:nvSpPr>
        <p:spPr>
          <a:xfrm>
            <a:off x="609600" y="721360"/>
            <a:ext cx="8001000" cy="885825"/>
          </a:xfrm>
        </p:spPr>
        <p:txBody>
          <a:bodyPr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数值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8418" name="文本框 185347"/>
          <p:cNvSpPr txBox="1"/>
          <p:nvPr/>
        </p:nvSpPr>
        <p:spPr>
          <a:xfrm>
            <a:off x="1143000" y="2245360"/>
            <a:ext cx="5334000" cy="366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349" name="标题 185348"/>
          <p:cNvSpPr>
            <a:spLocks noGrp="1"/>
          </p:cNvSpPr>
          <p:nvPr>
            <p:ph type="title"/>
          </p:nvPr>
        </p:nvSpPr>
        <p:spPr>
          <a:xfrm>
            <a:off x="228600" y="1628775"/>
            <a:ext cx="8686800" cy="4672330"/>
          </a:xfrm>
          <a:noFill/>
          <a:ln>
            <a:noFill/>
          </a:ln>
        </p:spPr>
        <p:txBody>
          <a:bodyPr anchor="t" anchorCtr="0"/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）整数表示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整数表示中不含有小数点，如：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135E2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=13500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12_345_678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=12345678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）实数表示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实数也表示必须带有小数点，如：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1.25   2.0   1.56E-3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0.00156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11_120.123_678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11120.123678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09952" y="1340485"/>
            <a:ext cx="7835268" cy="4483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无论是整数还是实数都分为十进制数字和基数数字两类。</a:t>
            </a:r>
            <a:endParaRPr lang="zh-CN" altLang="en-US" sz="2400" b="1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noProof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　　</a:t>
            </a:r>
            <a:r>
              <a:rPr lang="zh-CN" altLang="en-US" sz="2400" b="1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十进制表示的数字，其定义格式为：</a:t>
            </a:r>
            <a:endParaRPr lang="zh-CN" altLang="en-US" sz="2400" b="1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noProof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　　　　整数</a:t>
            </a:r>
            <a:r>
              <a:rPr lang="en-US" altLang="zh-CN" sz="2400" b="1" noProof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[.</a:t>
            </a:r>
            <a:r>
              <a:rPr lang="zh-CN" altLang="en-US" sz="2400" b="1" noProof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整数</a:t>
            </a:r>
            <a:r>
              <a:rPr lang="en-US" altLang="zh-CN" sz="2400" b="1" noProof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][</a:t>
            </a:r>
            <a:r>
              <a:rPr lang="zh-CN" altLang="en-US" sz="2400" b="1" noProof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指数</a:t>
            </a:r>
            <a:r>
              <a:rPr lang="en-US" altLang="zh-CN" sz="2400" b="1" noProof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</a:t>
            </a:r>
            <a:endParaRPr lang="en-US" altLang="zh-CN" sz="2400" b="1" noProof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ct val="50000"/>
              </a:spcBef>
            </a:pPr>
            <a:r>
              <a:rPr lang="zh-CN" altLang="en-US" sz="24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lang="zh-CN" altLang="en-US" sz="2400" b="1" noProof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lang="zh-CN" altLang="en-US" sz="2400" b="1" noProof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b="1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基数表示的数字，基数最小是</a:t>
            </a:r>
            <a:r>
              <a:rPr lang="en-US" altLang="zh-CN" sz="2400" b="1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400" b="1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，最大是</a:t>
            </a:r>
            <a:r>
              <a:rPr lang="en-US" altLang="zh-CN" sz="2400" b="1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16</a:t>
            </a:r>
            <a:r>
              <a:rPr lang="zh-CN" altLang="en-US" sz="2400" b="1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zh-CN" altLang="en-US" sz="2400" b="1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其定义格式如下：</a:t>
            </a:r>
            <a:endParaRPr lang="zh-CN" altLang="en-US" sz="2400" b="1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ct val="50000"/>
              </a:spcBef>
            </a:pPr>
            <a:r>
              <a:rPr lang="zh-CN" altLang="en-US" sz="24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　　 基</a:t>
            </a:r>
            <a:r>
              <a:rPr lang="en-US" altLang="zh-CN" sz="24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</a:t>
            </a:r>
            <a:r>
              <a:rPr lang="zh-CN" altLang="en-US" sz="24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基于基的整数</a:t>
            </a:r>
            <a:r>
              <a:rPr lang="en-US" altLang="zh-CN" sz="24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[.</a:t>
            </a:r>
            <a:r>
              <a:rPr lang="zh-CN" altLang="en-US" sz="24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基于基的整数</a:t>
            </a:r>
            <a:r>
              <a:rPr lang="en-US" altLang="zh-CN" sz="24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]#</a:t>
            </a:r>
            <a:r>
              <a:rPr lang="zh-CN" altLang="en-US" sz="2400" b="1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指数</a:t>
            </a:r>
            <a:endParaRPr lang="zh-CN" altLang="en-US" sz="2400" b="1" noProof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ct val="50000"/>
              </a:spcBef>
            </a:pPr>
            <a:endParaRPr lang="zh-CN" altLang="en-US" sz="24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0465" name="文本框 804867"/>
          <p:cNvSpPr txBox="1"/>
          <p:nvPr/>
        </p:nvSpPr>
        <p:spPr>
          <a:xfrm>
            <a:off x="877888" y="1344613"/>
            <a:ext cx="2239962" cy="52593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4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108		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000108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1_08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　　　　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1.0_8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　　　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1.08E2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1.08e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－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　　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10 8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　　　　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1, 08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　　　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1.08 E2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　　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.108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　　　　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0466" name="文本框 1"/>
          <p:cNvSpPr txBox="1"/>
          <p:nvPr/>
        </p:nvSpPr>
        <p:spPr>
          <a:xfrm>
            <a:off x="395605" y="692785"/>
            <a:ext cx="301688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　十进制表示的数。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17850" y="1298575"/>
            <a:ext cx="5086350" cy="5257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合法，表示十进制数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108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合法，表示十进制数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108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合法，表示十进制数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108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合法，表示十进制数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1.08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合法，表示十进制数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108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合法，表示十进制数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0.0108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不合法，数字中间不能有空格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不合法，数字中间不能有其它字符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不合法，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前不能有空格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不合法，未用数字开头 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1489" name="Rectangle 3"/>
          <p:cNvSpPr>
            <a:spLocks noGrp="1"/>
          </p:cNvSpPr>
          <p:nvPr/>
        </p:nvSpPr>
        <p:spPr>
          <a:xfrm>
            <a:off x="12700" y="1423988"/>
            <a:ext cx="9131300" cy="51577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50000"/>
              </a:lnSpc>
              <a:spcBef>
                <a:spcPct val="20000"/>
              </a:spcBef>
              <a:buSzTx/>
            </a:pPr>
            <a:r>
              <a:rPr lang="en-US" altLang="zh-CN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r>
              <a:rPr lang="zh-CN" altLang="en-US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整数文字</a:t>
            </a:r>
            <a:r>
              <a:rPr lang="en-US" altLang="zh-CN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255:</a:t>
            </a:r>
            <a:endParaRPr lang="en-US" altLang="zh-CN" sz="2400" b="1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SzTx/>
            </a:pPr>
            <a:r>
              <a:rPr lang="en-US" altLang="zh-CN" sz="2400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2#1111_1111#       16#FF#            016#0FF#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SzTx/>
            </a:pPr>
            <a:r>
              <a:rPr lang="en-US" altLang="zh-CN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r>
              <a:rPr lang="zh-CN" altLang="en-US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整数文字</a:t>
            </a:r>
            <a:r>
              <a:rPr lang="en-US" altLang="zh-CN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224:</a:t>
            </a:r>
            <a:endParaRPr lang="en-US" altLang="zh-CN" sz="2400" b="1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SzTx/>
            </a:pPr>
            <a:r>
              <a:rPr lang="en-US" altLang="zh-CN" sz="2400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16#E#E1            2#1110_0000#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SzTx/>
            </a:pPr>
            <a:r>
              <a:rPr lang="en-US" altLang="zh-CN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</a:t>
            </a:r>
            <a:r>
              <a:rPr lang="zh-CN" altLang="en-US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实数文字</a:t>
            </a:r>
            <a:r>
              <a:rPr lang="en-US" altLang="zh-CN" sz="2400" b="1" dirty="0">
                <a:solidFill>
                  <a:srgbClr val="00B05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4095.0:</a:t>
            </a:r>
            <a:endParaRPr lang="en-US" altLang="zh-CN" sz="2400" b="1" dirty="0">
              <a:solidFill>
                <a:srgbClr val="00B05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SzTx/>
            </a:pPr>
            <a:r>
              <a:rPr lang="en-US" altLang="zh-CN" sz="2400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16#F.FF#E+2        2#1.1111_1111_111#E11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476885"/>
            <a:ext cx="231648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lnSpc>
                <a:spcPct val="150000"/>
              </a:lnSpc>
              <a:spcBef>
                <a:spcPct val="20000"/>
              </a:spcBef>
              <a:buSzTx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基数表示的数字</a:t>
            </a:r>
            <a:endParaRPr lang="zh-CN" altLang="en-US" sz="2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2513" name="文本占位符 185346"/>
          <p:cNvSpPr>
            <a:spLocks noGrp="1"/>
          </p:cNvSpPr>
          <p:nvPr>
            <p:ph idx="1"/>
          </p:nvPr>
        </p:nvSpPr>
        <p:spPr>
          <a:xfrm>
            <a:off x="571500" y="1157288"/>
            <a:ext cx="8001000" cy="885825"/>
          </a:xfrm>
        </p:spPr>
        <p:txBody>
          <a:bodyPr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字符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514" name="Rectangle 3"/>
          <p:cNvSpPr>
            <a:spLocks noGrp="1"/>
          </p:cNvSpPr>
          <p:nvPr/>
        </p:nvSpPr>
        <p:spPr>
          <a:xfrm>
            <a:off x="206375" y="1893888"/>
            <a:ext cx="8702675" cy="366553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通过两个单引号（撇号）括住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191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个图形字符中的一个字符文字，生成一个字符。其表示格式为：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zh-CN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en-US" altLang="zh-CN" sz="2400" b="1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graphic_character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’</a:t>
            </a:r>
            <a:endParaRPr lang="zh-CN" altLang="zh-CN" sz="24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字符文字的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VHDL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描述的例子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‘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A’   ‘*’  ‘’’   ‘’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endParaRPr lang="zh-CN" altLang="zh-CN" sz="28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3537" name="文本占位符 185346"/>
          <p:cNvSpPr>
            <a:spLocks noGrp="1"/>
          </p:cNvSpPr>
          <p:nvPr>
            <p:ph idx="1"/>
          </p:nvPr>
        </p:nvSpPr>
        <p:spPr>
          <a:xfrm>
            <a:off x="571500" y="1157288"/>
            <a:ext cx="8001000" cy="885825"/>
          </a:xfrm>
        </p:spPr>
        <p:txBody>
          <a:bodyPr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字符串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538" name="Rectangle 3"/>
          <p:cNvSpPr>
            <a:spLocks noGrp="1"/>
          </p:cNvSpPr>
          <p:nvPr/>
        </p:nvSpPr>
        <p:spPr>
          <a:xfrm>
            <a:off x="247650" y="1854200"/>
            <a:ext cx="8896350" cy="2433638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一个字符串文字是由两个双引号括起来的一个图形字符序列构成。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其表示格式为：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zh-CN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“{</a:t>
            </a:r>
            <a:r>
              <a:rPr lang="en-US" altLang="zh-CN" sz="2400" b="1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graphic_character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}”</a:t>
            </a:r>
            <a:endParaRPr lang="zh-CN" altLang="zh-CN" sz="24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endParaRPr lang="zh-CN" altLang="zh-CN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1793" name="文本框 811011"/>
          <p:cNvSpPr txBox="1"/>
          <p:nvPr/>
        </p:nvSpPr>
        <p:spPr>
          <a:xfrm>
            <a:off x="1115692" y="692785"/>
            <a:ext cx="6301743" cy="5367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2400" b="1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字符串示例。</a:t>
            </a:r>
            <a:endParaRPr lang="zh-CN" altLang="en-US" sz="2400" b="1" noProof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"This is a string"</a:t>
            </a:r>
            <a:endParaRPr lang="en-US" altLang="zh-CN" sz="24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长度为</a:t>
            </a:r>
            <a:r>
              <a:rPr lang="en-US" altLang="zh-CN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的字符串，包含</a:t>
            </a:r>
            <a:r>
              <a:rPr lang="en-US" altLang="zh-CN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个空格</a:t>
            </a:r>
            <a:endParaRPr lang="zh-CN" altLang="en-US" sz="2400" b="1" noProof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""</a:t>
            </a:r>
            <a:endParaRPr lang="en-US" altLang="zh-CN" sz="24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长度为</a:t>
            </a:r>
            <a:r>
              <a:rPr lang="en-US" altLang="zh-CN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的字符串，不包含任何内容</a:t>
            </a:r>
            <a:endParaRPr lang="zh-CN" altLang="en-US" sz="2400" b="1" noProof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"A"</a:t>
            </a:r>
            <a:endParaRPr lang="en-US" altLang="zh-CN" sz="24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长度为</a:t>
            </a:r>
            <a:r>
              <a:rPr lang="en-US" altLang="zh-CN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的字符串，与字符</a:t>
            </a:r>
            <a:r>
              <a:rPr lang="en-US" altLang="zh-CN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'A'</a:t>
            </a:r>
            <a:r>
              <a:rPr lang="zh-CN" altLang="en-US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</a:t>
            </a:r>
            <a:endParaRPr lang="zh-CN" altLang="en-US" sz="2400" b="1" noProof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"""</a:t>
            </a:r>
            <a:endParaRPr lang="en-US" altLang="zh-CN" sz="24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长度为</a:t>
            </a:r>
            <a:r>
              <a:rPr lang="en-US" altLang="zh-CN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的字符串，为一个双引号</a:t>
            </a:r>
            <a:endParaRPr lang="zh-CN" altLang="en-US" sz="2400" b="1" noProof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"!,%,&amp; "</a:t>
            </a:r>
            <a:endParaRPr lang="en-US" altLang="zh-CN" sz="2400" b="1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长度为</a:t>
            </a:r>
            <a:r>
              <a:rPr lang="en-US" altLang="zh-CN" sz="2400" b="1" noProof="1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400" b="1" noProof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的字符串，包含特殊字符</a:t>
            </a:r>
            <a:r>
              <a:rPr lang="en-US" altLang="zh-CN" sz="2400" b="1" noProof="1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!   % &amp; </a:t>
            </a:r>
            <a:r>
              <a:rPr lang="zh-CN" altLang="en-US" sz="2400" b="1" noProof="1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lang="en-US" altLang="zh-CN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5585" name="文本占位符 185346"/>
          <p:cNvSpPr>
            <a:spLocks noGrp="1"/>
          </p:cNvSpPr>
          <p:nvPr>
            <p:ph idx="1"/>
          </p:nvPr>
        </p:nvSpPr>
        <p:spPr>
          <a:xfrm>
            <a:off x="571500" y="798513"/>
            <a:ext cx="8001000" cy="885825"/>
          </a:xfrm>
        </p:spPr>
        <p:txBody>
          <a:bodyPr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比特字符串（数位字符串</a:t>
            </a:r>
            <a:r>
              <a:rPr lang="zh-CN" altLang="en-US" sz="2800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2800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0" y="1825625"/>
            <a:ext cx="9131300" cy="45354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7DA0D3"/>
              </a:buClr>
              <a:buFont typeface="Wingdings" panose="05000000000000000000" pitchFamily="2" charset="2"/>
              <a:buChar char="v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65AAE9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Char char="•"/>
              <a:defRPr sz="2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</a:defRPr>
            </a:lvl9pPr>
          </a:lstStyle>
          <a:p>
            <a:pPr marL="0" indent="0" eaLnBrk="1" fontAlgn="base" hangingPunct="1">
              <a:lnSpc>
                <a:spcPct val="150000"/>
              </a:lnSpc>
              <a:buNone/>
              <a:defRPr/>
            </a:pPr>
            <a:r>
              <a:rPr lang="zh-CN" altLang="en-US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一个比特字符串文字是由两个引号括起来的扩展数字（可能没有</a:t>
            </a:r>
            <a:r>
              <a:rPr lang="zh-CN" altLang="en-US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）构成，</a:t>
            </a:r>
            <a:r>
              <a:rPr lang="zh-CN" altLang="en-US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作为一个比特字符串文字，由一个基数描述符开始</a:t>
            </a:r>
            <a:r>
              <a:rPr lang="zh-CN" altLang="en-US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。本质是</a:t>
            </a:r>
            <a:r>
              <a:rPr lang="zh-CN" altLang="en-US" sz="2400" b="1" strike="noStrike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是</a:t>
            </a:r>
            <a:r>
              <a:rPr lang="zh-CN" altLang="en-US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位矢量，是</a:t>
            </a:r>
            <a:r>
              <a:rPr lang="en-US" altLang="zh-CN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BIT</a:t>
            </a:r>
            <a:r>
              <a:rPr lang="zh-CN" altLang="en-US" sz="24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数据类型的一维数组。</a:t>
            </a:r>
            <a:endParaRPr lang="en-US" altLang="zh-CN" sz="2400" b="1" strike="noStrike" noProof="1" dirty="0" smtClean="0">
              <a:solidFill>
                <a:schemeClr val="tx1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  <a:p>
            <a:pPr marL="0" indent="0" eaLnBrk="1" fontAlgn="base" hangingPunct="1">
              <a:lnSpc>
                <a:spcPct val="150000"/>
              </a:lnSpc>
              <a:buNone/>
              <a:defRPr/>
            </a:pPr>
            <a:r>
              <a:rPr lang="zh-CN" altLang="en-US" sz="2400" b="1" strike="noStrike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其</a:t>
            </a:r>
            <a:r>
              <a:rPr lang="zh-CN" altLang="en-US" sz="2400" b="1" strike="noStrike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格式如下</a:t>
            </a:r>
            <a:r>
              <a:rPr lang="zh-CN" altLang="en-US" sz="2400" b="1" strike="noStrike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：</a:t>
            </a:r>
            <a:endParaRPr lang="en-US" altLang="zh-CN" sz="2400" b="1" strike="noStrike" noProof="1" dirty="0" smtClean="0">
              <a:solidFill>
                <a:srgbClr val="7030A0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  <a:p>
            <a:pPr marL="0" indent="0" algn="ctr" eaLnBrk="1" fontAlgn="base" hangingPunct="1">
              <a:lnSpc>
                <a:spcPct val="150000"/>
              </a:lnSpc>
              <a:buNone/>
              <a:defRPr/>
            </a:pPr>
            <a:r>
              <a:rPr lang="en-US" altLang="zh-CN" sz="2400" b="1" strike="noStrike" noProof="1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base_specifier“bit_value</a:t>
            </a:r>
            <a:r>
              <a:rPr lang="en-US" altLang="zh-CN" sz="2400" b="1" strike="noStrike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endParaRPr lang="en-US" altLang="zh-CN" sz="2400" b="1" strike="noStrike" noProof="1" dirty="0">
              <a:solidFill>
                <a:srgbClr val="00B050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zh-CN" sz="2400" b="1" strike="noStrike" noProof="1" dirty="0" err="1" smtClean="0">
                <a:solidFill>
                  <a:srgbClr val="7030A0"/>
                </a:solidFill>
                <a:latin typeface="+mn-ea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base_specifier</a:t>
            </a:r>
            <a:r>
              <a:rPr lang="en-US" altLang="zh-CN" sz="2400" b="1" strike="noStrike" noProof="1" dirty="0">
                <a:solidFill>
                  <a:srgbClr val="7030A0"/>
                </a:solidFill>
                <a:latin typeface="+mn-ea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 </a:t>
            </a:r>
            <a:r>
              <a:rPr lang="zh-CN" altLang="zh-CN" sz="2400" b="1" strike="noStrike" noProof="1" dirty="0">
                <a:solidFill>
                  <a:srgbClr val="7030A0"/>
                </a:solidFill>
                <a:latin typeface="+mn-ea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为基数指示符</a:t>
            </a:r>
            <a:endParaRPr lang="zh-CN" altLang="zh-CN" sz="2400" b="1" strike="noStrike" noProof="1" dirty="0">
              <a:solidFill>
                <a:srgbClr val="7030A0"/>
              </a:solidFill>
              <a:latin typeface="+mn-ea"/>
              <a:cs typeface="Times New Roman" panose="02020603050405020304" pitchFamily="18" charset="0"/>
              <a:sym typeface="+mn-ea"/>
            </a:endParaRPr>
          </a:p>
          <a:p>
            <a:pPr eaLnBrk="1" fontAlgn="base" hangingPunct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zh-CN" sz="2400" b="1" strike="noStrike" noProof="1" dirty="0" err="1" smtClean="0">
                <a:solidFill>
                  <a:srgbClr val="7030A0"/>
                </a:solidFill>
                <a:latin typeface="+mn-ea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bit_value</a:t>
            </a:r>
            <a:r>
              <a:rPr lang="en-US" altLang="zh-CN" sz="2400" b="1" strike="noStrike" noProof="1" dirty="0">
                <a:solidFill>
                  <a:srgbClr val="7030A0"/>
                </a:solidFill>
                <a:latin typeface="+mn-ea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lang="zh-CN" altLang="en-US" sz="2400" b="1" strike="noStrike" noProof="1" dirty="0">
                <a:solidFill>
                  <a:srgbClr val="7030A0"/>
                </a:solidFill>
                <a:latin typeface="+mn-ea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比特位的值。</a:t>
            </a:r>
            <a:endParaRPr lang="zh-CN" altLang="zh-CN" sz="2400" b="1" strike="noStrike" noProof="1" dirty="0">
              <a:solidFill>
                <a:srgbClr val="00B050"/>
              </a:solidFill>
              <a:latin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6609" name="Rectangle 3"/>
          <p:cNvSpPr>
            <a:spLocks noGrp="1"/>
          </p:cNvSpPr>
          <p:nvPr/>
        </p:nvSpPr>
        <p:spPr>
          <a:xfrm>
            <a:off x="358775" y="1300163"/>
            <a:ext cx="8689975" cy="5157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zh-CN" altLang="en-US" sz="2400" b="1" dirty="0">
                <a:solidFill>
                  <a:srgbClr val="2163B4"/>
                </a:solidFill>
                <a:latin typeface="微软雅黑" panose="020B0503020204020204" charset="-122"/>
                <a:ea typeface="微软雅黑" panose="020B0503020204020204" charset="-122"/>
              </a:rPr>
              <a:t>比特字符串文字的</a:t>
            </a:r>
            <a:r>
              <a:rPr lang="en-US" altLang="zh-CN" sz="2400" b="1" dirty="0">
                <a:solidFill>
                  <a:srgbClr val="2163B4"/>
                </a:solidFill>
                <a:latin typeface="微软雅黑" panose="020B0503020204020204" charset="-122"/>
                <a:ea typeface="微软雅黑" panose="020B0503020204020204" charset="-122"/>
              </a:rPr>
              <a:t>VHDL</a:t>
            </a:r>
            <a:r>
              <a:rPr lang="zh-CN" altLang="en-US" sz="2400" b="1" dirty="0">
                <a:solidFill>
                  <a:srgbClr val="2163B4"/>
                </a:solidFill>
                <a:latin typeface="微软雅黑" panose="020B0503020204020204" charset="-122"/>
                <a:ea typeface="微软雅黑" panose="020B0503020204020204" charset="-122"/>
              </a:rPr>
              <a:t>描述的例子</a:t>
            </a:r>
            <a:r>
              <a:rPr lang="en-US" altLang="zh-CN" sz="2400" b="1" dirty="0">
                <a:solidFill>
                  <a:srgbClr val="2163B4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 b="1" dirty="0">
              <a:solidFill>
                <a:srgbClr val="2163B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B"1111_1111_1111"     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等效于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"111111111111"</a:t>
            </a:r>
            <a:endParaRPr lang="en-US" altLang="zh-CN" sz="24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X"FFF"                           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等效于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B"1111_1111_1111"</a:t>
            </a:r>
            <a:endParaRPr lang="en-US" altLang="zh-CN" sz="24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O"777"                          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等效于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B"111_111_111"</a:t>
            </a:r>
            <a:endParaRPr lang="en-US" altLang="zh-CN" sz="24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X"777"                           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等效于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B"0111_0111_0111"</a:t>
            </a:r>
            <a:endParaRPr lang="en-US" altLang="zh-CN" sz="24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5105" name="Rectangle 3"/>
          <p:cNvSpPr>
            <a:spLocks noGrp="1"/>
          </p:cNvSpPr>
          <p:nvPr/>
        </p:nvSpPr>
        <p:spPr>
          <a:xfrm>
            <a:off x="12700" y="1409700"/>
            <a:ext cx="9131300" cy="33750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50000"/>
              </a:lnSpc>
              <a:spcBef>
                <a:spcPct val="20000"/>
              </a:spcBef>
              <a:buSzTx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允许下面的替换规则：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一个竖线（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|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），可以被感叹号（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!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）替换。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一个用于表示基数的数字符号（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#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），可以被冒号（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）替换。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用于字符串首尾的双引号“”，可以被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号替换。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SzTx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这些替换并不影响描述的含义。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7633" name="文本占位符 188418"/>
          <p:cNvSpPr>
            <a:spLocks noGrp="1"/>
          </p:cNvSpPr>
          <p:nvPr>
            <p:ph idx="1"/>
          </p:nvPr>
        </p:nvSpPr>
        <p:spPr>
          <a:xfrm>
            <a:off x="611505" y="332423"/>
            <a:ext cx="8001000" cy="885825"/>
          </a:xfrm>
        </p:spPr>
        <p:txBody>
          <a:bodyPr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下标名及下标段名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634" name="文本框 188419"/>
          <p:cNvSpPr txBox="1"/>
          <p:nvPr/>
        </p:nvSpPr>
        <p:spPr>
          <a:xfrm>
            <a:off x="1143000" y="2603500"/>
            <a:ext cx="5334000" cy="366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8421" name="标题 188420"/>
          <p:cNvSpPr>
            <a:spLocks noGrp="1"/>
          </p:cNvSpPr>
          <p:nvPr>
            <p:ph type="title"/>
          </p:nvPr>
        </p:nvSpPr>
        <p:spPr>
          <a:xfrm>
            <a:off x="149225" y="1333500"/>
            <a:ext cx="8845550" cy="5103813"/>
          </a:xfrm>
          <a:noFill/>
          <a:ln>
            <a:noFill/>
          </a:ln>
        </p:spPr>
        <p:txBody>
          <a:bodyPr anchor="t" anchorCtr="0"/>
          <a:p>
            <a:pPr algn="l">
              <a:lnSpc>
                <a:spcPct val="120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、用于指示数组型变量或信号的某一元素或某一段元素</a:t>
            </a:r>
            <a:b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、语句格式分别为：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  名（表达式）；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  名（表达式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1  to/downto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表达式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;</a:t>
            </a:r>
            <a:b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b="1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signal a,b: bit_vector(7 downto 0);</a:t>
            </a:r>
            <a:b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signal c,d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: bit;</a:t>
            </a:r>
            <a:b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a&lt;=“01000111”; 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给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a(7)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a(0)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赋值为“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01000111”</a:t>
            </a:r>
            <a:b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c&lt;= a(6) ;     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a(6)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值’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1’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赋值给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c </a:t>
            </a:r>
            <a:b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b(7 downto 4)&lt;=a(3 downto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0);--a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的低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位赋给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的高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位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b(0 to 3)&lt;=a(4 to 7);        --a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的高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位赋给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的低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位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d&lt;= a(0);               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a(0)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值’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1’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赋值给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d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8657" name="文本占位符 185346"/>
          <p:cNvSpPr>
            <a:spLocks noGrp="1"/>
          </p:cNvSpPr>
          <p:nvPr>
            <p:ph idx="1"/>
          </p:nvPr>
        </p:nvSpPr>
        <p:spPr>
          <a:xfrm>
            <a:off x="571500" y="1157288"/>
            <a:ext cx="8001000" cy="885825"/>
          </a:xfrm>
        </p:spPr>
        <p:txBody>
          <a:bodyPr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注释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8658" name="文本框 1"/>
          <p:cNvSpPr txBox="1"/>
          <p:nvPr/>
        </p:nvSpPr>
        <p:spPr>
          <a:xfrm>
            <a:off x="288925" y="1914525"/>
            <a:ext cx="8566150" cy="3632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VHDL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中的注释是用“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--”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开头，直到本行末尾的一段文字，其内容可包含所有特殊字符。注释既可以跟在一行词法单元之后，又可以是该行惟一的词法单元。如果注释中的内容较多，可以采用分行注释的方法，且每行注释均以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"--"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开头。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　　注释的内容不是</a:t>
            </a:r>
            <a:r>
              <a:rPr lang="en-US" altLang="zh-CN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VHDL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设计描述的一部分，其目的仅是为了提高程序的可读性，所以在程序编译之后，注释部分将不作为程序的一部分放入数据库中。 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9681" name="文本框 797699"/>
          <p:cNvSpPr txBox="1"/>
          <p:nvPr/>
        </p:nvSpPr>
        <p:spPr>
          <a:xfrm>
            <a:off x="457200" y="952500"/>
            <a:ext cx="8686800" cy="56610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6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【例】  注释语句示例。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6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LIBRARY IEEE;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6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USE IEEE.STD_LOGIC_1164.ALL;     	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库描述语句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6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 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6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ENTITY nand2 IS                    	       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实体说明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6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PORT (a, b : IN STD_LOGIC;       	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端口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6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　　　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y: OUT STD_LOGIC);       	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说明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6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END nand2;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6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 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6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ARCHITECTURE and2_1 OF nand2 IS   	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结构体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6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6000"/>
              </a:lnSpc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    y &lt;= a nand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b;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6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END nand2_1;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705" name="矩形 189441"/>
          <p:cNvSpPr/>
          <p:nvPr/>
        </p:nvSpPr>
        <p:spPr>
          <a:xfrm>
            <a:off x="468313" y="47625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4.2.2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数据对象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0706" name="文本占位符 189442"/>
          <p:cNvSpPr>
            <a:spLocks noGrp="1"/>
          </p:cNvSpPr>
          <p:nvPr>
            <p:ph idx="1"/>
          </p:nvPr>
        </p:nvSpPr>
        <p:spPr>
          <a:xfrm>
            <a:off x="609600" y="1295400"/>
            <a:ext cx="8001000" cy="4286250"/>
          </a:xfrm>
        </p:spPr>
        <p:txBody>
          <a:bodyPr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数据对象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类似于一种容器，接受不同数据类型的赋值 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</a:t>
            </a:r>
            <a:r>
              <a:rPr lang="en-US" altLang="zh-CN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port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常量</a:t>
            </a:r>
            <a:r>
              <a:rPr lang="en-US" altLang="zh-CN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constant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</a:t>
            </a:r>
            <a:r>
              <a:rPr lang="en-US" altLang="zh-CN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variable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</a:t>
            </a:r>
            <a:r>
              <a:rPr lang="en-US" altLang="zh-CN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signal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2800" dirty="0">
              <a:solidFill>
                <a:srgbClr val="000099"/>
              </a:solidFill>
              <a:ea typeface="楷体_GB2312" pitchFamily="49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2800" dirty="0">
              <a:solidFill>
                <a:srgbClr val="000099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6849" name="标题 190465"/>
          <p:cNvSpPr>
            <a:spLocks noGrp="1"/>
          </p:cNvSpPr>
          <p:nvPr>
            <p:ph type="title"/>
          </p:nvPr>
        </p:nvSpPr>
        <p:spPr>
          <a:xfrm>
            <a:off x="107950" y="692785"/>
            <a:ext cx="8997950" cy="5803900"/>
          </a:xfrm>
          <a:noFill/>
          <a:ln>
            <a:noFill/>
          </a:ln>
        </p:spPr>
        <p:txBody>
          <a:bodyPr anchor="t" anchorCtr="0"/>
          <a:p>
            <a:pPr marL="0" indent="0" algn="l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对象种类：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常量：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不对应电路中的物理量，但可以说明全局量。在结构体、实体、程序包、进程、函数、过程中均可使用。    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变量：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程序运算的中间量，并不对应电路中的物理量。变量是局部量，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不能在结构体中声明，只能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用于进程、函数、过程。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信号：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电路中的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物理量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，对应于电路的连线和节点。信号说明全局量，用于描述结构体、实体、程序包。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端口：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设计单元与外界的接口。常用的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端口类型有输入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(Input)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、输出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(Output)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、双向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(Inout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和缓冲输出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(Buffer)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四种。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7873" name="标题 191489"/>
          <p:cNvSpPr>
            <a:spLocks noGrp="1"/>
          </p:cNvSpPr>
          <p:nvPr>
            <p:ph type="title"/>
          </p:nvPr>
        </p:nvSpPr>
        <p:spPr>
          <a:xfrm>
            <a:off x="107315" y="621030"/>
            <a:ext cx="8747125" cy="5562600"/>
          </a:xfrm>
          <a:noFill/>
          <a:ln>
            <a:noFill/>
          </a:ln>
        </p:spPr>
        <p:txBody>
          <a:bodyPr anchor="t" anchorCtr="0"/>
          <a:p>
            <a:pPr marL="0" indent="711200" algn="l" eaLnBrk="1" latinLnBrk="0" hangingPunct="1">
              <a:lnSpc>
                <a:spcPct val="100000"/>
              </a:lnSpc>
              <a:spcBef>
                <a:spcPts val="3000"/>
              </a:spcBef>
              <a:spcAft>
                <a:spcPts val="3000"/>
              </a:spcAft>
              <a:buClr>
                <a:schemeClr val="accent2"/>
              </a:buClr>
              <a:buFont typeface="Wingdings" panose="05000000000000000000" pitchFamily="2" charset="2"/>
              <a:buNone/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对象特点：</a:t>
            </a:r>
            <a:b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Input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Inout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Buffer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端口可以对其他对象赋值，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Inout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Buffer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可以被其他对象赋值。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、常量只能被赋值一次；常量在被创建时就被赋值为一个固定的值，并且常量的值在使用过程中只能对其他对象赋值，不能被修改。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、信号和变量可以被连续地赋值；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、信号和变量的赋值形式和执行过程不同：变量是立即赋值（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:=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），没有延迟，而信号赋值要有一定的延迟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(&lt;=)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br>
              <a: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0945" name="文本占位符 194562"/>
          <p:cNvSpPr>
            <a:spLocks noGrp="1"/>
          </p:cNvSpPr>
          <p:nvPr>
            <p:ph idx="1"/>
          </p:nvPr>
        </p:nvSpPr>
        <p:spPr>
          <a:xfrm>
            <a:off x="564515" y="2564765"/>
            <a:ext cx="8001000" cy="3225165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【例】常量说明实例：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CONSTANT DBUS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﹕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BIT_VECTOR:=“01011010”;   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CONSTANT VCC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﹕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REAL:=5.0;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CONSTANT DELY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﹕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TIME:=25 ns;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定义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TIME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时间型常量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DELY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，取值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25 ns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92513"/>
          <p:cNvSpPr>
            <a:spLocks noGrp="1"/>
          </p:cNvSpPr>
          <p:nvPr>
            <p:ph type="title"/>
          </p:nvPr>
        </p:nvSpPr>
        <p:spPr>
          <a:xfrm>
            <a:off x="107315" y="188595"/>
            <a:ext cx="8458200" cy="1773555"/>
          </a:xfrm>
          <a:noFill/>
          <a:ln>
            <a:noFill/>
          </a:ln>
        </p:spPr>
        <p:txBody>
          <a:bodyPr anchor="t" anchorCtr="0"/>
          <a:p>
            <a:pPr marL="469900" indent="-469900" algn="l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常量</a:t>
            </a:r>
            <a:b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Constant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常量名 ：数据类型</a:t>
            </a:r>
            <a:r>
              <a:rPr lang="en-US" altLang="zh-CN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[:=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</a:t>
            </a:r>
            <a:r>
              <a:rPr lang="en-US" altLang="zh-CN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表达式用于设定初始值，是可选项。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1969" name="文本占位符 195586"/>
          <p:cNvSpPr>
            <a:spLocks noGrp="1"/>
          </p:cNvSpPr>
          <p:nvPr>
            <p:ph idx="1"/>
          </p:nvPr>
        </p:nvSpPr>
        <p:spPr>
          <a:xfrm>
            <a:off x="107950" y="2420620"/>
            <a:ext cx="8733155" cy="2578735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【例】变量说明实例：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VARIABLE  x, y: INTEGER;     ---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定义变量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，整数类型。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VARIABLE  count: INTEGER RANGE 0 TO 255:=10;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variable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V: 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STD_LOGIC_VECTOR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 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downto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):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"0101";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9921" name="标题 192513"/>
          <p:cNvSpPr>
            <a:spLocks noGrp="1"/>
          </p:cNvSpPr>
          <p:nvPr>
            <p:ph type="title"/>
          </p:nvPr>
        </p:nvSpPr>
        <p:spPr>
          <a:xfrm>
            <a:off x="323215" y="260985"/>
            <a:ext cx="8458200" cy="1948815"/>
          </a:xfrm>
          <a:noFill/>
          <a:ln>
            <a:noFill/>
          </a:ln>
        </p:spPr>
        <p:txBody>
          <a:bodyPr anchor="t" anchorCtr="0"/>
          <a:p>
            <a:pPr marL="469900" indent="-469900" algn="l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</a:t>
            </a:r>
            <a:b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定义：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Variable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变量名 ：数据类型</a:t>
            </a:r>
            <a:r>
              <a:rPr lang="en-US" altLang="zh-CN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[:=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</a:t>
            </a:r>
            <a:r>
              <a:rPr lang="en-US" altLang="zh-CN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表达式用于设定初始值，是可选项。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92513"/>
          <p:cNvSpPr>
            <a:spLocks noGrp="1"/>
          </p:cNvSpPr>
          <p:nvPr/>
        </p:nvSpPr>
        <p:spPr>
          <a:xfrm>
            <a:off x="681990" y="4996815"/>
            <a:ext cx="8458200" cy="1295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赋值：</a:t>
            </a:r>
            <a:r>
              <a:rPr 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变量名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:=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:=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是变量赋值符，赋值操作是立即执行。</a:t>
            </a:r>
            <a:b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9921" name="标题 192513"/>
          <p:cNvSpPr>
            <a:spLocks noGrp="1"/>
          </p:cNvSpPr>
          <p:nvPr>
            <p:ph type="title"/>
          </p:nvPr>
        </p:nvSpPr>
        <p:spPr>
          <a:xfrm>
            <a:off x="179705" y="404495"/>
            <a:ext cx="8458200" cy="1862455"/>
          </a:xfrm>
          <a:noFill/>
          <a:ln>
            <a:noFill/>
          </a:ln>
        </p:spPr>
        <p:txBody>
          <a:bodyPr anchor="t" anchorCtr="0"/>
          <a:p>
            <a:pPr marL="469900" indent="-469900" algn="l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</a:t>
            </a:r>
            <a:b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定义：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Signal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信号名 ：数据类型</a:t>
            </a:r>
            <a:r>
              <a:rPr lang="en-US" altLang="zh-CN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[:=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</a:t>
            </a:r>
            <a:r>
              <a:rPr lang="en-US" altLang="zh-CN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表达式用于设定初始值，是可选项。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2993" name="文本占位符 196610"/>
          <p:cNvSpPr>
            <a:spLocks noGrp="1"/>
          </p:cNvSpPr>
          <p:nvPr>
            <p:ph idx="1"/>
          </p:nvPr>
        </p:nvSpPr>
        <p:spPr>
          <a:xfrm>
            <a:off x="323215" y="2420620"/>
            <a:ext cx="8535670" cy="2477135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【例】信号说明实例：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SIGNAL sys_clk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: BIT:=’0’;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SIGNAL data_bus: Std_Logic_Vector(7 Downto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0):= (others=&gt;’1’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;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92513"/>
          <p:cNvSpPr>
            <a:spLocks noGrp="1"/>
          </p:cNvSpPr>
          <p:nvPr/>
        </p:nvSpPr>
        <p:spPr>
          <a:xfrm>
            <a:off x="681990" y="4996815"/>
            <a:ext cx="8458200" cy="1295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l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赋值：</a:t>
            </a:r>
            <a:r>
              <a:rPr 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信号名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&lt;=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表达式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&lt;=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是信号赋值符，赋值操作是延时执行。</a:t>
            </a:r>
            <a:b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4017" name="标题 192513"/>
          <p:cNvSpPr>
            <a:spLocks noGrp="1"/>
          </p:cNvSpPr>
          <p:nvPr>
            <p:ph type="title"/>
          </p:nvPr>
        </p:nvSpPr>
        <p:spPr>
          <a:xfrm>
            <a:off x="257175" y="400050"/>
            <a:ext cx="8223250" cy="5843588"/>
          </a:xfrm>
          <a:noFill/>
          <a:ln>
            <a:noFill/>
          </a:ln>
        </p:spPr>
        <p:txBody>
          <a:bodyPr anchor="t" anchorCtr="0"/>
          <a:p>
            <a:pPr marL="469900" indent="-469900" algn="l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几点说明</a:t>
            </a:r>
            <a:b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虽然变量可以赋初始值，但是在综合时，综合器会将初始值忽略掉。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变量在综合后可以是一个连线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(Wire)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，也可以是一个寄存器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(register)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，综合的结果取决于变量在时序电路中是否用于保存信号值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信号可以用于在结构体中的不同并发语句之间传递信息，也可以通过端口与其他实体传递信息。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、信号在声明结构中被赋予的初始值，在综合时也会被忽略。信号重新被赋值采用“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&lt;=”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符号进行操作。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1" name="标题 83969"/>
          <p:cNvSpPr>
            <a:spLocks noGrp="1"/>
          </p:cNvSpPr>
          <p:nvPr/>
        </p:nvSpPr>
        <p:spPr>
          <a:xfrm>
            <a:off x="467360" y="1412875"/>
            <a:ext cx="8115300" cy="4340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1)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声明和使用位置不同</a:t>
            </a:r>
            <a:b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变量只能在进程语句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(Process)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、函数语句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(Function)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和过程语句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(Procedure)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内声明，也只能在这些语句内部使用，因此是一个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局部对象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b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信号可以在实体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(Entity)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、结构体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(Architecture)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和块语句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(Block)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中声明，在进程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(Process)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、函数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(Function)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和过程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(Procedure)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中使用，因此可以在不同的进程之间传递信息，是一个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全局对象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5042" name="标题 192513"/>
          <p:cNvSpPr>
            <a:spLocks noGrp="1"/>
          </p:cNvSpPr>
          <p:nvPr>
            <p:ph type="title"/>
          </p:nvPr>
        </p:nvSpPr>
        <p:spPr>
          <a:xfrm>
            <a:off x="257175" y="400050"/>
            <a:ext cx="8223250" cy="617538"/>
          </a:xfrm>
          <a:noFill/>
          <a:ln>
            <a:noFill/>
          </a:ln>
        </p:spPr>
        <p:txBody>
          <a:bodyPr anchor="t" anchorCtr="0"/>
          <a:p>
            <a:pPr marL="469900" indent="-469900" algn="l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变量与信号对比</a:t>
            </a:r>
            <a:b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</a:br>
            <a:endParaRPr lang="zh-CN" altLang="en-US" sz="280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16065" name="组合 819206"/>
          <p:cNvGrpSpPr/>
          <p:nvPr/>
        </p:nvGrpSpPr>
        <p:grpSpPr>
          <a:xfrm>
            <a:off x="347028" y="980758"/>
            <a:ext cx="8450262" cy="5292725"/>
            <a:chOff x="384" y="436"/>
            <a:chExt cx="5323" cy="3334"/>
          </a:xfrm>
        </p:grpSpPr>
        <p:sp>
          <p:nvSpPr>
            <p:cNvPr id="216066" name="文本框 819203"/>
            <p:cNvSpPr txBox="1"/>
            <p:nvPr/>
          </p:nvSpPr>
          <p:spPr>
            <a:xfrm>
              <a:off x="384" y="436"/>
              <a:ext cx="5323" cy="33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lnSpc>
                  <a:spcPct val="130000"/>
                </a:lnSpc>
              </a:pP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信号与变量在结构体的位置说明如下：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ARCHITECTURE 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结构体名 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OF 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实体名 </a:t>
              </a:r>
              <a:r>
                <a:rPr lang="en-US" altLang="zh-CN" sz="2000" b="1">
                  <a:latin typeface="微软雅黑" panose="020B0503020204020204" charset="-122"/>
                  <a:ea typeface="微软雅黑" panose="020B0503020204020204" charset="-122"/>
                </a:rPr>
                <a:t>IS</a:t>
              </a:r>
              <a:endParaRPr lang="en-US" altLang="zh-CN" sz="20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[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信号说明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]   --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在进程外部对信号说明，该信号对所有的进程都是可见的。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2000" b="1">
                  <a:latin typeface="微软雅黑" panose="020B0503020204020204" charset="-122"/>
                  <a:ea typeface="微软雅黑" panose="020B0503020204020204" charset="-122"/>
                </a:rPr>
                <a:t>BEGIN</a:t>
              </a:r>
              <a:endParaRPr lang="en-US" altLang="zh-CN" sz="20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　进程标号</a:t>
              </a:r>
              <a:r>
                <a:rPr lang="en-US" altLang="zh-CN" sz="2000" b="1">
                  <a:latin typeface="微软雅黑" panose="020B0503020204020204" charset="-122"/>
                  <a:ea typeface="微软雅黑" panose="020B0503020204020204" charset="-122"/>
                </a:rPr>
                <a:t>1: PROCESS</a:t>
              </a:r>
              <a:endParaRPr lang="en-US" altLang="zh-CN" sz="20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变量说明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] --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在进程内部对变量说明，该变量只在该进程内部是可见的。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            </a:t>
              </a:r>
              <a:endParaRPr lang="zh-CN" altLang="en-US" sz="20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END PROCESS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进程标号</a:t>
              </a:r>
              <a:r>
                <a:rPr lang="en-US" altLang="zh-CN" sz="2000" b="1">
                  <a:latin typeface="微软雅黑" panose="020B0503020204020204" charset="-122"/>
                  <a:ea typeface="微软雅黑" panose="020B0503020204020204" charset="-122"/>
                </a:rPr>
                <a:t>1;</a:t>
              </a:r>
              <a:endParaRPr lang="en-US" altLang="zh-CN" sz="20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　进程标号</a:t>
              </a:r>
              <a:r>
                <a:rPr lang="en-US" altLang="zh-CN" sz="2000" b="1">
                  <a:latin typeface="微软雅黑" panose="020B0503020204020204" charset="-122"/>
                  <a:ea typeface="微软雅黑" panose="020B0503020204020204" charset="-122"/>
                </a:rPr>
                <a:t>2: PROCESS</a:t>
              </a:r>
              <a:endParaRPr lang="en-US" altLang="zh-CN" sz="20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    [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变量说明</a:t>
              </a:r>
              <a:r>
                <a:rPr lang="en-US" altLang="zh-CN" sz="2000" b="1">
                  <a:latin typeface="微软雅黑" panose="020B0503020204020204" charset="-122"/>
                  <a:ea typeface="微软雅黑" panose="020B0503020204020204" charset="-122"/>
                </a:rPr>
                <a:t>]</a:t>
              </a:r>
              <a:endParaRPr lang="en-US" altLang="zh-CN" sz="20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endParaRPr lang="en-US" altLang="zh-CN" sz="20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2000" b="1" dirty="0">
                  <a:latin typeface="微软雅黑" panose="020B0503020204020204" charset="-122"/>
                  <a:ea typeface="微软雅黑" panose="020B0503020204020204" charset="-122"/>
                </a:rPr>
                <a:t>  END PROCESS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进程标号</a:t>
              </a:r>
              <a:r>
                <a:rPr lang="en-US" altLang="zh-CN" sz="2000" b="1">
                  <a:latin typeface="微软雅黑" panose="020B0503020204020204" charset="-122"/>
                  <a:ea typeface="微软雅黑" panose="020B0503020204020204" charset="-122"/>
                </a:rPr>
                <a:t>2;</a:t>
              </a:r>
              <a:endParaRPr lang="en-US" altLang="zh-CN" sz="20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sz="2000" b="1">
                  <a:latin typeface="微软雅黑" panose="020B0503020204020204" charset="-122"/>
                  <a:ea typeface="微软雅黑" panose="020B0503020204020204" charset="-122"/>
                </a:rPr>
                <a:t>END </a:t>
              </a:r>
              <a:r>
                <a:rPr lang="zh-CN" altLang="en-US" sz="2000" b="1" dirty="0">
                  <a:latin typeface="微软雅黑" panose="020B0503020204020204" charset="-122"/>
                  <a:ea typeface="微软雅黑" panose="020B0503020204020204" charset="-122"/>
                </a:rPr>
                <a:t>结构体名</a:t>
              </a:r>
              <a:r>
                <a:rPr lang="en-US" altLang="zh-CN" sz="2000" b="1">
                  <a:latin typeface="微软雅黑" panose="020B0503020204020204" charset="-122"/>
                  <a:ea typeface="微软雅黑" panose="020B0503020204020204" charset="-122"/>
                </a:rPr>
                <a:t>; </a:t>
              </a:r>
              <a:endParaRPr lang="en-US" altLang="zh-CN" sz="20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6067" name="文本框 819204"/>
            <p:cNvSpPr txBox="1"/>
            <p:nvPr/>
          </p:nvSpPr>
          <p:spPr>
            <a:xfrm>
              <a:off x="1046" y="3024"/>
              <a:ext cx="34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 anchor="t" anchorCtr="0">
              <a:spAutoFit/>
            </a:bodyPr>
            <a:p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…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6068" name="文本框 819205"/>
            <p:cNvSpPr txBox="1"/>
            <p:nvPr/>
          </p:nvSpPr>
          <p:spPr>
            <a:xfrm>
              <a:off x="912" y="2006"/>
              <a:ext cx="34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 anchor="t" anchorCtr="0">
              <a:spAutoFit/>
            </a:bodyPr>
            <a:p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…</a:t>
              </a:r>
              <a:endParaRPr lang="en-US" altLang="zh-CN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7089" name="标题 82945"/>
          <p:cNvSpPr>
            <a:spLocks noGrp="1"/>
          </p:cNvSpPr>
          <p:nvPr/>
        </p:nvSpPr>
        <p:spPr>
          <a:xfrm>
            <a:off x="323533" y="1124585"/>
            <a:ext cx="8543925" cy="4752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2)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赋值符号和延迟不同</a:t>
            </a:r>
            <a:b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变量用“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:=”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赋值，信号用“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&lt;=”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赋值。</a:t>
            </a:r>
            <a:b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  变量被赋值时，可以被看做是赋值符号右侧表达式的代名词，这个操作是即时的，没有延时。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在执行下一条语句时，该变量的值就为上一句新赋的值。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而信号是物理单元的抽象，在传输线上是有延时的，因此操作是有时延的，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在下一条语句执行时，该信号仍旧使用原来的信号值。直到进程结束之后，所有信号代入语句的代入才按顺序处理。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所以说，信号的实际代入过程和代入语句的执行是分开进行的。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0161" name="文本框 827395"/>
          <p:cNvSpPr txBox="1"/>
          <p:nvPr/>
        </p:nvSpPr>
        <p:spPr>
          <a:xfrm>
            <a:off x="487363" y="908685"/>
            <a:ext cx="8169275" cy="53673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1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【例】  变量和信号的赋值。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1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LIBRARY IEEE;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1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USE IEEE.STD_LOGIC_1164.ALL;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1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1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ENTITY valuation IS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1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PORT (signal_out : OUT BIT_VECTOR (7 DOWNTO 0));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1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END valuation;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1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1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ARCHITECTURE behavioral OF valuation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1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SIGNAL s1, s2: BIT;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1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BEGIN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1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PROCESS (s1, s2)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0">
              <a:lnSpc>
                <a:spcPct val="11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VARIABLE v1, v2: BIT; 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1185" name="文本框 826371"/>
          <p:cNvSpPr txBox="1"/>
          <p:nvPr/>
        </p:nvSpPr>
        <p:spPr>
          <a:xfrm>
            <a:off x="561975" y="619125"/>
            <a:ext cx="3725863" cy="58467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3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v1 :='1';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v2 :='1';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s1 &lt;='1';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s2 &lt;='1';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signal_out (0) &lt;=v1;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signal_out (1) &lt;=v2;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signal_out (2) &lt;=s1;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signal_out (3) &lt;=s2;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v1 :='0';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v2 :='0';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s2 &lt;='0';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186" name="文本框 825347"/>
          <p:cNvSpPr txBox="1"/>
          <p:nvPr/>
        </p:nvSpPr>
        <p:spPr>
          <a:xfrm>
            <a:off x="4619625" y="1835150"/>
            <a:ext cx="3725545" cy="34150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signal_out (4) &lt;=v1;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signal_out (5) &lt;=v2;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signal_out (6) &lt;=s1;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signal_out (7) &lt;=s2;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END PROCESS;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END behavioral;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2209" name="文本框 824323"/>
          <p:cNvSpPr txBox="1"/>
          <p:nvPr/>
        </p:nvSpPr>
        <p:spPr>
          <a:xfrm>
            <a:off x="222250" y="2006600"/>
            <a:ext cx="4664075" cy="2489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在上例中，语句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"s2 &lt;='1';"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对执行结果没有影响，原因是该进程中后面的语句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"s2 &lt;='0'"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取代了前面对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s2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的赋值。上例最终执行结果为：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2210" name="文本框 824324"/>
          <p:cNvSpPr txBox="1"/>
          <p:nvPr/>
        </p:nvSpPr>
        <p:spPr>
          <a:xfrm>
            <a:off x="5305425" y="1435100"/>
            <a:ext cx="3408363" cy="42259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4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signal_out (0) =1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signal_out (1) =1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signal_out (2) =1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signal_out (3) =0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signal_out (4) =0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signal_out (5) =0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signal_out (6) =1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signal_out (7) =0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8113" name="文本框 820227"/>
          <p:cNvSpPr txBox="1"/>
          <p:nvPr/>
        </p:nvSpPr>
        <p:spPr>
          <a:xfrm>
            <a:off x="539433" y="1124268"/>
            <a:ext cx="7284085" cy="60769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变量与信号是不同的，下表给出了二者之间的差异。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8114" name="文本框 820228"/>
          <p:cNvSpPr txBox="1"/>
          <p:nvPr/>
        </p:nvSpPr>
        <p:spPr>
          <a:xfrm>
            <a:off x="2936875" y="2301875"/>
            <a:ext cx="428879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信号和变量的区别 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18115" name="对象 820229"/>
          <p:cNvGraphicFramePr/>
          <p:nvPr/>
        </p:nvGraphicFramePr>
        <p:xfrm>
          <a:off x="-381000" y="2914650"/>
          <a:ext cx="9982200" cy="188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5410200" imgH="1019175" progId="Word.Document.8">
                  <p:embed/>
                </p:oleObj>
              </mc:Choice>
              <mc:Fallback>
                <p:oleObj name="" r:id="rId1" imgW="5410200" imgH="1019175" progId="Word.Document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381000" y="2914650"/>
                        <a:ext cx="9982200" cy="1885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3233" name="左大括号 193538"/>
          <p:cNvSpPr/>
          <p:nvPr/>
        </p:nvSpPr>
        <p:spPr>
          <a:xfrm>
            <a:off x="2590800" y="2362200"/>
            <a:ext cx="76200" cy="2133600"/>
          </a:xfrm>
          <a:prstGeom prst="leftBrace">
            <a:avLst>
              <a:gd name="adj1" fmla="val 232555"/>
              <a:gd name="adj2" fmla="val 50000"/>
            </a:avLst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4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3234" name="左大括号 193539"/>
          <p:cNvSpPr/>
          <p:nvPr/>
        </p:nvSpPr>
        <p:spPr>
          <a:xfrm>
            <a:off x="2667000" y="4800600"/>
            <a:ext cx="76200" cy="1219200"/>
          </a:xfrm>
          <a:prstGeom prst="leftBrace">
            <a:avLst>
              <a:gd name="adj1" fmla="val 132888"/>
              <a:gd name="adj2" fmla="val 50000"/>
            </a:avLst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3235" name="矩形 193540"/>
          <p:cNvSpPr/>
          <p:nvPr/>
        </p:nvSpPr>
        <p:spPr>
          <a:xfrm>
            <a:off x="539433" y="33274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en-US" altLang="zh-CN" sz="3600" b="1" dirty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4.2.3 </a:t>
            </a:r>
            <a:r>
              <a:rPr lang="zh-CN" altLang="en-US" sz="3600" b="1" dirty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数据类型</a:t>
            </a:r>
            <a:endParaRPr lang="zh-CN" altLang="en-US" sz="36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3236" name="文本占位符 193542"/>
          <p:cNvSpPr>
            <a:spLocks noGrp="1"/>
          </p:cNvSpPr>
          <p:nvPr>
            <p:ph idx="1"/>
          </p:nvPr>
        </p:nvSpPr>
        <p:spPr>
          <a:xfrm>
            <a:off x="179705" y="981075"/>
            <a:ext cx="8589645" cy="5527675"/>
          </a:xfrm>
        </p:spPr>
        <p:txBody>
          <a:bodyPr anchor="t" anchorCtr="0"/>
          <a:p>
            <a:pPr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是一种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强类型语言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，要求设计实体中的每一个常数、信号、变量、函数以及设定的各种参量都必须具有确定的数据类型，并且只有数据类型相同的量才能互相传递和作用。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数字电路中信号分为逻辑信号和数值信号。逻辑信号包含布尔（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Boolean</a:t>
            </a:r>
            <a:r>
              <a:rPr 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 、位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(bit)</a:t>
            </a:r>
            <a:r>
              <a:rPr 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、标准逻辑位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(std_logic)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；数值信号包含整数（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Integer 、Unsigned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）和实数（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  <a:endParaRPr 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中的数据类型引用方式有：预定义、自定义和类型转换等。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中的数据类型：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标量（整数、浮点、枚举、物理）、复合（数组、记录）、文件、存取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4257" name="文本占位符 65537"/>
          <p:cNvSpPr>
            <a:spLocks noGrp="1"/>
          </p:cNvSpPr>
          <p:nvPr>
            <p:ph idx="1"/>
          </p:nvPr>
        </p:nvSpPr>
        <p:spPr>
          <a:xfrm>
            <a:off x="467995" y="1844675"/>
            <a:ext cx="7772400" cy="25146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None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标准程序包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Standard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中定义的，在实际使用中，已自动包含进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的源文件中。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使用不必通过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语句以显式调用。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400">
                <a:latin typeface="楷体_GB2312" pitchFamily="49" charset="-122"/>
                <a:ea typeface="楷体_GB2312" pitchFamily="49" charset="-122"/>
              </a:rPr>
              <a:t>   </a:t>
            </a:r>
            <a:endParaRPr lang="zh-CN" altLang="en-US" sz="24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5281" name="矩形 200707"/>
          <p:cNvSpPr/>
          <p:nvPr/>
        </p:nvSpPr>
        <p:spPr>
          <a:xfrm>
            <a:off x="456883" y="908685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标准数据类型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（可直接引用）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zh-CN" altLang="en-US" sz="2800" b="1">
              <a:solidFill>
                <a:srgbClr val="99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82" name="文本占位符 200708"/>
          <p:cNvSpPr>
            <a:spLocks noGrp="1"/>
          </p:cNvSpPr>
          <p:nvPr>
            <p:ph idx="1"/>
          </p:nvPr>
        </p:nvSpPr>
        <p:spPr>
          <a:xfrm>
            <a:off x="611505" y="836930"/>
            <a:ext cx="7772400" cy="5181600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）整数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(INTEGER)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整数类型的数代表正整数、负整数和零。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整数在硬件电路中是用二进制表示的，但其不能被看作位矢量（枚举型），不能使用逻辑操作符。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整数常量的书写方式示例如下：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        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十进制整数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10E4       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十进制整数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16#D2#     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十六进制整数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4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2#11011010#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二进制整数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6306" name="文本占位符 201730"/>
          <p:cNvSpPr>
            <a:spLocks noGrp="1"/>
          </p:cNvSpPr>
          <p:nvPr>
            <p:ph idx="1"/>
          </p:nvPr>
        </p:nvSpPr>
        <p:spPr>
          <a:xfrm>
            <a:off x="539750" y="908685"/>
            <a:ext cx="7772400" cy="49530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05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）实数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5000"/>
              </a:lnSpc>
              <a:buNone/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的实数类型类似于数学上的实数，或称浮点数，取值范围为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-1.0E38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～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+1.0E38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5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书写时一定要有小数。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5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仅能在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仿真器中使用，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综合器不支持实数，因为实数类型的实现相当复杂，目前在电路规模上难以承受。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5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实数常量的书写方式举例如下：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65971.333333         	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十进制浮点数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8#43.6#E+4       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八进制浮点数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43.6E-4              	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十进制浮点数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7329" name="文本占位符 66561"/>
          <p:cNvSpPr>
            <a:spLocks noGrp="1"/>
          </p:cNvSpPr>
          <p:nvPr>
            <p:ph idx="1"/>
          </p:nvPr>
        </p:nvSpPr>
        <p:spPr>
          <a:xfrm>
            <a:off x="323850" y="908685"/>
            <a:ext cx="8423910" cy="5441950"/>
          </a:xfrm>
        </p:spPr>
        <p:txBody>
          <a:bodyPr vert="horz" wrap="square" lIns="91440" tIns="45720" rIns="91440" bIns="45720" anchor="t" anchorCtr="0"/>
          <a:p>
            <a:pPr marL="495300" indent="-495300">
              <a:lnSpc>
                <a:spcPct val="140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 位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(BIT)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95300" indent="-495300">
              <a:lnSpc>
                <a:spcPct val="140000"/>
              </a:lnSpc>
              <a:buNone/>
            </a:pP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位数据类型也属于枚举型，取值 ‘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1’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或‘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0’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95300" indent="-495300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可以进行逻辑运算，运算结果仍是位数据类型。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综合器用一个二进制位表示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95300" indent="-495300"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在程序包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STANDARD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中定义的源代码是：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95300" indent="-495300" algn="ctr">
              <a:lnSpc>
                <a:spcPct val="14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BIT IS (‘0’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，‘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1’)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95300" indent="-495300">
              <a:lnSpc>
                <a:spcPct val="9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95300" indent="-495300" algn="ctr">
              <a:lnSpc>
                <a:spcPct val="90000"/>
              </a:lnSpc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a,b,c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bit;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95300" indent="-495300" algn="ctr">
              <a:lnSpc>
                <a:spcPct val="9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c&lt;= a and b;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8353" name="文本占位符 67585"/>
          <p:cNvSpPr>
            <a:spLocks noGrp="1"/>
          </p:cNvSpPr>
          <p:nvPr>
            <p:ph idx="1"/>
          </p:nvPr>
        </p:nvSpPr>
        <p:spPr>
          <a:xfrm>
            <a:off x="323850" y="1124585"/>
            <a:ext cx="8264525" cy="43434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）位矢量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(BIT_VECTOR)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位矢量是基于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数据类型的数组。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在程序包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STANDARD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中定义的源代码是：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BIT_VECTOR IS ARRAY(NATURAL RANGE&lt;&gt;)OF BIT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位矢量是用双引号括起来的一组位数据。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a : bit_vector( 7 downto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0):=”11001010”;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240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9377" name="文本占位符 68609"/>
          <p:cNvSpPr>
            <a:spLocks noGrp="1"/>
          </p:cNvSpPr>
          <p:nvPr>
            <p:ph idx="1"/>
          </p:nvPr>
        </p:nvSpPr>
        <p:spPr>
          <a:xfrm>
            <a:off x="533400" y="1600200"/>
            <a:ext cx="7772400" cy="29718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）布尔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(BOOLEAN)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布尔数据类型实际上是一个二值枚举型数据类型，它的取值有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FALSE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TRUE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可以进行关系运算和逻辑运算，不能用于算术运算。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a=b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p"/>
            </a:pPr>
            <a:endParaRPr lang="en-US" altLang="zh-CN" sz="240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             </a:t>
            </a:r>
            <a:endParaRPr lang="en-US" altLang="zh-CN" sz="240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0401" name="文本占位符 69633"/>
          <p:cNvSpPr>
            <a:spLocks noGrp="1"/>
          </p:cNvSpPr>
          <p:nvPr>
            <p:ph idx="1"/>
          </p:nvPr>
        </p:nvSpPr>
        <p:spPr>
          <a:xfrm>
            <a:off x="395605" y="548640"/>
            <a:ext cx="8001000" cy="5518150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 字符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(CHARACTER)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字符类型通常用单引号引起来，如‘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A’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。字符类型区分大小写，如‘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B’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不同于‘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b’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 字符串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(STRING)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非约束型字符数组，或称为字符串数组。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字符串必须用双引号标明。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VARIABLE STRING_VAR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﹕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STRING(1 TO 7)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STRING_VAR:=“A B C D”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1425" name="文本占位符 71681"/>
          <p:cNvSpPr>
            <a:spLocks noGrp="1"/>
          </p:cNvSpPr>
          <p:nvPr>
            <p:ph idx="1"/>
          </p:nvPr>
        </p:nvSpPr>
        <p:spPr>
          <a:xfrm>
            <a:off x="533400" y="2438400"/>
            <a:ext cx="7772400" cy="36576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None/>
            </a:pP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            </a:t>
            </a:r>
            <a:endParaRPr lang="en-US" altLang="zh-CN" sz="24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1427" name="文本框 71683"/>
          <p:cNvSpPr txBox="1"/>
          <p:nvPr/>
        </p:nvSpPr>
        <p:spPr>
          <a:xfrm>
            <a:off x="251460" y="404495"/>
            <a:ext cx="8361680" cy="609536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）时间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(TIME)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中唯一预定义物理类型，由整数和物理量单位两部分组成，之间至少留一个空格，如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 ms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1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Standard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程序包中时间型定义如下：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TIME IS RANGE -2147483647 TO 2147483647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units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fs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          	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飞秒，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中的最小时间单位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 = 1000 fs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               	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皮秒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ns = 1000 ps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               	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纳秒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 = 1000 ns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               	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微秒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 = 1000 us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            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毫秒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 = 1000 ms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           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 = 60 sec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               	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hr = 60 min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                	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8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untis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2450" name="矩形 72707"/>
          <p:cNvSpPr/>
          <p:nvPr/>
        </p:nvSpPr>
        <p:spPr>
          <a:xfrm>
            <a:off x="381000" y="1371600"/>
            <a:ext cx="7772400" cy="4495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 错误等级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(SEVERITY_LEVEL)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仿真器中，错误等级用来指示设计系统的工作状态，共有四种可能的状态值：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NOTE(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WARNING(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警告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ERROR(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出错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FAILURE(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其定义如下：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SEVERITY_LEVE  IS (NOTE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WARNING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ERROR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FAILURE)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4497" name="文本占位符 73729"/>
          <p:cNvSpPr>
            <a:spLocks noGrp="1"/>
          </p:cNvSpPr>
          <p:nvPr>
            <p:ph idx="1"/>
          </p:nvPr>
        </p:nvSpPr>
        <p:spPr>
          <a:xfrm>
            <a:off x="533400" y="1383665"/>
            <a:ext cx="8001000" cy="4712335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None/>
            </a:pP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            </a:t>
            </a:r>
            <a:endParaRPr lang="en-US" altLang="zh-CN" sz="24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4498" name="矩形 73730"/>
          <p:cNvSpPr/>
          <p:nvPr/>
        </p:nvSpPr>
        <p:spPr>
          <a:xfrm>
            <a:off x="468313" y="47625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IEEE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预定义标准逻辑类型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4499" name="矩形 73731"/>
          <p:cNvSpPr/>
          <p:nvPr/>
        </p:nvSpPr>
        <p:spPr>
          <a:xfrm>
            <a:off x="609600" y="1447800"/>
            <a:ext cx="8001000" cy="2560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IEEE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库的程序包</a:t>
            </a:r>
            <a:r>
              <a:rPr lang="en-US" altLang="zh-CN" sz="2400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STD_LOGIC_1164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中，定义了两个非常重要的数据类型，即标准逻辑位</a:t>
            </a:r>
            <a:r>
              <a:rPr lang="en-US" altLang="zh-CN" sz="2400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和标准逻辑矢量</a:t>
            </a:r>
            <a:r>
              <a:rPr lang="en-US" altLang="zh-CN" sz="2400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STD_LOGIC_VECTOR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使用时用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语句显式调用。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21" name="文本占位符 77825"/>
          <p:cNvSpPr>
            <a:spLocks noGrp="1"/>
          </p:cNvSpPr>
          <p:nvPr>
            <p:ph idx="1"/>
          </p:nvPr>
        </p:nvSpPr>
        <p:spPr>
          <a:xfrm>
            <a:off x="467360" y="1052830"/>
            <a:ext cx="8077200" cy="48768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 标准逻辑位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    </a:t>
            </a:r>
            <a:r>
              <a:rPr lang="en-US" altLang="zh-CN" sz="2400">
                <a:latin typeface="楷体_GB2312" pitchFamily="49" charset="-122"/>
                <a:ea typeface="楷体_GB2312" pitchFamily="49" charset="-122"/>
              </a:rPr>
              <a:t>        </a:t>
            </a:r>
            <a:endParaRPr lang="en-US" altLang="zh-CN" sz="240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数据类型的定义如下所示：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STD_LOGIC IS ('U'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'X'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，‘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0’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'1'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'Z'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'W'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'L'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'H'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'-')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各值的含义是：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'U'--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未初始化的，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'X'--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强未知的，‘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0’--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'1'--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'Z'--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高阻态，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'W'--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弱未知的，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'L'--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弱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'H'--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弱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'-'--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忽略。 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6545" name="文本占位符 78849"/>
          <p:cNvSpPr>
            <a:spLocks noGrp="1"/>
          </p:cNvSpPr>
          <p:nvPr>
            <p:ph idx="1"/>
          </p:nvPr>
        </p:nvSpPr>
        <p:spPr>
          <a:xfrm>
            <a:off x="533400" y="609600"/>
            <a:ext cx="7772400" cy="54864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None/>
            </a:pPr>
            <a:endParaRPr lang="en-US" altLang="zh-CN" sz="2400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  <a:buNone/>
            </a:pPr>
            <a:endParaRPr lang="en-US" altLang="zh-CN" sz="24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6546" name="矩形 78850"/>
          <p:cNvSpPr/>
          <p:nvPr/>
        </p:nvSpPr>
        <p:spPr>
          <a:xfrm>
            <a:off x="611505" y="1052830"/>
            <a:ext cx="7772400" cy="426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）标准逻辑矢量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(STD_LOGIC_VECTOR)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STD_LOGIC_VECTOR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类型定义如下：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STD_LOGIC_VECTOR IS ARRAY (NATURAL  RANGE&lt;&gt;) OF STD_LOGIC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a: std_logic_vector( 7 downto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a&lt;=”11001010”;         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</a:pP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7569" name="矩形 79875"/>
          <p:cNvSpPr/>
          <p:nvPr/>
        </p:nvSpPr>
        <p:spPr>
          <a:xfrm>
            <a:off x="468313" y="47625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</a:rPr>
              <a:t>其它预定义数据类型</a:t>
            </a:r>
            <a:endParaRPr lang="zh-CN" altLang="en-US" sz="28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570" name="文本占位符 79876"/>
          <p:cNvSpPr>
            <a:spLocks noGrp="1"/>
          </p:cNvSpPr>
          <p:nvPr>
            <p:ph idx="1"/>
          </p:nvPr>
        </p:nvSpPr>
        <p:spPr>
          <a:xfrm>
            <a:off x="107950" y="1268730"/>
            <a:ext cx="8820150" cy="4564380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综合工具配带的扩展程序包中，定义了一些有用的类型。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Synopsys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IEEE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库中加入的程序包</a:t>
            </a:r>
            <a:r>
              <a:rPr lang="en-US" altLang="zh-CN" sz="2400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STD_LOGIC_ARITH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中定义了如下的数据类型：无符号型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UNSIGNED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、有符号型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SIGNED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和小整型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SMALL_INT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5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NUMERIC_STD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程序包和</a:t>
            </a:r>
            <a:r>
              <a:rPr lang="en-US" altLang="zh-CN" sz="2400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NUMERIC_BIT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程序包中也分别定义了针对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型的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UNSIGNED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SIGNED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数据类型。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使用这些数据类型时，必须首先打开相应的程序包。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8593" name="文本占位符 86017"/>
          <p:cNvSpPr>
            <a:spLocks noGrp="1"/>
          </p:cNvSpPr>
          <p:nvPr>
            <p:ph idx="1"/>
          </p:nvPr>
        </p:nvSpPr>
        <p:spPr>
          <a:xfrm>
            <a:off x="323850" y="981075"/>
            <a:ext cx="7924800" cy="50292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无符号数据类型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(UNSIGNED TYPE)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UNSIGNED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数据类型代表一个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无符号的数值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，在综合器中，这个数值被解释为一个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二进制数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，这个二进制数的最左位是其最高位。 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UNSIGNED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型举例：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VARIABLE  var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: UNSIGNED(0 TO 9);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定义变量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位二进制数，最高位是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var(0)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 sig : UNSIGNED(3 DOWNTO 0);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定义信号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位二进制数，最高位为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sig(3)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9617" name="文本占位符 202753"/>
          <p:cNvSpPr>
            <a:spLocks noGrp="1"/>
          </p:cNvSpPr>
          <p:nvPr>
            <p:ph idx="1"/>
          </p:nvPr>
        </p:nvSpPr>
        <p:spPr>
          <a:xfrm>
            <a:off x="323850" y="1052830"/>
            <a:ext cx="7924800" cy="50292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有符号数据类型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(SIGNED TYPE)</a:t>
            </a:r>
            <a:endParaRPr lang="en-US" altLang="zh-CN"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SIGNED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数据类型表示一个有符号的数值，补码表示，例如：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SIGNED(“0101”)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+5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SIGNED(“1011”)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-5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SIGNED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型举例：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VARIABLE  var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: SIGNED(0 TO 9);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定义变量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位二进制数，最高位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var(0)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是符号位。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 sig : SIGNED(3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DOWN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0);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定义信号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位二进制数，最高位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sig(3)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是符号位。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0641" name="文本占位符 87041"/>
          <p:cNvSpPr>
            <a:spLocks noGrp="1"/>
          </p:cNvSpPr>
          <p:nvPr>
            <p:ph idx="1"/>
          </p:nvPr>
        </p:nvSpPr>
        <p:spPr>
          <a:xfrm>
            <a:off x="533400" y="1447800"/>
            <a:ext cx="7772400" cy="41910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用户自定义数据类型包括自定义的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新类和子类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即有约束范围的类；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可以自定义的数据类型有：整数、实数、枚举、物理、数组、记录等。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一般格式为：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数据类型名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{,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数据类型名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 IS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数据类型定义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0642" name="矩形 87042"/>
          <p:cNvSpPr/>
          <p:nvPr/>
        </p:nvSpPr>
        <p:spPr>
          <a:xfrm>
            <a:off x="468313" y="54864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</a:rPr>
              <a:t>用户自定义数据类型</a:t>
            </a:r>
            <a:endParaRPr lang="zh-CN" altLang="en-US" dirty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1665" name="文本占位符 203777"/>
          <p:cNvSpPr>
            <a:spLocks noGrp="1"/>
          </p:cNvSpPr>
          <p:nvPr>
            <p:ph idx="1"/>
          </p:nvPr>
        </p:nvSpPr>
        <p:spPr>
          <a:xfrm>
            <a:off x="251460" y="548640"/>
            <a:ext cx="8680450" cy="2409825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枚举类型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中的枚举数据类型是用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文字符号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来表示一组实际的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二进制数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的类型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若直接用数值来定义，则必须使用单引号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780" name="文本框 203779"/>
          <p:cNvSpPr txBox="1"/>
          <p:nvPr/>
        </p:nvSpPr>
        <p:spPr>
          <a:xfrm>
            <a:off x="971550" y="2493010"/>
            <a:ext cx="6867525" cy="12477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定义格式：</a:t>
            </a:r>
            <a:endParaRPr lang="zh-CN" altLang="en-US" sz="24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数据类型名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（元素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、元素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3781" name="文本框 203780"/>
          <p:cNvSpPr txBox="1"/>
          <p:nvPr/>
        </p:nvSpPr>
        <p:spPr>
          <a:xfrm>
            <a:off x="971550" y="3860800"/>
            <a:ext cx="7620000" cy="255397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编码：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枚举类型的文字元素在综合时会自动编码，其编码顺序默认最左边元素为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，向右依次加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，即在枚举列表中，最左边值最小，最右边值最大，可以使用比较运算。 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2689" name="矩形 89090"/>
          <p:cNvSpPr/>
          <p:nvPr/>
        </p:nvSpPr>
        <p:spPr>
          <a:xfrm>
            <a:off x="762000" y="1524000"/>
            <a:ext cx="7924800" cy="3414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week IS(Sun,Mon,Tue,wed,Thu,Fri,Sat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today:week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b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result&lt;=‘1’ when today&gt;= Fri  else ‘0’;</a:t>
            </a:r>
            <a:b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3713" name="文本占位符 90113"/>
          <p:cNvSpPr>
            <a:spLocks noGrp="1"/>
          </p:cNvSpPr>
          <p:nvPr>
            <p:ph idx="1"/>
          </p:nvPr>
        </p:nvSpPr>
        <p:spPr>
          <a:xfrm>
            <a:off x="467360" y="1017905"/>
            <a:ext cx="8325485" cy="4822825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M_STATE IS( STATE1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STATE2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STATE3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STATE4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STATE5)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 CURRENT_STATE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NEXT_STATE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M_STATE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信号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CURRENT_STATE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NEXT_STATE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的数据类型定义为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M_STATE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，它们的取值范围是可枚举的，即从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～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STATE5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共五种，而这些状态代表五组唯一的二进制数值。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4737" name="文本占位符 91137"/>
          <p:cNvSpPr>
            <a:spLocks noGrp="1"/>
          </p:cNvSpPr>
          <p:nvPr>
            <p:ph idx="1"/>
          </p:nvPr>
        </p:nvSpPr>
        <p:spPr>
          <a:xfrm>
            <a:off x="415290" y="1412875"/>
            <a:ext cx="8465820" cy="1543685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在综合中，整数和实数非枚举型数据类型的取值定义范围太大，综合器无法进行综合。需要定义其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约束范围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，综合时将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负数编码为二进制补码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正数编码为二进制原码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738" name="矩形 91138"/>
          <p:cNvSpPr/>
          <p:nvPr/>
        </p:nvSpPr>
        <p:spPr>
          <a:xfrm>
            <a:off x="467043" y="62103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整数和实数子类型</a:t>
            </a:r>
            <a:br>
              <a:rPr lang="zh-CN" altLang="en-US" sz="2400" b="1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</a:br>
            <a:endParaRPr lang="zh-CN" altLang="en-US" sz="2400" b="1">
              <a:solidFill>
                <a:srgbClr val="99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4739" name="矩形 91139"/>
          <p:cNvSpPr/>
          <p:nvPr/>
        </p:nvSpPr>
        <p:spPr>
          <a:xfrm>
            <a:off x="609600" y="3581400"/>
            <a:ext cx="8077200" cy="2209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定义格式：</a:t>
            </a:r>
            <a:endParaRPr lang="zh-CN" altLang="en-US" sz="2400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数据类型名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数据类型定义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[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RANGE] 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约束范围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SUBTYPE 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子类型名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IS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基本类型   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RANGE 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约束范围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61" name="文本占位符 206849"/>
          <p:cNvSpPr>
            <a:spLocks noGrp="1"/>
          </p:cNvSpPr>
          <p:nvPr>
            <p:ph idx="1"/>
          </p:nvPr>
        </p:nvSpPr>
        <p:spPr>
          <a:xfrm>
            <a:off x="533400" y="1524000"/>
            <a:ext cx="8077200" cy="38100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4-17</a:t>
            </a:r>
            <a:r>
              <a:rPr lang="zh-CN" altLang="en-US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endParaRPr lang="zh-CN" altLang="en-US" sz="24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 current  IS  REAL  RANGE -1E4 TO 1E4;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digit1 IS INTEGER RANGE 0 TO 9;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SUBTYPE digit2 IS  INTEGER RANGE -9 TO 9;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综合时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digit1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位二进制原码；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digit2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位二进制补码。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6785" name="文本占位符 94209"/>
          <p:cNvSpPr>
            <a:spLocks noGrp="1"/>
          </p:cNvSpPr>
          <p:nvPr>
            <p:ph idx="1"/>
          </p:nvPr>
        </p:nvSpPr>
        <p:spPr>
          <a:xfrm>
            <a:off x="609600" y="1371600"/>
            <a:ext cx="7924800" cy="48006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支持两种复合类数据类型：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数组和记录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。数组是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相同类型元素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的组合，记录则是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不同类型元素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的组合。综合器只支持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一维数组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或者线性记录。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数组的元素可以是任何一种数据类型，用以定义数组元素的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下标范围子句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决定了数组中元素的个数以及元素的排序方向，即下标数是由低到高，或是由高到低。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定义格式：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数据类型名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ARRAY </a:t>
            </a:r>
            <a:r>
              <a:rPr lang="en-US" altLang="zh-CN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OF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原数据类型名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6786" name="矩形 94210"/>
          <p:cNvSpPr/>
          <p:nvPr/>
        </p:nvSpPr>
        <p:spPr>
          <a:xfrm>
            <a:off x="467043" y="62103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数组类型</a:t>
            </a:r>
            <a:b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4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4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7809" name="文本占位符 208897"/>
          <p:cNvSpPr>
            <a:spLocks noGrp="1"/>
          </p:cNvSpPr>
          <p:nvPr>
            <p:ph idx="1"/>
          </p:nvPr>
        </p:nvSpPr>
        <p:spPr>
          <a:xfrm>
            <a:off x="35560" y="332740"/>
            <a:ext cx="9472930" cy="5519420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数组定义示例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4-18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word IS ARRAY (1 TO 8) OF STD_LOGIC;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word IS ARRAY (INTEGER 1 TO 8) OF STD_LOGIC;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instruction IS (ADD,SUB,INC,SRL,SRF,LDA,LDB);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SUBTYPE digit IS INTEGER 0 TO 9;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indflag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IS ARRAY (instruction  ADD TO SRF) OF digit;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170" y="4652963"/>
            <a:ext cx="896302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type </a:t>
            </a:r>
            <a:r>
              <a:rPr lang="en-US" altLang="zh-CN" sz="2400" err="1">
                <a:latin typeface="微软雅黑" panose="020B0503020204020204" charset="-122"/>
                <a:ea typeface="微软雅黑" panose="020B0503020204020204" charset="-122"/>
              </a:rPr>
              <a:t>indflag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is ARRAY(0 to 4) of INTEGER range 0 to 9;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  <p:bldLst>
      <p:bldP spid="2" grpId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8833" name="文本占位符 209921"/>
          <p:cNvSpPr>
            <a:spLocks noGrp="1"/>
          </p:cNvSpPr>
          <p:nvPr>
            <p:ph idx="1"/>
          </p:nvPr>
        </p:nvSpPr>
        <p:spPr>
          <a:xfrm>
            <a:off x="179705" y="908685"/>
            <a:ext cx="8763000" cy="48006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数组赋值与引用：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以单个元素、段元素或数组整体为单位。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4-19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byte is array(7 downto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0)of bit;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a,b:byte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c: bit;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d: bit_vector(0 to 3);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赋值：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a&lt;=“01000111”;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等效于：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a(7)&lt;=‘0’;a(6)&lt;=‘1’;……a(0)&lt;=‘1’;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引用：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b&lt;=a;c&lt;=a(0);d&lt;=a(7 downto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4);   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1905" name="标题 684033"/>
          <p:cNvSpPr>
            <a:spLocks noGrp="1"/>
          </p:cNvSpPr>
          <p:nvPr>
            <p:ph type="title"/>
          </p:nvPr>
        </p:nvSpPr>
        <p:spPr>
          <a:xfrm>
            <a:off x="251460" y="404495"/>
            <a:ext cx="9058275" cy="5953125"/>
          </a:xfrm>
          <a:noFill/>
          <a:ln>
            <a:noFill/>
          </a:ln>
        </p:spPr>
        <p:txBody>
          <a:bodyPr anchor="t" anchorCtr="0"/>
          <a:p>
            <a:pPr algn="l">
              <a:lnSpc>
                <a:spcPct val="15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数组也可以采用一种便捷的方式进行赋值，即联合赋值。联合赋值不仅在数组中可以使用，多个标量对象在赋值时也可以采用这种方式。下面举一个简单的例子说明这种赋值方式：</a:t>
            </a:r>
            <a:br>
              <a:rPr lang="zh-CN" altLang="en-US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H_BYTE, L_BYTE: 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STD_LOGIC_VECTOR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(0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7);</a:t>
            </a:r>
            <a:b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Q_OUT: 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STD_LOGIC_VECTOR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(31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downto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0);</a:t>
            </a:r>
            <a:b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A,B,C,D: 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b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WORD: 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STD_LOGIC_VECTOR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downto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0);</a:t>
            </a:r>
            <a:br>
              <a:rPr lang="en-US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b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(A,B,C,D)&lt;= WORD;</a:t>
            </a:r>
            <a:b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WORD&lt;=(2=&gt;'1', 3=&gt;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'z'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others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=&gt;'0');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2929" name="标题 685057"/>
          <p:cNvSpPr>
            <a:spLocks noGrp="1"/>
          </p:cNvSpPr>
          <p:nvPr>
            <p:ph type="title"/>
          </p:nvPr>
        </p:nvSpPr>
        <p:spPr>
          <a:xfrm>
            <a:off x="333375" y="1219200"/>
            <a:ext cx="8229600" cy="4419600"/>
          </a:xfrm>
          <a:noFill/>
          <a:ln>
            <a:noFill/>
          </a:ln>
        </p:spPr>
        <p:txBody>
          <a:bodyPr anchor="t" anchorCtr="0"/>
          <a:p>
            <a:pPr algn="l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Q_OUT&lt;=(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others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=&gt;'0');</a:t>
            </a:r>
            <a:b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</a:t>
            </a:r>
            <a:r>
              <a:rPr lang="pl-PL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WORD&lt;=(A, B, C, D);</a:t>
            </a:r>
            <a:br>
              <a:rPr lang="pl-PL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</a:t>
            </a:r>
            <a:r>
              <a:rPr lang="pl-PL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H_BYTE&lt;=(7|6|0|1=&gt;'1', 2 </a:t>
            </a:r>
            <a:r>
              <a:rPr lang="pl-PL" altLang="zh-CN" sz="2400" b="1" i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</a:t>
            </a:r>
            <a:r>
              <a:rPr lang="pl-PL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5=&gt;'0');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使用联合赋值时，赋值符号两侧的元素个数必须相等，上例中“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others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表示对所有未赋值的位赋予给定的默认值。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在工程应用中，大型的数组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即索引值范围比较大的数组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一般用变量或常量定义，用信号定义时，会影响仿真速度。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01" name="文本占位符 210945"/>
          <p:cNvSpPr>
            <a:spLocks noGrp="1"/>
          </p:cNvSpPr>
          <p:nvPr>
            <p:ph idx="1"/>
          </p:nvPr>
        </p:nvSpPr>
        <p:spPr>
          <a:xfrm>
            <a:off x="609600" y="1371600"/>
            <a:ext cx="7924800" cy="48006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线性记录是指记录中的元素是标量，即不能含有复合型元素。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定义格式：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数组类型名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  RECORD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元素名：数据类型名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元素名：数据类型名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RECORD;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6002" name="矩形 210946"/>
          <p:cNvSpPr/>
          <p:nvPr/>
        </p:nvSpPr>
        <p:spPr>
          <a:xfrm>
            <a:off x="468313" y="47625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zh-CN" altLang="en-US" sz="2400" dirty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记录类型</a:t>
            </a:r>
            <a:b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400" dirty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40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7025" name="文本占位符 211969"/>
          <p:cNvSpPr>
            <a:spLocks noGrp="1"/>
          </p:cNvSpPr>
          <p:nvPr>
            <p:ph idx="1"/>
          </p:nvPr>
        </p:nvSpPr>
        <p:spPr>
          <a:xfrm>
            <a:off x="467360" y="908685"/>
            <a:ext cx="7924800" cy="480060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记录赋值：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可以整体或指定单元素“记录性对象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元素名”进行个别赋值。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4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4-20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】利用记录类型定义的一个微处理器命令信息表。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REGNAME IS (AX,BX,CX,DX);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 OPERATION IS RECORD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OPSTR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﹕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STRING(1 TO 10);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OPCODE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﹕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BIT_VECTOR(3 DOWNTO 0);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OP1,OP2,RES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REGNAME;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RECORD OPERATION;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90000"/>
              </a:lnSpc>
              <a:buNone/>
            </a:pP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8049" name="文本占位符 212993"/>
          <p:cNvSpPr>
            <a:spLocks noGrp="1"/>
          </p:cNvSpPr>
          <p:nvPr>
            <p:ph idx="1"/>
          </p:nvPr>
        </p:nvSpPr>
        <p:spPr>
          <a:xfrm>
            <a:off x="609600" y="1196975"/>
            <a:ext cx="7924800" cy="48006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VARIABLE  INSTR1,INSTR2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OPERATION;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INSTR1:=("ADD AX,BX","0001",AX,BX,AX);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INSTR2:=("ADD AX,BX",“0010",OTHERS=&gt;BX);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VARIABLE INSTR3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﹕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OPERATION;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INSTR3.OPSTR:="MUL  AX,BX";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INSTR3.OP1:=AX;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59073" name="标题 689153"/>
          <p:cNvGraphicFramePr>
            <a:graphicFrameLocks noGrp="1"/>
          </p:cNvGraphicFramePr>
          <p:nvPr>
            <p:ph type="title"/>
          </p:nvPr>
        </p:nvGraphicFramePr>
        <p:xfrm>
          <a:off x="-87312" y="941388"/>
          <a:ext cx="9318625" cy="550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3448050" imgH="2000250" progId="Word.Document.8">
                  <p:embed/>
                </p:oleObj>
              </mc:Choice>
              <mc:Fallback>
                <p:oleObj name="" r:id="rId1" imgW="3448050" imgH="2000250" progId="Word.Document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87312" y="941388"/>
                        <a:ext cx="9318625" cy="550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0097" name="文本占位符 690178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pPr>
              <a:lnSpc>
                <a:spcPct val="120000"/>
              </a:lnSpc>
            </a:pPr>
            <a:r>
              <a:rPr lang="en-US" altLang="zh-CN" dirty="0"/>
              <a:t> TX_PACKET</a:t>
            </a:r>
            <a:r>
              <a:rPr lang="zh-CN" altLang="en-US" dirty="0"/>
              <a:t>的组成结构</a:t>
            </a:r>
            <a:endParaRPr lang="zh-CN" altLang="en-US" dirty="0"/>
          </a:p>
        </p:txBody>
      </p:sp>
      <p:pic>
        <p:nvPicPr>
          <p:cNvPr id="260098" name="图片 690179" descr="3-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150" y="2654300"/>
            <a:ext cx="6234113" cy="1547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62145" name="标题 692225"/>
          <p:cNvGraphicFramePr>
            <a:graphicFrameLocks noGrp="1"/>
          </p:cNvGraphicFramePr>
          <p:nvPr>
            <p:ph type="title"/>
          </p:nvPr>
        </p:nvGraphicFramePr>
        <p:xfrm>
          <a:off x="514350" y="1085850"/>
          <a:ext cx="8115300" cy="468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3432175" imgH="1983105" progId="Word.Document.8">
                  <p:embed/>
                </p:oleObj>
              </mc:Choice>
              <mc:Fallback>
                <p:oleObj name="" r:id="rId1" imgW="3432175" imgH="1983105" progId="Word.Document.8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4350" y="1085850"/>
                        <a:ext cx="8115300" cy="468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63169" name="标题 693249"/>
          <p:cNvGraphicFramePr>
            <a:graphicFrameLocks noGrp="1"/>
          </p:cNvGraphicFramePr>
          <p:nvPr>
            <p:ph type="title"/>
          </p:nvPr>
        </p:nvGraphicFramePr>
        <p:xfrm>
          <a:off x="-87312" y="1839913"/>
          <a:ext cx="9318625" cy="385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3448050" imgH="1400175" progId="Word.Document.8">
                  <p:embed/>
                </p:oleObj>
              </mc:Choice>
              <mc:Fallback>
                <p:oleObj name="" r:id="rId1" imgW="3448050" imgH="1400175" progId="Word.Document.8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87312" y="1839913"/>
                        <a:ext cx="9318625" cy="3859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9313" name="文本占位符 214017"/>
          <p:cNvSpPr>
            <a:spLocks noGrp="1"/>
          </p:cNvSpPr>
          <p:nvPr>
            <p:ph idx="1"/>
          </p:nvPr>
        </p:nvSpPr>
        <p:spPr>
          <a:xfrm>
            <a:off x="467360" y="1340485"/>
            <a:ext cx="8279130" cy="419100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是强类型语言，不同数据类型的对象，不能直接运算和代入。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一般用类型转换函数实现转换。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数据类型的变换函数通常由“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STD_LOGIC_1164”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 “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STD_LOGIC_ARITH”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、“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 UNSIGNED”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、“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STD_LOGIC_OPS”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等程序包提供。 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9314" name="矩形 214018"/>
          <p:cNvSpPr/>
          <p:nvPr/>
        </p:nvSpPr>
        <p:spPr>
          <a:xfrm>
            <a:off x="468313" y="47625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</a:rPr>
              <a:t>数据类型转换</a:t>
            </a:r>
            <a:endParaRPr lang="zh-CN" altLang="en-US" dirty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0338" name="矩形 215044"/>
          <p:cNvSpPr/>
          <p:nvPr/>
        </p:nvSpPr>
        <p:spPr>
          <a:xfrm>
            <a:off x="3128963" y="1608138"/>
            <a:ext cx="260350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4-1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常用类型转换函数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15237" name="表格 215236"/>
          <p:cNvGraphicFramePr/>
          <p:nvPr/>
        </p:nvGraphicFramePr>
        <p:xfrm>
          <a:off x="0" y="2203450"/>
          <a:ext cx="9145588" cy="2705100"/>
        </p:xfrm>
        <a:graphic>
          <a:graphicData uri="http://schemas.openxmlformats.org/drawingml/2006/table">
            <a:tbl>
              <a:tblPr/>
              <a:tblGrid>
                <a:gridCol w="2792413"/>
                <a:gridCol w="2784475"/>
                <a:gridCol w="3568700"/>
              </a:tblGrid>
              <a:tr h="365125"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en-US" altLang="zh-C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 eaLnBrk="0" hangingPunc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zh-CN" alt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函数名</a:t>
                      </a:r>
                      <a:endParaRPr lang="zh-CN" altLang="en-US" sz="18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zh-CN" alt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定义程序包</a:t>
                      </a:r>
                      <a:endParaRPr lang="zh-CN" altLang="en-US" sz="18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zh-CN" alt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功能</a:t>
                      </a:r>
                      <a:endParaRPr lang="zh-CN" altLang="en-US" sz="1800" dirty="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TO_STDLOGICVECTOR(A)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STD_LOGIC_1164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BIT_VECTOR</a:t>
                      </a:r>
                      <a:r>
                        <a:rPr lang="zh-CN" alt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转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STD_LOGIC_VECTOR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TO_BITVECTOR(A)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STD_LOGIC_1164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STD_LOGIC_VECTOR</a:t>
                      </a:r>
                      <a:r>
                        <a:rPr lang="zh-CN" alt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转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BIT_VECTOR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TO_STDLOGIC(A)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STD_LOGIC_1164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</a:t>
                      </a:r>
                      <a:r>
                        <a:rPr lang="zh-CN" alt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转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STD_LOGIC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TO_BIT(A)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STD_LOGIC_1164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STD_LOGIC</a:t>
                      </a:r>
                      <a:r>
                        <a:rPr lang="zh-CN" alt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转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CONV_STD_LOGIC_VECTOR(a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位长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STD_LOGIC_ARITH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INTEGER, UNSIGNED, SIGNED</a:t>
                      </a:r>
                      <a:r>
                        <a:rPr lang="zh-CN" alt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转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STD_LOGIC_VECTOR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CONV_INTEGER(a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STD_LOGIC_ARITH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UNSIGNED,SIGNED </a:t>
                      </a:r>
                      <a:r>
                        <a:rPr lang="zh-CN" alt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转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CONV_INTEGER(a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STD_LOGIC_UNSIGNED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STD_LOGIC_VECTOR</a:t>
                      </a:r>
                      <a:r>
                        <a:rPr lang="zh-CN" alt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转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TO_VECTOR(a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位长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DATAIO</a:t>
                      </a:r>
                      <a:r>
                        <a:rPr lang="zh-CN" altLang="en-US" sz="9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库</a:t>
                      </a:r>
                      <a:r>
                        <a:rPr lang="en-US" altLang="zh-CN" sz="9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STD_LOGIC_OPS</a:t>
                      </a:r>
                      <a:endParaRPr lang="zh-CN" altLang="en-US" sz="1800">
                        <a:solidFill>
                          <a:schemeClr val="accent2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 </a:t>
                      </a:r>
                      <a:r>
                        <a:rPr lang="zh-CN" alt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转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STD_LOGIC_VECTOR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TO_INTEGER(a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dirty="0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6990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2pPr>
                      <a:lvl3pPr marL="1304925" lvl="2" indent="-39497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o"/>
                        <a:defRPr sz="26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3pPr>
                      <a:lvl4pPr marL="1694180" lvl="3" indent="-387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n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4pPr>
                      <a:lvl5pPr marL="2094230" lvl="4" indent="-39878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1" i="0" u="none" kern="12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STD_LOGIC_VECTOR</a:t>
                      </a:r>
                      <a:r>
                        <a:rPr lang="zh-CN" alt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转</a:t>
                      </a:r>
                      <a:r>
                        <a:rPr lang="en-US" altLang="zh-C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  <a:endParaRPr lang="zh-CN" alt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1362" name="文本框 216113"/>
          <p:cNvSpPr txBox="1"/>
          <p:nvPr/>
        </p:nvSpPr>
        <p:spPr>
          <a:xfrm>
            <a:off x="295275" y="1052830"/>
            <a:ext cx="8553450" cy="457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 algn="just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4-21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】类型转换函数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应用举例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 algn="just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BIT_VECTOR(11 DOWNTO 0);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 algn="just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B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STD_LOGIC_VECTOR(11 DOWNTO 0);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 algn="just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A&lt;=O”5177”; 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八进制值可赋予位矢量  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 algn="just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b&lt;= O”5177”;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语法错，八进制值不能赋予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矢量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 algn="just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b&lt;=TO_STDLOGICVECTOR(O”5177”);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 algn="just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b&lt;=TO_STDLOGICVECTOR(B”1010_1111_0111”);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2385" name="文本占位符 106497"/>
          <p:cNvSpPr>
            <a:spLocks noGrp="1"/>
          </p:cNvSpPr>
          <p:nvPr>
            <p:ph idx="1"/>
          </p:nvPr>
        </p:nvSpPr>
        <p:spPr>
          <a:xfrm>
            <a:off x="467360" y="1196975"/>
            <a:ext cx="8382000" cy="42672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类型转换函数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LIBRARY IEEE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IEEE.STD_LOGIC_1164.ALL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ENTITY CNT4 IS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PORT(CLK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﹕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 STD_LOGIC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﹕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BUFFER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STD_LOGIC_VECTOR(3 DOWNTO 0))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ENTITY CNT4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700020" y="4653280"/>
            <a:ext cx="2860675" cy="1379855"/>
            <a:chOff x="6600" y="4680"/>
            <a:chExt cx="4505" cy="2173"/>
          </a:xfrm>
        </p:grpSpPr>
        <p:sp>
          <p:nvSpPr>
            <p:cNvPr id="149513" name="直接连接符 149512"/>
            <p:cNvSpPr/>
            <p:nvPr/>
          </p:nvSpPr>
          <p:spPr>
            <a:xfrm>
              <a:off x="6600" y="4680"/>
              <a:ext cx="3000" cy="108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49520" name="文本框 149519"/>
            <p:cNvSpPr txBox="1"/>
            <p:nvPr/>
          </p:nvSpPr>
          <p:spPr>
            <a:xfrm>
              <a:off x="7925" y="5923"/>
              <a:ext cx="3180" cy="93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45791" dir="3378595" algn="ctr" rotWithShape="0">
                <a:srgbClr val="4D4D4D"/>
              </a:outerShdw>
            </a:effectLst>
          </p:spPr>
          <p:txBody>
            <a:bodyPr wrap="none" anchor="t" anchorCtr="0">
              <a:spAutoFit/>
            </a:bodyPr>
            <a:p>
              <a:pPr algn="ctr"/>
              <a:r>
                <a:rPr lang="zh-CN" altLang="en-US" sz="16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端口信号模式取</a:t>
              </a:r>
              <a:endParaRPr lang="zh-CN" altLang="en-US" sz="16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6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BUFFER</a:t>
              </a:r>
              <a:r>
                <a:rPr lang="zh-CN" altLang="en-US" sz="16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，为什么？</a:t>
              </a:r>
              <a:endParaRPr lang="zh-CN" altLang="en-US" sz="16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3409" name="文本占位符 107521"/>
          <p:cNvSpPr>
            <a:spLocks noGrp="1"/>
          </p:cNvSpPr>
          <p:nvPr>
            <p:ph idx="1"/>
          </p:nvPr>
        </p:nvSpPr>
        <p:spPr>
          <a:xfrm>
            <a:off x="539750" y="116840"/>
            <a:ext cx="8343900" cy="6637020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LIBRARY DATAIO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DATAIO.STD_LOGIC_OPS.ALL</a:t>
            </a:r>
            <a:endParaRPr lang="en-US" altLang="zh-CN" sz="24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ARCHITECTURE ART OF CNT4 IS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PROCESS(CLK) IS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IF CLK=‘1’AND CLK'EVENT THEN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P&lt;=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TO_VECTOR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2400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TO_INTEGER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(P)+1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4)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IF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PROCESS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ARCHITECTURE ART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4433" name="文本占位符 108545"/>
          <p:cNvSpPr>
            <a:spLocks noGrp="1"/>
          </p:cNvSpPr>
          <p:nvPr>
            <p:ph idx="1"/>
          </p:nvPr>
        </p:nvSpPr>
        <p:spPr>
          <a:xfrm>
            <a:off x="179705" y="1772920"/>
            <a:ext cx="8698865" cy="39624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此例中利用了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DATAIO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库中的程序包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STD_LOGIC_OPS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中的两个数据类型转换函数： 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TO_VECTOR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TO_INTEGER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前者将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INTEGER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转换成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STD_LOGIC_VECTOR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，后者将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STD_LOGIC_VECTOR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转换成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INTEGER)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 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PP_MARK_KEY" val="584170e0-4770-455a-8457-def77a074fc0"/>
  <p:tag name="COMMONDATA" val="eyJoZGlkIjoiMDRiNWM4ZTRkMzMxZWMzM2IxMDc5NzU0Njk3ODNlNzAifQ=="/>
</p:tagLst>
</file>

<file path=ppt/theme/theme1.xml><?xml version="1.0" encoding="utf-8"?>
<a:theme xmlns:a="http://schemas.openxmlformats.org/drawingml/2006/main" name="1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14462</Words>
  <Application>WPS 演示</Application>
  <PresentationFormat>全屏显示(4:3)</PresentationFormat>
  <Paragraphs>687</Paragraphs>
  <Slides>83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83</vt:i4>
      </vt:variant>
    </vt:vector>
  </HeadingPairs>
  <TitlesOfParts>
    <vt:vector size="104" baseType="lpstr">
      <vt:lpstr>Arial</vt:lpstr>
      <vt:lpstr>宋体</vt:lpstr>
      <vt:lpstr>Wingdings</vt:lpstr>
      <vt:lpstr>Times New Roman</vt:lpstr>
      <vt:lpstr>Verdana</vt:lpstr>
      <vt:lpstr>隶书</vt:lpstr>
      <vt:lpstr>华文行楷</vt:lpstr>
      <vt:lpstr>微软雅黑</vt:lpstr>
      <vt:lpstr>Arial Unicode MS</vt:lpstr>
      <vt:lpstr>Calibri</vt:lpstr>
      <vt:lpstr>楷体_GB2312</vt:lpstr>
      <vt:lpstr>新宋体</vt:lpstr>
      <vt:lpstr>Arial Narrow</vt:lpstr>
      <vt:lpstr>Wingdings</vt:lpstr>
      <vt:lpstr>楷体_GB2312</vt:lpstr>
      <vt:lpstr>方正楷体_GB2312</vt:lpstr>
      <vt:lpstr>1_默认设计模板</vt:lpstr>
      <vt:lpstr>Word.Document.8</vt:lpstr>
      <vt:lpstr>Word.Document.8</vt:lpstr>
      <vt:lpstr>Word.Document.8</vt:lpstr>
      <vt:lpstr>Word.Document.8</vt:lpstr>
      <vt:lpstr>PowerPoint 演示文稿</vt:lpstr>
      <vt:lpstr>4.2 VHDL语言要素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（1）整数表示 整数表示中不含有小数点，如： 11，123，135E2（=13500），12_345_678（=12345678） （2）实数表示 实数也表示必须带有小数点，如： 1.25   2.0   1.56E-3（0.00156）   1_120.123_678（11120.123678）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1、用于指示数组型变量或信号的某一元素或某一段元素 2、语句格式分别为：    名（表达式）；    名（表达式1  to/downto  表达式2 ）; 3、signal a,b: bit_vector(7 downto 0); signal c,d: bit; a&lt;=“01000111”;      --给a(7)到a(0)赋值为“01000111” c&lt;= a(6) ;          --把a(6)值’1’ 赋值给c  b(7 downto 4)&lt;=a(3 downto 0);--a的低4位赋给b的高4位 b(0 to 3)&lt;=a(4 to 7);        --a的高4位赋给b的低4位 d&lt;= a(0);                    --把a(0)值’1’ 赋值给d </vt:lpstr>
      <vt:lpstr>PowerPoint 演示文稿</vt:lpstr>
      <vt:lpstr>PowerPoint 演示文稿</vt:lpstr>
      <vt:lpstr>PowerPoint 演示文稿</vt:lpstr>
      <vt:lpstr>对象种类： 常量：不对应电路中的物理量，但可以说明全局量。在结构体、实体、程序包、进程、函数、过程中均可使用。     变量：程序运算的中间量，并不对应电路中的物理量。变量是局部量，不能在结构体中声明，只能用于进程、函数、过程。 信号：电路中的物理量，对应于电路的连线和节点。信号说明全局量，用于描述结构体、实体、程序包。 端口：设计单元与外界的接口。常用的端口类型有输入(Input)、输出(Output)、双向(Inout)和缓冲输出(Buffer)四种。 </vt:lpstr>
      <vt:lpstr>对象特点：  1、Input、Inout和Buffer端口可以对其他对象赋值，Output、Inout和Buffer可以被其他对象赋值。  2、常量只能被赋值一次；常量在被创建时就被赋值为一个固定的值，并且常量的值在使用过程中只能对其他对象赋值，不能被修改。  3、信号和变量可以被连续地赋值；  4、信号和变量的赋值形式和执行过程不同：变量是立即赋值（:=），没有延迟，而信号赋值要有一定的延迟(&lt;=)。  </vt:lpstr>
      <vt:lpstr>常量 Constant  常量名 ：数据类型[:=表达式]；     表达式用于设定初始值，是可选项。  </vt:lpstr>
      <vt:lpstr>变量  1.定义：Variable  变量名 ：数据类型[:=表达式]；        表达式用于设定初始值，是可选项。  </vt:lpstr>
      <vt:lpstr>信号 1.定义：Signal  信号名 ：数据类型[:=表达式]；     表达式用于设定初始值，是可选项。  </vt:lpstr>
      <vt:lpstr>几点说明 1、虽然变量可以赋初始值，但是在综合时，综合器会将初始值忽略掉。 2、变量在综合后可以是一个连线(Wire)，也可以是一个寄存器(register)，综合的结果取决于变量在时序电路中是否用于保存信号值。 3、信号可以用于在结构体中的不同并发语句之间传递信息，也可以通过端口与其他实体传递信息。 4、信号在声明结构中被赋予的初始值，在综合时也会被忽略。信号重新被赋值采用“&lt;=”符号进行操作。 </vt:lpstr>
      <vt:lpstr>变量与信号对比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　数组也可以采用一种便捷的方式进行赋值，即联合赋值。联合赋值不仅在数组中可以使用，多个标量对象在赋值时也可以采用这种方式。下面举一个简单的例子说明这种赋值方式： 　　signal H_BYTE, L_BYTE: STD_LOGIC_VECTOR(0 to 7); 　　signal Q_OUT: STD_LOGIC_VECTOR(31 downto 0); 　　signal A,B,C,D: STD_LOGIC; 　　signal WORD: STD_LOGIC_VECTOR(3 downto 0); 　　　… 　　(A,B,C,D)&lt;= WORD; 　　WORD&lt;=(2=&gt;'1', 3=&gt;'z', others=&gt;'0');</vt:lpstr>
      <vt:lpstr>　　 Q_OUT&lt;=(others=&gt;'0'); 　　　　WORD&lt;=(A, B, C, D); 　　　　H_BYTE&lt;=(7|6|0|1=&gt;'1', 2 to 5=&gt;'0'); 　　       使用联合赋值时，赋值符号两侧的元素个数必须相等，上例中“others”表示对所有未赋值的位赋予给定的默认值。 　　       在工程应用中，大型的数组(即索引值范围比较大的数组)一般用变量或常量定义，用信号定义时，会影响仿真速度。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njust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wjx</dc:creator>
  <cp:lastModifiedBy>林惜汐</cp:lastModifiedBy>
  <cp:revision>317</cp:revision>
  <dcterms:created xsi:type="dcterms:W3CDTF">2006-04-19T05:22:00Z</dcterms:created>
  <dcterms:modified xsi:type="dcterms:W3CDTF">2026-03-31T05:33:21Z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5697599ECCA24FEF9DCF7629C7543150</vt:lpwstr>
  </property>
</Properties>
</file>