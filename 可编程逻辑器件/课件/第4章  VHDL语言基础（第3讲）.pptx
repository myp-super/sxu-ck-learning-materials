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5"/>
  </p:notesMasterIdLst>
  <p:sldIdLst>
    <p:sldId id="387" r:id="rId3"/>
    <p:sldId id="597" r:id="rId4"/>
    <p:sldId id="554" r:id="rId5"/>
    <p:sldId id="555" r:id="rId6"/>
    <p:sldId id="557" r:id="rId7"/>
    <p:sldId id="558" r:id="rId8"/>
    <p:sldId id="599" r:id="rId9"/>
    <p:sldId id="559" r:id="rId10"/>
    <p:sldId id="560" r:id="rId11"/>
    <p:sldId id="562" r:id="rId12"/>
    <p:sldId id="561" r:id="rId13"/>
    <p:sldId id="640" r:id="rId14"/>
    <p:sldId id="564" r:id="rId15"/>
    <p:sldId id="566" r:id="rId16"/>
    <p:sldId id="567" r:id="rId17"/>
    <p:sldId id="568" r:id="rId18"/>
    <p:sldId id="601" r:id="rId19"/>
    <p:sldId id="602" r:id="rId20"/>
    <p:sldId id="604" r:id="rId21"/>
    <p:sldId id="603" r:id="rId22"/>
    <p:sldId id="573" r:id="rId23"/>
    <p:sldId id="574" r:id="rId24"/>
    <p:sldId id="605" r:id="rId25"/>
    <p:sldId id="576" r:id="rId26"/>
    <p:sldId id="577" r:id="rId27"/>
    <p:sldId id="578" r:id="rId28"/>
    <p:sldId id="579" r:id="rId29"/>
    <p:sldId id="580" r:id="rId30"/>
    <p:sldId id="581" r:id="rId31"/>
    <p:sldId id="583" r:id="rId32"/>
    <p:sldId id="584" r:id="rId33"/>
    <p:sldId id="598" r:id="rId34"/>
    <p:sldId id="586" r:id="rId35"/>
    <p:sldId id="585" r:id="rId36"/>
    <p:sldId id="588" r:id="rId37"/>
    <p:sldId id="589" r:id="rId38"/>
    <p:sldId id="639" r:id="rId39"/>
    <p:sldId id="590" r:id="rId40"/>
    <p:sldId id="593" r:id="rId41"/>
    <p:sldId id="594" r:id="rId42"/>
    <p:sldId id="595" r:id="rId43"/>
    <p:sldId id="596" r:id="rId44"/>
  </p:sldIdLst>
  <p:sldSz cx="9144000" cy="6858000" type="screen4x3"/>
  <p:notesSz cx="6858000" cy="9144000"/>
  <p:custDataLst>
    <p:tags r:id="rId50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7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160"/>
        <p:guide pos="27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0" Type="http://schemas.openxmlformats.org/officeDocument/2006/relationships/tags" Target="tags/tag4.xml"/><Relationship Id="rId5" Type="http://schemas.openxmlformats.org/officeDocument/2006/relationships/slide" Target="slides/slide3.xml"/><Relationship Id="rId49" Type="http://schemas.openxmlformats.org/officeDocument/2006/relationships/commentAuthors" Target="commentAuthors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notesMaster" Target="notesMasters/notesMaster1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11188" y="1628775"/>
            <a:ext cx="8001000" cy="4267200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emf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emf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wmf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3.xm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731963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3" name="标题 182273"/>
          <p:cNvSpPr>
            <a:spLocks noGrp="1"/>
          </p:cNvSpPr>
          <p:nvPr>
            <p:ph type="title"/>
          </p:nvPr>
        </p:nvSpPr>
        <p:spPr>
          <a:xfrm>
            <a:off x="538798" y="1052513"/>
            <a:ext cx="8229600" cy="666750"/>
          </a:xfrm>
          <a:noFill/>
          <a:ln>
            <a:noFill/>
          </a:ln>
        </p:spPr>
        <p:txBody>
          <a:bodyPr anchor="t" anchorCtr="0"/>
          <a:p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4.3  </a:t>
            </a:r>
            <a:r>
              <a:rPr 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运算符</a:t>
            </a:r>
            <a:endParaRPr lang="zh-CN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14" name="文本占位符 18227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lnSpc>
                <a:spcPct val="135000"/>
              </a:lnSpc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逻辑运算符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关系运算符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算术运算符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符号运算符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35000"/>
              </a:lnSpc>
              <a:buNone/>
            </a:pP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5457" name="文本占位符 217089"/>
          <p:cNvSpPr>
            <a:spLocks noGrp="1"/>
          </p:cNvSpPr>
          <p:nvPr>
            <p:ph idx="1"/>
          </p:nvPr>
        </p:nvSpPr>
        <p:spPr>
          <a:xfrm>
            <a:off x="467360" y="1340485"/>
            <a:ext cx="8077200" cy="4419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的各种表达式由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操作数和操作符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组成，其中，操作数是各种运算的对象，而操作符则规定运算的方式。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中，一般有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操作符，即逻辑操作符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(Logica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Operator)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、关系操作符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(Relationa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Operator)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、算术操作符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(Arithmetic Operator)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和符号操作符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(Sign Operator)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81" name="矩形 218114"/>
          <p:cNvSpPr/>
          <p:nvPr/>
        </p:nvSpPr>
        <p:spPr>
          <a:xfrm>
            <a:off x="467043" y="4000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4.3.1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逻辑运算符</a:t>
            </a:r>
            <a:b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482" name="矩形 218115"/>
          <p:cNvSpPr/>
          <p:nvPr/>
        </p:nvSpPr>
        <p:spPr>
          <a:xfrm>
            <a:off x="609600" y="1066800"/>
            <a:ext cx="8077200" cy="5334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种类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（与逻辑）、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（或逻辑）、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NAND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（与非逻辑）、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（或非逻辑）、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（异或逻辑）、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XNOR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（同或逻辑）、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（非逻辑）。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优先级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的优先级高于其他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个，其他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个优先级别相同。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适用类型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Boolean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bit_vector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8530" name="矩形 219138"/>
          <p:cNvSpPr/>
          <p:nvPr/>
        </p:nvSpPr>
        <p:spPr>
          <a:xfrm>
            <a:off x="609600" y="205740"/>
            <a:ext cx="8077200" cy="5334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endParaRPr lang="en-US" altLang="zh-CN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78531" name="标题 705537"/>
          <p:cNvSpPr>
            <a:spLocks noGrp="1"/>
          </p:cNvSpPr>
          <p:nvPr/>
        </p:nvSpPr>
        <p:spPr>
          <a:xfrm>
            <a:off x="571500" y="585153"/>
            <a:ext cx="8115300" cy="8969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中共有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种逻辑运算符，其中</a:t>
            </a:r>
            <a:r>
              <a:rPr lang="en-US" altLang="zh-CN" sz="2400" b="1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xnor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是在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VHDL-93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中新定义的，见下表。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8532" name="图片 70554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34658" y="2060575"/>
            <a:ext cx="8388350" cy="11223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8533" name="文本框 1"/>
          <p:cNvSpPr txBox="1"/>
          <p:nvPr/>
        </p:nvSpPr>
        <p:spPr>
          <a:xfrm>
            <a:off x="661035" y="3140710"/>
            <a:ext cx="7822565" cy="31692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609600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逻辑运算符可对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BOOLEAN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BIT_VECTOR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STD_LOGIC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STD_LOGIC_ 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的数据对象做运算。其中，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not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是单目运算符，其他为双目运算符。在计算时，运算符两侧的数据类型必须相同。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b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</a:b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9554" name="矩形 219138"/>
          <p:cNvSpPr/>
          <p:nvPr/>
        </p:nvSpPr>
        <p:spPr>
          <a:xfrm>
            <a:off x="430530" y="1124585"/>
            <a:ext cx="8543925" cy="463613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注意：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 indent="609600">
              <a:lnSpc>
                <a:spcPct val="14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当操作数为数组时，数组操作数的维数、大小必须相同。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6096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当有两个以上的逻辑表达式，左右没有优先级差别时，必须使用括号。</a:t>
            </a:r>
            <a:endParaRPr lang="zh-CN" altLang="en-US" sz="2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6096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一个表达式中有两个以上的运算符时，要用括号将其分组。如果运算符是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AND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OR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XOR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中的某一种运算符的组合，则不需要加括号。 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6096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extLst>
                <a:ext uri="{35155182-B16C-46BC-9424-99874614C6A1}">
                  <wpsdc:indentchars xmlns:wpsdc="http://www.wps.cn/officeDocument/2017/drawingmlCustomData" val="200" checksum="4158780845"/>
                </a:ext>
              </a:extLst>
            </a:pP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9555" name="文本框 852995"/>
          <p:cNvSpPr txBox="1"/>
          <p:nvPr/>
        </p:nvSpPr>
        <p:spPr>
          <a:xfrm>
            <a:off x="251460" y="1196975"/>
            <a:ext cx="8724900" cy="439991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逻辑运算示例。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a&lt;=b AND c AND d AND e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对应的逻辑表达式为 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a=b·c·d·e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spcBef>
                <a:spcPct val="50000"/>
              </a:spcBef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spcBef>
                <a:spcPct val="50000"/>
              </a:spcBef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a&lt;=b OR c OR d OR e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对应的逻辑表达式为   　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a=b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d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spcBef>
                <a:spcPct val="50000"/>
              </a:spcBef>
            </a:pP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(b OR c) AND (d OR e)  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对应的逻辑表达式为 　　　　　　　　　　　　　　　　　          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a= (b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c)·(d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＋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e)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50" name="矩形 219138"/>
          <p:cNvSpPr/>
          <p:nvPr/>
        </p:nvSpPr>
        <p:spPr>
          <a:xfrm>
            <a:off x="533400" y="1357313"/>
            <a:ext cx="8077200" cy="306705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fontAlgn="base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strike="noStrike" noProof="1" dirty="0">
                <a:latin typeface="楷体_GB2312" pitchFamily="49" charset="-122"/>
                <a:ea typeface="楷体_GB2312" pitchFamily="49" charset="-122"/>
                <a:cs typeface="+mn-cs"/>
              </a:rPr>
              <a:t>【例</a:t>
            </a:r>
            <a:r>
              <a:rPr lang="en-US" altLang="zh-CN" sz="2400" b="1" strike="noStrike" noProof="1">
                <a:latin typeface="楷体_GB2312" pitchFamily="49" charset="-122"/>
                <a:ea typeface="楷体_GB2312" pitchFamily="49" charset="-122"/>
                <a:cs typeface="+mn-cs"/>
              </a:rPr>
              <a:t>4-22</a:t>
            </a:r>
            <a:r>
              <a:rPr lang="zh-CN" altLang="en-US" sz="2400" b="1" strike="noStrike" noProof="1">
                <a:latin typeface="楷体_GB2312" pitchFamily="49" charset="-122"/>
                <a:ea typeface="楷体_GB2312" pitchFamily="49" charset="-122"/>
                <a:cs typeface="+mn-cs"/>
              </a:rPr>
              <a:t>】</a:t>
            </a:r>
            <a:endParaRPr lang="zh-CN" altLang="en-US" sz="2400" b="1" strike="noStrike" noProof="1">
              <a:latin typeface="楷体_GB2312" pitchFamily="49" charset="-122"/>
              <a:ea typeface="楷体_GB2312" pitchFamily="49" charset="-122"/>
            </a:endParaRPr>
          </a:p>
          <a:p>
            <a:pPr marL="469900" indent="-469900" fontAlgn="base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SIGNAL a,b,c</a:t>
            </a:r>
            <a:r>
              <a:rPr lang="en-US" altLang="zh-CN" sz="24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: STD_LOGIC_VECTOR (7 DOWNTO 0);</a:t>
            </a:r>
            <a:endParaRPr lang="en-US" altLang="zh-CN" sz="2400" b="1" strike="noStrike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 fontAlgn="base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SIGNAL d,e,f,g</a:t>
            </a:r>
            <a:r>
              <a:rPr lang="en-US" altLang="zh-CN" sz="24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: STD_LOGIC_VECTOR (1 DOWNTO 0);</a:t>
            </a:r>
            <a:endParaRPr lang="en-US" altLang="zh-CN" sz="2400" b="1" strike="noStrike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 fontAlgn="base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SIGNAL h,I,j,k</a:t>
            </a:r>
            <a:r>
              <a:rPr lang="en-US" altLang="zh-CN" sz="24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: STD_LOGIC;</a:t>
            </a:r>
            <a:endParaRPr lang="en-US" altLang="zh-CN" sz="2400" b="1" strike="noStrike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 fontAlgn="base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SIGNAL l,m,n,o,p</a:t>
            </a:r>
            <a:r>
              <a:rPr lang="en-US" altLang="zh-CN" sz="2400" b="1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: BOOLEAN;</a:t>
            </a:r>
            <a:endParaRPr lang="en-US" altLang="zh-CN" sz="2400" b="1" strike="noStrike" noProof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1602" name="矩形 220162"/>
          <p:cNvSpPr/>
          <p:nvPr/>
        </p:nvSpPr>
        <p:spPr>
          <a:xfrm>
            <a:off x="609600" y="1066800"/>
            <a:ext cx="8077200" cy="5257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...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a&lt;=b AND c;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d&lt;=e OR f OR g;      --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两个操作符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OR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相同，不需括号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 err="1">
                <a:latin typeface="楷体_GB2312" pitchFamily="49" charset="-122"/>
                <a:ea typeface="楷体_GB2312" pitchFamily="49" charset="-122"/>
              </a:rPr>
              <a:t>h&lt;=(i NAND j)NAND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k;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err="1">
                <a:latin typeface="楷体_GB2312" pitchFamily="49" charset="-122"/>
                <a:ea typeface="楷体_GB2312" pitchFamily="49" charset="-122"/>
              </a:rPr>
              <a:t> l&lt;=(m XOR n)AND(o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XOR p);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h&lt;=i AND j AND k;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h&lt;=i AND j OR k;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a&lt;=b AND e;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h&lt;=i OR l;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25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... 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3649" name="矩形 229377"/>
          <p:cNvSpPr/>
          <p:nvPr/>
        </p:nvSpPr>
        <p:spPr>
          <a:xfrm>
            <a:off x="467043" y="69278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4.3.2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关系运算符</a:t>
            </a:r>
            <a:b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3650" name="矩形 229378"/>
          <p:cNvSpPr/>
          <p:nvPr/>
        </p:nvSpPr>
        <p:spPr>
          <a:xfrm>
            <a:off x="457200" y="1600200"/>
            <a:ext cx="8077200" cy="4191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关系运算符包括：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（等于）、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/=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（不等于）、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&gt;(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大于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&lt;(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小于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&gt;=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（大于等于）、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&lt;=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（小于等于）。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Times New Roman" panose="02020603050405020304" pitchFamily="18" charset="0"/>
                <a:ea typeface="楷体_GB2312" pitchFamily="49" charset="-122"/>
              </a:rPr>
              <a:t>比较结果：</a:t>
            </a:r>
            <a:endParaRPr lang="zh-CN" altLang="en-US" sz="2400" b="1" dirty="0">
              <a:solidFill>
                <a:srgbClr val="000099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   对相同数据类型的数据进行数值比较，为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BOOLEAN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型常数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TRUE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FALSE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341438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下表给</a:t>
            </a:r>
            <a:r>
              <a:rPr kumimoji="0" lang="zh-CN" altLang="en-US" sz="28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出了关系操作符的操作数类型和关系运算的结果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kumimoji="0" lang="zh-CN" altLang="zh-CN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57163" y="2195513"/>
          <a:ext cx="8797925" cy="3513138"/>
        </p:xfrm>
        <a:graphic>
          <a:graphicData uri="http://schemas.openxmlformats.org/drawingml/2006/table">
            <a:tbl>
              <a:tblPr/>
              <a:tblGrid>
                <a:gridCol w="2199290"/>
                <a:gridCol w="2199290"/>
                <a:gridCol w="2199290"/>
                <a:gridCol w="2199290"/>
              </a:tblGrid>
              <a:tr h="5360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操作符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操作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操作数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操作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结果类型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360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=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相等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BOOLEAN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360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/=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不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相等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BOOLEAN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  <a:tr h="536027"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&lt;</a:t>
                      </a:r>
                      <a:r>
                        <a:rPr lang="en-US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&lt;=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&gt;</a:t>
                      </a:r>
                      <a:r>
                        <a:rPr lang="en-US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 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&gt;=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排序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标量</a:t>
                      </a: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类型</a:t>
                      </a: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或者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离散的</a:t>
                      </a: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数</a:t>
                      </a: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组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宋体" panose="02010600030101010101" pitchFamily="2" charset="-122"/>
                        </a:rPr>
                        <a:t>BOOLEAN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21" name="标题 708609"/>
          <p:cNvSpPr>
            <a:spLocks noGrp="1"/>
          </p:cNvSpPr>
          <p:nvPr/>
        </p:nvSpPr>
        <p:spPr>
          <a:xfrm>
            <a:off x="598488" y="1128713"/>
            <a:ext cx="8115300" cy="4379912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关系运算符中，“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=”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和“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/=”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可以对所有类型的数据运算，而其他的操作符只能对</a:t>
            </a: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</a:rPr>
              <a:t>标量类型（枚举类型、整数类型）或者离散的数组类型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做运算。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     在运算时，符号两边的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数据类型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必须相同，但数据的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位数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不一定相同。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4220845"/>
            <a:ext cx="79895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400"/>
              <a:t>       </a:t>
            </a:r>
            <a:r>
              <a:rPr lang="zh-CN" altLang="en-US" sz="2400"/>
              <a:t>思考：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VHDL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中的数组类型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如：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BIT_VECTOR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STD _LOGIC_VECTOR)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该怎么比较呢？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21" name="标题 708609"/>
          <p:cNvSpPr>
            <a:spLocks noGrp="1"/>
          </p:cNvSpPr>
          <p:nvPr/>
        </p:nvSpPr>
        <p:spPr>
          <a:xfrm>
            <a:off x="251460" y="260350"/>
            <a:ext cx="8115300" cy="195516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</a:t>
            </a: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按照类似于字母排序的方式进行的，排序时从数组最左边的元素开始对比，直至发现第一个不同的元素，排在前面的数小于排在后面的数。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7745" name="标题 708609"/>
          <p:cNvSpPr>
            <a:spLocks noGrp="1"/>
          </p:cNvSpPr>
          <p:nvPr/>
        </p:nvSpPr>
        <p:spPr>
          <a:xfrm>
            <a:off x="323533" y="2060258"/>
            <a:ext cx="8404225" cy="23066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举一个简单的例子，如“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101011”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和“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1011”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的比较，两个数的前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位都相同，因为“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1011”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的第四位为“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而“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101011”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的第四位为“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0”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，因此“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1011”&gt;“101011”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成立，如图所示。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87746" name="图片 709635" descr="3-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7720" y="4040505"/>
            <a:ext cx="4029075" cy="25768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77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7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7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745" grpId="0"/>
      <p:bldP spid="28774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8770" name="矩形 231426"/>
          <p:cNvSpPr/>
          <p:nvPr/>
        </p:nvSpPr>
        <p:spPr>
          <a:xfrm>
            <a:off x="457200" y="1097915"/>
            <a:ext cx="8077200" cy="4191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应用：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【例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4-25</a:t>
            </a:r>
            <a:r>
              <a:rPr lang="zh-CN" altLang="en-US" sz="2400" b="1">
                <a:latin typeface="楷体_GB2312" pitchFamily="49" charset="-122"/>
                <a:ea typeface="楷体_GB2312" pitchFamily="49" charset="-122"/>
              </a:rPr>
              <a:t>】</a:t>
            </a:r>
            <a:endParaRPr lang="zh-CN" altLang="en-US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err="1">
                <a:latin typeface="楷体_GB2312" pitchFamily="49" charset="-122"/>
                <a:ea typeface="楷体_GB2312" pitchFamily="49" charset="-122"/>
              </a:rPr>
              <a:t>Signal a: std_logic_vector( 3 downto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0):=”1010”;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err="1">
                <a:latin typeface="楷体_GB2312" pitchFamily="49" charset="-122"/>
                <a:ea typeface="楷体_GB2312" pitchFamily="49" charset="-122"/>
              </a:rPr>
              <a:t>Signal b: std_logic_vector( 3 downto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0):=”1011”;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err="1">
                <a:latin typeface="楷体_GB2312" pitchFamily="49" charset="-122"/>
                <a:ea typeface="楷体_GB2312" pitchFamily="49" charset="-122"/>
              </a:rPr>
              <a:t>Signal c: std_logic_vector( 3 downto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 0):=”1010;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Signal d: Boolean;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Signal e: Boolean;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d&lt;=(a=b);    --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由于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不等，所以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d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的值为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false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  <a:p>
            <a:pPr marL="469900" indent="-469900"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e&lt;=(a=c);    --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由于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c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相等，所以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的值为</a:t>
            </a:r>
            <a:r>
              <a:rPr lang="en-US" altLang="zh-CN" sz="2400" b="1">
                <a:latin typeface="楷体_GB2312" pitchFamily="49" charset="-122"/>
                <a:ea typeface="楷体_GB2312" pitchFamily="49" charset="-122"/>
              </a:rPr>
              <a:t>TRUE</a:t>
            </a:r>
            <a:endParaRPr lang="en-US" altLang="zh-CN" sz="2400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9793" name="矩形 221185"/>
          <p:cNvSpPr/>
          <p:nvPr/>
        </p:nvSpPr>
        <p:spPr>
          <a:xfrm>
            <a:off x="533083" y="98107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4.3.3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算术运算符</a:t>
            </a:r>
            <a:br>
              <a:rPr lang="zh-CN" altLang="en-US" sz="3600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9794" name="矩形 221187"/>
          <p:cNvSpPr/>
          <p:nvPr/>
        </p:nvSpPr>
        <p:spPr>
          <a:xfrm>
            <a:off x="609600" y="1981200"/>
            <a:ext cx="8077200" cy="2819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求和类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求积类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混合类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</a:rPr>
              <a:t>移位类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0817" name="矩形 222209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求和类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818" name="矩形 222210"/>
          <p:cNvSpPr/>
          <p:nvPr/>
        </p:nvSpPr>
        <p:spPr>
          <a:xfrm>
            <a:off x="609600" y="1600200"/>
            <a:ext cx="8305800" cy="3962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4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求和类算术运算符包括：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（加）、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（减）、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（并置）。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加、减运算的操作数是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整数型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，其他类型的数据加减时，则需要对运算符进行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重载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45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并置运算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用于将多个对象或矢量连接成维数更大的矢量。连接时可采用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位置关联或序号关联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1841" name="Rectangle 3"/>
          <p:cNvSpPr>
            <a:spLocks noGrp="1"/>
          </p:cNvSpPr>
          <p:nvPr/>
        </p:nvSpPr>
        <p:spPr>
          <a:xfrm>
            <a:off x="0" y="1700213"/>
            <a:ext cx="9131300" cy="31940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对于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操作来说，左操作数可以是任何数据类型，右操作数的类型和左操作数相一致。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p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对于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&amp;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操作来说，左操作数可以是任何数组类型或者数组中的元素类型，右操作数可以是任何数组类型或者数组中的元素类型。操作结果是任何数组类型。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700213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r>
              <a:rPr kumimoji="0" lang="zh-CN" altLang="en-US" sz="30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操作符</a:t>
            </a:r>
            <a:r>
              <a:rPr kumimoji="0" lang="en-US" altLang="zh-CN" sz="30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kumimoji="0" lang="zh-CN" altLang="en-US" sz="30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kumimoji="0" lang="zh-CN" altLang="en-US" sz="30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</a:t>
            </a:r>
            <a:endParaRPr kumimoji="0" lang="en-US" altLang="zh-CN" sz="3000" b="1" i="0" u="none" strike="noStrike" kern="1200" cap="none" spc="0" normalizeH="0" baseline="0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005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variable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SUM1, SUM2, A, B 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integer;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005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SUM1 := A + B;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005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SUM2 := A - B;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700213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并置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操作符的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描述的例子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kumimoji="0" lang="en-US" altLang="zh-CN" sz="3000" b="1" i="0" u="none" strike="noStrike" kern="1200" cap="none" spc="0" normalizeH="0" baseline="0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005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 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 "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abc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005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S2 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 "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00050" marR="0" lvl="1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constant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S3 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:= S1 &amp; S2; -- "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abcdef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1092200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并置操作符的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描述的例子</a:t>
            </a:r>
            <a:r>
              <a:rPr kumimoji="0" lang="en-US" altLang="zh-CN" sz="30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kumimoji="0" lang="en-US" altLang="zh-CN" sz="3000" b="1" i="0" u="none" strike="noStrike" kern="1200" cap="none" spc="0" normalizeH="0" baseline="0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a,d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bit_vector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(3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downto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b,c,g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bit_vector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(1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downto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e: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bit_vector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(2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downto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f,  h, 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: bit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&lt;=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 &amp;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 array &amp; array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&lt;=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 &amp;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 array &amp; element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 &lt;=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h &amp;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 element &amp; element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5458" name="矩形 223234"/>
          <p:cNvSpPr/>
          <p:nvPr/>
        </p:nvSpPr>
        <p:spPr>
          <a:xfrm>
            <a:off x="609600" y="1219200"/>
            <a:ext cx="8305800" cy="4873625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32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并置操作符的</a:t>
            </a:r>
            <a:r>
              <a:rPr lang="en-US" altLang="zh-CN" sz="32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VHDL</a:t>
            </a:r>
            <a:r>
              <a:rPr lang="zh-CN" altLang="en-US" sz="32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描述的例子</a:t>
            </a:r>
            <a:r>
              <a:rPr lang="en-US" altLang="zh-CN" sz="3200" b="1" strike="noStrike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endParaRPr lang="en-US" altLang="zh-CN" sz="3200" b="1" strike="noStrike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a,b,c,d: std_logic</a:t>
            </a:r>
            <a:r>
              <a:rPr lang="en-US" altLang="zh-CN" sz="2400" b="1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q: std_logic_vector</a:t>
            </a:r>
            <a:r>
              <a:rPr lang="en-US" altLang="zh-CN" sz="2400" b="1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q&lt;=a&amp;b&amp;c&amp;d</a:t>
            </a:r>
            <a:r>
              <a:rPr lang="en-US" altLang="zh-CN" sz="2400" b="1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q&lt;=(a,b,c,d</a:t>
            </a:r>
            <a:r>
              <a:rPr lang="en-US" altLang="zh-CN" sz="2400" b="1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);</a:t>
            </a:r>
            <a:endParaRPr lang="en-US" altLang="zh-CN" sz="24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strike="noStrike" noProof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q&lt;=(3=&gt;a,0=&gt;d,2=&gt;b,1=&gt;c); </a:t>
            </a:r>
            <a:endParaRPr lang="en-US" altLang="zh-CN" sz="24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pt-BR" altLang="zh-CN" sz="2400" b="1" strike="noStrike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OTHERS</a:t>
            </a:r>
            <a:r>
              <a:rPr lang="zh-CN" altLang="pt-BR" sz="2400" b="1" strike="noStrike" noProof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zh-CN" altLang="pt-BR" sz="2400" b="1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lang="zh-CN" altLang="pt-BR" sz="2400" b="1" strike="noStrike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pt-BR" altLang="zh-CN" sz="2400" b="1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Q&lt;=A&amp;A&amp;C&amp;D;</a:t>
            </a:r>
            <a:endParaRPr lang="pt-BR" altLang="zh-CN" sz="2400" b="1" strike="noStrike" noProof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 fontAlgn="base">
              <a:lnSpc>
                <a:spcPct val="12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pt-BR" altLang="zh-CN" sz="2400" b="1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Q&lt;=</a:t>
            </a:r>
            <a:r>
              <a:rPr lang="zh-CN" altLang="pt-BR" sz="2400" b="1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pt-BR" altLang="zh-CN" sz="2400" b="1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1=&gt;C,0=&gt;D,OTHERS=&gt;A</a:t>
            </a:r>
            <a:r>
              <a:rPr lang="zh-CN" altLang="pt-BR" sz="2400" b="1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pt-BR" altLang="zh-CN" sz="2400" b="1" strike="noStrike" noProof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strike="noStrike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1057" name="矩形 224257"/>
          <p:cNvSpPr/>
          <p:nvPr/>
        </p:nvSpPr>
        <p:spPr>
          <a:xfrm>
            <a:off x="395288" y="69278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求积类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1058" name="矩形 224258"/>
          <p:cNvSpPr/>
          <p:nvPr/>
        </p:nvSpPr>
        <p:spPr>
          <a:xfrm>
            <a:off x="697230" y="1485265"/>
            <a:ext cx="8001000" cy="4556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求积类算术运算符包括：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（乘）、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（除）、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（取模）、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（取余）。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规定，乘与除的数据类型是整数和实数，而取模和取余的操作数及运算结果都是整数。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求积类运算符只能有条件地被综合。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mod B</a:t>
            </a: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的符号由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的符号确定。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rem B</a:t>
            </a: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的符号由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的符号确定。</a:t>
            </a:r>
            <a:endParaRPr lang="zh-CN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52400" y="2027238"/>
          <a:ext cx="8900160" cy="3810000"/>
        </p:xfrm>
        <a:graphic>
          <a:graphicData uri="http://schemas.openxmlformats.org/drawingml/2006/table">
            <a:tbl>
              <a:tblPr/>
              <a:tblGrid>
                <a:gridCol w="1179240"/>
                <a:gridCol w="1080120"/>
                <a:gridCol w="2232248"/>
                <a:gridCol w="2016224"/>
                <a:gridCol w="2392328"/>
              </a:tblGrid>
              <a:tr h="476250"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操作符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操作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左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操作数类型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有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操作数类型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结果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 rowSpan="4"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*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乘法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整数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和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左操作数一致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实数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和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左操作数一致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整数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和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右操作数一致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实数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和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右操作数一致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 rowSpan="3"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en-US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/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除法</a:t>
                      </a: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 New Roman" panose="02020603050405020304"/>
                          <a:ea typeface="Times-Roman+2"/>
                          <a:cs typeface="Times-Roman+2"/>
                        </a:rPr>
                        <a:t> 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整数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和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左操作数一致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实数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和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左操作数一致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任何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物理类型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endParaRPr lang="en-US" altLang="zh-CN" sz="2400" b="1" kern="0" dirty="0" smtClean="0">
                        <a:solidFill>
                          <a:srgbClr val="7030A0"/>
                        </a:solidFill>
                        <a:effectLst/>
                        <a:latin typeface="Times-Roman+2"/>
                        <a:ea typeface="宋体" panose="02010600030101010101" pitchFamily="2" charset="-122"/>
                        <a:cs typeface="Times-Roman+2"/>
                      </a:endParaRPr>
                    </a:p>
                    <a:p>
                      <a:pPr algn="ctr"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zh-CN" sz="2400" b="1" kern="0" dirty="0" smtClean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通用</a:t>
                      </a:r>
                      <a:r>
                        <a:rPr lang="zh-CN" sz="2400" b="1" kern="0" dirty="0">
                          <a:solidFill>
                            <a:srgbClr val="7030A0"/>
                          </a:solidFill>
                          <a:effectLst/>
                          <a:latin typeface="Times-Roman+2"/>
                          <a:ea typeface="宋体" panose="02010600030101010101" pitchFamily="2" charset="-122"/>
                          <a:cs typeface="Times-Roman+2"/>
                        </a:rPr>
                        <a:t>的整数</a:t>
                      </a:r>
                      <a:endParaRPr lang="zh-CN" sz="2400" b="1" kern="100" dirty="0">
                        <a:solidFill>
                          <a:srgbClr val="7030A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4129" name="矩形 225281"/>
          <p:cNvSpPr/>
          <p:nvPr/>
        </p:nvSpPr>
        <p:spPr>
          <a:xfrm>
            <a:off x="456883" y="69278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混合类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130" name="矩形 225282"/>
          <p:cNvSpPr/>
          <p:nvPr/>
        </p:nvSpPr>
        <p:spPr>
          <a:xfrm>
            <a:off x="467360" y="1628775"/>
            <a:ext cx="8279130" cy="3962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混合类算术运算符包括：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（乘方）、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ABS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（取绝对值）。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规定，混合运算的操作数一般为整数类型。而综合器对乘方运算也有一定的限制。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5153" name="矩形 226305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移位类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154" name="矩形 226306"/>
          <p:cNvSpPr/>
          <p:nvPr/>
        </p:nvSpPr>
        <p:spPr>
          <a:xfrm>
            <a:off x="611505" y="1412875"/>
            <a:ext cx="8001000" cy="4648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移位运算符包括：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（逻辑左移）、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（逻辑右移）；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（补</a:t>
            </a:r>
            <a:r>
              <a:rPr lang="en-US" altLang="zh-CN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（算术左移）、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（算术右移）；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（不变）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（逻辑循环左移）、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（逻辑循环右移）。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适用类型：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BIT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BOOLEAN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重载使其也支持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6177" name="矩形 711683"/>
          <p:cNvSpPr/>
          <p:nvPr/>
        </p:nvSpPr>
        <p:spPr>
          <a:xfrm>
            <a:off x="1259523" y="188595"/>
            <a:ext cx="469106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lvl="4" indent="0" algn="ctr"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表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移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 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位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 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运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 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算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 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符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6178" name="图片 7116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52730" y="664210"/>
            <a:ext cx="9759315" cy="67576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02" name="矩形 227330"/>
          <p:cNvSpPr/>
          <p:nvPr/>
        </p:nvSpPr>
        <p:spPr>
          <a:xfrm>
            <a:off x="533400" y="1008380"/>
            <a:ext cx="8001000" cy="24384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语句格式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标识符  移位操作符  移位位数</a:t>
            </a:r>
            <a:r>
              <a:rPr lang="en-US" altLang="zh-CN" sz="2400" b="1"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移位操作符左边是支持的类型，右边必须是整数。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举例：</a:t>
            </a:r>
            <a:endParaRPr lang="zh-CN" altLang="en-US" sz="24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l"/>
            </a:pP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27332" name="内容占位符 227331"/>
          <p:cNvGraphicFramePr>
            <a:graphicFrameLocks noGrp="1"/>
          </p:cNvGraphicFramePr>
          <p:nvPr>
            <p:ph idx="4294967295"/>
          </p:nvPr>
        </p:nvGraphicFramePr>
        <p:xfrm>
          <a:off x="2325688" y="3316605"/>
          <a:ext cx="5294312" cy="228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2513330" imgH="1085850" progId="Visio.Drawing.4">
                  <p:embed/>
                </p:oleObj>
              </mc:Choice>
              <mc:Fallback>
                <p:oleObj name="" r:id="rId1" imgW="2513330" imgH="1085850" progId="Visio.Drawing.4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25688" y="3316605"/>
                        <a:ext cx="5294312" cy="22875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27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8225" name="标题 712705"/>
          <p:cNvSpPr>
            <a:spLocks noGrp="1"/>
          </p:cNvSpPr>
          <p:nvPr/>
        </p:nvSpPr>
        <p:spPr>
          <a:xfrm>
            <a:off x="514350" y="906780"/>
            <a:ext cx="8162290" cy="397954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</a:t>
            </a:r>
            <a:b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　　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举一个简单的例子，如果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A = "10010101"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，则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sll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	</a:t>
            </a:r>
            <a:b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srl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	</a:t>
            </a:r>
            <a:b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sla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	</a:t>
            </a:r>
            <a:b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sra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2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	</a:t>
            </a:r>
            <a:b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rol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	</a:t>
            </a:r>
            <a:b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　　</a:t>
            </a:r>
            <a:r>
              <a:rPr lang="en-US" alt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ror</a:t>
            </a:r>
            <a:r>
              <a:rPr lang="en-US" altLang="zh-CN" sz="2400" b="1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 5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	</a:t>
            </a:r>
            <a:endParaRPr lang="en-US" altLang="zh-CN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11470" y="1970405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"01010100"</a:t>
            </a: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5394960" y="2384425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"00010010"</a:t>
            </a:r>
            <a:endParaRPr lang="zh-CN" altLang="en-US" sz="2400"/>
          </a:p>
        </p:txBody>
      </p:sp>
      <p:sp>
        <p:nvSpPr>
          <p:cNvPr id="4" name="文本框 3"/>
          <p:cNvSpPr txBox="1"/>
          <p:nvPr/>
        </p:nvSpPr>
        <p:spPr>
          <a:xfrm>
            <a:off x="5394960" y="2814955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"10101111"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5394960" y="3317240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"11100101"</a:t>
            </a:r>
            <a:endParaRPr lang="zh-CN" altLang="en-US" sz="2400"/>
          </a:p>
        </p:txBody>
      </p:sp>
      <p:sp>
        <p:nvSpPr>
          <p:cNvPr id="6" name="文本框 5"/>
          <p:cNvSpPr txBox="1"/>
          <p:nvPr/>
        </p:nvSpPr>
        <p:spPr>
          <a:xfrm>
            <a:off x="5394960" y="3819525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"10101100"</a:t>
            </a: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5394960" y="4250055"/>
            <a:ext cx="2593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"10101100"</a:t>
            </a:r>
            <a:endParaRPr lang="zh-CN" altLang="en-US" sz="2400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9249" name="文本框 862211"/>
          <p:cNvSpPr txBox="1"/>
          <p:nvPr/>
        </p:nvSpPr>
        <p:spPr>
          <a:xfrm>
            <a:off x="251143" y="1167448"/>
            <a:ext cx="3717925" cy="45227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【练习】  移位运算示例。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"0101";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B&lt;=A SLL 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C&lt;=A SRL 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D&lt;=A SLA 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E&lt;=A SRA 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F&lt;=A ROL 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2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G&lt;=A ROR 1;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273" name="文本框 871427"/>
          <p:cNvSpPr txBox="1"/>
          <p:nvPr/>
        </p:nvSpPr>
        <p:spPr>
          <a:xfrm>
            <a:off x="5382260" y="1801813"/>
            <a:ext cx="2098675" cy="39687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仿真的结果是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: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 = 1010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C = 0010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D = 1011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 = 0010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F = 1010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lvl="1" indent="0"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G = 1010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0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0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3" grpId="0"/>
      <p:bldP spid="310273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1297" name="标题 713729"/>
          <p:cNvSpPr>
            <a:spLocks noGrp="1"/>
          </p:cNvSpPr>
          <p:nvPr>
            <p:ph type="title"/>
          </p:nvPr>
        </p:nvSpPr>
        <p:spPr>
          <a:xfrm>
            <a:off x="252095" y="2061210"/>
            <a:ext cx="8794750" cy="4492625"/>
          </a:xfrm>
          <a:noFill/>
          <a:ln>
            <a:noFill/>
          </a:ln>
        </p:spPr>
        <p:txBody>
          <a:bodyPr anchor="t" anchorCtr="0"/>
          <a:p>
            <a:pPr algn="l" eaLnBrk="1" latinLnBrk="0" hangingPunct="1">
              <a:lnSpc>
                <a:spcPct val="150000"/>
              </a:lnSpc>
            </a:pPr>
            <a:r>
              <a:rPr lang="zh-CN" altLang="en-US" dirty="0"/>
              <a:t>　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sll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描述为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A(5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0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) &amp; "00";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srl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描述为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“000” &amp; A(7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3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);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sla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描述为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A(4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0) &amp; A(0) &amp; A(0) A(0);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sra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描述为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A(7) &amp; A(7) &amp; A(7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2);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rol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描述为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A(4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0) &amp; A(7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5);</a:t>
            </a:r>
            <a:b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ror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5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描述为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A&lt;= A(4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0) &amp; A(7 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</a:rPr>
              <a:t>downto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5);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11480" y="836930"/>
            <a:ext cx="832167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kumimoji="1" lang="zh-CN" altLang="en-US" sz="2400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  <a:sym typeface="+mn-ea"/>
              </a:rPr>
              <a:t>如果在综合器或仿真器中要对其他类型的数据使用移位操作符，可以尝试换一种写法描述移位。</a:t>
            </a:r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12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1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7" grpId="0"/>
      <p:bldP spid="311297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2321" name="矩形 232449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4.3.4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符号运算符</a:t>
            </a:r>
            <a:endParaRPr lang="zh-CN" altLang="en-US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2322" name="矩形 232450"/>
          <p:cNvSpPr/>
          <p:nvPr/>
        </p:nvSpPr>
        <p:spPr>
          <a:xfrm>
            <a:off x="457200" y="1600200"/>
            <a:ext cx="8077200" cy="4191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符号操作符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（正号）和－（负号）的操作数只有一个，操作数的数据类型是整数。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+” 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符号对操作数不作任何改变，“</a:t>
            </a:r>
            <a:r>
              <a:rPr lang="en-US" altLang="zh-CN" sz="2400" b="1" dirty="0">
                <a:latin typeface="Times New Roman" panose="02020603050405020304" pitchFamily="18" charset="0"/>
                <a:ea typeface="楷体_GB2312" pitchFamily="49" charset="-122"/>
              </a:rPr>
              <a:t>—”</a:t>
            </a:r>
            <a:r>
              <a:rPr lang="zh-CN" altLang="en-US" sz="2400" b="1" dirty="0">
                <a:latin typeface="Times New Roman" panose="02020603050405020304" pitchFamily="18" charset="0"/>
                <a:ea typeface="楷体_GB2312" pitchFamily="49" charset="-122"/>
              </a:rPr>
              <a:t>符号用于返回操作数的反码，使用时加括号，如：</a:t>
            </a:r>
            <a:endParaRPr lang="zh-CN" altLang="en-US" sz="24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469900" indent="-469900" algn="ctr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x:=y*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-z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7506" name="标题 704516"/>
          <p:cNvPicPr>
            <a:picLocks noGrp="1" noChangeAspect="1"/>
          </p:cNvPicPr>
          <p:nvPr>
            <p:ph type="title"/>
          </p:nvPr>
        </p:nvPicPr>
        <p:blipFill>
          <a:blip r:embed="rId1"/>
          <a:stretch>
            <a:fillRect/>
          </a:stretch>
        </p:blipFill>
        <p:spPr>
          <a:xfrm>
            <a:off x="-541020" y="1772920"/>
            <a:ext cx="10142220" cy="3799205"/>
          </a:xfrm>
          <a:noFill/>
          <a:ln>
            <a:noFill/>
          </a:ln>
        </p:spPr>
      </p:pic>
      <p:sp>
        <p:nvSpPr>
          <p:cNvPr id="313345" name="矩形 233473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4.3.5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运算顺序</a:t>
            </a:r>
            <a:endParaRPr lang="zh-CN" altLang="en-US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4369" name="文本占位符 126977"/>
          <p:cNvSpPr>
            <a:spLocks noGrp="1"/>
          </p:cNvSpPr>
          <p:nvPr>
            <p:ph idx="1"/>
          </p:nvPr>
        </p:nvSpPr>
        <p:spPr>
          <a:xfrm>
            <a:off x="565150" y="1485900"/>
            <a:ext cx="8013700" cy="38862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重载：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规定了每种运算符的适用数据类型，要想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扩大其适用范围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，必须对原有的基本操作符重新定义，赋予新的含义和功能，从而建立一种新的操作符，这就是重载操作符，定义这种操作符的函数称为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重载函数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4370" name="矩形 126978"/>
          <p:cNvSpPr/>
          <p:nvPr/>
        </p:nvSpPr>
        <p:spPr>
          <a:xfrm>
            <a:off x="468313" y="47625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</a:pP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4.3.6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运算符重载</a:t>
            </a:r>
            <a:endParaRPr lang="zh-CN" altLang="en-US" sz="3600" b="1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2700" y="1327150"/>
            <a:ext cx="9131300" cy="5157788"/>
          </a:xfrm>
        </p:spPr>
        <p:txBody>
          <a:bodyPr/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zh-CN" sz="3000" b="1" i="0" u="none" strike="noStrike" kern="1200" cap="none" spc="0" normalizeH="0" baseline="0" noProof="1" dirty="0" smtClean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重载</a:t>
            </a:r>
            <a:r>
              <a:rPr kumimoji="0" lang="zh-CN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操作符的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rPr>
              <a:t>描述的例子</a:t>
            </a:r>
            <a:endParaRPr kumimoji="0" lang="zh-CN" altLang="zh-CN" sz="3000" b="1" i="0" u="none" strike="noStrike" kern="1200" cap="none" spc="0" normalizeH="0" baseline="0" noProof="1" dirty="0">
              <a:solidFill>
                <a:schemeClr val="tx1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type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MVL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(’0’, ’1’, ’Z’, ’X’) 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"and" (Left, Right: MVL)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MVL 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"or" (Left, Right: MVL)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return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MVL 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"not" (Value: MVL)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return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MVL 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signal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Q,R,S: MVL 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Q &lt;= ’X’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’1’;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R &lt;= "or" (’0’,’Z’);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 &lt;= (Q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R)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 not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S;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41" name="文本占位符 234497"/>
          <p:cNvSpPr>
            <a:spLocks noGrp="1"/>
          </p:cNvSpPr>
          <p:nvPr>
            <p:ph idx="1"/>
          </p:nvPr>
        </p:nvSpPr>
        <p:spPr>
          <a:xfrm>
            <a:off x="467360" y="765175"/>
            <a:ext cx="8001000" cy="581914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重载函数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STD_LOGIC_ARITH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STD_LOGIC_UNSIGNED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STD_LOGIC_SIGNED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程序包中为许多类型的运算重载了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算术运算符和关系运算符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endParaRPr lang="en-US" altLang="zh-CN" sz="24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因此只要引用这些程序包，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SINGEND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UNSIGEND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之间；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INTEGER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STD_LOGIC_VECTOR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之间可以混合运算。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8465" name="组合 2"/>
          <p:cNvGrpSpPr/>
          <p:nvPr/>
        </p:nvGrpSpPr>
        <p:grpSpPr>
          <a:xfrm>
            <a:off x="0" y="503238"/>
            <a:ext cx="7467600" cy="6100762"/>
            <a:chOff x="0" y="792"/>
            <a:chExt cx="11760" cy="9608"/>
          </a:xfrm>
        </p:grpSpPr>
        <p:pic>
          <p:nvPicPr>
            <p:cNvPr id="318466" name="图片 150529" descr="EP11"/>
            <p:cNvPicPr>
              <a:picLocks noChangeAspect="1"/>
            </p:cNvPicPr>
            <p:nvPr>
              <p:custDataLst>
                <p:tags r:id="rId1"/>
              </p:custDataLst>
            </p:nvPr>
          </p:nvPicPr>
          <p:blipFill>
            <a:blip r:embed="rId2"/>
            <a:stretch>
              <a:fillRect/>
            </a:stretch>
          </p:blipFill>
          <p:spPr>
            <a:xfrm>
              <a:off x="0" y="792"/>
              <a:ext cx="11760" cy="96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318467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94"/>
              <a:ext cx="7709" cy="49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149506" name="文本框 149505"/>
          <p:cNvSpPr txBox="1"/>
          <p:nvPr/>
        </p:nvSpPr>
        <p:spPr>
          <a:xfrm>
            <a:off x="4067810" y="188278"/>
            <a:ext cx="3351213" cy="457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用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VHDL</a:t>
            </a:r>
            <a:r>
              <a:rPr lang="zh-CN" altLang="en-US" sz="24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设计</a:t>
            </a:r>
            <a:r>
              <a:rPr lang="en-US" altLang="zh-CN" sz="24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2400" b="1" dirty="0">
                <a:solidFill>
                  <a:srgbClr val="008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位计数器</a:t>
            </a:r>
            <a:endParaRPr lang="zh-CN" altLang="en-US" sz="2400" b="1" dirty="0">
              <a:solidFill>
                <a:srgbClr val="008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10" name="直接连接符 149509"/>
          <p:cNvSpPr/>
          <p:nvPr/>
        </p:nvSpPr>
        <p:spPr>
          <a:xfrm>
            <a:off x="5105400" y="4870450"/>
            <a:ext cx="4572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9511" name="直接连接符 149510"/>
          <p:cNvSpPr/>
          <p:nvPr/>
        </p:nvSpPr>
        <p:spPr>
          <a:xfrm>
            <a:off x="2647950" y="5230813"/>
            <a:ext cx="19050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9521" name="文本框 149520"/>
          <p:cNvSpPr txBox="1"/>
          <p:nvPr/>
        </p:nvSpPr>
        <p:spPr>
          <a:xfrm>
            <a:off x="3660775" y="5902325"/>
            <a:ext cx="2227263" cy="338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t" anchorCtr="0">
            <a:spAutoFit/>
          </a:bodyPr>
          <a:p>
            <a:pPr algn="ctr"/>
            <a:r>
              <a:rPr lang="zh-CN" altLang="en-US" sz="16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注意整数和位矢量相加</a:t>
            </a:r>
            <a:endParaRPr lang="zh-CN" altLang="en-US" sz="16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42" name="直接连接符 150541"/>
          <p:cNvSpPr/>
          <p:nvPr/>
        </p:nvSpPr>
        <p:spPr>
          <a:xfrm flipH="1" flipV="1">
            <a:off x="4000500" y="5292725"/>
            <a:ext cx="1143000" cy="6096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95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95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/>
      <p:bldP spid="149521" grpId="0" bldLvl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9507" name="图片 149506" descr="EP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56933"/>
            <a:ext cx="8991600" cy="6013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957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88" y="844550"/>
            <a:ext cx="5424487" cy="9223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9509" name="直接连接符 149508"/>
          <p:cNvSpPr/>
          <p:nvPr/>
        </p:nvSpPr>
        <p:spPr>
          <a:xfrm>
            <a:off x="4572000" y="2895600"/>
            <a:ext cx="11430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9512" name="直接连接符 149511"/>
          <p:cNvSpPr/>
          <p:nvPr/>
        </p:nvSpPr>
        <p:spPr>
          <a:xfrm>
            <a:off x="6019800" y="2895600"/>
            <a:ext cx="22098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9514" name="直接连接符 149513"/>
          <p:cNvSpPr/>
          <p:nvPr/>
        </p:nvSpPr>
        <p:spPr>
          <a:xfrm flipH="1">
            <a:off x="5791200" y="1600200"/>
            <a:ext cx="990600" cy="9906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9515" name="直接连接符 149514"/>
          <p:cNvSpPr/>
          <p:nvPr/>
        </p:nvSpPr>
        <p:spPr>
          <a:xfrm flipH="1" flipV="1">
            <a:off x="7315200" y="2971800"/>
            <a:ext cx="609600" cy="3810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49518" name="文本框 149517"/>
          <p:cNvSpPr txBox="1"/>
          <p:nvPr/>
        </p:nvSpPr>
        <p:spPr>
          <a:xfrm>
            <a:off x="6792278" y="1420813"/>
            <a:ext cx="1614170" cy="33718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t" anchorCtr="0">
            <a:spAutoFit/>
          </a:bodyPr>
          <a:p>
            <a:pPr algn="ctr"/>
            <a:r>
              <a:rPr lang="zh-CN" altLang="en-US" sz="16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取整数数据类型</a:t>
            </a:r>
            <a:endParaRPr lang="zh-CN" altLang="en-US" sz="16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9519" name="文本框 149518"/>
          <p:cNvSpPr txBox="1"/>
          <p:nvPr/>
        </p:nvSpPr>
        <p:spPr>
          <a:xfrm>
            <a:off x="7731125" y="3252788"/>
            <a:ext cx="1412875" cy="346075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  <a:effectLst>
            <a:outerShdw dist="45791" dir="3378595" algn="ctr" rotWithShape="0">
              <a:srgbClr val="4D4D4D"/>
            </a:outerShdw>
          </a:effectLst>
        </p:spPr>
        <p:txBody>
          <a:bodyPr wrap="none" anchor="t" anchorCtr="0">
            <a:spAutoFit/>
          </a:bodyPr>
          <a:p>
            <a:pPr algn="ctr"/>
            <a:r>
              <a:rPr lang="zh-CN" altLang="en-US" sz="1600" b="1" dirty="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整数取值范围</a:t>
            </a:r>
            <a:endParaRPr lang="zh-CN" altLang="en-US" sz="1600" b="1" dirty="0">
              <a:solidFill>
                <a:srgbClr val="FF33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9580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4935538" cy="9239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9490" name="文本框 150530"/>
          <p:cNvSpPr txBox="1"/>
          <p:nvPr/>
        </p:nvSpPr>
        <p:spPr>
          <a:xfrm>
            <a:off x="3525520" y="404178"/>
            <a:ext cx="25057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修改后的程序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1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95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95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95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95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8" grpId="0" bldLvl="0" animBg="1"/>
      <p:bldP spid="149519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0530" name="图片 150529" descr="EP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7467600" cy="6100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9490" name="文本框 150530"/>
          <p:cNvSpPr txBox="1"/>
          <p:nvPr/>
        </p:nvSpPr>
        <p:spPr>
          <a:xfrm>
            <a:off x="3505200" y="176213"/>
            <a:ext cx="250571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zh-CN" altLang="en-US" sz="28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修改后的程序</a:t>
            </a:r>
            <a:r>
              <a:rPr lang="en-US" altLang="zh-CN" sz="2800" dirty="0">
                <a:solidFill>
                  <a:srgbClr val="FF33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endParaRPr lang="en-US" altLang="zh-CN" sz="2800" dirty="0">
              <a:solidFill>
                <a:srgbClr val="FF33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50532" name="直接连接符 150531"/>
          <p:cNvSpPr/>
          <p:nvPr/>
        </p:nvSpPr>
        <p:spPr>
          <a:xfrm>
            <a:off x="4038600" y="5486400"/>
            <a:ext cx="0" cy="5334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arrow" w="med" len="med"/>
            <a:tailEnd type="none" w="med" len="med"/>
          </a:ln>
        </p:spPr>
      </p:sp>
      <p:sp>
        <p:nvSpPr>
          <p:cNvPr id="150533" name="直接连接符 150532"/>
          <p:cNvSpPr/>
          <p:nvPr/>
        </p:nvSpPr>
        <p:spPr>
          <a:xfrm>
            <a:off x="4038600" y="6019800"/>
            <a:ext cx="41910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0534" name="直接连接符 150533"/>
          <p:cNvSpPr/>
          <p:nvPr/>
        </p:nvSpPr>
        <p:spPr>
          <a:xfrm flipV="1">
            <a:off x="8229600" y="1600200"/>
            <a:ext cx="0" cy="44196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0535" name="圆角矩形标注 150534"/>
          <p:cNvSpPr/>
          <p:nvPr/>
        </p:nvSpPr>
        <p:spPr>
          <a:xfrm>
            <a:off x="7391400" y="1371600"/>
            <a:ext cx="1524000" cy="609600"/>
          </a:xfrm>
          <a:prstGeom prst="wedgeRoundRectCallout">
            <a:avLst>
              <a:gd name="adj1" fmla="val -211042"/>
              <a:gd name="adj2" fmla="val -68750"/>
              <a:gd name="adj3" fmla="val 16667"/>
            </a:avLst>
          </a:prstGeom>
          <a:gradFill rotWithShape="0">
            <a:gsLst>
              <a:gs pos="0">
                <a:srgbClr val="CCFFFF"/>
              </a:gs>
              <a:gs pos="50000">
                <a:srgbClr val="FFFFFF"/>
              </a:gs>
              <a:gs pos="100000">
                <a:srgbClr val="CCFFFF"/>
              </a:gs>
            </a:gsLst>
            <a:lin ang="5400000" scaled="1"/>
            <a:tileRect/>
          </a:gra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运算符加载</a:t>
            </a:r>
            <a:endParaRPr lang="zh-CN" altLang="en-US" sz="28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0539" name="直接连接符 150538"/>
          <p:cNvSpPr/>
          <p:nvPr/>
        </p:nvSpPr>
        <p:spPr>
          <a:xfrm>
            <a:off x="3962400" y="5257800"/>
            <a:ext cx="228600" cy="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50540" name="直接连接符 150539"/>
          <p:cNvSpPr/>
          <p:nvPr/>
        </p:nvSpPr>
        <p:spPr>
          <a:xfrm>
            <a:off x="1447800" y="1447800"/>
            <a:ext cx="2743200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0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5" grpId="0" bldLvl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2561" name="文本占位符 238593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419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属性指的是关于实体、结构体、类型及信号的一些</a:t>
            </a: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特征。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常用属性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：数值类属性、函数类属性、范围类属性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一般格式：</a:t>
            </a:r>
            <a:endParaRPr lang="zh-CN" altLang="en-US" sz="2400" b="1" dirty="0">
              <a:solidFill>
                <a:srgbClr val="00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对象’属性标识符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2562" name="矩形 238594"/>
          <p:cNvSpPr/>
          <p:nvPr/>
        </p:nvSpPr>
        <p:spPr>
          <a:xfrm>
            <a:off x="773113" y="434975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r>
              <a:rPr lang="en-US" altLang="zh-CN" sz="4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4.4 VHDL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属性</a:t>
            </a:r>
            <a:endParaRPr lang="zh-CN" altLang="en-US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3585" name="文本占位符 239617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44196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常用的信号类属性是</a:t>
            </a:r>
            <a:r>
              <a:rPr lang="en-US" altLang="zh-CN" sz="2400" b="1">
                <a:solidFill>
                  <a:srgbClr val="00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，返回值为布尔型，如果信号有变化，则取值为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，否则为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利用此属性可决定时钟边沿是否有效，即时钟是否发生。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 clk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  std_logic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clk’event and clk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=’1’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用于检测时钟上升沿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clk’event and clk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=’0’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用于检测时钟下降沿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rising_edge(clk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falling_edge(clk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分别表示时钟的上升沿、下降沿。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3586" name="矩形 239618"/>
          <p:cNvSpPr/>
          <p:nvPr/>
        </p:nvSpPr>
        <p:spPr>
          <a:xfrm>
            <a:off x="467043" y="621030"/>
            <a:ext cx="8229600" cy="6667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p"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信号类属性（函数类）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4609" name="文本框 832515"/>
          <p:cNvSpPr txBox="1"/>
          <p:nvPr/>
        </p:nvSpPr>
        <p:spPr>
          <a:xfrm>
            <a:off x="178753" y="908368"/>
            <a:ext cx="8534400" cy="495458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　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　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* signal'STABLE[(time)]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：如果信号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signal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在时间表达式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time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所确定时间内保持稳定，没有事件发生，函数返回布尔型变量“真”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(TURE)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，否则返回“假”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(FALSE)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* signal'QUIET[(time)]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：如果信号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signal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无事项需要处理或者在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time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表达式所指定的时间内没有事项处理时，则返回“真”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(TURE)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，否则返回“假”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(FALSE)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* signal'TRANSACTION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：建立一个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BIT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类型的信号，当信号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signal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每发生一次变化时，该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BIT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信号翻转一次。</a:t>
            </a:r>
            <a:endParaRPr lang="zh-CN" altLang="en-US" sz="20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000" b="1" dirty="0"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signal'EVENT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：如果在当前模拟周期内，该信号发生某个事件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信号值发生了变化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，函数返回布尔型变量“真”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(TURE)</a:t>
            </a:r>
            <a:r>
              <a:rPr lang="zh-CN" altLang="en-US" sz="2000" b="1" dirty="0">
                <a:latin typeface="微软雅黑" panose="020B0503020204020204" charset="-122"/>
                <a:ea typeface="微软雅黑" panose="020B0503020204020204" charset="-122"/>
              </a:rPr>
              <a:t>，否则返回“假”</a:t>
            </a:r>
            <a:r>
              <a:rPr lang="en-US" altLang="zh-CN" sz="2000" b="1">
                <a:latin typeface="微软雅黑" panose="020B0503020204020204" charset="-122"/>
                <a:ea typeface="微软雅黑" panose="020B0503020204020204" charset="-122"/>
              </a:rPr>
              <a:t>(FALSE)</a:t>
            </a:r>
            <a:r>
              <a:rPr lang="zh-CN" altLang="en-US" sz="2000" b="1">
                <a:latin typeface="微软雅黑" panose="020B0503020204020204" charset="-122"/>
                <a:ea typeface="微软雅黑" panose="020B0503020204020204" charset="-122"/>
              </a:rPr>
              <a:t>。 </a:t>
            </a:r>
            <a:endParaRPr lang="zh-CN" altLang="en-US" sz="20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5633" name="文本框 831491"/>
          <p:cNvSpPr txBox="1"/>
          <p:nvPr/>
        </p:nvSpPr>
        <p:spPr>
          <a:xfrm>
            <a:off x="266700" y="1124903"/>
            <a:ext cx="8610600" cy="4779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　　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* signal'ACTIVE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：在当前模拟周期内，如果信号发生了变化，事件作了处理，则返回“真”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(TURE)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，否则返回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假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"(FALSE)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* signal'LAST_EVENT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：返回信号最后一次改变到现在时刻所经历的时间。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* signal'LAST_VALUE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：返回信号最后一次变化前的值。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　　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*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signal‘LAST_ACTIVE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：返回信号前一次改变到现在所经过的时间。 　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/>
  </p:transition>
</p:sld>
</file>

<file path=ppt/tags/tag1.xml><?xml version="1.0" encoding="utf-8"?>
<p:tagLst xmlns:p="http://schemas.openxmlformats.org/presentationml/2006/main">
  <p:tag name="KSO_WM_UNIT_PLACING_PICTURE_USER_VIEWPORT" val="{&quot;height&quot;:1767.4992125984252,&quot;width&quot;:13210}"/>
</p:tagLst>
</file>

<file path=ppt/tags/tag2.xml><?xml version="1.0" encoding="utf-8"?>
<p:tagLst xmlns:p="http://schemas.openxmlformats.org/presentationml/2006/main">
  <p:tag name="KSO_WM_UNIT_TABLE_BEAUTIFY" val="smartTable{5786f455-eebc-443a-94b6-f8ff31a3d906}"/>
</p:tagLst>
</file>

<file path=ppt/tags/tag3.xml><?xml version="1.0" encoding="utf-8"?>
<p:tagLst xmlns:p="http://schemas.openxmlformats.org/presentationml/2006/main">
  <p:tag name="KSO_WM_UNIT_PLACING_PICTURE_USER_VIEWPORT" val="{&quot;height&quot;:9607.5007874015755,&quot;width&quot;:11760}"/>
</p:tagLst>
</file>

<file path=ppt/tags/tag4.xml><?xml version="1.0" encoding="utf-8"?>
<p:tagLst xmlns:p="http://schemas.openxmlformats.org/presentationml/2006/main">
  <p:tag name="KSO_WPP_MARK_KEY" val="ba609239-58a7-480f-b75f-b4dcd6dc2413"/>
  <p:tag name="COMMONDATA" val="eyJoZGlkIjoiMDRiNWM4ZTRkMzMxZWMzM2IxMDc5NzU0Njk3ODNlNzAifQ==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5747</Words>
  <Application>WPS 演示</Application>
  <PresentationFormat>全屏显示(4:3)</PresentationFormat>
  <Paragraphs>399</Paragraphs>
  <Slides>42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60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微软雅黑</vt:lpstr>
      <vt:lpstr>Arial Narrow</vt:lpstr>
      <vt:lpstr>楷体_GB2312</vt:lpstr>
      <vt:lpstr>新宋体</vt:lpstr>
      <vt:lpstr>Arial Unicode MS</vt:lpstr>
      <vt:lpstr>Calibri</vt:lpstr>
      <vt:lpstr>Times New Roman</vt:lpstr>
      <vt:lpstr>Times-Roman+2</vt:lpstr>
      <vt:lpstr>Segoe Print</vt:lpstr>
      <vt:lpstr>1_默认设计模板</vt:lpstr>
      <vt:lpstr>Visio.Drawing.4</vt:lpstr>
      <vt:lpstr>PowerPoint 演示文稿</vt:lpstr>
      <vt:lpstr>4.3  运算符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　例如： 　A sll 2 描述为  A&lt;= A(5 downto 0) &amp; "00"; 　A srl 3描述为  A&lt;= “000” &amp; A(7 downto 3); 　A sla 3描述为  A&lt;= A(4 downto 0) &amp; A(0) &amp; A(0) A(0); 　A sra 2描述为  A&lt;= A(7) &amp; A(7) &amp; A(7 downto 2); 　A rol 3描述为  A&lt;= A(4 downto 0) &amp; A(7 downto 5); 　A ror 5描述为  A&lt;= A(4 downto 0) &amp; A(7 downto 5);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339</cp:revision>
  <dcterms:created xsi:type="dcterms:W3CDTF">2006-04-19T05:22:00Z</dcterms:created>
  <dcterms:modified xsi:type="dcterms:W3CDTF">2026-04-07T06:08:03Z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5697599ECCA24FEF9DCF7629C7543150</vt:lpwstr>
  </property>
</Properties>
</file>