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387" r:id="rId3"/>
    <p:sldId id="388" r:id="rId4"/>
    <p:sldId id="393" r:id="rId5"/>
    <p:sldId id="752" r:id="rId6"/>
    <p:sldId id="555" r:id="rId7"/>
    <p:sldId id="396" r:id="rId8"/>
    <p:sldId id="397" r:id="rId9"/>
    <p:sldId id="398" r:id="rId10"/>
    <p:sldId id="399" r:id="rId11"/>
    <p:sldId id="400" r:id="rId12"/>
    <p:sldId id="401" r:id="rId13"/>
    <p:sldId id="402" r:id="rId14"/>
    <p:sldId id="403" r:id="rId15"/>
    <p:sldId id="404" r:id="rId16"/>
    <p:sldId id="405" r:id="rId17"/>
    <p:sldId id="406" r:id="rId18"/>
    <p:sldId id="409" r:id="rId19"/>
    <p:sldId id="407" r:id="rId20"/>
    <p:sldId id="408" r:id="rId21"/>
    <p:sldId id="410" r:id="rId22"/>
    <p:sldId id="557" r:id="rId23"/>
    <p:sldId id="982" r:id="rId24"/>
    <p:sldId id="912" r:id="rId25"/>
    <p:sldId id="913" r:id="rId26"/>
    <p:sldId id="914" r:id="rId27"/>
    <p:sldId id="915" r:id="rId28"/>
    <p:sldId id="415" r:id="rId29"/>
    <p:sldId id="558" r:id="rId30"/>
    <p:sldId id="559" r:id="rId31"/>
    <p:sldId id="561" r:id="rId32"/>
    <p:sldId id="560" r:id="rId33"/>
    <p:sldId id="562" r:id="rId34"/>
    <p:sldId id="422" r:id="rId35"/>
    <p:sldId id="423" r:id="rId36"/>
    <p:sldId id="980" r:id="rId37"/>
    <p:sldId id="981" r:id="rId38"/>
    <p:sldId id="425" r:id="rId39"/>
    <p:sldId id="426" r:id="rId40"/>
    <p:sldId id="427" r:id="rId41"/>
    <p:sldId id="428" r:id="rId42"/>
    <p:sldId id="429" r:id="rId43"/>
    <p:sldId id="430" r:id="rId44"/>
    <p:sldId id="432" r:id="rId45"/>
    <p:sldId id="433" r:id="rId47"/>
    <p:sldId id="434" r:id="rId48"/>
    <p:sldId id="435" r:id="rId49"/>
    <p:sldId id="436" r:id="rId50"/>
    <p:sldId id="437" r:id="rId51"/>
    <p:sldId id="438" r:id="rId52"/>
    <p:sldId id="718" r:id="rId53"/>
    <p:sldId id="719" r:id="rId54"/>
    <p:sldId id="720" r:id="rId55"/>
    <p:sldId id="721" r:id="rId56"/>
    <p:sldId id="722" r:id="rId57"/>
    <p:sldId id="444" r:id="rId58"/>
    <p:sldId id="445" r:id="rId59"/>
    <p:sldId id="724" r:id="rId60"/>
    <p:sldId id="725" r:id="rId61"/>
    <p:sldId id="449" r:id="rId62"/>
    <p:sldId id="450" r:id="rId63"/>
    <p:sldId id="950" r:id="rId64"/>
    <p:sldId id="951" r:id="rId65"/>
    <p:sldId id="952" r:id="rId66"/>
    <p:sldId id="953" r:id="rId67"/>
    <p:sldId id="954" r:id="rId68"/>
    <p:sldId id="955" r:id="rId69"/>
    <p:sldId id="956" r:id="rId70"/>
    <p:sldId id="957" r:id="rId71"/>
    <p:sldId id="958" r:id="rId72"/>
    <p:sldId id="959" r:id="rId73"/>
    <p:sldId id="960" r:id="rId74"/>
    <p:sldId id="961" r:id="rId75"/>
    <p:sldId id="962" r:id="rId76"/>
    <p:sldId id="963" r:id="rId77"/>
    <p:sldId id="964" r:id="rId78"/>
    <p:sldId id="965" r:id="rId79"/>
    <p:sldId id="966" r:id="rId80"/>
    <p:sldId id="967" r:id="rId81"/>
    <p:sldId id="968" r:id="rId82"/>
    <p:sldId id="969" r:id="rId83"/>
    <p:sldId id="970" r:id="rId84"/>
    <p:sldId id="971" r:id="rId85"/>
    <p:sldId id="972" r:id="rId86"/>
    <p:sldId id="973" r:id="rId87"/>
    <p:sldId id="974" r:id="rId88"/>
    <p:sldId id="975" r:id="rId89"/>
    <p:sldId id="976" r:id="rId90"/>
    <p:sldId id="977" r:id="rId91"/>
    <p:sldId id="978" r:id="rId92"/>
    <p:sldId id="979" r:id="rId93"/>
  </p:sldIdLst>
  <p:sldSz cx="9144000" cy="6858000" type="screen4x3"/>
  <p:notesSz cx="6858000" cy="9144000"/>
  <p:custDataLst>
    <p:tags r:id="rId98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8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" initials="m" lastIdx="1" clrIdx="0"/>
  <p:cmAuthor id="2" name="Administrator" initials="A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9"/>
    <p:restoredTop sz="94655"/>
  </p:normalViewPr>
  <p:slideViewPr>
    <p:cSldViewPr showGuides="1">
      <p:cViewPr varScale="1">
        <p:scale>
          <a:sx n="45" d="100"/>
          <a:sy n="45" d="100"/>
        </p:scale>
        <p:origin x="970" y="34"/>
      </p:cViewPr>
      <p:guideLst>
        <p:guide orient="horz" pos="219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8" Type="http://schemas.openxmlformats.org/officeDocument/2006/relationships/tags" Target="tags/tag6.xml"/><Relationship Id="rId97" Type="http://schemas.openxmlformats.org/officeDocument/2006/relationships/commentAuthors" Target="commentAuthors.xml"/><Relationship Id="rId96" Type="http://schemas.openxmlformats.org/officeDocument/2006/relationships/tableStyles" Target="tableStyles.xml"/><Relationship Id="rId95" Type="http://schemas.openxmlformats.org/officeDocument/2006/relationships/viewProps" Target="viewProps.xml"/><Relationship Id="rId94" Type="http://schemas.openxmlformats.org/officeDocument/2006/relationships/presProps" Target="presProps.xml"/><Relationship Id="rId93" Type="http://schemas.openxmlformats.org/officeDocument/2006/relationships/slide" Target="slides/slide90.xml"/><Relationship Id="rId92" Type="http://schemas.openxmlformats.org/officeDocument/2006/relationships/slide" Target="slides/slide89.xml"/><Relationship Id="rId91" Type="http://schemas.openxmlformats.org/officeDocument/2006/relationships/slide" Target="slides/slide88.xml"/><Relationship Id="rId90" Type="http://schemas.openxmlformats.org/officeDocument/2006/relationships/slide" Target="slides/slide87.xml"/><Relationship Id="rId9" Type="http://schemas.openxmlformats.org/officeDocument/2006/relationships/slide" Target="slides/slide7.xml"/><Relationship Id="rId89" Type="http://schemas.openxmlformats.org/officeDocument/2006/relationships/slide" Target="slides/slide86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6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5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6193" name="幻灯片图像占位符 1"/>
          <p:cNvSpPr>
            <a:spLocks noGrp="1" noRot="1"/>
          </p:cNvSpPr>
          <p:nvPr>
            <p:ph type="sldImg"/>
          </p:nvPr>
        </p:nvSpPr>
        <p:spPr/>
      </p:sp>
      <p:sp>
        <p:nvSpPr>
          <p:cNvPr id="136194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bg>
      <p:bgPr>
        <a:pattFill prst="ltHorz">
          <a:fgClr>
            <a:srgbClr val="E0E0E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609600"/>
            <a:ext cx="8229600" cy="685800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endParaRPr lang="en-US" strike="noStrike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400800"/>
            <a:ext cx="2895600" cy="320675"/>
          </a:xfrm>
        </p:spPr>
        <p:txBody>
          <a:bodyPr/>
          <a:lstStyle>
            <a:lvl1pPr>
              <a:defRPr/>
            </a:lvl1pPr>
          </a:lstStyle>
          <a:p>
            <a:pPr fontAlgn="base"/>
            <a:endParaRPr lang="zh-CN" altLang="zh-CN" strike="noStrike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/>
            </a:lvl1pPr>
          </a:lstStyle>
          <a:p>
            <a:pPr fontAlgn="base"/>
            <a:fld id="{B5BAE9EB-4175-4107-BAE7-3DF64F6C22AB}" type="slidenum">
              <a:rPr lang="zh-CN" altLang="zh-CN" strike="noStrike" noProof="1">
                <a:solidFill>
                  <a:srgbClr val="000000"/>
                </a:solidFill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zh-CN" strike="noStrike" noProof="1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>
              <a:defRPr sz="1400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 b="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 b="0"/>
            </a:lvl1pPr>
          </a:lstStyle>
          <a:p>
            <a:pPr lvl="0" eaLnBrk="1" fontAlgn="base" hangingPunct="1"/>
            <a:fld id="{9A0DB2DC-4C9A-4742-B13C-FB6460FD3503}" type="slidenum">
              <a:rPr lang="en-US" altLang="zh-CN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en-US" altLang="zh-CN" strike="noStrike" noProof="1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emf"/><Relationship Id="rId1" Type="http://schemas.openxmlformats.org/officeDocument/2006/relationships/oleObject" Target="../embeddings/oleObject1.bin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emf"/><Relationship Id="rId1" Type="http://schemas.openxmlformats.org/officeDocument/2006/relationships/oleObject" Target="../embeddings/oleObject2.bin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emf"/><Relationship Id="rId1" Type="http://schemas.openxmlformats.org/officeDocument/2006/relationships/oleObject" Target="../embeddings/oleObject3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emf"/><Relationship Id="rId1" Type="http://schemas.openxmlformats.org/officeDocument/2006/relationships/oleObject" Target="../embeddings/oleObject4.bin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5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emf"/><Relationship Id="rId1" Type="http://schemas.openxmlformats.org/officeDocument/2006/relationships/oleObject" Target="../embeddings/oleObject5.bin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6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emf"/><Relationship Id="rId1" Type="http://schemas.openxmlformats.org/officeDocument/2006/relationships/oleObject" Target="../embeddings/oleObject6.bin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6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7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.emf"/><Relationship Id="rId1" Type="http://schemas.openxmlformats.org/officeDocument/2006/relationships/oleObject" Target="../embeddings/oleObject7.bin"/></Relationships>
</file>

<file path=ppt/slides/_rels/slide6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8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emf"/><Relationship Id="rId1" Type="http://schemas.openxmlformats.org/officeDocument/2006/relationships/oleObject" Target="../embeddings/oleObject8.bin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20.png"/><Relationship Id="rId3" Type="http://schemas.openxmlformats.org/officeDocument/2006/relationships/tags" Target="../tags/tag3.xml"/><Relationship Id="rId2" Type="http://schemas.openxmlformats.org/officeDocument/2006/relationships/image" Target="../media/image19.png"/><Relationship Id="rId1" Type="http://schemas.openxmlformats.org/officeDocument/2006/relationships/tags" Target="../tags/tag2.xml"/></Relationships>
</file>

<file path=ppt/slides/_rels/slide7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9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emf"/><Relationship Id="rId1" Type="http://schemas.openxmlformats.org/officeDocument/2006/relationships/oleObject" Target="../embeddings/oleObject9.bin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7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0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3.emf"/><Relationship Id="rId1" Type="http://schemas.openxmlformats.org/officeDocument/2006/relationships/oleObject" Target="../embeddings/oleObject10.bin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4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矩形 181249"/>
          <p:cNvSpPr>
            <a:spLocks noRot="1"/>
          </p:cNvSpPr>
          <p:nvPr/>
        </p:nvSpPr>
        <p:spPr>
          <a:xfrm>
            <a:off x="1257300" y="1731963"/>
            <a:ext cx="6811963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algn="ctr" eaLnBrk="0" hangingPunct="0"/>
            <a:r>
              <a:rPr lang="zh-CN" altLang="zh-CN" sz="5100" dirty="0">
                <a:solidFill>
                  <a:srgbClr val="7C020E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可编程逻辑器件</a:t>
            </a:r>
            <a:r>
              <a:rPr lang="zh-CN" altLang="en-US" sz="5100" dirty="0">
                <a:solidFill>
                  <a:srgbClr val="FB051C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               </a:t>
            </a:r>
            <a:endParaRPr lang="zh-CN" altLang="en-US" sz="5100">
              <a:solidFill>
                <a:srgbClr val="FB051C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7170" name="文本框 181250"/>
          <p:cNvSpPr txBox="1"/>
          <p:nvPr/>
        </p:nvSpPr>
        <p:spPr>
          <a:xfrm>
            <a:off x="1835150" y="3429000"/>
            <a:ext cx="5257800" cy="13223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山西大学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  <a:p>
            <a:pPr algn="ctr" eaLnBrk="0" hangingPunct="0">
              <a:spcBef>
                <a:spcPct val="50000"/>
              </a:spcBef>
            </a:pPr>
            <a:r>
              <a:rPr lang="zh-CN" altLang="en-US" sz="3200" dirty="0">
                <a:latin typeface="Arial" panose="020B0604020202020204" pitchFamily="34" charset="0"/>
                <a:ea typeface="华文行楷" panose="02010800040101010101" pitchFamily="2" charset="-122"/>
              </a:rPr>
              <a:t>白婷婷</a:t>
            </a:r>
            <a:endParaRPr lang="zh-CN" altLang="en-US" sz="3200" dirty="0">
              <a:latin typeface="Arial" panose="020B0604020202020204" pitchFamily="34" charset="0"/>
              <a:ea typeface="华文行楷" panose="02010800040101010101" pitchFamily="2" charset="-122"/>
            </a:endParaRPr>
          </a:p>
        </p:txBody>
      </p:sp>
      <p:pic>
        <p:nvPicPr>
          <p:cNvPr id="717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9825" y="0"/>
            <a:ext cx="2619375" cy="10382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197633"/>
          <p:cNvSpPr>
            <a:spLocks noGrp="1"/>
          </p:cNvSpPr>
          <p:nvPr>
            <p:ph type="title"/>
          </p:nvPr>
        </p:nvSpPr>
        <p:spPr>
          <a:xfrm>
            <a:off x="323850" y="763270"/>
            <a:ext cx="8654415" cy="1143000"/>
          </a:xfrm>
        </p:spPr>
        <p:txBody>
          <a:bodyPr anchor="t" anchorCtr="0"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章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V</a:t>
            </a:r>
            <a:r>
              <a:rPr 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HDL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基本描述语句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194" name="内容占位符 197634"/>
          <p:cNvSpPr>
            <a:spLocks noGrp="1"/>
          </p:cNvSpPr>
          <p:nvPr>
            <p:ph idx="1"/>
          </p:nvPr>
        </p:nvSpPr>
        <p:spPr>
          <a:xfrm>
            <a:off x="755650" y="2851150"/>
            <a:ext cx="7919085" cy="1480820"/>
          </a:xfrm>
        </p:spPr>
        <p:txBody>
          <a:bodyPr anchor="t" anchorCtr="0"/>
          <a:p>
            <a:pPr>
              <a:lnSpc>
                <a:spcPct val="140000"/>
              </a:lnSpc>
            </a:pPr>
            <a:r>
              <a:rPr 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顺序语句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用来实现模型的算法描述</a:t>
            </a:r>
            <a:endParaRPr 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并发语句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用来表示各模块算法描述之间的连接关系。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7636" name="矩形 197635"/>
          <p:cNvSpPr/>
          <p:nvPr/>
        </p:nvSpPr>
        <p:spPr>
          <a:xfrm>
            <a:off x="755333" y="1987550"/>
            <a:ext cx="3095625" cy="5842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eaLnBrk="0" hangingPunct="0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本章内容：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97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4" grpId="0" build="p"/>
      <p:bldP spid="19763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9089" name="标题 253953"/>
          <p:cNvSpPr/>
          <p:nvPr>
            <p:ph type="title"/>
          </p:nvPr>
        </p:nvSpPr>
        <p:spPr>
          <a:noFill/>
          <a:ln>
            <a:noFill/>
          </a:ln>
        </p:spPr>
        <p:txBody>
          <a:bodyPr anchor="t" anchorCtr="0"/>
          <a:p>
            <a:r>
              <a:rPr lang="en-US" altLang="zh-CN" sz="2100" dirty="0">
                <a:solidFill>
                  <a:schemeClr val="tx1"/>
                </a:solidFill>
                <a:latin typeface="楷体_GB2312" pitchFamily="49" charset="-122"/>
                <a:ea typeface="楷体_GB2312" pitchFamily="49" charset="-122"/>
              </a:rPr>
              <a:t>    </a:t>
            </a:r>
            <a:endParaRPr lang="en-US" altLang="zh-CN" sz="2500" dirty="0">
              <a:solidFill>
                <a:schemeClr val="tx1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89090" name="标题 719873"/>
          <p:cNvSpPr>
            <a:spLocks noGrp="1"/>
          </p:cNvSpPr>
          <p:nvPr/>
        </p:nvSpPr>
        <p:spPr>
          <a:xfrm>
            <a:off x="539750" y="1340168"/>
            <a:ext cx="8115300" cy="4146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   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为了能够对硬件的行为做高效地建模，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采用两类描述语句，一类称为并发描述语句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(Concurrent)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，另一类称为顺序描述语句</a:t>
            </a:r>
            <a:r>
              <a:rPr lang="en-US" altLang="zh-CN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(Sequential)</a:t>
            </a: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b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2400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　　并发描述语句具有共时性，一个模块的结构体描述中，所有的并发语句都是同时进行的，与语句在程序中的位置无关。而顺序语句具有顺序性，它是按照语句在程序中的前后位置顺序执行的。</a:t>
            </a:r>
            <a:endParaRPr lang="zh-CN" altLang="en-US" sz="2400" b="1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6913" name="标题 182273"/>
          <p:cNvSpPr>
            <a:spLocks noGrp="1"/>
          </p:cNvSpPr>
          <p:nvPr>
            <p:ph type="title"/>
          </p:nvPr>
        </p:nvSpPr>
        <p:spPr>
          <a:xfrm>
            <a:off x="538798" y="191453"/>
            <a:ext cx="8229600" cy="666750"/>
          </a:xfrm>
          <a:noFill/>
          <a:ln>
            <a:noFill/>
          </a:ln>
        </p:spPr>
        <p:txBody>
          <a:bodyPr anchor="t" anchorCtr="0"/>
          <a:p>
            <a:r>
              <a:rPr lang="en-US" altLang="zh-CN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5.1 </a:t>
            </a:r>
            <a: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顺序语句</a:t>
            </a:r>
            <a:br>
              <a:rPr lang="zh-CN" altLang="en-US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endParaRPr lang="zh-CN" sz="4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6914" name="文本占位符 182274"/>
          <p:cNvSpPr>
            <a:spLocks noGrp="1"/>
          </p:cNvSpPr>
          <p:nvPr>
            <p:ph idx="1"/>
          </p:nvPr>
        </p:nvSpPr>
        <p:spPr>
          <a:xfrm>
            <a:off x="685800" y="1120140"/>
            <a:ext cx="7772400" cy="5441315"/>
          </a:xfrm>
        </p:spPr>
        <p:txBody>
          <a:bodyPr anchor="t" anchorCtr="0"/>
          <a:p>
            <a:pPr>
              <a:lnSpc>
                <a:spcPct val="135000"/>
              </a:lnSpc>
            </a:pP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CASE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LOOP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NEXT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35000"/>
              </a:lnSpc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EXIT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35000"/>
              </a:lnSpc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WAIT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35000"/>
              </a:lnSpc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NULL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35000"/>
              </a:lnSpc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ASSERT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1027" name="文本占位符 641026"/>
          <p:cNvSpPr>
            <a:spLocks noGrp="1"/>
          </p:cNvSpPr>
          <p:nvPr/>
        </p:nvSpPr>
        <p:spPr>
          <a:xfrm>
            <a:off x="467360" y="981075"/>
            <a:ext cx="8084820" cy="498856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按照语句的出现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顺序加以执行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的。激活后按顺序逐一的被执行，前面语句的执行结果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可能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直接影响后面语句的结果。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但是从时钟的角度来看，所有语句又都是在激活的那一时刻被执行，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信号的延迟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不会随语句的顺序而改变，因为信号的延迟只和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硬件的延迟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有关。</a:t>
            </a:r>
            <a:endParaRPr lang="zh-CN" altLang="en-US" sz="2400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Char char="Ø"/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只能用在</a:t>
            </a:r>
            <a:r>
              <a:rPr lang="zh-CN" altLang="en-US" sz="24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进程、子程序（函数和过程）内部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49" charset="-122"/>
              </a:rPr>
              <a:t>，不能在结构体中直接使用。</a:t>
            </a:r>
            <a:r>
              <a:rPr lang="zh-CN" altLang="en-US" sz="24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49" charset="-122"/>
              </a:rPr>
              <a:t> </a:t>
            </a:r>
            <a:endParaRPr lang="zh-CN" altLang="en-US" sz="2400" dirty="0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90114" name="标题 637953"/>
          <p:cNvSpPr>
            <a:spLocks noGrp="1"/>
          </p:cNvSpPr>
          <p:nvPr/>
        </p:nvSpPr>
        <p:spPr>
          <a:xfrm>
            <a:off x="683260" y="620713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 sz="40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>
                                            <p:txEl>
                                              <p:charRg st="0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41027">
                                            <p:txEl>
                                              <p:charRg st="0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41027">
                                            <p:txEl>
                                              <p:char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27">
                                            <p:txEl>
                                              <p:charRg st="116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41027">
                                            <p:txEl>
                                              <p:charRg st="116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2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61" name="文本占位符 651265"/>
          <p:cNvSpPr>
            <a:spLocks noGrp="1"/>
          </p:cNvSpPr>
          <p:nvPr>
            <p:ph idx="1"/>
          </p:nvPr>
        </p:nvSpPr>
        <p:spPr>
          <a:xfrm>
            <a:off x="533400" y="1695450"/>
            <a:ext cx="7772400" cy="3533775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不完整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二选一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多重条件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语句嵌套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162" name="标题 651266"/>
          <p:cNvSpPr>
            <a:spLocks noGrp="1"/>
          </p:cNvSpPr>
          <p:nvPr>
            <p:ph type="title"/>
          </p:nvPr>
        </p:nvSpPr>
        <p:spPr>
          <a:xfrm>
            <a:off x="683260" y="621030"/>
            <a:ext cx="8229600" cy="750570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5.1.1  IF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3185" name="文本占位符 380930"/>
          <p:cNvSpPr>
            <a:spLocks noGrp="1"/>
          </p:cNvSpPr>
          <p:nvPr>
            <p:ph idx="1"/>
          </p:nvPr>
        </p:nvSpPr>
        <p:spPr>
          <a:xfrm>
            <a:off x="323850" y="692150"/>
            <a:ext cx="8153400" cy="5334000"/>
          </a:xfrm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		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3186" name="标题 380931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不完整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0933" name="矩形 380932"/>
          <p:cNvSpPr/>
          <p:nvPr/>
        </p:nvSpPr>
        <p:spPr>
          <a:xfrm>
            <a:off x="827088" y="1196975"/>
            <a:ext cx="5329237" cy="26749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4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语句格式：</a:t>
            </a:r>
            <a:endParaRPr lang="zh-CN" altLang="en-US" sz="2400" b="1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40000"/>
              </a:lnSpc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IF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条件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THEN</a:t>
            </a:r>
            <a:b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</a:b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           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顺序执行语句；</a:t>
            </a:r>
            <a:b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</a:b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   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END IF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；  </a:t>
            </a:r>
            <a:b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</a:b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80934" name="矩形 380933"/>
          <p:cNvSpPr/>
          <p:nvPr/>
        </p:nvSpPr>
        <p:spPr>
          <a:xfrm>
            <a:off x="827088" y="3459163"/>
            <a:ext cx="7777162" cy="28606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rPr>
              <a:t>执行过程：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如果条件成立，即条件表达式为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TURE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，则执行顺序语句，否则跳过顺序语句结束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IF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。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    由于该</a:t>
            </a:r>
            <a:r>
              <a:rPr lang="en-US" altLang="zh-CN" sz="2400" b="1" dirty="0">
                <a:latin typeface="楷体_GB2312" pitchFamily="49" charset="-122"/>
                <a:ea typeface="楷体_GB2312" pitchFamily="49" charset="-122"/>
              </a:rPr>
              <a:t>IF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语句中没有指出</a:t>
            </a:r>
            <a:r>
              <a:rPr lang="zh-CN" altLang="en-US" sz="2400" b="1" dirty="0">
                <a:solidFill>
                  <a:srgbClr val="0000CC"/>
                </a:solidFill>
                <a:latin typeface="楷体_GB2312" pitchFamily="49" charset="-122"/>
                <a:ea typeface="楷体_GB2312" pitchFamily="49" charset="-122"/>
              </a:rPr>
              <a:t>条件不满足</a:t>
            </a:r>
            <a:r>
              <a:rPr lang="zh-CN" altLang="en-US" sz="2400" b="1" dirty="0">
                <a:latin typeface="楷体_GB2312" pitchFamily="49" charset="-122"/>
                <a:ea typeface="楷体_GB2312" pitchFamily="49" charset="-122"/>
              </a:rPr>
              <a:t>时做何操作，即在条件句中没有给出各种可能的条件时的处理方式，所以是一种不完整的条件语句。 </a:t>
            </a:r>
            <a:endParaRPr lang="zh-CN" altLang="en-US" sz="24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80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380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933" grpId="0"/>
      <p:bldP spid="38093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4209" name="文本占位符 652289"/>
          <p:cNvSpPr>
            <a:spLocks noGrp="1"/>
          </p:cNvSpPr>
          <p:nvPr>
            <p:ph idx="1"/>
          </p:nvPr>
        </p:nvSpPr>
        <p:spPr>
          <a:xfrm>
            <a:off x="381000" y="762000"/>
            <a:ext cx="8153400" cy="5334000"/>
          </a:xfrm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		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buNone/>
            </a:pP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    </a:t>
            </a:r>
            <a:endParaRPr lang="en-US" altLang="zh-CN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2292" name="矩形 652291"/>
          <p:cNvSpPr/>
          <p:nvPr/>
        </p:nvSpPr>
        <p:spPr>
          <a:xfrm>
            <a:off x="684213" y="1484313"/>
            <a:ext cx="7848600" cy="17532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作用：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形成锁存，用于构成时序电路，而组合电路只能使用完整的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2293" name="矩形 652292"/>
          <p:cNvSpPr/>
          <p:nvPr/>
        </p:nvSpPr>
        <p:spPr>
          <a:xfrm>
            <a:off x="755650" y="3429000"/>
            <a:ext cx="7777163" cy="230695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5-6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(clk’event and clk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=’1’) then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Q&lt;=d;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End if;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5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5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2292" grpId="0"/>
      <p:bldP spid="65229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5233" name="文本框 99"/>
          <p:cNvSpPr txBox="1"/>
          <p:nvPr/>
        </p:nvSpPr>
        <p:spPr>
          <a:xfrm>
            <a:off x="414338" y="234950"/>
            <a:ext cx="5426075" cy="6369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library IEEE;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use IEEE.STD_LOGIC_1164.all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entity MY_DFF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port(CLK, D: in STD_LOGIC;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Q: out STD_LOGIC);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MY_DFF;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architecture RTL of  MY_DFF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process(CLK)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if (CLK' event and CLK='1') then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Q&lt;=D;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if;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end process;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RTL;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6257" name="文本占位符 789506"/>
          <p:cNvSpPr>
            <a:spLocks noGrp="1"/>
          </p:cNvSpPr>
          <p:nvPr>
            <p:ph idx="1"/>
          </p:nvPr>
        </p:nvSpPr>
        <p:spPr>
          <a:xfrm>
            <a:off x="685800" y="1550670"/>
            <a:ext cx="7772400" cy="4114800"/>
          </a:xfrm>
        </p:spPr>
        <p:txBody>
          <a:bodyPr anchor="t" anchorCtr="0"/>
          <a:p>
            <a:pPr>
              <a:lnSpc>
                <a:spcPct val="120000"/>
              </a:lnSpc>
            </a:pPr>
            <a:r>
              <a:rPr lang="zh-CN" altLang="en-US" dirty="0"/>
              <a:t>综合化是</a:t>
            </a:r>
            <a:r>
              <a:rPr lang="en-US" altLang="zh-CN" dirty="0"/>
              <a:t>D</a:t>
            </a:r>
            <a:r>
              <a:rPr lang="zh-CN" altLang="en-US" dirty="0"/>
              <a:t>触发器</a:t>
            </a:r>
            <a:endParaRPr lang="zh-CN" altLang="en-US" dirty="0"/>
          </a:p>
        </p:txBody>
      </p:sp>
      <p:pic>
        <p:nvPicPr>
          <p:cNvPr id="96258" name="图片 789507" descr="3-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0625" y="2286635"/>
            <a:ext cx="6234113" cy="31273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7281" name="文本占位符 653313"/>
          <p:cNvSpPr>
            <a:spLocks noGrp="1"/>
          </p:cNvSpPr>
          <p:nvPr>
            <p:ph idx="1"/>
          </p:nvPr>
        </p:nvSpPr>
        <p:spPr>
          <a:xfrm>
            <a:off x="381000" y="762000"/>
            <a:ext cx="8153400" cy="5334000"/>
          </a:xfrm>
        </p:spPr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		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    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97282" name="标题 653314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二选一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3319" name="矩形 653318"/>
          <p:cNvSpPr/>
          <p:nvPr/>
        </p:nvSpPr>
        <p:spPr>
          <a:xfrm>
            <a:off x="827088" y="1149350"/>
            <a:ext cx="7200900" cy="33289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语句格式：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IF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条件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THEN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顺序执行语句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  ELSE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    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顺序执行语句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2;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  END IF;</a:t>
            </a:r>
            <a:br>
              <a:rPr lang="en-US" altLang="zh-CN" b="1">
                <a:latin typeface="Times New Roman" panose="02020603050405020304" pitchFamily="18" charset="0"/>
                <a:ea typeface="楷体_GB2312" pitchFamily="49" charset="-122"/>
              </a:rPr>
            </a:br>
            <a:endParaRPr lang="en-US" altLang="zh-CN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653320" name="矩形 653319"/>
          <p:cNvSpPr/>
          <p:nvPr/>
        </p:nvSpPr>
        <p:spPr>
          <a:xfrm>
            <a:off x="827088" y="4092575"/>
            <a:ext cx="7777162" cy="2306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执行过程：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如果条件成立，则执行顺序语句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，否则执行顺序语句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。 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  完整的描述了条件成立、不成立时的操作，对应组合电路的二选一选择结构。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53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2" dur="500"/>
                                        <p:tgtEl>
                                          <p:spTgt spid="653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3319" grpId="0"/>
      <p:bldP spid="65332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8305" name="标题 626689"/>
          <p:cNvSpPr>
            <a:spLocks noGrp="1"/>
          </p:cNvSpPr>
          <p:nvPr>
            <p:ph type="title"/>
          </p:nvPr>
        </p:nvSpPr>
        <p:spPr>
          <a:xfrm>
            <a:off x="685800" y="1484313"/>
            <a:ext cx="7772400" cy="3987800"/>
          </a:xfrm>
          <a:noFill/>
          <a:ln>
            <a:noFill/>
          </a:ln>
        </p:spPr>
        <p:txBody>
          <a:bodyPr anchor="t" anchorCtr="0"/>
          <a:p>
            <a:pPr algn="l">
              <a:lnSpc>
                <a:spcPct val="13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典型应用：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二选一电路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sel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=‘0’ then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q&lt;=d0;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else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q&lt;=d1;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if;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en-US" altLang="zh-CN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99329" name="标题 791555"/>
          <p:cNvGraphicFramePr>
            <a:graphicFrameLocks noGrp="1"/>
          </p:cNvGraphicFramePr>
          <p:nvPr>
            <p:ph type="title"/>
          </p:nvPr>
        </p:nvGraphicFramePr>
        <p:xfrm>
          <a:off x="514350" y="981075"/>
          <a:ext cx="8115300" cy="561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432175" imgH="2386965" progId="Word.Document.8">
                  <p:embed/>
                </p:oleObj>
              </mc:Choice>
              <mc:Fallback>
                <p:oleObj name="" r:id="rId1" imgW="3432175" imgH="2386965" progId="Word.Document.8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4350" y="981075"/>
                        <a:ext cx="8115300" cy="561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683260" y="332740"/>
            <a:ext cx="373888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典型应用：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三态门电路</a:t>
            </a: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0353" name="标题 792577"/>
          <p:cNvGraphicFramePr>
            <a:graphicFrameLocks noGrp="1"/>
          </p:cNvGraphicFramePr>
          <p:nvPr>
            <p:ph type="title"/>
          </p:nvPr>
        </p:nvGraphicFramePr>
        <p:xfrm>
          <a:off x="-87312" y="1223963"/>
          <a:ext cx="9318625" cy="441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1" imgW="3448050" imgH="1600200" progId="Word.Document.8">
                  <p:embed/>
                </p:oleObj>
              </mc:Choice>
              <mc:Fallback>
                <p:oleObj name="" r:id="rId1" imgW="3448050" imgH="1600200" progId="Word.Document.8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87312" y="1223963"/>
                        <a:ext cx="9318625" cy="441007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1378" name="文本占位符 793602"/>
          <p:cNvSpPr>
            <a:spLocks noGrp="1"/>
          </p:cNvSpPr>
          <p:nvPr>
            <p:ph idx="1"/>
          </p:nvPr>
        </p:nvSpPr>
        <p:spPr/>
        <p:txBody>
          <a:bodyPr anchor="t" anchorCtr="0"/>
          <a:p>
            <a:pPr>
              <a:lnSpc>
                <a:spcPct val="120000"/>
              </a:lnSpc>
            </a:pPr>
            <a:r>
              <a:rPr lang="zh-CN" altLang="en-US" dirty="0"/>
              <a:t>综合后 </a:t>
            </a:r>
            <a:r>
              <a:rPr lang="en-US" altLang="zh-CN" dirty="0"/>
              <a:t> </a:t>
            </a:r>
            <a:r>
              <a:rPr lang="zh-CN" altLang="en-US" dirty="0"/>
              <a:t>三态非反向缓冲器</a:t>
            </a:r>
            <a:endParaRPr lang="zh-CN" altLang="en-US" dirty="0"/>
          </a:p>
        </p:txBody>
      </p:sp>
      <p:pic>
        <p:nvPicPr>
          <p:cNvPr id="101379" name="图片 793603" descr="3-3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313" y="3081338"/>
            <a:ext cx="6234112" cy="2233612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1" name="标题 627713"/>
          <p:cNvSpPr>
            <a:spLocks noGrp="1"/>
          </p:cNvSpPr>
          <p:nvPr>
            <p:ph type="title"/>
          </p:nvPr>
        </p:nvSpPr>
        <p:spPr>
          <a:xfrm>
            <a:off x="684213" y="1035050"/>
            <a:ext cx="7773987" cy="5562600"/>
          </a:xfrm>
          <a:noFill/>
          <a:ln>
            <a:noFill/>
          </a:ln>
        </p:spPr>
        <p:txBody>
          <a:bodyPr anchor="t" anchorCtr="0"/>
          <a:p>
            <a:pPr algn="l"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语句格式：</a:t>
            </a:r>
            <a:b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THEN</a:t>
            </a:r>
            <a:b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顺序执行语句；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ELSIF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THEN</a:t>
            </a:r>
            <a:b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顺序执行语句；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：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：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ELSIF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THEN</a:t>
            </a:r>
            <a:b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顺序执行语句；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ELSE</a:t>
            </a:r>
            <a:b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顺序执行语句；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IF</a:t>
            </a:r>
            <a: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br>
              <a:rPr lang="zh-CN" altLang="en-US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endParaRPr lang="zh-CN" altLang="en-US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402" name="矩形 627714"/>
          <p:cNvSpPr/>
          <p:nvPr/>
        </p:nvSpPr>
        <p:spPr>
          <a:xfrm>
            <a:off x="457200" y="4143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多重条件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28738" name="标题 628737"/>
          <p:cNvSpPr>
            <a:spLocks noGrp="1"/>
          </p:cNvSpPr>
          <p:nvPr/>
        </p:nvSpPr>
        <p:spPr>
          <a:xfrm>
            <a:off x="5670550" y="2397125"/>
            <a:ext cx="3016250" cy="206375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>
              <a:lnSpc>
                <a:spcPct val="135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ELSIF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可以多次使用，而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ELSE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仅能使用一次。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CN" altLang="en-US" sz="2400" b="1">
                <a:latin typeface="Times New Roman" panose="02020603050405020304" pitchFamily="18" charset="0"/>
                <a:ea typeface="楷体_GB2312" pitchFamily="49" charset="-122"/>
              </a:rPr>
            </a:br>
            <a:endParaRPr lang="en-US" altLang="zh-CN" sz="2400" b="1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28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28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38" grpId="0"/>
      <p:bldP spid="628738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5473" name="图片 798723" descr="3-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150" y="1460500"/>
            <a:ext cx="6234113" cy="4560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83260" y="332740"/>
            <a:ext cx="559943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典型应用：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级联的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数据选择器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03425" name="标题 796673"/>
          <p:cNvGraphicFramePr>
            <a:graphicFrameLocks noGrp="1"/>
          </p:cNvGraphicFramePr>
          <p:nvPr>
            <p:ph type="title"/>
          </p:nvPr>
        </p:nvGraphicFramePr>
        <p:xfrm>
          <a:off x="311150" y="39688"/>
          <a:ext cx="8636000" cy="662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" r:id="rId1" imgW="3448050" imgH="2590800" progId="Word.Document.8">
                  <p:embed/>
                </p:oleObj>
              </mc:Choice>
              <mc:Fallback>
                <p:oleObj name="" r:id="rId1" imgW="3448050" imgH="2590800" progId="Word.Document.8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11150" y="39688"/>
                        <a:ext cx="8636000" cy="6626225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65" y="659765"/>
            <a:ext cx="7354570" cy="5454015"/>
          </a:xfrm>
          <a:prstGeom prst="rect">
            <a:avLst/>
          </a:prstGeom>
        </p:spPr>
      </p:pic>
    </p:spTree>
  </p:cSld>
  <p:clrMapOvr>
    <a:masterClrMapping/>
  </p:clrMapOvr>
  <p:transition>
    <p:rand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6497" name="标题 654337"/>
          <p:cNvSpPr>
            <a:spLocks noGrp="1"/>
          </p:cNvSpPr>
          <p:nvPr>
            <p:ph type="title"/>
          </p:nvPr>
        </p:nvSpPr>
        <p:spPr>
          <a:xfrm>
            <a:off x="684530" y="1323975"/>
            <a:ext cx="7773670" cy="4108450"/>
          </a:xfrm>
          <a:noFill/>
          <a:ln>
            <a:noFill/>
          </a:ln>
        </p:spPr>
        <p:txBody>
          <a:bodyPr anchor="t" anchorCtr="0"/>
          <a:p>
            <a:pPr algn="l" eaLnBrk="1" latinLnBrk="0" hangingPunct="1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语句格式：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 THEN</a:t>
            </a:r>
            <a:b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IF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 THEN</a:t>
            </a:r>
            <a:b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顺序语句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END IF;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lang="en-US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…</a:t>
            </a:r>
            <a:b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END IF;</a:t>
            </a:r>
            <a:endParaRPr lang="en-US" altLang="zh-CN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6498" name="矩形 654338"/>
          <p:cNvSpPr/>
          <p:nvPr/>
        </p:nvSpPr>
        <p:spPr>
          <a:xfrm>
            <a:off x="457200" y="4143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语句嵌套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07950" y="1052830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if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语句嵌套的例子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1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Status = RUN 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Code_of_Operation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= CONC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then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F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:= Operand_1 &amp; Operand_2 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else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F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:= "00000000";</a:t>
            </a:r>
            <a:b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   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b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 Output_1 &lt;= F;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5473" name="图片 798723" descr="3-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4150" y="1460500"/>
            <a:ext cx="6234113" cy="456088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683260" y="332740"/>
            <a:ext cx="5599430" cy="52197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典型应用：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级联的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数据选择器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0593" name="标题 655361"/>
          <p:cNvSpPr>
            <a:spLocks noGrp="1"/>
          </p:cNvSpPr>
          <p:nvPr>
            <p:ph type="title"/>
          </p:nvPr>
        </p:nvSpPr>
        <p:spPr>
          <a:xfrm>
            <a:off x="179705" y="188595"/>
            <a:ext cx="8682990" cy="6214745"/>
          </a:xfrm>
          <a:noFill/>
          <a:ln>
            <a:noFill/>
          </a:ln>
        </p:spPr>
        <p:txBody>
          <a:bodyPr anchor="ctr" anchorCtr="0"/>
          <a:p>
            <a:pPr algn="l">
              <a:lnSpc>
                <a:spcPct val="12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5-9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b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Library ieee;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ieee.std_logic_1164.all;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ieee.std_logic_unsigned.all;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ieee.std_logic_arith.all;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entity cnt4 is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port ( rst: in std_logic;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    clk: in std_logic;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     en: in std_logic;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    cnt: buffer std_logic_vector(3 downto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0)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  );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cnt4;</a:t>
            </a:r>
            <a:endParaRPr lang="en-US" altLang="zh-CN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1617" name="标题 656385"/>
          <p:cNvSpPr>
            <a:spLocks noGrp="1"/>
          </p:cNvSpPr>
          <p:nvPr>
            <p:ph type="title"/>
          </p:nvPr>
        </p:nvSpPr>
        <p:spPr>
          <a:xfrm>
            <a:off x="684530" y="792480"/>
            <a:ext cx="7773670" cy="5398135"/>
          </a:xfrm>
          <a:noFill/>
          <a:ln>
            <a:noFill/>
          </a:ln>
        </p:spPr>
        <p:txBody>
          <a:bodyPr anchor="ctr" anchorCtr="0"/>
          <a:p>
            <a:pPr algn="l">
              <a:lnSpc>
                <a:spcPct val="105000"/>
              </a:lnSpc>
            </a:pP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architecture Behavioral of cnt4 is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begin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process(clk,rst,en)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begin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 if   rst='0'  then 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	      cnt&lt;="0000";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	 elsif clk'event and clk='1' then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	    if en='1' then </a:t>
            </a:r>
            <a:b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	       cnt</a:t>
            </a: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&lt;=cnt+1;           </a:t>
            </a: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-</a:t>
            </a:r>
            <a:r>
              <a:rPr lang="zh-CN" altLang="pt-BR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算术运算符“</a:t>
            </a: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+”</a:t>
            </a:r>
            <a:r>
              <a:rPr lang="zh-CN" altLang="pt-BR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两边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	    end if;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   end if;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end process;</a:t>
            </a:r>
            <a:b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altLang="zh-CN" sz="24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end Behavioral;</a:t>
            </a:r>
            <a:endParaRPr lang="en-US" altLang="zh-CN" sz="24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0513" name="文本占位符 236545"/>
          <p:cNvSpPr>
            <a:spLocks noGrp="1"/>
          </p:cNvSpPr>
          <p:nvPr>
            <p:ph idx="1"/>
          </p:nvPr>
        </p:nvSpPr>
        <p:spPr>
          <a:xfrm>
            <a:off x="571500" y="325120"/>
            <a:ext cx="8001000" cy="6207760"/>
          </a:xfrm>
        </p:spPr>
        <p:txBody>
          <a:bodyPr vert="horz" wrap="square" lIns="91440" tIns="45720" rIns="91440" bIns="45720" anchor="t" anchorCtr="0"/>
          <a:p>
            <a:pPr marL="0" indent="0">
              <a:lnSpc>
                <a:spcPct val="130000"/>
              </a:lnSpc>
              <a:buFont typeface="Wingdings" panose="05000000000000000000" pitchFamily="2" charset="2"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zh-CN" altLang="pt-BR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4-26】</a:t>
            </a:r>
            <a:endParaRPr lang="zh-CN" altLang="pt-BR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library IEEE;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IEEE.STD_LOGIC_1164.ALL;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IEEE.STD_LOGIC_ARITH.ALL;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use IEEE.STD_LOGIC_UNSIGNED.ALL;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entity cnt10 is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port(rst: in std_logic;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     clk: in std_logic;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     cnt: buffer std_logic_vector( 3 downto 0)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	);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cnt10;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1537" name="文本占位符 237569"/>
          <p:cNvSpPr>
            <a:spLocks noGrp="1"/>
          </p:cNvSpPr>
          <p:nvPr>
            <p:ph idx="1"/>
          </p:nvPr>
        </p:nvSpPr>
        <p:spPr>
          <a:xfrm>
            <a:off x="77470" y="142875"/>
            <a:ext cx="8989060" cy="6438265"/>
          </a:xfrm>
        </p:spPr>
        <p:txBody>
          <a:bodyPr vert="horz" wrap="square" lIns="91440" tIns="45720" rIns="91440" bIns="45720" anchor="t" anchorCtr="0"/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architecture Behavioral of cnt10 is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process(clk,rst)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if   rst='0'  then 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     cnt&lt;="0000";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elsif clk'event and clk='1' then 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   if   cnt=9 then               </a:t>
            </a:r>
            <a:r>
              <a:rPr lang="pt-BR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</a:t>
            </a:r>
            <a:r>
              <a:rPr lang="zh-CN" altLang="pt-BR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关系运算符“</a:t>
            </a:r>
            <a:r>
              <a:rPr lang="pt-BR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=”</a:t>
            </a:r>
            <a:r>
              <a:rPr lang="zh-CN" altLang="pt-BR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两边的数据类型不同</a:t>
            </a:r>
            <a:endParaRPr lang="zh-CN" altLang="pt-BR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pt-BR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   </a:t>
            </a: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cnt&lt;="0000";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else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    cnt&lt;=cnt+1;         </a:t>
            </a:r>
            <a:r>
              <a:rPr lang="pt-BR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--</a:t>
            </a:r>
            <a:r>
              <a:rPr lang="zh-CN" altLang="pt-BR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算术运算符“</a:t>
            </a:r>
            <a:r>
              <a:rPr lang="pt-BR" altLang="zh-CN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+”</a:t>
            </a:r>
            <a:r>
              <a:rPr lang="zh-CN" altLang="pt-BR" sz="2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两边的数据类型不同</a:t>
            </a:r>
            <a:endParaRPr lang="zh-CN" altLang="pt-BR" sz="20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zh-CN" altLang="pt-BR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  </a:t>
            </a: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if;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end if;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process;</a:t>
            </a:r>
            <a:endParaRPr lang="pt-BR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latinLnBrk="0" hangingPunct="1">
              <a:lnSpc>
                <a:spcPct val="100000"/>
              </a:lnSpc>
              <a:spcBef>
                <a:spcPts val="0"/>
              </a:spcBef>
              <a:buNone/>
            </a:pPr>
            <a:r>
              <a:rPr lang="pt-BR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Behavioral;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41" name="标题 403459"/>
          <p:cNvSpPr>
            <a:spLocks noGrp="1"/>
          </p:cNvSpPr>
          <p:nvPr>
            <p:ph type="title"/>
          </p:nvPr>
        </p:nvSpPr>
        <p:spPr>
          <a:xfrm>
            <a:off x="77470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5.1.2  CASE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642" name="文本占位符 403460"/>
          <p:cNvSpPr>
            <a:spLocks noGrp="1"/>
          </p:cNvSpPr>
          <p:nvPr>
            <p:ph idx="1"/>
          </p:nvPr>
        </p:nvSpPr>
        <p:spPr>
          <a:xfrm>
            <a:off x="611505" y="1393825"/>
            <a:ext cx="8001000" cy="5224780"/>
          </a:xfrm>
        </p:spPr>
        <p:txBody>
          <a:bodyPr anchor="t" anchorCtr="0"/>
          <a:p>
            <a:pPr>
              <a:lnSpc>
                <a:spcPct val="15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一般格式为：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CASE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条件表达式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WHEN 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condition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=&gt;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顺序语句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WHEN 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condition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=&gt;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顺序语句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WHEN 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condition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=&gt;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顺序语句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……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WHEN OTHERS=&gt;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顺序语句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 CASE;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2700" y="44450"/>
            <a:ext cx="9131300" cy="453644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case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语句中的分支条件可有以下的形式：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value=&gt;sequential sentence;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 to value&gt;=&gt; sequential sentence; 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value | value | value |…| value  =&gt; sequential sentence;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=&gt; sequential sentence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kumimoji="0" lang="zh-CN" altLang="en-US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混合方式：上述几种的混合。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endParaRPr kumimoji="0" lang="zh-CN" altLang="en-US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5713" name="文本占位符 658434"/>
          <p:cNvSpPr>
            <a:spLocks noGrp="1"/>
          </p:cNvSpPr>
          <p:nvPr>
            <p:ph idx="1"/>
          </p:nvPr>
        </p:nvSpPr>
        <p:spPr>
          <a:xfrm>
            <a:off x="3348355" y="4293235"/>
            <a:ext cx="5948045" cy="2660015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注意：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>
                <a:srgbClr val="0000CC"/>
              </a:buClr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的数量无限制，但不能共用相同值；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>
                <a:srgbClr val="0000CC"/>
              </a:buClr>
              <a:buNone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语句的值必须覆盖表达式的所有值；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Clr>
                <a:srgbClr val="0000CC"/>
              </a:buClr>
              <a:buNone/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只能有一个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OTHERS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，且位于最后。 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7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57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7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57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57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6350" y="107950"/>
            <a:ext cx="9131300" cy="667829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语句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VHDL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描述的例子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P1: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process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variable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x: Integer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range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3;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variable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y: BIT_VECTOR (0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1);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C1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x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 =&gt; Out_1 &lt;= 0;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 =&gt; Out_1 &lt;= 1;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 =&gt; Out_1 &lt;= 2;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C1;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6738" name="TextBox 1"/>
          <p:cNvSpPr txBox="1"/>
          <p:nvPr/>
        </p:nvSpPr>
        <p:spPr>
          <a:xfrm>
            <a:off x="4991100" y="1294448"/>
            <a:ext cx="3960813" cy="5346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C2: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case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y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is</a:t>
            </a:r>
            <a:endParaRPr lang="zh-CN" altLang="zh-CN" b="1" dirty="0">
              <a:solidFill>
                <a:srgbClr val="00B05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when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"00" =&gt; Out_2 &lt;= 0;</a:t>
            </a:r>
            <a:endParaRPr lang="zh-CN" altLang="zh-CN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when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"01" =&gt; Out_2 &lt;= 1;</a:t>
            </a:r>
            <a:endParaRPr lang="zh-CN" altLang="zh-CN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when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"10" =&gt; Out_2 &lt;= 2;</a:t>
            </a:r>
            <a:endParaRPr lang="zh-CN" altLang="zh-CN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when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"11" =&gt; Out_2 &lt;= 3;</a:t>
            </a:r>
            <a:endParaRPr lang="zh-CN" altLang="zh-CN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case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C2;</a:t>
            </a:r>
            <a:endParaRPr lang="zh-CN" altLang="zh-CN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spcBef>
                <a:spcPct val="20000"/>
              </a:spcBef>
              <a:buClr>
                <a:schemeClr val="hlink"/>
              </a:buClr>
            </a:pP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B05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process</a:t>
            </a:r>
            <a:r>
              <a:rPr lang="en-US" altLang="zh-CN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82550" y="469900"/>
            <a:ext cx="8315325" cy="4752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语句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VHDL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描述的例子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P2: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process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Codes_Of_Operation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(ADD,SUB,MULT,DIV);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variable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Code_Variable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Codes_Of_Operation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C3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Code_Variable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ADD | SUB =&gt; Operation := 0;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MULT | DIV =&gt; Operation := 1;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C3;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process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2700" y="481013"/>
            <a:ext cx="9131300" cy="515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语句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VHDL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描述的例子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3</a:t>
            </a:r>
            <a:endParaRPr kumimoji="0" lang="en-US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P3: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process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type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Some_Characters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 ('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a','b','c','d','e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');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variable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Some_Characters_Variable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Some_Characters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C4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Some_Characters_Variable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is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'a' to 'c' =&gt; Operation := 0;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'd' to 'e' =&gt; Operation := 1;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C4;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process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2700" y="506413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case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语句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VHDL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描述的例子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4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accent5">
                  <a:lumMod val="50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P5: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process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variable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Code_of_Operation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: INTEGER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range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0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to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2;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constant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Variable_1 : INTEGER := 0;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C6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Code_of_Operation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is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 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Variable_1 | Variable_1 + 1 =&gt; Operation := 0;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Variable_1 + 2 =&gt;Operation := 1;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case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C6;</a:t>
            </a:r>
            <a:br>
              <a:rPr lang="en-US" altLang="zh-CN" sz="2400" b="1" dirty="0">
                <a:solidFill>
                  <a:srgbClr val="7030A0"/>
                </a:solidFill>
              </a:rPr>
            </a:b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process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4929" name="标题 802817"/>
          <p:cNvGraphicFramePr>
            <a:graphicFrameLocks noGrp="1"/>
          </p:cNvGraphicFramePr>
          <p:nvPr>
            <p:ph type="title"/>
          </p:nvPr>
        </p:nvGraphicFramePr>
        <p:xfrm>
          <a:off x="901700" y="1085850"/>
          <a:ext cx="6983413" cy="563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" r:id="rId1" imgW="3432175" imgH="2778760" progId="Word.Document.8">
                  <p:embed/>
                </p:oleObj>
              </mc:Choice>
              <mc:Fallback>
                <p:oleObj name="" r:id="rId1" imgW="3432175" imgH="2778760" progId="Word.Document.8">
                  <p:embed/>
                  <p:pic>
                    <p:nvPicPr>
                      <p:cNvPr id="0" name="图片 3080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901700" y="1085850"/>
                        <a:ext cx="6983413" cy="56388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901700" y="423863"/>
            <a:ext cx="4041775" cy="646113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marR="0" defTabSz="914400">
              <a:lnSpc>
                <a:spcPct val="150000"/>
              </a:lnSpc>
              <a:spcBef>
                <a:spcPct val="20000"/>
              </a:spcBef>
              <a:buClrTx/>
              <a:buSzTx/>
              <a:buFontTx/>
              <a:defRPr/>
            </a:pPr>
            <a:r>
              <a:rPr lang="en-US" altLang="zh-CN" sz="2400" b="1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case</a:t>
            </a:r>
            <a:r>
              <a:rPr lang="zh-CN" altLang="en-US" sz="2400" b="1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</a:t>
            </a:r>
            <a:r>
              <a:rPr lang="en-US" altLang="zh-CN" sz="2400" b="1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VHDL</a:t>
            </a:r>
            <a:r>
              <a:rPr lang="zh-CN" altLang="en-US" sz="2400" b="1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描述的例子</a:t>
            </a:r>
            <a:r>
              <a:rPr lang="en-US" altLang="zh-CN" sz="2400" b="1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endParaRPr lang="en-US" altLang="zh-CN" sz="2400" b="1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ransition>
    <p:rand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25953" name="标题 803841"/>
          <p:cNvGraphicFramePr>
            <a:graphicFrameLocks noGrp="1"/>
          </p:cNvGraphicFramePr>
          <p:nvPr>
            <p:ph type="title"/>
          </p:nvPr>
        </p:nvGraphicFramePr>
        <p:xfrm>
          <a:off x="361950" y="619125"/>
          <a:ext cx="8115300" cy="561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" r:id="rId1" imgW="3432175" imgH="2386965" progId="Word.Document.8">
                  <p:embed/>
                </p:oleObj>
              </mc:Choice>
              <mc:Fallback>
                <p:oleObj name="" r:id="rId1" imgW="3432175" imgH="2386965" progId="Word.Document.8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1950" y="619125"/>
                        <a:ext cx="8115300" cy="561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35560" y="188595"/>
            <a:ext cx="9100820" cy="648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eaLnBrk="0" hangingPunct="0">
              <a:lnSpc>
                <a:spcPct val="130000"/>
              </a:lnSpc>
            </a:pPr>
            <a:r>
              <a:rPr lang="zh-CN" altLang="en-US" sz="2400" dirty="0">
                <a:sym typeface="+mn-ea"/>
              </a:rPr>
              <a:t>【例】</a:t>
            </a:r>
            <a:r>
              <a:rPr lang="en-US" altLang="zh-CN" sz="2400" dirty="0">
                <a:sym typeface="+mn-ea"/>
              </a:rPr>
              <a:t>case</a:t>
            </a:r>
            <a:r>
              <a:rPr lang="zh-CN" altLang="en-US" sz="2400" dirty="0">
                <a:sym typeface="+mn-ea"/>
              </a:rPr>
              <a:t>语句使用中几种容易发生的错误</a:t>
            </a:r>
            <a:endParaRPr lang="zh-CN" altLang="en-US" sz="24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 eaLnBrk="0" hangingPunct="0">
              <a:lnSpc>
                <a:spcPct val="130000"/>
              </a:lnSpc>
            </a:pPr>
            <a:endParaRPr lang="zh-CN" altLang="en-US" sz="24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SIGNAL value : INTEGER RANGE 0 TO 15;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SIGNAL  out1 : STD_LOGIC ;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  ...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 CASE value IS         -- 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缺少以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WHEN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引导的条件句</a:t>
            </a:r>
            <a:endParaRPr lang="zh-CN" altLang="en-US" sz="2400" b="1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 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END CASE</a:t>
            </a:r>
            <a:r>
              <a:rPr lang="zh-CN" altLang="en-US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；</a:t>
            </a:r>
            <a:endParaRPr lang="zh-CN" altLang="en-US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zh-CN" altLang="en-US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   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...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CASE value IS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WHEN 0 =&gt; out1&lt;= '1' ; -- value2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～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15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的值未包括进去</a:t>
            </a:r>
            <a:endParaRPr lang="zh-CN" altLang="en-US" sz="2400" b="1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 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WHEN 1 =&gt; out1&lt;= '0' ; </a:t>
            </a:r>
            <a:endParaRPr lang="en-US" altLang="zh-CN" sz="2400">
              <a:solidFill>
                <a:srgbClr val="000000"/>
              </a:solidFill>
              <a:latin typeface="Courier New" panose="02070309020205020404" pitchFamily="49" charset="0"/>
              <a:sym typeface="+mn-ea"/>
            </a:endParaRPr>
          </a:p>
          <a:p>
            <a:pPr algn="l" eaLnBrk="0" hangingPunct="0">
              <a:lnSpc>
                <a:spcPct val="130000"/>
              </a:lnSpc>
            </a:pPr>
            <a:r>
              <a:rPr lang="en-US" altLang="zh-CN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END CASE</a:t>
            </a:r>
            <a:endParaRPr lang="en-US" altLang="zh-CN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043305" y="1196975"/>
            <a:ext cx="7148830" cy="29686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0" hangingPunct="0">
              <a:lnSpc>
                <a:spcPct val="130000"/>
              </a:lnSpc>
            </a:pP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   ...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     CASE value IS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   WHEN 0 TO 10 =&gt; out1&lt;= '1';        -- 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选择值中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5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～</a:t>
            </a:r>
            <a:r>
              <a:rPr lang="en-US" altLang="zh-CN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10</a:t>
            </a: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的值有重叠</a:t>
            </a:r>
            <a:endParaRPr lang="zh-CN" altLang="en-US" sz="2400" b="1" dirty="0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l" eaLnBrk="0" hangingPunct="0"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    </a:t>
            </a:r>
            <a:r>
              <a:rPr lang="en-US" altLang="zh-CN" sz="2400">
                <a:solidFill>
                  <a:srgbClr val="000000"/>
                </a:solidFill>
                <a:latin typeface="Courier New" panose="02070309020205020404" pitchFamily="49" charset="0"/>
                <a:sym typeface="+mn-ea"/>
              </a:rPr>
              <a:t>WHEN 5 TO 15 =&gt; out1&lt;= '0';</a:t>
            </a:r>
            <a:endParaRPr lang="en-US" altLang="zh-CN" sz="2400" b="1">
              <a:solidFill>
                <a:srgbClr val="000000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algn="just" eaLnBrk="0" hangingPunct="0">
              <a:lnSpc>
                <a:spcPct val="130000"/>
              </a:lnSpc>
            </a:pPr>
            <a:r>
              <a:rPr lang="en-US" altLang="zh-CN" sz="2400">
                <a:sym typeface="+mn-ea"/>
              </a:rPr>
              <a:t> END CASE;</a:t>
            </a:r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8001" name="文本框 4"/>
          <p:cNvSpPr txBox="1"/>
          <p:nvPr>
            <p:custDataLst>
              <p:tags r:id="rId1"/>
            </p:custDataLst>
          </p:nvPr>
        </p:nvSpPr>
        <p:spPr>
          <a:xfrm>
            <a:off x="690563" y="1727200"/>
            <a:ext cx="7510462" cy="2143125"/>
          </a:xfrm>
          <a:prstGeom prst="rect">
            <a:avLst/>
          </a:prstGeom>
          <a:noFill/>
          <a:ln w="9525">
            <a:noFill/>
          </a:ln>
        </p:spPr>
        <p:txBody>
          <a:bodyPr wrap="square" anchor="ctr" anchorCtr="0"/>
          <a:p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分别用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if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语句和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case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语句设计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4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选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1 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sym typeface="宋体" panose="02010600030101010101" pitchFamily="2" charset="-122"/>
              </a:rPr>
              <a:t>多路选择器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9025" name="Text Box 3"/>
          <p:cNvSpPr txBox="1"/>
          <p:nvPr/>
        </p:nvSpPr>
        <p:spPr>
          <a:xfrm>
            <a:off x="393700" y="1252538"/>
            <a:ext cx="8543925" cy="5321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pt-BR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if-else</a:t>
            </a:r>
            <a:r>
              <a:rPr lang="zh-CN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语句实现</a:t>
            </a:r>
            <a:r>
              <a:rPr lang="en-US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4:1</a:t>
            </a:r>
            <a:r>
              <a:rPr lang="zh-CN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多路选择器的</a:t>
            </a:r>
            <a:r>
              <a:rPr lang="en-US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 HDL</a:t>
            </a:r>
            <a:r>
              <a:rPr lang="zh-CN" altLang="zh-CN" sz="2800" b="1" dirty="0">
                <a:solidFill>
                  <a:srgbClr val="0070C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描述</a:t>
            </a:r>
            <a:endParaRPr lang="en-US" altLang="zh-CN" sz="2800" b="1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Library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use ieee.std_logic_1164.all;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entity multiplexers_1 is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port (a, b, c, d : in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s : in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std_logic_vector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(1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downto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0);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o : out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multiplexers_1;</a:t>
            </a:r>
            <a:endParaRPr lang="en-US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architecture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archi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of multiplexers_1 is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 sz="2400" dirty="0">
              <a:solidFill>
                <a:srgbClr val="0070C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12902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400" y="3016250"/>
            <a:ext cx="1920875" cy="22320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0049" name="内容占位符 2"/>
          <p:cNvSpPr>
            <a:spLocks noGrp="1"/>
          </p:cNvSpPr>
          <p:nvPr/>
        </p:nvSpPr>
        <p:spPr>
          <a:xfrm>
            <a:off x="428625" y="1468438"/>
            <a:ext cx="7138988" cy="45275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process (a, b, c, d, s)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begin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if (s = "00") then o &lt;= a;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2400" b="1" dirty="0" err="1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elsif</a:t>
            </a: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(s = "01") then o &lt;= b;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</a:t>
            </a:r>
            <a:r>
              <a:rPr lang="en-US" altLang="zh-CN" sz="2400" b="1" dirty="0" err="1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elsif</a:t>
            </a: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(s = "10") then o &lt;= c;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else o &lt;= d;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end if;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end process;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end </a:t>
            </a:r>
            <a:r>
              <a:rPr lang="en-US" altLang="zh-CN" sz="2400" b="1" dirty="0" err="1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archi</a:t>
            </a: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;</a:t>
            </a:r>
            <a:endParaRPr lang="zh-CN" altLang="zh-CN" sz="20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zh-CN" altLang="en-US" sz="2400" dirty="0">
              <a:solidFill>
                <a:srgbClr val="0000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1073" name="Text Box 3"/>
          <p:cNvSpPr txBox="1"/>
          <p:nvPr/>
        </p:nvSpPr>
        <p:spPr>
          <a:xfrm>
            <a:off x="295275" y="368300"/>
            <a:ext cx="8243888" cy="58928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</a:pP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CASE</a:t>
            </a:r>
            <a:r>
              <a:rPr lang="zh-CN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语句描述数据选择器的</a:t>
            </a:r>
            <a:r>
              <a:rPr lang="en-US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VHDL</a:t>
            </a:r>
            <a:r>
              <a:rPr lang="zh-CN" altLang="zh-CN" sz="2800" b="1" dirty="0">
                <a:solidFill>
                  <a:srgbClr val="00206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描述</a:t>
            </a:r>
            <a:endParaRPr lang="zh-CN" altLang="zh-CN" sz="2800" b="1" dirty="0">
              <a:solidFill>
                <a:srgbClr val="00206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en-US" altLang="zh-CN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library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ieee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use ieee.std_logic_1164.all;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entity multiplexers_2 is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port (a, b, c, d : in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s : in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std_logic_vector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(1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downto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0);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o : out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std_logic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);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end multiplexers_2;</a:t>
            </a:r>
            <a:endParaRPr lang="en-US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architecture </a:t>
            </a:r>
            <a:r>
              <a:rPr lang="en-US" altLang="zh-CN" sz="2400" b="1" dirty="0" err="1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archi</a:t>
            </a: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 of multiplexers_2 is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30000"/>
              </a:lnSpc>
            </a:pPr>
            <a:r>
              <a:rPr lang="en-US" altLang="zh-CN" sz="2400" b="1" dirty="0">
                <a:solidFill>
                  <a:srgbClr val="7030A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  <a:endParaRPr lang="zh-CN" altLang="zh-CN" sz="2400" b="1" dirty="0">
              <a:solidFill>
                <a:srgbClr val="7030A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2097" name="内容占位符 2"/>
          <p:cNvSpPr>
            <a:spLocks noGrp="1"/>
          </p:cNvSpPr>
          <p:nvPr/>
        </p:nvSpPr>
        <p:spPr>
          <a:xfrm>
            <a:off x="457200" y="976313"/>
            <a:ext cx="8229600" cy="5253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process (a, b, c, d, s)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begin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case s is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    when "00" =&gt; o &lt;= a;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    when "01" =&gt; o &lt;= b;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    when "10" =&gt; o &lt;= c;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    when others =&gt; o &lt;= d;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     end case;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end process;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end </a:t>
            </a:r>
            <a:r>
              <a:rPr lang="en-US" altLang="zh-CN" sz="2400" b="1" dirty="0" err="1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archi</a:t>
            </a:r>
            <a:r>
              <a:rPr lang="en-US" altLang="zh-CN" sz="2400" b="1" dirty="0">
                <a:solidFill>
                  <a:srgbClr val="7030A0"/>
                </a:solidFill>
                <a:latin typeface="Arial Narrow" panose="020B0606020202030204" pitchFamily="34" charset="0"/>
                <a:ea typeface="宋体" panose="02010600030101010101" pitchFamily="2" charset="-122"/>
              </a:rPr>
              <a:t>;</a:t>
            </a:r>
            <a:endParaRPr lang="zh-CN" altLang="zh-CN" sz="2400" b="1" dirty="0">
              <a:solidFill>
                <a:srgbClr val="7030A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  <a:spcBef>
                <a:spcPct val="20000"/>
              </a:spcBef>
            </a:pPr>
            <a:endParaRPr lang="zh-CN" altLang="en-US" sz="2400" dirty="0">
              <a:solidFill>
                <a:srgbClr val="000000"/>
              </a:solidFill>
              <a:latin typeface="Arial Narrow" panose="020B060602020203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1" name="文本占位符 660482"/>
          <p:cNvSpPr>
            <a:spLocks noGrp="1"/>
          </p:cNvSpPr>
          <p:nvPr>
            <p:ph idx="1"/>
          </p:nvPr>
        </p:nvSpPr>
        <p:spPr>
          <a:xfrm>
            <a:off x="683260" y="981075"/>
            <a:ext cx="8001000" cy="5447030"/>
          </a:xfrm>
        </p:spPr>
        <p:txBody>
          <a:bodyPr vert="horz" wrap="square" lIns="91440" tIns="45720" rIns="91440" bIns="45720" anchor="ctr" anchorCtr="0"/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1" err="1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Mux4 : process (EN,a,b,c,d,s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)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IF EN=’0’ then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X&lt;=”0000”;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ELSE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Case s is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When "00" =&gt; X&lt;=a;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When "01" =&gt; X&lt;=b;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When "10" =&gt; X&lt;=c;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  When "11" =&gt; X&lt;=d;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            When others  =&gt; Null;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空语句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      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case;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END IF;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1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End process mux4;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3122" name="文本框 2"/>
          <p:cNvSpPr txBox="1"/>
          <p:nvPr/>
        </p:nvSpPr>
        <p:spPr>
          <a:xfrm>
            <a:off x="899795" y="188595"/>
            <a:ext cx="4078288" cy="496888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lnSpc>
                <a:spcPct val="110000"/>
              </a:lnSpc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例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5-11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：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IF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CASE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混合使用</a:t>
            </a:r>
            <a:r>
              <a:rPr lang="zh-CN" altLang="en-US" dirty="0">
                <a:latin typeface="Times New Roman" panose="02020603050405020304" pitchFamily="18" charset="0"/>
                <a:ea typeface="楷体_GB2312" pitchFamily="49" charset="-122"/>
              </a:rPr>
              <a:t>   </a:t>
            </a:r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5169" name="标题 661505"/>
          <p:cNvSpPr>
            <a:spLocks noGrp="1"/>
          </p:cNvSpPr>
          <p:nvPr>
            <p:ph type="title"/>
          </p:nvPr>
        </p:nvSpPr>
        <p:spPr>
          <a:xfrm>
            <a:off x="69215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5.1.3  LOOP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5170" name="文本占位符 661506"/>
          <p:cNvSpPr>
            <a:spLocks noGrp="1"/>
          </p:cNvSpPr>
          <p:nvPr>
            <p:ph idx="1"/>
          </p:nvPr>
        </p:nvSpPr>
        <p:spPr>
          <a:xfrm>
            <a:off x="179388" y="1557338"/>
            <a:ext cx="8424862" cy="2543175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三种循环控制语句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无限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lang="zh-CN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en-US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loop</a:t>
            </a:r>
            <a:r>
              <a:rPr lang="zh-CN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en-US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loop</a:t>
            </a:r>
            <a:r>
              <a:rPr lang="zh-CN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1508" name="矩形 661507"/>
          <p:cNvSpPr/>
          <p:nvPr/>
        </p:nvSpPr>
        <p:spPr>
          <a:xfrm>
            <a:off x="179388" y="4205288"/>
            <a:ext cx="8604250" cy="15525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LOOP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循环主要用在规定数目的重复情况；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LOOP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则根据控制条件执行循环直到条件为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FALSE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6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150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7217" name="文本占位符 662530"/>
          <p:cNvSpPr>
            <a:spLocks noGrp="1"/>
          </p:cNvSpPr>
          <p:nvPr>
            <p:ph idx="1"/>
          </p:nvPr>
        </p:nvSpPr>
        <p:spPr>
          <a:xfrm>
            <a:off x="684530" y="1268730"/>
            <a:ext cx="8001000" cy="3209290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无限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LOOP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格式：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［标号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］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顺序处理语句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END LOOP [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标号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7218" name="标题 662532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711200"/>
          </a:xfrm>
          <a:noFill/>
          <a:ln>
            <a:noFill/>
          </a:ln>
        </p:spPr>
        <p:txBody>
          <a:bodyPr anchor="t" anchorCtr="0"/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无限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251450" y="2260600"/>
            <a:ext cx="2540000" cy="21161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L2: 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loop</a:t>
            </a:r>
            <a:endParaRPr lang="zh-CN" altLang="zh-CN" sz="28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SzTx/>
            </a:pP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 a:=a+1;                           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end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8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loop</a:t>
            </a:r>
            <a:r>
              <a:rPr lang="en-US" altLang="zh-CN" sz="28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</a:rPr>
              <a:t> L2;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8241" name="文本占位符 662530"/>
          <p:cNvSpPr>
            <a:spLocks noGrp="1"/>
          </p:cNvSpPr>
          <p:nvPr>
            <p:ph idx="1"/>
          </p:nvPr>
        </p:nvSpPr>
        <p:spPr>
          <a:xfrm>
            <a:off x="684213" y="1268413"/>
            <a:ext cx="8001000" cy="2736850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LOOP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格式：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［标号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］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</a:t>
            </a: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循环变量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 </a:t>
            </a: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循环次数范围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顺序处理语句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END LOOP [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标号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8242" name="标题 662532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711200"/>
          </a:xfrm>
          <a:noFill/>
          <a:ln>
            <a:noFill/>
          </a:ln>
        </p:spPr>
        <p:txBody>
          <a:bodyPr anchor="t" anchorCtr="0"/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LOOP</a:t>
            </a:r>
            <a:r>
              <a:rPr lang="zh-CN" altLang="en-US" sz="3200" b="1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3200" b="1" dirty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2534" name="矩形 662533"/>
          <p:cNvSpPr/>
          <p:nvPr/>
        </p:nvSpPr>
        <p:spPr>
          <a:xfrm>
            <a:off x="683895" y="4077335"/>
            <a:ext cx="8112125" cy="229806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15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循环变量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属于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语句的局部变量，</a:t>
            </a:r>
            <a:r>
              <a:rPr lang="zh-CN" altLang="en-US" sz="2400" b="1" dirty="0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不需要事先定义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，也不能被赋值，它的值从循环次数范围的初值开始，执行一次顺序语句</a:t>
            </a:r>
            <a:r>
              <a:rPr lang="zh-CN" altLang="en-US" sz="2400" b="1" dirty="0">
                <a:solidFill>
                  <a:srgbClr val="FF5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自动加一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，当其值超出循环次数范围时，则退出循环语句。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66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253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9266" name="文本占位符 663554"/>
          <p:cNvSpPr>
            <a:spLocks noGrp="1"/>
          </p:cNvSpPr>
          <p:nvPr>
            <p:ph idx="1"/>
          </p:nvPr>
        </p:nvSpPr>
        <p:spPr>
          <a:xfrm>
            <a:off x="571500" y="404495"/>
            <a:ext cx="8001000" cy="5911850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5-12</a:t>
            </a:r>
            <a:endParaRPr lang="en-US" altLang="zh-CN" sz="24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ARCHITECTURE behave OF pc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PROCESS(a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VARIABLE tmp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STD_LOGIC;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tmp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:='0';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FOR</a:t>
            </a:r>
            <a:r>
              <a:rPr lang="en-US" altLang="zh-CN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IN 0 TO 7 LOOP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tmp:=tmp XOR a(i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END LOOP;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y&lt;=tmp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END PROCESS 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behave;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0289" name="文本占位符 664577"/>
          <p:cNvSpPr>
            <a:spLocks noGrp="1"/>
          </p:cNvSpPr>
          <p:nvPr>
            <p:ph idx="1"/>
          </p:nvPr>
        </p:nvSpPr>
        <p:spPr>
          <a:xfrm>
            <a:off x="684213" y="1268413"/>
            <a:ext cx="8001000" cy="4267200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LOOP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格式：</a:t>
            </a:r>
            <a:endParaRPr lang="zh-CN" altLang="en-US" sz="24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标号：］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顺序处理语句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 LOOP [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标号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];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如果条件为真，则进行循环，否则结束循环。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0290" name="标题 664578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711200"/>
          </a:xfrm>
          <a:noFill/>
          <a:ln>
            <a:noFill/>
          </a:ln>
        </p:spPr>
        <p:txBody>
          <a:bodyPr anchor="t" anchorCtr="0"/>
          <a:p>
            <a:pPr algn="l"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 LOOP</a:t>
            </a:r>
            <a:r>
              <a:rPr lang="zh-CN" altLang="en-US" sz="3200" b="1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3200" b="1" dirty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1314" name="文本占位符 665602"/>
          <p:cNvSpPr>
            <a:spLocks noGrp="1"/>
          </p:cNvSpPr>
          <p:nvPr>
            <p:ph idx="1"/>
          </p:nvPr>
        </p:nvSpPr>
        <p:spPr>
          <a:xfrm>
            <a:off x="467360" y="476885"/>
            <a:ext cx="8001000" cy="6330315"/>
          </a:xfrm>
        </p:spPr>
        <p:txBody>
          <a:bodyPr vert="horz" wrap="square" lIns="91440" tIns="45720" rIns="91440" bIns="45720" anchor="t" anchorCtr="0"/>
          <a:p>
            <a:pPr>
              <a:lnSpc>
                <a:spcPct val="115000"/>
              </a:lnSpc>
              <a:buFont typeface="Wingdings" panose="05000000000000000000" pitchFamily="2" charset="2"/>
              <a:buChar char="p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5-13</a:t>
            </a:r>
            <a:endParaRPr lang="en-US" altLang="zh-CN" sz="24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PROCESS(a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VARIABLE  tmp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STD_LOGIC;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VARIABLE  I : INTEGER;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tmp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:='0';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i:=0;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While i&lt;8 loop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Tmp:=tmp XOR a(i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I:=I+1;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End loop;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y&lt;=tmp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END PROCESS 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2337" name="标题 669697"/>
          <p:cNvSpPr>
            <a:spLocks noGrp="1"/>
          </p:cNvSpPr>
          <p:nvPr>
            <p:ph type="title"/>
          </p:nvPr>
        </p:nvSpPr>
        <p:spPr>
          <a:xfrm>
            <a:off x="623888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5.1.4 EXIT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2338" name="文本占位符 669698"/>
          <p:cNvSpPr>
            <a:spLocks noGrp="1"/>
          </p:cNvSpPr>
          <p:nvPr>
            <p:ph idx="1"/>
          </p:nvPr>
        </p:nvSpPr>
        <p:spPr>
          <a:xfrm>
            <a:off x="468313" y="1557338"/>
            <a:ext cx="8216900" cy="3024187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循环语句中，表示</a:t>
            </a: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退出整个循环操作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语句格式：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EXIT [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循环标号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EXIT [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循环标号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 [WHEN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0" y="1700213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VHDL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重复执行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循环内的语句，直至遇到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exit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语句所满足的结束条件时退出循环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。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n"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其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语法格式为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[</a:t>
            </a:r>
            <a:r>
              <a:rPr kumimoji="0" lang="zh-CN" altLang="en-US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循环标号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]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          --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sequential statement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exit </a:t>
            </a:r>
            <a:r>
              <a:rPr kumimoji="0" lang="zh-CN" altLang="en-US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循环标号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when condition;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                 end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loop;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30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3362" name="标题 662532"/>
          <p:cNvSpPr>
            <a:spLocks noGrp="1"/>
          </p:cNvSpPr>
          <p:nvPr/>
        </p:nvSpPr>
        <p:spPr>
          <a:xfrm>
            <a:off x="467360" y="621030"/>
            <a:ext cx="8229600" cy="711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无限</a:t>
            </a:r>
            <a:r>
              <a:rPr lang="en-US" altLang="zh-CN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EXIT</a:t>
            </a:r>
            <a:r>
              <a:rPr lang="zh-CN" altLang="en-US" sz="32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语句搭配</a:t>
            </a:r>
            <a:endParaRPr lang="zh-CN" altLang="en-US" sz="32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0" y="1197928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无限</a:t>
            </a: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exit</a:t>
            </a: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搭配使用</a:t>
            </a:r>
            <a:endParaRPr kumimoji="0" lang="en-US" altLang="zh-CN" sz="30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L2: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a:=a+1;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exit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L2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 &gt;10;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L2;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该例子中，当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a&gt;10</a:t>
            </a:r>
            <a:r>
              <a:rPr kumimoji="0" lang="zh-CN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时，退出无限循环条件。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30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467995" y="1196658"/>
            <a:ext cx="7332663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只用一个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loop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可以实现上述求和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sum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:=0;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i:=0;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(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&lt;10)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sum:=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sum+i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i:=i+1;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en-US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3550" y="1214438"/>
            <a:ext cx="7332663" cy="5157788"/>
          </a:xfrm>
        </p:spPr>
        <p:txBody>
          <a:bodyPr/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只用一个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loop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可以实现上述求和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sum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:=0;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i:=0;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----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可省略</a:t>
            </a:r>
            <a:endParaRPr kumimoji="0" lang="zh-CN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for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0 to 9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loop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sum:=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sum+i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loop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marR="0" indent="0" algn="l" defTabSz="914400" rtl="0" eaLnBrk="1" fontAlgn="base" latinLnBrk="0" hangingPunct="1">
              <a:lnSpc>
                <a:spcPct val="13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662532"/>
          <p:cNvSpPr>
            <a:spLocks noGrp="1"/>
          </p:cNvSpPr>
          <p:nvPr/>
        </p:nvSpPr>
        <p:spPr>
          <a:xfrm>
            <a:off x="611505" y="764540"/>
            <a:ext cx="8229600" cy="711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3200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其他</a:t>
            </a:r>
            <a:r>
              <a:rPr lang="en-US" altLang="zh-CN" sz="3200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lang="zh-CN" altLang="en-US" sz="3200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语句与</a:t>
            </a:r>
            <a:r>
              <a:rPr lang="en-US" altLang="zh-CN" sz="3200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EXIT</a:t>
            </a:r>
            <a:r>
              <a:rPr lang="zh-CN" altLang="en-US" sz="3200" dirty="0">
                <a:solidFill>
                  <a:srgbClr val="99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语句搭配</a:t>
            </a:r>
            <a:endParaRPr lang="zh-CN" altLang="en-US" sz="3200" dirty="0">
              <a:solidFill>
                <a:srgbClr val="99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Rectangle 3"/>
          <p:cNvSpPr>
            <a:spLocks noGrp="1"/>
          </p:cNvSpPr>
          <p:nvPr/>
        </p:nvSpPr>
        <p:spPr>
          <a:xfrm>
            <a:off x="0" y="1700530"/>
            <a:ext cx="9131300" cy="3571240"/>
          </a:xfrm>
          <a:prstGeom prst="rect">
            <a:avLst/>
          </a:prstGeom>
          <a:noFill/>
          <a:ln w="9525">
            <a:noFill/>
          </a:ln>
        </p:spPr>
        <p:txBody>
          <a:bodyPr wrap="square" lIns="91440" tIns="45720" rIns="91440" bIns="45720" anchor="t" anchorCtr="0"/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r>
              <a:rPr lang="en-US" altLang="zh-CN" sz="28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exit</a:t>
            </a:r>
            <a:r>
              <a:rPr lang="zh-CN" altLang="en-US" sz="28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8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800" b="1" dirty="0">
                <a:solidFill>
                  <a:srgbClr val="2163B4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描述的例子</a:t>
            </a:r>
            <a:endParaRPr lang="en-US" altLang="zh-CN" sz="2800" b="1" dirty="0">
              <a:solidFill>
                <a:srgbClr val="2163B4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ct val="20000"/>
              </a:spcBef>
              <a:buClr>
                <a:srgbClr val="7DA0D3"/>
              </a:buClr>
            </a:pPr>
            <a:r>
              <a:rPr lang="zh-CN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Loop_1: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count_value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to 10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endParaRPr lang="zh-CN" altLang="zh-CN" sz="24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ct val="20000"/>
              </a:spcBef>
              <a:buClr>
                <a:srgbClr val="7DA0D3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exit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Loop_1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reset = '1';</a:t>
            </a:r>
            <a:endParaRPr lang="zh-CN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ct val="20000"/>
              </a:spcBef>
              <a:buClr>
                <a:srgbClr val="7DA0D3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A_1: A(</a:t>
            </a:r>
            <a:r>
              <a:rPr lang="en-US" altLang="zh-CN" sz="2400" b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count_value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:= '0';</a:t>
            </a:r>
            <a:endParaRPr lang="zh-CN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ct val="20000"/>
              </a:spcBef>
              <a:buClr>
                <a:srgbClr val="7DA0D3"/>
              </a:buClr>
            </a:pP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Loop_1;</a:t>
            </a:r>
            <a:b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A_2: B &lt;= A </a:t>
            </a:r>
            <a:r>
              <a:rPr lang="en-US" altLang="zh-CN" sz="24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after</a:t>
            </a:r>
            <a:r>
              <a:rPr lang="en-US" altLang="zh-CN" sz="2400" b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ns;</a:t>
            </a:r>
            <a:endParaRPr lang="zh-CN" altLang="zh-CN" sz="2400" b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20000"/>
              </a:spcBef>
              <a:buClr>
                <a:srgbClr val="7DA0D3"/>
              </a:buClr>
            </a:pPr>
            <a:endParaRPr lang="zh-CN" altLang="zh-CN" sz="2400" b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01" name="文本占位符 670722"/>
          <p:cNvSpPr>
            <a:spLocks noGrp="1"/>
          </p:cNvSpPr>
          <p:nvPr>
            <p:ph idx="1"/>
          </p:nvPr>
        </p:nvSpPr>
        <p:spPr>
          <a:xfrm>
            <a:off x="467360" y="548640"/>
            <a:ext cx="7547610" cy="6206490"/>
          </a:xfrm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5-16</a:t>
            </a:r>
            <a:endParaRPr lang="en-US" altLang="zh-CN" sz="2400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process(inp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variable m : std_logic_vector( 2 downto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m:="111";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for i in 7 downto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0 loop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lang="en-US" altLang="zh-CN" sz="2400" b="1" err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if  inp(i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)='0' then </a:t>
            </a:r>
            <a:endParaRPr lang="en-US" alt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    m:=m-1;</a:t>
            </a:r>
            <a:endParaRPr lang="en-US" alt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 else</a:t>
            </a:r>
            <a:endParaRPr lang="en-US" alt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    exit;</a:t>
            </a:r>
            <a:endParaRPr lang="en-US" alt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end if;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end loop;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outp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&lt;=m;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process;	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占位符 670722"/>
          <p:cNvSpPr>
            <a:spLocks noGrp="1"/>
          </p:cNvSpPr>
          <p:nvPr/>
        </p:nvSpPr>
        <p:spPr>
          <a:xfrm>
            <a:off x="5220335" y="2564765"/>
            <a:ext cx="3736975" cy="403098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91440" bIns="45720" anchor="t"/>
          <a:lstStyle>
            <a:lvl1pPr marL="469900" lvl="0" indent="-469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3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08050" lvl="1" indent="-436245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30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304925" lvl="2" indent="-39497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o"/>
              <a:defRPr sz="28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94180" lvl="3" indent="-3873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n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94230" lvl="4" indent="-39878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lvl="5" indent="-2286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lvl="6" indent="-2286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lvl="7" indent="-2286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lvl="8" indent="-228600" algn="l" defTabSz="914400" rtl="0" eaLnBrk="1" fontAlgn="base" latinLnBrk="0" hangingPunct="1">
              <a:lnSpc>
                <a:spcPct val="100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 b="1" i="0" u="non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buNone/>
            </a:pPr>
            <a:endParaRPr lang="en-US" altLang="zh-CN" sz="2000" strike="noStrike" noProof="1">
              <a:solidFill>
                <a:srgbClr val="FF0000"/>
              </a:solidFill>
              <a:latin typeface="Times New Roman" panose="02020603050405020304" pitchFamily="18" charset="0"/>
              <a:ea typeface="楷体_GB2312" pitchFamily="49" charset="-122"/>
            </a:endParaRPr>
          </a:p>
          <a:p>
            <a:pPr fontAlgn="base">
              <a:buNone/>
            </a:pPr>
            <a:r>
              <a:rPr lang="en-US" altLang="zh-CN" sz="2400" strike="noStrike" noProof="1" err="1">
                <a:latin typeface="微软雅黑" panose="020B0503020204020204" charset="-122"/>
                <a:ea typeface="微软雅黑" panose="020B0503020204020204" charset="-122"/>
                <a:cs typeface="+mn-cs"/>
              </a:rPr>
              <a:t>   while</a:t>
            </a:r>
            <a:r>
              <a:rPr lang="en-US" altLang="zh-CN" sz="2400" strike="noStrike" noProof="1">
                <a:latin typeface="微软雅黑" panose="020B0503020204020204" charset="-122"/>
                <a:ea typeface="微软雅黑" panose="020B0503020204020204" charset="-122"/>
                <a:cs typeface="+mn-cs"/>
              </a:rPr>
              <a:t> i&lt;8 loop</a:t>
            </a:r>
            <a:endParaRPr lang="en-US" altLang="zh-CN" sz="2400" strike="noStrike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strike="noStrike" noProof="1" err="1"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if  inp(i</a:t>
            </a:r>
            <a:r>
              <a:rPr lang="en-US" altLang="zh-CN" sz="2400" strike="noStrike" noProof="1">
                <a:latin typeface="微软雅黑" panose="020B0503020204020204" charset="-122"/>
                <a:ea typeface="微软雅黑" panose="020B0503020204020204" charset="-122"/>
                <a:cs typeface="+mn-cs"/>
              </a:rPr>
              <a:t>)='0' then </a:t>
            </a:r>
            <a:endParaRPr lang="en-US" altLang="zh-CN" sz="2400" strike="noStrike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strike="noStrike" noProof="1">
                <a:latin typeface="微软雅黑" panose="020B0503020204020204" charset="-122"/>
                <a:ea typeface="微软雅黑" panose="020B0503020204020204" charset="-122"/>
                <a:cs typeface="+mn-cs"/>
              </a:rPr>
              <a:t>	     m:=m-1;</a:t>
            </a:r>
            <a:endParaRPr lang="en-US" altLang="zh-CN" sz="2400" strike="noStrike" noProof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fontAlgn="base">
              <a:buNone/>
            </a:pPr>
            <a:r>
              <a:rPr lang="en-US" altLang="zh-CN" sz="2400" strike="noStrike" noProof="1"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     i:=i-1;</a:t>
            </a:r>
            <a:endParaRPr lang="en-US" altLang="zh-CN" sz="2400" strike="noStrike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strike="noStrike" noProof="1">
                <a:latin typeface="微软雅黑" panose="020B0503020204020204" charset="-122"/>
                <a:ea typeface="微软雅黑" panose="020B0503020204020204" charset="-122"/>
                <a:cs typeface="+mn-cs"/>
              </a:rPr>
              <a:t>	  else</a:t>
            </a:r>
            <a:endParaRPr lang="en-US" altLang="zh-CN" sz="2400" strike="noStrike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strike="noStrike" noProof="1">
                <a:latin typeface="微软雅黑" panose="020B0503020204020204" charset="-122"/>
                <a:ea typeface="微软雅黑" panose="020B0503020204020204" charset="-122"/>
                <a:cs typeface="+mn-cs"/>
              </a:rPr>
              <a:t>	     exit;</a:t>
            </a:r>
            <a:endParaRPr lang="en-US" altLang="zh-CN" sz="2400" strike="noStrike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400" strike="noStrike" noProof="1">
                <a:latin typeface="微软雅黑" panose="020B0503020204020204" charset="-122"/>
                <a:ea typeface="微软雅黑" panose="020B0503020204020204" charset="-122"/>
                <a:cs typeface="+mn-cs"/>
              </a:rPr>
              <a:t>      end if;</a:t>
            </a:r>
            <a:endParaRPr lang="en-US" altLang="zh-CN" sz="2400" strike="noStrike" noProof="1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fontAlgn="base">
              <a:buNone/>
            </a:pPr>
            <a:r>
              <a:rPr lang="en-US" altLang="zh-CN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end loop;</a:t>
            </a:r>
            <a:endParaRPr lang="en-US" altLang="zh-CN" sz="2400" strike="noStrike" noProof="1">
              <a:latin typeface="微软雅黑" panose="020B0503020204020204" charset="-122"/>
              <a:ea typeface="微软雅黑" panose="020B0503020204020204" charset="-122"/>
            </a:endParaRPr>
          </a:p>
          <a:p>
            <a:pPr fontAlgn="base">
              <a:buNone/>
            </a:pPr>
            <a:r>
              <a:rPr lang="en-US" altLang="zh-CN" sz="2000" strike="noStrike" noProof="1">
                <a:latin typeface="Times New Roman" panose="02020603050405020304" pitchFamily="18" charset="0"/>
                <a:ea typeface="+mn-ea"/>
                <a:cs typeface="+mn-cs"/>
              </a:rPr>
              <a:t>  	 </a:t>
            </a:r>
            <a:endParaRPr lang="en-US" altLang="zh-CN" sz="2000" strike="noStrike" noProof="1">
              <a:latin typeface="Times New Roman" panose="02020603050405020304" pitchFamily="18" charset="0"/>
            </a:endParaRPr>
          </a:p>
        </p:txBody>
      </p:sp>
      <p:sp>
        <p:nvSpPr>
          <p:cNvPr id="153603" name="标题 662532"/>
          <p:cNvSpPr>
            <a:spLocks noGrp="1"/>
          </p:cNvSpPr>
          <p:nvPr>
            <p:ph type="title"/>
          </p:nvPr>
        </p:nvSpPr>
        <p:spPr>
          <a:xfrm>
            <a:off x="179705" y="-26670"/>
            <a:ext cx="8229600" cy="711200"/>
          </a:xfrm>
          <a:noFill/>
          <a:ln>
            <a:noFill/>
          </a:ln>
        </p:spPr>
        <p:txBody>
          <a:bodyPr anchor="t" anchorCtr="0"/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语句来表示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4625" name="标题 666625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5.1.5 NEXT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4626" name="文本占位符 666626"/>
          <p:cNvSpPr>
            <a:spLocks noGrp="1"/>
          </p:cNvSpPr>
          <p:nvPr>
            <p:ph idx="1"/>
          </p:nvPr>
        </p:nvSpPr>
        <p:spPr>
          <a:xfrm>
            <a:off x="468313" y="1341438"/>
            <a:ext cx="8216900" cy="4824412"/>
          </a:xfrm>
        </p:spPr>
        <p:txBody>
          <a:bodyPr vert="horz" wrap="square" lIns="91440" tIns="45720" rIns="91440" bIns="45720"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循环语句中，表示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跳出本次循环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，执行下一次循环或其他循环操作。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语句格式：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 [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循环标号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 [when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条件表达式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];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当条件表达式满足条件时，结束本次循环操作，跳转到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循环标号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对应的循环语句，若无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循环标号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语句，则结束本次循环，执行下一个循环操作。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544195" y="2203450"/>
            <a:ext cx="3048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>
    <p:random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0" y="165100"/>
            <a:ext cx="9131300" cy="652621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该语句的使用可以分成三种情况：</a:t>
            </a:r>
            <a:endParaRPr kumimoji="0" lang="zh-CN" altLang="en-US" sz="30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无条件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终止当前的循环，跳回到本次循环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语句开始处，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 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始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下次循环。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next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[label]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 </a:t>
            </a:r>
            <a:endParaRPr kumimoji="0" lang="zh-CN" altLang="en-US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无条件终止当前的循环，跳转到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lable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指定标号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LOOP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语句开</a:t>
            </a:r>
            <a:endParaRPr kumimoji="0" lang="en-US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始处，重新开始执行循环操作。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next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[label] [when  condition]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kumimoji="0" lang="zh-CN" altLang="en-US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conditon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的值为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true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时，则执行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next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语句，进入跳转操作，</a:t>
            </a:r>
            <a:endParaRPr kumimoji="0" lang="en-US" altLang="zh-CN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否则继续向下执行。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35560" y="1340168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描述的例子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Loop_Z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 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count_value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 to 8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Assign_1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 A(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count_value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:= '0';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  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next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condition_1;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Assign_2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 A(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count_value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+ 8) := '0';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 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Loop_Z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1793" name="文本占位符 667650"/>
          <p:cNvSpPr>
            <a:spLocks noGrp="1"/>
          </p:cNvSpPr>
          <p:nvPr>
            <p:ph idx="1"/>
          </p:nvPr>
        </p:nvSpPr>
        <p:spPr>
          <a:xfrm>
            <a:off x="77470" y="764540"/>
            <a:ext cx="8988425" cy="5661025"/>
          </a:xfrm>
        </p:spPr>
        <p:txBody>
          <a:bodyPr vert="horz" wrap="square" lIns="91440" tIns="45720" rIns="91440" bIns="45720" anchor="t" anchorCtr="0"/>
          <a:p>
            <a:pPr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5-14</a:t>
            </a:r>
            <a:r>
              <a:rPr lang="zh-CN" altLang="en-US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位数据总线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中“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的个数。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PROCESS(DATA)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I IN 0 TO 7 LOOP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IF DATA(I)=’0’ THEN </a:t>
            </a:r>
            <a:endParaRPr lang="en-US" alt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NEXT;   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跳出本次循环，进行下一数据位判断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ELSE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M&lt;=M+1;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如数据总线本位信号为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’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1’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，则计数器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END IF;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LOOP;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PROCESS;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1794" name="标题 662532"/>
          <p:cNvSpPr>
            <a:spLocks noGrp="1"/>
          </p:cNvSpPr>
          <p:nvPr>
            <p:ph type="title"/>
          </p:nvPr>
        </p:nvSpPr>
        <p:spPr>
          <a:xfrm>
            <a:off x="611505" y="0"/>
            <a:ext cx="8229600" cy="711200"/>
          </a:xfrm>
          <a:noFill/>
          <a:ln>
            <a:noFill/>
          </a:ln>
        </p:spPr>
        <p:txBody>
          <a:bodyPr anchor="t" anchorCtr="0"/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语句来表示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when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2817" name="文本占位符 668674"/>
          <p:cNvSpPr>
            <a:spLocks noGrp="1"/>
          </p:cNvSpPr>
          <p:nvPr>
            <p:ph idx="1"/>
          </p:nvPr>
        </p:nvSpPr>
        <p:spPr>
          <a:xfrm>
            <a:off x="182880" y="621030"/>
            <a:ext cx="8717915" cy="5939155"/>
          </a:xfrm>
        </p:spPr>
        <p:txBody>
          <a:bodyPr vert="horz" wrap="square" lIns="91440" tIns="45720" rIns="91440" bIns="45720" anchor="t" anchorCtr="0"/>
          <a:p>
            <a:pPr>
              <a:lnSpc>
                <a:spcPct val="140000"/>
              </a:lnSpc>
              <a:buFont typeface="Wingdings" panose="05000000000000000000" pitchFamily="2" charset="2"/>
              <a:buChar char="Ø"/>
            </a:pPr>
            <a:r>
              <a:rPr lang="zh-CN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5-15</a:t>
            </a:r>
            <a:r>
              <a:rPr lang="zh-CN" altLang="en-US" sz="2400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位数据总线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DATA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中“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的个数。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PROCESS(DATA)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I IN 0 TO 7 LOOP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NEXT  WHEN  DATA(I)=’0’;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则跳出本次循环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r">
              <a:lnSpc>
                <a:spcPct val="14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M&lt;=M+1;         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如数据总线本位信号为‘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1’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则计数器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LOOP;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PROCESS;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63841" name="内容占位符 808963"/>
          <p:cNvGraphicFramePr>
            <a:graphicFrameLocks noGrp="1"/>
          </p:cNvGraphicFramePr>
          <p:nvPr>
            <p:ph idx="1"/>
          </p:nvPr>
        </p:nvGraphicFramePr>
        <p:xfrm>
          <a:off x="173038" y="1370013"/>
          <a:ext cx="7920037" cy="2297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3432175" imgH="1009650" progId="Word.Document.8">
                  <p:embed/>
                </p:oleObj>
              </mc:Choice>
              <mc:Fallback>
                <p:oleObj name="" r:id="rId1" imgW="3432175" imgH="1009650" progId="Word.Document.8">
                  <p:embed/>
                  <p:pic>
                    <p:nvPicPr>
                      <p:cNvPr id="0" name="图片 3081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73038" y="1370013"/>
                        <a:ext cx="7920037" cy="2297112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3842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550" y="3500755"/>
            <a:ext cx="6799263" cy="1851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3843" name="标题 662532"/>
          <p:cNvSpPr>
            <a:spLocks noGrp="1"/>
          </p:cNvSpPr>
          <p:nvPr>
            <p:ph type="title"/>
          </p:nvPr>
        </p:nvSpPr>
        <p:spPr>
          <a:xfrm>
            <a:off x="333375" y="358775"/>
            <a:ext cx="8229600" cy="711200"/>
          </a:xfrm>
          <a:noFill/>
          <a:ln>
            <a:noFill/>
          </a:ln>
        </p:spPr>
        <p:txBody>
          <a:bodyPr anchor="t" anchorCtr="0"/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无限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LOOP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EXIT/next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语句搭配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64865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038" y="1514475"/>
            <a:ext cx="6791325" cy="4381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5889" name="标题 662532"/>
          <p:cNvSpPr>
            <a:spLocks noGrp="1"/>
          </p:cNvSpPr>
          <p:nvPr>
            <p:ph type="title"/>
          </p:nvPr>
        </p:nvSpPr>
        <p:spPr>
          <a:xfrm>
            <a:off x="223838" y="373063"/>
            <a:ext cx="8229600" cy="711200"/>
          </a:xfrm>
          <a:noFill/>
          <a:ln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while LOOP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EXIT/next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语句搭配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65890" name="标题 813057"/>
          <p:cNvGraphicFramePr>
            <a:graphicFrameLocks noGrp="1"/>
          </p:cNvGraphicFramePr>
          <p:nvPr/>
        </p:nvGraphicFramePr>
        <p:xfrm>
          <a:off x="514350" y="1192213"/>
          <a:ext cx="8115300" cy="5154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3" name="" r:id="rId1" imgW="3432175" imgH="2185035" progId="Word.Document.8">
                  <p:embed/>
                </p:oleObj>
              </mc:Choice>
              <mc:Fallback>
                <p:oleObj name="" r:id="rId1" imgW="3432175" imgH="2185035" progId="Word.Document.8">
                  <p:embed/>
                  <p:pic>
                    <p:nvPicPr>
                      <p:cNvPr id="0" name="图片 308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4350" y="1192213"/>
                        <a:ext cx="8115300" cy="5154612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66913" name="标题 814081"/>
          <p:cNvGraphicFramePr>
            <a:graphicFrameLocks noGrp="1"/>
          </p:cNvGraphicFramePr>
          <p:nvPr>
            <p:ph type="title"/>
          </p:nvPr>
        </p:nvGraphicFramePr>
        <p:xfrm>
          <a:off x="514350" y="619125"/>
          <a:ext cx="8115300" cy="561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4" name="" r:id="rId1" imgW="3432175" imgH="2386965" progId="Word.Document.8">
                  <p:embed/>
                </p:oleObj>
              </mc:Choice>
              <mc:Fallback>
                <p:oleObj name="" r:id="rId1" imgW="3432175" imgH="2386965" progId="Word.Document.8">
                  <p:embed/>
                  <p:pic>
                    <p:nvPicPr>
                      <p:cNvPr id="0" name="图片 3083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14350" y="619125"/>
                        <a:ext cx="8115300" cy="56197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7937" name="标题 662532"/>
          <p:cNvSpPr>
            <a:spLocks noGrp="1"/>
          </p:cNvSpPr>
          <p:nvPr>
            <p:ph type="title"/>
          </p:nvPr>
        </p:nvSpPr>
        <p:spPr>
          <a:xfrm>
            <a:off x="106998" y="620713"/>
            <a:ext cx="8229600" cy="711200"/>
          </a:xfrm>
          <a:noFill/>
          <a:ln>
            <a:noFill/>
          </a:ln>
        </p:spPr>
        <p:txBody>
          <a:bodyPr anchor="t" anchorCtr="0"/>
          <a:p>
            <a:pPr>
              <a:buFont typeface="Wingdings" panose="05000000000000000000" pitchFamily="2" charset="2"/>
              <a:buChar char="Ø"/>
            </a:pP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 LOOP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宋体" panose="02010600030101010101" pitchFamily="2" charset="-122"/>
              </a:rPr>
              <a:t>EXIT/next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语句搭配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7938" name="文本框 99"/>
          <p:cNvSpPr txBox="1"/>
          <p:nvPr/>
        </p:nvSpPr>
        <p:spPr>
          <a:xfrm>
            <a:off x="288925" y="1501775"/>
            <a:ext cx="8567738" cy="41544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entity MY_AND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port (A, B: in STD_LOGIC_VECTOR(7 downto 0);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	    Y:  out STD_LOGIC_VECTOR(7 downto 0));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entity;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architecture RTL of MY_AND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signal F:  STD_LOGIC_VECTOR (7 downto 0);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process (A, B)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variable X: INTEGER;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8961" name="文本框 2"/>
          <p:cNvSpPr txBox="1"/>
          <p:nvPr/>
        </p:nvSpPr>
        <p:spPr>
          <a:xfrm>
            <a:off x="471488" y="1681163"/>
            <a:ext cx="8793162" cy="37846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Lp3:  for  X  in  0 to 7 loop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    F(X)&lt;= A(X) and B(7-X);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if (X/2=0) then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   next Lp3;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  end if;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loop Lp3;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  	Y&lt;= F;   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process;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pPr indent="269875"/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</a:rPr>
              <a:t>end RTL;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9985" name="文本占位符 374786"/>
          <p:cNvSpPr>
            <a:spLocks noGrp="1"/>
          </p:cNvSpPr>
          <p:nvPr>
            <p:ph idx="1"/>
          </p:nvPr>
        </p:nvSpPr>
        <p:spPr>
          <a:xfrm>
            <a:off x="683260" y="1124585"/>
            <a:ext cx="7772400" cy="2016125"/>
          </a:xfrm>
        </p:spPr>
        <p:txBody>
          <a:bodyPr anchor="t" anchorCtr="0"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顺序赋值语句主要用在进程和子程序中，包括</a:t>
            </a: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信号赋值和变量赋值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49" charset="-122"/>
              </a:rPr>
              <a:t>两种，在进程中顺序执行。</a:t>
            </a:r>
            <a:endParaRPr lang="zh-CN" altLang="en-US" sz="2800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  <p:sp>
        <p:nvSpPr>
          <p:cNvPr id="169986" name="标题 374787"/>
          <p:cNvSpPr>
            <a:spLocks noGrp="1"/>
          </p:cNvSpPr>
          <p:nvPr>
            <p:ph type="title"/>
          </p:nvPr>
        </p:nvSpPr>
        <p:spPr>
          <a:xfrm>
            <a:off x="75565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5.1.6 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赋值语句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4789" name="矩形 374788"/>
          <p:cNvSpPr/>
          <p:nvPr/>
        </p:nvSpPr>
        <p:spPr>
          <a:xfrm>
            <a:off x="899795" y="2780665"/>
            <a:ext cx="7632700" cy="26574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信号在实体、结构体中定义，可作为结构体内多个进程的连接信号。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  <a:p>
            <a:pPr>
              <a:lnSpc>
                <a:spcPct val="150000"/>
              </a:lnSpc>
              <a:buClr>
                <a:srgbClr val="0000CC"/>
              </a:buClr>
              <a:buFont typeface="Wingdings" panose="05000000000000000000" pitchFamily="2" charset="2"/>
              <a:buChar char="p"/>
            </a:pPr>
            <a:r>
              <a:rPr lang="zh-CN" altLang="en-US" sz="2800" b="1" dirty="0">
                <a:latin typeface="Times New Roman" panose="02020603050405020304" pitchFamily="18" charset="0"/>
                <a:ea typeface="楷体_GB2312" pitchFamily="49" charset="-122"/>
              </a:rPr>
              <a:t>变量只能在进程或子程序内定义，只在该进程或子程序中使用。</a:t>
            </a:r>
            <a:endParaRPr lang="zh-CN" altLang="en-US" sz="2800" b="1" dirty="0"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500"/>
                                        <p:tgtEl>
                                          <p:spTgt spid="374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4789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1009" name="文本占位符 643073"/>
          <p:cNvSpPr>
            <a:spLocks noGrp="1"/>
          </p:cNvSpPr>
          <p:nvPr>
            <p:ph idx="1"/>
          </p:nvPr>
        </p:nvSpPr>
        <p:spPr>
          <a:xfrm>
            <a:off x="539750" y="764223"/>
            <a:ext cx="7772400" cy="5327650"/>
          </a:xfrm>
        </p:spPr>
        <p:txBody>
          <a:bodyPr anchor="t" anchorCtr="0"/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语句格式：</a:t>
            </a:r>
            <a:endParaRPr lang="zh-CN" altLang="en-US" sz="2400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变量赋值目标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:=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赋值源；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ct val="13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信号赋值目标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赋值源；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比较：</a:t>
            </a:r>
            <a:endParaRPr lang="zh-CN" altLang="en-US" sz="2400" b="1" dirty="0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）信号赋值有一定的</a:t>
            </a: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延时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，在时序电路中，在时钟信号触发下的信号赋值，目标信号要比源信号延迟一个时钟周期；变量赋值语句</a:t>
            </a:r>
            <a:r>
              <a:rPr lang="zh-CN" altLang="en-US" sz="2400" b="1" dirty="0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立即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执行，没有延时。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）进程中同一变量多次赋值时按顺序立即执行，而信号多次赋值时，只有进程结束前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最后一个赋值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被执行。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2033" name="文本占位符 643073"/>
          <p:cNvSpPr>
            <a:spLocks noGrp="1"/>
          </p:cNvSpPr>
          <p:nvPr>
            <p:ph idx="1"/>
          </p:nvPr>
        </p:nvSpPr>
        <p:spPr>
          <a:xfrm>
            <a:off x="533400" y="1125538"/>
            <a:ext cx="7772400" cy="5327650"/>
          </a:xfrm>
        </p:spPr>
        <p:txBody>
          <a:bodyPr anchor="t" anchorCtr="0"/>
          <a:p>
            <a:pPr>
              <a:lnSpc>
                <a:spcPct val="130000"/>
              </a:lnSpc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（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）如果信号在多个进程中被赋值，这些驱动器的结果将会被连接在一起，而形成多驱动的情况。有一些综合器在遇到这种情况时将会报错。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中给出了一种判决函数，用于解决这种问题。</a:t>
            </a:r>
            <a:b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所有在“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CLK'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event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and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CLK='1' 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then …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或“</a:t>
            </a:r>
            <a:r>
              <a:rPr lang="en-US" altLang="zh-CN" sz="2400" b="1" i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rising_ edge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(CLK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en-US" altLang="zh-CN" sz="2400" b="1" i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then…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后描述的信号代入语句，在综合后都会生成一个寄存器。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3057" name="文本占位符 645121"/>
          <p:cNvSpPr>
            <a:spLocks noGrp="1"/>
          </p:cNvSpPr>
          <p:nvPr>
            <p:ph idx="1"/>
          </p:nvPr>
        </p:nvSpPr>
        <p:spPr>
          <a:xfrm>
            <a:off x="466725" y="1270000"/>
            <a:ext cx="4392613" cy="574675"/>
          </a:xfrm>
        </p:spPr>
        <p:txBody>
          <a:bodyPr anchor="t" anchorCtr="0"/>
          <a:p>
            <a:pPr>
              <a:lnSpc>
                <a:spcPct val="90000"/>
              </a:lnSpc>
              <a:buNone/>
            </a:pPr>
            <a:r>
              <a:rPr lang="zh-CN" altLang="en-US" sz="2000" dirty="0">
                <a:latin typeface="Times New Roman" panose="02020603050405020304" pitchFamily="18" charset="0"/>
              </a:rPr>
              <a:t>例</a:t>
            </a:r>
            <a:r>
              <a:rPr lang="en-US" altLang="zh-CN" sz="2000">
                <a:latin typeface="Times New Roman" panose="02020603050405020304" pitchFamily="18" charset="0"/>
              </a:rPr>
              <a:t>5-3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err="1">
                <a:latin typeface="Times New Roman" panose="02020603050405020304" pitchFamily="18" charset="0"/>
              </a:rPr>
              <a:t>architecture Behavioral of fuzhi</a:t>
            </a:r>
            <a:r>
              <a:rPr lang="en-US" altLang="zh-CN" sz="2000">
                <a:latin typeface="Times New Roman" panose="02020603050405020304" pitchFamily="18" charset="0"/>
              </a:rPr>
              <a:t> is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err="1">
                <a:latin typeface="Times New Roman" panose="02020603050405020304" pitchFamily="18" charset="0"/>
              </a:rPr>
              <a:t>signal d1: std_logic</a:t>
            </a:r>
            <a:r>
              <a:rPr lang="en-US" altLang="zh-CN" sz="2000">
                <a:latin typeface="Times New Roman" panose="02020603050405020304" pitchFamily="18" charset="0"/>
              </a:rPr>
              <a:t>;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begin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err="1">
                <a:latin typeface="Times New Roman" panose="02020603050405020304" pitchFamily="18" charset="0"/>
              </a:rPr>
              <a:t>process(clk,rst</a:t>
            </a:r>
            <a:r>
              <a:rPr lang="en-US" altLang="zh-CN" sz="2000">
                <a:latin typeface="Times New Roman" panose="02020603050405020304" pitchFamily="18" charset="0"/>
              </a:rPr>
              <a:t>)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begin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err="1">
                <a:latin typeface="Times New Roman" panose="02020603050405020304" pitchFamily="18" charset="0"/>
              </a:rPr>
              <a:t>     if  rst</a:t>
            </a:r>
            <a:r>
              <a:rPr lang="en-US" altLang="zh-CN" sz="2000">
                <a:latin typeface="Times New Roman" panose="02020603050405020304" pitchFamily="18" charset="0"/>
              </a:rPr>
              <a:t>='0' then 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	     d1&lt;='0';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		  q&lt;='0';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 err="1">
                <a:latin typeface="Times New Roman" panose="02020603050405020304" pitchFamily="18" charset="0"/>
              </a:rPr>
              <a:t>	  elsif  clk'event and clk</a:t>
            </a:r>
            <a:r>
              <a:rPr lang="en-US" altLang="zh-CN" sz="2000">
                <a:latin typeface="Times New Roman" panose="02020603050405020304" pitchFamily="18" charset="0"/>
              </a:rPr>
              <a:t>='1' then 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	       d1&lt;=d;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		   q&lt;=d1;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	  end if;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end process;	 </a:t>
            </a:r>
            <a:endParaRPr lang="en-US" altLang="zh-CN" sz="200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CN" sz="2000">
                <a:latin typeface="Times New Roman" panose="02020603050405020304" pitchFamily="18" charset="0"/>
              </a:rPr>
              <a:t>end Behavioral;</a:t>
            </a:r>
            <a:endParaRPr lang="en-US" altLang="zh-CN" sz="2000">
              <a:latin typeface="Times New Roman" panose="02020603050405020304" pitchFamily="18" charset="0"/>
            </a:endParaRPr>
          </a:p>
        </p:txBody>
      </p:sp>
      <p:sp>
        <p:nvSpPr>
          <p:cNvPr id="173058" name="矩形 645123"/>
          <p:cNvSpPr/>
          <p:nvPr/>
        </p:nvSpPr>
        <p:spPr>
          <a:xfrm>
            <a:off x="4741863" y="1244600"/>
            <a:ext cx="4438650" cy="51371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5-4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 err="1">
                <a:latin typeface="Times New Roman" panose="02020603050405020304" pitchFamily="18" charset="0"/>
                <a:ea typeface="宋体" panose="02010600030101010101" pitchFamily="2" charset="-122"/>
              </a:rPr>
              <a:t>architecture Behavioral of fuzhi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 is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 err="1">
                <a:latin typeface="Times New Roman" panose="02020603050405020304" pitchFamily="18" charset="0"/>
                <a:ea typeface="宋体" panose="02010600030101010101" pitchFamily="2" charset="-122"/>
              </a:rPr>
              <a:t>process(clk,rst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)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 err="1">
                <a:latin typeface="Times New Roman" panose="02020603050405020304" pitchFamily="18" charset="0"/>
                <a:ea typeface="宋体" panose="02010600030101010101" pitchFamily="2" charset="-122"/>
              </a:rPr>
              <a:t>variable d1: std_logic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;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begin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 err="1">
                <a:latin typeface="Times New Roman" panose="02020603050405020304" pitchFamily="18" charset="0"/>
                <a:ea typeface="宋体" panose="02010600030101010101" pitchFamily="2" charset="-122"/>
              </a:rPr>
              <a:t>     if  rst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='0' then 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	        d1:='0';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			q&lt;='0';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 err="1">
                <a:latin typeface="Times New Roman" panose="02020603050405020304" pitchFamily="18" charset="0"/>
                <a:ea typeface="宋体" panose="02010600030101010101" pitchFamily="2" charset="-122"/>
              </a:rPr>
              <a:t>	  elsif  clk'event and clk</a:t>
            </a: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='1' then 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	         d1:=d;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			q&lt;=d1;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	  end if;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end process;	 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469900" indent="-469900">
              <a:lnSpc>
                <a:spcPct val="90000"/>
              </a:lnSpc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en-US" altLang="zh-CN" sz="2000" b="1">
                <a:latin typeface="Times New Roman" panose="02020603050405020304" pitchFamily="18" charset="0"/>
                <a:ea typeface="宋体" panose="02010600030101010101" pitchFamily="2" charset="-122"/>
              </a:rPr>
              <a:t>end Behavioral;</a:t>
            </a:r>
            <a:endParaRPr lang="en-US" altLang="zh-CN" sz="2000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3059" name="标题 377859"/>
          <p:cNvSpPr>
            <a:spLocks noGrp="1"/>
          </p:cNvSpPr>
          <p:nvPr>
            <p:ph type="title"/>
          </p:nvPr>
        </p:nvSpPr>
        <p:spPr>
          <a:xfrm>
            <a:off x="395605" y="404178"/>
            <a:ext cx="8229600" cy="566737"/>
          </a:xfrm>
          <a:noFill/>
          <a:ln>
            <a:noFill/>
          </a:ln>
        </p:spPr>
        <p:txBody>
          <a:bodyPr anchor="t" anchorCtr="0"/>
          <a:p>
            <a:pPr indent="0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0000CC"/>
                </a:solidFill>
                <a:latin typeface="Times New Roman" panose="02020603050405020304" pitchFamily="18" charset="0"/>
                <a:ea typeface="楷体_GB2312" pitchFamily="49" charset="-122"/>
              </a:rPr>
              <a:t>仿真结果对比</a:t>
            </a:r>
            <a:endParaRPr lang="zh-CN" altLang="en-US" sz="2800" dirty="0">
              <a:solidFill>
                <a:srgbClr val="0000CC"/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4081" name="图片 6502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9250" y="1341438"/>
            <a:ext cx="5973763" cy="14954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082" name="图片 65024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450" y="3644900"/>
            <a:ext cx="6405563" cy="20288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4083" name="矩形 650246"/>
          <p:cNvSpPr/>
          <p:nvPr/>
        </p:nvSpPr>
        <p:spPr>
          <a:xfrm>
            <a:off x="0" y="1508125"/>
            <a:ext cx="9144000" cy="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4084" name="矩形 650247"/>
          <p:cNvSpPr/>
          <p:nvPr/>
        </p:nvSpPr>
        <p:spPr>
          <a:xfrm>
            <a:off x="3563620" y="3104515"/>
            <a:ext cx="1821180" cy="3371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r>
              <a:rPr lang="zh-CN" sz="16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1600" b="1" dirty="0">
                <a:latin typeface="楷体_GB2312" pitchFamily="49" charset="-122"/>
                <a:ea typeface="楷体_GB2312" pitchFamily="49" charset="-122"/>
              </a:rPr>
              <a:t>5-3 </a:t>
            </a:r>
            <a:r>
              <a:rPr lang="zh-CN" altLang="en-US" sz="1600" b="1" dirty="0">
                <a:latin typeface="楷体_GB2312" pitchFamily="49" charset="-122"/>
                <a:ea typeface="楷体_GB2312" pitchFamily="49" charset="-122"/>
              </a:rPr>
              <a:t>波形仿真图</a:t>
            </a:r>
            <a:endParaRPr lang="zh-CN" altLang="en-US" sz="1600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74085" name="矩形 650248"/>
          <p:cNvSpPr/>
          <p:nvPr/>
        </p:nvSpPr>
        <p:spPr>
          <a:xfrm>
            <a:off x="3710782" y="5876608"/>
            <a:ext cx="1720850" cy="337185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sz="1600" b="1" dirty="0">
                <a:latin typeface="楷体_GB2312" pitchFamily="49" charset="-122"/>
                <a:ea typeface="楷体_GB2312" pitchFamily="49" charset="-122"/>
              </a:rPr>
              <a:t>例</a:t>
            </a:r>
            <a:r>
              <a:rPr lang="en-US" altLang="zh-CN" sz="1600" b="1" dirty="0">
                <a:latin typeface="楷体_GB2312" pitchFamily="49" charset="-122"/>
                <a:ea typeface="楷体_GB2312" pitchFamily="49" charset="-122"/>
              </a:rPr>
              <a:t>5-3 RTL</a:t>
            </a:r>
            <a:r>
              <a:rPr lang="zh-CN" altLang="en-US" sz="1600" b="1" dirty="0">
                <a:latin typeface="楷体_GB2312" pitchFamily="49" charset="-122"/>
                <a:ea typeface="楷体_GB2312" pitchFamily="49" charset="-122"/>
              </a:rPr>
              <a:t>原理图</a:t>
            </a:r>
            <a:endParaRPr lang="zh-CN" altLang="en-US" sz="1600" b="1" dirty="0"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5105" name="图片 649220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331913" y="1484313"/>
            <a:ext cx="5324475" cy="15240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5106" name="图片 64922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31913" y="4076700"/>
            <a:ext cx="5324475" cy="16573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5107" name="矩形 649222"/>
          <p:cNvSpPr/>
          <p:nvPr>
            <p:custDataLst>
              <p:tags r:id="rId5"/>
            </p:custDataLst>
          </p:nvPr>
        </p:nvSpPr>
        <p:spPr>
          <a:xfrm>
            <a:off x="3512979" y="3229611"/>
            <a:ext cx="211645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5-4 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波形仿真图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75108" name="矩形 649223"/>
          <p:cNvSpPr/>
          <p:nvPr>
            <p:custDataLst>
              <p:tags r:id="rId6"/>
            </p:custDataLst>
          </p:nvPr>
        </p:nvSpPr>
        <p:spPr>
          <a:xfrm>
            <a:off x="3591084" y="5906136"/>
            <a:ext cx="211899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ctr" anchorCtr="0">
            <a:spAutoFit/>
          </a:bodyPr>
          <a:p>
            <a:pPr algn="ctr"/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例</a:t>
            </a:r>
            <a:r>
              <a:rPr lang="en-US" altLang="zh-CN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5-4 RTL</a:t>
            </a:r>
            <a:r>
              <a:rPr lang="zh-CN" altLang="en-US" sz="2000" b="1" dirty="0">
                <a:latin typeface="Times New Roman" panose="02020603050405020304" pitchFamily="18" charset="0"/>
                <a:ea typeface="宋体" panose="02010600030101010101" pitchFamily="2" charset="-122"/>
              </a:rPr>
              <a:t>原理图</a:t>
            </a:r>
            <a:endParaRPr lang="zh-CN" altLang="en-US" sz="2000" b="1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6129" name="标题 746497"/>
          <p:cNvGraphicFramePr>
            <a:graphicFrameLocks noGrp="1"/>
          </p:cNvGraphicFramePr>
          <p:nvPr>
            <p:ph type="title"/>
          </p:nvPr>
        </p:nvGraphicFramePr>
        <p:xfrm>
          <a:off x="-87312" y="514350"/>
          <a:ext cx="9318625" cy="566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1" imgW="3448050" imgH="2057400" progId="Word.Document.8">
                  <p:embed/>
                </p:oleObj>
              </mc:Choice>
              <mc:Fallback>
                <p:oleObj name="" r:id="rId1" imgW="3448050" imgH="2057400" progId="Word.Document.8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87312" y="514350"/>
                        <a:ext cx="9318625" cy="56642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7153" name="图片 747523" descr="3-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3175" y="1579563"/>
            <a:ext cx="6234113" cy="36988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78177" name="标题 748545"/>
          <p:cNvGraphicFramePr>
            <a:graphicFrameLocks noGrp="1"/>
          </p:cNvGraphicFramePr>
          <p:nvPr>
            <p:ph type="title"/>
          </p:nvPr>
        </p:nvGraphicFramePr>
        <p:xfrm>
          <a:off x="-87312" y="533400"/>
          <a:ext cx="9318625" cy="6040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5" name="" r:id="rId1" imgW="3448050" imgH="2190750" progId="Word.Document.8">
                  <p:embed/>
                </p:oleObj>
              </mc:Choice>
              <mc:Fallback>
                <p:oleObj name="" r:id="rId1" imgW="3448050" imgH="2190750" progId="Word.Document.8">
                  <p:embed/>
                  <p:pic>
                    <p:nvPicPr>
                      <p:cNvPr id="0" name="图片 308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-87312" y="533400"/>
                        <a:ext cx="9318625" cy="60404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9201" name="图片 749571" descr="3-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451100"/>
            <a:ext cx="6234113" cy="19542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>
    <p:random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2273" name="标题 775169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5.1.7 WAIT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2274" name="文本占位符 775170"/>
          <p:cNvSpPr>
            <a:spLocks noGrp="1"/>
          </p:cNvSpPr>
          <p:nvPr>
            <p:ph idx="1"/>
          </p:nvPr>
        </p:nvSpPr>
        <p:spPr>
          <a:xfrm>
            <a:off x="354330" y="1196975"/>
            <a:ext cx="8332470" cy="5551170"/>
          </a:xfrm>
        </p:spPr>
        <p:txBody>
          <a:bodyPr vert="horz" wrap="square" lIns="91440" tIns="45720" rIns="91440" bIns="45720" anchor="t" anchorCtr="0"/>
          <a:p>
            <a:pP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PROCEEE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进程总是处于两种状态：执行和挂起。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语句一般在进程中用于触发进程，碰到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挂起，并等待条件满足时再次执行。其作用等同于进程的敏感信号列表，但两者不能同时使用。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语句使用格式有以下几种：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WAIT;        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表示永远挂起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ON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敏感信号表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等待敏感信号的变化启动进程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UNTIL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条件表达式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等待条件表达式中含的信号变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化并且满足其要求时启动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FOR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时间表达式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该时间段内挂起，超过时间段进程恢复执行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3297" name="标题 737281"/>
          <p:cNvSpPr>
            <a:spLocks noGrp="1"/>
          </p:cNvSpPr>
          <p:nvPr/>
        </p:nvSpPr>
        <p:spPr>
          <a:xfrm>
            <a:off x="376238" y="1549400"/>
            <a:ext cx="8115300" cy="29432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1)  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on</a:t>
            </a:r>
            <a:b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on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语句的语法结构为：</a:t>
            </a:r>
            <a:br>
              <a:rPr lang="zh-CN" altLang="en-US" sz="2400" i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i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on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敏感信号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[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，敏感信号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]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b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当进程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(Process)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中的顺序描述语句执行到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on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语句时将会挂起，直到敏感信号中的任一信号发生变化，进程将结束挂起，继续执行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on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后的语句。 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35560" y="1340168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on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描述的例子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zh-CN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signal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S1, S2 :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Std_Logic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 . .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 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 . .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S1, S2;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6369" name="标题 738305"/>
          <p:cNvSpPr>
            <a:spLocks noGrp="1"/>
          </p:cNvSpPr>
          <p:nvPr/>
        </p:nvSpPr>
        <p:spPr>
          <a:xfrm>
            <a:off x="336550" y="1219200"/>
            <a:ext cx="8115300" cy="449262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2)  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until</a:t>
            </a:r>
            <a:b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until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语句的语法结构为：</a:t>
            </a:r>
            <a:br>
              <a:rPr lang="zh-CN" altLang="en-US" sz="2400" i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i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until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条件表达式；</a:t>
            </a:r>
            <a:b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语法结构中，条件表达式的结果为布尔量，表达式满足条件时，返回“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true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；不满足时，返回“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false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。进程在运行到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until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语句时将会挂起，当表达式中任何一个信号发生变化时，表达式的结果会被重新计算。如果计算结果为“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true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，则继续执行后续语句；如果计算结果为“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false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”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，则保持挂起状态。 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0" y="1700213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下面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的描述语句可实现相同的硬件电路结构，即：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until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‘1’;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until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rising_edge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until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clk’event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= ‘1’;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until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not(</a:t>
            </a:r>
            <a:r>
              <a:rPr kumimoji="0" lang="en-US" altLang="zh-CN" sz="2400" b="1" i="0" u="none" strike="noStrike" kern="1200" cap="none" spc="0" normalizeH="0" baseline="0" noProof="1" dirty="0" err="1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clk’stable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=‘1’;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0" y="1124268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until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描述的例子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architecture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rtl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d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until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clk'event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clk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='1';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 &lt;= d;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rtl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 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1489" name="文本占位符 776194"/>
          <p:cNvSpPr>
            <a:spLocks noGrp="1"/>
          </p:cNvSpPr>
          <p:nvPr>
            <p:ph idx="1"/>
          </p:nvPr>
        </p:nvSpPr>
        <p:spPr>
          <a:xfrm>
            <a:off x="251460" y="404495"/>
            <a:ext cx="8733155" cy="6201410"/>
          </a:xfrm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【例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5-17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】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位二进制计数器的设计。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architecture Behavioral of cnt4 is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          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无敏感信号列表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wait until clk'event and clk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='1' ;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时钟上升沿启动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if  rst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='0' then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    outp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&lt;="0000";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    else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   outp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&lt;=outp+1;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	 end if;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process;	     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 Behavioral;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2513" name="标题 739329"/>
          <p:cNvSpPr>
            <a:spLocks noGrp="1"/>
          </p:cNvSpPr>
          <p:nvPr/>
        </p:nvSpPr>
        <p:spPr>
          <a:xfrm>
            <a:off x="514350" y="609600"/>
            <a:ext cx="8115300" cy="56388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130000"/>
              </a:lnSpc>
            </a:pP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3)  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for</a:t>
            </a:r>
            <a:b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for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语句表示等待固定的时间，它的语法结构为：</a:t>
            </a:r>
            <a:br>
              <a:rPr lang="zh-CN" altLang="en-US" sz="2400" i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i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　　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for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时间表达式；</a:t>
            </a:r>
            <a:b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时间表达式的含义是，表达式的运算结果为一个时间值。如果时间表达式是一个常量，则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for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语句将等待固定的时间；如果时间表达式是一个计算式，那么计算的结果应该是一个时间值。进程执行到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wait  for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语句时将挂起，等待时间表达式所指示的时间长度，然后继续执行后续语句。</a:t>
            </a:r>
            <a:b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</a:t>
            </a:r>
            <a:r>
              <a:rPr lang="en-US" altLang="zh-CN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4)  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br>
              <a:rPr lang="en-US" altLang="zh-CN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单独地使用</a:t>
            </a:r>
            <a:r>
              <a:rPr lang="en-US" altLang="zh-CN" sz="2400" i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语句表示无限等待。 </a:t>
            </a:r>
            <a:endParaRPr lang="zh-CN" altLang="en-US" sz="2400" dirty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2700" y="908685"/>
            <a:ext cx="9131300" cy="515778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 for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VHDL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描述的例子</a:t>
            </a:r>
            <a:r>
              <a:rPr kumimoji="0" lang="zh-CN" altLang="en-US" sz="24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kumimoji="0" lang="en-US" altLang="zh-CN" sz="2400" b="1" i="0" u="none" strike="noStrike" kern="1200" cap="none" spc="0" normalizeH="0" baseline="0" noProof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STIMULUS: process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begin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EN_1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 '0';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EN_2&lt;= '1';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for 10 ns;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EN_1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 '1';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EN_2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 '0';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ns;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EN_1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&lt;= '0';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for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 ns;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wait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-- end of test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45720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process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STIMULUS;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24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5585" name="标题 671745"/>
          <p:cNvSpPr>
            <a:spLocks noGrp="1"/>
          </p:cNvSpPr>
          <p:nvPr>
            <p:ph type="title"/>
          </p:nvPr>
        </p:nvSpPr>
        <p:spPr>
          <a:xfrm>
            <a:off x="457200" y="414338"/>
            <a:ext cx="8229600" cy="1143000"/>
          </a:xfrm>
          <a:noFill/>
          <a:ln>
            <a:noFill/>
          </a:ln>
        </p:spPr>
        <p:txBody>
          <a:bodyPr anchor="t" anchorCtr="0"/>
          <a:p>
            <a:pPr algn="l"/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5.1.8 NULL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5586" name="文本框 671749"/>
          <p:cNvSpPr txBox="1"/>
          <p:nvPr/>
        </p:nvSpPr>
        <p:spPr>
          <a:xfrm>
            <a:off x="684213" y="1125538"/>
            <a:ext cx="7920037" cy="1273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35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空操作语句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     功能是使运行流程继续，进入下一条语句的执行。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5587" name="文本框 671750"/>
          <p:cNvSpPr txBox="1"/>
          <p:nvPr/>
        </p:nvSpPr>
        <p:spPr>
          <a:xfrm>
            <a:off x="88900" y="2398713"/>
            <a:ext cx="9109075" cy="391350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35000"/>
              </a:lnSpc>
              <a:spcBef>
                <a:spcPct val="50000"/>
              </a:spcBef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CASE</a:t>
            </a:r>
            <a:r>
              <a:rPr lang="zh-CN" altLang="en-US" sz="24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语句中使用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，用于排除一些不用的条件。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Signal inp:std_logic_vector(0 to 1);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…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case inp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 is 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                   when "00" =&gt; outp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&lt;="0001";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		when "01" =&gt; outp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&lt;="0010";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		when "10" =&gt; outp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&lt;="0100";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		when "11" =&gt; outp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&lt;="1000";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</a:rPr>
              <a:t>		when others =&gt; null;       --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排除</a:t>
            </a:r>
            <a:r>
              <a:rPr lang="en-US" altLang="zh-CN" sz="2400" b="1" err="1">
                <a:latin typeface="微软雅黑" panose="020B0503020204020204" charset="-122"/>
                <a:ea typeface="微软雅黑" panose="020B0503020204020204" charset="-122"/>
              </a:rPr>
              <a:t>inp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其他取值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sz="2400" b="1">
                <a:latin typeface="微软雅黑" panose="020B0503020204020204" charset="-122"/>
                <a:ea typeface="微软雅黑" panose="020B0503020204020204" charset="-122"/>
              </a:rPr>
              <a:t>end case;</a:t>
            </a:r>
            <a:endParaRPr lang="en-US" altLang="zh-CN" sz="2400" b="1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6609" name="Rectangle 3"/>
          <p:cNvSpPr>
            <a:spLocks noGrp="1"/>
          </p:cNvSpPr>
          <p:nvPr/>
        </p:nvSpPr>
        <p:spPr>
          <a:xfrm>
            <a:off x="12700" y="1181100"/>
            <a:ext cx="9131300" cy="239395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lnSpc>
                <a:spcPct val="150000"/>
              </a:lnSpc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为了能得到更多信息，经常要用到断言语句。断言语句能够监测到在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VHDL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设计中不希望的条件，比如：在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generic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中错误的值，常数和生成条件，或者在调用函数时出现错误的调用参数等。当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condition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（条件）为假时，将报告信息。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6610" name="标题 671745"/>
          <p:cNvSpPr>
            <a:spLocks noGrp="1"/>
          </p:cNvSpPr>
          <p:nvPr/>
        </p:nvSpPr>
        <p:spPr>
          <a:xfrm>
            <a:off x="595313" y="469900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/>
            <a:r>
              <a:rPr lang="en-US" altLang="zh-CN" sz="3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5.1.9 </a:t>
            </a:r>
            <a:r>
              <a:rPr lang="zh-CN" altLang="en-US" sz="3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断言与报告语句</a:t>
            </a:r>
            <a:endParaRPr lang="zh-CN" altLang="en-US" sz="3600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9225" y="3575050"/>
            <a:ext cx="8429625" cy="23066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defRPr/>
            </a:pPr>
            <a:r>
              <a:rPr lang="zh-CN" altLang="en-US" sz="2400" b="1" noProof="1" dirty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其语法格式为</a:t>
            </a:r>
            <a:r>
              <a:rPr lang="zh-CN" altLang="en-US" sz="2400" b="1" noProof="1" dirty="0" smtClean="0">
                <a:solidFill>
                  <a:schemeClr val="accent5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sz="2400" b="1" noProof="1" dirty="0" smtClean="0">
              <a:solidFill>
                <a:schemeClr val="accent5">
                  <a:lumMod val="5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assert </a:t>
            </a:r>
            <a:r>
              <a:rPr lang="en-US" altLang="zh-CN" sz="2400" b="1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condition</a:t>
            </a:r>
            <a:endParaRPr lang="en-US" altLang="zh-CN" sz="2400" b="1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[</a:t>
            </a:r>
            <a:r>
              <a:rPr lang="en-US" altLang="zh-CN" sz="2400" b="1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report string]</a:t>
            </a:r>
            <a:endParaRPr lang="en-US" altLang="zh-CN" sz="2400" b="1" noProof="1" dirty="0">
              <a:solidFill>
                <a:srgbClr val="703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zh-CN" sz="2400" b="1" noProof="1" dirty="0" smtClean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[</a:t>
            </a:r>
            <a:r>
              <a:rPr lang="en-US" altLang="zh-CN" sz="2400" b="1" noProof="1" dirty="0">
                <a:solidFill>
                  <a:srgbClr val="703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severity expression];</a:t>
            </a:r>
            <a:endParaRPr lang="zh-CN" altLang="en-US" sz="240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ransition>
    <p:random/>
  </p:transition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12700" y="1217613"/>
            <a:ext cx="9131300" cy="515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对于在断言语句中的任何错误条件，综合工具根据错误的级别，产生警告信息，或者拒绝设计和产生错误信息。出错级别共有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r>
              <a:rPr kumimoji="0" lang="zh-CN" altLang="en-US" sz="2400" b="1" i="0" u="none" strike="noStrike" kern="1200" cap="none" spc="0" normalizeH="0" baseline="0" noProof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种：</a:t>
            </a:r>
            <a:endParaRPr kumimoji="0" lang="zh-CN" altLang="en-US" sz="2400" b="1" i="0" u="none" strike="noStrike" kern="1200" cap="none" spc="0" normalizeH="0" baseline="0" noProof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Note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Warning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Error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Failure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69900" marR="0" indent="-46990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Char char="p"/>
              <a:defRPr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ea"/>
                <a:ea typeface="+mn-ea"/>
                <a:cs typeface="Times New Roman" panose="02020603050405020304" pitchFamily="18" charset="0"/>
              </a:rPr>
              <a:t>Fatal</a:t>
            </a:r>
            <a:endParaRPr kumimoji="0" lang="en-US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/>
        </p:nvSpPr>
        <p:spPr>
          <a:xfrm>
            <a:off x="35560" y="908368"/>
            <a:ext cx="9131300" cy="5156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断言描述语句</a:t>
            </a:r>
            <a:r>
              <a:rPr kumimoji="0" lang="en-US" altLang="zh-CN" sz="30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VHDL</a:t>
            </a:r>
            <a:r>
              <a:rPr kumimoji="0" lang="zh-CN" altLang="en-US" sz="3000" b="1" i="0" u="none" strike="noStrike" kern="1200" cap="none" spc="0" normalizeH="0" baseline="0" noProof="1" dirty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描述的例子</a:t>
            </a:r>
            <a:r>
              <a:rPr kumimoji="0" lang="zh-CN" altLang="en-US" sz="3000" b="1" i="0" u="none" strike="noStrike" kern="1200" cap="none" spc="0" normalizeH="0" baseline="0" noProof="1" dirty="0" smtClean="0">
                <a:solidFill>
                  <a:schemeClr val="accent5">
                    <a:lumMod val="50000"/>
                  </a:schemeClr>
                </a:solidFill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kumimoji="0" lang="en-US" altLang="zh-CN" sz="3000" b="1" i="0" u="none" strike="noStrike" kern="1200" cap="none" spc="0" normalizeH="0" baseline="0" noProof="1" dirty="0" smtClean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use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ieee.std_logic_1164.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all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entity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SINGLE_SRL is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generic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(SRL_WIDTH 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integer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:= 16);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port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(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00B050"/>
                </a:solidFill>
                <a:latin typeface="+mn-lt"/>
                <a:ea typeface="+mn-ea"/>
                <a:cs typeface="+mn-cs"/>
              </a:rPr>
              <a:t>clk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in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std_logic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1" dirty="0" err="1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inp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in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std_logic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        </a:t>
            </a:r>
            <a:r>
              <a:rPr kumimoji="0" lang="en-US" altLang="zh-CN" sz="2400" b="1" i="0" u="none" strike="noStrike" kern="1200" cap="none" spc="0" normalizeH="0" baseline="0" noProof="1" dirty="0" err="1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outp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: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out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std_logic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);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end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SINGLE_SRL;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architecture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beh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of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SINGLE_SRL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is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00B05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 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00B050"/>
                </a:solidFill>
                <a:latin typeface="+mn-lt"/>
                <a:ea typeface="+mn-ea"/>
                <a:cs typeface="+mn-cs"/>
              </a:rPr>
              <a:t>signal</a:t>
            </a:r>
            <a:r>
              <a:rPr kumimoji="0" lang="en-US" altLang="zh-CN" sz="2400" b="1" i="0" u="none" strike="noStrike" kern="1200" cap="none" spc="0" normalizeH="0" baseline="0" noProof="1" dirty="0" smtClean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shift_reg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: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7030A0"/>
                </a:solidFill>
                <a:latin typeface="+mn-lt"/>
                <a:ea typeface="+mn-ea"/>
                <a:cs typeface="+mn-cs"/>
              </a:rPr>
              <a:t>std_logic_vector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(SRL_WIDTH-1 </a:t>
            </a:r>
            <a:r>
              <a:rPr kumimoji="0" lang="en-US" altLang="zh-CN" sz="2400" b="1" i="0" u="none" strike="noStrike" kern="1200" cap="none" spc="0" normalizeH="0" baseline="0" noProof="1" dirty="0" err="1">
                <a:solidFill>
                  <a:srgbClr val="00B050"/>
                </a:solidFill>
                <a:latin typeface="+mn-lt"/>
                <a:ea typeface="+mn-ea"/>
                <a:cs typeface="+mn-cs"/>
              </a:rPr>
              <a:t>downto</a:t>
            </a:r>
            <a:r>
              <a:rPr kumimoji="0" lang="en-US" altLang="zh-CN" sz="2400" b="1" i="0" u="none" strike="noStrike" kern="1200" cap="none" spc="0" normalizeH="0" baseline="0" noProof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 0);</a:t>
            </a:r>
            <a:endParaRPr kumimoji="0" lang="zh-CN" altLang="zh-CN" sz="2400" b="1" i="0" u="none" strike="noStrike" kern="1200" cap="none" spc="0" normalizeH="0" baseline="0" noProof="1" dirty="0">
              <a:solidFill>
                <a:srgbClr val="7030A0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endParaRPr kumimoji="0" lang="zh-CN" altLang="zh-CN" sz="3000" b="1" i="0" u="none" strike="noStrike" kern="1200" cap="none" spc="0" normalizeH="0" baseline="0" noProof="1" dirty="0">
              <a:solidFill>
                <a:schemeClr val="accent5">
                  <a:lumMod val="50000"/>
                </a:schemeClr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2753" name="Rectangle 3"/>
          <p:cNvSpPr>
            <a:spLocks noGrp="1"/>
          </p:cNvSpPr>
          <p:nvPr/>
        </p:nvSpPr>
        <p:spPr>
          <a:xfrm>
            <a:off x="12700" y="1271588"/>
            <a:ext cx="9131300" cy="5157787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begin</a:t>
            </a:r>
            <a:endParaRPr lang="zh-CN" altLang="zh-CN" sz="2400" dirty="0">
              <a:solidFill>
                <a:srgbClr val="00B05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</a:rPr>
              <a:t>   </a:t>
            </a:r>
            <a:r>
              <a:rPr lang="en-US" altLang="zh-CN" sz="2400" dirty="0">
                <a:solidFill>
                  <a:srgbClr val="00B050"/>
                </a:solidFill>
              </a:rPr>
              <a:t>assert</a:t>
            </a:r>
            <a:r>
              <a:rPr lang="en-US" altLang="zh-CN" sz="2400" dirty="0">
                <a:solidFill>
                  <a:srgbClr val="7030A0"/>
                </a:solidFill>
              </a:rPr>
              <a:t> SRL_WIDTH &lt;= 17</a:t>
            </a:r>
            <a:endParaRPr lang="zh-CN" altLang="zh-CN" sz="2400" dirty="0">
              <a:solidFill>
                <a:srgbClr val="7030A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200" dirty="0">
                <a:solidFill>
                  <a:srgbClr val="00B050"/>
                </a:solidFill>
              </a:rPr>
              <a:t>report</a:t>
            </a:r>
            <a:r>
              <a:rPr lang="en-US" altLang="zh-CN" sz="2200" dirty="0">
                <a:solidFill>
                  <a:srgbClr val="7030A0"/>
                </a:solidFill>
              </a:rPr>
              <a:t> "The size of Shift Register exceeds the size of a single SRL"</a:t>
            </a:r>
            <a:endParaRPr lang="zh-CN" altLang="zh-CN" sz="2200" dirty="0">
              <a:solidFill>
                <a:srgbClr val="7030A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</a:rPr>
              <a:t>   </a:t>
            </a:r>
            <a:r>
              <a:rPr lang="en-US" altLang="zh-CN" sz="2400" dirty="0">
                <a:solidFill>
                  <a:srgbClr val="00B050"/>
                </a:solidFill>
              </a:rPr>
              <a:t>severity</a:t>
            </a:r>
            <a:r>
              <a:rPr lang="en-US" altLang="zh-CN" sz="2400" dirty="0">
                <a:solidFill>
                  <a:srgbClr val="7030A0"/>
                </a:solidFill>
              </a:rPr>
              <a:t> FAILURE; </a:t>
            </a:r>
            <a:endParaRPr lang="zh-CN" altLang="zh-CN" sz="2400" dirty="0">
              <a:solidFill>
                <a:srgbClr val="7030A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</a:rPr>
              <a:t>   </a:t>
            </a:r>
            <a:r>
              <a:rPr lang="en-US" altLang="zh-CN" sz="2400" dirty="0" err="1">
                <a:solidFill>
                  <a:srgbClr val="7030A0"/>
                </a:solidFill>
              </a:rPr>
              <a:t>outp</a:t>
            </a:r>
            <a:r>
              <a:rPr lang="en-US" altLang="zh-CN" sz="2400" dirty="0">
                <a:solidFill>
                  <a:srgbClr val="7030A0"/>
                </a:solidFill>
              </a:rPr>
              <a:t> &lt;= </a:t>
            </a:r>
            <a:r>
              <a:rPr lang="en-US" altLang="zh-CN" sz="2400" dirty="0" err="1">
                <a:solidFill>
                  <a:srgbClr val="7030A0"/>
                </a:solidFill>
              </a:rPr>
              <a:t>shift_reg</a:t>
            </a:r>
            <a:r>
              <a:rPr lang="en-US" altLang="zh-CN" sz="2400" dirty="0">
                <a:solidFill>
                  <a:srgbClr val="7030A0"/>
                </a:solidFill>
              </a:rPr>
              <a:t>(SRL_WIDTH-1);</a:t>
            </a:r>
            <a:endParaRPr lang="zh-CN" altLang="zh-CN" sz="2400" dirty="0">
              <a:solidFill>
                <a:srgbClr val="7030A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</a:rPr>
              <a:t>   </a:t>
            </a:r>
            <a:r>
              <a:rPr lang="en-US" altLang="zh-CN" sz="2400" dirty="0">
                <a:solidFill>
                  <a:srgbClr val="00B050"/>
                </a:solidFill>
              </a:rPr>
              <a:t>process</a:t>
            </a:r>
            <a:r>
              <a:rPr lang="en-US" altLang="zh-CN" sz="2400" dirty="0">
                <a:solidFill>
                  <a:srgbClr val="7030A0"/>
                </a:solidFill>
              </a:rPr>
              <a:t> (</a:t>
            </a:r>
            <a:r>
              <a:rPr lang="en-US" altLang="zh-CN" sz="2400" dirty="0" err="1">
                <a:solidFill>
                  <a:srgbClr val="7030A0"/>
                </a:solidFill>
              </a:rPr>
              <a:t>clk</a:t>
            </a:r>
            <a:r>
              <a:rPr lang="en-US" altLang="zh-CN" sz="2400" dirty="0">
                <a:solidFill>
                  <a:srgbClr val="7030A0"/>
                </a:solidFill>
              </a:rPr>
              <a:t>)</a:t>
            </a:r>
            <a:endParaRPr lang="zh-CN" altLang="zh-CN" sz="2400" dirty="0">
              <a:solidFill>
                <a:srgbClr val="7030A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</a:rPr>
              <a:t>   </a:t>
            </a:r>
            <a:r>
              <a:rPr lang="en-US" altLang="zh-CN" sz="2400" dirty="0">
                <a:solidFill>
                  <a:srgbClr val="00B050"/>
                </a:solidFill>
              </a:rPr>
              <a:t>begin</a:t>
            </a:r>
            <a:r>
              <a:rPr lang="en-US" altLang="zh-CN" sz="2400" dirty="0">
                <a:solidFill>
                  <a:srgbClr val="7030A0"/>
                </a:solidFill>
              </a:rPr>
              <a:t> </a:t>
            </a:r>
            <a:endParaRPr lang="zh-CN" altLang="zh-CN" sz="2400" dirty="0">
              <a:solidFill>
                <a:srgbClr val="7030A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</a:rPr>
              <a:t>   </a:t>
            </a:r>
            <a:r>
              <a:rPr lang="en-US" altLang="zh-CN" sz="2400" dirty="0">
                <a:solidFill>
                  <a:srgbClr val="00B050"/>
                </a:solidFill>
              </a:rPr>
              <a:t>if</a:t>
            </a:r>
            <a:r>
              <a:rPr lang="en-US" altLang="zh-CN" sz="2400" dirty="0">
                <a:solidFill>
                  <a:srgbClr val="7030A0"/>
                </a:solidFill>
              </a:rPr>
              <a:t> (</a:t>
            </a:r>
            <a:r>
              <a:rPr lang="en-US" altLang="zh-CN" sz="2400" dirty="0" err="1">
                <a:solidFill>
                  <a:srgbClr val="7030A0"/>
                </a:solidFill>
              </a:rPr>
              <a:t>clk'event</a:t>
            </a:r>
            <a:r>
              <a:rPr lang="en-US" altLang="zh-CN" sz="2400" dirty="0">
                <a:solidFill>
                  <a:srgbClr val="7030A0"/>
                </a:solidFill>
              </a:rPr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and</a:t>
            </a:r>
            <a:r>
              <a:rPr lang="en-US" altLang="zh-CN" sz="2400" dirty="0">
                <a:solidFill>
                  <a:srgbClr val="7030A0"/>
                </a:solidFill>
              </a:rPr>
              <a:t> </a:t>
            </a:r>
            <a:r>
              <a:rPr lang="en-US" altLang="zh-CN" sz="2400" dirty="0" err="1">
                <a:solidFill>
                  <a:srgbClr val="7030A0"/>
                </a:solidFill>
              </a:rPr>
              <a:t>clk</a:t>
            </a:r>
            <a:r>
              <a:rPr lang="en-US" altLang="zh-CN" sz="2400" dirty="0">
                <a:solidFill>
                  <a:srgbClr val="7030A0"/>
                </a:solidFill>
              </a:rPr>
              <a:t> = '1') </a:t>
            </a:r>
            <a:r>
              <a:rPr lang="en-US" altLang="zh-CN" sz="2400" dirty="0">
                <a:solidFill>
                  <a:srgbClr val="00B050"/>
                </a:solidFill>
              </a:rPr>
              <a:t>then</a:t>
            </a:r>
            <a:endParaRPr lang="zh-CN" altLang="zh-CN" sz="2400" dirty="0">
              <a:solidFill>
                <a:srgbClr val="00B05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</a:rPr>
              <a:t>   </a:t>
            </a:r>
            <a:r>
              <a:rPr lang="en-US" altLang="zh-CN" sz="2400" dirty="0" err="1">
                <a:solidFill>
                  <a:srgbClr val="7030A0"/>
                </a:solidFill>
              </a:rPr>
              <a:t>shift_reg</a:t>
            </a:r>
            <a:r>
              <a:rPr lang="en-US" altLang="zh-CN" sz="2400" dirty="0">
                <a:solidFill>
                  <a:srgbClr val="7030A0"/>
                </a:solidFill>
              </a:rPr>
              <a:t> &lt;= </a:t>
            </a:r>
            <a:r>
              <a:rPr lang="en-US" altLang="zh-CN" sz="2400" dirty="0" err="1">
                <a:solidFill>
                  <a:srgbClr val="7030A0"/>
                </a:solidFill>
              </a:rPr>
              <a:t>shift_reg</a:t>
            </a:r>
            <a:r>
              <a:rPr lang="en-US" altLang="zh-CN" sz="2400" dirty="0">
                <a:solidFill>
                  <a:srgbClr val="7030A0"/>
                </a:solidFill>
              </a:rPr>
              <a:t> (SRL_WIDTH-1 </a:t>
            </a:r>
            <a:r>
              <a:rPr lang="en-US" altLang="zh-CN" sz="2400" dirty="0" err="1">
                <a:solidFill>
                  <a:srgbClr val="7030A0"/>
                </a:solidFill>
              </a:rPr>
              <a:t>downto</a:t>
            </a:r>
            <a:r>
              <a:rPr lang="en-US" altLang="zh-CN" sz="2400" dirty="0">
                <a:solidFill>
                  <a:srgbClr val="7030A0"/>
                </a:solidFill>
              </a:rPr>
              <a:t> 1) &amp; </a:t>
            </a:r>
            <a:r>
              <a:rPr lang="en-US" altLang="zh-CN" sz="2400" dirty="0" err="1">
                <a:solidFill>
                  <a:srgbClr val="7030A0"/>
                </a:solidFill>
              </a:rPr>
              <a:t>inp</a:t>
            </a:r>
            <a:r>
              <a:rPr lang="en-US" altLang="zh-CN" sz="2400" dirty="0">
                <a:solidFill>
                  <a:srgbClr val="7030A0"/>
                </a:solidFill>
              </a:rPr>
              <a:t>;</a:t>
            </a:r>
            <a:endParaRPr lang="zh-CN" altLang="zh-CN" sz="2400" dirty="0">
              <a:solidFill>
                <a:srgbClr val="7030A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</a:rPr>
              <a:t>   </a:t>
            </a:r>
            <a:r>
              <a:rPr lang="en-US" altLang="zh-CN" sz="2400" dirty="0">
                <a:solidFill>
                  <a:srgbClr val="00B050"/>
                </a:solidFill>
              </a:rPr>
              <a:t>end</a:t>
            </a:r>
            <a:r>
              <a:rPr lang="en-US" altLang="zh-CN" sz="2400" dirty="0">
                <a:solidFill>
                  <a:srgbClr val="7030A0"/>
                </a:solidFill>
              </a:rPr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if</a:t>
            </a:r>
            <a:r>
              <a:rPr lang="en-US" altLang="zh-CN" sz="2400" dirty="0">
                <a:solidFill>
                  <a:srgbClr val="7030A0"/>
                </a:solidFill>
              </a:rPr>
              <a:t>;</a:t>
            </a:r>
            <a:endParaRPr lang="zh-CN" altLang="zh-CN" sz="2400" dirty="0">
              <a:solidFill>
                <a:srgbClr val="7030A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</a:rPr>
              <a:t>   </a:t>
            </a:r>
            <a:r>
              <a:rPr lang="en-US" altLang="zh-CN" sz="2400" dirty="0">
                <a:solidFill>
                  <a:srgbClr val="00B050"/>
                </a:solidFill>
              </a:rPr>
              <a:t>end</a:t>
            </a:r>
            <a:r>
              <a:rPr lang="en-US" altLang="zh-CN" sz="2400" dirty="0">
                <a:solidFill>
                  <a:srgbClr val="7030A0"/>
                </a:solidFill>
              </a:rPr>
              <a:t> </a:t>
            </a:r>
            <a:r>
              <a:rPr lang="en-US" altLang="zh-CN" sz="2400" dirty="0">
                <a:solidFill>
                  <a:srgbClr val="00B050"/>
                </a:solidFill>
              </a:rPr>
              <a:t>process</a:t>
            </a:r>
            <a:r>
              <a:rPr lang="en-US" altLang="zh-CN" sz="2400" dirty="0">
                <a:solidFill>
                  <a:srgbClr val="7030A0"/>
                </a:solidFill>
              </a:rPr>
              <a:t>;</a:t>
            </a:r>
            <a:endParaRPr lang="zh-CN" altLang="zh-CN" sz="2400" dirty="0">
              <a:solidFill>
                <a:srgbClr val="7030A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7030A0"/>
                </a:solidFill>
              </a:rPr>
              <a:t>   </a:t>
            </a:r>
            <a:r>
              <a:rPr lang="en-US" altLang="zh-CN" sz="2400" dirty="0">
                <a:solidFill>
                  <a:srgbClr val="00B050"/>
                </a:solidFill>
              </a:rPr>
              <a:t>end</a:t>
            </a:r>
            <a:r>
              <a:rPr lang="en-US" altLang="zh-CN" sz="2400" dirty="0">
                <a:solidFill>
                  <a:srgbClr val="7030A0"/>
                </a:solidFill>
              </a:rPr>
              <a:t> </a:t>
            </a:r>
            <a:r>
              <a:rPr lang="en-US" altLang="zh-CN" sz="2400" dirty="0" err="1">
                <a:solidFill>
                  <a:srgbClr val="00B050"/>
                </a:solidFill>
              </a:rPr>
              <a:t>beh</a:t>
            </a:r>
            <a:r>
              <a:rPr lang="en-US" altLang="zh-CN" sz="2400" dirty="0">
                <a:solidFill>
                  <a:srgbClr val="7030A0"/>
                </a:solidFill>
              </a:rPr>
              <a:t>;</a:t>
            </a:r>
            <a:endParaRPr lang="en-US" altLang="zh-CN" sz="2400" dirty="0">
              <a:solidFill>
                <a:srgbClr val="7030A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rgbClr val="00B050"/>
                </a:solidFill>
              </a:rPr>
              <a:t>library</a:t>
            </a:r>
            <a:r>
              <a:rPr lang="en-US" altLang="zh-CN" sz="2400" dirty="0">
                <a:solidFill>
                  <a:srgbClr val="7030A0"/>
                </a:solidFill>
              </a:rPr>
              <a:t> </a:t>
            </a:r>
            <a:r>
              <a:rPr lang="en-US" altLang="zh-CN" sz="2400" dirty="0" err="1">
                <a:solidFill>
                  <a:srgbClr val="00B050"/>
                </a:solidFill>
              </a:rPr>
              <a:t>ieee</a:t>
            </a:r>
            <a:r>
              <a:rPr lang="en-US" altLang="zh-CN" sz="2400" dirty="0">
                <a:solidFill>
                  <a:srgbClr val="7030A0"/>
                </a:solidFill>
              </a:rPr>
              <a:t>;</a:t>
            </a:r>
            <a:endParaRPr lang="zh-CN" altLang="zh-CN" sz="2400" dirty="0">
              <a:solidFill>
                <a:srgbClr val="7030A0"/>
              </a:solidFill>
            </a:endParaRPr>
          </a:p>
          <a:p>
            <a:pPr marL="0" indent="0">
              <a:spcBef>
                <a:spcPct val="0"/>
              </a:spcBef>
              <a:buClr>
                <a:schemeClr val="accent2"/>
              </a:buClr>
              <a:buSzTx/>
              <a:buFont typeface="Wingdings" panose="05000000000000000000" pitchFamily="2" charset="2"/>
              <a:buNone/>
            </a:pPr>
            <a:endParaRPr lang="zh-CN" altLang="zh-CN" sz="2400" dirty="0"/>
          </a:p>
        </p:txBody>
      </p:sp>
    </p:spTree>
  </p:cSld>
  <p:clrMapOvr>
    <a:masterClrMapping/>
  </p:clrMapOvr>
  <p:transition>
    <p:random/>
  </p:transition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KSO_WM_DIAGRAM_VIRTUALLY_FRAME" val="{&quot;height&quot;:379.57500000000005,&quot;left&quot;:104.87503937007872,&quot;top&quot;:116.87503937007872,&quot;width&quot;:419.25}"/>
</p:tagLst>
</file>

<file path=ppt/tags/tag3.xml><?xml version="1.0" encoding="utf-8"?>
<p:tagLst xmlns:p="http://schemas.openxmlformats.org/presentationml/2006/main">
  <p:tag name="KSO_WM_DIAGRAM_VIRTUALLY_FRAME" val="{&quot;height&quot;:379.57500000000005,&quot;left&quot;:104.87503937007872,&quot;top&quot;:116.87503937007872,&quot;width&quot;:419.25}"/>
</p:tagLst>
</file>

<file path=ppt/tags/tag4.xml><?xml version="1.0" encoding="utf-8"?>
<p:tagLst xmlns:p="http://schemas.openxmlformats.org/presentationml/2006/main">
  <p:tag name="KSO_WM_DIAGRAM_VIRTUALLY_FRAME" val="{&quot;height&quot;:379.57500000000005,&quot;left&quot;:104.87503937007872,&quot;top&quot;:116.87503937007872,&quot;width&quot;:419.25}"/>
</p:tagLst>
</file>

<file path=ppt/tags/tag5.xml><?xml version="1.0" encoding="utf-8"?>
<p:tagLst xmlns:p="http://schemas.openxmlformats.org/presentationml/2006/main">
  <p:tag name="KSO_WM_DIAGRAM_VIRTUALLY_FRAME" val="{&quot;height&quot;:379.57500000000005,&quot;left&quot;:104.87503937007872,&quot;top&quot;:116.87503937007872,&quot;width&quot;:419.25}"/>
</p:tagLst>
</file>

<file path=ppt/tags/tag6.xml><?xml version="1.0" encoding="utf-8"?>
<p:tagLst xmlns:p="http://schemas.openxmlformats.org/presentationml/2006/main">
  <p:tag name="KSO_WPP_MARK_KEY" val="7f95c185-5f2b-4d53-8f30-8283f0d98fe3"/>
  <p:tag name="COMMONDATA" val="eyJoZGlkIjoiMDRiNWM4ZTRkMzMxZWMzM2IxMDc5NzU0Njk3ODNlNzAifQ=="/>
</p:tagLst>
</file>

<file path=ppt/theme/theme1.xml><?xml version="1.0" encoding="utf-8"?>
<a:theme xmlns:a="http://schemas.openxmlformats.org/drawingml/2006/main" name="1_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14447</Words>
  <Application>WPS 演示</Application>
  <PresentationFormat>全屏显示(4:3)</PresentationFormat>
  <Paragraphs>741</Paragraphs>
  <Slides>90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10</vt:i4>
      </vt:variant>
      <vt:variant>
        <vt:lpstr>幻灯片标题</vt:lpstr>
      </vt:variant>
      <vt:variant>
        <vt:i4>90</vt:i4>
      </vt:variant>
    </vt:vector>
  </HeadingPairs>
  <TitlesOfParts>
    <vt:vector size="118" baseType="lpstr">
      <vt:lpstr>Arial</vt:lpstr>
      <vt:lpstr>宋体</vt:lpstr>
      <vt:lpstr>Wingdings</vt:lpstr>
      <vt:lpstr>Times New Roman</vt:lpstr>
      <vt:lpstr>Verdana</vt:lpstr>
      <vt:lpstr>隶书</vt:lpstr>
      <vt:lpstr>华文行楷</vt:lpstr>
      <vt:lpstr>微软雅黑</vt:lpstr>
      <vt:lpstr>楷体_GB2312</vt:lpstr>
      <vt:lpstr>新宋体</vt:lpstr>
      <vt:lpstr>Arial Narrow</vt:lpstr>
      <vt:lpstr>Arial Unicode MS</vt:lpstr>
      <vt:lpstr>Calibri</vt:lpstr>
      <vt:lpstr>Courier New</vt:lpstr>
      <vt:lpstr>Wingdings</vt:lpstr>
      <vt:lpstr>楷体_GB2312</vt:lpstr>
      <vt:lpstr>方正楷体_GB2312</vt:lpstr>
      <vt:lpstr>1_默认设计模板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Word.Document.8</vt:lpstr>
      <vt:lpstr>PowerPoint 演示文稿</vt:lpstr>
      <vt:lpstr>第5章 VHDL基本描述语句</vt:lpstr>
      <vt:lpstr>    </vt:lpstr>
      <vt:lpstr>5.1 顺序语句 </vt:lpstr>
      <vt:lpstr>PowerPoint 演示文稿</vt:lpstr>
      <vt:lpstr>5.1.1  IF语句</vt:lpstr>
      <vt:lpstr>不完整IF语句</vt:lpstr>
      <vt:lpstr>PowerPoint 演示文稿</vt:lpstr>
      <vt:lpstr>PowerPoint 演示文稿</vt:lpstr>
      <vt:lpstr>PowerPoint 演示文稿</vt:lpstr>
      <vt:lpstr>二选一IF语句</vt:lpstr>
      <vt:lpstr>典型应用：二选一电路  if sel=‘0’ then   q&lt;=d0; else   q&lt;=d1; end if; </vt:lpstr>
      <vt:lpstr>PowerPoint 演示文稿</vt:lpstr>
      <vt:lpstr>PowerPoint 演示文稿</vt:lpstr>
      <vt:lpstr>PowerPoint 演示文稿</vt:lpstr>
      <vt:lpstr>语句格式：        IF 条件 THEN            顺序执行语句；          ELSIF 条件 THEN             顺序执行语句；              ：              ：          ELSIF 条件 THEN             顺序执行语句；          ELSE             顺序执行语句；        END IF； </vt:lpstr>
      <vt:lpstr>PowerPoint 演示文稿</vt:lpstr>
      <vt:lpstr>PowerPoint 演示文稿</vt:lpstr>
      <vt:lpstr>PowerPoint 演示文稿</vt:lpstr>
      <vt:lpstr>语句格式：        IF 条件1 THEN           IF 条件2 THEN             顺序语句;           END IF;             …           END IF;</vt:lpstr>
      <vt:lpstr>PowerPoint 演示文稿</vt:lpstr>
      <vt:lpstr>PowerPoint 演示文稿</vt:lpstr>
      <vt:lpstr>例5-9： Library ieee; Use ieee.std_logic_1164.all; Use ieee.std_logic_unsigned.all; Use ieee.std_logic_arith.all; entity cnt4 is 	 port ( rst: in std_logic; 		     clk: in std_logic; 		      en: in std_logic; 		     cnt: buffer std_logic_vector(3 downto 0) 		   ); end cnt4;</vt:lpstr>
      <vt:lpstr>architecture Behavioral of cnt4 is begin process(clk,rst,en) begin      if   rst='0'  then  	      cnt&lt;="0000"; 	 elsif clk'event and clk='1' then 	    if en='1' then  	       cnt&lt;=cnt+1;           -算术运算符“+”两边 	    end if;     end if; end process; end Behavioral;</vt:lpstr>
      <vt:lpstr>PowerPoint 演示文稿</vt:lpstr>
      <vt:lpstr>PowerPoint 演示文稿</vt:lpstr>
      <vt:lpstr>5.1.2  CASE语句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5.1.3  LOOP语句</vt:lpstr>
      <vt:lpstr>无限LOOP语句</vt:lpstr>
      <vt:lpstr>FOR LOOP语句</vt:lpstr>
      <vt:lpstr>PowerPoint 演示文稿</vt:lpstr>
      <vt:lpstr>WHILE  LOOP语句</vt:lpstr>
      <vt:lpstr>PowerPoint 演示文稿</vt:lpstr>
      <vt:lpstr>5.1.4 EXIT语句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用if语句来表示when条件</vt:lpstr>
      <vt:lpstr>5.1.5 NEXT语句</vt:lpstr>
      <vt:lpstr>PowerPoint 演示文稿</vt:lpstr>
      <vt:lpstr>PowerPoint 演示文稿</vt:lpstr>
      <vt:lpstr>用if语句来表示when条件</vt:lpstr>
      <vt:lpstr>PowerPoint 演示文稿</vt:lpstr>
      <vt:lpstr>无限LOOP与EXIT/next语句搭配</vt:lpstr>
      <vt:lpstr>PowerPoint 演示文稿</vt:lpstr>
      <vt:lpstr>while LOOP与EXIT/next语句搭配</vt:lpstr>
      <vt:lpstr>PowerPoint 演示文稿</vt:lpstr>
      <vt:lpstr>for LOOP与EXIT/next语句搭配</vt:lpstr>
      <vt:lpstr>PowerPoint 演示文稿</vt:lpstr>
      <vt:lpstr>5.1.6 赋值语句</vt:lpstr>
      <vt:lpstr>PowerPoint 演示文稿</vt:lpstr>
      <vt:lpstr>PowerPoint 演示文稿</vt:lpstr>
      <vt:lpstr>实验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5.1.7 WAIT语句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5.1.8 NULL语句</vt:lpstr>
      <vt:lpstr>PowerPoint 演示文稿</vt:lpstr>
      <vt:lpstr>PowerPoint 演示文稿</vt:lpstr>
      <vt:lpstr>PowerPoint 演示文稿</vt:lpstr>
      <vt:lpstr>PowerPoint 演示文稿</vt:lpstr>
    </vt:vector>
  </TitlesOfParts>
  <Company>njust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wjx</dc:creator>
  <cp:lastModifiedBy>林惜汐</cp:lastModifiedBy>
  <cp:revision>220</cp:revision>
  <dcterms:created xsi:type="dcterms:W3CDTF">2006-04-19T05:22:00Z</dcterms:created>
  <dcterms:modified xsi:type="dcterms:W3CDTF">2026-04-14T06:08:42Z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5697599ECCA24FEF9DCF7629C7543150</vt:lpwstr>
  </property>
</Properties>
</file>