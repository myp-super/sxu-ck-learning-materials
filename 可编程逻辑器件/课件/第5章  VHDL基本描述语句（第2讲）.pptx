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87" r:id="rId3"/>
    <p:sldId id="735" r:id="rId4"/>
    <p:sldId id="736" r:id="rId5"/>
    <p:sldId id="485" r:id="rId6"/>
    <p:sldId id="486" r:id="rId7"/>
    <p:sldId id="487" r:id="rId8"/>
    <p:sldId id="737" r:id="rId9"/>
    <p:sldId id="489" r:id="rId10"/>
    <p:sldId id="490" r:id="rId11"/>
    <p:sldId id="491" r:id="rId12"/>
    <p:sldId id="492" r:id="rId13"/>
    <p:sldId id="494" r:id="rId14"/>
    <p:sldId id="843" r:id="rId15"/>
    <p:sldId id="844" r:id="rId16"/>
    <p:sldId id="845" r:id="rId17"/>
    <p:sldId id="846" r:id="rId18"/>
    <p:sldId id="851" r:id="rId19"/>
    <p:sldId id="853" r:id="rId20"/>
    <p:sldId id="892" r:id="rId21"/>
    <p:sldId id="854" r:id="rId22"/>
    <p:sldId id="855" r:id="rId23"/>
    <p:sldId id="856" r:id="rId24"/>
    <p:sldId id="857" r:id="rId25"/>
    <p:sldId id="858" r:id="rId26"/>
    <p:sldId id="859" r:id="rId27"/>
    <p:sldId id="495" r:id="rId28"/>
    <p:sldId id="496" r:id="rId29"/>
    <p:sldId id="497" r:id="rId30"/>
    <p:sldId id="498" r:id="rId31"/>
    <p:sldId id="499" r:id="rId32"/>
    <p:sldId id="500" r:id="rId33"/>
    <p:sldId id="501" r:id="rId34"/>
    <p:sldId id="502" r:id="rId35"/>
    <p:sldId id="503" r:id="rId36"/>
    <p:sldId id="738" r:id="rId38"/>
    <p:sldId id="740" r:id="rId39"/>
    <p:sldId id="739" r:id="rId40"/>
    <p:sldId id="741" r:id="rId41"/>
    <p:sldId id="508" r:id="rId42"/>
    <p:sldId id="509" r:id="rId43"/>
    <p:sldId id="510" r:id="rId44"/>
    <p:sldId id="931" r:id="rId45"/>
    <p:sldId id="512" r:id="rId46"/>
    <p:sldId id="513" r:id="rId47"/>
    <p:sldId id="514" r:id="rId48"/>
    <p:sldId id="742" r:id="rId49"/>
    <p:sldId id="747" r:id="rId50"/>
    <p:sldId id="745" r:id="rId51"/>
    <p:sldId id="805" r:id="rId52"/>
    <p:sldId id="806" r:id="rId53"/>
    <p:sldId id="807" r:id="rId54"/>
    <p:sldId id="812" r:id="rId55"/>
    <p:sldId id="808" r:id="rId56"/>
    <p:sldId id="809" r:id="rId57"/>
    <p:sldId id="810" r:id="rId58"/>
    <p:sldId id="813" r:id="rId59"/>
  </p:sldIdLst>
  <p:sldSz cx="9144000" cy="6858000" type="screen4x3"/>
  <p:notesSz cx="6858000" cy="9144000"/>
  <p:custDataLst>
    <p:tags r:id="rId6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1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gs" Target="tags/tag48.xml"/><Relationship Id="rId63" Type="http://schemas.openxmlformats.org/officeDocument/2006/relationships/commentAuthors" Target="commentAuthors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29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227330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46.xml"/><Relationship Id="rId41" Type="http://schemas.openxmlformats.org/officeDocument/2006/relationships/tags" Target="../tags/tag45.xml"/><Relationship Id="rId40" Type="http://schemas.openxmlformats.org/officeDocument/2006/relationships/tags" Target="../tags/tag44.xml"/><Relationship Id="rId4" Type="http://schemas.openxmlformats.org/officeDocument/2006/relationships/tags" Target="../tags/tag8.xml"/><Relationship Id="rId39" Type="http://schemas.openxmlformats.org/officeDocument/2006/relationships/tags" Target="../tags/tag43.xml"/><Relationship Id="rId38" Type="http://schemas.openxmlformats.org/officeDocument/2006/relationships/tags" Target="../tags/tag42.xml"/><Relationship Id="rId37" Type="http://schemas.openxmlformats.org/officeDocument/2006/relationships/tags" Target="../tags/tag41.xml"/><Relationship Id="rId36" Type="http://schemas.openxmlformats.org/officeDocument/2006/relationships/tags" Target="../tags/tag40.xml"/><Relationship Id="rId35" Type="http://schemas.openxmlformats.org/officeDocument/2006/relationships/tags" Target="../tags/tag39.xml"/><Relationship Id="rId34" Type="http://schemas.openxmlformats.org/officeDocument/2006/relationships/tags" Target="../tags/tag38.xml"/><Relationship Id="rId33" Type="http://schemas.openxmlformats.org/officeDocument/2006/relationships/tags" Target="../tags/tag37.xml"/><Relationship Id="rId32" Type="http://schemas.openxmlformats.org/officeDocument/2006/relationships/tags" Target="../tags/tag36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7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4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1" name="标题 672769"/>
          <p:cNvSpPr>
            <a:spLocks noGrp="1"/>
          </p:cNvSpPr>
          <p:nvPr/>
        </p:nvSpPr>
        <p:spPr>
          <a:xfrm>
            <a:off x="720725" y="428625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4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5.2 </a:t>
            </a:r>
            <a:r>
              <a:rPr lang="zh-CN" altLang="en-US" sz="4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并行语句</a:t>
            </a:r>
            <a:endParaRPr lang="zh-CN" altLang="en-US" sz="4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802" name="文本占位符 672770"/>
          <p:cNvSpPr>
            <a:spLocks noGrp="1"/>
          </p:cNvSpPr>
          <p:nvPr/>
        </p:nvSpPr>
        <p:spPr>
          <a:xfrm>
            <a:off x="238125" y="1295400"/>
            <a:ext cx="8337550" cy="27463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楷体_GB2312" pitchFamily="49" charset="-122"/>
              </a:rPr>
              <a:t>并行语句是硬件描述语言与一般软件程序最大的区别所在，所有并行语句在结构体中的执行都是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同时进行</a:t>
            </a:r>
            <a:r>
              <a:rPr lang="zh-CN" altLang="en-US" sz="2400" dirty="0">
                <a:ea typeface="楷体_GB2312" pitchFamily="49" charset="-122"/>
              </a:rPr>
              <a:t>的，即它们的执行顺序与语句书写的顺序无关。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楷体_GB2312" pitchFamily="49" charset="-122"/>
              </a:rPr>
              <a:t>这种并行性是由硬件本身的并行性决定的，即一旦电路接通电源，它的各部分就会按照事先设计好的方案同时工作。</a:t>
            </a:r>
            <a:br>
              <a:rPr lang="zh-CN" altLang="en-US" sz="2400" dirty="0">
                <a:ea typeface="楷体_GB2312" pitchFamily="49" charset="-122"/>
              </a:rPr>
            </a:br>
            <a:endParaRPr lang="zh-CN" altLang="en-US" sz="2400" dirty="0">
              <a:ea typeface="楷体_GB2312" pitchFamily="49" charset="-122"/>
            </a:endParaRPr>
          </a:p>
        </p:txBody>
      </p:sp>
      <p:pic>
        <p:nvPicPr>
          <p:cNvPr id="204803" name="图片 867333" descr="3-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2213" y="4206875"/>
            <a:ext cx="3887787" cy="2546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25" name="文本占位符 673794"/>
          <p:cNvSpPr>
            <a:spLocks noGrp="1"/>
          </p:cNvSpPr>
          <p:nvPr/>
        </p:nvSpPr>
        <p:spPr>
          <a:xfrm>
            <a:off x="539433" y="980758"/>
            <a:ext cx="7705725" cy="48275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dirty="0">
                <a:solidFill>
                  <a:srgbClr val="7C020E"/>
                </a:solidFill>
                <a:latin typeface="Times New Roman" panose="02020603050405020304" pitchFamily="18" charset="0"/>
                <a:ea typeface="楷体_GB2312" pitchFamily="49" charset="-122"/>
              </a:rPr>
              <a:t>VHDL</a:t>
            </a:r>
            <a:r>
              <a:rPr lang="zh-CN" altLang="en-US" sz="2600" dirty="0">
                <a:solidFill>
                  <a:srgbClr val="7C020E"/>
                </a:solidFill>
                <a:latin typeface="Times New Roman" panose="02020603050405020304" pitchFamily="18" charset="0"/>
                <a:ea typeface="楷体_GB2312" pitchFamily="49" charset="-122"/>
              </a:rPr>
              <a:t>并行语句：</a:t>
            </a:r>
            <a:endParaRPr lang="zh-CN" altLang="en-US" sz="2600" dirty="0">
              <a:solidFill>
                <a:srgbClr val="7C020E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赋值语句（</a:t>
            </a:r>
            <a:r>
              <a:rPr lang="zh-CN" altLang="en-US" sz="2600" dirty="0">
                <a:latin typeface="宋体" panose="02010600030101010101" pitchFamily="2" charset="-122"/>
              </a:rPr>
              <a:t>信号代入语句</a:t>
            </a:r>
            <a:r>
              <a:rPr lang="zh-CN" altLang="en-US" sz="2600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zh-CN" altLang="en-US" sz="2000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PROCESS</a:t>
            </a:r>
            <a:r>
              <a:rPr lang="zh-CN" altLang="en-US" sz="26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进程语句</a:t>
            </a:r>
            <a:endParaRPr lang="zh-CN" altLang="en-US" sz="26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BLOCK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块语句</a:t>
            </a:r>
            <a:endParaRPr lang="zh-CN" altLang="en-US" sz="26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元件例化语句</a:t>
            </a:r>
            <a:endParaRPr lang="zh-CN" altLang="en-US" sz="26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GENERATE</a:t>
            </a:r>
            <a:r>
              <a:rPr lang="zh-CN" altLang="en-US" sz="26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语句</a:t>
            </a:r>
            <a:endParaRPr lang="zh-CN" altLang="en-US" sz="2600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并行断言语句</a:t>
            </a:r>
            <a:endParaRPr lang="zh-CN" altLang="en-US" sz="260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sz="26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899795" y="904875"/>
            <a:ext cx="6885305" cy="5048250"/>
            <a:chOff x="1417" y="1425"/>
            <a:chExt cx="10843" cy="7950"/>
          </a:xfrm>
        </p:grpSpPr>
        <p:pic>
          <p:nvPicPr>
            <p:cNvPr id="206849" name="图片 720899" descr="3-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17" y="1425"/>
              <a:ext cx="10320" cy="79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" name="图片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0035" y="4606"/>
              <a:ext cx="2063" cy="1488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0148" y="4720"/>
              <a:ext cx="2112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所有在</a:t>
              </a:r>
              <a:r>
                <a:rPr lang="en-US" altLang="zh-CN" sz="1400"/>
                <a:t>process</a:t>
              </a:r>
              <a:r>
                <a:rPr lang="zh-CN" altLang="en-US" sz="1400"/>
                <a:t>内的语句都是顺序的</a:t>
              </a:r>
              <a:endParaRPr lang="zh-CN" altLang="en-US" sz="1400"/>
            </a:p>
          </p:txBody>
        </p:sp>
      </p:grp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3" name="标题 740355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5.2.1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并行信号赋值语句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874" name="文本框 740356"/>
          <p:cNvSpPr txBox="1"/>
          <p:nvPr/>
        </p:nvSpPr>
        <p:spPr>
          <a:xfrm>
            <a:off x="684213" y="1557338"/>
            <a:ext cx="7848600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赋值语句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在进程内使用是顺序执行，在进程外即在结构体中直接使用就是并行语句。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并行信号赋值语句有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种形式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简单信号赋值、条件信号赋值和选择信号赋值。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8897" name="标题 741377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简单信号赋值语句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898" name="文本框 741378"/>
          <p:cNvSpPr txBox="1"/>
          <p:nvPr/>
        </p:nvSpPr>
        <p:spPr>
          <a:xfrm>
            <a:off x="684213" y="1557338"/>
            <a:ext cx="7848600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语句格式：</a:t>
            </a:r>
            <a:endParaRPr lang="zh-CN" altLang="en-US" sz="26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目标信号</a:t>
            </a:r>
            <a:r>
              <a:rPr lang="en-US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&lt;=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6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5-19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architecture Behavioral of gate2 is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 out1&lt;=A and B;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out2&lt;=A or B;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899" name="矩形 741380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41380" name="对象 741379"/>
          <p:cNvGraphicFramePr/>
          <p:nvPr/>
        </p:nvGraphicFramePr>
        <p:xfrm>
          <a:off x="5867400" y="3330575"/>
          <a:ext cx="2663825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597660" imgH="1183640" progId="Word.Picture.8">
                  <p:embed/>
                </p:oleObj>
              </mc:Choice>
              <mc:Fallback>
                <p:oleObj name="" r:id="rId1" imgW="1597660" imgH="1183640" progId="Word.Picture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67400" y="3330575"/>
                        <a:ext cx="2663825" cy="196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88900" y="1082675"/>
            <a:ext cx="9385300" cy="5775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behav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a_var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--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并行信号赋值语句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begin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     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output&lt;=(a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b) or c;                      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behav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                              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behav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a_var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--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进程内部信号赋值语句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begin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(a,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b,c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)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begin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output&lt;=(a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b)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c;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     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behav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69" name="标题 742401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条件信号赋值语句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970" name="文本框 742402"/>
          <p:cNvSpPr txBox="1"/>
          <p:nvPr/>
        </p:nvSpPr>
        <p:spPr>
          <a:xfrm>
            <a:off x="684213" y="1270000"/>
            <a:ext cx="7848600" cy="5111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3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语句格式：</a:t>
            </a:r>
            <a:endParaRPr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目标信号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&lt;=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1 WHEN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1 ELSE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2 WHEN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2 ELSE             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3 WHEN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3 ELSE             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            …      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n;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0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说明：</a:t>
            </a:r>
            <a:endParaRPr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从条件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开始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逐项测定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，一旦赋值条件为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Ture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，立即将相应表达式值赋给目标信号；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其功能与进程中的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IF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语句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相同；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5000"/>
              </a:lnSpc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最后一项表达式可以不跟条件子句，以上所有条件都不满足时，将表达式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赋给目标信号。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1971" name="矩形 742403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文本框 743426"/>
          <p:cNvSpPr txBox="1"/>
          <p:nvPr/>
        </p:nvSpPr>
        <p:spPr>
          <a:xfrm>
            <a:off x="0" y="1298575"/>
            <a:ext cx="8909050" cy="5111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5-20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ARCHITECTURE  Arcmux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OF mux2 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     y&lt;= i0 WHEN sel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='0' ELSE    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--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条件代入语句，句末无符号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     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i1 WHEN sel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='1' ELSE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'Z';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END  arcmux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995" name="矩形 743427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7" name="标题 744449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选择信号赋值语句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018" name="文本框 744450"/>
          <p:cNvSpPr txBox="1"/>
          <p:nvPr/>
        </p:nvSpPr>
        <p:spPr>
          <a:xfrm>
            <a:off x="684213" y="1125538"/>
            <a:ext cx="7848600" cy="5111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语句格式：</a:t>
            </a:r>
            <a:endParaRPr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WITH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选择条件表达式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SELECT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目标信号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&lt;=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1  WHEN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选择值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2  WHEN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选择值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2,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                 :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n  WHEN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选择值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      表达式   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WHEN others;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说明：</a:t>
            </a:r>
            <a:endParaRPr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根据选择条件表达式取值，将相应选择值对应的表达式赋给目标信号；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该语句与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CASE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语句相似，要求覆盖条件表达式的所有取值，并且不允许有条件重叠现象。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除最后一句外各子句句末全是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‘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,’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，而不是‘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;’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4019" name="矩形 744451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文本框 745474"/>
          <p:cNvSpPr txBox="1"/>
          <p:nvPr/>
        </p:nvSpPr>
        <p:spPr>
          <a:xfrm>
            <a:off x="612775" y="1125538"/>
            <a:ext cx="7847013" cy="5111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5-21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ARCHITECTURE  Arcmux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OF mux2 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WITH  SEL  SELECT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y&lt;= i0 WHEN '0',       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使用“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,”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       i1 WHEN '1',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    ‘Z’ WHEN others;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END  arcmux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043" name="矩形 745475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89" name="文本框 4"/>
          <p:cNvSpPr txBox="1"/>
          <p:nvPr>
            <p:custDataLst>
              <p:tags r:id="rId1"/>
            </p:custDataLst>
          </p:nvPr>
        </p:nvSpPr>
        <p:spPr>
          <a:xfrm>
            <a:off x="107315" y="1196975"/>
            <a:ext cx="8437245" cy="31324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、分别用条件信号赋值语句、选择信号赋值语句、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IF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语句和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case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语句设计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多路选择器。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Text Box 3"/>
          <p:cNvSpPr txBox="1"/>
          <p:nvPr/>
        </p:nvSpPr>
        <p:spPr>
          <a:xfrm>
            <a:off x="367665" y="891858"/>
            <a:ext cx="8543925" cy="53219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pt-BR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if-else</a:t>
            </a:r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语句实现</a:t>
            </a:r>
            <a:r>
              <a:rPr lang="en-US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4:1</a:t>
            </a:r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多路选择器的</a:t>
            </a:r>
            <a:r>
              <a:rPr lang="en-US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 HDL</a:t>
            </a:r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</a:t>
            </a:r>
            <a:endParaRPr lang="en-US" altLang="zh-CN" sz="28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multiplexers_1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port (a, b, c, d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sel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(1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y : out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multiplexers_1;</a:t>
            </a:r>
            <a:endParaRPr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of multiplexers_1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内容占位符 2"/>
          <p:cNvSpPr>
            <a:spLocks noGrp="1"/>
          </p:cNvSpPr>
          <p:nvPr/>
        </p:nvSpPr>
        <p:spPr>
          <a:xfrm>
            <a:off x="428625" y="1468438"/>
            <a:ext cx="7138988" cy="4527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process (a, b, c, d, sel)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if (sel = "00") then y &lt;= a;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elsif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(sel = "01") then y &lt;= b;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elsif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(sel = "10") then y &lt;= c;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else y &lt;= d;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end if;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process;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;</a:t>
            </a:r>
            <a:endParaRPr lang="zh-CN" altLang="zh-CN" sz="20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sz="2400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Text Box 3"/>
          <p:cNvSpPr txBox="1"/>
          <p:nvPr/>
        </p:nvSpPr>
        <p:spPr>
          <a:xfrm>
            <a:off x="295275" y="368300"/>
            <a:ext cx="8243888" cy="60934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</a:t>
            </a:r>
            <a:r>
              <a:rPr lang="zh-CN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语句描述数据选择器的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VHDL</a:t>
            </a:r>
            <a:r>
              <a:rPr lang="zh-CN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</a:t>
            </a:r>
            <a:endParaRPr lang="zh-CN" altLang="zh-CN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multiplexers_2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port (a, b, c, d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sel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(1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y : out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multiplexers_2;</a:t>
            </a:r>
            <a:endParaRPr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of multiplexers_2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内容占位符 2"/>
          <p:cNvSpPr>
            <a:spLocks noGrp="1"/>
          </p:cNvSpPr>
          <p:nvPr/>
        </p:nvSpPr>
        <p:spPr>
          <a:xfrm>
            <a:off x="457200" y="976313"/>
            <a:ext cx="8229600" cy="5253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process (a, b, c, d, s)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case sel is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"00" =&gt; y &lt;= a;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"01" =&gt; y &lt;= b;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"10" =&gt; y&lt;= c;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others =&gt; y &lt;= d;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end case;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process;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sz="2400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Text Box 3"/>
          <p:cNvSpPr txBox="1"/>
          <p:nvPr/>
        </p:nvSpPr>
        <p:spPr>
          <a:xfrm>
            <a:off x="395605" y="116205"/>
            <a:ext cx="8243888" cy="6339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when-else</a:t>
            </a:r>
            <a:r>
              <a:rPr lang="zh-CN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语句描述数据选择器的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VHDL</a:t>
            </a:r>
            <a:r>
              <a:rPr lang="zh-CN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</a:t>
            </a:r>
            <a:endParaRPr lang="zh-CN" altLang="zh-CN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0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multiplexers_3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is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port(a, b, c, d  :   in   std_logic;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sel   :   in   std_logic_vector(1 downto 0);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y   :  out  std_logic);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mux4;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 rtl of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multiplexers_3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is 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y&lt;= a  when  sel = “00”  else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b  when  sel = “01”  else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c  when  sel = “10”  else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       d  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rtl; 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Text Box 3"/>
          <p:cNvSpPr txBox="1"/>
          <p:nvPr/>
        </p:nvSpPr>
        <p:spPr>
          <a:xfrm>
            <a:off x="395605" y="116205"/>
            <a:ext cx="8243888" cy="66471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with-select</a:t>
            </a:r>
            <a:r>
              <a:rPr lang="zh-CN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语句描述数据选择器的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VHDL</a:t>
            </a:r>
            <a:r>
              <a:rPr lang="zh-CN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</a:t>
            </a:r>
            <a:endParaRPr lang="zh-CN" altLang="zh-CN" sz="24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0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multiplexers_4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is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port(a, b, c, d    :   in   std_logic;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sel    :   in   std_logic_vector(1 downto 0);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q    :   out  std_logic);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end mux4;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architecture rtl of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multiplexers_4</a:t>
            </a: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is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begin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with sel  select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q&lt;=a  when  “00” ,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b  when  “01” ,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                c  </a:t>
            </a:r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when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“10” ,                        </a:t>
            </a:r>
            <a:endParaRPr lang="en-US" altLang="zh-CN" sz="2000" dirty="0">
              <a:solidFill>
                <a:srgbClr val="7030A0"/>
              </a:solidFill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                d   </a:t>
            </a:r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when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</a:t>
            </a:r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others</a:t>
            </a:r>
            <a:r>
              <a:rPr lang="zh-CN" altLang="zh-CN" sz="2000" dirty="0">
                <a:solidFill>
                  <a:srgbClr val="7030A0"/>
                </a:solidFill>
                <a:sym typeface="+mn-ea"/>
              </a:rPr>
              <a:t>；</a:t>
            </a:r>
            <a:endParaRPr lang="zh-CN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 end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rtl; 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89" name="文本框 4"/>
          <p:cNvSpPr txBox="1"/>
          <p:nvPr>
            <p:custDataLst>
              <p:tags r:id="rId1"/>
            </p:custDataLst>
          </p:nvPr>
        </p:nvSpPr>
        <p:spPr>
          <a:xfrm>
            <a:off x="107315" y="1196975"/>
            <a:ext cx="8437245" cy="6889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、设计</a:t>
            </a:r>
            <a:r>
              <a:rPr lang="en-US" alt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BCD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译码电路</a:t>
            </a:r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内容占位符 2"/>
          <p:cNvSpPr>
            <a:spLocks noGrp="1"/>
          </p:cNvSpPr>
          <p:nvPr>
            <p:ph type="subTitle" idx="1"/>
          </p:nvPr>
        </p:nvSpPr>
        <p:spPr>
          <a:xfrm>
            <a:off x="107315" y="764540"/>
            <a:ext cx="8928100" cy="5327650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十六进制数共阳极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7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段数码显示的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VHDL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描述</a:t>
            </a:r>
            <a:endParaRPr lang="zh-CN" altLang="zh-CN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use ieee.std_logic_unsigned.all;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entity decoder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port(hex:  in  std_logic_vector(3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led : out   std_logic_vector(6downto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end decoder;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355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0" y="2792413"/>
            <a:ext cx="1781175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type="subTitle" idx="1"/>
          </p:nvPr>
        </p:nvSpPr>
        <p:spPr>
          <a:xfrm>
            <a:off x="107950" y="696913"/>
            <a:ext cx="8928100" cy="5327650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architecture rtl of decoder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   begin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with hex select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LED&lt;= "1111001" when "0001",   --1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"0100100" when "0010",   --2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"0110000" when "0011",   --3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"0011001" when "0100",   --4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"0010010" when "0101",   --5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"0000010" when "0110",   --6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 "1111000" when "0111",   --7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"0000000" when "1000",   --8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"0010000" when "1001",   --9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0" y="2792413"/>
            <a:ext cx="1781175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内容占位符 2"/>
          <p:cNvSpPr>
            <a:spLocks noGrp="1"/>
          </p:cNvSpPr>
          <p:nvPr>
            <p:ph type="subTitle" idx="1"/>
          </p:nvPr>
        </p:nvSpPr>
        <p:spPr>
          <a:xfrm>
            <a:off x="107950" y="574675"/>
            <a:ext cx="8928100" cy="5260975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      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"0001000" when "1010",   --A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"0000011" when "1011",   --b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"1000110" when "1100",   --C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"0100001" when "1101",   --d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"0000110" when "1110",   --E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"0001110" when "1111",   --F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"1000000" when others;   --0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end rtl;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6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663" y="2792413"/>
            <a:ext cx="1781175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"/>
          <p:cNvSpPr>
            <a:spLocks noGrp="1"/>
          </p:cNvSpPr>
          <p:nvPr>
            <p:ph type="subTitle" idx="1"/>
          </p:nvPr>
        </p:nvSpPr>
        <p:spPr>
          <a:xfrm>
            <a:off x="35560" y="1052830"/>
            <a:ext cx="8928100" cy="5327650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BCD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共阳极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7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段数码显示的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VHDL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描述</a:t>
            </a:r>
            <a:endParaRPr lang="zh-CN" altLang="zh-CN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use ieee.std_logic_unsigned.all;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use ieee.std_logic_arith.all;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entity bcdseg7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port(data:  in  std_logic_vector(3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led0,led1 : out   std_logic_vector(6 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end bcdseg7;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66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0" y="2792413"/>
            <a:ext cx="1781175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内容占位符 2"/>
          <p:cNvSpPr>
            <a:spLocks noGrp="1"/>
          </p:cNvSpPr>
          <p:nvPr>
            <p:ph type="subTitle" idx="1"/>
          </p:nvPr>
        </p:nvSpPr>
        <p:spPr>
          <a:xfrm>
            <a:off x="107950" y="696913"/>
            <a:ext cx="8928100" cy="5327650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architecture rtl of bcdseg7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   signal temp0,temp1: std_logic_vector(3 downto 0)   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zh-CN" sz="2000" b="1" kern="1200" dirty="0">
                <a:latin typeface="+mn-lt"/>
                <a:ea typeface="+mn-ea"/>
                <a:cs typeface="+mn-cs"/>
              </a:rPr>
              <a:t> </a:t>
            </a:r>
            <a:endParaRPr lang="en-US" altLang="zh-CN" sz="2000" b="1" kern="1200" dirty="0"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latin typeface="+mn-lt"/>
                <a:ea typeface="+mn-ea"/>
                <a:cs typeface="+mn-cs"/>
              </a:rPr>
              <a:t>begin</a:t>
            </a:r>
            <a:endParaRPr lang="en-US" altLang="zh-CN" sz="2000" b="1" kern="1200" dirty="0"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process(data)</a:t>
            </a:r>
            <a:endParaRPr lang="en-US" altLang="zh-CN" sz="20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begin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if(data&lt;10)  then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temp0&lt;=data;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temp1&lt;=”0000”;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else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temp0&lt;=data-“1010”;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temp1&lt;=”0001”;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 if;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 process;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76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0" y="2792413"/>
            <a:ext cx="1781175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内容占位符 2"/>
          <p:cNvSpPr>
            <a:spLocks noGrp="1"/>
          </p:cNvSpPr>
          <p:nvPr>
            <p:ph type="subTitle" idx="1"/>
          </p:nvPr>
        </p:nvSpPr>
        <p:spPr>
          <a:xfrm>
            <a:off x="107950" y="696913"/>
            <a:ext cx="8928100" cy="5327650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zh-CN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LED1&lt;= 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“1111001” when  temp1=”0001”  else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“1000000” 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with temp0 select</a:t>
            </a:r>
            <a:endParaRPr lang="zh-CN" altLang="zh-CN" sz="20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LED0&lt;= 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"1111001" when "0001",   --1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"0100100" when "0010",   --2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"0110000" when "0011",   --3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"0011001" when "0100",   --4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"0010010" when "0101",   --5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"0000010" when "0110",   --6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 "1111000" when "0111",   --7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"0000000" when "1000",   --8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      "0010000" when "1001",   --9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                       "1000000" when others;   --0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    </a:t>
            </a:r>
            <a:r>
              <a:rPr lang="en-US" altLang="zh-CN" sz="2000" b="1" kern="1200" dirty="0">
                <a:sym typeface="+mn-ea"/>
              </a:rPr>
              <a:t>  end rtl;</a:t>
            </a:r>
            <a:endParaRPr lang="en-US" altLang="zh-CN" sz="2000" b="1" kern="1200" dirty="0"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86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0" y="2792413"/>
            <a:ext cx="1781175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3" name="标题 746497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5.2.2 PROCESS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114" name="文本框 746498"/>
          <p:cNvSpPr txBox="1"/>
          <p:nvPr/>
        </p:nvSpPr>
        <p:spPr>
          <a:xfrm>
            <a:off x="684213" y="1557338"/>
            <a:ext cx="7848600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进程语句是个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复合语句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，由顺序语句组成，进程内部的语句是顺序执行的。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在一个结构体中可以有多个进程，各个进程是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并发执行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的，即结构体中多个进程的执行与各进程的书写顺序无关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多进程间的通信依靠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信号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来传递。</a:t>
            </a:r>
            <a:endParaRPr lang="zh-CN" altLang="en-US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7" name="文本框 747522"/>
          <p:cNvSpPr txBox="1"/>
          <p:nvPr/>
        </p:nvSpPr>
        <p:spPr>
          <a:xfrm>
            <a:off x="673100" y="1196975"/>
            <a:ext cx="7848600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语句格式：</a:t>
            </a:r>
            <a:endParaRPr lang="zh-CN" altLang="en-US" sz="26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进程标号：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] PROCESS  [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敏感信号列表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 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     [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说明部分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];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BEGIN  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顺序描述语句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        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[WAIT  UNTIL 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条件表达式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];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               [WAIT  FOR   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时间表达式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];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            END PROCESS [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进程标号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0161" name="标题 754691"/>
          <p:cNvPicPr>
            <a:picLocks noGrp="1" noChangeAspect="1"/>
          </p:cNvPicPr>
          <p:nvPr>
            <p:ph type="title"/>
          </p:nvPr>
        </p:nvPicPr>
        <p:blipFill>
          <a:blip r:embed="rId1"/>
          <a:stretch>
            <a:fillRect/>
          </a:stretch>
        </p:blipFill>
        <p:spPr>
          <a:xfrm>
            <a:off x="635000" y="695325"/>
            <a:ext cx="7874000" cy="6032500"/>
          </a:xfrm>
          <a:noFill/>
          <a:ln>
            <a:noFill/>
          </a:ln>
        </p:spPr>
      </p:pic>
      <p:sp>
        <p:nvSpPr>
          <p:cNvPr id="220162" name="文本框 1"/>
          <p:cNvSpPr txBox="1"/>
          <p:nvPr/>
        </p:nvSpPr>
        <p:spPr>
          <a:xfrm>
            <a:off x="396875" y="447675"/>
            <a:ext cx="47545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举一个简单的例子说明进程的用法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5" name="文本框 748545"/>
          <p:cNvSpPr txBox="1"/>
          <p:nvPr/>
        </p:nvSpPr>
        <p:spPr>
          <a:xfrm>
            <a:off x="219075" y="1149350"/>
            <a:ext cx="8924925" cy="5127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语句组成：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敏感信号列表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列出启动进程的输入信号；也可以使用进程顺序部分的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WAIT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语句来控制进程的启动；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WAIT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语句和敏感列表只能出现一个，但可以有多个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WAIT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语句。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说明部分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用于定义一些进程内部有效的局部量，包括：变量、常数、数据类型、属性、子程序等，不允许定义信号。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顺序描述部分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描述进程模块的功能。一般采用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IF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语句描述算法，实现模块的行为功能。</a:t>
            </a:r>
            <a:endParaRPr lang="zh-CN" altLang="en-US" sz="2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1186" name="矩形 748546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09" name="文本框 749569"/>
          <p:cNvSpPr txBox="1"/>
          <p:nvPr/>
        </p:nvSpPr>
        <p:spPr>
          <a:xfrm>
            <a:off x="602298" y="1108075"/>
            <a:ext cx="8066087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进程特点：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进程状态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独立的无限循环程序结构。进程有两种运行状态，即执行状态（激活）和等待状态（挂起）。当敏感信号列表中信号有变化或者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WAIT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条件满足时，进程进入执行状态，顺序执行进程内顺序描述语句，遇到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END PROCESS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语句后停止执行，自动返回起始语句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PROCESS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，进入等待状态。</a:t>
            </a:r>
            <a:endParaRPr lang="zh-CN" altLang="en-US" sz="24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2210" name="矩形 749570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3" name="文本框 750593"/>
          <p:cNvSpPr txBox="1"/>
          <p:nvPr/>
        </p:nvSpPr>
        <p:spPr>
          <a:xfrm>
            <a:off x="611188" y="1341438"/>
            <a:ext cx="8066087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进程的并行性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进程内部虽然是顺序语句，但其综合后的硬件是一个独立模块，所以进程内部的顺序语句具有顺序和并行双重性；不同进程是并行运行的，进程之间的通信通过信号传递，这也反映了信号的全局特征。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时钟驱动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zh-CN" sz="2400" b="1" dirty="0">
                <a:latin typeface="楷体_GB2312" pitchFamily="49" charset="-122"/>
                <a:ea typeface="楷体_GB2312" pitchFamily="49" charset="-122"/>
              </a:rPr>
              <a:t>一般一个进程中只能描述针对同一时钟的同步时序逻辑，异步时序逻辑则需要由多个进程来表达。</a:t>
            </a:r>
            <a:endParaRPr lang="zh-CN" altLang="en-US" sz="24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3234" name="矩形 750594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3235" name="矩形 750595"/>
          <p:cNvSpPr/>
          <p:nvPr/>
        </p:nvSpPr>
        <p:spPr>
          <a:xfrm>
            <a:off x="673100" y="4762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进程特点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7" name="文本框 751617"/>
          <p:cNvSpPr txBox="1"/>
          <p:nvPr/>
        </p:nvSpPr>
        <p:spPr>
          <a:xfrm>
            <a:off x="539750" y="1196975"/>
            <a:ext cx="8064500" cy="5003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一、组合进程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5-22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ARCHITECTURE  connect OF mux1 IS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BEGIN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   cale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:                                                                        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进程名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PROCESS (d0,d1,sel)                                     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输入信号为敏感信号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VARIABLE  tmp1,tmp2,tmp3: std_logic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;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在进程中定义变量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        tmp1:=d0 AND sel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;                                   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输入端口向变量赋值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tmp2:=d1 AND (NOT sel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);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  tmp3:=tmp1 OR tmp2;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       q&lt;=tmp3;                                                    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变量值赋给输出信号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END PROCESS cale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;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END connect;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4258" name="矩形 751618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4259" name="矩形 751619"/>
          <p:cNvSpPr/>
          <p:nvPr/>
        </p:nvSpPr>
        <p:spPr>
          <a:xfrm>
            <a:off x="673100" y="476250"/>
            <a:ext cx="8229600" cy="72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进程示例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02100" y="5370513"/>
            <a:ext cx="3981450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用敏感信号列表中的信号对输出信号赋值，没有反馈。</a:t>
            </a:r>
            <a:endParaRPr lang="zh-CN" altLang="en-US" sz="2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8897" name="文本框 751617"/>
          <p:cNvSpPr txBox="1"/>
          <p:nvPr/>
        </p:nvSpPr>
        <p:spPr>
          <a:xfrm>
            <a:off x="539750" y="1196975"/>
            <a:ext cx="8064500" cy="5003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lnSpc>
                <a:spcPct val="110000"/>
              </a:lnSpc>
            </a:pPr>
            <a:r>
              <a:rPr lang="zh-CN" altLang="zh-CN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lang="zh-CN" altLang="en-US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lang="zh-CN" altLang="zh-CN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zh-CN" altLang="zh-CN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】</a:t>
            </a:r>
            <a:endParaRPr lang="en-US" altLang="zh-CN" b="1" noProof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  connect OF mux1 IS</a:t>
            </a:r>
            <a:endParaRPr lang="en-US" altLang="zh-CN" sz="20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BEGIN  </a:t>
            </a:r>
            <a:r>
              <a:rPr lang="en-US" altLang="zh-CN" sz="2000" b="1" noProof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en-US" altLang="zh-CN" sz="2000" b="1" noProof="1" err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process(reset</a:t>
            </a:r>
            <a:r>
              <a:rPr lang="en-US" altLang="zh-CN" sz="2000" b="1" noProof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in_data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                      --</a:t>
            </a:r>
            <a:r>
              <a:rPr lang="zh-CN" altLang="en-US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所有的输入信号为敏感信号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begin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if(reset = ‘1’)  then                     --</a:t>
            </a:r>
            <a:r>
              <a:rPr lang="zh-CN" altLang="en-US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这里会产生锁存器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lang="zh-CN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  </a:t>
            </a:r>
            <a:r>
              <a:rPr lang="en-US" altLang="zh-CN" sz="2000" b="1" noProof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data 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&lt;= “00”;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lang="zh-CN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 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else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lang="en-US" altLang="zh-CN" sz="2000" b="1" noProof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&lt;= </a:t>
            </a:r>
            <a:r>
              <a:rPr lang="en-US" altLang="zh-CN" sz="2000" b="1" noProof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in_data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</a:t>
            </a:r>
            <a:r>
              <a:rPr lang="zh-CN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end if;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b="1" noProof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end</a:t>
            </a:r>
            <a:r>
              <a:rPr lang="en-US" altLang="zh-CN" sz="2000" b="1" noProof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process;</a:t>
            </a:r>
            <a:endParaRPr kumimoji="0" lang="zh-CN" altLang="zh-CN" sz="2000" b="1" kern="1200" cap="none" spc="0" normalizeH="0" baseline="0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10000"/>
              </a:lnSpc>
            </a:pPr>
            <a:r>
              <a:rPr lang="en-US" altLang="zh-CN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connect;</a:t>
            </a:r>
            <a:endParaRPr lang="en-US" altLang="zh-CN" sz="20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endParaRPr lang="en-US" altLang="zh-CN" sz="20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5282" name="矩形 751619"/>
          <p:cNvSpPr/>
          <p:nvPr/>
        </p:nvSpPr>
        <p:spPr>
          <a:xfrm>
            <a:off x="673100" y="476250"/>
            <a:ext cx="8229600" cy="72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进程示例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5" name="文本框 752641"/>
          <p:cNvSpPr txBox="1"/>
          <p:nvPr/>
        </p:nvSpPr>
        <p:spPr>
          <a:xfrm>
            <a:off x="827088" y="1125538"/>
            <a:ext cx="8066087" cy="5183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5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二、时钟进程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5-23】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ARCHITECTURE rig_d OF ffd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process (clk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                          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时钟为敏感信号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if clk’event and clk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=’1’ then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的上升沿检测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q&lt;=d;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end process;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end rig_d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6306" name="矩形 752642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6307" name="矩形 752643"/>
          <p:cNvSpPr/>
          <p:nvPr/>
        </p:nvSpPr>
        <p:spPr>
          <a:xfrm>
            <a:off x="673100" y="4762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进程示例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3" name="Rectangle 3"/>
          <p:cNvSpPr>
            <a:spLocks noGrp="1"/>
          </p:cNvSpPr>
          <p:nvPr/>
        </p:nvSpPr>
        <p:spPr>
          <a:xfrm>
            <a:off x="720725" y="1522413"/>
            <a:ext cx="7986713" cy="381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process(</a:t>
            </a:r>
            <a:r>
              <a:rPr lang="en-US" altLang="zh-CN" sz="2400" dirty="0" err="1">
                <a:latin typeface="Times New Roman" panose="02020603050405020304" pitchFamily="18" charset="0"/>
              </a:rPr>
              <a:t>clk</a:t>
            </a:r>
            <a:r>
              <a:rPr lang="en-US" altLang="zh-CN" sz="2400" dirty="0">
                <a:latin typeface="Times New Roman" panose="02020603050405020304" pitchFamily="18" charset="0"/>
              </a:rPr>
              <a:t>)                     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--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时钟为敏感信号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begin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if(</a:t>
            </a:r>
            <a:r>
              <a:rPr lang="en-US" altLang="zh-CN" sz="2400" dirty="0" err="1">
                <a:latin typeface="Times New Roman" panose="02020603050405020304" pitchFamily="18" charset="0"/>
              </a:rPr>
              <a:t>clk’event</a:t>
            </a:r>
            <a:r>
              <a:rPr lang="en-US" altLang="zh-CN" sz="2400" dirty="0">
                <a:latin typeface="Times New Roman" panose="02020603050405020304" pitchFamily="18" charset="0"/>
              </a:rPr>
              <a:t> and </a:t>
            </a:r>
            <a:r>
              <a:rPr lang="en-US" altLang="zh-CN" sz="2400" dirty="0" err="1">
                <a:latin typeface="Times New Roman" panose="02020603050405020304" pitchFamily="18" charset="0"/>
              </a:rPr>
              <a:t>clk</a:t>
            </a:r>
            <a:r>
              <a:rPr lang="en-US" altLang="zh-CN" sz="2400" dirty="0">
                <a:latin typeface="Times New Roman" panose="02020603050405020304" pitchFamily="18" charset="0"/>
              </a:rPr>
              <a:t> = ‘1’)  then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</a:t>
            </a:r>
            <a:r>
              <a:rPr lang="zh-CN" altLang="zh-CN" sz="2400" dirty="0">
                <a:latin typeface="Times New Roman" panose="02020603050405020304" pitchFamily="18" charset="0"/>
              </a:rPr>
              <a:t>　 </a:t>
            </a:r>
            <a:r>
              <a:rPr lang="en-US" altLang="zh-CN" sz="2400" dirty="0">
                <a:latin typeface="Times New Roman" panose="02020603050405020304" pitchFamily="18" charset="0"/>
              </a:rPr>
              <a:t>if reset = ‘1’ then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data &lt;= “00”;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</a:t>
            </a:r>
            <a:r>
              <a:rPr lang="zh-CN" altLang="zh-CN" sz="2400" dirty="0">
                <a:latin typeface="Times New Roman" panose="02020603050405020304" pitchFamily="18" charset="0"/>
              </a:rPr>
              <a:t>　 </a:t>
            </a:r>
            <a:r>
              <a:rPr lang="en-US" altLang="zh-CN" sz="2400" dirty="0">
                <a:latin typeface="Times New Roman" panose="02020603050405020304" pitchFamily="18" charset="0"/>
              </a:rPr>
              <a:t>else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data &lt;=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in_data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</a:t>
            </a:r>
            <a:r>
              <a:rPr lang="zh-CN" altLang="zh-CN" sz="2400" dirty="0">
                <a:latin typeface="Times New Roman" panose="02020603050405020304" pitchFamily="18" charset="0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</a:rPr>
              <a:t>end if;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end if;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end process;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Tx/>
              <a:buSzTx/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28354" name="文本框 1"/>
          <p:cNvSpPr txBox="1"/>
          <p:nvPr/>
        </p:nvSpPr>
        <p:spPr>
          <a:xfrm>
            <a:off x="5810250" y="3060700"/>
            <a:ext cx="2535555" cy="737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同步复位进程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8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5" name="文本框 753665"/>
          <p:cNvSpPr txBox="1"/>
          <p:nvPr/>
        </p:nvSpPr>
        <p:spPr>
          <a:xfrm>
            <a:off x="365125" y="625158"/>
            <a:ext cx="8066088" cy="5511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process                                </a:t>
            </a:r>
            <a:r>
              <a:rPr lang="en-US" altLang="zh-CN" sz="2400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--</a:t>
            </a:r>
            <a:r>
              <a:rPr lang="zh-CN" altLang="en-US" sz="2400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无敏感信号列表</a:t>
            </a:r>
            <a:endParaRPr kumimoji="0" lang="en-US" altLang="zh-CN" sz="2400" b="1" kern="1200" cap="none" spc="0" normalizeH="0" baseline="0" noProof="1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begin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wait until (</a:t>
            </a:r>
            <a:r>
              <a:rPr lang="en-US" altLang="zh-CN" sz="2400" b="1" noProof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clk’event</a:t>
            </a: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and </a:t>
            </a:r>
            <a:r>
              <a:rPr lang="en-US" altLang="zh-CN" sz="2400" b="1" noProof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clk</a:t>
            </a: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= ‘1’);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if reset = ‘1’  then</a:t>
            </a:r>
            <a:endParaRPr kumimoji="0" lang="en-US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data &lt;= “00”;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en-US" altLang="zh-CN" sz="2400" b="1" noProof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else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  </a:t>
            </a:r>
            <a:r>
              <a:rPr lang="en-US" altLang="zh-CN" sz="2400" b="1" noProof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data </a:t>
            </a: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&lt;= </a:t>
            </a:r>
            <a:r>
              <a:rPr lang="en-US" altLang="zh-CN" sz="2400" b="1" noProof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in_data</a:t>
            </a: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;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end if;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400" b="1" noProof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end process; </a:t>
            </a:r>
            <a:endParaRPr kumimoji="0" lang="zh-CN" altLang="zh-CN" sz="2400" b="1" kern="1200" cap="none" spc="0" normalizeH="0" baseline="0" noProof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endParaRPr lang="zh-CN" altLang="en-US" sz="2400" b="1" noProof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b="1" noProof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2450" name="文本框 1"/>
          <p:cNvSpPr txBox="1"/>
          <p:nvPr/>
        </p:nvSpPr>
        <p:spPr>
          <a:xfrm>
            <a:off x="5837238" y="3322320"/>
            <a:ext cx="2535555" cy="737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同步复位进程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2</a:t>
            </a:r>
            <a:endParaRPr lang="en-US" altLang="zh-CN" sz="28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76190" y="5013325"/>
            <a:ext cx="30365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无敏感信号进程</a:t>
            </a:r>
            <a:endParaRPr lang="zh-CN" altLang="en-US" sz="24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1" name="Rectangle 3"/>
          <p:cNvSpPr>
            <a:spLocks noGrp="1"/>
          </p:cNvSpPr>
          <p:nvPr/>
        </p:nvSpPr>
        <p:spPr>
          <a:xfrm>
            <a:off x="581025" y="1196975"/>
            <a:ext cx="8124825" cy="515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</a:rPr>
              <a:t> process(</a:t>
            </a:r>
            <a:r>
              <a:rPr lang="en-US" altLang="zh-CN" sz="2400" dirty="0" err="1">
                <a:latin typeface="Times New Roman" panose="02020603050405020304" pitchFamily="18" charset="0"/>
              </a:rPr>
              <a:t>clk,reset</a:t>
            </a:r>
            <a:r>
              <a:rPr lang="en-US" altLang="zh-CN" sz="2400" dirty="0">
                <a:latin typeface="Times New Roman" panose="02020603050405020304" pitchFamily="18" charset="0"/>
              </a:rPr>
              <a:t>)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--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时钟和复位信号为敏感信号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begin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if reset = ‘1’  then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data &lt;= “00”;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elsif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clk’event</a:t>
            </a:r>
            <a:r>
              <a:rPr lang="en-US" altLang="zh-CN" sz="2400" dirty="0">
                <a:latin typeface="Times New Roman" panose="02020603050405020304" pitchFamily="18" charset="0"/>
              </a:rPr>
              <a:t> and </a:t>
            </a:r>
            <a:r>
              <a:rPr lang="en-US" altLang="zh-CN" sz="2400" dirty="0" err="1">
                <a:latin typeface="Times New Roman" panose="02020603050405020304" pitchFamily="18" charset="0"/>
              </a:rPr>
              <a:t>clk</a:t>
            </a:r>
            <a:r>
              <a:rPr lang="en-US" altLang="zh-CN" sz="2400" dirty="0">
                <a:latin typeface="Times New Roman" panose="02020603050405020304" pitchFamily="18" charset="0"/>
              </a:rPr>
              <a:t> = ‘1’) then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data &lt;=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in_data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end if;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end process; 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Tx/>
              <a:buSzTx/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30405" name="文本框 1"/>
          <p:cNvSpPr txBox="1"/>
          <p:nvPr/>
        </p:nvSpPr>
        <p:spPr>
          <a:xfrm>
            <a:off x="6292850" y="3060700"/>
            <a:ext cx="2535555" cy="737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异步复位进程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2</a:t>
            </a:r>
            <a:endParaRPr lang="en-US" altLang="zh-CN" sz="28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7" name="Rectangle 3"/>
          <p:cNvSpPr>
            <a:spLocks noGrp="1"/>
          </p:cNvSpPr>
          <p:nvPr/>
        </p:nvSpPr>
        <p:spPr>
          <a:xfrm>
            <a:off x="247650" y="1381125"/>
            <a:ext cx="8710613" cy="44402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</a:rPr>
              <a:t> process                             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 --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无敏感信号列表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begin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          if reset = ‘1’  then</a:t>
            </a:r>
            <a:endParaRPr lang="en-US" altLang="zh-CN" sz="24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           data &lt;= “00”;</a:t>
            </a:r>
            <a:endParaRPr lang="en-US" altLang="zh-CN" sz="24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           end if;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wait until </a:t>
            </a: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sym typeface="宋体" panose="02010600030101010101" pitchFamily="2" charset="-122"/>
              </a:rPr>
              <a:t>clk’event</a:t>
            </a: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 and </a:t>
            </a:r>
            <a:r>
              <a:rPr lang="en-US" altLang="zh-CN" sz="2400" dirty="0" err="1">
                <a:latin typeface="Times New Roman" panose="02020603050405020304" pitchFamily="18" charset="0"/>
                <a:sym typeface="宋体" panose="02010600030101010101" pitchFamily="2" charset="-122"/>
              </a:rPr>
              <a:t>clk</a:t>
            </a: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 = ‘1’);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data &lt;=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in_data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end process; 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Tx/>
              <a:buSzTx/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34498" name="文本框 1"/>
          <p:cNvSpPr txBox="1"/>
          <p:nvPr/>
        </p:nvSpPr>
        <p:spPr>
          <a:xfrm>
            <a:off x="5810250" y="3060700"/>
            <a:ext cx="2535555" cy="737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异步复位进程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2</a:t>
            </a:r>
            <a:endParaRPr lang="en-US" altLang="zh-CN" sz="28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76190" y="5013325"/>
            <a:ext cx="30365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无敏感信号进程</a:t>
            </a:r>
            <a:endParaRPr lang="zh-CN" altLang="en-US" sz="24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5" name="文本框 753665"/>
          <p:cNvSpPr txBox="1"/>
          <p:nvPr/>
        </p:nvSpPr>
        <p:spPr>
          <a:xfrm>
            <a:off x="465138" y="980758"/>
            <a:ext cx="8066087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三、多进程并行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charset="-122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</a:rPr>
              <a:t>例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charset="-122"/>
              </a:rPr>
              <a:t>5-24】</a:t>
            </a:r>
            <a:endParaRPr lang="zh-CN" altLang="en-US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 err="1">
                <a:latin typeface="Times New Roman" panose="02020603050405020304" pitchFamily="18" charset="0"/>
                <a:ea typeface="微软雅黑" panose="020B0503020204020204" charset="-122"/>
              </a:rPr>
              <a:t>ENTITY mul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 err="1">
                <a:latin typeface="Times New Roman" panose="02020603050405020304" pitchFamily="18" charset="0"/>
                <a:ea typeface="微软雅黑" panose="020B0503020204020204" charset="-122"/>
              </a:rPr>
              <a:t>PORT (a,b,c,selx,sely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: IN BIT;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 err="1">
                <a:latin typeface="Times New Roman" panose="02020603050405020304" pitchFamily="18" charset="0"/>
                <a:ea typeface="微软雅黑" panose="020B0503020204020204" charset="-122"/>
              </a:rPr>
              <a:t>         data_out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: OUT BIT  );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 err="1">
                <a:latin typeface="Times New Roman" panose="02020603050405020304" pitchFamily="18" charset="0"/>
                <a:ea typeface="微软雅黑" panose="020B0503020204020204" charset="-122"/>
              </a:rPr>
              <a:t>END mul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 err="1">
                <a:latin typeface="Times New Roman" panose="02020603050405020304" pitchFamily="18" charset="0"/>
                <a:ea typeface="微软雅黑" panose="020B0503020204020204" charset="-122"/>
              </a:rPr>
              <a:t>ARCHITECTURE ex OF mul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  SIGNAL  temp: BIT;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/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endParaRPr lang="en-US" altLang="zh-CN" sz="2400" b="1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36546" name="矩形 753666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5473" name="图片 798723" descr="3-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52135" y="908685"/>
            <a:ext cx="2857500" cy="2091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69" name="文本框 755713"/>
          <p:cNvSpPr txBox="1"/>
          <p:nvPr/>
        </p:nvSpPr>
        <p:spPr>
          <a:xfrm>
            <a:off x="673100" y="1198563"/>
            <a:ext cx="8066088" cy="50593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lnSpc>
                <a:spcPct val="105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</a:pPr>
            <a:r>
              <a:rPr lang="en-US" altLang="zh-CN" sz="2000" b="1" noProof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lang="en-US" altLang="zh-CN" sz="2400" b="1" noProof="1" err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p_a:</a:t>
            </a: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PROCESS (a,b,selx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BEGIN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IF (selx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'0') THEN  </a:t>
            </a:r>
            <a:r>
              <a:rPr lang="en-US" altLang="zh-CN" sz="2400" b="1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temp 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&lt;= a; 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ELSE    temp &lt;= b;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END IF;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END PROCESS p_a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sz="2400" b="1" noProof="1" err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p_b:</a:t>
            </a: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PROCESS(</a:t>
            </a:r>
            <a:r>
              <a:rPr lang="en-US" altLang="zh-CN" sz="2400" b="1" noProof="1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temp</a:t>
            </a: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c, sely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BEGIN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IF (sely = '0')  THEN  data_out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&lt;= temp;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ELSE   data_out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&lt;= c;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END IF;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END PROCESS p_b</a:t>
            </a: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105000"/>
              </a:lnSpc>
            </a:pPr>
            <a:r>
              <a:rPr lang="en-US" altLang="zh-CN" sz="2400" b="1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 ex;</a:t>
            </a:r>
            <a:endParaRPr lang="en-US" altLang="zh-CN" sz="2400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7570" name="矩形 755714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7571" name="矩形 755715"/>
          <p:cNvSpPr/>
          <p:nvPr/>
        </p:nvSpPr>
        <p:spPr>
          <a:xfrm>
            <a:off x="673100" y="4762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0000CC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多进程并行</a:t>
            </a:r>
            <a:endParaRPr lang="zh-CN" altLang="en-US" sz="2800" b="1" dirty="0">
              <a:solidFill>
                <a:srgbClr val="0000CC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69026" name="对象 769025"/>
          <p:cNvGraphicFramePr/>
          <p:nvPr/>
        </p:nvGraphicFramePr>
        <p:xfrm>
          <a:off x="0" y="1700213"/>
          <a:ext cx="91440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295650" imgH="1495425" progId="Word.Document.8">
                  <p:embed/>
                </p:oleObj>
              </mc:Choice>
              <mc:Fallback>
                <p:oleObj name="" r:id="rId1" imgW="3295650" imgH="1495425" progId="Word.Document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700213"/>
                        <a:ext cx="9144000" cy="43434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594" name="矩形 769027"/>
          <p:cNvSpPr/>
          <p:nvPr/>
        </p:nvSpPr>
        <p:spPr>
          <a:xfrm>
            <a:off x="673100" y="4762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0000CC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多进程并行</a:t>
            </a:r>
            <a:endParaRPr lang="zh-CN" altLang="en-US" sz="2800" b="1" dirty="0">
              <a:solidFill>
                <a:srgbClr val="0000CC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6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框 754689"/>
          <p:cNvSpPr txBox="1"/>
          <p:nvPr/>
        </p:nvSpPr>
        <p:spPr>
          <a:xfrm>
            <a:off x="323215" y="1268730"/>
            <a:ext cx="8066088" cy="5114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</a:pP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5-25】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ARCHITECTURE cnt_4 OF ffd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signal  q0,q1: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p_a:process (clk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                      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为敏感信号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if clk’event and clk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=’1’ then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的上升沿检测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q0&lt;=not q0;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end process p_a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Rectangle 5"/>
          <p:cNvSpPr/>
          <p:nvPr>
            <p:custDataLst>
              <p:tags r:id="rId1"/>
            </p:custDataLst>
          </p:nvPr>
        </p:nvSpPr>
        <p:spPr>
          <a:xfrm>
            <a:off x="6399530" y="1180465"/>
            <a:ext cx="762000" cy="11430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Text Box 6"/>
          <p:cNvSpPr txBox="1"/>
          <p:nvPr>
            <p:custDataLst>
              <p:tags r:id="rId2"/>
            </p:custDataLst>
          </p:nvPr>
        </p:nvSpPr>
        <p:spPr>
          <a:xfrm>
            <a:off x="6323330" y="1178560"/>
            <a:ext cx="1841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endParaRPr lang="zh-CN" altLang="zh-CN" sz="1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7"/>
          <p:cNvSpPr txBox="1"/>
          <p:nvPr>
            <p:custDataLst>
              <p:tags r:id="rId3"/>
            </p:custDataLst>
          </p:nvPr>
        </p:nvSpPr>
        <p:spPr>
          <a:xfrm>
            <a:off x="6323330" y="1804035"/>
            <a:ext cx="4635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1D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Text Box 8"/>
          <p:cNvSpPr txBox="1"/>
          <p:nvPr>
            <p:custDataLst>
              <p:tags r:id="rId4"/>
            </p:custDataLst>
          </p:nvPr>
        </p:nvSpPr>
        <p:spPr>
          <a:xfrm>
            <a:off x="6437630" y="1499235"/>
            <a:ext cx="4635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C1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9"/>
          <p:cNvSpPr txBox="1"/>
          <p:nvPr>
            <p:custDataLst>
              <p:tags r:id="rId5"/>
            </p:custDataLst>
          </p:nvPr>
        </p:nvSpPr>
        <p:spPr>
          <a:xfrm>
            <a:off x="6334760" y="2038985"/>
            <a:ext cx="184150" cy="274955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endParaRPr lang="zh-CN" altLang="zh-CN" sz="1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Line 10"/>
          <p:cNvSpPr/>
          <p:nvPr>
            <p:custDataLst>
              <p:tags r:id="rId6"/>
            </p:custDataLst>
          </p:nvPr>
        </p:nvSpPr>
        <p:spPr>
          <a:xfrm>
            <a:off x="6399530" y="1637665"/>
            <a:ext cx="76200" cy="76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" name="Line 11"/>
          <p:cNvSpPr/>
          <p:nvPr>
            <p:custDataLst>
              <p:tags r:id="rId7"/>
            </p:custDataLst>
          </p:nvPr>
        </p:nvSpPr>
        <p:spPr>
          <a:xfrm flipH="1">
            <a:off x="6399530" y="1713865"/>
            <a:ext cx="76200" cy="76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2"/>
          <p:cNvSpPr txBox="1"/>
          <p:nvPr>
            <p:custDataLst>
              <p:tags r:id="rId8"/>
            </p:custDataLst>
          </p:nvPr>
        </p:nvSpPr>
        <p:spPr>
          <a:xfrm>
            <a:off x="6856730" y="1180465"/>
            <a:ext cx="3619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" name="Oval 13"/>
          <p:cNvSpPr/>
          <p:nvPr>
            <p:custDataLst>
              <p:tags r:id="rId9"/>
            </p:custDataLst>
          </p:nvPr>
        </p:nvSpPr>
        <p:spPr>
          <a:xfrm>
            <a:off x="7161530" y="1971040"/>
            <a:ext cx="76200" cy="76200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Text Box 14"/>
          <p:cNvSpPr txBox="1"/>
          <p:nvPr>
            <p:custDataLst>
              <p:tags r:id="rId10"/>
            </p:custDataLst>
          </p:nvPr>
        </p:nvSpPr>
        <p:spPr>
          <a:xfrm>
            <a:off x="6856730" y="1804035"/>
            <a:ext cx="3619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Line 15"/>
          <p:cNvSpPr/>
          <p:nvPr>
            <p:custDataLst>
              <p:tags r:id="rId11"/>
            </p:custDataLst>
          </p:nvPr>
        </p:nvSpPr>
        <p:spPr>
          <a:xfrm>
            <a:off x="7161530" y="1409065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" name="Line 16"/>
          <p:cNvSpPr/>
          <p:nvPr>
            <p:custDataLst>
              <p:tags r:id="rId12"/>
            </p:custDataLst>
          </p:nvPr>
        </p:nvSpPr>
        <p:spPr>
          <a:xfrm flipV="1">
            <a:off x="7390130" y="641985"/>
            <a:ext cx="0" cy="768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" name="Line 17"/>
          <p:cNvSpPr/>
          <p:nvPr>
            <p:custDataLst>
              <p:tags r:id="rId13"/>
            </p:custDataLst>
          </p:nvPr>
        </p:nvSpPr>
        <p:spPr>
          <a:xfrm flipH="1">
            <a:off x="6170930" y="2018665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" name="Text Box 18"/>
          <p:cNvSpPr txBox="1"/>
          <p:nvPr>
            <p:custDataLst>
              <p:tags r:id="rId14"/>
            </p:custDataLst>
          </p:nvPr>
        </p:nvSpPr>
        <p:spPr>
          <a:xfrm>
            <a:off x="6609080" y="799465"/>
            <a:ext cx="536575" cy="36830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FF</a:t>
            </a:r>
            <a:r>
              <a:rPr lang="en-US" altLang="zh-CN" sz="1800" baseline="-25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19"/>
          <p:cNvSpPr txBox="1"/>
          <p:nvPr>
            <p:custDataLst>
              <p:tags r:id="rId15"/>
            </p:custDataLst>
          </p:nvPr>
        </p:nvSpPr>
        <p:spPr>
          <a:xfrm>
            <a:off x="7180580" y="275590"/>
            <a:ext cx="4381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18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Line 20"/>
          <p:cNvSpPr/>
          <p:nvPr>
            <p:custDataLst>
              <p:tags r:id="rId16"/>
            </p:custDataLst>
          </p:nvPr>
        </p:nvSpPr>
        <p:spPr>
          <a:xfrm>
            <a:off x="7390130" y="1694815"/>
            <a:ext cx="0" cy="304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" name="Line 21"/>
          <p:cNvSpPr/>
          <p:nvPr>
            <p:custDataLst>
              <p:tags r:id="rId17"/>
            </p:custDataLst>
          </p:nvPr>
        </p:nvSpPr>
        <p:spPr>
          <a:xfrm flipH="1">
            <a:off x="5789930" y="1699260"/>
            <a:ext cx="609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" name="Text Box 22"/>
          <p:cNvSpPr txBox="1"/>
          <p:nvPr>
            <p:custDataLst>
              <p:tags r:id="rId18"/>
            </p:custDataLst>
          </p:nvPr>
        </p:nvSpPr>
        <p:spPr>
          <a:xfrm>
            <a:off x="5189855" y="1518285"/>
            <a:ext cx="6794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Line 23"/>
          <p:cNvSpPr/>
          <p:nvPr>
            <p:custDataLst>
              <p:tags r:id="rId19"/>
            </p:custDataLst>
          </p:nvPr>
        </p:nvSpPr>
        <p:spPr>
          <a:xfrm>
            <a:off x="7237730" y="2004060"/>
            <a:ext cx="152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6" name="Line 24"/>
          <p:cNvSpPr/>
          <p:nvPr>
            <p:custDataLst>
              <p:tags r:id="rId20"/>
            </p:custDataLst>
          </p:nvPr>
        </p:nvSpPr>
        <p:spPr>
          <a:xfrm>
            <a:off x="7390130" y="2004060"/>
            <a:ext cx="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" name="Line 25"/>
          <p:cNvSpPr/>
          <p:nvPr>
            <p:custDataLst>
              <p:tags r:id="rId21"/>
            </p:custDataLst>
          </p:nvPr>
        </p:nvSpPr>
        <p:spPr>
          <a:xfrm flipH="1">
            <a:off x="6170930" y="2461260"/>
            <a:ext cx="1219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" name="Line 26"/>
          <p:cNvSpPr/>
          <p:nvPr>
            <p:custDataLst>
              <p:tags r:id="rId22"/>
            </p:custDataLst>
          </p:nvPr>
        </p:nvSpPr>
        <p:spPr>
          <a:xfrm flipV="1">
            <a:off x="6170930" y="2004060"/>
            <a:ext cx="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" name="Rectangle 27"/>
          <p:cNvSpPr/>
          <p:nvPr>
            <p:custDataLst>
              <p:tags r:id="rId23"/>
            </p:custDataLst>
          </p:nvPr>
        </p:nvSpPr>
        <p:spPr>
          <a:xfrm>
            <a:off x="7771130" y="1165860"/>
            <a:ext cx="762000" cy="11430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" name="Text Box 28"/>
          <p:cNvSpPr txBox="1"/>
          <p:nvPr>
            <p:custDataLst>
              <p:tags r:id="rId24"/>
            </p:custDataLst>
          </p:nvPr>
        </p:nvSpPr>
        <p:spPr>
          <a:xfrm>
            <a:off x="7694930" y="1164590"/>
            <a:ext cx="1841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endParaRPr lang="zh-CN" altLang="zh-CN" sz="1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" name="Text Box 29"/>
          <p:cNvSpPr txBox="1"/>
          <p:nvPr>
            <p:custDataLst>
              <p:tags r:id="rId25"/>
            </p:custDataLst>
          </p:nvPr>
        </p:nvSpPr>
        <p:spPr>
          <a:xfrm>
            <a:off x="7694930" y="1790065"/>
            <a:ext cx="4635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1D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" name="Text Box 30"/>
          <p:cNvSpPr txBox="1"/>
          <p:nvPr>
            <p:custDataLst>
              <p:tags r:id="rId26"/>
            </p:custDataLst>
          </p:nvPr>
        </p:nvSpPr>
        <p:spPr>
          <a:xfrm>
            <a:off x="7809230" y="1485265"/>
            <a:ext cx="4635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C1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Text Box 31"/>
          <p:cNvSpPr txBox="1"/>
          <p:nvPr>
            <p:custDataLst>
              <p:tags r:id="rId27"/>
            </p:custDataLst>
          </p:nvPr>
        </p:nvSpPr>
        <p:spPr>
          <a:xfrm>
            <a:off x="7706360" y="2025015"/>
            <a:ext cx="184150" cy="274955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endParaRPr lang="zh-CN" altLang="zh-CN" sz="1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Line 32"/>
          <p:cNvSpPr/>
          <p:nvPr>
            <p:custDataLst>
              <p:tags r:id="rId28"/>
            </p:custDataLst>
          </p:nvPr>
        </p:nvSpPr>
        <p:spPr>
          <a:xfrm>
            <a:off x="7771130" y="1623060"/>
            <a:ext cx="76200" cy="76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" name="Line 33"/>
          <p:cNvSpPr/>
          <p:nvPr>
            <p:custDataLst>
              <p:tags r:id="rId29"/>
            </p:custDataLst>
          </p:nvPr>
        </p:nvSpPr>
        <p:spPr>
          <a:xfrm flipH="1">
            <a:off x="7771130" y="1699260"/>
            <a:ext cx="76200" cy="76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6" name="Text Box 34"/>
          <p:cNvSpPr txBox="1"/>
          <p:nvPr>
            <p:custDataLst>
              <p:tags r:id="rId30"/>
            </p:custDataLst>
          </p:nvPr>
        </p:nvSpPr>
        <p:spPr>
          <a:xfrm>
            <a:off x="8228330" y="1165860"/>
            <a:ext cx="3619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" name="Oval 35"/>
          <p:cNvSpPr/>
          <p:nvPr>
            <p:custDataLst>
              <p:tags r:id="rId31"/>
            </p:custDataLst>
          </p:nvPr>
        </p:nvSpPr>
        <p:spPr>
          <a:xfrm>
            <a:off x="8533130" y="1956435"/>
            <a:ext cx="76200" cy="76200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" name="Text Box 36"/>
          <p:cNvSpPr txBox="1"/>
          <p:nvPr>
            <p:custDataLst>
              <p:tags r:id="rId32"/>
            </p:custDataLst>
          </p:nvPr>
        </p:nvSpPr>
        <p:spPr>
          <a:xfrm>
            <a:off x="8228330" y="1790065"/>
            <a:ext cx="3619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Line 37"/>
          <p:cNvSpPr/>
          <p:nvPr>
            <p:custDataLst>
              <p:tags r:id="rId33"/>
            </p:custDataLst>
          </p:nvPr>
        </p:nvSpPr>
        <p:spPr>
          <a:xfrm>
            <a:off x="8533130" y="1394460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0" name="Line 38"/>
          <p:cNvSpPr/>
          <p:nvPr>
            <p:custDataLst>
              <p:tags r:id="rId34"/>
            </p:custDataLst>
          </p:nvPr>
        </p:nvSpPr>
        <p:spPr>
          <a:xfrm flipV="1">
            <a:off x="8761730" y="628015"/>
            <a:ext cx="0" cy="76708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Line 39"/>
          <p:cNvSpPr/>
          <p:nvPr>
            <p:custDataLst>
              <p:tags r:id="rId35"/>
            </p:custDataLst>
          </p:nvPr>
        </p:nvSpPr>
        <p:spPr>
          <a:xfrm flipH="1">
            <a:off x="7542530" y="2004060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2" name="Text Box 40"/>
          <p:cNvSpPr txBox="1"/>
          <p:nvPr>
            <p:custDataLst>
              <p:tags r:id="rId36"/>
            </p:custDataLst>
          </p:nvPr>
        </p:nvSpPr>
        <p:spPr>
          <a:xfrm>
            <a:off x="7980680" y="784860"/>
            <a:ext cx="536575" cy="36830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FF</a:t>
            </a:r>
            <a:r>
              <a:rPr lang="en-US" altLang="zh-CN" sz="1800" baseline="-25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" name="Text Box 41"/>
          <p:cNvSpPr txBox="1"/>
          <p:nvPr>
            <p:custDataLst>
              <p:tags r:id="rId37"/>
            </p:custDataLst>
          </p:nvPr>
        </p:nvSpPr>
        <p:spPr>
          <a:xfrm>
            <a:off x="8552180" y="260985"/>
            <a:ext cx="438150" cy="3670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18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4" name="Line 43"/>
          <p:cNvSpPr/>
          <p:nvPr>
            <p:custDataLst>
              <p:tags r:id="rId38"/>
            </p:custDataLst>
          </p:nvPr>
        </p:nvSpPr>
        <p:spPr>
          <a:xfrm flipH="1">
            <a:off x="7390130" y="1685290"/>
            <a:ext cx="381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" name="Line 44"/>
          <p:cNvSpPr/>
          <p:nvPr>
            <p:custDataLst>
              <p:tags r:id="rId39"/>
            </p:custDataLst>
          </p:nvPr>
        </p:nvSpPr>
        <p:spPr>
          <a:xfrm>
            <a:off x="8609330" y="1990090"/>
            <a:ext cx="152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" name="Line 45"/>
          <p:cNvSpPr/>
          <p:nvPr>
            <p:custDataLst>
              <p:tags r:id="rId40"/>
            </p:custDataLst>
          </p:nvPr>
        </p:nvSpPr>
        <p:spPr>
          <a:xfrm>
            <a:off x="8761730" y="1990090"/>
            <a:ext cx="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" name="Line 46"/>
          <p:cNvSpPr/>
          <p:nvPr>
            <p:custDataLst>
              <p:tags r:id="rId41"/>
            </p:custDataLst>
          </p:nvPr>
        </p:nvSpPr>
        <p:spPr>
          <a:xfrm flipH="1">
            <a:off x="7542530" y="2447290"/>
            <a:ext cx="1219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" name="Line 47"/>
          <p:cNvSpPr/>
          <p:nvPr>
            <p:custDataLst>
              <p:tags r:id="rId42"/>
            </p:custDataLst>
          </p:nvPr>
        </p:nvSpPr>
        <p:spPr>
          <a:xfrm flipV="1">
            <a:off x="7542530" y="1990090"/>
            <a:ext cx="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7" grpId="0"/>
      <p:bldP spid="239617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1" name="文本框 757761"/>
          <p:cNvSpPr txBox="1"/>
          <p:nvPr/>
        </p:nvSpPr>
        <p:spPr>
          <a:xfrm>
            <a:off x="611188" y="1557338"/>
            <a:ext cx="8066087" cy="446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3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p_b:process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(q0)                    --q0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为敏感信号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     if q0’event and q0=’1’ then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q0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的上升沿检测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q1&lt;=not q1;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end process p_b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y&lt;=q0&amp;q1;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cnt_4;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0642" name="矩形 757762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665" name="矩形 758786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1666" name="图片 758790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888" y="1773238"/>
            <a:ext cx="6049962" cy="3544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2689" name="文本占位符 779265"/>
          <p:cNvSpPr>
            <a:spLocks noGrp="1"/>
          </p:cNvSpPr>
          <p:nvPr>
            <p:ph idx="1"/>
          </p:nvPr>
        </p:nvSpPr>
        <p:spPr>
          <a:xfrm>
            <a:off x="428625" y="1515110"/>
            <a:ext cx="8286750" cy="4274185"/>
          </a:xfrm>
        </p:spPr>
        <p:txBody>
          <a:bodyPr anchor="t" anchorCtr="0"/>
          <a:p>
            <a:pPr algn="just">
              <a:lnSpc>
                <a:spcPct val="130000"/>
              </a:lnSpc>
              <a:buNone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块语句（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）是把许多并行语句包装在一起，便于程序阅读理解。从综合角度看，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语句没有使用价值。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块名称：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声明部分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;]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End Block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块名称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b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690" name="矩形 779266"/>
          <p:cNvSpPr/>
          <p:nvPr/>
        </p:nvSpPr>
        <p:spPr>
          <a:xfrm>
            <a:off x="684213" y="476250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5.2.3 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BLOCK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块语句</a:t>
            </a:r>
            <a:br>
              <a:rPr lang="zh-CN" altLang="en-US" sz="3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36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373063"/>
            <a:ext cx="9131300" cy="55895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块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描述的例子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endParaRPr kumimoji="0" lang="en-US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A1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OUT1 &lt;= '1'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after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5 ns;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LEVEL1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block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begin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A2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OUT2 &lt;= '1'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after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5 ns;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A3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OUT3 &lt;= '0'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after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4 ns;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block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LEVEL1;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 A1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OUT1 &lt;= '1'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after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5 ns;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 A2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OUT2 &lt;= '1'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after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5 ns;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 A3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: OUT3 &lt;= '0'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after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 4 ns;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框 754689"/>
          <p:cNvSpPr txBox="1"/>
          <p:nvPr/>
        </p:nvSpPr>
        <p:spPr>
          <a:xfrm>
            <a:off x="244475" y="651510"/>
            <a:ext cx="8066405" cy="588772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</a:pP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5-2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architecture Behavioral of gate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andgate:block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yand&lt;=a and b;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end block  andgate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400" err="1">
                <a:ea typeface="楷体_GB2312" pitchFamily="49" charset="-122"/>
                <a:sym typeface="+mn-ea"/>
              </a:rPr>
              <a:t> orgate:block</a:t>
            </a:r>
            <a:r>
              <a:rPr lang="en-US" altLang="zh-CN" sz="2400" dirty="0">
                <a:ea typeface="楷体_GB2312" pitchFamily="49" charset="-122"/>
                <a:sym typeface="+mn-ea"/>
              </a:rPr>
              <a:t>                             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dirty="0">
                <a:ea typeface="楷体_GB2312" pitchFamily="49" charset="-122"/>
                <a:sym typeface="+mn-ea"/>
              </a:rPr>
              <a:t>    </a:t>
            </a:r>
            <a:r>
              <a:rPr lang="en-US" altLang="zh-CN" sz="2400">
                <a:ea typeface="楷体_GB2312" pitchFamily="49" charset="-122"/>
                <a:sym typeface="+mn-ea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err="1">
                <a:ea typeface="楷体_GB2312" pitchFamily="49" charset="-122"/>
                <a:sym typeface="+mn-ea"/>
              </a:rPr>
              <a:t>    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    </a:t>
            </a:r>
            <a:r>
              <a:rPr lang="en-US" altLang="zh-CN" sz="2400">
                <a:ea typeface="楷体_GB2312" pitchFamily="49" charset="-122"/>
                <a:sym typeface="+mn-ea"/>
              </a:rPr>
              <a:t>yand&lt;=a or b;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>
                <a:ea typeface="楷体_GB2312" pitchFamily="49" charset="-122"/>
                <a:sym typeface="+mn-ea"/>
              </a:rPr>
              <a:t> </a:t>
            </a:r>
            <a:r>
              <a:rPr lang="en-US" altLang="zh-CN" sz="2400" err="1">
                <a:ea typeface="楷体_GB2312" pitchFamily="49" charset="-122"/>
                <a:sym typeface="+mn-ea"/>
              </a:rPr>
              <a:t> end block  orgate</a:t>
            </a:r>
            <a:r>
              <a:rPr lang="en-US" altLang="zh-CN" sz="2400">
                <a:ea typeface="楷体_GB2312" pitchFamily="49" charset="-122"/>
                <a:sym typeface="+mn-ea"/>
              </a:rPr>
              <a:t>;</a:t>
            </a:r>
            <a:endParaRPr lang="en-US" altLang="zh-CN" sz="2400">
              <a:ea typeface="楷体_GB2312" pitchFamily="49" charset="-122"/>
              <a:sym typeface="+mn-ea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>
                <a:ea typeface="楷体_GB2312" pitchFamily="49" charset="-122"/>
                <a:sym typeface="+mn-ea"/>
              </a:rPr>
              <a:t>end   </a:t>
            </a:r>
            <a:r>
              <a:rPr lang="en-US" altLang="zh-CN" sz="2400" err="1">
                <a:ea typeface="楷体_GB2312" pitchFamily="49" charset="-122"/>
                <a:sym typeface="+mn-ea"/>
              </a:rPr>
              <a:t>Behavioral;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1745615"/>
            <a:ext cx="9131300" cy="4968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嵌套块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描述的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B1: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block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signal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s:bit;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s&lt;=a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b;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B2: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block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signal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s:bit;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&lt;=c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B3: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block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9858" name="TextBox 1"/>
          <p:cNvSpPr txBox="1"/>
          <p:nvPr/>
        </p:nvSpPr>
        <p:spPr>
          <a:xfrm>
            <a:off x="4500563" y="3069590"/>
            <a:ext cx="3600450" cy="251142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z&lt;=s;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B3;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B2;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y&lt;=s;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B1;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>
          <a:xfrm>
            <a:off x="266700" y="78740"/>
            <a:ext cx="8334375" cy="19875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46990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lvl="1" indent="-4362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lvl="2" indent="-3949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lvl="3" indent="-387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lvl="4" indent="-39878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zh-CN" altLang="en-US" b="1" strike="noStrike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嵌套块</a:t>
            </a:r>
            <a:endParaRPr lang="zh-CN" altLang="en-US" b="1" strike="noStrike" noProof="1" dirty="0">
              <a:solidFill>
                <a:schemeClr val="accent5">
                  <a:lumMod val="50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strike="noStrike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en-US" sz="2400" b="1" strike="noStrike" noProof="1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块声明与父块声明的对象同名时，子块声明将忽略掉父块声明。</a:t>
            </a:r>
            <a:endParaRPr lang="zh-CN" altLang="en-US" sz="2400" b="1" strike="noStrike" noProof="1" dirty="0">
              <a:solidFill>
                <a:srgbClr val="7030A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/>
        </p:nvSpPr>
        <p:spPr>
          <a:xfrm>
            <a:off x="733425" y="461963"/>
            <a:ext cx="8229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kern="1200" cap="none" spc="0" normalizeH="0" baseline="0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5.2.4  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并行断言语句</a:t>
            </a:r>
            <a:endParaRPr kumimoji="0" lang="zh-CN" altLang="en-US" sz="3600" b="1" i="0" u="none" strike="noStrike" kern="1200" cap="none" spc="0" normalizeH="0" baseline="0" noProof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700213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并行断言语句表示一个包含断言语句的被动的过程。其语法格式为</a:t>
            </a:r>
            <a:r>
              <a:rPr kumimoji="0" lang="zh-CN" altLang="en-US" sz="28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kumimoji="0" lang="en-US" altLang="zh-CN" sz="28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[label :][postponed] assertion;</a:t>
            </a:r>
            <a:endParaRPr kumimoji="0" lang="zh-CN" altLang="zh-CN" sz="28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8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1228725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并行断言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描述的</a:t>
            </a:r>
            <a:r>
              <a:rPr kumimoji="0" lang="zh-CN" altLang="en-US" sz="30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endParaRPr kumimoji="0" lang="en-US" altLang="zh-CN" sz="30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entity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s_r_ff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port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(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s,r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bit;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q,q_n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out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bit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	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entity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s_r_ff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rtl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s_r_ff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q&lt;='1'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s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else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'0'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r;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7746" name="TextBox 1"/>
          <p:cNvSpPr txBox="1"/>
          <p:nvPr/>
        </p:nvSpPr>
        <p:spPr>
          <a:xfrm>
            <a:off x="3887788" y="2090738"/>
            <a:ext cx="5256212" cy="267652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q_n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&lt;='0'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when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s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</a:t>
            </a:r>
            <a:endParaRPr lang="zh-CN" altLang="zh-CN" sz="24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'1'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when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r;</a:t>
            </a:r>
            <a:endParaRPr lang="zh-CN" altLang="zh-CN" sz="24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check :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assert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(s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r)</a:t>
            </a:r>
            <a:endParaRPr lang="zh-CN" altLang="zh-CN" sz="24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report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"Incorrect use of </a:t>
            </a:r>
            <a:r>
              <a:rPr lang="en-US" altLang="zh-CN" sz="2400" b="1" dirty="0" err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s_r_ff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 " &amp;</a:t>
            </a:r>
            <a:endParaRPr lang="zh-CN" altLang="zh-CN" sz="24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        "s and r both '1' ";</a:t>
            </a:r>
            <a:endParaRPr lang="zh-CN" altLang="zh-CN" sz="24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architecture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rtl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9793" name="标题 777217"/>
          <p:cNvSpPr>
            <a:spLocks noGrp="1"/>
          </p:cNvSpPr>
          <p:nvPr>
            <p:ph type="title"/>
          </p:nvPr>
        </p:nvSpPr>
        <p:spPr>
          <a:xfrm>
            <a:off x="251460" y="1340485"/>
            <a:ext cx="8523605" cy="4741545"/>
          </a:xfrm>
          <a:noFill/>
          <a:ln>
            <a:noFill/>
          </a:ln>
        </p:spPr>
        <p:txBody>
          <a:bodyPr anchor="t" anchorCtr="0"/>
          <a:p>
            <a:pPr algn="l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dirty="0"/>
              <a:t>　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使用并发语句可以建立相互独立的、有信号传递的电路模型，它的最大好处在于并行处理。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但并行处理也会带来一些问题，并行处理的多个语句在综合后，都会驱动各自的目标信号，但如果多个并行语句同时驱动同一个目标信号，那么目标信号最终被赋予的信号值将会是什么值？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/>
              <a:t>　　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55015" y="980440"/>
            <a:ext cx="483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5.2.5  </a:t>
            </a:r>
            <a:r>
              <a:rPr lang="zh-CN" altLang="en-US" sz="3600" b="1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多驱动描述语句</a:t>
            </a:r>
            <a:endParaRPr lang="zh-CN" altLang="en-US" sz="3600" b="1" noProof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9793" name="标题 777217"/>
          <p:cNvSpPr>
            <a:spLocks noGrp="1"/>
          </p:cNvSpPr>
          <p:nvPr>
            <p:ph type="title"/>
          </p:nvPr>
        </p:nvSpPr>
        <p:spPr>
          <a:xfrm>
            <a:off x="179070" y="1299845"/>
            <a:ext cx="8809355" cy="759460"/>
          </a:xfrm>
          <a:noFill/>
          <a:ln>
            <a:noFill/>
          </a:ln>
        </p:spPr>
        <p:txBody>
          <a:bodyPr anchor="t" anchorCtr="0"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我们举一个简单的例子来形象地说明这个问题，如图所示。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9795" name="图片 778243" descr="3-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9205" y="2420620"/>
            <a:ext cx="6234113" cy="3262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0817" name="标题 779265"/>
          <p:cNvSpPr>
            <a:spLocks noGrp="1"/>
          </p:cNvSpPr>
          <p:nvPr>
            <p:ph type="title"/>
          </p:nvPr>
        </p:nvSpPr>
        <p:spPr>
          <a:xfrm>
            <a:off x="457200" y="1052830"/>
            <a:ext cx="8229600" cy="4293235"/>
          </a:xfrm>
          <a:noFill/>
          <a:ln>
            <a:noFill/>
          </a:ln>
        </p:spPr>
        <p:txBody>
          <a:bodyPr anchor="t" anchorCtr="0"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/>
              <a:t>　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中没有定义在这种情况下目标信号应该如何取值，因此，有一些综合器在遇到这种情况时会报错。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多驱动描述语句的判决函数可以用于解决这一问题。之前在介绍标准逻辑类型这一数据类型时，曾给出过一个判决函数，这一判决函数在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STD_LOGIC_1164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数据包中，例如：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1841" name="标题 780291"/>
          <p:cNvPicPr>
            <a:picLocks noGrp="1" noChangeAspect="1"/>
          </p:cNvPicPr>
          <p:nvPr>
            <p:ph type="title"/>
          </p:nvPr>
        </p:nvPicPr>
        <p:blipFill>
          <a:blip r:embed="rId1"/>
          <a:stretch>
            <a:fillRect/>
          </a:stretch>
        </p:blipFill>
        <p:spPr>
          <a:xfrm>
            <a:off x="900113" y="673100"/>
            <a:ext cx="7488237" cy="5381625"/>
          </a:xfr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2865" name="标题 781315"/>
          <p:cNvPicPr>
            <a:picLocks noGrp="1" noChangeAspect="1"/>
          </p:cNvPicPr>
          <p:nvPr>
            <p:ph type="title"/>
          </p:nvPr>
        </p:nvPicPr>
        <p:blipFill>
          <a:blip r:embed="rId1"/>
          <a:stretch>
            <a:fillRect/>
          </a:stretch>
        </p:blipFill>
        <p:spPr>
          <a:xfrm>
            <a:off x="323850" y="528638"/>
            <a:ext cx="8496300" cy="5373687"/>
          </a:xfr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3889" name="标题 782337"/>
          <p:cNvSpPr>
            <a:spLocks noGrp="1"/>
          </p:cNvSpPr>
          <p:nvPr>
            <p:ph type="title"/>
          </p:nvPr>
        </p:nvSpPr>
        <p:spPr>
          <a:xfrm>
            <a:off x="395605" y="1124268"/>
            <a:ext cx="8229600" cy="5019675"/>
          </a:xfrm>
          <a:noFill/>
          <a:ln>
            <a:noFill/>
          </a:ln>
        </p:spPr>
        <p:txBody>
          <a:bodyPr anchor="t" anchorCtr="0"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/>
              <a:t>　</a:t>
            </a:r>
            <a:r>
              <a:rPr lang="en-US" altLang="zh-CN" dirty="0"/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用户也可以按照类似的步骤定义自己的判决函数。目前，在一些公司的综合器中已经预定义了一些判决函数，只要形成多驱动的多个信号满足判决函数的参数格式，综合器会自动给出多驱动的最终结果。因此，在硬件建模时，要尽量避免多驱动的情况发生，因为多驱动的赋值结果往往与设计者想像的不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UNIT_PLACING_PICTURE_USER_VIEWPORT" val="{&quot;height&quot;:5137.5007874015746,&quot;width&quot;:9817.5007874015755}"/>
</p:tagLst>
</file>

<file path=ppt/tags/tag48.xml><?xml version="1.0" encoding="utf-8"?>
<p:tagLst xmlns:p="http://schemas.openxmlformats.org/presentationml/2006/main">
  <p:tag name="KSO_WPP_MARK_KEY" val="4e3b2b3e-8e9f-49b5-a557-3e816431b693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11821</Words>
  <Application>WPS 演示</Application>
  <PresentationFormat>全屏显示(4:3)</PresentationFormat>
  <Paragraphs>579</Paragraphs>
  <Slides>56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2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微软雅黑</vt:lpstr>
      <vt:lpstr>楷体_GB2312</vt:lpstr>
      <vt:lpstr>新宋体</vt:lpstr>
      <vt:lpstr>Arial Unicode MS</vt:lpstr>
      <vt:lpstr>Calibri</vt:lpstr>
      <vt:lpstr>Arial Narrow</vt:lpstr>
      <vt:lpstr>1_默认设计模板</vt:lpstr>
      <vt:lpstr>Word.Picture.8</vt:lpstr>
      <vt:lpstr>Word.Document.8</vt:lpstr>
      <vt:lpstr>PowerPoint 演示文稿</vt:lpstr>
      <vt:lpstr>PowerPoint 演示文稿</vt:lpstr>
      <vt:lpstr>PowerPoint 演示文稿</vt:lpstr>
      <vt:lpstr>PowerPoint 演示文稿</vt:lpstr>
      <vt:lpstr>5.2.1 并行信号赋值语句</vt:lpstr>
      <vt:lpstr> 简单信号赋值语句</vt:lpstr>
      <vt:lpstr>PowerPoint 演示文稿</vt:lpstr>
      <vt:lpstr> 条件信号赋值语句</vt:lpstr>
      <vt:lpstr>PowerPoint 演示文稿</vt:lpstr>
      <vt:lpstr> 选择信号赋值语句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5.2.2 PROCESS进程语句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　使用并发语句可以建立相互独立的、有信号传递的电路模型，它的最大好处在于并行处理。        但并行处理也会带来一些问题，并行处理的多个语句在综合后，都会驱动各自的目标信号，但如果多个并行语句同时驱动同一个目标信号，那么目标信号最终被赋予的信号值将会是什么值？ 　　</vt:lpstr>
      <vt:lpstr>　 我们举一个简单的例子来形象地说明这个问题，如图所示。</vt:lpstr>
      <vt:lpstr>　 VHDL中没有定义在这种情况下目标信号应该如何取值，因此，有一些综合器在遇到这种情况时会报错。  　　多驱动描述语句的判决函数可以用于解决这一问题。之前在介绍标准逻辑类型这一数据类型时，曾给出过一个判决函数，这一判决函数在IEEE的STD_LOGIC_1164数据包中，例如：</vt:lpstr>
      <vt:lpstr>PowerPoint 演示文稿</vt:lpstr>
      <vt:lpstr>PowerPoint 演示文稿</vt:lpstr>
      <vt:lpstr>　 用户也可以按照类似的步骤定义自己的判决函数。目前，在一些公司的综合器中已经预定义了一些判决函数，只要形成多驱动的多个信号满足判决函数的参数格式，综合器会自动给出多驱动的最终结果。因此，在硬件建模时，要尽量避免多驱动的情况发生，因为多驱动的赋值结果往往与设计者想像的不同。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270</cp:revision>
  <dcterms:created xsi:type="dcterms:W3CDTF">2006-04-19T05:22:00Z</dcterms:created>
  <dcterms:modified xsi:type="dcterms:W3CDTF">2026-04-14T06:12:04Z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5697599ECCA24FEF9DCF7629C7543150</vt:lpwstr>
  </property>
</Properties>
</file>