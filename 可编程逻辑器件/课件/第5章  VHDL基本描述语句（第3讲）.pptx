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387" r:id="rId3"/>
    <p:sldId id="522" r:id="rId4"/>
    <p:sldId id="523" r:id="rId5"/>
    <p:sldId id="524" r:id="rId6"/>
    <p:sldId id="525" r:id="rId7"/>
    <p:sldId id="526" r:id="rId8"/>
    <p:sldId id="527" r:id="rId9"/>
    <p:sldId id="528" r:id="rId10"/>
    <p:sldId id="844" r:id="rId11"/>
    <p:sldId id="869" r:id="rId12"/>
    <p:sldId id="529" r:id="rId13"/>
    <p:sldId id="530" r:id="rId14"/>
    <p:sldId id="531" r:id="rId15"/>
    <p:sldId id="532" r:id="rId16"/>
    <p:sldId id="865" r:id="rId17"/>
    <p:sldId id="866" r:id="rId18"/>
    <p:sldId id="868" r:id="rId19"/>
    <p:sldId id="533" r:id="rId20"/>
    <p:sldId id="534" r:id="rId21"/>
    <p:sldId id="535" r:id="rId22"/>
    <p:sldId id="536" r:id="rId23"/>
    <p:sldId id="537" r:id="rId24"/>
    <p:sldId id="538" r:id="rId25"/>
    <p:sldId id="539" r:id="rId26"/>
    <p:sldId id="540" r:id="rId27"/>
    <p:sldId id="541" r:id="rId28"/>
    <p:sldId id="542" r:id="rId29"/>
    <p:sldId id="543" r:id="rId30"/>
    <p:sldId id="544" r:id="rId31"/>
    <p:sldId id="545" r:id="rId32"/>
  </p:sldIdLst>
  <p:sldSz cx="9144000" cy="6858000" type="screen4x3"/>
  <p:notesSz cx="6858000" cy="9144000"/>
  <p:custDataLst>
    <p:tags r:id="rId38"/>
  </p:custDataLst>
  <p:defaultTextStyle>
    <a:defPPr>
      <a:defRPr lang="zh-CN"/>
    </a:defPPr>
    <a:lvl1pPr marL="0" lvl="0"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4" userDrawn="1">
          <p15:clr>
            <a:srgbClr val="A4A3A4"/>
          </p15:clr>
        </p15:guide>
        <p15:guide id="2" pos="293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 initials="m" lastIdx="1" clrIdx="0"/>
  <p:cmAuthor id="2" name="Administrator" initials="A" lastIdx="2"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39"/>
    <p:restoredTop sz="94655"/>
  </p:normalViewPr>
  <p:slideViewPr>
    <p:cSldViewPr showGuides="1">
      <p:cViewPr varScale="1">
        <p:scale>
          <a:sx n="45" d="100"/>
          <a:sy n="45" d="100"/>
        </p:scale>
        <p:origin x="970" y="34"/>
      </p:cViewPr>
      <p:guideLst>
        <p:guide orient="horz" pos="2194"/>
        <p:guide pos="2936"/>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gs" Target="tags/tag2.xml"/><Relationship Id="rId37" Type="http://schemas.openxmlformats.org/officeDocument/2006/relationships/commentAuthors" Target="commentAuthors.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notesMaster" Target="notesMasters/notesMaster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pattFill prst="ltHorz">
          <a:fgClr>
            <a:srgbClr val="E0E0E0"/>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609600"/>
            <a:ext cx="8229600" cy="6858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57200" y="1600200"/>
            <a:ext cx="40386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a:xfrm>
            <a:off x="457200" y="6400800"/>
            <a:ext cx="2133600" cy="320675"/>
          </a:xfrm>
          <a:prstGeom prst="rect">
            <a:avLst/>
          </a:prstGeom>
          <a:noFill/>
          <a:ln w="9525">
            <a:noFill/>
          </a:ln>
        </p:spPr>
        <p:txBody>
          <a:bodyPr/>
          <a:lstStyle>
            <a:lvl1pPr>
              <a:defRPr/>
            </a:lvl1pPr>
          </a:lstStyle>
          <a:p>
            <a:pPr fontAlgn="base"/>
            <a:endParaRPr lang="en-US" strike="noStrike" noProof="1">
              <a:solidFill>
                <a:srgbClr val="000000"/>
              </a:solidFill>
            </a:endParaRPr>
          </a:p>
        </p:txBody>
      </p:sp>
      <p:sp>
        <p:nvSpPr>
          <p:cNvPr id="6" name="页脚占位符 5"/>
          <p:cNvSpPr>
            <a:spLocks noGrp="1"/>
          </p:cNvSpPr>
          <p:nvPr>
            <p:ph type="ftr" sz="quarter" idx="11"/>
          </p:nvPr>
        </p:nvSpPr>
        <p:spPr>
          <a:xfrm>
            <a:off x="3124200" y="6400800"/>
            <a:ext cx="2895600" cy="320675"/>
          </a:xfrm>
        </p:spPr>
        <p:txBody>
          <a:bodyPr/>
          <a:lstStyle>
            <a:lvl1pPr>
              <a:defRPr/>
            </a:lvl1pPr>
          </a:lstStyle>
          <a:p>
            <a:pPr fontAlgn="base"/>
            <a:endParaRPr lang="zh-CN" altLang="zh-CN" strike="noStrike" noProof="1">
              <a:solidFill>
                <a:srgbClr val="000000"/>
              </a:solidFill>
            </a:endParaRPr>
          </a:p>
        </p:txBody>
      </p:sp>
      <p:sp>
        <p:nvSpPr>
          <p:cNvPr id="7" name="灯片编号占位符 6"/>
          <p:cNvSpPr>
            <a:spLocks noGrp="1"/>
          </p:cNvSpPr>
          <p:nvPr>
            <p:ph type="sldNum" sz="quarter" idx="12"/>
          </p:nvPr>
        </p:nvSpPr>
        <p:spPr>
          <a:xfrm>
            <a:off x="6553200" y="6400800"/>
            <a:ext cx="2133600" cy="320675"/>
          </a:xfrm>
          <a:prstGeom prst="rect">
            <a:avLst/>
          </a:prstGeom>
          <a:noFill/>
          <a:ln w="9525">
            <a:noFill/>
          </a:ln>
        </p:spPr>
        <p:txBody>
          <a:bodyPr/>
          <a:lstStyle>
            <a:lvl1pPr>
              <a:defRPr/>
            </a:lvl1pPr>
          </a:lstStyle>
          <a:p>
            <a:pPr fontAlgn="base"/>
            <a:fld id="{B5BAE9EB-4175-4107-BAE7-3DF64F6C22AB}" type="slidenum">
              <a:rPr lang="zh-CN" altLang="zh-CN" strike="noStrike" noProof="1">
                <a:solidFill>
                  <a:srgbClr val="000000"/>
                </a:solidFill>
                <a:latin typeface="Verdana" panose="020B0604030504040204" pitchFamily="34" charset="0"/>
                <a:ea typeface="宋体" panose="02010600030101010101" pitchFamily="2" charset="-122"/>
                <a:cs typeface="+mn-cs"/>
              </a:rPr>
            </a:fld>
            <a:endParaRPr lang="zh-CN" altLang="zh-CN" strike="noStrike" noProof="1">
              <a:solidFill>
                <a:srgbClr val="000000"/>
              </a:solidFill>
            </a:endParaRPr>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1" name="Rectangle 3"/>
          <p:cNvSpPr>
            <a:spLocks noGrp="1"/>
          </p:cNvSpPr>
          <p:nvPr>
            <p:ph type="body"/>
          </p:nvPr>
        </p:nvSpPr>
        <p:spPr>
          <a:xfrm>
            <a:off x="685800" y="1981200"/>
            <a:ext cx="7772400" cy="4114800"/>
          </a:xfrm>
          <a:prstGeom prst="rect">
            <a:avLst/>
          </a:prstGeom>
          <a:noFill/>
          <a:ln w="9525">
            <a:noFill/>
          </a:ln>
        </p:spPr>
        <p:txBody>
          <a:bodyPr anchor="t" anchorCtr="0"/>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9.wmf"/><Relationship Id="rId1"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0" Type="http://schemas.openxmlformats.org/officeDocument/2006/relationships/slideLayout" Target="../slideLayouts/slideLayout2.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0" Type="http://schemas.openxmlformats.org/officeDocument/2006/relationships/slideLayout" Target="../slideLayouts/slideLayout2.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3" Type="http://schemas.openxmlformats.org/officeDocument/2006/relationships/vmlDrawing" Target="../drawings/vmlDrawing3.vml"/><Relationship Id="rId12" Type="http://schemas.openxmlformats.org/officeDocument/2006/relationships/slideLayout" Target="../slideLayouts/slideLayout2.xml"/><Relationship Id="rId11" Type="http://schemas.openxmlformats.org/officeDocument/2006/relationships/image" Target="../media/image9.wmf"/><Relationship Id="rId10" Type="http://schemas.openxmlformats.org/officeDocument/2006/relationships/oleObject" Target="../embeddings/oleObject3.bin"/><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2.png"/><Relationship Id="rId7" Type="http://schemas.openxmlformats.org/officeDocument/2006/relationships/image" Target="../media/image15.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矩形 181249"/>
          <p:cNvSpPr>
            <a:spLocks noRot="1"/>
          </p:cNvSpPr>
          <p:nvPr/>
        </p:nvSpPr>
        <p:spPr>
          <a:xfrm>
            <a:off x="1257300" y="1731963"/>
            <a:ext cx="6811963" cy="1143000"/>
          </a:xfrm>
          <a:prstGeom prst="rect">
            <a:avLst/>
          </a:prstGeom>
          <a:noFill/>
          <a:ln w="9525">
            <a:noFill/>
          </a:ln>
        </p:spPr>
        <p:txBody>
          <a:bodyPr anchor="ctr" anchorCtr="0"/>
          <a:p>
            <a:pPr algn="ctr" eaLnBrk="0" hangingPunct="0"/>
            <a:r>
              <a:rPr lang="zh-CN" altLang="zh-CN" sz="5100" dirty="0">
                <a:solidFill>
                  <a:srgbClr val="7C020E"/>
                </a:solidFill>
                <a:latin typeface="Times New Roman" panose="02020603050405020304" pitchFamily="18" charset="0"/>
                <a:ea typeface="隶书" panose="02010509060101010101" pitchFamily="49" charset="-122"/>
              </a:rPr>
              <a:t>可编程逻辑器件</a:t>
            </a:r>
            <a:r>
              <a:rPr lang="zh-CN" altLang="en-US" sz="5100" dirty="0">
                <a:solidFill>
                  <a:srgbClr val="FB051C"/>
                </a:solidFill>
                <a:latin typeface="Times New Roman" panose="02020603050405020304" pitchFamily="18" charset="0"/>
                <a:ea typeface="隶书" panose="02010509060101010101" pitchFamily="49" charset="-122"/>
              </a:rPr>
              <a:t>               </a:t>
            </a:r>
            <a:endParaRPr lang="zh-CN" altLang="en-US" sz="5100">
              <a:solidFill>
                <a:srgbClr val="FB051C"/>
              </a:solidFill>
              <a:latin typeface="Times New Roman" panose="02020603050405020304" pitchFamily="18" charset="0"/>
              <a:ea typeface="隶书" panose="02010509060101010101" pitchFamily="49" charset="-122"/>
            </a:endParaRPr>
          </a:p>
        </p:txBody>
      </p:sp>
      <p:sp>
        <p:nvSpPr>
          <p:cNvPr id="7170" name="文本框 181250"/>
          <p:cNvSpPr txBox="1"/>
          <p:nvPr/>
        </p:nvSpPr>
        <p:spPr>
          <a:xfrm>
            <a:off x="1835150" y="3429000"/>
            <a:ext cx="5257800" cy="1322388"/>
          </a:xfrm>
          <a:prstGeom prst="rect">
            <a:avLst/>
          </a:prstGeom>
          <a:noFill/>
          <a:ln w="9525">
            <a:noFill/>
          </a:ln>
        </p:spPr>
        <p:txBody>
          <a:bodyPr anchor="t" anchorCtr="0">
            <a:spAutoFit/>
          </a:bodyPr>
          <a:p>
            <a:pPr algn="ctr" eaLnBrk="0" hangingPunct="0">
              <a:spcBef>
                <a:spcPct val="50000"/>
              </a:spcBef>
            </a:pPr>
            <a:r>
              <a:rPr lang="zh-CN" altLang="en-US" sz="3200" dirty="0">
                <a:latin typeface="Arial" panose="020B0604020202020204" pitchFamily="34" charset="0"/>
                <a:ea typeface="华文行楷" panose="02010800040101010101" pitchFamily="2" charset="-122"/>
              </a:rPr>
              <a:t>山西大学</a:t>
            </a:r>
            <a:endParaRPr lang="zh-CN" altLang="en-US" sz="3200" dirty="0">
              <a:latin typeface="Arial" panose="020B0604020202020204" pitchFamily="34" charset="0"/>
              <a:ea typeface="华文行楷" panose="02010800040101010101" pitchFamily="2" charset="-122"/>
            </a:endParaRPr>
          </a:p>
          <a:p>
            <a:pPr algn="ctr" eaLnBrk="0" hangingPunct="0">
              <a:spcBef>
                <a:spcPct val="50000"/>
              </a:spcBef>
            </a:pPr>
            <a:r>
              <a:rPr lang="zh-CN" altLang="en-US" sz="3200" dirty="0">
                <a:latin typeface="Arial" panose="020B0604020202020204" pitchFamily="34" charset="0"/>
                <a:ea typeface="华文行楷" panose="02010800040101010101" pitchFamily="2" charset="-122"/>
              </a:rPr>
              <a:t>白婷婷</a:t>
            </a:r>
            <a:endParaRPr lang="zh-CN" altLang="en-US" sz="3200" dirty="0">
              <a:latin typeface="Arial" panose="020B0604020202020204" pitchFamily="34" charset="0"/>
              <a:ea typeface="华文行楷" panose="02010800040101010101" pitchFamily="2" charset="-122"/>
            </a:endParaRPr>
          </a:p>
        </p:txBody>
      </p:sp>
      <p:pic>
        <p:nvPicPr>
          <p:cNvPr id="7171" name="图片 1"/>
          <p:cNvPicPr>
            <a:picLocks noChangeAspect="1"/>
          </p:cNvPicPr>
          <p:nvPr/>
        </p:nvPicPr>
        <p:blipFill>
          <a:blip r:embed="rId1"/>
          <a:stretch>
            <a:fillRect/>
          </a:stretch>
        </p:blipFill>
        <p:spPr>
          <a:xfrm>
            <a:off x="6219825" y="0"/>
            <a:ext cx="2619375" cy="1038225"/>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8049" name="文本占位符 732161"/>
          <p:cNvSpPr>
            <a:spLocks noGrp="1"/>
          </p:cNvSpPr>
          <p:nvPr>
            <p:ph idx="1"/>
          </p:nvPr>
        </p:nvSpPr>
        <p:spPr>
          <a:xfrm>
            <a:off x="533400" y="1408430"/>
            <a:ext cx="8161020" cy="5023485"/>
          </a:xfrm>
        </p:spPr>
        <p:txBody>
          <a:bodyPr anchor="t" anchorCtr="0"/>
          <a:p>
            <a:pPr algn="just">
              <a:lnSpc>
                <a:spcPct val="150000"/>
              </a:lnSpc>
              <a:buFont typeface="Wingdings" panose="05000000000000000000" pitchFamily="2" charset="2"/>
              <a:buChar char="Ø"/>
            </a:pPr>
            <a:r>
              <a:rPr lang="en-US" altLang="zh-CN" sz="2400" b="1" dirty="0">
                <a:latin typeface="微软雅黑" panose="020B0503020204020204" charset="-122"/>
                <a:ea typeface="微软雅黑" panose="020B0503020204020204" charset="-122"/>
                <a:cs typeface="微软雅黑" panose="020B0503020204020204" charset="-122"/>
              </a:rPr>
              <a:t>    </a:t>
            </a:r>
            <a:r>
              <a:rPr lang="zh-CN" altLang="en-US" sz="2400" b="1" dirty="0">
                <a:latin typeface="微软雅黑" panose="020B0503020204020204" charset="-122"/>
                <a:ea typeface="微软雅黑" panose="020B0503020204020204" charset="-122"/>
                <a:cs typeface="微软雅黑" panose="020B0503020204020204" charset="-122"/>
              </a:rPr>
              <a:t>元件例化就是将预先设计好的</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实体定义为一个元件</a:t>
            </a:r>
            <a:r>
              <a:rPr lang="zh-CN" altLang="en-US" sz="2400" b="1" dirty="0">
                <a:latin typeface="微软雅黑" panose="020B0503020204020204" charset="-122"/>
                <a:ea typeface="微软雅黑" panose="020B0503020204020204" charset="-122"/>
                <a:cs typeface="微软雅黑" panose="020B0503020204020204" charset="-122"/>
              </a:rPr>
              <a:t>，然后利用特定的语句将此元件与当前的设计实体中的指定端口相连接，从而为当前设计实体引入一个新的低一级的</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设计层次</a:t>
            </a:r>
            <a:r>
              <a:rPr lang="zh-CN" altLang="en-US" sz="2400" b="1" dirty="0">
                <a:latin typeface="微软雅黑" panose="020B0503020204020204" charset="-122"/>
                <a:ea typeface="微软雅黑" panose="020B0503020204020204" charset="-122"/>
                <a:cs typeface="微软雅黑" panose="020B0503020204020204" charset="-122"/>
              </a:rPr>
              <a:t>。 </a:t>
            </a:r>
            <a:endParaRPr lang="zh-CN" altLang="en-US" sz="2400" b="1" dirty="0">
              <a:latin typeface="微软雅黑" panose="020B0503020204020204" charset="-122"/>
              <a:ea typeface="微软雅黑" panose="020B0503020204020204" charset="-122"/>
              <a:cs typeface="微软雅黑" panose="020B0503020204020204" charset="-122"/>
            </a:endParaRPr>
          </a:p>
          <a:p>
            <a:pPr marL="0" indent="0" algn="just">
              <a:lnSpc>
                <a:spcPct val="150000"/>
              </a:lnSpc>
              <a:buFont typeface="Wingdings" panose="05000000000000000000" pitchFamily="2" charset="2"/>
              <a:buNone/>
            </a:pPr>
            <a:r>
              <a:rPr lang="zh-CN" altLang="en-US" sz="2400" b="1" dirty="0">
                <a:latin typeface="微软雅黑" panose="020B0503020204020204" charset="-122"/>
                <a:ea typeface="微软雅黑" panose="020B0503020204020204" charset="-122"/>
                <a:cs typeface="微软雅黑" panose="020B0503020204020204" charset="-122"/>
              </a:rPr>
              <a:t> </a:t>
            </a:r>
            <a:endParaRPr lang="zh-CN" altLang="en-US" sz="2400" b="1" dirty="0">
              <a:latin typeface="微软雅黑" panose="020B0503020204020204" charset="-122"/>
              <a:ea typeface="微软雅黑" panose="020B0503020204020204" charset="-122"/>
              <a:cs typeface="微软雅黑" panose="020B0503020204020204" charset="-122"/>
            </a:endParaRPr>
          </a:p>
          <a:p>
            <a:pPr>
              <a:lnSpc>
                <a:spcPct val="150000"/>
              </a:lnSpc>
              <a:buFont typeface="Wingdings" panose="05000000000000000000" pitchFamily="2" charset="2"/>
              <a:buChar char="Ø"/>
            </a:pPr>
            <a:r>
              <a:rPr lang="zh-CN" altLang="en-US" sz="2400" b="1" dirty="0">
                <a:latin typeface="微软雅黑" panose="020B0503020204020204" charset="-122"/>
                <a:ea typeface="微软雅黑" panose="020B0503020204020204" charset="-122"/>
                <a:cs typeface="微软雅黑" panose="020B0503020204020204" charset="-122"/>
              </a:rPr>
              <a:t>    元件例化是可以</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多层次</a:t>
            </a:r>
            <a:r>
              <a:rPr lang="zh-CN" altLang="en-US" sz="2400" b="1" dirty="0">
                <a:latin typeface="微软雅黑" panose="020B0503020204020204" charset="-122"/>
                <a:ea typeface="微软雅黑" panose="020B0503020204020204" charset="-122"/>
                <a:cs typeface="微软雅黑" panose="020B0503020204020204" charset="-122"/>
              </a:rPr>
              <a:t>的，在一个设计实体中被调用安插的元件本身也可以是一个低层次的当前设计实体，因而可以调用其他的元件，以便构成更低层次的电路模块。 </a:t>
            </a:r>
            <a:endParaRPr lang="zh-CN" altLang="en-US" sz="2400" b="1">
              <a:latin typeface="微软雅黑" panose="020B0503020204020204" charset="-122"/>
              <a:ea typeface="微软雅黑" panose="020B0503020204020204" charset="-122"/>
              <a:cs typeface="微软雅黑" panose="020B0503020204020204" charset="-122"/>
            </a:endParaRPr>
          </a:p>
        </p:txBody>
      </p:sp>
      <p:sp>
        <p:nvSpPr>
          <p:cNvPr id="258050" name="矩形 732162"/>
          <p:cNvSpPr/>
          <p:nvPr/>
        </p:nvSpPr>
        <p:spPr>
          <a:xfrm>
            <a:off x="457200" y="404495"/>
            <a:ext cx="8229600" cy="504825"/>
          </a:xfrm>
          <a:prstGeom prst="rect">
            <a:avLst/>
          </a:prstGeom>
          <a:noFill/>
          <a:ln w="9525">
            <a:noFill/>
          </a:ln>
        </p:spPr>
        <p:txBody>
          <a:bodyPr anchor="t" anchorCtr="0"/>
          <a:p>
            <a:r>
              <a:rPr lang="en-US" altLang="zh-CN" sz="3600" b="1" dirty="0">
                <a:solidFill>
                  <a:srgbClr val="990000"/>
                </a:solidFill>
                <a:latin typeface="微软雅黑" panose="020B0503020204020204" charset="-122"/>
                <a:ea typeface="微软雅黑" panose="020B0503020204020204" charset="-122"/>
              </a:rPr>
              <a:t>5.2.6 </a:t>
            </a:r>
            <a:r>
              <a:rPr lang="zh-CN" altLang="en-US" sz="3600" b="1" dirty="0">
                <a:solidFill>
                  <a:srgbClr val="990000"/>
                </a:solidFill>
                <a:latin typeface="微软雅黑" panose="020B0503020204020204" charset="-122"/>
                <a:ea typeface="微软雅黑" panose="020B0503020204020204" charset="-122"/>
              </a:rPr>
              <a:t>元件例化语句</a:t>
            </a:r>
            <a:endParaRPr lang="zh-CN" altLang="en-US" sz="3600" b="1" dirty="0">
              <a:solidFill>
                <a:srgbClr val="990000"/>
              </a:solidFill>
              <a:latin typeface="微软雅黑" panose="020B0503020204020204" charset="-122"/>
              <a:ea typeface="微软雅黑" panose="020B0503020204020204" charset="-122"/>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9073" name="文本占位符 759809"/>
          <p:cNvSpPr>
            <a:spLocks noGrp="1"/>
          </p:cNvSpPr>
          <p:nvPr>
            <p:ph idx="1"/>
          </p:nvPr>
        </p:nvSpPr>
        <p:spPr>
          <a:xfrm>
            <a:off x="828040" y="1556385"/>
            <a:ext cx="7183120" cy="3199130"/>
          </a:xfrm>
        </p:spPr>
        <p:txBody>
          <a:bodyPr anchor="t" anchorCtr="0"/>
          <a:p>
            <a:pPr algn="just">
              <a:lnSpc>
                <a:spcPct val="150000"/>
              </a:lnSpc>
              <a:buFont typeface="Wingdings" panose="05000000000000000000" pitchFamily="2" charset="2"/>
              <a:buChar char="Ø"/>
            </a:pPr>
            <a:r>
              <a:rPr lang="zh-CN" altLang="en-US" sz="2400" b="1" dirty="0">
                <a:latin typeface="微软雅黑" panose="020B0503020204020204" charset="-122"/>
                <a:ea typeface="微软雅黑" panose="020B0503020204020204" charset="-122"/>
                <a:cs typeface="微软雅黑" panose="020B0503020204020204" charset="-122"/>
              </a:rPr>
              <a:t>元件例化语句由两个语句组成：</a:t>
            </a:r>
            <a:endParaRPr lang="zh-CN" altLang="en-US" sz="2400" b="1" dirty="0">
              <a:latin typeface="微软雅黑" panose="020B0503020204020204" charset="-122"/>
              <a:ea typeface="微软雅黑" panose="020B0503020204020204" charset="-122"/>
              <a:cs typeface="微软雅黑" panose="020B0503020204020204" charset="-122"/>
            </a:endParaRPr>
          </a:p>
          <a:p>
            <a:pPr algn="just">
              <a:lnSpc>
                <a:spcPct val="150000"/>
              </a:lnSpc>
              <a:buNone/>
            </a:pPr>
            <a:r>
              <a:rPr lang="zh-CN" altLang="en-US" sz="2400" b="1" dirty="0">
                <a:latin typeface="微软雅黑" panose="020B0503020204020204" charset="-122"/>
                <a:ea typeface="微软雅黑" panose="020B0503020204020204" charset="-122"/>
                <a:cs typeface="微软雅黑" panose="020B0503020204020204" charset="-122"/>
              </a:rPr>
              <a:t>   </a:t>
            </a: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元件说明语句</a:t>
            </a:r>
            <a:r>
              <a:rPr lang="zh-CN" altLang="en-US" sz="2400" b="1" dirty="0">
                <a:latin typeface="微软雅黑" panose="020B0503020204020204" charset="-122"/>
                <a:ea typeface="微软雅黑" panose="020B0503020204020204" charset="-122"/>
                <a:cs typeface="微软雅黑" panose="020B0503020204020204" charset="-122"/>
              </a:rPr>
              <a:t>（</a:t>
            </a:r>
            <a:r>
              <a:rPr lang="en-US" altLang="zh-CN" sz="2400" b="1" dirty="0">
                <a:latin typeface="微软雅黑" panose="020B0503020204020204" charset="-122"/>
                <a:ea typeface="微软雅黑" panose="020B0503020204020204" charset="-122"/>
                <a:cs typeface="微软雅黑" panose="020B0503020204020204" charset="-122"/>
              </a:rPr>
              <a:t>Component</a:t>
            </a:r>
            <a:r>
              <a:rPr lang="zh-CN" altLang="en-US" sz="2400" b="1" dirty="0">
                <a:latin typeface="微软雅黑" panose="020B0503020204020204" charset="-122"/>
                <a:ea typeface="微软雅黑" panose="020B0503020204020204" charset="-122"/>
                <a:cs typeface="微软雅黑" panose="020B0503020204020204" charset="-122"/>
              </a:rPr>
              <a:t>）和</a:t>
            </a: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元件映射语句</a:t>
            </a:r>
            <a:r>
              <a:rPr lang="zh-CN" altLang="en-US" sz="2400" b="1" dirty="0">
                <a:latin typeface="微软雅黑" panose="020B0503020204020204" charset="-122"/>
                <a:ea typeface="微软雅黑" panose="020B0503020204020204" charset="-122"/>
                <a:cs typeface="微软雅黑" panose="020B0503020204020204" charset="-122"/>
              </a:rPr>
              <a:t>（</a:t>
            </a:r>
            <a:r>
              <a:rPr lang="en-US" altLang="zh-CN" sz="2400" b="1" dirty="0">
                <a:latin typeface="微软雅黑" panose="020B0503020204020204" charset="-122"/>
                <a:ea typeface="微软雅黑" panose="020B0503020204020204" charset="-122"/>
                <a:cs typeface="微软雅黑" panose="020B0503020204020204" charset="-122"/>
              </a:rPr>
              <a:t>Port map</a:t>
            </a:r>
            <a:r>
              <a:rPr lang="zh-CN" altLang="en-US" sz="2400" b="1" dirty="0">
                <a:latin typeface="微软雅黑" panose="020B0503020204020204" charset="-122"/>
                <a:ea typeface="微软雅黑" panose="020B0503020204020204" charset="-122"/>
                <a:cs typeface="微软雅黑" panose="020B0503020204020204" charset="-122"/>
              </a:rPr>
              <a:t>）。</a:t>
            </a:r>
            <a:endParaRPr lang="zh-CN" altLang="en-US" sz="2400" b="1" dirty="0">
              <a:latin typeface="微软雅黑" panose="020B0503020204020204" charset="-122"/>
              <a:ea typeface="微软雅黑" panose="020B0503020204020204" charset="-122"/>
              <a:cs typeface="微软雅黑" panose="020B0503020204020204" charset="-122"/>
            </a:endParaRPr>
          </a:p>
          <a:p>
            <a:pPr algn="just">
              <a:lnSpc>
                <a:spcPct val="150000"/>
              </a:lnSpc>
              <a:buNone/>
            </a:pPr>
            <a:r>
              <a:rPr lang="zh-CN" altLang="en-US" sz="2400" b="1" dirty="0">
                <a:latin typeface="微软雅黑" panose="020B0503020204020204" charset="-122"/>
                <a:ea typeface="微软雅黑" panose="020B0503020204020204" charset="-122"/>
                <a:cs typeface="微软雅黑" panose="020B0503020204020204" charset="-122"/>
              </a:rPr>
              <a:t>其中</a:t>
            </a:r>
            <a:r>
              <a:rPr lang="en-US" altLang="zh-CN" sz="2400" b="1" dirty="0">
                <a:latin typeface="微软雅黑" panose="020B0503020204020204" charset="-122"/>
                <a:ea typeface="微软雅黑" panose="020B0503020204020204" charset="-122"/>
                <a:cs typeface="微软雅黑" panose="020B0503020204020204" charset="-122"/>
              </a:rPr>
              <a:t>component</a:t>
            </a:r>
            <a:r>
              <a:rPr lang="zh-CN" altLang="en-US" sz="2400" b="1" dirty="0">
                <a:latin typeface="微软雅黑" panose="020B0503020204020204" charset="-122"/>
                <a:ea typeface="微软雅黑" panose="020B0503020204020204" charset="-122"/>
                <a:cs typeface="微软雅黑" panose="020B0503020204020204" charset="-122"/>
              </a:rPr>
              <a:t>语句在结构体说明部分中定义，</a:t>
            </a:r>
            <a:endParaRPr lang="zh-CN" altLang="en-US" sz="2400" b="1" dirty="0">
              <a:latin typeface="微软雅黑" panose="020B0503020204020204" charset="-122"/>
              <a:ea typeface="微软雅黑" panose="020B0503020204020204" charset="-122"/>
              <a:cs typeface="微软雅黑" panose="020B0503020204020204" charset="-122"/>
            </a:endParaRPr>
          </a:p>
          <a:p>
            <a:pPr algn="just">
              <a:lnSpc>
                <a:spcPct val="150000"/>
              </a:lnSpc>
              <a:buNone/>
            </a:pPr>
            <a:r>
              <a:rPr lang="zh-CN" altLang="en-US" sz="2400" b="1" dirty="0">
                <a:latin typeface="微软雅黑" panose="020B0503020204020204" charset="-122"/>
                <a:ea typeface="微软雅黑" panose="020B0503020204020204" charset="-122"/>
                <a:cs typeface="微软雅黑" panose="020B0503020204020204" charset="-122"/>
              </a:rPr>
              <a:t> </a:t>
            </a:r>
            <a:r>
              <a:rPr lang="en-US" altLang="zh-CN" sz="2400" b="1" dirty="0">
                <a:latin typeface="微软雅黑" panose="020B0503020204020204" charset="-122"/>
                <a:ea typeface="微软雅黑" panose="020B0503020204020204" charset="-122"/>
                <a:cs typeface="微软雅黑" panose="020B0503020204020204" charset="-122"/>
              </a:rPr>
              <a:t>    port map</a:t>
            </a:r>
            <a:r>
              <a:rPr lang="zh-CN" altLang="en-US" sz="2400" b="1" dirty="0">
                <a:latin typeface="微软雅黑" panose="020B0503020204020204" charset="-122"/>
                <a:ea typeface="微软雅黑" panose="020B0503020204020204" charset="-122"/>
                <a:cs typeface="微软雅黑" panose="020B0503020204020204" charset="-122"/>
              </a:rPr>
              <a:t>语句在结构体并行执行语句中使用。</a:t>
            </a:r>
            <a:endParaRPr lang="zh-CN" altLang="en-US" sz="2400" b="1">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0097" name="文本占位符 760833"/>
          <p:cNvSpPr>
            <a:spLocks noGrp="1"/>
          </p:cNvSpPr>
          <p:nvPr>
            <p:ph idx="1"/>
          </p:nvPr>
        </p:nvSpPr>
        <p:spPr>
          <a:xfrm>
            <a:off x="501015" y="836295"/>
            <a:ext cx="8142605" cy="5842000"/>
          </a:xfrm>
        </p:spPr>
        <p:txBody>
          <a:bodyPr anchor="t" anchorCtr="0"/>
          <a:p>
            <a:pPr algn="just">
              <a:lnSpc>
                <a:spcPct val="125000"/>
              </a:lnSpc>
              <a:spcBef>
                <a:spcPct val="0"/>
              </a:spcBef>
              <a:buFont typeface="Wingdings" panose="05000000000000000000" pitchFamily="2" charset="2"/>
              <a:buChar char="l"/>
            </a:pP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元件说明语句格式：</a:t>
            </a:r>
            <a:endParaRPr lang="zh-CN" altLang="en-US" sz="2400" b="1" dirty="0">
              <a:solidFill>
                <a:srgbClr val="0000CC"/>
              </a:solidFill>
              <a:latin typeface="微软雅黑" panose="020B0503020204020204" charset="-122"/>
              <a:ea typeface="微软雅黑" panose="020B0503020204020204" charset="-122"/>
              <a:cs typeface="微软雅黑" panose="020B0503020204020204" charset="-122"/>
            </a:endParaRPr>
          </a:p>
          <a:p>
            <a:pPr>
              <a:lnSpc>
                <a:spcPct val="125000"/>
              </a:lnSpc>
              <a:spcBef>
                <a:spcPct val="0"/>
              </a:spcBef>
              <a:buNone/>
            </a:pPr>
            <a:r>
              <a:rPr lang="en-US" altLang="zh-CN" sz="2400" b="1" dirty="0">
                <a:latin typeface="微软雅黑" panose="020B0503020204020204" charset="-122"/>
                <a:ea typeface="微软雅黑" panose="020B0503020204020204" charset="-122"/>
                <a:cs typeface="微软雅黑" panose="020B0503020204020204" charset="-122"/>
              </a:rPr>
              <a:t>Component </a:t>
            </a:r>
            <a:r>
              <a:rPr lang="zh-CN" altLang="en-US" sz="2400" b="1" dirty="0">
                <a:latin typeface="微软雅黑" panose="020B0503020204020204" charset="-122"/>
                <a:ea typeface="微软雅黑" panose="020B0503020204020204" charset="-122"/>
                <a:cs typeface="微软雅黑" panose="020B0503020204020204" charset="-122"/>
              </a:rPr>
              <a:t>元件名 </a:t>
            </a:r>
            <a:r>
              <a:rPr lang="en-US" altLang="zh-CN" sz="2400" b="1">
                <a:latin typeface="微软雅黑" panose="020B0503020204020204" charset="-122"/>
                <a:ea typeface="微软雅黑" panose="020B0503020204020204" charset="-122"/>
                <a:cs typeface="微软雅黑" panose="020B0503020204020204" charset="-122"/>
              </a:rPr>
              <a:t>is</a:t>
            </a:r>
            <a:endParaRPr lang="en-US" altLang="zh-CN" sz="2400" b="1">
              <a:latin typeface="微软雅黑" panose="020B0503020204020204" charset="-122"/>
              <a:ea typeface="微软雅黑" panose="020B0503020204020204" charset="-122"/>
              <a:cs typeface="微软雅黑" panose="020B0503020204020204" charset="-122"/>
            </a:endParaRPr>
          </a:p>
          <a:p>
            <a:pPr>
              <a:lnSpc>
                <a:spcPct val="125000"/>
              </a:lnSpc>
              <a:spcBef>
                <a:spcPct val="0"/>
              </a:spcBef>
              <a:buNone/>
            </a:pPr>
            <a:r>
              <a:rPr lang="en-US" altLang="zh-CN" sz="2400" b="1" dirty="0">
                <a:latin typeface="微软雅黑" panose="020B0503020204020204" charset="-122"/>
                <a:ea typeface="微软雅黑" panose="020B0503020204020204" charset="-122"/>
                <a:cs typeface="微软雅黑" panose="020B0503020204020204" charset="-122"/>
              </a:rPr>
              <a:t>[</a:t>
            </a:r>
            <a:r>
              <a:rPr lang="zh-CN" altLang="en-US" sz="2400" b="1" dirty="0">
                <a:latin typeface="微软雅黑" panose="020B0503020204020204" charset="-122"/>
                <a:ea typeface="微软雅黑" panose="020B0503020204020204" charset="-122"/>
                <a:cs typeface="微软雅黑" panose="020B0503020204020204" charset="-122"/>
              </a:rPr>
              <a:t>类属语句</a:t>
            </a:r>
            <a:r>
              <a:rPr lang="en-US" altLang="zh-CN" sz="2400" b="1">
                <a:latin typeface="微软雅黑" panose="020B0503020204020204" charset="-122"/>
                <a:ea typeface="微软雅黑" panose="020B0503020204020204" charset="-122"/>
                <a:cs typeface="微软雅黑" panose="020B0503020204020204" charset="-122"/>
              </a:rPr>
              <a:t>]    </a:t>
            </a:r>
            <a:endParaRPr lang="en-US" altLang="zh-CN" sz="2400" b="1">
              <a:latin typeface="微软雅黑" panose="020B0503020204020204" charset="-122"/>
              <a:ea typeface="微软雅黑" panose="020B0503020204020204" charset="-122"/>
              <a:cs typeface="微软雅黑" panose="020B0503020204020204" charset="-122"/>
            </a:endParaRPr>
          </a:p>
          <a:p>
            <a:pPr>
              <a:lnSpc>
                <a:spcPct val="125000"/>
              </a:lnSpc>
              <a:spcBef>
                <a:spcPct val="0"/>
              </a:spcBef>
              <a:buNone/>
            </a:pPr>
            <a:r>
              <a:rPr lang="en-US" altLang="zh-CN" sz="2400" b="1" dirty="0">
                <a:latin typeface="微软雅黑" panose="020B0503020204020204" charset="-122"/>
                <a:ea typeface="微软雅黑" panose="020B0503020204020204" charset="-122"/>
                <a:cs typeface="微软雅黑" panose="020B0503020204020204" charset="-122"/>
              </a:rPr>
              <a:t>Port (</a:t>
            </a:r>
            <a:r>
              <a:rPr lang="zh-CN" altLang="en-US" sz="2400" b="1" dirty="0">
                <a:latin typeface="微软雅黑" panose="020B0503020204020204" charset="-122"/>
                <a:ea typeface="微软雅黑" panose="020B0503020204020204" charset="-122"/>
                <a:cs typeface="微软雅黑" panose="020B0503020204020204" charset="-122"/>
              </a:rPr>
              <a:t>端口语句</a:t>
            </a:r>
            <a:r>
              <a:rPr lang="en-US" altLang="zh-CN" sz="2400" b="1">
                <a:latin typeface="微软雅黑" panose="020B0503020204020204" charset="-122"/>
                <a:ea typeface="微软雅黑" panose="020B0503020204020204" charset="-122"/>
                <a:cs typeface="微软雅黑" panose="020B0503020204020204" charset="-122"/>
              </a:rPr>
              <a:t>);</a:t>
            </a:r>
            <a:endParaRPr lang="en-US" altLang="zh-CN" sz="2400" b="1">
              <a:latin typeface="微软雅黑" panose="020B0503020204020204" charset="-122"/>
              <a:ea typeface="微软雅黑" panose="020B0503020204020204" charset="-122"/>
              <a:cs typeface="微软雅黑" panose="020B0503020204020204" charset="-122"/>
            </a:endParaRPr>
          </a:p>
          <a:p>
            <a:pPr>
              <a:lnSpc>
                <a:spcPct val="125000"/>
              </a:lnSpc>
              <a:spcBef>
                <a:spcPct val="0"/>
              </a:spcBef>
              <a:buNone/>
            </a:pPr>
            <a:r>
              <a:rPr lang="en-US" altLang="zh-CN" sz="2400" b="1">
                <a:latin typeface="微软雅黑" panose="020B0503020204020204" charset="-122"/>
                <a:ea typeface="微软雅黑" panose="020B0503020204020204" charset="-122"/>
                <a:cs typeface="微软雅黑" panose="020B0503020204020204" charset="-122"/>
              </a:rPr>
              <a:t>End component; </a:t>
            </a:r>
            <a:endParaRPr lang="en-US" altLang="zh-CN" sz="2400" b="1">
              <a:latin typeface="微软雅黑" panose="020B0503020204020204" charset="-122"/>
              <a:ea typeface="微软雅黑" panose="020B0503020204020204" charset="-122"/>
              <a:cs typeface="微软雅黑" panose="020B0503020204020204" charset="-122"/>
            </a:endParaRPr>
          </a:p>
          <a:p>
            <a:pPr>
              <a:lnSpc>
                <a:spcPct val="125000"/>
              </a:lnSpc>
              <a:spcBef>
                <a:spcPct val="0"/>
              </a:spcBef>
              <a:buNone/>
            </a:pPr>
            <a:endParaRPr lang="en-US" altLang="zh-CN" sz="2400" b="1">
              <a:latin typeface="微软雅黑" panose="020B0503020204020204" charset="-122"/>
              <a:ea typeface="微软雅黑" panose="020B0503020204020204" charset="-122"/>
              <a:cs typeface="微软雅黑" panose="020B0503020204020204" charset="-122"/>
            </a:endParaRPr>
          </a:p>
          <a:p>
            <a:pPr>
              <a:lnSpc>
                <a:spcPct val="125000"/>
              </a:lnSpc>
              <a:spcBef>
                <a:spcPct val="0"/>
              </a:spcBef>
              <a:buFont typeface="Wingdings" panose="05000000000000000000" pitchFamily="2" charset="2"/>
              <a:buChar char="l"/>
            </a:pP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语句说明：</a:t>
            </a:r>
            <a:endParaRPr lang="zh-CN" altLang="en-US" sz="2400" b="1" dirty="0">
              <a:solidFill>
                <a:srgbClr val="0000CC"/>
              </a:solidFill>
              <a:latin typeface="微软雅黑" panose="020B0503020204020204" charset="-122"/>
              <a:ea typeface="微软雅黑" panose="020B0503020204020204" charset="-122"/>
              <a:cs typeface="微软雅黑" panose="020B0503020204020204" charset="-122"/>
            </a:endParaRPr>
          </a:p>
          <a:p>
            <a:pPr>
              <a:lnSpc>
                <a:spcPct val="125000"/>
              </a:lnSpc>
              <a:spcBef>
                <a:spcPct val="0"/>
              </a:spcBef>
              <a:buNone/>
            </a:pPr>
            <a:r>
              <a:rPr lang="zh-CN" altLang="en-US" sz="2400" b="1" dirty="0">
                <a:latin typeface="微软雅黑" panose="020B0503020204020204" charset="-122"/>
                <a:ea typeface="微软雅黑" panose="020B0503020204020204" charset="-122"/>
                <a:cs typeface="微软雅黑" panose="020B0503020204020204" charset="-122"/>
              </a:rPr>
              <a:t>          相当于对一个设计好的实体进行封装，留出对外的接口界面。其中，元件名为要定义模块的实体名；</a:t>
            </a:r>
            <a:endParaRPr lang="zh-CN" altLang="en-US" sz="2400" b="1" dirty="0">
              <a:latin typeface="微软雅黑" panose="020B0503020204020204" charset="-122"/>
              <a:ea typeface="微软雅黑" panose="020B0503020204020204" charset="-122"/>
              <a:cs typeface="微软雅黑" panose="020B0503020204020204" charset="-122"/>
            </a:endParaRPr>
          </a:p>
          <a:p>
            <a:pPr>
              <a:lnSpc>
                <a:spcPct val="125000"/>
              </a:lnSpc>
              <a:spcBef>
                <a:spcPct val="0"/>
              </a:spcBef>
              <a:buNone/>
            </a:pPr>
            <a:r>
              <a:rPr lang="zh-CN" altLang="en-US" sz="2400" b="1" dirty="0">
                <a:latin typeface="微软雅黑" panose="020B0503020204020204" charset="-122"/>
                <a:ea typeface="微软雅黑" panose="020B0503020204020204" charset="-122"/>
                <a:cs typeface="微软雅黑" panose="020B0503020204020204" charset="-122"/>
              </a:rPr>
              <a:t>          类属语句及端口语句的说明与要定义模块的实体相同，即</a:t>
            </a: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名称及顺序要完全一致</a:t>
            </a:r>
            <a:r>
              <a:rPr lang="zh-CN" altLang="en-US" sz="2400" b="1" dirty="0">
                <a:latin typeface="微软雅黑" panose="020B0503020204020204" charset="-122"/>
                <a:ea typeface="微软雅黑" panose="020B0503020204020204" charset="-122"/>
                <a:cs typeface="微软雅黑" panose="020B0503020204020204" charset="-122"/>
              </a:rPr>
              <a:t>。</a:t>
            </a:r>
            <a:endParaRPr lang="zh-CN" altLang="en-US" sz="2400" b="1" dirty="0">
              <a:latin typeface="微软雅黑" panose="020B0503020204020204" charset="-122"/>
              <a:ea typeface="微软雅黑" panose="020B0503020204020204" charset="-122"/>
              <a:cs typeface="微软雅黑" panose="020B0503020204020204" charset="-122"/>
            </a:endParaRPr>
          </a:p>
          <a:p>
            <a:pPr>
              <a:lnSpc>
                <a:spcPct val="125000"/>
              </a:lnSpc>
              <a:spcBef>
                <a:spcPct val="0"/>
              </a:spcBef>
              <a:buNone/>
            </a:pPr>
            <a:r>
              <a:rPr lang="zh-CN" altLang="en-US" sz="2400" b="1" dirty="0">
                <a:latin typeface="微软雅黑" panose="020B0503020204020204" charset="-122"/>
                <a:ea typeface="微软雅黑" panose="020B0503020204020204" charset="-122"/>
                <a:cs typeface="微软雅黑" panose="020B0503020204020204" charset="-122"/>
              </a:rPr>
              <a:t>          元件说明语句</a:t>
            </a: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在结构体的说明部分</a:t>
            </a:r>
            <a:r>
              <a:rPr lang="zh-CN" altLang="en-US" sz="2400" b="1" dirty="0">
                <a:latin typeface="微软雅黑" panose="020B0503020204020204" charset="-122"/>
                <a:ea typeface="微软雅黑" panose="020B0503020204020204" charset="-122"/>
                <a:cs typeface="微软雅黑" panose="020B0503020204020204" charset="-122"/>
              </a:rPr>
              <a:t>定义。 </a:t>
            </a:r>
            <a:endParaRPr lang="zh-CN" altLang="en-US" sz="2400" b="1">
              <a:latin typeface="微软雅黑" panose="020B0503020204020204" charset="-122"/>
              <a:ea typeface="微软雅黑" panose="020B0503020204020204" charset="-122"/>
              <a:cs typeface="微软雅黑" panose="020B0503020204020204" charset="-122"/>
            </a:endParaRPr>
          </a:p>
        </p:txBody>
      </p:sp>
      <p:sp>
        <p:nvSpPr>
          <p:cNvPr id="260098" name="矩形 760834"/>
          <p:cNvSpPr/>
          <p:nvPr/>
        </p:nvSpPr>
        <p:spPr>
          <a:xfrm>
            <a:off x="611505" y="116205"/>
            <a:ext cx="8229600" cy="504825"/>
          </a:xfrm>
          <a:prstGeom prst="rect">
            <a:avLst/>
          </a:prstGeom>
          <a:noFill/>
          <a:ln w="9525">
            <a:noFill/>
          </a:ln>
        </p:spPr>
        <p:txBody>
          <a:bodyPr anchor="t" anchorCtr="0"/>
          <a:p>
            <a:pPr>
              <a:buClr>
                <a:srgbClr val="0000CC"/>
              </a:buClr>
              <a:buFont typeface="Wingdings" panose="05000000000000000000" pitchFamily="2" charset="2"/>
            </a:pPr>
            <a:r>
              <a:rPr lang="zh-CN" altLang="en-US" sz="3200" b="1" dirty="0">
                <a:solidFill>
                  <a:srgbClr val="C00000"/>
                </a:solidFill>
                <a:latin typeface="微软雅黑" panose="020B0503020204020204" charset="-122"/>
                <a:ea typeface="微软雅黑" panose="020B0503020204020204" charset="-122"/>
              </a:rPr>
              <a:t>元件说明语句</a:t>
            </a:r>
            <a:endParaRPr lang="zh-CN" altLang="en-US" sz="3200" b="1" dirty="0">
              <a:solidFill>
                <a:srgbClr val="C00000"/>
              </a:solidFill>
              <a:latin typeface="微软雅黑" panose="020B0503020204020204" charset="-122"/>
              <a:ea typeface="微软雅黑" panose="020B0503020204020204" charset="-122"/>
            </a:endParaRP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1121" name="文本占位符 761857"/>
          <p:cNvSpPr>
            <a:spLocks noGrp="1"/>
          </p:cNvSpPr>
          <p:nvPr>
            <p:ph idx="1"/>
          </p:nvPr>
        </p:nvSpPr>
        <p:spPr>
          <a:xfrm>
            <a:off x="467360" y="762000"/>
            <a:ext cx="8134985" cy="5973445"/>
          </a:xfrm>
        </p:spPr>
        <p:txBody>
          <a:bodyPr anchor="t" anchorCtr="0"/>
          <a:p>
            <a:pPr algn="l">
              <a:lnSpc>
                <a:spcPct val="150000"/>
              </a:lnSpc>
              <a:spcBef>
                <a:spcPct val="0"/>
              </a:spcBef>
              <a:buNone/>
            </a:pPr>
            <a:r>
              <a:rPr lang="en-US" altLang="zh-CN" sz="2400" b="1" dirty="0">
                <a:latin typeface="微软雅黑" panose="020B0503020204020204" charset="-122"/>
                <a:ea typeface="微软雅黑" panose="020B0503020204020204" charset="-122"/>
                <a:cs typeface="微软雅黑" panose="020B0503020204020204" charset="-122"/>
              </a:rPr>
              <a:t>          </a:t>
            </a:r>
            <a:r>
              <a:rPr lang="zh-CN" altLang="en-US" sz="2400" b="1" dirty="0">
                <a:solidFill>
                  <a:schemeClr val="accent2"/>
                </a:solidFill>
                <a:latin typeface="微软雅黑" panose="020B0503020204020204" charset="-122"/>
                <a:ea typeface="微软雅黑" panose="020B0503020204020204" charset="-122"/>
                <a:cs typeface="微软雅黑" panose="020B0503020204020204" charset="-122"/>
              </a:rPr>
              <a:t>完成元件与当前设计实体的连接</a:t>
            </a:r>
            <a:r>
              <a:rPr lang="zh-CN" altLang="en-US" sz="2400" b="1" dirty="0">
                <a:latin typeface="微软雅黑" panose="020B0503020204020204" charset="-122"/>
                <a:ea typeface="微软雅黑" panose="020B0503020204020204" charset="-122"/>
                <a:cs typeface="微软雅黑" panose="020B0503020204020204" charset="-122"/>
              </a:rPr>
              <a:t>，需要说明元件端口与其他模块的连接关系，即映射。</a:t>
            </a:r>
            <a:r>
              <a:rPr lang="en-US" altLang="zh-CN" sz="2400" b="1" dirty="0">
                <a:latin typeface="微软雅黑" panose="020B0503020204020204" charset="-122"/>
                <a:ea typeface="微软雅黑" panose="020B0503020204020204" charset="-122"/>
                <a:cs typeface="微软雅黑" panose="020B0503020204020204" charset="-122"/>
              </a:rPr>
              <a:t>VHDL</a:t>
            </a:r>
            <a:r>
              <a:rPr lang="zh-CN" altLang="en-US" sz="2400" b="1" dirty="0">
                <a:latin typeface="微软雅黑" panose="020B0503020204020204" charset="-122"/>
                <a:ea typeface="微软雅黑" panose="020B0503020204020204" charset="-122"/>
                <a:cs typeface="微软雅黑" panose="020B0503020204020204" charset="-122"/>
              </a:rPr>
              <a:t>映射方式有</a:t>
            </a: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位置关联和名称关联</a:t>
            </a:r>
            <a:r>
              <a:rPr lang="zh-CN" altLang="en-US" sz="2400" b="1" dirty="0">
                <a:latin typeface="微软雅黑" panose="020B0503020204020204" charset="-122"/>
                <a:ea typeface="微软雅黑" panose="020B0503020204020204" charset="-122"/>
                <a:cs typeface="微软雅黑" panose="020B0503020204020204" charset="-122"/>
              </a:rPr>
              <a:t>两种方式。</a:t>
            </a:r>
            <a:endParaRPr lang="zh-CN" altLang="en-US" sz="2400" b="1" dirty="0">
              <a:latin typeface="微软雅黑" panose="020B0503020204020204" charset="-122"/>
              <a:ea typeface="微软雅黑" panose="020B0503020204020204" charset="-122"/>
              <a:cs typeface="微软雅黑" panose="020B0503020204020204" charset="-122"/>
            </a:endParaRPr>
          </a:p>
          <a:p>
            <a:pPr algn="l">
              <a:lnSpc>
                <a:spcPct val="150000"/>
              </a:lnSpc>
              <a:spcBef>
                <a:spcPct val="0"/>
              </a:spcBef>
              <a:buFont typeface="Wingdings" panose="05000000000000000000" pitchFamily="2" charset="2"/>
              <a:buChar char="l"/>
            </a:pP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格式一：</a:t>
            </a: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sym typeface="+mn-ea"/>
              </a:rPr>
              <a:t>名称关联</a:t>
            </a:r>
            <a:endParaRPr lang="zh-CN" altLang="en-US" sz="2400" b="1" dirty="0">
              <a:solidFill>
                <a:srgbClr val="0000CC"/>
              </a:solidFill>
              <a:latin typeface="微软雅黑" panose="020B0503020204020204" charset="-122"/>
              <a:ea typeface="微软雅黑" panose="020B0503020204020204" charset="-122"/>
              <a:cs typeface="微软雅黑" panose="020B0503020204020204" charset="-122"/>
            </a:endParaRPr>
          </a:p>
          <a:p>
            <a:pPr algn="l">
              <a:lnSpc>
                <a:spcPct val="150000"/>
              </a:lnSpc>
              <a:buNone/>
            </a:pPr>
            <a:r>
              <a:rPr lang="zh-CN" altLang="en-US" sz="2400" b="1" dirty="0">
                <a:latin typeface="微软雅黑" panose="020B0503020204020204" charset="-122"/>
                <a:ea typeface="微软雅黑" panose="020B0503020204020204" charset="-122"/>
                <a:cs typeface="微软雅黑" panose="020B0503020204020204" charset="-122"/>
              </a:rPr>
              <a:t>例化名：</a:t>
            </a:r>
            <a:r>
              <a:rPr lang="en-US" altLang="zh-CN" sz="2400" b="1" dirty="0">
                <a:latin typeface="微软雅黑" panose="020B0503020204020204" charset="-122"/>
                <a:ea typeface="微软雅黑" panose="020B0503020204020204" charset="-122"/>
                <a:cs typeface="微软雅黑" panose="020B0503020204020204" charset="-122"/>
              </a:rPr>
              <a:t>Port map( </a:t>
            </a:r>
            <a:r>
              <a:rPr lang="zh-CN" altLang="en-US" sz="2400" b="1" dirty="0">
                <a:latin typeface="微软雅黑" panose="020B0503020204020204" charset="-122"/>
                <a:ea typeface="微软雅黑" panose="020B0503020204020204" charset="-122"/>
                <a:cs typeface="微软雅黑" panose="020B0503020204020204" charset="-122"/>
              </a:rPr>
              <a:t>元件端口</a:t>
            </a:r>
            <a:r>
              <a:rPr lang="en-US" altLang="zh-CN" sz="2400" b="1" dirty="0">
                <a:latin typeface="微软雅黑" panose="020B0503020204020204" charset="-122"/>
                <a:ea typeface="微软雅黑" panose="020B0503020204020204" charset="-122"/>
                <a:cs typeface="微软雅黑" panose="020B0503020204020204" charset="-122"/>
              </a:rPr>
              <a:t>1=&gt;</a:t>
            </a:r>
            <a:r>
              <a:rPr lang="zh-CN" altLang="en-US" sz="2400" b="1" dirty="0">
                <a:latin typeface="微软雅黑" panose="020B0503020204020204" charset="-122"/>
                <a:ea typeface="微软雅黑" panose="020B0503020204020204" charset="-122"/>
                <a:cs typeface="微软雅黑" panose="020B0503020204020204" charset="-122"/>
              </a:rPr>
              <a:t>映射信号</a:t>
            </a:r>
            <a:r>
              <a:rPr lang="en-US" altLang="zh-CN" sz="2400" b="1" dirty="0">
                <a:latin typeface="微软雅黑" panose="020B0503020204020204" charset="-122"/>
                <a:ea typeface="微软雅黑" panose="020B0503020204020204" charset="-122"/>
                <a:cs typeface="微软雅黑" panose="020B0503020204020204" charset="-122"/>
              </a:rPr>
              <a:t>1,…,</a:t>
            </a:r>
            <a:r>
              <a:rPr lang="zh-CN" altLang="en-US" sz="2400" b="1" dirty="0">
                <a:latin typeface="微软雅黑" panose="020B0503020204020204" charset="-122"/>
                <a:ea typeface="微软雅黑" panose="020B0503020204020204" charset="-122"/>
                <a:cs typeface="微软雅黑" panose="020B0503020204020204" charset="-122"/>
              </a:rPr>
              <a:t>元件端口</a:t>
            </a:r>
            <a:r>
              <a:rPr lang="en-US" altLang="zh-CN" sz="2400" b="1" dirty="0">
                <a:latin typeface="微软雅黑" panose="020B0503020204020204" charset="-122"/>
                <a:ea typeface="微软雅黑" panose="020B0503020204020204" charset="-122"/>
                <a:cs typeface="微软雅黑" panose="020B0503020204020204" charset="-122"/>
              </a:rPr>
              <a:t>n=&gt;</a:t>
            </a:r>
            <a:r>
              <a:rPr lang="zh-CN" altLang="en-US" sz="2400" b="1" dirty="0">
                <a:latin typeface="微软雅黑" panose="020B0503020204020204" charset="-122"/>
                <a:ea typeface="微软雅黑" panose="020B0503020204020204" charset="-122"/>
                <a:cs typeface="微软雅黑" panose="020B0503020204020204" charset="-122"/>
              </a:rPr>
              <a:t>映射信号</a:t>
            </a:r>
            <a:r>
              <a:rPr lang="en-US" altLang="zh-CN" sz="2400" b="1">
                <a:latin typeface="微软雅黑" panose="020B0503020204020204" charset="-122"/>
                <a:ea typeface="微软雅黑" panose="020B0503020204020204" charset="-122"/>
                <a:cs typeface="微软雅黑" panose="020B0503020204020204" charset="-122"/>
              </a:rPr>
              <a:t>n);</a:t>
            </a:r>
            <a:endParaRPr lang="en-US" altLang="zh-CN" sz="2400" b="1">
              <a:latin typeface="微软雅黑" panose="020B0503020204020204" charset="-122"/>
              <a:ea typeface="微软雅黑" panose="020B0503020204020204" charset="-122"/>
              <a:cs typeface="微软雅黑" panose="020B0503020204020204" charset="-122"/>
            </a:endParaRPr>
          </a:p>
          <a:p>
            <a:pPr algn="l">
              <a:lnSpc>
                <a:spcPct val="150000"/>
              </a:lnSpc>
              <a:buNone/>
            </a:pPr>
            <a:r>
              <a:rPr lang="en-US" altLang="zh-CN" sz="2400" b="1" dirty="0">
                <a:latin typeface="微软雅黑" panose="020B0503020204020204" charset="-122"/>
                <a:ea typeface="微软雅黑" panose="020B0503020204020204" charset="-122"/>
                <a:cs typeface="微软雅黑" panose="020B0503020204020204" charset="-122"/>
              </a:rPr>
              <a:t>       </a:t>
            </a:r>
            <a:r>
              <a:rPr lang="zh-CN" altLang="en-US" sz="2400" b="1" dirty="0">
                <a:latin typeface="微软雅黑" panose="020B0503020204020204" charset="-122"/>
                <a:ea typeface="微软雅黑" panose="020B0503020204020204" charset="-122"/>
                <a:cs typeface="微软雅黑" panose="020B0503020204020204" charset="-122"/>
              </a:rPr>
              <a:t>其中例化名相当于</a:t>
            </a: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元件标号</a:t>
            </a:r>
            <a:r>
              <a:rPr lang="zh-CN" altLang="en-US" sz="2400" b="1" dirty="0">
                <a:latin typeface="微软雅黑" panose="020B0503020204020204" charset="-122"/>
                <a:ea typeface="微软雅黑" panose="020B0503020204020204" charset="-122"/>
                <a:cs typeface="微软雅黑" panose="020B0503020204020204" charset="-122"/>
              </a:rPr>
              <a:t>，是必须的；</a:t>
            </a:r>
            <a:endParaRPr lang="zh-CN" altLang="en-US" sz="2400" b="1" dirty="0">
              <a:latin typeface="微软雅黑" panose="020B0503020204020204" charset="-122"/>
              <a:ea typeface="微软雅黑" panose="020B0503020204020204" charset="-122"/>
              <a:cs typeface="微软雅黑" panose="020B0503020204020204" charset="-122"/>
            </a:endParaRPr>
          </a:p>
          <a:p>
            <a:pPr algn="l">
              <a:lnSpc>
                <a:spcPct val="150000"/>
              </a:lnSpc>
              <a:buNone/>
            </a:pPr>
            <a:r>
              <a:rPr lang="zh-CN" altLang="en-US" sz="2400" b="1" dirty="0">
                <a:latin typeface="微软雅黑" panose="020B0503020204020204" charset="-122"/>
                <a:ea typeface="微软雅黑" panose="020B0503020204020204" charset="-122"/>
                <a:cs typeface="微软雅黑" panose="020B0503020204020204" charset="-122"/>
              </a:rPr>
              <a:t>    “</a:t>
            </a:r>
            <a:r>
              <a:rPr lang="en-US" altLang="zh-CN" sz="2400" b="1" dirty="0">
                <a:latin typeface="微软雅黑" panose="020B0503020204020204" charset="-122"/>
                <a:ea typeface="微软雅黑" panose="020B0503020204020204" charset="-122"/>
                <a:cs typeface="微软雅黑" panose="020B0503020204020204" charset="-122"/>
              </a:rPr>
              <a:t>=&gt;”</a:t>
            </a:r>
            <a:r>
              <a:rPr lang="zh-CN" altLang="en-US" sz="2400" b="1" dirty="0">
                <a:latin typeface="微软雅黑" panose="020B0503020204020204" charset="-122"/>
                <a:ea typeface="微软雅黑" panose="020B0503020204020204" charset="-122"/>
                <a:cs typeface="微软雅黑" panose="020B0503020204020204" charset="-122"/>
              </a:rPr>
              <a:t>是</a:t>
            </a: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关联符</a:t>
            </a:r>
            <a:r>
              <a:rPr lang="zh-CN" altLang="en-US" sz="2400" b="1" dirty="0">
                <a:latin typeface="微软雅黑" panose="020B0503020204020204" charset="-122"/>
                <a:ea typeface="微软雅黑" panose="020B0503020204020204" charset="-122"/>
                <a:cs typeface="微软雅黑" panose="020B0503020204020204" charset="-122"/>
              </a:rPr>
              <a:t>，采用名称关联，表示左边的元件端口与右边的映射信号相连；</a:t>
            </a:r>
            <a:endParaRPr lang="zh-CN" altLang="en-US" sz="2400" b="1" dirty="0">
              <a:latin typeface="微软雅黑" panose="020B0503020204020204" charset="-122"/>
              <a:ea typeface="微软雅黑" panose="020B0503020204020204" charset="-122"/>
              <a:cs typeface="微软雅黑" panose="020B0503020204020204" charset="-122"/>
            </a:endParaRPr>
          </a:p>
          <a:p>
            <a:pPr algn="l">
              <a:lnSpc>
                <a:spcPct val="150000"/>
              </a:lnSpc>
              <a:buNone/>
            </a:pPr>
            <a:r>
              <a:rPr lang="zh-CN" altLang="en-US" sz="2400" b="1" dirty="0">
                <a:latin typeface="微软雅黑" panose="020B0503020204020204" charset="-122"/>
                <a:ea typeface="微软雅黑" panose="020B0503020204020204" charset="-122"/>
                <a:cs typeface="微软雅黑" panose="020B0503020204020204" charset="-122"/>
              </a:rPr>
              <a:t>       各端口关联说明的顺序任意。               </a:t>
            </a:r>
            <a:endParaRPr lang="zh-CN" altLang="en-US" sz="2400" b="1">
              <a:latin typeface="微软雅黑" panose="020B0503020204020204" charset="-122"/>
              <a:ea typeface="微软雅黑" panose="020B0503020204020204" charset="-122"/>
              <a:cs typeface="微软雅黑" panose="020B0503020204020204" charset="-122"/>
            </a:endParaRPr>
          </a:p>
        </p:txBody>
      </p:sp>
      <p:sp>
        <p:nvSpPr>
          <p:cNvPr id="261122" name="矩形 761858"/>
          <p:cNvSpPr/>
          <p:nvPr/>
        </p:nvSpPr>
        <p:spPr>
          <a:xfrm>
            <a:off x="495935" y="188595"/>
            <a:ext cx="8229600" cy="504825"/>
          </a:xfrm>
          <a:prstGeom prst="rect">
            <a:avLst/>
          </a:prstGeom>
          <a:noFill/>
          <a:ln w="9525">
            <a:noFill/>
          </a:ln>
        </p:spPr>
        <p:txBody>
          <a:bodyPr anchor="t" anchorCtr="0"/>
          <a:p>
            <a:pPr>
              <a:buClr>
                <a:srgbClr val="0000CC"/>
              </a:buClr>
              <a:buFont typeface="Wingdings" panose="05000000000000000000" pitchFamily="2" charset="2"/>
            </a:pPr>
            <a:r>
              <a:rPr lang="zh-CN" altLang="en-US" sz="3200" b="1" dirty="0">
                <a:solidFill>
                  <a:srgbClr val="C00000"/>
                </a:solidFill>
                <a:latin typeface="微软雅黑" panose="020B0503020204020204" charset="-122"/>
                <a:ea typeface="微软雅黑" panose="020B0503020204020204" charset="-122"/>
              </a:rPr>
              <a:t>元件映射语句</a:t>
            </a:r>
            <a:endParaRPr lang="zh-CN" altLang="en-US" sz="3200" b="1" dirty="0">
              <a:solidFill>
                <a:srgbClr val="C00000"/>
              </a:solidFill>
              <a:latin typeface="微软雅黑" panose="020B0503020204020204" charset="-122"/>
              <a:ea typeface="微软雅黑" panose="020B0503020204020204" charset="-122"/>
            </a:endParaRP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2146" name="文本占位符 762884"/>
          <p:cNvSpPr>
            <a:spLocks noGrp="1"/>
          </p:cNvSpPr>
          <p:nvPr>
            <p:ph idx="1"/>
          </p:nvPr>
        </p:nvSpPr>
        <p:spPr>
          <a:xfrm>
            <a:off x="128905" y="1268730"/>
            <a:ext cx="8610600" cy="3816350"/>
          </a:xfrm>
        </p:spPr>
        <p:txBody>
          <a:bodyPr vert="horz" wrap="square" lIns="91440" tIns="45720" rIns="91440" bIns="45720" anchor="t" anchorCtr="0"/>
          <a:p>
            <a:pPr>
              <a:lnSpc>
                <a:spcPct val="150000"/>
              </a:lnSpc>
              <a:buFont typeface="Wingdings" panose="05000000000000000000" pitchFamily="2" charset="2"/>
              <a:buChar char="l"/>
            </a:pP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格式二：</a:t>
            </a: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sym typeface="+mn-ea"/>
              </a:rPr>
              <a:t>位置关联</a:t>
            </a:r>
            <a:endParaRPr lang="zh-CN" altLang="en-US" sz="2400" b="1" dirty="0">
              <a:solidFill>
                <a:srgbClr val="0000CC"/>
              </a:solidFill>
              <a:latin typeface="微软雅黑" panose="020B0503020204020204" charset="-122"/>
              <a:ea typeface="微软雅黑" panose="020B0503020204020204" charset="-122"/>
              <a:cs typeface="微软雅黑" panose="020B0503020204020204" charset="-122"/>
            </a:endParaRPr>
          </a:p>
          <a:p>
            <a:pPr>
              <a:lnSpc>
                <a:spcPct val="150000"/>
              </a:lnSpc>
              <a:buNone/>
            </a:pPr>
            <a:r>
              <a:rPr lang="zh-CN" altLang="en-US" sz="2400" b="1" dirty="0">
                <a:latin typeface="微软雅黑" panose="020B0503020204020204" charset="-122"/>
                <a:ea typeface="微软雅黑" panose="020B0503020204020204" charset="-122"/>
                <a:cs typeface="微软雅黑" panose="020B0503020204020204" charset="-122"/>
              </a:rPr>
              <a:t>        </a:t>
            </a:r>
            <a:r>
              <a:rPr lang="zh-CN" altLang="zh-CN" sz="2400" b="1" dirty="0">
                <a:latin typeface="微软雅黑" panose="020B0503020204020204" charset="-122"/>
                <a:ea typeface="微软雅黑" panose="020B0503020204020204" charset="-122"/>
                <a:cs typeface="微软雅黑" panose="020B0503020204020204" charset="-122"/>
              </a:rPr>
              <a:t>例化名：</a:t>
            </a:r>
            <a:r>
              <a:rPr lang="en-US" altLang="zh-CN" sz="2400" b="1" dirty="0">
                <a:latin typeface="微软雅黑" panose="020B0503020204020204" charset="-122"/>
                <a:ea typeface="微软雅黑" panose="020B0503020204020204" charset="-122"/>
                <a:cs typeface="微软雅黑" panose="020B0503020204020204" charset="-122"/>
              </a:rPr>
              <a:t>Port map(</a:t>
            </a:r>
            <a:r>
              <a:rPr lang="zh-CN" altLang="en-US" sz="2400" b="1" dirty="0">
                <a:latin typeface="微软雅黑" panose="020B0503020204020204" charset="-122"/>
                <a:ea typeface="微软雅黑" panose="020B0503020204020204" charset="-122"/>
                <a:cs typeface="微软雅黑" panose="020B0503020204020204" charset="-122"/>
              </a:rPr>
              <a:t>映射信号</a:t>
            </a:r>
            <a:r>
              <a:rPr lang="en-US" altLang="zh-CN" sz="2400" b="1" dirty="0">
                <a:latin typeface="微软雅黑" panose="020B0503020204020204" charset="-122"/>
                <a:ea typeface="微软雅黑" panose="020B0503020204020204" charset="-122"/>
                <a:cs typeface="微软雅黑" panose="020B0503020204020204" charset="-122"/>
              </a:rPr>
              <a:t>1,</a:t>
            </a:r>
            <a:r>
              <a:rPr lang="zh-CN" altLang="en-US" sz="2400" b="1" dirty="0">
                <a:latin typeface="微软雅黑" panose="020B0503020204020204" charset="-122"/>
                <a:ea typeface="微软雅黑" panose="020B0503020204020204" charset="-122"/>
                <a:cs typeface="微软雅黑" panose="020B0503020204020204" charset="-122"/>
              </a:rPr>
              <a:t>映射信号</a:t>
            </a:r>
            <a:r>
              <a:rPr lang="en-US" altLang="zh-CN" sz="2400" b="1" dirty="0">
                <a:latin typeface="微软雅黑" panose="020B0503020204020204" charset="-122"/>
                <a:ea typeface="微软雅黑" panose="020B0503020204020204" charset="-122"/>
                <a:cs typeface="微软雅黑" panose="020B0503020204020204" charset="-122"/>
              </a:rPr>
              <a:t>2,…,</a:t>
            </a:r>
            <a:r>
              <a:rPr lang="zh-CN" altLang="en-US" sz="2400" b="1" dirty="0">
                <a:latin typeface="微软雅黑" panose="020B0503020204020204" charset="-122"/>
                <a:ea typeface="微软雅黑" panose="020B0503020204020204" charset="-122"/>
                <a:cs typeface="微软雅黑" panose="020B0503020204020204" charset="-122"/>
              </a:rPr>
              <a:t>映射信号</a:t>
            </a:r>
            <a:r>
              <a:rPr lang="en-US" altLang="zh-CN" sz="2400" b="1">
                <a:latin typeface="微软雅黑" panose="020B0503020204020204" charset="-122"/>
                <a:ea typeface="微软雅黑" panose="020B0503020204020204" charset="-122"/>
                <a:cs typeface="微软雅黑" panose="020B0503020204020204" charset="-122"/>
              </a:rPr>
              <a:t>n);</a:t>
            </a:r>
            <a:endParaRPr lang="en-US" altLang="zh-CN" sz="2400" b="1">
              <a:latin typeface="微软雅黑" panose="020B0503020204020204" charset="-122"/>
              <a:ea typeface="微软雅黑" panose="020B0503020204020204" charset="-122"/>
              <a:cs typeface="微软雅黑" panose="020B0503020204020204" charset="-122"/>
            </a:endParaRPr>
          </a:p>
          <a:p>
            <a:pPr>
              <a:lnSpc>
                <a:spcPct val="150000"/>
              </a:lnSpc>
              <a:buNone/>
            </a:pPr>
            <a:r>
              <a:rPr lang="en-US" altLang="zh-CN" sz="2400" b="1" dirty="0">
                <a:latin typeface="微软雅黑" panose="020B0503020204020204" charset="-122"/>
                <a:ea typeface="微软雅黑" panose="020B0503020204020204" charset="-122"/>
                <a:cs typeface="微软雅黑" panose="020B0503020204020204" charset="-122"/>
              </a:rPr>
              <a:t>        </a:t>
            </a:r>
            <a:r>
              <a:rPr lang="zh-CN" altLang="en-US" sz="2400" b="1" dirty="0">
                <a:latin typeface="微软雅黑" panose="020B0503020204020204" charset="-122"/>
                <a:ea typeface="微软雅黑" panose="020B0503020204020204" charset="-122"/>
                <a:cs typeface="微软雅黑" panose="020B0503020204020204" charset="-122"/>
              </a:rPr>
              <a:t>使用位置关联，采用</a:t>
            </a: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顺序一致原则</a:t>
            </a:r>
            <a:r>
              <a:rPr lang="zh-CN" altLang="en-US" sz="2400" b="1" dirty="0">
                <a:latin typeface="微软雅黑" panose="020B0503020204020204" charset="-122"/>
                <a:ea typeface="微软雅黑" panose="020B0503020204020204" charset="-122"/>
                <a:cs typeface="微软雅黑" panose="020B0503020204020204" charset="-122"/>
              </a:rPr>
              <a:t>，即将元件说明语句中的端口按顺序依次与映射信号</a:t>
            </a:r>
            <a:r>
              <a:rPr lang="en-US" altLang="zh-CN" sz="2400" b="1" dirty="0">
                <a:latin typeface="微软雅黑" panose="020B0503020204020204" charset="-122"/>
                <a:ea typeface="微软雅黑" panose="020B0503020204020204" charset="-122"/>
                <a:cs typeface="微软雅黑" panose="020B0503020204020204" charset="-122"/>
              </a:rPr>
              <a:t>1</a:t>
            </a:r>
            <a:r>
              <a:rPr lang="zh-CN" altLang="en-US" sz="2400" b="1" dirty="0">
                <a:latin typeface="微软雅黑" panose="020B0503020204020204" charset="-122"/>
                <a:ea typeface="微软雅黑" panose="020B0503020204020204" charset="-122"/>
                <a:cs typeface="微软雅黑" panose="020B0503020204020204" charset="-122"/>
              </a:rPr>
              <a:t>到映射信号</a:t>
            </a:r>
            <a:r>
              <a:rPr lang="en-US" altLang="zh-CN" sz="2400" b="1" dirty="0">
                <a:latin typeface="微软雅黑" panose="020B0503020204020204" charset="-122"/>
                <a:ea typeface="微软雅黑" panose="020B0503020204020204" charset="-122"/>
                <a:cs typeface="微软雅黑" panose="020B0503020204020204" charset="-122"/>
              </a:rPr>
              <a:t>n</a:t>
            </a:r>
            <a:r>
              <a:rPr lang="zh-CN" altLang="en-US" sz="2400" b="1" dirty="0">
                <a:latin typeface="微软雅黑" panose="020B0503020204020204" charset="-122"/>
                <a:ea typeface="微软雅黑" panose="020B0503020204020204" charset="-122"/>
                <a:cs typeface="微软雅黑" panose="020B0503020204020204" charset="-122"/>
              </a:rPr>
              <a:t>连接。</a:t>
            </a:r>
            <a:endParaRPr lang="zh-CN" altLang="en-US" sz="2400" b="1">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3172" name="矩形 735237"/>
          <p:cNvSpPr/>
          <p:nvPr/>
        </p:nvSpPr>
        <p:spPr>
          <a:xfrm>
            <a:off x="673100" y="476250"/>
            <a:ext cx="8229600" cy="504825"/>
          </a:xfrm>
          <a:prstGeom prst="rect">
            <a:avLst/>
          </a:prstGeom>
          <a:noFill/>
          <a:ln w="9525">
            <a:noFill/>
          </a:ln>
        </p:spPr>
        <p:txBody>
          <a:bodyPr anchor="t" anchorCtr="0"/>
          <a:p>
            <a:pPr>
              <a:buFont typeface="Wingdings" panose="05000000000000000000" pitchFamily="2" charset="2"/>
              <a:buChar char="Ø"/>
            </a:pPr>
            <a:r>
              <a:rPr lang="zh-CN" altLang="en-US" sz="2800" b="1" dirty="0">
                <a:solidFill>
                  <a:srgbClr val="990000"/>
                </a:solidFill>
                <a:latin typeface="Times New Roman" panose="02020603050405020304" pitchFamily="18" charset="0"/>
                <a:ea typeface="楷体_GB2312" pitchFamily="49" charset="-122"/>
              </a:rPr>
              <a:t>层次化、结构化描述示例</a:t>
            </a:r>
            <a:endParaRPr lang="zh-CN" altLang="en-US" sz="2800" b="1" dirty="0">
              <a:solidFill>
                <a:srgbClr val="990000"/>
              </a:solidFill>
              <a:latin typeface="Times New Roman" panose="02020603050405020304" pitchFamily="18" charset="0"/>
              <a:ea typeface="楷体_GB2312" pitchFamily="49" charset="-122"/>
            </a:endParaRPr>
          </a:p>
        </p:txBody>
      </p:sp>
      <p:pic>
        <p:nvPicPr>
          <p:cNvPr id="152577" name="图片 26627" descr="2-9"/>
          <p:cNvPicPr>
            <a:picLocks noChangeAspect="1"/>
          </p:cNvPicPr>
          <p:nvPr>
            <p:custDataLst>
              <p:tags r:id="rId1"/>
            </p:custDataLst>
          </p:nvPr>
        </p:nvPicPr>
        <p:blipFill>
          <a:blip r:embed="rId2"/>
          <a:stretch>
            <a:fillRect/>
          </a:stretch>
        </p:blipFill>
        <p:spPr>
          <a:xfrm>
            <a:off x="1454150" y="1820863"/>
            <a:ext cx="6234113" cy="3771900"/>
          </a:xfrm>
          <a:prstGeom prst="rect">
            <a:avLst/>
          </a:prstGeom>
          <a:noFill/>
          <a:ln w="9525">
            <a:noFill/>
          </a:ln>
        </p:spPr>
      </p:pic>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4193" name="文本占位符 736257"/>
          <p:cNvSpPr>
            <a:spLocks noGrp="1"/>
          </p:cNvSpPr>
          <p:nvPr>
            <p:ph idx="1"/>
          </p:nvPr>
        </p:nvSpPr>
        <p:spPr>
          <a:xfrm>
            <a:off x="1447800" y="1177925"/>
            <a:ext cx="6896100" cy="5059680"/>
          </a:xfrm>
        </p:spPr>
        <p:txBody>
          <a:bodyPr anchor="t" anchorCtr="0"/>
          <a:p>
            <a:pPr algn="just">
              <a:lnSpc>
                <a:spcPct val="120000"/>
              </a:lnSpc>
              <a:buNone/>
            </a:pPr>
            <a:r>
              <a:rPr lang="en-US" altLang="zh-CN" sz="2400">
                <a:latin typeface="Times New Roman" panose="02020603050405020304" pitchFamily="18" charset="0"/>
                <a:ea typeface="楷体_GB2312" pitchFamily="49" charset="-122"/>
              </a:rPr>
              <a:t>LIBRARY IEEE</a:t>
            </a:r>
            <a:r>
              <a:rPr lang="zh-CN" altLang="en-US" sz="2400">
                <a:latin typeface="Times New Roman" panose="02020603050405020304" pitchFamily="18" charset="0"/>
                <a:ea typeface="楷体_GB2312" pitchFamily="49" charset="-122"/>
              </a:rPr>
              <a:t>；</a:t>
            </a:r>
            <a:endParaRPr lang="zh-CN" altLang="en-US"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USE IEEE.STD_LOGIC_1164.ALL</a:t>
            </a:r>
            <a:r>
              <a:rPr lang="zh-CN" altLang="en-US" sz="2400">
                <a:latin typeface="Times New Roman" panose="02020603050405020304" pitchFamily="18" charset="0"/>
                <a:ea typeface="楷体_GB2312" pitchFamily="49" charset="-122"/>
              </a:rPr>
              <a:t>；</a:t>
            </a:r>
            <a:endParaRPr lang="zh-CN" altLang="en-US"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ENTITY</a:t>
            </a:r>
            <a:r>
              <a:rPr lang="en-US" altLang="zh-CN" sz="2400">
                <a:solidFill>
                  <a:srgbClr val="FF0000"/>
                </a:solidFill>
                <a:latin typeface="Times New Roman" panose="02020603050405020304" pitchFamily="18" charset="0"/>
                <a:ea typeface="楷体_GB2312" pitchFamily="49" charset="-122"/>
              </a:rPr>
              <a:t>  MY_AND2</a:t>
            </a:r>
            <a:r>
              <a:rPr lang="en-US" altLang="zh-CN" sz="2400">
                <a:latin typeface="Times New Roman" panose="02020603050405020304" pitchFamily="18" charset="0"/>
                <a:ea typeface="楷体_GB2312" pitchFamily="49" charset="-122"/>
              </a:rPr>
              <a:t>  IS</a:t>
            </a:r>
            <a:endParaRPr lang="en-US" altLang="zh-CN"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    PORT(A</a:t>
            </a:r>
            <a:r>
              <a:rPr lang="zh-CN" altLang="en-US" sz="2400">
                <a:latin typeface="Times New Roman" panose="02020603050405020304" pitchFamily="18" charset="0"/>
                <a:ea typeface="楷体_GB2312" pitchFamily="49" charset="-122"/>
              </a:rPr>
              <a:t>，</a:t>
            </a:r>
            <a:r>
              <a:rPr lang="en-US" altLang="zh-CN" sz="2400">
                <a:latin typeface="Times New Roman" panose="02020603050405020304" pitchFamily="18" charset="0"/>
                <a:ea typeface="楷体_GB2312" pitchFamily="49" charset="-122"/>
              </a:rPr>
              <a:t>B</a:t>
            </a:r>
            <a:r>
              <a:rPr lang="zh-CN" altLang="en-US" sz="2400">
                <a:latin typeface="Times New Roman" panose="02020603050405020304" pitchFamily="18" charset="0"/>
                <a:ea typeface="楷体_GB2312" pitchFamily="49" charset="-122"/>
              </a:rPr>
              <a:t>：</a:t>
            </a:r>
            <a:r>
              <a:rPr lang="en-US" altLang="zh-CN" sz="2400">
                <a:latin typeface="Times New Roman" panose="02020603050405020304" pitchFamily="18" charset="0"/>
                <a:ea typeface="楷体_GB2312" pitchFamily="49" charset="-122"/>
              </a:rPr>
              <a:t>IN STD_LOGIC</a:t>
            </a:r>
            <a:r>
              <a:rPr lang="zh-CN" altLang="en-US" sz="2400">
                <a:latin typeface="Times New Roman" panose="02020603050405020304" pitchFamily="18" charset="0"/>
                <a:ea typeface="楷体_GB2312" pitchFamily="49" charset="-122"/>
              </a:rPr>
              <a:t>；</a:t>
            </a:r>
            <a:endParaRPr lang="zh-CN" altLang="en-US" sz="2400">
              <a:latin typeface="Times New Roman" panose="02020603050405020304" pitchFamily="18" charset="0"/>
              <a:ea typeface="楷体_GB2312" pitchFamily="49" charset="-122"/>
            </a:endParaRPr>
          </a:p>
          <a:p>
            <a:pPr algn="just">
              <a:lnSpc>
                <a:spcPct val="120000"/>
              </a:lnSpc>
              <a:buNone/>
            </a:pPr>
            <a:r>
              <a:rPr lang="zh-CN" altLang="en-US" sz="2400">
                <a:latin typeface="Times New Roman" panose="02020603050405020304" pitchFamily="18" charset="0"/>
                <a:ea typeface="楷体_GB2312" pitchFamily="49" charset="-122"/>
              </a:rPr>
              <a:t>                       </a:t>
            </a:r>
            <a:r>
              <a:rPr lang="en-US" altLang="zh-CN" sz="2400">
                <a:latin typeface="Times New Roman" panose="02020603050405020304" pitchFamily="18" charset="0"/>
                <a:ea typeface="楷体_GB2312" pitchFamily="49" charset="-122"/>
              </a:rPr>
              <a:t>C</a:t>
            </a:r>
            <a:r>
              <a:rPr lang="zh-CN" altLang="en-US" sz="2400">
                <a:latin typeface="Times New Roman" panose="02020603050405020304" pitchFamily="18" charset="0"/>
                <a:ea typeface="楷体_GB2312" pitchFamily="49" charset="-122"/>
              </a:rPr>
              <a:t>：</a:t>
            </a:r>
            <a:r>
              <a:rPr lang="en-US" altLang="zh-CN" sz="2400">
                <a:latin typeface="Times New Roman" panose="02020603050405020304" pitchFamily="18" charset="0"/>
                <a:ea typeface="楷体_GB2312" pitchFamily="49" charset="-122"/>
              </a:rPr>
              <a:t>OUT STD_LOGIC)</a:t>
            </a:r>
            <a:r>
              <a:rPr lang="zh-CN" altLang="en-US" sz="2400">
                <a:latin typeface="Times New Roman" panose="02020603050405020304" pitchFamily="18" charset="0"/>
                <a:ea typeface="楷体_GB2312" pitchFamily="49" charset="-122"/>
              </a:rPr>
              <a:t>；</a:t>
            </a:r>
            <a:endParaRPr lang="zh-CN" altLang="en-US"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END ENTITY ND2</a:t>
            </a:r>
            <a:r>
              <a:rPr lang="zh-CN" altLang="en-US" sz="2400">
                <a:latin typeface="Times New Roman" panose="02020603050405020304" pitchFamily="18" charset="0"/>
                <a:ea typeface="楷体_GB2312" pitchFamily="49" charset="-122"/>
              </a:rPr>
              <a:t>；</a:t>
            </a:r>
            <a:endParaRPr lang="zh-CN" altLang="en-US"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ARCHITECTURE ARTND2 OF </a:t>
            </a:r>
            <a:r>
              <a:rPr lang="en-US" altLang="zh-CN" sz="2400">
                <a:solidFill>
                  <a:srgbClr val="FF0000"/>
                </a:solidFill>
                <a:latin typeface="Times New Roman" panose="02020603050405020304" pitchFamily="18" charset="0"/>
                <a:ea typeface="楷体_GB2312" pitchFamily="49" charset="-122"/>
                <a:sym typeface="+mn-ea"/>
              </a:rPr>
              <a:t>MY_AND2</a:t>
            </a:r>
            <a:r>
              <a:rPr lang="en-US" altLang="zh-CN" sz="2400">
                <a:latin typeface="Times New Roman" panose="02020603050405020304" pitchFamily="18" charset="0"/>
                <a:ea typeface="楷体_GB2312" pitchFamily="49" charset="-122"/>
              </a:rPr>
              <a:t>  IS</a:t>
            </a:r>
            <a:endParaRPr lang="en-US" altLang="zh-CN"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   BEGIN</a:t>
            </a:r>
            <a:endParaRPr lang="en-US" altLang="zh-CN"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     C&lt;=A AND B</a:t>
            </a:r>
            <a:r>
              <a:rPr lang="zh-CN" altLang="en-US" sz="2400">
                <a:latin typeface="Times New Roman" panose="02020603050405020304" pitchFamily="18" charset="0"/>
                <a:ea typeface="楷体_GB2312" pitchFamily="49" charset="-122"/>
              </a:rPr>
              <a:t>；</a:t>
            </a:r>
            <a:endParaRPr lang="zh-CN" altLang="en-US"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END ARCHITECTURE ARTND2</a:t>
            </a:r>
            <a:r>
              <a:rPr lang="zh-CN" altLang="en-US" sz="2400">
                <a:latin typeface="Times New Roman" panose="02020603050405020304" pitchFamily="18" charset="0"/>
                <a:ea typeface="楷体_GB2312" pitchFamily="49" charset="-122"/>
              </a:rPr>
              <a:t>；</a:t>
            </a:r>
            <a:endParaRPr lang="zh-CN" altLang="en-US" sz="2400">
              <a:latin typeface="Times New Roman" panose="02020603050405020304" pitchFamily="18" charset="0"/>
              <a:ea typeface="楷体_GB2312" pitchFamily="49" charset="-122"/>
            </a:endParaRPr>
          </a:p>
        </p:txBody>
      </p:sp>
      <p:sp>
        <p:nvSpPr>
          <p:cNvPr id="264194" name="矩形 736258"/>
          <p:cNvSpPr/>
          <p:nvPr/>
        </p:nvSpPr>
        <p:spPr>
          <a:xfrm>
            <a:off x="673100" y="476250"/>
            <a:ext cx="8229600" cy="504825"/>
          </a:xfrm>
          <a:prstGeom prst="rect">
            <a:avLst/>
          </a:prstGeom>
          <a:noFill/>
          <a:ln w="9525">
            <a:noFill/>
          </a:ln>
        </p:spPr>
        <p:txBody>
          <a:bodyPr anchor="t" anchorCtr="0"/>
          <a:p>
            <a:pPr>
              <a:buClr>
                <a:srgbClr val="0000CC"/>
              </a:buClr>
              <a:buFont typeface="Wingdings" panose="05000000000000000000" pitchFamily="2" charset="2"/>
              <a:buChar char="p"/>
            </a:pPr>
            <a:r>
              <a:rPr lang="zh-CN" altLang="en-US" sz="2400" b="1" dirty="0">
                <a:solidFill>
                  <a:srgbClr val="0000CC"/>
                </a:solidFill>
                <a:latin typeface="楷体_GB2312" pitchFamily="49" charset="-122"/>
                <a:ea typeface="楷体_GB2312" pitchFamily="49" charset="-122"/>
              </a:rPr>
              <a:t>下层元件描述</a:t>
            </a:r>
            <a:endParaRPr lang="zh-CN" altLang="en-US" sz="2400" b="1" dirty="0">
              <a:solidFill>
                <a:srgbClr val="990000"/>
              </a:solidFill>
              <a:latin typeface="Times New Roman" panose="02020603050405020304" pitchFamily="18" charset="0"/>
              <a:ea typeface="楷体_GB2312" pitchFamily="49" charset="-122"/>
            </a:endParaRPr>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4193" name="文本占位符 736257"/>
          <p:cNvSpPr>
            <a:spLocks noGrp="1"/>
          </p:cNvSpPr>
          <p:nvPr>
            <p:ph idx="1"/>
          </p:nvPr>
        </p:nvSpPr>
        <p:spPr>
          <a:xfrm>
            <a:off x="1224915" y="827405"/>
            <a:ext cx="6896100" cy="5059680"/>
          </a:xfrm>
        </p:spPr>
        <p:txBody>
          <a:bodyPr anchor="t" anchorCtr="0"/>
          <a:p>
            <a:pPr algn="just">
              <a:lnSpc>
                <a:spcPct val="120000"/>
              </a:lnSpc>
              <a:buNone/>
            </a:pPr>
            <a:r>
              <a:rPr lang="en-US" altLang="zh-CN" sz="2400">
                <a:latin typeface="Times New Roman" panose="02020603050405020304" pitchFamily="18" charset="0"/>
                <a:ea typeface="楷体_GB2312" pitchFamily="49" charset="-122"/>
              </a:rPr>
              <a:t>LIBRARY IEEE</a:t>
            </a:r>
            <a:r>
              <a:rPr lang="zh-CN" altLang="en-US" sz="2400">
                <a:latin typeface="Times New Roman" panose="02020603050405020304" pitchFamily="18" charset="0"/>
                <a:ea typeface="楷体_GB2312" pitchFamily="49" charset="-122"/>
              </a:rPr>
              <a:t>；</a:t>
            </a:r>
            <a:endParaRPr lang="zh-CN" altLang="en-US"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USE IEEE.STD_LOGIC_1164.ALL</a:t>
            </a:r>
            <a:r>
              <a:rPr lang="zh-CN" altLang="en-US" sz="2400">
                <a:latin typeface="Times New Roman" panose="02020603050405020304" pitchFamily="18" charset="0"/>
                <a:ea typeface="楷体_GB2312" pitchFamily="49" charset="-122"/>
              </a:rPr>
              <a:t>；</a:t>
            </a:r>
            <a:endParaRPr lang="zh-CN" altLang="en-US"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ENTITY</a:t>
            </a:r>
            <a:r>
              <a:rPr lang="en-US" altLang="zh-CN" sz="2400">
                <a:solidFill>
                  <a:srgbClr val="FF0000"/>
                </a:solidFill>
                <a:latin typeface="Times New Roman" panose="02020603050405020304" pitchFamily="18" charset="0"/>
                <a:ea typeface="楷体_GB2312" pitchFamily="49" charset="-122"/>
              </a:rPr>
              <a:t>  MY_OR2</a:t>
            </a:r>
            <a:r>
              <a:rPr lang="en-US" altLang="zh-CN" sz="2400">
                <a:latin typeface="Times New Roman" panose="02020603050405020304" pitchFamily="18" charset="0"/>
                <a:ea typeface="楷体_GB2312" pitchFamily="49" charset="-122"/>
              </a:rPr>
              <a:t>  IS</a:t>
            </a:r>
            <a:endParaRPr lang="en-US" altLang="zh-CN"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    PORT(A</a:t>
            </a:r>
            <a:r>
              <a:rPr lang="zh-CN" altLang="en-US" sz="2400">
                <a:latin typeface="Times New Roman" panose="02020603050405020304" pitchFamily="18" charset="0"/>
                <a:ea typeface="楷体_GB2312" pitchFamily="49" charset="-122"/>
              </a:rPr>
              <a:t>，</a:t>
            </a:r>
            <a:r>
              <a:rPr lang="en-US" altLang="zh-CN" sz="2400">
                <a:latin typeface="Times New Roman" panose="02020603050405020304" pitchFamily="18" charset="0"/>
                <a:ea typeface="楷体_GB2312" pitchFamily="49" charset="-122"/>
              </a:rPr>
              <a:t>B</a:t>
            </a:r>
            <a:r>
              <a:rPr lang="zh-CN" altLang="en-US" sz="2400">
                <a:latin typeface="Times New Roman" panose="02020603050405020304" pitchFamily="18" charset="0"/>
                <a:ea typeface="楷体_GB2312" pitchFamily="49" charset="-122"/>
              </a:rPr>
              <a:t>：</a:t>
            </a:r>
            <a:r>
              <a:rPr lang="en-US" altLang="zh-CN" sz="2400">
                <a:latin typeface="Times New Roman" panose="02020603050405020304" pitchFamily="18" charset="0"/>
                <a:ea typeface="楷体_GB2312" pitchFamily="49" charset="-122"/>
              </a:rPr>
              <a:t>IN STD_LOGIC</a:t>
            </a:r>
            <a:r>
              <a:rPr lang="zh-CN" altLang="en-US" sz="2400">
                <a:latin typeface="Times New Roman" panose="02020603050405020304" pitchFamily="18" charset="0"/>
                <a:ea typeface="楷体_GB2312" pitchFamily="49" charset="-122"/>
              </a:rPr>
              <a:t>；</a:t>
            </a:r>
            <a:endParaRPr lang="zh-CN" altLang="en-US" sz="2400">
              <a:latin typeface="Times New Roman" panose="02020603050405020304" pitchFamily="18" charset="0"/>
              <a:ea typeface="楷体_GB2312" pitchFamily="49" charset="-122"/>
            </a:endParaRPr>
          </a:p>
          <a:p>
            <a:pPr algn="just">
              <a:lnSpc>
                <a:spcPct val="120000"/>
              </a:lnSpc>
              <a:buNone/>
            </a:pPr>
            <a:r>
              <a:rPr lang="zh-CN" altLang="en-US" sz="2400">
                <a:latin typeface="Times New Roman" panose="02020603050405020304" pitchFamily="18" charset="0"/>
                <a:ea typeface="楷体_GB2312" pitchFamily="49" charset="-122"/>
              </a:rPr>
              <a:t>                       </a:t>
            </a:r>
            <a:r>
              <a:rPr lang="en-US" altLang="zh-CN" sz="2400">
                <a:latin typeface="Times New Roman" panose="02020603050405020304" pitchFamily="18" charset="0"/>
                <a:ea typeface="楷体_GB2312" pitchFamily="49" charset="-122"/>
              </a:rPr>
              <a:t>C</a:t>
            </a:r>
            <a:r>
              <a:rPr lang="zh-CN" altLang="en-US" sz="2400">
                <a:latin typeface="Times New Roman" panose="02020603050405020304" pitchFamily="18" charset="0"/>
                <a:ea typeface="楷体_GB2312" pitchFamily="49" charset="-122"/>
              </a:rPr>
              <a:t>：</a:t>
            </a:r>
            <a:r>
              <a:rPr lang="en-US" altLang="zh-CN" sz="2400">
                <a:latin typeface="Times New Roman" panose="02020603050405020304" pitchFamily="18" charset="0"/>
                <a:ea typeface="楷体_GB2312" pitchFamily="49" charset="-122"/>
              </a:rPr>
              <a:t>OUT STD_LOGIC)</a:t>
            </a:r>
            <a:r>
              <a:rPr lang="zh-CN" altLang="en-US" sz="2400">
                <a:latin typeface="Times New Roman" panose="02020603050405020304" pitchFamily="18" charset="0"/>
                <a:ea typeface="楷体_GB2312" pitchFamily="49" charset="-122"/>
              </a:rPr>
              <a:t>；</a:t>
            </a:r>
            <a:endParaRPr lang="zh-CN" altLang="en-US"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END ENTITY ND2</a:t>
            </a:r>
            <a:r>
              <a:rPr lang="zh-CN" altLang="en-US" sz="2400">
                <a:latin typeface="Times New Roman" panose="02020603050405020304" pitchFamily="18" charset="0"/>
                <a:ea typeface="楷体_GB2312" pitchFamily="49" charset="-122"/>
              </a:rPr>
              <a:t>；</a:t>
            </a:r>
            <a:endParaRPr lang="zh-CN" altLang="en-US"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ARCHITECTURE ARTND2 OF </a:t>
            </a:r>
            <a:r>
              <a:rPr lang="en-US" altLang="zh-CN" sz="2400">
                <a:solidFill>
                  <a:srgbClr val="FF0000"/>
                </a:solidFill>
                <a:latin typeface="Times New Roman" panose="02020603050405020304" pitchFamily="18" charset="0"/>
                <a:ea typeface="楷体_GB2312" pitchFamily="49" charset="-122"/>
                <a:sym typeface="+mn-ea"/>
              </a:rPr>
              <a:t>MY_OR2</a:t>
            </a:r>
            <a:r>
              <a:rPr lang="en-US" altLang="zh-CN" sz="2400">
                <a:latin typeface="Times New Roman" panose="02020603050405020304" pitchFamily="18" charset="0"/>
                <a:ea typeface="楷体_GB2312" pitchFamily="49" charset="-122"/>
              </a:rPr>
              <a:t>  IS</a:t>
            </a:r>
            <a:endParaRPr lang="en-US" altLang="zh-CN"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   BEGIN</a:t>
            </a:r>
            <a:endParaRPr lang="en-US" altLang="zh-CN"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     C&lt;=A OR B</a:t>
            </a:r>
            <a:r>
              <a:rPr lang="zh-CN" altLang="en-US" sz="2400">
                <a:latin typeface="Times New Roman" panose="02020603050405020304" pitchFamily="18" charset="0"/>
                <a:ea typeface="楷体_GB2312" pitchFamily="49" charset="-122"/>
              </a:rPr>
              <a:t>；</a:t>
            </a:r>
            <a:endParaRPr lang="zh-CN" altLang="en-US" sz="2400">
              <a:latin typeface="Times New Roman" panose="02020603050405020304" pitchFamily="18" charset="0"/>
              <a:ea typeface="楷体_GB2312" pitchFamily="49" charset="-122"/>
            </a:endParaRPr>
          </a:p>
          <a:p>
            <a:pPr algn="just">
              <a:lnSpc>
                <a:spcPct val="120000"/>
              </a:lnSpc>
              <a:buNone/>
            </a:pPr>
            <a:r>
              <a:rPr lang="en-US" altLang="zh-CN" sz="2400">
                <a:latin typeface="Times New Roman" panose="02020603050405020304" pitchFamily="18" charset="0"/>
                <a:ea typeface="楷体_GB2312" pitchFamily="49" charset="-122"/>
              </a:rPr>
              <a:t>END ARCHITECTURE ARTND2</a:t>
            </a:r>
            <a:r>
              <a:rPr lang="zh-CN" altLang="en-US" sz="2400">
                <a:latin typeface="Times New Roman" panose="02020603050405020304" pitchFamily="18" charset="0"/>
                <a:ea typeface="楷体_GB2312" pitchFamily="49" charset="-122"/>
              </a:rPr>
              <a:t>；</a:t>
            </a:r>
            <a:endParaRPr lang="zh-CN" altLang="en-US" sz="2400">
              <a:latin typeface="Times New Roman" panose="02020603050405020304" pitchFamily="18" charset="0"/>
              <a:ea typeface="楷体_GB2312" pitchFamily="49" charset="-122"/>
            </a:endParaRPr>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矩形 737283"/>
          <p:cNvSpPr/>
          <p:nvPr/>
        </p:nvSpPr>
        <p:spPr>
          <a:xfrm>
            <a:off x="673100" y="476250"/>
            <a:ext cx="8229600" cy="504825"/>
          </a:xfrm>
          <a:prstGeom prst="rect">
            <a:avLst/>
          </a:prstGeom>
          <a:noFill/>
          <a:ln w="9525">
            <a:noFill/>
          </a:ln>
        </p:spPr>
        <p:txBody>
          <a:bodyPr/>
          <a:p>
            <a:pPr>
              <a:buClr>
                <a:srgbClr val="0000CC"/>
              </a:buClr>
              <a:buFont typeface="Wingdings" panose="05000000000000000000" pitchFamily="2" charset="2"/>
              <a:buChar char="p"/>
            </a:pPr>
            <a:r>
              <a:rPr lang="zh-CN" altLang="en-US" sz="2400" b="0" dirty="0">
                <a:solidFill>
                  <a:srgbClr val="0000CC"/>
                </a:solidFill>
                <a:latin typeface="楷体_GB2312" pitchFamily="49" charset="-122"/>
                <a:ea typeface="楷体_GB2312" pitchFamily="49" charset="-122"/>
                <a:sym typeface="楷体_GB2312" pitchFamily="49" charset="-122"/>
              </a:rPr>
              <a:t>上层元件引用</a:t>
            </a:r>
            <a:endParaRPr lang="zh-CN" altLang="en-US" sz="2400" b="0" dirty="0">
              <a:solidFill>
                <a:srgbClr val="990000"/>
              </a:solidFill>
              <a:latin typeface="Times New Roman" panose="02020603050405020304" pitchFamily="18" charset="0"/>
              <a:ea typeface="楷体_GB2312" pitchFamily="49" charset="-122"/>
              <a:sym typeface="Times New Roman" panose="02020603050405020304" pitchFamily="18" charset="0"/>
            </a:endParaRPr>
          </a:p>
        </p:txBody>
      </p:sp>
      <p:pic>
        <p:nvPicPr>
          <p:cNvPr id="13315" name="Picture 3"/>
          <p:cNvPicPr>
            <a:picLocks noChangeAspect="1"/>
          </p:cNvPicPr>
          <p:nvPr/>
        </p:nvPicPr>
        <p:blipFill>
          <a:blip r:embed="rId1"/>
          <a:stretch>
            <a:fillRect/>
          </a:stretch>
        </p:blipFill>
        <p:spPr>
          <a:xfrm>
            <a:off x="322263" y="1468438"/>
            <a:ext cx="8580437" cy="1952625"/>
          </a:xfrm>
          <a:prstGeom prst="rect">
            <a:avLst/>
          </a:prstGeom>
          <a:noFill/>
          <a:ln w="9525">
            <a:noFill/>
          </a:ln>
        </p:spPr>
      </p:pic>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5218" name="矩形 737283"/>
          <p:cNvSpPr/>
          <p:nvPr/>
        </p:nvSpPr>
        <p:spPr>
          <a:xfrm>
            <a:off x="673100" y="476250"/>
            <a:ext cx="8229600" cy="504825"/>
          </a:xfrm>
          <a:prstGeom prst="rect">
            <a:avLst/>
          </a:prstGeom>
          <a:noFill/>
          <a:ln w="9525">
            <a:noFill/>
          </a:ln>
        </p:spPr>
        <p:txBody>
          <a:bodyPr anchor="t" anchorCtr="0"/>
          <a:p>
            <a:pPr>
              <a:buClr>
                <a:srgbClr val="0000CC"/>
              </a:buClr>
              <a:buFont typeface="Wingdings" panose="05000000000000000000" pitchFamily="2" charset="2"/>
              <a:buChar char="p"/>
            </a:pPr>
            <a:r>
              <a:rPr lang="zh-CN" altLang="en-US" sz="2400" b="1" dirty="0">
                <a:solidFill>
                  <a:srgbClr val="0000CC"/>
                </a:solidFill>
                <a:latin typeface="楷体_GB2312" pitchFamily="49" charset="-122"/>
                <a:ea typeface="楷体_GB2312" pitchFamily="49" charset="-122"/>
              </a:rPr>
              <a:t>上层元件引用</a:t>
            </a:r>
            <a:endParaRPr lang="zh-CN" altLang="en-US" sz="2400" b="1" dirty="0">
              <a:solidFill>
                <a:srgbClr val="990000"/>
              </a:solidFill>
              <a:latin typeface="Times New Roman" panose="02020603050405020304" pitchFamily="18" charset="0"/>
              <a:ea typeface="楷体_GB2312" pitchFamily="49" charset="-122"/>
            </a:endParaRPr>
          </a:p>
        </p:txBody>
      </p:sp>
      <p:sp>
        <p:nvSpPr>
          <p:cNvPr id="156674" name="文本框 1"/>
          <p:cNvSpPr txBox="1"/>
          <p:nvPr/>
        </p:nvSpPr>
        <p:spPr>
          <a:xfrm>
            <a:off x="450215" y="1326515"/>
            <a:ext cx="7623175" cy="4891405"/>
          </a:xfrm>
          <a:prstGeom prst="rect">
            <a:avLst/>
          </a:prstGeom>
          <a:noFill/>
          <a:ln w="9525">
            <a:noFill/>
          </a:ln>
        </p:spPr>
        <p:txBody>
          <a:bodyPr wrap="square" anchor="t" anchorCtr="0">
            <a:spAutoFit/>
          </a:bodyPr>
          <a:p>
            <a:pPr>
              <a:lnSpc>
                <a:spcPct val="120000"/>
              </a:lnSpc>
            </a:pPr>
            <a:r>
              <a:rPr lang="zh-CN" altLang="en-US" sz="2400" b="0">
                <a:ea typeface="微软雅黑" panose="020B0503020204020204" charset="-122"/>
                <a:cs typeface="Times New Roman" panose="02020603050405020304" pitchFamily="18" charset="0"/>
              </a:rPr>
              <a:t>architecture </a:t>
            </a:r>
            <a:r>
              <a:rPr lang="en-US" altLang="zh-CN" sz="2400" b="0">
                <a:ea typeface="微软雅黑" panose="020B0503020204020204" charset="-122"/>
                <a:cs typeface="Times New Roman" panose="02020603050405020304" pitchFamily="18" charset="0"/>
              </a:rPr>
              <a:t>structure</a:t>
            </a:r>
            <a:r>
              <a:rPr lang="zh-CN" altLang="en-US" sz="2400" b="0">
                <a:ea typeface="微软雅黑" panose="020B0503020204020204" charset="-122"/>
                <a:cs typeface="Times New Roman" panose="02020603050405020304" pitchFamily="18" charset="0"/>
              </a:rPr>
              <a:t> of AND_OR is</a:t>
            </a:r>
            <a:endParaRPr lang="zh-CN" altLang="en-US" sz="2400" b="0">
              <a:ea typeface="微软雅黑" panose="020B0503020204020204" charset="-122"/>
              <a:cs typeface="Times New Roman" panose="02020603050405020304" pitchFamily="18" charset="0"/>
            </a:endParaRPr>
          </a:p>
          <a:p>
            <a:pPr>
              <a:lnSpc>
                <a:spcPct val="120000"/>
              </a:lnSpc>
            </a:pPr>
            <a:r>
              <a:rPr lang="en-US" altLang="zh-CN" sz="2400" b="0">
                <a:ea typeface="微软雅黑" panose="020B0503020204020204" charset="-122"/>
                <a:cs typeface="Times New Roman" panose="02020603050405020304" pitchFamily="18" charset="0"/>
              </a:rPr>
              <a:t>component MY_AND2  is</a:t>
            </a:r>
            <a:endParaRPr lang="en-US" altLang="zh-CN" sz="2400" b="0">
              <a:ea typeface="微软雅黑" panose="020B0503020204020204" charset="-122"/>
              <a:cs typeface="Times New Roman" panose="02020603050405020304" pitchFamily="18" charset="0"/>
            </a:endParaRPr>
          </a:p>
          <a:p>
            <a:pPr>
              <a:lnSpc>
                <a:spcPct val="120000"/>
              </a:lnSpc>
            </a:pPr>
            <a:r>
              <a:rPr lang="en-US" altLang="zh-CN" sz="2400" b="0">
                <a:ea typeface="微软雅黑" panose="020B0503020204020204" charset="-122"/>
                <a:cs typeface="Times New Roman" panose="02020603050405020304" pitchFamily="18" charset="0"/>
              </a:rPr>
              <a:t>port(a,b:in std_logic;</a:t>
            </a:r>
            <a:endParaRPr lang="en-US" altLang="zh-CN" sz="2400" b="0">
              <a:ea typeface="微软雅黑" panose="020B0503020204020204" charset="-122"/>
              <a:cs typeface="Times New Roman" panose="02020603050405020304" pitchFamily="18" charset="0"/>
            </a:endParaRPr>
          </a:p>
          <a:p>
            <a:pPr>
              <a:lnSpc>
                <a:spcPct val="120000"/>
              </a:lnSpc>
            </a:pPr>
            <a:r>
              <a:rPr lang="en-US" altLang="zh-CN" sz="2400" b="0">
                <a:ea typeface="微软雅黑" panose="020B0503020204020204" charset="-122"/>
                <a:cs typeface="Times New Roman" panose="02020603050405020304" pitchFamily="18" charset="0"/>
              </a:rPr>
              <a:t>             c:out std_logic);</a:t>
            </a:r>
            <a:endParaRPr lang="en-US" altLang="zh-CN" sz="2400" b="0">
              <a:ea typeface="微软雅黑" panose="020B0503020204020204" charset="-122"/>
              <a:cs typeface="Times New Roman" panose="02020603050405020304" pitchFamily="18" charset="0"/>
            </a:endParaRPr>
          </a:p>
          <a:p>
            <a:pPr>
              <a:lnSpc>
                <a:spcPct val="120000"/>
              </a:lnSpc>
            </a:pPr>
            <a:r>
              <a:rPr lang="en-US" altLang="zh-CN" sz="2400" b="0">
                <a:ea typeface="微软雅黑" panose="020B0503020204020204" charset="-122"/>
                <a:cs typeface="Times New Roman" panose="02020603050405020304" pitchFamily="18" charset="0"/>
              </a:rPr>
              <a:t>end component;</a:t>
            </a:r>
            <a:endParaRPr lang="en-US" altLang="zh-CN" sz="2400" b="0">
              <a:ea typeface="微软雅黑" panose="020B0503020204020204" charset="-122"/>
              <a:cs typeface="Times New Roman" panose="02020603050405020304" pitchFamily="18" charset="0"/>
            </a:endParaRPr>
          </a:p>
          <a:p>
            <a:pPr>
              <a:lnSpc>
                <a:spcPct val="120000"/>
              </a:lnSpc>
            </a:pPr>
            <a:r>
              <a:rPr lang="en-US" altLang="zh-CN" sz="2400" b="0">
                <a:ea typeface="微软雅黑" panose="020B0503020204020204" charset="-122"/>
                <a:cs typeface="Times New Roman" panose="02020603050405020304" pitchFamily="18" charset="0"/>
              </a:rPr>
              <a:t>component MY_OR2   is</a:t>
            </a:r>
            <a:endParaRPr lang="en-US" altLang="zh-CN" sz="2400" b="0">
              <a:ea typeface="微软雅黑" panose="020B0503020204020204" charset="-122"/>
              <a:cs typeface="Times New Roman" panose="02020603050405020304" pitchFamily="18" charset="0"/>
            </a:endParaRPr>
          </a:p>
          <a:p>
            <a:pPr>
              <a:lnSpc>
                <a:spcPct val="120000"/>
              </a:lnSpc>
            </a:pPr>
            <a:r>
              <a:rPr lang="en-US" altLang="zh-CN" sz="2400" b="0">
                <a:ea typeface="微软雅黑" panose="020B0503020204020204" charset="-122"/>
                <a:cs typeface="Times New Roman" panose="02020603050405020304" pitchFamily="18" charset="0"/>
              </a:rPr>
              <a:t>port(a,b:in std_logic;</a:t>
            </a:r>
            <a:endParaRPr lang="en-US" altLang="zh-CN" sz="2400" b="0">
              <a:ea typeface="微软雅黑" panose="020B0503020204020204" charset="-122"/>
              <a:cs typeface="Times New Roman" panose="02020603050405020304" pitchFamily="18" charset="0"/>
            </a:endParaRPr>
          </a:p>
          <a:p>
            <a:pPr>
              <a:lnSpc>
                <a:spcPct val="120000"/>
              </a:lnSpc>
            </a:pPr>
            <a:r>
              <a:rPr lang="en-US" altLang="zh-CN" sz="2400" b="0">
                <a:ea typeface="微软雅黑" panose="020B0503020204020204" charset="-122"/>
                <a:cs typeface="Times New Roman" panose="02020603050405020304" pitchFamily="18" charset="0"/>
              </a:rPr>
              <a:t>             c:out std_logic);</a:t>
            </a:r>
            <a:endParaRPr lang="en-US" altLang="zh-CN" sz="2400" b="0">
              <a:ea typeface="微软雅黑" panose="020B0503020204020204" charset="-122"/>
              <a:cs typeface="Times New Roman" panose="02020603050405020304" pitchFamily="18" charset="0"/>
            </a:endParaRPr>
          </a:p>
          <a:p>
            <a:pPr>
              <a:lnSpc>
                <a:spcPct val="120000"/>
              </a:lnSpc>
            </a:pPr>
            <a:r>
              <a:rPr lang="en-US" altLang="zh-CN" sz="2400" b="0">
                <a:ea typeface="微软雅黑" panose="020B0503020204020204" charset="-122"/>
                <a:cs typeface="Times New Roman" panose="02020603050405020304" pitchFamily="18" charset="0"/>
              </a:rPr>
              <a:t>end component;</a:t>
            </a:r>
            <a:endParaRPr lang="en-US" altLang="zh-CN" sz="2400" b="0">
              <a:ea typeface="微软雅黑" panose="020B0503020204020204" charset="-122"/>
              <a:cs typeface="Times New Roman" panose="02020603050405020304" pitchFamily="18" charset="0"/>
            </a:endParaRPr>
          </a:p>
          <a:p>
            <a:pPr>
              <a:lnSpc>
                <a:spcPct val="120000"/>
              </a:lnSpc>
            </a:pPr>
            <a:r>
              <a:rPr lang="en-US" altLang="zh-CN" sz="2400" b="0">
                <a:ea typeface="微软雅黑" panose="020B0503020204020204" charset="-122"/>
                <a:cs typeface="Times New Roman" panose="02020603050405020304" pitchFamily="18" charset="0"/>
              </a:rPr>
              <a:t>signal SIG1,SIG2:STD_LOGIC;</a:t>
            </a:r>
            <a:endParaRPr lang="en-US" altLang="zh-CN" sz="2400" b="0">
              <a:ea typeface="微软雅黑" panose="020B0503020204020204" charset="-122"/>
              <a:cs typeface="Times New Roman" panose="02020603050405020304" pitchFamily="18" charset="0"/>
            </a:endParaRPr>
          </a:p>
          <a:p>
            <a:endParaRPr lang="zh-CN" altLang="en-US" sz="2400" b="0">
              <a:ea typeface="微软雅黑" panose="020B0503020204020204" charset="-122"/>
              <a:cs typeface="Times New Roman" panose="02020603050405020304" pitchFamily="18" charset="0"/>
            </a:endParaRPr>
          </a:p>
        </p:txBody>
      </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42" name="矩形 738306"/>
          <p:cNvSpPr/>
          <p:nvPr/>
        </p:nvSpPr>
        <p:spPr>
          <a:xfrm>
            <a:off x="673100" y="476250"/>
            <a:ext cx="8229600" cy="504825"/>
          </a:xfrm>
          <a:prstGeom prst="rect">
            <a:avLst/>
          </a:prstGeom>
          <a:noFill/>
          <a:ln w="9525">
            <a:noFill/>
          </a:ln>
        </p:spPr>
        <p:txBody>
          <a:bodyPr anchor="t" anchorCtr="0"/>
          <a:p>
            <a:pPr>
              <a:buClr>
                <a:srgbClr val="0000CC"/>
              </a:buClr>
              <a:buFont typeface="Wingdings" panose="05000000000000000000" pitchFamily="2" charset="2"/>
              <a:buChar char="p"/>
            </a:pPr>
            <a:r>
              <a:rPr lang="zh-CN" altLang="en-US" sz="2400" b="1" dirty="0">
                <a:solidFill>
                  <a:srgbClr val="0000CC"/>
                </a:solidFill>
                <a:latin typeface="楷体_GB2312" pitchFamily="49" charset="-122"/>
                <a:ea typeface="楷体_GB2312" pitchFamily="49" charset="-122"/>
              </a:rPr>
              <a:t>上层元件引用</a:t>
            </a:r>
            <a:endParaRPr lang="zh-CN" altLang="en-US" sz="2400" b="1" dirty="0">
              <a:solidFill>
                <a:srgbClr val="990000"/>
              </a:solidFill>
              <a:latin typeface="Times New Roman" panose="02020603050405020304" pitchFamily="18" charset="0"/>
              <a:ea typeface="楷体_GB2312" pitchFamily="49" charset="-122"/>
            </a:endParaRPr>
          </a:p>
        </p:txBody>
      </p:sp>
      <p:sp>
        <p:nvSpPr>
          <p:cNvPr id="3" name="文本框 2"/>
          <p:cNvSpPr txBox="1"/>
          <p:nvPr/>
        </p:nvSpPr>
        <p:spPr>
          <a:xfrm>
            <a:off x="251460" y="1588770"/>
            <a:ext cx="8812530" cy="2768600"/>
          </a:xfrm>
          <a:prstGeom prst="rect">
            <a:avLst/>
          </a:prstGeom>
          <a:noFill/>
        </p:spPr>
        <p:txBody>
          <a:bodyPr wrap="square" rtlCol="0" anchor="t">
            <a:spAutoFit/>
          </a:bodyPr>
          <a:p>
            <a:endParaRPr lang="zh-CN" altLang="en-US" sz="2400" b="1">
              <a:latin typeface="微软雅黑" panose="020B0503020204020204" charset="-122"/>
              <a:ea typeface="微软雅黑" panose="020B0503020204020204" charset="-122"/>
            </a:endParaRPr>
          </a:p>
          <a:p>
            <a:pPr>
              <a:lnSpc>
                <a:spcPct val="150000"/>
              </a:lnSpc>
            </a:pPr>
            <a:r>
              <a:rPr lang="zh-CN" altLang="en-US" sz="2000" b="0">
                <a:ea typeface="微软雅黑" panose="020B0503020204020204" charset="-122"/>
                <a:cs typeface="Times New Roman" panose="02020603050405020304" pitchFamily="18" charset="0"/>
                <a:sym typeface="+mn-ea"/>
              </a:rPr>
              <a:t>begin</a:t>
            </a:r>
            <a:endParaRPr lang="zh-CN" altLang="en-US" sz="2000" b="0">
              <a:ea typeface="微软雅黑" panose="020B0503020204020204" charset="-122"/>
              <a:cs typeface="Times New Roman" panose="02020603050405020304" pitchFamily="18" charset="0"/>
            </a:endParaRPr>
          </a:p>
          <a:p>
            <a:pPr>
              <a:lnSpc>
                <a:spcPct val="150000"/>
              </a:lnSpc>
            </a:pPr>
            <a:r>
              <a:rPr lang="en-US" altLang="zh-CN" sz="2000" b="0">
                <a:ea typeface="微软雅黑" panose="020B0503020204020204" charset="-122"/>
                <a:cs typeface="Times New Roman" panose="02020603050405020304" pitchFamily="18" charset="0"/>
                <a:sym typeface="+mn-ea"/>
              </a:rPr>
              <a:t>U0:MY_AND2 port map(INP(0),INP(1),SIG1);                            </a:t>
            </a:r>
            <a:r>
              <a:rPr lang="en-US" altLang="zh-CN" sz="2000" dirty="0">
                <a:ea typeface="楷体_GB2312" pitchFamily="49" charset="-122"/>
                <a:sym typeface="+mn-ea"/>
              </a:rPr>
              <a:t>--</a:t>
            </a:r>
            <a:r>
              <a:rPr lang="zh-CN" altLang="en-US" sz="2000" dirty="0">
                <a:ea typeface="楷体_GB2312" pitchFamily="49" charset="-122"/>
                <a:sym typeface="+mn-ea"/>
              </a:rPr>
              <a:t>位置关联方式</a:t>
            </a:r>
            <a:endParaRPr lang="en-US" altLang="zh-CN" sz="2000" b="0">
              <a:ea typeface="微软雅黑" panose="020B0503020204020204" charset="-122"/>
              <a:cs typeface="Times New Roman" panose="02020603050405020304" pitchFamily="18" charset="0"/>
            </a:endParaRPr>
          </a:p>
          <a:p>
            <a:pPr>
              <a:lnSpc>
                <a:spcPct val="150000"/>
              </a:lnSpc>
            </a:pPr>
            <a:r>
              <a:rPr lang="en-US" altLang="zh-CN" sz="2000" b="0">
                <a:ea typeface="微软雅黑" panose="020B0503020204020204" charset="-122"/>
                <a:cs typeface="Times New Roman" panose="02020603050405020304" pitchFamily="18" charset="0"/>
                <a:sym typeface="+mn-ea"/>
              </a:rPr>
              <a:t>U1:MY_AND2 port map(a=&gt;INP(2),b=&gt;INP(3),c=&gt;SIG2);         </a:t>
            </a:r>
            <a:r>
              <a:rPr lang="en-US" altLang="zh-CN" sz="2000" dirty="0">
                <a:ea typeface="楷体_GB2312" pitchFamily="49" charset="-122"/>
                <a:sym typeface="+mn-ea"/>
              </a:rPr>
              <a:t>--</a:t>
            </a:r>
            <a:r>
              <a:rPr lang="zh-CN" altLang="en-US" sz="2000" dirty="0">
                <a:ea typeface="楷体_GB2312" pitchFamily="49" charset="-122"/>
                <a:sym typeface="+mn-ea"/>
              </a:rPr>
              <a:t>名字关联方式   </a:t>
            </a:r>
            <a:endParaRPr lang="zh-CN" altLang="en-US" sz="2000" b="0">
              <a:ea typeface="微软雅黑" panose="020B0503020204020204" charset="-122"/>
              <a:cs typeface="Times New Roman" panose="02020603050405020304" pitchFamily="18" charset="0"/>
            </a:endParaRPr>
          </a:p>
          <a:p>
            <a:pPr>
              <a:lnSpc>
                <a:spcPct val="150000"/>
              </a:lnSpc>
            </a:pPr>
            <a:r>
              <a:rPr lang="en-US" altLang="zh-CN" sz="2000" b="0">
                <a:ea typeface="微软雅黑" panose="020B0503020204020204" charset="-122"/>
                <a:cs typeface="Times New Roman" panose="02020603050405020304" pitchFamily="18" charset="0"/>
                <a:sym typeface="+mn-ea"/>
              </a:rPr>
              <a:t>U2:MY_OR2 port map(SIG1,SIG2,c=&gt;Z);                                   </a:t>
            </a:r>
            <a:r>
              <a:rPr lang="zh-CN" altLang="en-US" sz="2000" dirty="0">
                <a:ea typeface="楷体_GB2312" pitchFamily="49" charset="-122"/>
                <a:sym typeface="+mn-ea"/>
              </a:rPr>
              <a:t> </a:t>
            </a:r>
            <a:r>
              <a:rPr lang="en-US" altLang="zh-CN" sz="2000" dirty="0">
                <a:ea typeface="楷体_GB2312" pitchFamily="49" charset="-122"/>
                <a:sym typeface="+mn-ea"/>
              </a:rPr>
              <a:t>--</a:t>
            </a:r>
            <a:r>
              <a:rPr lang="zh-CN" altLang="en-US" sz="2000" dirty="0">
                <a:ea typeface="楷体_GB2312" pitchFamily="49" charset="-122"/>
                <a:sym typeface="+mn-ea"/>
              </a:rPr>
              <a:t>混合关联方式</a:t>
            </a:r>
            <a:endParaRPr lang="zh-CN" altLang="en-US" sz="2000" b="0">
              <a:ea typeface="微软雅黑" panose="020B0503020204020204" charset="-122"/>
              <a:cs typeface="Times New Roman" panose="02020603050405020304" pitchFamily="18" charset="0"/>
            </a:endParaRPr>
          </a:p>
          <a:p>
            <a:pPr>
              <a:lnSpc>
                <a:spcPct val="150000"/>
              </a:lnSpc>
            </a:pPr>
            <a:r>
              <a:rPr lang="zh-CN" altLang="en-US" sz="2000" b="0">
                <a:ea typeface="微软雅黑" panose="020B0503020204020204" charset="-122"/>
                <a:cs typeface="Times New Roman" panose="02020603050405020304" pitchFamily="18" charset="0"/>
                <a:sym typeface="+mn-ea"/>
              </a:rPr>
              <a:t>end </a:t>
            </a:r>
            <a:r>
              <a:rPr lang="en-US" altLang="zh-CN" sz="2000" b="0">
                <a:ea typeface="微软雅黑" panose="020B0503020204020204" charset="-122"/>
                <a:cs typeface="Times New Roman" panose="02020603050405020304" pitchFamily="18" charset="0"/>
                <a:sym typeface="+mn-ea"/>
              </a:rPr>
              <a:t>structure</a:t>
            </a:r>
            <a:r>
              <a:rPr lang="zh-CN" altLang="en-US" sz="2000" b="0">
                <a:ea typeface="微软雅黑" panose="020B0503020204020204" charset="-122"/>
                <a:cs typeface="Times New Roman" panose="02020603050405020304" pitchFamily="18" charset="0"/>
                <a:sym typeface="+mn-ea"/>
              </a:rPr>
              <a:t>;</a:t>
            </a:r>
            <a:endParaRPr lang="zh-CN" altLang="en-US" sz="2000" b="0">
              <a:cs typeface="Times New Roman" panose="02020603050405020304" pitchFamily="18" charset="0"/>
            </a:endParaRPr>
          </a:p>
        </p:txBody>
      </p:sp>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7265" name="文本占位符 777218"/>
          <p:cNvSpPr>
            <a:spLocks noGrp="1"/>
          </p:cNvSpPr>
          <p:nvPr>
            <p:ph idx="1"/>
          </p:nvPr>
        </p:nvSpPr>
        <p:spPr>
          <a:xfrm>
            <a:off x="323850" y="404495"/>
            <a:ext cx="8352155" cy="2882900"/>
          </a:xfrm>
        </p:spPr>
        <p:txBody>
          <a:bodyPr vert="horz" wrap="square" lIns="91440" tIns="45720" rIns="91440" bIns="45720" anchor="t" anchorCtr="0"/>
          <a:p>
            <a:pPr algn="just">
              <a:lnSpc>
                <a:spcPct val="150000"/>
              </a:lnSpc>
              <a:buNone/>
            </a:pPr>
            <a:r>
              <a:rPr lang="zh-CN" altLang="en-US" sz="2400" b="1" dirty="0">
                <a:latin typeface="微软雅黑" panose="020B0503020204020204" charset="-122"/>
                <a:ea typeface="微软雅黑" panose="020B0503020204020204" charset="-122"/>
                <a:cs typeface="微软雅黑" panose="020B0503020204020204" charset="-122"/>
              </a:rPr>
              <a:t>【例</a:t>
            </a:r>
            <a:r>
              <a:rPr lang="en-US" altLang="zh-CN" sz="2400" b="1" dirty="0">
                <a:latin typeface="微软雅黑" panose="020B0503020204020204" charset="-122"/>
                <a:ea typeface="微软雅黑" panose="020B0503020204020204" charset="-122"/>
                <a:cs typeface="微软雅黑" panose="020B0503020204020204" charset="-122"/>
              </a:rPr>
              <a:t>5-26</a:t>
            </a:r>
            <a:r>
              <a:rPr lang="zh-CN" altLang="en-US" sz="2400" b="1" dirty="0">
                <a:latin typeface="微软雅黑" panose="020B0503020204020204" charset="-122"/>
                <a:ea typeface="微软雅黑" panose="020B0503020204020204" charset="-122"/>
                <a:cs typeface="微软雅黑" panose="020B0503020204020204" charset="-122"/>
              </a:rPr>
              <a:t>】使用元件例化语句设计一个</a:t>
            </a:r>
            <a:r>
              <a:rPr lang="en-US" altLang="zh-CN" sz="2400" b="1" dirty="0">
                <a:latin typeface="微软雅黑" panose="020B0503020204020204" charset="-122"/>
                <a:ea typeface="微软雅黑" panose="020B0503020204020204" charset="-122"/>
                <a:cs typeface="微软雅黑" panose="020B0503020204020204" charset="-122"/>
              </a:rPr>
              <a:t>4</a:t>
            </a:r>
            <a:r>
              <a:rPr lang="zh-CN" altLang="en-US" sz="2400" b="1" dirty="0">
                <a:latin typeface="微软雅黑" panose="020B0503020204020204" charset="-122"/>
                <a:ea typeface="微软雅黑" panose="020B0503020204020204" charset="-122"/>
                <a:cs typeface="微软雅黑" panose="020B0503020204020204" charset="-122"/>
              </a:rPr>
              <a:t>位二进制加法器。</a:t>
            </a:r>
            <a:r>
              <a:rPr lang="en-US" altLang="zh-CN" sz="2400" b="1" dirty="0">
                <a:latin typeface="微软雅黑" panose="020B0503020204020204" charset="-122"/>
                <a:ea typeface="微软雅黑" panose="020B0503020204020204" charset="-122"/>
                <a:cs typeface="微软雅黑" panose="020B0503020204020204" charset="-122"/>
              </a:rPr>
              <a:t>4</a:t>
            </a:r>
            <a:r>
              <a:rPr lang="zh-CN" altLang="en-US" sz="2400" b="1" dirty="0">
                <a:latin typeface="微软雅黑" panose="020B0503020204020204" charset="-122"/>
                <a:ea typeface="微软雅黑" panose="020B0503020204020204" charset="-122"/>
                <a:cs typeface="微软雅黑" panose="020B0503020204020204" charset="-122"/>
              </a:rPr>
              <a:t>位二进制加法器可由</a:t>
            </a:r>
            <a:r>
              <a:rPr lang="en-US" altLang="zh-CN" sz="2400" b="1" dirty="0">
                <a:latin typeface="微软雅黑" panose="020B0503020204020204" charset="-122"/>
                <a:ea typeface="微软雅黑" panose="020B0503020204020204" charset="-122"/>
                <a:cs typeface="微软雅黑" panose="020B0503020204020204" charset="-122"/>
              </a:rPr>
              <a:t>4</a:t>
            </a:r>
            <a:r>
              <a:rPr lang="zh-CN" altLang="en-US" sz="2400" b="1" dirty="0">
                <a:latin typeface="微软雅黑" panose="020B0503020204020204" charset="-122"/>
                <a:ea typeface="微软雅黑" panose="020B0503020204020204" charset="-122"/>
                <a:cs typeface="微软雅黑" panose="020B0503020204020204" charset="-122"/>
              </a:rPr>
              <a:t>个一位全加器组成，内部电路结构如图</a:t>
            </a:r>
            <a:r>
              <a:rPr lang="en-US" altLang="zh-CN" sz="2400" b="1" dirty="0">
                <a:latin typeface="微软雅黑" panose="020B0503020204020204" charset="-122"/>
                <a:ea typeface="微软雅黑" panose="020B0503020204020204" charset="-122"/>
                <a:cs typeface="微软雅黑" panose="020B0503020204020204" charset="-122"/>
              </a:rPr>
              <a:t>5-8</a:t>
            </a:r>
            <a:r>
              <a:rPr lang="zh-CN" altLang="en-US" sz="2400" b="1" dirty="0">
                <a:latin typeface="微软雅黑" panose="020B0503020204020204" charset="-122"/>
                <a:ea typeface="微软雅黑" panose="020B0503020204020204" charset="-122"/>
                <a:cs typeface="微软雅黑" panose="020B0503020204020204" charset="-122"/>
              </a:rPr>
              <a:t>所示，其中，</a:t>
            </a:r>
            <a:r>
              <a:rPr lang="en-US" altLang="zh-CN" sz="2400" b="1" dirty="0">
                <a:latin typeface="微软雅黑" panose="020B0503020204020204" charset="-122"/>
                <a:ea typeface="微软雅黑" panose="020B0503020204020204" charset="-122"/>
                <a:cs typeface="微软雅黑" panose="020B0503020204020204" charset="-122"/>
              </a:rPr>
              <a:t>CIN</a:t>
            </a:r>
            <a:r>
              <a:rPr lang="zh-CN" altLang="en-US" sz="2400" b="1" dirty="0">
                <a:latin typeface="微软雅黑" panose="020B0503020204020204" charset="-122"/>
                <a:ea typeface="微软雅黑" panose="020B0503020204020204" charset="-122"/>
                <a:cs typeface="微软雅黑" panose="020B0503020204020204" charset="-122"/>
              </a:rPr>
              <a:t>为低位来的进位，</a:t>
            </a:r>
            <a:r>
              <a:rPr lang="en-US" altLang="zh-CN" sz="2400" b="1" dirty="0">
                <a:latin typeface="微软雅黑" panose="020B0503020204020204" charset="-122"/>
                <a:ea typeface="微软雅黑" panose="020B0503020204020204" charset="-122"/>
                <a:cs typeface="微软雅黑" panose="020B0503020204020204" charset="-122"/>
              </a:rPr>
              <a:t>A3A2A1A0</a:t>
            </a:r>
            <a:r>
              <a:rPr lang="zh-CN" altLang="en-US" sz="2400" b="1" dirty="0">
                <a:latin typeface="微软雅黑" panose="020B0503020204020204" charset="-122"/>
                <a:ea typeface="微软雅黑" panose="020B0503020204020204" charset="-122"/>
                <a:cs typeface="微软雅黑" panose="020B0503020204020204" charset="-122"/>
              </a:rPr>
              <a:t>为被加数，</a:t>
            </a:r>
            <a:r>
              <a:rPr lang="en-US" altLang="zh-CN" sz="2400" b="1" dirty="0">
                <a:latin typeface="微软雅黑" panose="020B0503020204020204" charset="-122"/>
                <a:ea typeface="微软雅黑" panose="020B0503020204020204" charset="-122"/>
                <a:cs typeface="微软雅黑" panose="020B0503020204020204" charset="-122"/>
              </a:rPr>
              <a:t>B3B2B1B0</a:t>
            </a:r>
            <a:r>
              <a:rPr lang="zh-CN" altLang="en-US" sz="2400" b="1" dirty="0">
                <a:latin typeface="微软雅黑" panose="020B0503020204020204" charset="-122"/>
                <a:ea typeface="微软雅黑" panose="020B0503020204020204" charset="-122"/>
                <a:cs typeface="微软雅黑" panose="020B0503020204020204" charset="-122"/>
              </a:rPr>
              <a:t>为加数，</a:t>
            </a:r>
            <a:r>
              <a:rPr lang="en-US" altLang="zh-CN" sz="2400" b="1" dirty="0">
                <a:latin typeface="微软雅黑" panose="020B0503020204020204" charset="-122"/>
                <a:ea typeface="微软雅黑" panose="020B0503020204020204" charset="-122"/>
                <a:cs typeface="微软雅黑" panose="020B0503020204020204" charset="-122"/>
              </a:rPr>
              <a:t>S3S2S1S0</a:t>
            </a:r>
            <a:r>
              <a:rPr lang="zh-CN" altLang="en-US" sz="2400" b="1" dirty="0">
                <a:latin typeface="微软雅黑" panose="020B0503020204020204" charset="-122"/>
                <a:ea typeface="微软雅黑" panose="020B0503020204020204" charset="-122"/>
                <a:cs typeface="微软雅黑" panose="020B0503020204020204" charset="-122"/>
              </a:rPr>
              <a:t>为和输出，</a:t>
            </a:r>
            <a:r>
              <a:rPr lang="en-US" altLang="zh-CN" sz="2400" b="1" dirty="0">
                <a:latin typeface="微软雅黑" panose="020B0503020204020204" charset="-122"/>
                <a:ea typeface="微软雅黑" panose="020B0503020204020204" charset="-122"/>
                <a:cs typeface="微软雅黑" panose="020B0503020204020204" charset="-122"/>
              </a:rPr>
              <a:t>CO</a:t>
            </a:r>
            <a:r>
              <a:rPr lang="zh-CN" altLang="en-US" sz="2400" b="1" dirty="0">
                <a:latin typeface="微软雅黑" panose="020B0503020204020204" charset="-122"/>
                <a:ea typeface="微软雅黑" panose="020B0503020204020204" charset="-122"/>
                <a:cs typeface="微软雅黑" panose="020B0503020204020204" charset="-122"/>
              </a:rPr>
              <a:t>为进位输出。</a:t>
            </a:r>
            <a:endParaRPr lang="zh-CN" altLang="en-US" sz="2400" b="1" dirty="0">
              <a:latin typeface="微软雅黑" panose="020B0503020204020204" charset="-122"/>
              <a:ea typeface="微软雅黑" panose="020B0503020204020204" charset="-122"/>
              <a:cs typeface="微软雅黑" panose="020B0503020204020204" charset="-122"/>
            </a:endParaRPr>
          </a:p>
        </p:txBody>
      </p:sp>
      <p:grpSp>
        <p:nvGrpSpPr>
          <p:cNvPr id="267266" name="组合 10"/>
          <p:cNvGrpSpPr/>
          <p:nvPr/>
        </p:nvGrpSpPr>
        <p:grpSpPr>
          <a:xfrm>
            <a:off x="428625" y="3608070"/>
            <a:ext cx="8189595" cy="2880360"/>
            <a:chOff x="1674" y="2010"/>
            <a:chExt cx="10092" cy="3352"/>
          </a:xfrm>
        </p:grpSpPr>
        <p:pic>
          <p:nvPicPr>
            <p:cNvPr id="267267" name="图片 777220" descr="e8"/>
            <p:cNvPicPr>
              <a:picLocks noChangeAspect="1"/>
            </p:cNvPicPr>
            <p:nvPr/>
          </p:nvPicPr>
          <p:blipFill>
            <a:blip r:embed="rId1"/>
            <a:stretch>
              <a:fillRect/>
            </a:stretch>
          </p:blipFill>
          <p:spPr>
            <a:xfrm>
              <a:off x="1674" y="2010"/>
              <a:ext cx="10093" cy="3353"/>
            </a:xfrm>
            <a:prstGeom prst="rect">
              <a:avLst/>
            </a:prstGeom>
            <a:noFill/>
            <a:ln w="9525">
              <a:noFill/>
            </a:ln>
          </p:spPr>
        </p:pic>
        <p:pic>
          <p:nvPicPr>
            <p:cNvPr id="267268" name="图片 3"/>
            <p:cNvPicPr>
              <a:picLocks noChangeAspect="1"/>
            </p:cNvPicPr>
            <p:nvPr/>
          </p:nvPicPr>
          <p:blipFill>
            <a:blip r:embed="rId2"/>
            <a:stretch>
              <a:fillRect/>
            </a:stretch>
          </p:blipFill>
          <p:spPr>
            <a:xfrm>
              <a:off x="10964" y="4826"/>
              <a:ext cx="690" cy="270"/>
            </a:xfrm>
            <a:prstGeom prst="rect">
              <a:avLst/>
            </a:prstGeom>
            <a:noFill/>
            <a:ln w="9525">
              <a:noFill/>
            </a:ln>
          </p:spPr>
        </p:pic>
        <p:pic>
          <p:nvPicPr>
            <p:cNvPr id="267269" name="图片 6"/>
            <p:cNvPicPr>
              <a:picLocks noChangeAspect="1"/>
            </p:cNvPicPr>
            <p:nvPr/>
          </p:nvPicPr>
          <p:blipFill>
            <a:blip r:embed="rId3"/>
            <a:stretch>
              <a:fillRect/>
            </a:stretch>
          </p:blipFill>
          <p:spPr>
            <a:xfrm>
              <a:off x="11144" y="4826"/>
              <a:ext cx="510" cy="375"/>
            </a:xfrm>
            <a:prstGeom prst="rect">
              <a:avLst/>
            </a:prstGeom>
            <a:noFill/>
            <a:ln w="9525">
              <a:noFill/>
            </a:ln>
          </p:spPr>
        </p:pic>
        <p:pic>
          <p:nvPicPr>
            <p:cNvPr id="267270" name="图片 7"/>
            <p:cNvPicPr>
              <a:picLocks noChangeAspect="1"/>
            </p:cNvPicPr>
            <p:nvPr/>
          </p:nvPicPr>
          <p:blipFill>
            <a:blip r:embed="rId4"/>
            <a:stretch>
              <a:fillRect/>
            </a:stretch>
          </p:blipFill>
          <p:spPr>
            <a:xfrm>
              <a:off x="9662" y="2195"/>
              <a:ext cx="655" cy="378"/>
            </a:xfrm>
            <a:prstGeom prst="rect">
              <a:avLst/>
            </a:prstGeom>
            <a:noFill/>
            <a:ln w="9525">
              <a:noFill/>
            </a:ln>
          </p:spPr>
        </p:pic>
        <p:pic>
          <p:nvPicPr>
            <p:cNvPr id="267271" name="图片 8"/>
            <p:cNvPicPr>
              <a:picLocks noChangeAspect="1"/>
            </p:cNvPicPr>
            <p:nvPr/>
          </p:nvPicPr>
          <p:blipFill>
            <a:blip r:embed="rId4"/>
            <a:stretch>
              <a:fillRect/>
            </a:stretch>
          </p:blipFill>
          <p:spPr>
            <a:xfrm>
              <a:off x="6860" y="2195"/>
              <a:ext cx="655" cy="378"/>
            </a:xfrm>
            <a:prstGeom prst="rect">
              <a:avLst/>
            </a:prstGeom>
            <a:noFill/>
            <a:ln w="9525">
              <a:noFill/>
            </a:ln>
          </p:spPr>
        </p:pic>
        <p:pic>
          <p:nvPicPr>
            <p:cNvPr id="267272" name="图片 9"/>
            <p:cNvPicPr>
              <a:picLocks noChangeAspect="1"/>
            </p:cNvPicPr>
            <p:nvPr/>
          </p:nvPicPr>
          <p:blipFill>
            <a:blip r:embed="rId4"/>
            <a:stretch>
              <a:fillRect/>
            </a:stretch>
          </p:blipFill>
          <p:spPr>
            <a:xfrm>
              <a:off x="4396" y="2195"/>
              <a:ext cx="655" cy="378"/>
            </a:xfrm>
            <a:prstGeom prst="rect">
              <a:avLst/>
            </a:prstGeom>
            <a:noFill/>
            <a:ln w="9525">
              <a:noFill/>
            </a:ln>
          </p:spPr>
        </p:pic>
      </p:grpSp>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043940" y="332740"/>
            <a:ext cx="6632575" cy="2306955"/>
          </a:xfrm>
          <a:prstGeom prst="rect">
            <a:avLst/>
          </a:prstGeom>
          <a:noFill/>
          <a:ln w="9525">
            <a:noFill/>
          </a:ln>
        </p:spPr>
        <p:txBody>
          <a:bodyPr wrap="square" anchor="t" anchorCtr="0">
            <a:spAutoFit/>
          </a:bodyPr>
          <a:p>
            <a:r>
              <a:rPr lang="en-US" altLang="zh-CN" sz="2400" b="1" dirty="0">
                <a:latin typeface="微软雅黑" panose="020B0503020204020204" charset="-122"/>
                <a:ea typeface="微软雅黑" panose="020B0503020204020204" charset="-122"/>
              </a:rPr>
              <a:t>entity </a:t>
            </a:r>
            <a:r>
              <a:rPr lang="en-US" altLang="zh-CN" sz="2400">
                <a:ea typeface="楷体_GB2312" pitchFamily="49" charset="-122"/>
                <a:sym typeface="+mn-ea"/>
              </a:rPr>
              <a:t>adder4</a:t>
            </a:r>
            <a:r>
              <a:rPr lang="en-US" altLang="zh-CN" sz="2400" b="1" dirty="0">
                <a:latin typeface="微软雅黑" panose="020B0503020204020204" charset="-122"/>
                <a:ea typeface="微软雅黑" panose="020B0503020204020204" charset="-122"/>
              </a:rPr>
              <a:t> is</a:t>
            </a:r>
            <a:endParaRPr lang="zh-CN" altLang="zh-CN" sz="2400" b="1" dirty="0">
              <a:latin typeface="微软雅黑" panose="020B0503020204020204" charset="-122"/>
              <a:ea typeface="微软雅黑" panose="020B0503020204020204" charset="-122"/>
            </a:endParaRPr>
          </a:p>
          <a:p>
            <a:r>
              <a:rPr lang="en-US" altLang="zh-CN" sz="2400" b="1" dirty="0">
                <a:latin typeface="微软雅黑" panose="020B0503020204020204" charset="-122"/>
                <a:ea typeface="微软雅黑" panose="020B0503020204020204" charset="-122"/>
              </a:rPr>
              <a:t>port (   a,b : in BIT_VECTOR (0 to 3);</a:t>
            </a:r>
            <a:endParaRPr lang="zh-CN" altLang="zh-CN" sz="2400" b="1" dirty="0">
              <a:latin typeface="微软雅黑" panose="020B0503020204020204" charset="-122"/>
              <a:ea typeface="微软雅黑" panose="020B0503020204020204" charset="-122"/>
            </a:endParaRPr>
          </a:p>
          <a:p>
            <a:r>
              <a:rPr lang="en-US" altLang="zh-CN" sz="2400" b="1" dirty="0">
                <a:latin typeface="微软雅黑" panose="020B0503020204020204" charset="-122"/>
                <a:ea typeface="微软雅黑" panose="020B0503020204020204" charset="-122"/>
              </a:rPr>
              <a:t>            cin : in BIT;</a:t>
            </a:r>
            <a:endParaRPr lang="zh-CN" altLang="zh-CN" sz="2400" b="1" dirty="0">
              <a:latin typeface="微软雅黑" panose="020B0503020204020204" charset="-122"/>
              <a:ea typeface="微软雅黑" panose="020B0503020204020204" charset="-122"/>
            </a:endParaRPr>
          </a:p>
          <a:p>
            <a:r>
              <a:rPr lang="en-US" altLang="zh-CN" sz="2400" b="1" dirty="0">
                <a:latin typeface="微软雅黑" panose="020B0503020204020204" charset="-122"/>
                <a:ea typeface="微软雅黑" panose="020B0503020204020204" charset="-122"/>
              </a:rPr>
              <a:t>          sum : out BIT_VECTOR (0 to 3);</a:t>
            </a:r>
            <a:endParaRPr lang="zh-CN" altLang="zh-CN" sz="2400" b="1" dirty="0">
              <a:latin typeface="微软雅黑" panose="020B0503020204020204" charset="-122"/>
              <a:ea typeface="微软雅黑" panose="020B0503020204020204" charset="-122"/>
            </a:endParaRPr>
          </a:p>
          <a:p>
            <a:r>
              <a:rPr lang="en-US" altLang="zh-CN" sz="2400" b="1" dirty="0">
                <a:latin typeface="微软雅黑" panose="020B0503020204020204" charset="-122"/>
                <a:ea typeface="微软雅黑" panose="020B0503020204020204" charset="-122"/>
              </a:rPr>
              <a:t>          cout : out BIT   );</a:t>
            </a:r>
            <a:endParaRPr lang="zh-CN" altLang="zh-CN" sz="2400" b="1" dirty="0">
              <a:latin typeface="微软雅黑" panose="020B0503020204020204" charset="-122"/>
              <a:ea typeface="微软雅黑" panose="020B0503020204020204" charset="-122"/>
            </a:endParaRPr>
          </a:p>
          <a:p>
            <a:r>
              <a:rPr lang="en-US" altLang="zh-CN" sz="2400" b="1" dirty="0">
                <a:latin typeface="微软雅黑" panose="020B0503020204020204" charset="-122"/>
                <a:ea typeface="微软雅黑" panose="020B0503020204020204" charset="-122"/>
              </a:rPr>
              <a:t>end </a:t>
            </a:r>
            <a:r>
              <a:rPr lang="en-US" altLang="zh-CN" sz="2400">
                <a:ea typeface="楷体_GB2312" pitchFamily="49" charset="-122"/>
                <a:sym typeface="+mn-ea"/>
              </a:rPr>
              <a:t>adder4</a:t>
            </a:r>
            <a:r>
              <a:rPr lang="en-US" altLang="zh-CN" sz="2400" b="1" dirty="0">
                <a:latin typeface="微软雅黑" panose="020B0503020204020204" charset="-122"/>
                <a:ea typeface="微软雅黑" panose="020B0503020204020204" charset="-122"/>
              </a:rPr>
              <a:t>;</a:t>
            </a:r>
            <a:endParaRPr lang="en-US" altLang="zh-CN" sz="2400" b="1" dirty="0">
              <a:latin typeface="微软雅黑" panose="020B0503020204020204" charset="-122"/>
              <a:ea typeface="微软雅黑" panose="020B0503020204020204" charset="-122"/>
            </a:endParaRPr>
          </a:p>
        </p:txBody>
      </p:sp>
      <p:grpSp>
        <p:nvGrpSpPr>
          <p:cNvPr id="268290" name="组合 10"/>
          <p:cNvGrpSpPr/>
          <p:nvPr/>
        </p:nvGrpSpPr>
        <p:grpSpPr>
          <a:xfrm>
            <a:off x="1259840" y="2781300"/>
            <a:ext cx="6894195" cy="2390140"/>
            <a:chOff x="1674" y="2010"/>
            <a:chExt cx="10092" cy="3352"/>
          </a:xfrm>
        </p:grpSpPr>
        <p:pic>
          <p:nvPicPr>
            <p:cNvPr id="268291" name="图片 777220" descr="e8"/>
            <p:cNvPicPr>
              <a:picLocks noChangeAspect="1"/>
            </p:cNvPicPr>
            <p:nvPr/>
          </p:nvPicPr>
          <p:blipFill>
            <a:blip r:embed="rId1"/>
            <a:stretch>
              <a:fillRect/>
            </a:stretch>
          </p:blipFill>
          <p:spPr>
            <a:xfrm>
              <a:off x="1674" y="2010"/>
              <a:ext cx="10092" cy="3352"/>
            </a:xfrm>
            <a:prstGeom prst="rect">
              <a:avLst/>
            </a:prstGeom>
            <a:noFill/>
            <a:ln w="9525">
              <a:noFill/>
            </a:ln>
          </p:spPr>
        </p:pic>
        <p:pic>
          <p:nvPicPr>
            <p:cNvPr id="268292" name="图片 3"/>
            <p:cNvPicPr>
              <a:picLocks noChangeAspect="1"/>
            </p:cNvPicPr>
            <p:nvPr/>
          </p:nvPicPr>
          <p:blipFill>
            <a:blip r:embed="rId2"/>
            <a:stretch>
              <a:fillRect/>
            </a:stretch>
          </p:blipFill>
          <p:spPr>
            <a:xfrm>
              <a:off x="10964" y="4826"/>
              <a:ext cx="690" cy="270"/>
            </a:xfrm>
            <a:prstGeom prst="rect">
              <a:avLst/>
            </a:prstGeom>
            <a:noFill/>
            <a:ln w="9525">
              <a:noFill/>
            </a:ln>
          </p:spPr>
        </p:pic>
        <p:pic>
          <p:nvPicPr>
            <p:cNvPr id="268293" name="图片 6"/>
            <p:cNvPicPr>
              <a:picLocks noChangeAspect="1"/>
            </p:cNvPicPr>
            <p:nvPr/>
          </p:nvPicPr>
          <p:blipFill>
            <a:blip r:embed="rId3"/>
            <a:stretch>
              <a:fillRect/>
            </a:stretch>
          </p:blipFill>
          <p:spPr>
            <a:xfrm>
              <a:off x="11144" y="4826"/>
              <a:ext cx="510" cy="375"/>
            </a:xfrm>
            <a:prstGeom prst="rect">
              <a:avLst/>
            </a:prstGeom>
            <a:noFill/>
            <a:ln w="9525">
              <a:noFill/>
            </a:ln>
          </p:spPr>
        </p:pic>
        <p:pic>
          <p:nvPicPr>
            <p:cNvPr id="268294" name="图片 7"/>
            <p:cNvPicPr>
              <a:picLocks noChangeAspect="1"/>
            </p:cNvPicPr>
            <p:nvPr/>
          </p:nvPicPr>
          <p:blipFill>
            <a:blip r:embed="rId4"/>
            <a:stretch>
              <a:fillRect/>
            </a:stretch>
          </p:blipFill>
          <p:spPr>
            <a:xfrm>
              <a:off x="9662" y="2195"/>
              <a:ext cx="655" cy="378"/>
            </a:xfrm>
            <a:prstGeom prst="rect">
              <a:avLst/>
            </a:prstGeom>
            <a:noFill/>
            <a:ln w="9525">
              <a:noFill/>
            </a:ln>
          </p:spPr>
        </p:pic>
        <p:pic>
          <p:nvPicPr>
            <p:cNvPr id="268295" name="图片 8"/>
            <p:cNvPicPr>
              <a:picLocks noChangeAspect="1"/>
            </p:cNvPicPr>
            <p:nvPr/>
          </p:nvPicPr>
          <p:blipFill>
            <a:blip r:embed="rId4"/>
            <a:stretch>
              <a:fillRect/>
            </a:stretch>
          </p:blipFill>
          <p:spPr>
            <a:xfrm>
              <a:off x="6860" y="2195"/>
              <a:ext cx="655" cy="378"/>
            </a:xfrm>
            <a:prstGeom prst="rect">
              <a:avLst/>
            </a:prstGeom>
            <a:noFill/>
            <a:ln w="9525">
              <a:noFill/>
            </a:ln>
          </p:spPr>
        </p:pic>
        <p:pic>
          <p:nvPicPr>
            <p:cNvPr id="268296" name="图片 9"/>
            <p:cNvPicPr>
              <a:picLocks noChangeAspect="1"/>
            </p:cNvPicPr>
            <p:nvPr/>
          </p:nvPicPr>
          <p:blipFill>
            <a:blip r:embed="rId4"/>
            <a:stretch>
              <a:fillRect/>
            </a:stretch>
          </p:blipFill>
          <p:spPr>
            <a:xfrm>
              <a:off x="4396" y="2195"/>
              <a:ext cx="655" cy="378"/>
            </a:xfrm>
            <a:prstGeom prst="rect">
              <a:avLst/>
            </a:prstGeom>
            <a:noFill/>
            <a:ln w="9525">
              <a:noFill/>
            </a:ln>
          </p:spPr>
        </p:pic>
      </p:grpSp>
      <p:sp>
        <p:nvSpPr>
          <p:cNvPr id="2" name="文本框 1"/>
          <p:cNvSpPr txBox="1"/>
          <p:nvPr/>
        </p:nvSpPr>
        <p:spPr>
          <a:xfrm>
            <a:off x="683895" y="5517515"/>
            <a:ext cx="7426960" cy="829945"/>
          </a:xfrm>
          <a:prstGeom prst="rect">
            <a:avLst/>
          </a:prstGeom>
          <a:noFill/>
        </p:spPr>
        <p:txBody>
          <a:bodyPr wrap="square" rtlCol="0">
            <a:spAutoFit/>
          </a:bodyPr>
          <a:p>
            <a:r>
              <a:rPr lang="zh-CN" altLang="en-US" sz="2400">
                <a:solidFill>
                  <a:srgbClr val="FF0000"/>
                </a:solidFill>
              </a:rPr>
              <a:t>分析：可以通过元件例化方式调用</a:t>
            </a:r>
            <a:r>
              <a:rPr lang="en-US" altLang="zh-CN" sz="2400">
                <a:solidFill>
                  <a:srgbClr val="FF0000"/>
                </a:solidFill>
              </a:rPr>
              <a:t>4</a:t>
            </a:r>
            <a:r>
              <a:rPr lang="zh-CN" altLang="en-US" sz="2400">
                <a:solidFill>
                  <a:srgbClr val="FF0000"/>
                </a:solidFill>
              </a:rPr>
              <a:t>个一位全加器实现</a:t>
            </a:r>
            <a:r>
              <a:rPr lang="en-US" altLang="zh-CN" sz="2400">
                <a:solidFill>
                  <a:srgbClr val="FF0000"/>
                </a:solidFill>
              </a:rPr>
              <a:t>4</a:t>
            </a:r>
            <a:r>
              <a:rPr lang="zh-CN" altLang="en-US" sz="2400">
                <a:solidFill>
                  <a:srgbClr val="FF0000"/>
                </a:solidFill>
              </a:rPr>
              <a:t>位二进制加法器的设计。</a:t>
            </a:r>
            <a:endParaRPr lang="zh-CN" altLang="en-US" sz="2400">
              <a:solidFill>
                <a:srgbClr val="FF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8290"/>
                                        </p:tgtEl>
                                        <p:attrNameLst>
                                          <p:attrName>style.visibility</p:attrName>
                                        </p:attrNameLst>
                                      </p:cBhvr>
                                      <p:to>
                                        <p:strVal val="visible"/>
                                      </p:to>
                                    </p:set>
                                    <p:anim calcmode="lin" valueType="num">
                                      <p:cBhvr additive="base">
                                        <p:cTn id="7" dur="500" fill="hold"/>
                                        <p:tgtEl>
                                          <p:spTgt spid="268290"/>
                                        </p:tgtEl>
                                        <p:attrNameLst>
                                          <p:attrName>ppt_x</p:attrName>
                                        </p:attrNameLst>
                                      </p:cBhvr>
                                      <p:tavLst>
                                        <p:tav tm="0">
                                          <p:val>
                                            <p:strVal val="#ppt_x"/>
                                          </p:val>
                                        </p:tav>
                                        <p:tav tm="100000">
                                          <p:val>
                                            <p:strVal val="#ppt_x"/>
                                          </p:val>
                                        </p:tav>
                                      </p:tavLst>
                                    </p:anim>
                                    <p:anim calcmode="lin" valueType="num">
                                      <p:cBhvr additive="base">
                                        <p:cTn id="8" dur="500" fill="hold"/>
                                        <p:tgtEl>
                                          <p:spTgt spid="26829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p:bldP spid="2" grpId="0"/>
      <p:bldP spid="2"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矩形 628739"/>
          <p:cNvSpPr/>
          <p:nvPr/>
        </p:nvSpPr>
        <p:spPr>
          <a:xfrm>
            <a:off x="668338" y="1876425"/>
            <a:ext cx="3205162" cy="460375"/>
          </a:xfrm>
          <a:prstGeom prst="rect">
            <a:avLst/>
          </a:prstGeom>
          <a:noFill/>
          <a:ln w="9525">
            <a:noFill/>
          </a:ln>
        </p:spPr>
        <p:txBody>
          <a:bodyPr wrap="none">
            <a:spAutoFit/>
          </a:bodyPr>
          <a:p>
            <a:r>
              <a:rPr lang="zh-CN" altLang="en-US" sz="2400" dirty="0">
                <a:solidFill>
                  <a:schemeClr val="accent2"/>
                </a:solidFill>
                <a:latin typeface="微软雅黑" panose="020B0503020204020204" charset="-122"/>
                <a:ea typeface="微软雅黑" panose="020B0503020204020204" charset="-122"/>
              </a:rPr>
              <a:t>数据流式：</a:t>
            </a:r>
            <a:r>
              <a:rPr lang="en-US" altLang="zh-CN" sz="2400" dirty="0">
                <a:solidFill>
                  <a:schemeClr val="accent2"/>
                </a:solidFill>
                <a:latin typeface="微软雅黑" panose="020B0503020204020204" charset="-122"/>
                <a:ea typeface="微软雅黑" panose="020B0503020204020204" charset="-122"/>
              </a:rPr>
              <a:t> 1</a:t>
            </a:r>
            <a:r>
              <a:rPr lang="zh-CN" altLang="en-US" sz="2400" dirty="0">
                <a:solidFill>
                  <a:schemeClr val="accent2"/>
                </a:solidFill>
                <a:latin typeface="微软雅黑" panose="020B0503020204020204" charset="-122"/>
                <a:ea typeface="微软雅黑" panose="020B0503020204020204" charset="-122"/>
              </a:rPr>
              <a:t>位全加器</a:t>
            </a:r>
            <a:endParaRPr lang="zh-CN" altLang="en-US" sz="2400" dirty="0">
              <a:solidFill>
                <a:schemeClr val="accent2"/>
              </a:solidFill>
              <a:latin typeface="微软雅黑" panose="020B0503020204020204" charset="-122"/>
              <a:ea typeface="微软雅黑" panose="020B0503020204020204" charset="-122"/>
            </a:endParaRPr>
          </a:p>
        </p:txBody>
      </p:sp>
      <p:pic>
        <p:nvPicPr>
          <p:cNvPr id="628742" name="图片 628741"/>
          <p:cNvPicPr>
            <a:picLocks noChangeAspect="1"/>
          </p:cNvPicPr>
          <p:nvPr/>
        </p:nvPicPr>
        <p:blipFill>
          <a:blip r:embed="rId1"/>
          <a:stretch>
            <a:fillRect/>
          </a:stretch>
        </p:blipFill>
        <p:spPr>
          <a:xfrm>
            <a:off x="668338" y="3408363"/>
            <a:ext cx="4248150" cy="2430462"/>
          </a:xfrm>
          <a:prstGeom prst="rect">
            <a:avLst/>
          </a:prstGeom>
          <a:noFill/>
          <a:ln w="9525">
            <a:noFill/>
          </a:ln>
        </p:spPr>
      </p:pic>
      <p:sp>
        <p:nvSpPr>
          <p:cNvPr id="628743" name="矩形 628742"/>
          <p:cNvSpPr/>
          <p:nvPr/>
        </p:nvSpPr>
        <p:spPr>
          <a:xfrm>
            <a:off x="1546225" y="2813050"/>
            <a:ext cx="2492375" cy="593725"/>
          </a:xfrm>
          <a:prstGeom prst="rect">
            <a:avLst/>
          </a:prstGeom>
          <a:noFill/>
          <a:ln w="9525">
            <a:noFill/>
          </a:ln>
        </p:spPr>
        <p:txBody>
          <a:bodyPr/>
          <a:p>
            <a:pPr marL="469900" indent="-469900">
              <a:spcBef>
                <a:spcPct val="20000"/>
              </a:spcBef>
              <a:buClr>
                <a:schemeClr val="accent2"/>
              </a:buClr>
              <a:buFont typeface="Wingdings" panose="05000000000000000000" pitchFamily="2" charset="2"/>
            </a:pPr>
            <a:r>
              <a:rPr lang="zh-CN" altLang="en-US" dirty="0">
                <a:solidFill>
                  <a:srgbClr val="0000FF"/>
                </a:solidFill>
                <a:latin typeface="Times New Roman" panose="02020603050405020304" pitchFamily="18" charset="0"/>
                <a:ea typeface="楷体_GB2312" pitchFamily="49" charset="-122"/>
              </a:rPr>
              <a:t>真值表</a:t>
            </a:r>
            <a:endParaRPr lang="zh-CN" altLang="en-US" dirty="0">
              <a:solidFill>
                <a:srgbClr val="0000FF"/>
              </a:solidFill>
              <a:latin typeface="Times New Roman" panose="02020603050405020304" pitchFamily="18" charset="0"/>
              <a:ea typeface="楷体_GB2312" pitchFamily="49" charset="-122"/>
            </a:endParaRPr>
          </a:p>
          <a:p>
            <a:pPr marL="469900" indent="-469900">
              <a:spcBef>
                <a:spcPct val="20000"/>
              </a:spcBef>
              <a:buClr>
                <a:schemeClr val="accent2"/>
              </a:buClr>
              <a:buFont typeface="Wingdings" panose="05000000000000000000" pitchFamily="2" charset="2"/>
            </a:pPr>
            <a:endParaRPr lang="zh-CN" altLang="en-US" dirty="0">
              <a:solidFill>
                <a:schemeClr val="accent2"/>
              </a:solidFill>
              <a:latin typeface="Times New Roman" panose="02020603050405020304" pitchFamily="18" charset="0"/>
              <a:ea typeface="楷体_GB2312" pitchFamily="49" charset="-122"/>
            </a:endParaRPr>
          </a:p>
        </p:txBody>
      </p:sp>
      <p:sp>
        <p:nvSpPr>
          <p:cNvPr id="628744" name="矩形 628743"/>
          <p:cNvSpPr/>
          <p:nvPr/>
        </p:nvSpPr>
        <p:spPr>
          <a:xfrm>
            <a:off x="5580063" y="2513013"/>
            <a:ext cx="2376487" cy="593725"/>
          </a:xfrm>
          <a:prstGeom prst="rect">
            <a:avLst/>
          </a:prstGeom>
          <a:noFill/>
          <a:ln w="9525">
            <a:noFill/>
          </a:ln>
        </p:spPr>
        <p:txBody>
          <a:bodyPr/>
          <a:p>
            <a:pPr marL="469900" indent="-469900">
              <a:spcBef>
                <a:spcPct val="20000"/>
              </a:spcBef>
              <a:buClr>
                <a:schemeClr val="accent2"/>
              </a:buClr>
              <a:buFont typeface="Wingdings" panose="05000000000000000000" pitchFamily="2" charset="2"/>
            </a:pPr>
            <a:r>
              <a:rPr lang="zh-CN" altLang="en-US" dirty="0">
                <a:solidFill>
                  <a:srgbClr val="0000FF"/>
                </a:solidFill>
                <a:latin typeface="Times New Roman" panose="02020603050405020304" pitchFamily="18" charset="0"/>
                <a:ea typeface="楷体_GB2312" pitchFamily="49" charset="-122"/>
              </a:rPr>
              <a:t>表达式</a:t>
            </a:r>
            <a:endParaRPr lang="zh-CN" altLang="en-US" dirty="0">
              <a:solidFill>
                <a:srgbClr val="0000FF"/>
              </a:solidFill>
              <a:latin typeface="Times New Roman" panose="02020603050405020304" pitchFamily="18" charset="0"/>
              <a:ea typeface="楷体_GB2312" pitchFamily="49" charset="-122"/>
            </a:endParaRPr>
          </a:p>
          <a:p>
            <a:pPr marL="469900" indent="-469900">
              <a:spcBef>
                <a:spcPct val="20000"/>
              </a:spcBef>
              <a:buClr>
                <a:schemeClr val="accent2"/>
              </a:buClr>
              <a:buFont typeface="Wingdings" panose="05000000000000000000" pitchFamily="2" charset="2"/>
            </a:pPr>
            <a:endParaRPr lang="zh-CN" altLang="en-US" dirty="0">
              <a:solidFill>
                <a:schemeClr val="accent2"/>
              </a:solidFill>
              <a:latin typeface="Times New Roman" panose="02020603050405020304" pitchFamily="18" charset="0"/>
              <a:ea typeface="楷体_GB2312" pitchFamily="49" charset="-122"/>
            </a:endParaRPr>
          </a:p>
        </p:txBody>
      </p:sp>
      <p:sp>
        <p:nvSpPr>
          <p:cNvPr id="18438" name="文本框 628744"/>
          <p:cNvSpPr txBox="1"/>
          <p:nvPr/>
        </p:nvSpPr>
        <p:spPr>
          <a:xfrm>
            <a:off x="5580063" y="2924175"/>
            <a:ext cx="2736850" cy="457200"/>
          </a:xfrm>
          <a:prstGeom prst="rect">
            <a:avLst/>
          </a:prstGeom>
          <a:noFill/>
          <a:ln w="9525">
            <a:noFill/>
          </a:ln>
        </p:spPr>
        <p:txBody>
          <a:bodyPr>
            <a:spAutoFit/>
          </a:bodyPr>
          <a:p>
            <a:pPr>
              <a:spcBef>
                <a:spcPct val="50000"/>
              </a:spcBef>
            </a:pPr>
            <a:endParaRPr lang="zh-CN" altLang="zh-CN" dirty="0">
              <a:latin typeface="Times New Roman" panose="02020603050405020304" pitchFamily="18" charset="0"/>
            </a:endParaRPr>
          </a:p>
        </p:txBody>
      </p:sp>
      <p:graphicFrame>
        <p:nvGraphicFramePr>
          <p:cNvPr id="628746" name="内容占位符 628745"/>
          <p:cNvGraphicFramePr>
            <a:graphicFrameLocks noGrp="1"/>
          </p:cNvGraphicFramePr>
          <p:nvPr>
            <p:ph idx="1"/>
          </p:nvPr>
        </p:nvGraphicFramePr>
        <p:xfrm>
          <a:off x="5338763" y="3567113"/>
          <a:ext cx="3221037" cy="1055687"/>
        </p:xfrm>
        <a:graphic>
          <a:graphicData uri="http://schemas.openxmlformats.org/presentationml/2006/ole">
            <mc:AlternateContent xmlns:mc="http://schemas.openxmlformats.org/markup-compatibility/2006">
              <mc:Choice xmlns:v="urn:schemas-microsoft-com:vml" Requires="v">
                <p:oleObj spid="_x0000_s3077" name="" r:id="rId2" imgW="1397000" imgH="457200" progId="Equation.3">
                  <p:embed/>
                </p:oleObj>
              </mc:Choice>
              <mc:Fallback>
                <p:oleObj name="" r:id="rId2" imgW="1397000" imgH="457200" progId="Equation.3">
                  <p:embed/>
                  <p:pic>
                    <p:nvPicPr>
                      <p:cNvPr id="0" name="图片 3076"/>
                      <p:cNvPicPr/>
                      <p:nvPr/>
                    </p:nvPicPr>
                    <p:blipFill>
                      <a:blip r:embed="rId3"/>
                      <a:srcRect/>
                      <a:stretch>
                        <a:fillRect/>
                      </a:stretch>
                    </p:blipFill>
                    <p:spPr>
                      <a:xfrm>
                        <a:off x="5338763" y="3567113"/>
                        <a:ext cx="3221037" cy="1055687"/>
                      </a:xfrm>
                      <a:prstGeom prst="rect">
                        <a:avLst/>
                      </a:prstGeom>
                      <a:noFill/>
                      <a:ln w="38100">
                        <a:miter/>
                      </a:ln>
                    </p:spPr>
                  </p:pic>
                </p:oleObj>
              </mc:Fallback>
            </mc:AlternateContent>
          </a:graphicData>
        </a:graphic>
      </p:graphicFrame>
      <p:sp>
        <p:nvSpPr>
          <p:cNvPr id="18440" name="文本占位符 778241"/>
          <p:cNvSpPr txBox="1"/>
          <p:nvPr/>
        </p:nvSpPr>
        <p:spPr>
          <a:xfrm>
            <a:off x="107950" y="1196975"/>
            <a:ext cx="8001000" cy="652780"/>
          </a:xfrm>
          <a:prstGeom prst="rect">
            <a:avLst/>
          </a:prstGeom>
          <a:noFill/>
          <a:ln w="9525">
            <a:noFill/>
          </a:ln>
        </p:spPr>
        <p:txBody>
          <a:bodyPr/>
          <a:p>
            <a:pPr marL="342900" indent="-342900" algn="just" defTabSz="0">
              <a:lnSpc>
                <a:spcPct val="150000"/>
              </a:lnSpc>
              <a:spcBef>
                <a:spcPct val="20000"/>
              </a:spcBef>
              <a:buFontTx/>
            </a:pPr>
            <a:r>
              <a:rPr lang="zh-CN" altLang="en-US" sz="2400" dirty="0">
                <a:latin typeface="Times New Roman" panose="02020603050405020304" pitchFamily="18" charset="0"/>
                <a:sym typeface="Times New Roman" panose="02020603050405020304" pitchFamily="18" charset="0"/>
              </a:rPr>
              <a:t>（</a:t>
            </a:r>
            <a:r>
              <a:rPr lang="en-US" altLang="zh-CN" sz="2400" dirty="0">
                <a:latin typeface="Times New Roman" panose="02020603050405020304" pitchFamily="18" charset="0"/>
                <a:sym typeface="Times New Roman" panose="02020603050405020304" pitchFamily="18" charset="0"/>
              </a:rPr>
              <a:t>1</a:t>
            </a:r>
            <a:r>
              <a:rPr lang="zh-CN" altLang="en-US" sz="2400" dirty="0">
                <a:latin typeface="Times New Roman" panose="02020603050405020304" pitchFamily="18" charset="0"/>
                <a:sym typeface="Times New Roman" panose="02020603050405020304" pitchFamily="18" charset="0"/>
              </a:rPr>
              <a:t>）一位全加器设计</a:t>
            </a:r>
            <a:endParaRPr lang="zh-CN" altLang="en-US" sz="2400" dirty="0">
              <a:latin typeface="Times New Roman" panose="02020603050405020304" pitchFamily="18" charset="0"/>
              <a:sym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22" name="内容占位符 542721"/>
          <p:cNvSpPr>
            <a:spLocks noGrp="1"/>
          </p:cNvSpPr>
          <p:nvPr>
            <p:ph idx="1"/>
          </p:nvPr>
        </p:nvSpPr>
        <p:spPr>
          <a:xfrm>
            <a:off x="612775" y="1844675"/>
            <a:ext cx="8135938" cy="4464050"/>
          </a:xfrm>
        </p:spPr>
        <p:txBody>
          <a:bodyPr vert="horz" wrap="square" lIns="91440" tIns="45720" rIns="91440" bIns="45720" anchor="t" anchorCtr="0"/>
          <a:p>
            <a:pPr eaLnBrk="1" hangingPunct="1">
              <a:lnSpc>
                <a:spcPct val="120000"/>
              </a:lnSpc>
              <a:buFont typeface="Wingdings" panose="05000000000000000000" pitchFamily="2" charset="2"/>
              <a:buNone/>
            </a:pPr>
            <a:r>
              <a:rPr lang="en-US" altLang="zh-CN" sz="2400" dirty="0">
                <a:ea typeface="楷体_GB2312" pitchFamily="49" charset="-122"/>
              </a:rPr>
              <a:t>library ieee;</a:t>
            </a:r>
            <a:endParaRPr lang="en-US" altLang="zh-CN" sz="2400" dirty="0">
              <a:ea typeface="楷体_GB2312" pitchFamily="49" charset="-122"/>
            </a:endParaRPr>
          </a:p>
          <a:p>
            <a:pPr eaLnBrk="1" hangingPunct="1">
              <a:lnSpc>
                <a:spcPct val="120000"/>
              </a:lnSpc>
              <a:buFont typeface="Wingdings" panose="05000000000000000000" pitchFamily="2" charset="2"/>
              <a:buNone/>
            </a:pPr>
            <a:r>
              <a:rPr lang="en-US" altLang="zh-CN" sz="2400" dirty="0">
                <a:ea typeface="楷体_GB2312" pitchFamily="49" charset="-122"/>
              </a:rPr>
              <a:t>use ieee.std_logic_1164.all;</a:t>
            </a:r>
            <a:endParaRPr lang="en-US" altLang="zh-CN" sz="2400" dirty="0">
              <a:ea typeface="楷体_GB2312" pitchFamily="49" charset="-122"/>
            </a:endParaRPr>
          </a:p>
          <a:p>
            <a:pPr eaLnBrk="1" hangingPunct="1">
              <a:lnSpc>
                <a:spcPct val="120000"/>
              </a:lnSpc>
              <a:buFont typeface="Wingdings" panose="05000000000000000000" pitchFamily="2" charset="2"/>
              <a:buNone/>
            </a:pPr>
            <a:endParaRPr lang="en-US" altLang="zh-CN" sz="2400" dirty="0">
              <a:ea typeface="楷体_GB2312" pitchFamily="49" charset="-122"/>
            </a:endParaRPr>
          </a:p>
          <a:p>
            <a:pPr eaLnBrk="1" hangingPunct="1">
              <a:lnSpc>
                <a:spcPct val="120000"/>
              </a:lnSpc>
              <a:buFont typeface="Wingdings" panose="05000000000000000000" pitchFamily="2" charset="2"/>
              <a:buNone/>
            </a:pPr>
            <a:r>
              <a:rPr lang="en-US" altLang="zh-CN" sz="2400" dirty="0">
                <a:ea typeface="楷体_GB2312" pitchFamily="49" charset="-122"/>
              </a:rPr>
              <a:t>entity adder1 is</a:t>
            </a:r>
            <a:endParaRPr lang="en-US" altLang="zh-CN" sz="2400" dirty="0">
              <a:ea typeface="楷体_GB2312" pitchFamily="49" charset="-122"/>
            </a:endParaRPr>
          </a:p>
          <a:p>
            <a:pPr eaLnBrk="1" hangingPunct="1">
              <a:lnSpc>
                <a:spcPct val="120000"/>
              </a:lnSpc>
              <a:buFont typeface="Wingdings" panose="05000000000000000000" pitchFamily="2" charset="2"/>
              <a:buNone/>
            </a:pPr>
            <a:r>
              <a:rPr lang="en-US" altLang="zh-CN" sz="2400" dirty="0">
                <a:ea typeface="楷体_GB2312" pitchFamily="49" charset="-122"/>
              </a:rPr>
              <a:t>   port (a,b,ci: in  std_logic;</a:t>
            </a:r>
            <a:endParaRPr lang="en-US" altLang="zh-CN" sz="2400" dirty="0">
              <a:ea typeface="楷体_GB2312" pitchFamily="49" charset="-122"/>
            </a:endParaRPr>
          </a:p>
          <a:p>
            <a:pPr eaLnBrk="1" hangingPunct="1">
              <a:lnSpc>
                <a:spcPct val="120000"/>
              </a:lnSpc>
              <a:buFont typeface="Wingdings" panose="05000000000000000000" pitchFamily="2" charset="2"/>
              <a:buNone/>
            </a:pPr>
            <a:r>
              <a:rPr lang="en-US" altLang="zh-CN" sz="2400" dirty="0">
                <a:ea typeface="楷体_GB2312" pitchFamily="49" charset="-122"/>
              </a:rPr>
              <a:t>             co,s: out std_logic);</a:t>
            </a:r>
            <a:endParaRPr lang="en-US" altLang="zh-CN" sz="2400" dirty="0">
              <a:ea typeface="楷体_GB2312" pitchFamily="49" charset="-122"/>
            </a:endParaRPr>
          </a:p>
          <a:p>
            <a:pPr eaLnBrk="1" hangingPunct="1">
              <a:lnSpc>
                <a:spcPct val="120000"/>
              </a:lnSpc>
              <a:buFont typeface="Wingdings" panose="05000000000000000000" pitchFamily="2" charset="2"/>
              <a:buNone/>
            </a:pPr>
            <a:r>
              <a:rPr lang="en-US" altLang="zh-CN" sz="2400" dirty="0">
                <a:ea typeface="楷体_GB2312" pitchFamily="49" charset="-122"/>
              </a:rPr>
              <a:t>end adder1;</a:t>
            </a:r>
            <a:endParaRPr lang="en-US" altLang="zh-CN" sz="2400" dirty="0">
              <a:ea typeface="楷体_GB2312" pitchFamily="49" charset="-122"/>
            </a:endParaRPr>
          </a:p>
        </p:txBody>
      </p:sp>
      <p:sp>
        <p:nvSpPr>
          <p:cNvPr id="19459" name="文本框 542724"/>
          <p:cNvSpPr txBox="1"/>
          <p:nvPr/>
        </p:nvSpPr>
        <p:spPr>
          <a:xfrm>
            <a:off x="754063" y="1279525"/>
            <a:ext cx="3600450" cy="457200"/>
          </a:xfrm>
          <a:prstGeom prst="rect">
            <a:avLst/>
          </a:prstGeom>
          <a:noFill/>
          <a:ln w="9525">
            <a:noFill/>
          </a:ln>
        </p:spPr>
        <p:txBody>
          <a:bodyPr/>
          <a:p>
            <a:pPr marL="469900" indent="-469900">
              <a:spcBef>
                <a:spcPct val="20000"/>
              </a:spcBef>
              <a:buClr>
                <a:schemeClr val="accent2"/>
              </a:buClr>
              <a:buFont typeface="Wingdings" panose="05000000000000000000" pitchFamily="2" charset="2"/>
            </a:pPr>
            <a:r>
              <a:rPr lang="zh-CN" altLang="en-US" sz="2400" dirty="0">
                <a:solidFill>
                  <a:srgbClr val="0000FF"/>
                </a:solidFill>
                <a:latin typeface="微软雅黑" panose="020B0503020204020204" charset="-122"/>
                <a:ea typeface="微软雅黑" panose="020B0503020204020204" charset="-122"/>
              </a:rPr>
              <a:t>程序设计</a:t>
            </a:r>
            <a:r>
              <a:rPr lang="en-US" altLang="zh-CN" sz="2400" dirty="0">
                <a:solidFill>
                  <a:srgbClr val="0000FF"/>
                </a:solidFill>
                <a:latin typeface="微软雅黑" panose="020B0503020204020204" charset="-122"/>
                <a:ea typeface="微软雅黑" panose="020B0503020204020204" charset="-122"/>
              </a:rPr>
              <a:t>—</a:t>
            </a:r>
            <a:r>
              <a:rPr lang="zh-CN" altLang="en-US" sz="2400" dirty="0">
                <a:solidFill>
                  <a:srgbClr val="0000FF"/>
                </a:solidFill>
                <a:latin typeface="微软雅黑" panose="020B0503020204020204" charset="-122"/>
                <a:ea typeface="微软雅黑" panose="020B0503020204020204" charset="-122"/>
              </a:rPr>
              <a:t>实体</a:t>
            </a:r>
            <a:endParaRPr lang="zh-CN" altLang="en-US" sz="2400" dirty="0">
              <a:solidFill>
                <a:srgbClr val="0000FF"/>
              </a:solidFill>
              <a:latin typeface="微软雅黑" panose="020B0503020204020204" charset="-122"/>
              <a:ea typeface="微软雅黑" panose="020B0503020204020204" charset="-122"/>
            </a:endParaRPr>
          </a:p>
        </p:txBody>
      </p:sp>
      <p:pic>
        <p:nvPicPr>
          <p:cNvPr id="542728" name="图片 542727"/>
          <p:cNvPicPr>
            <a:picLocks noChangeAspect="1"/>
          </p:cNvPicPr>
          <p:nvPr/>
        </p:nvPicPr>
        <p:blipFill>
          <a:blip r:embed="rId1"/>
          <a:stretch>
            <a:fillRect/>
          </a:stretch>
        </p:blipFill>
        <p:spPr>
          <a:xfrm>
            <a:off x="5921375" y="2060575"/>
            <a:ext cx="1963738" cy="2376488"/>
          </a:xfrm>
          <a:prstGeom prst="rect">
            <a:avLst/>
          </a:prstGeom>
          <a:noFill/>
          <a:ln w="9525">
            <a:noFill/>
          </a:ln>
        </p:spPr>
      </p:pic>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3746" name="文本占位符 543745"/>
          <p:cNvSpPr>
            <a:spLocks noGrp="1"/>
          </p:cNvSpPr>
          <p:nvPr>
            <p:ph type="body" sz="half" idx="1"/>
          </p:nvPr>
        </p:nvSpPr>
        <p:spPr>
          <a:xfrm>
            <a:off x="611188" y="2565400"/>
            <a:ext cx="5689600" cy="3095625"/>
          </a:xfrm>
        </p:spPr>
        <p:txBody>
          <a:bodyPr vert="horz" wrap="square" lIns="91440" tIns="45720" rIns="91440" bIns="45720" anchor="t" anchorCtr="0"/>
          <a:p>
            <a:pPr eaLnBrk="1" hangingPunct="1">
              <a:lnSpc>
                <a:spcPct val="135000"/>
              </a:lnSpc>
              <a:buFont typeface="Wingdings" panose="05000000000000000000" pitchFamily="2" charset="2"/>
              <a:buNone/>
            </a:pPr>
            <a:r>
              <a:rPr lang="en-US" altLang="zh-CN" sz="2400" dirty="0">
                <a:ea typeface="楷体_GB2312" pitchFamily="49" charset="-122"/>
              </a:rPr>
              <a:t>architecture  behavioral of adder1 IS</a:t>
            </a:r>
            <a:endParaRPr lang="en-US" altLang="zh-CN" sz="2400" dirty="0">
              <a:ea typeface="楷体_GB2312" pitchFamily="49" charset="-122"/>
            </a:endParaRPr>
          </a:p>
          <a:p>
            <a:pPr eaLnBrk="1" hangingPunct="1">
              <a:lnSpc>
                <a:spcPct val="135000"/>
              </a:lnSpc>
              <a:buFont typeface="Wingdings" panose="05000000000000000000" pitchFamily="2" charset="2"/>
              <a:buNone/>
            </a:pPr>
            <a:r>
              <a:rPr lang="en-US" altLang="zh-CN" sz="2400" dirty="0">
                <a:ea typeface="楷体_GB2312" pitchFamily="49" charset="-122"/>
              </a:rPr>
              <a:t>begin </a:t>
            </a:r>
            <a:endParaRPr lang="en-US" altLang="zh-CN" sz="2400" dirty="0">
              <a:ea typeface="楷体_GB2312" pitchFamily="49" charset="-122"/>
            </a:endParaRPr>
          </a:p>
          <a:p>
            <a:pPr eaLnBrk="1" hangingPunct="1">
              <a:lnSpc>
                <a:spcPct val="135000"/>
              </a:lnSpc>
              <a:buFont typeface="Wingdings" panose="05000000000000000000" pitchFamily="2" charset="2"/>
              <a:buNone/>
            </a:pPr>
            <a:r>
              <a:rPr lang="en-US" altLang="zh-CN" sz="2400" dirty="0">
                <a:ea typeface="楷体_GB2312" pitchFamily="49" charset="-122"/>
              </a:rPr>
              <a:t>    co&lt;=(a and b) or (a and ci) or (b and ci);</a:t>
            </a:r>
            <a:endParaRPr lang="en-US" altLang="zh-CN" sz="2400" dirty="0">
              <a:ea typeface="楷体_GB2312" pitchFamily="49" charset="-122"/>
            </a:endParaRPr>
          </a:p>
          <a:p>
            <a:pPr eaLnBrk="1" hangingPunct="1">
              <a:lnSpc>
                <a:spcPct val="135000"/>
              </a:lnSpc>
              <a:buFont typeface="Wingdings" panose="05000000000000000000" pitchFamily="2" charset="2"/>
              <a:buNone/>
            </a:pPr>
            <a:r>
              <a:rPr lang="en-US" altLang="zh-CN" sz="2400" dirty="0">
                <a:ea typeface="楷体_GB2312" pitchFamily="49" charset="-122"/>
              </a:rPr>
              <a:t>    s&lt;=a xor b xor ci;</a:t>
            </a:r>
            <a:endParaRPr lang="en-US" altLang="zh-CN" sz="2400" dirty="0">
              <a:ea typeface="楷体_GB2312" pitchFamily="49" charset="-122"/>
            </a:endParaRPr>
          </a:p>
          <a:p>
            <a:pPr eaLnBrk="1" hangingPunct="1">
              <a:lnSpc>
                <a:spcPct val="135000"/>
              </a:lnSpc>
              <a:buFont typeface="Wingdings" panose="05000000000000000000" pitchFamily="2" charset="2"/>
              <a:buNone/>
            </a:pPr>
            <a:r>
              <a:rPr lang="en-US" altLang="zh-CN" sz="2400" dirty="0">
                <a:ea typeface="楷体_GB2312" pitchFamily="49" charset="-122"/>
              </a:rPr>
              <a:t>end behavioral;</a:t>
            </a:r>
            <a:endParaRPr lang="en-US" altLang="zh-CN" sz="2400" dirty="0">
              <a:ea typeface="楷体_GB2312" pitchFamily="49" charset="-122"/>
            </a:endParaRPr>
          </a:p>
        </p:txBody>
      </p:sp>
      <p:sp>
        <p:nvSpPr>
          <p:cNvPr id="20483" name="文本框 543747"/>
          <p:cNvSpPr txBox="1"/>
          <p:nvPr/>
        </p:nvSpPr>
        <p:spPr>
          <a:xfrm>
            <a:off x="611188" y="1517650"/>
            <a:ext cx="3600450" cy="457200"/>
          </a:xfrm>
          <a:prstGeom prst="rect">
            <a:avLst/>
          </a:prstGeom>
          <a:noFill/>
          <a:ln w="9525">
            <a:noFill/>
          </a:ln>
        </p:spPr>
        <p:txBody>
          <a:bodyPr/>
          <a:p>
            <a:pPr marL="469900" indent="-469900">
              <a:spcBef>
                <a:spcPct val="20000"/>
              </a:spcBef>
              <a:buClr>
                <a:schemeClr val="accent2"/>
              </a:buClr>
              <a:buFont typeface="Wingdings" panose="05000000000000000000" pitchFamily="2" charset="2"/>
            </a:pPr>
            <a:r>
              <a:rPr lang="zh-CN" altLang="en-US" sz="2400" dirty="0">
                <a:solidFill>
                  <a:srgbClr val="0000FF"/>
                </a:solidFill>
                <a:latin typeface="微软雅黑" panose="020B0503020204020204" charset="-122"/>
                <a:ea typeface="微软雅黑" panose="020B0503020204020204" charset="-122"/>
              </a:rPr>
              <a:t>程序设计</a:t>
            </a:r>
            <a:r>
              <a:rPr lang="en-US" altLang="zh-CN" sz="2400" dirty="0">
                <a:solidFill>
                  <a:srgbClr val="0000FF"/>
                </a:solidFill>
                <a:latin typeface="微软雅黑" panose="020B0503020204020204" charset="-122"/>
                <a:ea typeface="微软雅黑" panose="020B0503020204020204" charset="-122"/>
              </a:rPr>
              <a:t>—</a:t>
            </a:r>
            <a:r>
              <a:rPr lang="zh-CN" altLang="en-US" sz="2400" dirty="0">
                <a:solidFill>
                  <a:srgbClr val="0000FF"/>
                </a:solidFill>
                <a:latin typeface="微软雅黑" panose="020B0503020204020204" charset="-122"/>
                <a:ea typeface="微软雅黑" panose="020B0503020204020204" charset="-122"/>
              </a:rPr>
              <a:t>结构体</a:t>
            </a:r>
            <a:endParaRPr lang="zh-CN" altLang="en-US" sz="2400" dirty="0">
              <a:solidFill>
                <a:srgbClr val="0000FF"/>
              </a:solidFill>
              <a:latin typeface="微软雅黑" panose="020B0503020204020204" charset="-122"/>
              <a:ea typeface="微软雅黑" panose="020B0503020204020204" charset="-122"/>
            </a:endParaRPr>
          </a:p>
        </p:txBody>
      </p:sp>
      <p:graphicFrame>
        <p:nvGraphicFramePr>
          <p:cNvPr id="543749" name="对象 543748"/>
          <p:cNvGraphicFramePr>
            <a:graphicFrameLocks noGrp="1"/>
          </p:cNvGraphicFramePr>
          <p:nvPr/>
        </p:nvGraphicFramePr>
        <p:xfrm>
          <a:off x="5580380" y="1341120"/>
          <a:ext cx="3241675" cy="1060450"/>
        </p:xfrm>
        <a:graphic>
          <a:graphicData uri="http://schemas.openxmlformats.org/presentationml/2006/ole">
            <mc:AlternateContent xmlns:mc="http://schemas.openxmlformats.org/markup-compatibility/2006">
              <mc:Choice xmlns:v="urn:schemas-microsoft-com:vml" Requires="v">
                <p:oleObj spid="_x0000_s3076" name="" r:id="rId1" imgW="1397000" imgH="457200" progId="Equation.3">
                  <p:embed/>
                </p:oleObj>
              </mc:Choice>
              <mc:Fallback>
                <p:oleObj name="" r:id="rId1" imgW="1397000" imgH="457200" progId="Equation.3">
                  <p:embed/>
                  <p:pic>
                    <p:nvPicPr>
                      <p:cNvPr id="0" name="图片 3075"/>
                      <p:cNvPicPr/>
                      <p:nvPr/>
                    </p:nvPicPr>
                    <p:blipFill>
                      <a:blip r:embed="rId2"/>
                      <a:srcRect/>
                      <a:stretch>
                        <a:fillRect/>
                      </a:stretch>
                    </p:blipFill>
                    <p:spPr>
                      <a:xfrm>
                        <a:off x="5580380" y="1341120"/>
                        <a:ext cx="3241675" cy="1060450"/>
                      </a:xfrm>
                      <a:prstGeom prst="rect">
                        <a:avLst/>
                      </a:prstGeom>
                      <a:noFill/>
                      <a:ln w="38100">
                        <a:miter/>
                      </a:ln>
                    </p:spPr>
                  </p:pic>
                </p:oleObj>
              </mc:Fallback>
            </mc:AlternateContent>
          </a:graphicData>
        </a:graphic>
      </p:graphicFrame>
      <p:pic>
        <p:nvPicPr>
          <p:cNvPr id="20485" name="Picture 2"/>
          <p:cNvPicPr>
            <a:picLocks noChangeAspect="1"/>
          </p:cNvPicPr>
          <p:nvPr/>
        </p:nvPicPr>
        <p:blipFill>
          <a:blip r:embed="rId3"/>
          <a:stretch>
            <a:fillRect/>
          </a:stretch>
        </p:blipFill>
        <p:spPr>
          <a:xfrm>
            <a:off x="6084888" y="3425825"/>
            <a:ext cx="2000250" cy="523875"/>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43746">
                                            <p:txEl>
                                              <p:charRg st="0" end="38"/>
                                            </p:txEl>
                                          </p:spTgt>
                                        </p:tgtEl>
                                        <p:attrNameLst>
                                          <p:attrName>style.visibility</p:attrName>
                                        </p:attrNameLst>
                                      </p:cBhvr>
                                      <p:to>
                                        <p:strVal val="visible"/>
                                      </p:to>
                                    </p:set>
                                    <p:animEffect transition="in" filter="slide(fromBottom)">
                                      <p:cBhvr>
                                        <p:cTn id="7" dur="500"/>
                                        <p:tgtEl>
                                          <p:spTgt spid="543746">
                                            <p:txEl>
                                              <p:charRg st="0" end="3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43746">
                                            <p:txEl>
                                              <p:charRg st="38" end="45"/>
                                            </p:txEl>
                                          </p:spTgt>
                                        </p:tgtEl>
                                        <p:attrNameLst>
                                          <p:attrName>style.visibility</p:attrName>
                                        </p:attrNameLst>
                                      </p:cBhvr>
                                      <p:to>
                                        <p:strVal val="visible"/>
                                      </p:to>
                                    </p:set>
                                    <p:animEffect transition="in" filter="slide(fromBottom)">
                                      <p:cBhvr>
                                        <p:cTn id="12" dur="500"/>
                                        <p:tgtEl>
                                          <p:spTgt spid="543746">
                                            <p:txEl>
                                              <p:charRg st="38" end="4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543746">
                                            <p:txEl>
                                              <p:charRg st="45" end="92"/>
                                            </p:txEl>
                                          </p:spTgt>
                                        </p:tgtEl>
                                        <p:attrNameLst>
                                          <p:attrName>style.visibility</p:attrName>
                                        </p:attrNameLst>
                                      </p:cBhvr>
                                      <p:to>
                                        <p:strVal val="visible"/>
                                      </p:to>
                                    </p:set>
                                    <p:animEffect transition="in" filter="slide(fromBottom)">
                                      <p:cBhvr>
                                        <p:cTn id="17" dur="500"/>
                                        <p:tgtEl>
                                          <p:spTgt spid="543746">
                                            <p:txEl>
                                              <p:charRg st="45" end="9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43746">
                                            <p:txEl>
                                              <p:charRg st="92" end="115"/>
                                            </p:txEl>
                                          </p:spTgt>
                                        </p:tgtEl>
                                        <p:attrNameLst>
                                          <p:attrName>style.visibility</p:attrName>
                                        </p:attrNameLst>
                                      </p:cBhvr>
                                      <p:to>
                                        <p:strVal val="visible"/>
                                      </p:to>
                                    </p:set>
                                    <p:animEffect transition="in" filter="slide(fromBottom)">
                                      <p:cBhvr>
                                        <p:cTn id="22" dur="500"/>
                                        <p:tgtEl>
                                          <p:spTgt spid="543746">
                                            <p:txEl>
                                              <p:charRg st="92" end="11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543746">
                                            <p:txEl>
                                              <p:charRg st="115" end="131"/>
                                            </p:txEl>
                                          </p:spTgt>
                                        </p:tgtEl>
                                        <p:attrNameLst>
                                          <p:attrName>style.visibility</p:attrName>
                                        </p:attrNameLst>
                                      </p:cBhvr>
                                      <p:to>
                                        <p:strVal val="visible"/>
                                      </p:to>
                                    </p:set>
                                    <p:animEffect transition="in" filter="slide(fromBottom)">
                                      <p:cBhvr>
                                        <p:cTn id="27" dur="500"/>
                                        <p:tgtEl>
                                          <p:spTgt spid="543746">
                                            <p:txEl>
                                              <p:charRg st="115" end="13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9313" name="文本占位符 778241"/>
          <p:cNvSpPr>
            <a:spLocks noGrp="1"/>
          </p:cNvSpPr>
          <p:nvPr>
            <p:ph idx="1"/>
          </p:nvPr>
        </p:nvSpPr>
        <p:spPr>
          <a:xfrm>
            <a:off x="119063" y="0"/>
            <a:ext cx="8001000" cy="1244600"/>
          </a:xfrm>
        </p:spPr>
        <p:txBody>
          <a:bodyPr vert="horz" wrap="square" lIns="91440" tIns="45720" rIns="91440" bIns="45720" anchor="t" anchorCtr="0"/>
          <a:p>
            <a:pPr algn="just">
              <a:lnSpc>
                <a:spcPct val="150000"/>
              </a:lnSpc>
              <a:buNone/>
            </a:pPr>
            <a:endParaRPr lang="zh-CN" altLang="en-US" sz="2400" dirty="0"/>
          </a:p>
          <a:p>
            <a:pPr algn="just">
              <a:lnSpc>
                <a:spcPct val="150000"/>
              </a:lnSpc>
              <a:buNone/>
            </a:pPr>
            <a:r>
              <a:rPr lang="zh-CN" altLang="en-US" sz="2400" dirty="0"/>
              <a:t>（</a:t>
            </a:r>
            <a:r>
              <a:rPr lang="en-US" altLang="zh-CN" sz="2400" dirty="0"/>
              <a:t>2</a:t>
            </a:r>
            <a:r>
              <a:rPr lang="zh-CN" altLang="en-US" sz="2400" dirty="0"/>
              <a:t>）</a:t>
            </a:r>
            <a:r>
              <a:rPr lang="en-US" altLang="zh-CN" sz="2400" dirty="0"/>
              <a:t>4</a:t>
            </a:r>
            <a:r>
              <a:rPr lang="zh-CN" altLang="en-US" sz="2400" dirty="0"/>
              <a:t>位二进制加法器设计</a:t>
            </a:r>
            <a:endParaRPr lang="zh-CN" altLang="en-US" sz="2400" dirty="0"/>
          </a:p>
        </p:txBody>
      </p:sp>
      <p:sp>
        <p:nvSpPr>
          <p:cNvPr id="269314" name="矩形 778244"/>
          <p:cNvSpPr/>
          <p:nvPr/>
        </p:nvSpPr>
        <p:spPr>
          <a:xfrm>
            <a:off x="119063" y="1397000"/>
            <a:ext cx="9024937" cy="5003800"/>
          </a:xfrm>
          <a:prstGeom prst="rect">
            <a:avLst/>
          </a:prstGeom>
          <a:noFill/>
          <a:ln w="9525">
            <a:noFill/>
          </a:ln>
        </p:spPr>
        <p:txBody>
          <a:bodyPr anchor="t" anchorCtr="0"/>
          <a:p>
            <a:pPr marL="469900" indent="-469900" algn="just">
              <a:buClr>
                <a:schemeClr val="accent2"/>
              </a:buClr>
              <a:buFont typeface="Wingdings" panose="05000000000000000000" pitchFamily="2" charset="2"/>
            </a:pPr>
            <a:r>
              <a:rPr lang="en-US" altLang="zh-CN" sz="2400" b="1">
                <a:latin typeface="Times New Roman" panose="02020603050405020304" pitchFamily="18" charset="0"/>
                <a:ea typeface="楷体_GB2312" pitchFamily="49" charset="-122"/>
              </a:rPr>
              <a:t>architecture  behavioral of adder4 IS</a:t>
            </a:r>
            <a:endParaRPr lang="en-US" altLang="zh-CN" sz="2400" b="1">
              <a:latin typeface="Times New Roman" panose="02020603050405020304" pitchFamily="18" charset="0"/>
              <a:ea typeface="楷体_GB2312" pitchFamily="49" charset="-122"/>
            </a:endParaRPr>
          </a:p>
          <a:p>
            <a:pPr marL="469900" indent="-469900" algn="just">
              <a:buClr>
                <a:schemeClr val="accent2"/>
              </a:buClr>
              <a:buFont typeface="Wingdings" panose="05000000000000000000" pitchFamily="2" charset="2"/>
            </a:pPr>
            <a:r>
              <a:rPr lang="en-US" altLang="zh-CN" sz="2400" b="1" err="1">
                <a:solidFill>
                  <a:srgbClr val="FF0000"/>
                </a:solidFill>
                <a:latin typeface="Times New Roman" panose="02020603050405020304" pitchFamily="18" charset="0"/>
                <a:ea typeface="楷体_GB2312" pitchFamily="49" charset="-122"/>
              </a:rPr>
              <a:t>signal c: std_logic_vector(2 downto</a:t>
            </a:r>
            <a:r>
              <a:rPr lang="en-US" altLang="zh-CN" sz="2400" b="1" dirty="0">
                <a:solidFill>
                  <a:srgbClr val="FF0000"/>
                </a:solidFill>
                <a:latin typeface="Times New Roman" panose="02020603050405020304" pitchFamily="18" charset="0"/>
                <a:ea typeface="楷体_GB2312" pitchFamily="49" charset="-122"/>
              </a:rPr>
              <a:t> 0);       --</a:t>
            </a:r>
            <a:r>
              <a:rPr lang="zh-CN" altLang="en-US" sz="2400" b="1" dirty="0">
                <a:solidFill>
                  <a:srgbClr val="FF0000"/>
                </a:solidFill>
                <a:latin typeface="Times New Roman" panose="02020603050405020304" pitchFamily="18" charset="0"/>
                <a:ea typeface="楷体_GB2312" pitchFamily="49" charset="-122"/>
              </a:rPr>
              <a:t>内部进位信号</a:t>
            </a:r>
            <a:endParaRPr lang="zh-CN" altLang="en-US" sz="2400" b="1" dirty="0">
              <a:solidFill>
                <a:srgbClr val="FF0000"/>
              </a:solidFill>
              <a:latin typeface="Times New Roman" panose="02020603050405020304" pitchFamily="18" charset="0"/>
              <a:ea typeface="楷体_GB2312" pitchFamily="49" charset="-122"/>
            </a:endParaRPr>
          </a:p>
          <a:p>
            <a:pPr marL="469900" indent="-469900" algn="just">
              <a:buClr>
                <a:schemeClr val="accent2"/>
              </a:buClr>
              <a:buFont typeface="Wingdings" panose="05000000000000000000" pitchFamily="2" charset="2"/>
            </a:pPr>
            <a:r>
              <a:rPr lang="en-US" altLang="zh-CN" sz="2400" b="1">
                <a:latin typeface="Times New Roman" panose="02020603050405020304" pitchFamily="18" charset="0"/>
                <a:ea typeface="楷体_GB2312" pitchFamily="49" charset="-122"/>
              </a:rPr>
              <a:t>component adder1 is </a:t>
            </a:r>
            <a:endParaRPr lang="en-US" altLang="zh-CN" sz="2400" b="1">
              <a:latin typeface="Times New Roman" panose="02020603050405020304" pitchFamily="18" charset="0"/>
              <a:ea typeface="楷体_GB2312" pitchFamily="49" charset="-122"/>
            </a:endParaRPr>
          </a:p>
          <a:p>
            <a:pPr marL="469900" indent="-469900" algn="just">
              <a:buClr>
                <a:schemeClr val="accent2"/>
              </a:buClr>
              <a:buFont typeface="Wingdings" panose="05000000000000000000" pitchFamily="2" charset="2"/>
            </a:pPr>
            <a:r>
              <a:rPr lang="en-US" altLang="zh-CN" sz="2400" b="1" err="1">
                <a:latin typeface="Times New Roman" panose="02020603050405020304" pitchFamily="18" charset="0"/>
                <a:ea typeface="楷体_GB2312" pitchFamily="49" charset="-122"/>
              </a:rPr>
              <a:t>port (a,b,ci: in  std_logic</a:t>
            </a:r>
            <a:r>
              <a:rPr lang="en-US" altLang="zh-CN" sz="2400" b="1">
                <a:latin typeface="Times New Roman" panose="02020603050405020304" pitchFamily="18" charset="0"/>
                <a:ea typeface="楷体_GB2312" pitchFamily="49" charset="-122"/>
              </a:rPr>
              <a:t>;</a:t>
            </a:r>
            <a:endParaRPr lang="en-US" altLang="zh-CN" sz="2400" b="1">
              <a:latin typeface="Times New Roman" panose="02020603050405020304" pitchFamily="18" charset="0"/>
              <a:ea typeface="楷体_GB2312" pitchFamily="49" charset="-122"/>
            </a:endParaRPr>
          </a:p>
          <a:p>
            <a:pPr marL="469900" indent="-469900" algn="just">
              <a:buClr>
                <a:schemeClr val="accent2"/>
              </a:buClr>
              <a:buFont typeface="Wingdings" panose="05000000000000000000" pitchFamily="2" charset="2"/>
            </a:pPr>
            <a:r>
              <a:rPr lang="en-US" altLang="zh-CN" sz="2400" b="1" err="1">
                <a:latin typeface="Times New Roman" panose="02020603050405020304" pitchFamily="18" charset="0"/>
                <a:ea typeface="楷体_GB2312" pitchFamily="49" charset="-122"/>
              </a:rPr>
              <a:t>        co,s: out std_logic</a:t>
            </a:r>
            <a:endParaRPr lang="en-US" altLang="zh-CN" sz="2400" b="1">
              <a:latin typeface="Times New Roman" panose="02020603050405020304" pitchFamily="18" charset="0"/>
              <a:ea typeface="楷体_GB2312" pitchFamily="49" charset="-122"/>
            </a:endParaRPr>
          </a:p>
          <a:p>
            <a:pPr marL="469900" indent="-469900" algn="just">
              <a:buClr>
                <a:schemeClr val="accent2"/>
              </a:buClr>
              <a:buFont typeface="Wingdings" panose="05000000000000000000" pitchFamily="2" charset="2"/>
            </a:pPr>
            <a:r>
              <a:rPr lang="en-US" altLang="zh-CN" sz="2400" b="1">
                <a:latin typeface="Times New Roman" panose="02020603050405020304" pitchFamily="18" charset="0"/>
                <a:ea typeface="楷体_GB2312" pitchFamily="49" charset="-122"/>
              </a:rPr>
              <a:t>		);</a:t>
            </a:r>
            <a:endParaRPr lang="en-US" altLang="zh-CN" sz="2400" b="1">
              <a:latin typeface="Times New Roman" panose="02020603050405020304" pitchFamily="18" charset="0"/>
              <a:ea typeface="楷体_GB2312" pitchFamily="49" charset="-122"/>
            </a:endParaRPr>
          </a:p>
          <a:p>
            <a:pPr marL="469900" indent="-469900" algn="just">
              <a:buClr>
                <a:schemeClr val="accent2"/>
              </a:buClr>
              <a:buFont typeface="Wingdings" panose="05000000000000000000" pitchFamily="2" charset="2"/>
            </a:pPr>
            <a:r>
              <a:rPr lang="en-US" altLang="zh-CN" sz="2400" b="1">
                <a:latin typeface="Times New Roman" panose="02020603050405020304" pitchFamily="18" charset="0"/>
                <a:ea typeface="楷体_GB2312" pitchFamily="49" charset="-122"/>
              </a:rPr>
              <a:t>end component;</a:t>
            </a:r>
            <a:endParaRPr lang="en-US" altLang="zh-CN" sz="2400" b="1">
              <a:latin typeface="Times New Roman" panose="02020603050405020304" pitchFamily="18" charset="0"/>
              <a:ea typeface="楷体_GB2312" pitchFamily="49" charset="-122"/>
            </a:endParaRPr>
          </a:p>
          <a:p>
            <a:pPr marL="469900" indent="-469900" algn="just">
              <a:buClr>
                <a:schemeClr val="accent2"/>
              </a:buClr>
              <a:buFont typeface="Wingdings" panose="05000000000000000000" pitchFamily="2" charset="2"/>
            </a:pPr>
            <a:r>
              <a:rPr lang="en-US" altLang="zh-CN" sz="2400" b="1">
                <a:latin typeface="Times New Roman" panose="02020603050405020304" pitchFamily="18" charset="0"/>
                <a:ea typeface="楷体_GB2312" pitchFamily="49" charset="-122"/>
              </a:rPr>
              <a:t>begin </a:t>
            </a:r>
            <a:endParaRPr lang="en-US" altLang="zh-CN" sz="2400" b="1">
              <a:latin typeface="Times New Roman" panose="02020603050405020304" pitchFamily="18" charset="0"/>
              <a:ea typeface="楷体_GB2312" pitchFamily="49" charset="-122"/>
            </a:endParaRPr>
          </a:p>
          <a:p>
            <a:pPr marL="469900" indent="-469900" algn="just">
              <a:buClr>
                <a:schemeClr val="accent2"/>
              </a:buClr>
              <a:buFont typeface="Wingdings" panose="05000000000000000000" pitchFamily="2" charset="2"/>
            </a:pPr>
            <a:r>
              <a:rPr lang="en-US" altLang="zh-CN" sz="2400" b="1" err="1">
                <a:latin typeface="Times New Roman" panose="02020603050405020304" pitchFamily="18" charset="0"/>
                <a:ea typeface="楷体_GB2312" pitchFamily="49" charset="-122"/>
              </a:rPr>
              <a:t>U0: adder1 port map(a=&gt;a(0),b=&gt;b(0),ci=&gt;cin,co</a:t>
            </a:r>
            <a:r>
              <a:rPr lang="en-US" altLang="zh-CN" sz="2400" b="1">
                <a:latin typeface="Times New Roman" panose="02020603050405020304" pitchFamily="18" charset="0"/>
                <a:ea typeface="楷体_GB2312" pitchFamily="49" charset="-122"/>
              </a:rPr>
              <a:t>=&gt;c(0),s=&gt;s(0));</a:t>
            </a:r>
            <a:endParaRPr lang="en-US" altLang="zh-CN" sz="2400" b="1">
              <a:latin typeface="Times New Roman" panose="02020603050405020304" pitchFamily="18" charset="0"/>
              <a:ea typeface="楷体_GB2312" pitchFamily="49" charset="-122"/>
            </a:endParaRPr>
          </a:p>
          <a:p>
            <a:pPr marL="469900" indent="-469900" algn="just">
              <a:buClr>
                <a:schemeClr val="accent2"/>
              </a:buClr>
              <a:buFont typeface="Wingdings" panose="05000000000000000000" pitchFamily="2" charset="2"/>
            </a:pPr>
            <a:r>
              <a:rPr lang="en-US" altLang="zh-CN" sz="2400" b="1" err="1">
                <a:latin typeface="Times New Roman" panose="02020603050405020304" pitchFamily="18" charset="0"/>
                <a:ea typeface="楷体_GB2312" pitchFamily="49" charset="-122"/>
              </a:rPr>
              <a:t>U1: adder1 port map(a</a:t>
            </a:r>
            <a:r>
              <a:rPr lang="en-US" altLang="zh-CN" sz="2400" b="1">
                <a:latin typeface="Times New Roman" panose="02020603050405020304" pitchFamily="18" charset="0"/>
                <a:ea typeface="楷体_GB2312" pitchFamily="49" charset="-122"/>
              </a:rPr>
              <a:t>=&gt;a(1),b=&gt;b(1),ci=&gt;c(0),co=&gt;c(1),s=&gt;s(1));</a:t>
            </a:r>
            <a:endParaRPr lang="en-US" altLang="zh-CN" sz="2400" b="1">
              <a:latin typeface="Times New Roman" panose="02020603050405020304" pitchFamily="18" charset="0"/>
              <a:ea typeface="楷体_GB2312" pitchFamily="49" charset="-122"/>
            </a:endParaRPr>
          </a:p>
          <a:p>
            <a:pPr marL="469900" indent="-469900" algn="just">
              <a:buClr>
                <a:schemeClr val="accent2"/>
              </a:buClr>
              <a:buFont typeface="Wingdings" panose="05000000000000000000" pitchFamily="2" charset="2"/>
            </a:pPr>
            <a:r>
              <a:rPr lang="en-US" altLang="zh-CN" sz="2400" b="1" err="1">
                <a:latin typeface="Times New Roman" panose="02020603050405020304" pitchFamily="18" charset="0"/>
                <a:ea typeface="楷体_GB2312" pitchFamily="49" charset="-122"/>
              </a:rPr>
              <a:t>U2: adder1 port map(a</a:t>
            </a:r>
            <a:r>
              <a:rPr lang="en-US" altLang="zh-CN" sz="2400" b="1">
                <a:latin typeface="Times New Roman" panose="02020603050405020304" pitchFamily="18" charset="0"/>
                <a:ea typeface="楷体_GB2312" pitchFamily="49" charset="-122"/>
              </a:rPr>
              <a:t>=&gt;a(2),b=&gt;b(2),ci=&gt;c(1),co=&gt;c(2),s=&gt;s(2));</a:t>
            </a:r>
            <a:endParaRPr lang="en-US" altLang="zh-CN" sz="2400" b="1">
              <a:latin typeface="Times New Roman" panose="02020603050405020304" pitchFamily="18" charset="0"/>
              <a:ea typeface="楷体_GB2312" pitchFamily="49" charset="-122"/>
            </a:endParaRPr>
          </a:p>
          <a:p>
            <a:pPr marL="469900" indent="-469900" algn="just">
              <a:buClr>
                <a:schemeClr val="accent2"/>
              </a:buClr>
              <a:buFont typeface="Wingdings" panose="05000000000000000000" pitchFamily="2" charset="2"/>
            </a:pPr>
            <a:r>
              <a:rPr lang="en-US" altLang="zh-CN" sz="2400" b="1" err="1">
                <a:latin typeface="Times New Roman" panose="02020603050405020304" pitchFamily="18" charset="0"/>
                <a:ea typeface="楷体_GB2312" pitchFamily="49" charset="-122"/>
              </a:rPr>
              <a:t>U3: adder1 port map(a=&gt;a(3),b=&gt;b(3),ci=&gt;c(2),co=&gt;cout,s</a:t>
            </a:r>
            <a:r>
              <a:rPr lang="en-US" altLang="zh-CN" sz="2400" b="1">
                <a:latin typeface="Times New Roman" panose="02020603050405020304" pitchFamily="18" charset="0"/>
                <a:ea typeface="楷体_GB2312" pitchFamily="49" charset="-122"/>
              </a:rPr>
              <a:t>=&gt;s(3));</a:t>
            </a:r>
            <a:endParaRPr lang="en-US" altLang="zh-CN" sz="2400" b="1">
              <a:latin typeface="Times New Roman" panose="02020603050405020304" pitchFamily="18" charset="0"/>
              <a:ea typeface="楷体_GB2312" pitchFamily="49" charset="-122"/>
            </a:endParaRPr>
          </a:p>
          <a:p>
            <a:pPr marL="469900" indent="-469900" algn="just">
              <a:buClr>
                <a:schemeClr val="accent2"/>
              </a:buClr>
              <a:buFont typeface="Wingdings" panose="05000000000000000000" pitchFamily="2" charset="2"/>
            </a:pPr>
            <a:r>
              <a:rPr lang="en-US" altLang="zh-CN" sz="2400" b="1">
                <a:latin typeface="Times New Roman" panose="02020603050405020304" pitchFamily="18" charset="0"/>
                <a:ea typeface="楷体_GB2312" pitchFamily="49" charset="-122"/>
              </a:rPr>
              <a:t>end behavioral;</a:t>
            </a:r>
            <a:endParaRPr lang="en-US" altLang="zh-CN" sz="2400" b="1">
              <a:latin typeface="Times New Roman" panose="02020603050405020304" pitchFamily="18" charset="0"/>
              <a:ea typeface="楷体_GB2312" pitchFamily="49" charset="-122"/>
            </a:endParaRPr>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7" name="文本占位符 739329"/>
          <p:cNvSpPr>
            <a:spLocks noGrp="1"/>
          </p:cNvSpPr>
          <p:nvPr>
            <p:ph idx="1"/>
          </p:nvPr>
        </p:nvSpPr>
        <p:spPr>
          <a:xfrm>
            <a:off x="107315" y="764540"/>
            <a:ext cx="8956675" cy="5698490"/>
          </a:xfrm>
        </p:spPr>
        <p:txBody>
          <a:bodyPr anchor="t"/>
          <a:p>
            <a:pPr marL="469900" marR="0" indent="-469900" algn="just"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Char char="o"/>
            </a:pPr>
            <a:r>
              <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有</a:t>
            </a:r>
            <a:r>
              <a:rPr kumimoji="0" lang="zh-CN" altLang="en-US" sz="2400" b="1" i="0" u="none" strike="noStrike" kern="1200" cap="none" spc="0" normalizeH="0" baseline="0" noProof="1" dirty="0">
                <a:solidFill>
                  <a:srgbClr val="FF0000"/>
                </a:solidFill>
                <a:latin typeface="微软雅黑" panose="020B0503020204020204" charset="-122"/>
                <a:ea typeface="微软雅黑" panose="020B0503020204020204" charset="-122"/>
                <a:cs typeface="微软雅黑" panose="020B0503020204020204" charset="-122"/>
              </a:rPr>
              <a:t>复制作用</a:t>
            </a:r>
            <a:r>
              <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，它可以生成与某个元件或设计单元电路完全相同的一组并行元件或设计单元电路，避免多段相同结构的</a:t>
            </a:r>
            <a:r>
              <a:rPr kumimoji="0" lang="en-US" altLang="zh-CN"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VHDL</a:t>
            </a:r>
            <a:r>
              <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源代码的重复书写。</a:t>
            </a:r>
            <a:endPar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endParaRPr>
          </a:p>
          <a:p>
            <a:pPr marL="469900" marR="0" indent="-469900" algn="l"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Char char="o"/>
            </a:pPr>
            <a:r>
              <a:rPr kumimoji="0" lang="zh-CN" altLang="en-US" sz="2400" b="1" i="0" u="none" strike="noStrike" kern="1200" cap="none" spc="0" normalizeH="0" baseline="0" noProof="1" dirty="0">
                <a:solidFill>
                  <a:srgbClr val="0000CC"/>
                </a:solidFill>
                <a:latin typeface="微软雅黑" panose="020B0503020204020204" charset="-122"/>
                <a:ea typeface="微软雅黑" panose="020B0503020204020204" charset="-122"/>
                <a:cs typeface="微软雅黑" panose="020B0503020204020204" charset="-122"/>
              </a:rPr>
              <a:t>格式</a:t>
            </a:r>
            <a:br>
              <a:rPr lang="zh-CN" altLang="en-US" sz="2400" dirty="0">
                <a:latin typeface="微软雅黑" panose="020B0503020204020204" charset="-122"/>
                <a:ea typeface="微软雅黑" panose="020B0503020204020204" charset="-122"/>
                <a:cs typeface="微软雅黑" panose="020B0503020204020204" charset="-122"/>
              </a:rPr>
            </a:br>
            <a:r>
              <a:rPr kumimoji="0" lang="en-US" altLang="zh-CN"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a:t>
            </a:r>
            <a:r>
              <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标号</a:t>
            </a:r>
            <a:r>
              <a:rPr kumimoji="0" lang="en-US" altLang="zh-CN"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:]&lt;</a:t>
            </a:r>
            <a:r>
              <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模式</a:t>
            </a:r>
            <a:r>
              <a:rPr kumimoji="0" lang="en-US" altLang="zh-CN"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&gt; generate</a:t>
            </a:r>
            <a:br>
              <a:rPr lang="en-US" altLang="zh-CN" sz="2400" dirty="0">
                <a:latin typeface="微软雅黑" panose="020B0503020204020204" charset="-122"/>
                <a:ea typeface="微软雅黑" panose="020B0503020204020204" charset="-122"/>
                <a:cs typeface="微软雅黑" panose="020B0503020204020204" charset="-122"/>
              </a:rPr>
            </a:br>
            <a:r>
              <a:rPr kumimoji="0" lang="en-US" altLang="zh-CN"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            </a:t>
            </a:r>
            <a:r>
              <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并行语句；</a:t>
            </a:r>
            <a:br>
              <a:rPr lang="zh-CN" altLang="en-US" sz="2400" dirty="0">
                <a:latin typeface="微软雅黑" panose="020B0503020204020204" charset="-122"/>
                <a:ea typeface="微软雅黑" panose="020B0503020204020204" charset="-122"/>
                <a:cs typeface="微软雅黑" panose="020B0503020204020204" charset="-122"/>
              </a:rPr>
            </a:br>
            <a:r>
              <a:rPr kumimoji="0" lang="en-US" altLang="zh-CN"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END generate[</a:t>
            </a:r>
            <a:r>
              <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标号</a:t>
            </a:r>
            <a:r>
              <a:rPr kumimoji="0" lang="en-US" altLang="zh-CN"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a:t>
            </a:r>
            <a:r>
              <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a:t>
            </a:r>
            <a:endPar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endParaRPr>
          </a:p>
          <a:p>
            <a:pPr marL="469900" marR="0" indent="-469900" algn="l"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Char char="o"/>
            </a:pPr>
            <a:r>
              <a:rPr kumimoji="0" lang="zh-CN" altLang="en-US" sz="2400" b="1" i="0" u="none" strike="noStrike" kern="1200" cap="none" spc="0" normalizeH="0" baseline="0" noProof="1" dirty="0">
                <a:solidFill>
                  <a:srgbClr val="0000CC"/>
                </a:solidFill>
                <a:latin typeface="微软雅黑" panose="020B0503020204020204" charset="-122"/>
                <a:ea typeface="微软雅黑" panose="020B0503020204020204" charset="-122"/>
                <a:cs typeface="微软雅黑" panose="020B0503020204020204" charset="-122"/>
              </a:rPr>
              <a:t>说明：</a:t>
            </a:r>
            <a:endParaRPr kumimoji="0" lang="zh-CN" altLang="en-US" sz="2400" b="1" i="0" u="none" strike="noStrike" kern="1200" cap="none" spc="0" normalizeH="0" baseline="0" noProof="1" dirty="0">
              <a:solidFill>
                <a:srgbClr val="0000CC"/>
              </a:solidFill>
              <a:latin typeface="微软雅黑" panose="020B0503020204020204" charset="-122"/>
              <a:ea typeface="微软雅黑" panose="020B0503020204020204" charset="-122"/>
              <a:cs typeface="微软雅黑" panose="020B0503020204020204" charset="-122"/>
            </a:endParaRPr>
          </a:p>
          <a:p>
            <a:pPr marL="469900" marR="0" indent="-469900" algn="l"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None/>
            </a:pPr>
            <a:r>
              <a:rPr kumimoji="0" lang="zh-CN" altLang="en-US" sz="2400" b="0"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        </a:t>
            </a:r>
            <a:r>
              <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并行语句一般是</a:t>
            </a:r>
            <a:r>
              <a:rPr kumimoji="0" lang="zh-CN" altLang="en-US" sz="2400" b="1" i="0" u="none" strike="noStrike" kern="1200" cap="none" spc="0" normalizeH="0" baseline="0" noProof="1" dirty="0">
                <a:solidFill>
                  <a:schemeClr val="accent6"/>
                </a:solidFill>
                <a:latin typeface="微软雅黑" panose="020B0503020204020204" charset="-122"/>
                <a:ea typeface="微软雅黑" panose="020B0503020204020204" charset="-122"/>
                <a:cs typeface="微软雅黑" panose="020B0503020204020204" charset="-122"/>
              </a:rPr>
              <a:t>元件例化语句</a:t>
            </a:r>
            <a:r>
              <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或</a:t>
            </a:r>
            <a:r>
              <a:rPr kumimoji="0" lang="zh-CN" altLang="en-US" sz="2400" b="1" i="0" u="none" strike="noStrike" kern="1200" cap="none" spc="0" normalizeH="0" baseline="0" noProof="1" dirty="0">
                <a:solidFill>
                  <a:schemeClr val="accent6"/>
                </a:solidFill>
                <a:latin typeface="微软雅黑" panose="020B0503020204020204" charset="-122"/>
                <a:ea typeface="微软雅黑" panose="020B0503020204020204" charset="-122"/>
                <a:cs typeface="微软雅黑" panose="020B0503020204020204" charset="-122"/>
              </a:rPr>
              <a:t>并行赋值语句</a:t>
            </a:r>
            <a:r>
              <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a:t>
            </a:r>
            <a:endPar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endParaRPr>
          </a:p>
          <a:p>
            <a:pPr marL="469900" marR="0" indent="-469900" algn="l"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None/>
            </a:pPr>
            <a:r>
              <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     模式有</a:t>
            </a:r>
            <a:r>
              <a:rPr kumimoji="0" lang="en-US" altLang="zh-CN" sz="2400" b="1" i="0" u="none" strike="noStrike" kern="1200" cap="none" spc="0" normalizeH="0" baseline="0" noProof="1" dirty="0">
                <a:solidFill>
                  <a:schemeClr val="accent2"/>
                </a:solidFill>
                <a:latin typeface="微软雅黑" panose="020B0503020204020204" charset="-122"/>
                <a:ea typeface="微软雅黑" panose="020B0503020204020204" charset="-122"/>
                <a:cs typeface="微软雅黑" panose="020B0503020204020204" charset="-122"/>
              </a:rPr>
              <a:t>for </a:t>
            </a:r>
            <a:r>
              <a:rPr kumimoji="0" lang="zh-CN" altLang="en-US" sz="2400" b="1" i="0" u="none" strike="noStrike" kern="1200" cap="none" spc="0" normalizeH="0" baseline="0" noProof="1" dirty="0">
                <a:solidFill>
                  <a:schemeClr val="accent2"/>
                </a:solidFill>
                <a:latin typeface="微软雅黑" panose="020B0503020204020204" charset="-122"/>
                <a:ea typeface="微软雅黑" panose="020B0503020204020204" charset="-122"/>
                <a:cs typeface="微软雅黑" panose="020B0503020204020204" charset="-122"/>
              </a:rPr>
              <a:t>模式</a:t>
            </a:r>
            <a:r>
              <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（主要描述重复结构）、</a:t>
            </a:r>
            <a:r>
              <a:rPr kumimoji="0" lang="en-US" altLang="zh-CN" sz="2400" b="1" i="0" u="none" strike="noStrike" kern="1200" cap="none" spc="0" normalizeH="0" baseline="0" noProof="1" dirty="0">
                <a:solidFill>
                  <a:schemeClr val="accent2"/>
                </a:solidFill>
                <a:latin typeface="微软雅黑" panose="020B0503020204020204" charset="-122"/>
                <a:ea typeface="微软雅黑" panose="020B0503020204020204" charset="-122"/>
                <a:cs typeface="微软雅黑" panose="020B0503020204020204" charset="-122"/>
              </a:rPr>
              <a:t>if </a:t>
            </a:r>
            <a:r>
              <a:rPr kumimoji="0" lang="zh-CN" altLang="en-US" sz="2400" b="1" i="0" u="none" strike="noStrike" kern="1200" cap="none" spc="0" normalizeH="0" baseline="0" noProof="1" dirty="0">
                <a:solidFill>
                  <a:schemeClr val="accent2"/>
                </a:solidFill>
                <a:latin typeface="微软雅黑" panose="020B0503020204020204" charset="-122"/>
                <a:ea typeface="微软雅黑" panose="020B0503020204020204" charset="-122"/>
                <a:cs typeface="微软雅黑" panose="020B0503020204020204" charset="-122"/>
              </a:rPr>
              <a:t>模式</a:t>
            </a:r>
            <a:r>
              <a:rPr kumimoji="0" lang="zh-CN" altLang="en-US"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（用来描述结构中例外的情况）</a:t>
            </a:r>
            <a:r>
              <a:rPr kumimoji="0" lang="en-US" altLang="zh-CN" sz="2400" b="1" i="0" u="none" strike="noStrike" kern="1200" cap="none" spc="0" normalizeH="0" baseline="0" noProof="1" dirty="0">
                <a:solidFill>
                  <a:schemeClr val="tx1"/>
                </a:solidFill>
                <a:latin typeface="微软雅黑" panose="020B0503020204020204" charset="-122"/>
                <a:ea typeface="微软雅黑" panose="020B0503020204020204" charset="-122"/>
                <a:cs typeface="微软雅黑" panose="020B0503020204020204" charset="-122"/>
              </a:rPr>
              <a:t>.</a:t>
            </a:r>
            <a:endParaRPr kumimoji="0" lang="zh-CN" altLang="en-US" sz="2000" b="1" i="0" u="none" strike="noStrike" kern="1200" cap="none" spc="0" normalizeH="0" baseline="0" noProof="1" dirty="0">
              <a:solidFill>
                <a:schemeClr val="tx1"/>
              </a:solidFill>
              <a:latin typeface="Times New Roman" panose="02020603050405020304" pitchFamily="18" charset="0"/>
              <a:ea typeface="楷体_GB2312" pitchFamily="49" charset="-122"/>
              <a:cs typeface="+mn-cs"/>
            </a:endParaRPr>
          </a:p>
          <a:p>
            <a:pPr marL="469900" marR="0" indent="-469900" algn="l" defTabSz="914400" rtl="0" eaLnBrk="1" fontAlgn="base" latinLnBrk="0" hangingPunct="1">
              <a:lnSpc>
                <a:spcPct val="130000"/>
              </a:lnSpc>
              <a:spcBef>
                <a:spcPct val="20000"/>
              </a:spcBef>
              <a:spcAft>
                <a:spcPct val="0"/>
              </a:spcAft>
              <a:buClr>
                <a:schemeClr val="accent2"/>
              </a:buClr>
              <a:buSzTx/>
              <a:buFont typeface="Wingdings" panose="05000000000000000000" pitchFamily="2" charset="2"/>
              <a:buChar char="o"/>
            </a:pPr>
            <a:endParaRPr kumimoji="0" lang="zh-CN" altLang="en-US" sz="2000" b="1" i="0" u="none" strike="noStrike" kern="1200" cap="none" spc="0" normalizeH="0" baseline="0" noProof="1" dirty="0">
              <a:solidFill>
                <a:schemeClr val="tx1"/>
              </a:solidFill>
              <a:latin typeface="Times New Roman" panose="02020603050405020304" pitchFamily="18" charset="0"/>
              <a:ea typeface="楷体_GB2312" pitchFamily="49" charset="-122"/>
              <a:cs typeface="+mn-cs"/>
            </a:endParaRPr>
          </a:p>
        </p:txBody>
      </p:sp>
      <p:sp>
        <p:nvSpPr>
          <p:cNvPr id="270338" name="矩形 739330"/>
          <p:cNvSpPr/>
          <p:nvPr/>
        </p:nvSpPr>
        <p:spPr>
          <a:xfrm>
            <a:off x="456883" y="117475"/>
            <a:ext cx="8229600" cy="504825"/>
          </a:xfrm>
          <a:prstGeom prst="rect">
            <a:avLst/>
          </a:prstGeom>
          <a:noFill/>
          <a:ln w="9525">
            <a:noFill/>
          </a:ln>
        </p:spPr>
        <p:txBody>
          <a:bodyPr anchor="t" anchorCtr="0"/>
          <a:p>
            <a:r>
              <a:rPr lang="en-US" altLang="zh-CN" sz="3600" b="1" dirty="0">
                <a:solidFill>
                  <a:srgbClr val="C00000"/>
                </a:solidFill>
                <a:latin typeface="微软雅黑" panose="020B0503020204020204" charset="-122"/>
                <a:ea typeface="微软雅黑" panose="020B0503020204020204" charset="-122"/>
                <a:cs typeface="微软雅黑" panose="020B0503020204020204" charset="-122"/>
              </a:rPr>
              <a:t>5.2.7 </a:t>
            </a:r>
            <a:r>
              <a:rPr lang="zh-CN" altLang="en-US" sz="3600" b="1" dirty="0">
                <a:solidFill>
                  <a:srgbClr val="C00000"/>
                </a:solidFill>
                <a:latin typeface="微软雅黑" panose="020B0503020204020204" charset="-122"/>
                <a:ea typeface="微软雅黑" panose="020B0503020204020204" charset="-122"/>
                <a:cs typeface="微软雅黑" panose="020B0503020204020204" charset="-122"/>
              </a:rPr>
              <a:t>生成语句</a:t>
            </a:r>
            <a:endParaRPr lang="zh-CN" altLang="en-US" sz="3600" b="1" dirty="0">
              <a:solidFill>
                <a:srgbClr val="C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1361" name="标题 764929"/>
          <p:cNvSpPr>
            <a:spLocks noGrp="1"/>
          </p:cNvSpPr>
          <p:nvPr>
            <p:ph type="title"/>
          </p:nvPr>
        </p:nvSpPr>
        <p:spPr>
          <a:xfrm>
            <a:off x="685800" y="1565275"/>
            <a:ext cx="7772400" cy="3521075"/>
          </a:xfrm>
          <a:noFill/>
          <a:ln>
            <a:noFill/>
          </a:ln>
        </p:spPr>
        <p:txBody>
          <a:bodyPr anchor="t" anchorCtr="0"/>
          <a:p>
            <a:pPr algn="l">
              <a:lnSpc>
                <a:spcPct val="120000"/>
              </a:lnSpc>
              <a:buClr>
                <a:schemeClr val="accent2"/>
              </a:buClr>
              <a:buFont typeface="Wingdings" panose="05000000000000000000" pitchFamily="2" charset="2"/>
              <a:buChar char="Ø"/>
            </a:pPr>
            <a:r>
              <a:rPr lang="en-US" altLang="zh-CN" sz="2400" b="1" dirty="0">
                <a:latin typeface="微软雅黑" panose="020B0503020204020204" charset="-122"/>
                <a:ea typeface="微软雅黑" panose="020B0503020204020204" charset="-122"/>
                <a:cs typeface="微软雅黑" panose="020B0503020204020204" charset="-122"/>
              </a:rPr>
              <a:t> </a:t>
            </a:r>
            <a:r>
              <a:rPr lang="en-US" altLang="zh-CN" sz="2400" b="1" dirty="0">
                <a:solidFill>
                  <a:schemeClr val="accent2"/>
                </a:solidFill>
                <a:latin typeface="微软雅黑" panose="020B0503020204020204" charset="-122"/>
                <a:ea typeface="微软雅黑" panose="020B0503020204020204" charset="-122"/>
                <a:cs typeface="微软雅黑" panose="020B0503020204020204" charset="-122"/>
              </a:rPr>
              <a:t>for </a:t>
            </a:r>
            <a:r>
              <a:rPr lang="zh-CN" altLang="en-US" sz="2400" b="1" dirty="0">
                <a:solidFill>
                  <a:schemeClr val="accent2"/>
                </a:solidFill>
                <a:latin typeface="微软雅黑" panose="020B0503020204020204" charset="-122"/>
                <a:ea typeface="微软雅黑" panose="020B0503020204020204" charset="-122"/>
                <a:cs typeface="微软雅黑" panose="020B0503020204020204" charset="-122"/>
              </a:rPr>
              <a:t>模式</a:t>
            </a:r>
            <a:br>
              <a:rPr lang="zh-CN" altLang="en-US" sz="2400" b="1" dirty="0">
                <a:latin typeface="微软雅黑" panose="020B0503020204020204" charset="-122"/>
                <a:ea typeface="微软雅黑" panose="020B0503020204020204" charset="-122"/>
                <a:cs typeface="微软雅黑" panose="020B0503020204020204" charset="-122"/>
              </a:rPr>
            </a:b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格式：</a:t>
            </a:r>
            <a:r>
              <a:rPr lang="zh-CN" altLang="en-US" sz="2400" b="1" dirty="0">
                <a:latin typeface="微软雅黑" panose="020B0503020204020204" charset="-122"/>
                <a:ea typeface="微软雅黑" panose="020B0503020204020204" charset="-122"/>
                <a:cs typeface="微软雅黑" panose="020B0503020204020204" charset="-122"/>
              </a:rPr>
              <a:t> </a:t>
            </a:r>
            <a:r>
              <a:rPr lang="en-US" altLang="zh-CN" sz="2400" b="1" dirty="0">
                <a:latin typeface="微软雅黑" panose="020B0503020204020204" charset="-122"/>
                <a:ea typeface="微软雅黑" panose="020B0503020204020204" charset="-122"/>
                <a:cs typeface="微软雅黑" panose="020B0503020204020204" charset="-122"/>
              </a:rPr>
              <a:t>for </a:t>
            </a:r>
            <a:r>
              <a:rPr lang="zh-CN" altLang="en-US" sz="2400" b="1" dirty="0">
                <a:latin typeface="微软雅黑" panose="020B0503020204020204" charset="-122"/>
                <a:ea typeface="微软雅黑" panose="020B0503020204020204" charset="-122"/>
                <a:cs typeface="微软雅黑" panose="020B0503020204020204" charset="-122"/>
              </a:rPr>
              <a:t>循环变量 </a:t>
            </a:r>
            <a:r>
              <a:rPr lang="en-US" altLang="zh-CN" sz="2400" b="1" dirty="0">
                <a:latin typeface="微软雅黑" panose="020B0503020204020204" charset="-122"/>
                <a:ea typeface="微软雅黑" panose="020B0503020204020204" charset="-122"/>
                <a:cs typeface="微软雅黑" panose="020B0503020204020204" charset="-122"/>
              </a:rPr>
              <a:t>in </a:t>
            </a:r>
            <a:r>
              <a:rPr lang="zh-CN" altLang="en-US" sz="2400" b="1" dirty="0">
                <a:latin typeface="微软雅黑" panose="020B0503020204020204" charset="-122"/>
                <a:ea typeface="微软雅黑" panose="020B0503020204020204" charset="-122"/>
                <a:cs typeface="微软雅黑" panose="020B0503020204020204" charset="-122"/>
              </a:rPr>
              <a:t>离散范围 </a:t>
            </a:r>
            <a:r>
              <a:rPr lang="en-US" altLang="zh-CN" sz="2400" b="1" dirty="0">
                <a:latin typeface="微软雅黑" panose="020B0503020204020204" charset="-122"/>
                <a:ea typeface="微软雅黑" panose="020B0503020204020204" charset="-122"/>
                <a:cs typeface="微软雅黑" panose="020B0503020204020204" charset="-122"/>
              </a:rPr>
              <a:t>generate</a:t>
            </a:r>
            <a:br>
              <a:rPr lang="en-US" altLang="zh-CN" sz="2400" b="1" dirty="0">
                <a:latin typeface="微软雅黑" panose="020B0503020204020204" charset="-122"/>
                <a:ea typeface="微软雅黑" panose="020B0503020204020204" charset="-122"/>
                <a:cs typeface="微软雅黑" panose="020B0503020204020204" charset="-122"/>
              </a:rPr>
            </a:br>
            <a:r>
              <a:rPr lang="en-US" altLang="zh-CN" sz="2400" b="1" dirty="0">
                <a:latin typeface="微软雅黑" panose="020B0503020204020204" charset="-122"/>
                <a:ea typeface="微软雅黑" panose="020B0503020204020204" charset="-122"/>
                <a:cs typeface="微软雅黑" panose="020B0503020204020204" charset="-122"/>
              </a:rPr>
              <a:t>                 </a:t>
            </a:r>
            <a:r>
              <a:rPr lang="zh-CN" altLang="en-US" sz="2400" b="1" dirty="0">
                <a:latin typeface="微软雅黑" panose="020B0503020204020204" charset="-122"/>
                <a:ea typeface="微软雅黑" panose="020B0503020204020204" charset="-122"/>
                <a:cs typeface="微软雅黑" panose="020B0503020204020204" charset="-122"/>
              </a:rPr>
              <a:t>并行语句；</a:t>
            </a:r>
            <a:br>
              <a:rPr lang="zh-CN" altLang="en-US" sz="2400" b="1" dirty="0">
                <a:latin typeface="微软雅黑" panose="020B0503020204020204" charset="-122"/>
                <a:ea typeface="微软雅黑" panose="020B0503020204020204" charset="-122"/>
                <a:cs typeface="微软雅黑" panose="020B0503020204020204" charset="-122"/>
              </a:rPr>
            </a:br>
            <a:r>
              <a:rPr lang="zh-CN" altLang="en-US" sz="2400" b="1" dirty="0">
                <a:latin typeface="微软雅黑" panose="020B0503020204020204" charset="-122"/>
                <a:ea typeface="微软雅黑" panose="020B0503020204020204" charset="-122"/>
                <a:cs typeface="微软雅黑" panose="020B0503020204020204" charset="-122"/>
              </a:rPr>
              <a:t>             </a:t>
            </a:r>
            <a:r>
              <a:rPr lang="en-US" altLang="zh-CN" sz="2400" b="1" dirty="0">
                <a:latin typeface="微软雅黑" panose="020B0503020204020204" charset="-122"/>
                <a:ea typeface="微软雅黑" panose="020B0503020204020204" charset="-122"/>
                <a:cs typeface="微软雅黑" panose="020B0503020204020204" charset="-122"/>
              </a:rPr>
              <a:t>end  generate;</a:t>
            </a:r>
            <a:br>
              <a:rPr lang="en-US" altLang="zh-CN" sz="2400" b="1" dirty="0">
                <a:latin typeface="微软雅黑" panose="020B0503020204020204" charset="-122"/>
                <a:ea typeface="微软雅黑" panose="020B0503020204020204" charset="-122"/>
                <a:cs typeface="微软雅黑" panose="020B0503020204020204" charset="-122"/>
              </a:rPr>
            </a:br>
            <a:br>
              <a:rPr lang="en-US" altLang="zh-CN" sz="2400" b="1" dirty="0">
                <a:latin typeface="微软雅黑" panose="020B0503020204020204" charset="-122"/>
                <a:ea typeface="微软雅黑" panose="020B0503020204020204" charset="-122"/>
                <a:cs typeface="微软雅黑" panose="020B0503020204020204" charset="-122"/>
              </a:rPr>
            </a:br>
            <a:r>
              <a:rPr lang="zh-CN" altLang="en-US" sz="2400" b="1" dirty="0">
                <a:latin typeface="微软雅黑" panose="020B0503020204020204" charset="-122"/>
                <a:ea typeface="微软雅黑" panose="020B0503020204020204" charset="-122"/>
                <a:cs typeface="微软雅黑" panose="020B0503020204020204" charset="-122"/>
              </a:rPr>
              <a:t>生成</a:t>
            </a:r>
            <a:r>
              <a:rPr lang="en-US" altLang="zh-CN" sz="2400" b="1" dirty="0">
                <a:latin typeface="微软雅黑" panose="020B0503020204020204" charset="-122"/>
                <a:ea typeface="微软雅黑" panose="020B0503020204020204" charset="-122"/>
                <a:cs typeface="微软雅黑" panose="020B0503020204020204" charset="-122"/>
              </a:rPr>
              <a:t>n</a:t>
            </a:r>
            <a:r>
              <a:rPr lang="zh-CN" altLang="en-US" sz="2400" b="1" dirty="0">
                <a:latin typeface="微软雅黑" panose="020B0503020204020204" charset="-122"/>
                <a:ea typeface="微软雅黑" panose="020B0503020204020204" charset="-122"/>
                <a:cs typeface="微软雅黑" panose="020B0503020204020204" charset="-122"/>
              </a:rPr>
              <a:t>个完全相同的并行语句指定的结构。主要用于描述简单重复结构。</a:t>
            </a:r>
            <a:endParaRPr lang="zh-CN" altLang="en-US" sz="2400" b="1">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2385" name="标题 770049"/>
          <p:cNvSpPr>
            <a:spLocks noGrp="1"/>
          </p:cNvSpPr>
          <p:nvPr>
            <p:ph type="title"/>
          </p:nvPr>
        </p:nvSpPr>
        <p:spPr>
          <a:xfrm>
            <a:off x="685800" y="479425"/>
            <a:ext cx="7772400" cy="1398270"/>
          </a:xfrm>
          <a:noFill/>
          <a:ln>
            <a:noFill/>
          </a:ln>
        </p:spPr>
        <p:txBody>
          <a:bodyPr anchor="t" anchorCtr="0"/>
          <a:p>
            <a:pPr algn="l">
              <a:lnSpc>
                <a:spcPct val="150000"/>
              </a:lnSpc>
              <a:buClr>
                <a:schemeClr val="accent2"/>
              </a:buClr>
              <a:buFont typeface="Wingdings" panose="05000000000000000000" pitchFamily="2" charset="2"/>
              <a:buChar char="Ø"/>
            </a:pPr>
            <a:r>
              <a:rPr lang="en-US" altLang="zh-CN" sz="2800" b="1" dirty="0">
                <a:latin typeface="微软雅黑" panose="020B0503020204020204" charset="-122"/>
                <a:ea typeface="微软雅黑" panose="020B0503020204020204" charset="-122"/>
                <a:cs typeface="微软雅黑" panose="020B0503020204020204" charset="-122"/>
              </a:rPr>
              <a:t> </a:t>
            </a:r>
            <a:r>
              <a:rPr lang="en-US" altLang="zh-CN" sz="2800" b="1" dirty="0">
                <a:solidFill>
                  <a:schemeClr val="accent2"/>
                </a:solidFill>
                <a:latin typeface="微软雅黑" panose="020B0503020204020204" charset="-122"/>
                <a:ea typeface="微软雅黑" panose="020B0503020204020204" charset="-122"/>
                <a:cs typeface="微软雅黑" panose="020B0503020204020204" charset="-122"/>
              </a:rPr>
              <a:t>for </a:t>
            </a:r>
            <a:r>
              <a:rPr lang="zh-CN" altLang="en-US" sz="2800" b="1" dirty="0">
                <a:solidFill>
                  <a:schemeClr val="accent2"/>
                </a:solidFill>
                <a:latin typeface="微软雅黑" panose="020B0503020204020204" charset="-122"/>
                <a:ea typeface="微软雅黑" panose="020B0503020204020204" charset="-122"/>
                <a:cs typeface="微软雅黑" panose="020B0503020204020204" charset="-122"/>
              </a:rPr>
              <a:t>模式</a:t>
            </a:r>
            <a:br>
              <a:rPr lang="zh-CN" altLang="en-US" sz="2800" b="1" dirty="0">
                <a:latin typeface="微软雅黑" panose="020B0503020204020204" charset="-122"/>
                <a:ea typeface="微软雅黑" panose="020B0503020204020204" charset="-122"/>
                <a:cs typeface="微软雅黑" panose="020B0503020204020204" charset="-122"/>
              </a:rPr>
            </a:br>
            <a:r>
              <a:rPr lang="zh-CN" altLang="en-US" sz="2800" b="1" dirty="0">
                <a:solidFill>
                  <a:srgbClr val="0000CC"/>
                </a:solidFill>
                <a:latin typeface="微软雅黑" panose="020B0503020204020204" charset="-122"/>
                <a:ea typeface="微软雅黑" panose="020B0503020204020204" charset="-122"/>
                <a:cs typeface="微软雅黑" panose="020B0503020204020204" charset="-122"/>
              </a:rPr>
              <a:t>例</a:t>
            </a:r>
            <a:r>
              <a:rPr lang="en-US" altLang="zh-CN" sz="2800" b="1" dirty="0">
                <a:solidFill>
                  <a:srgbClr val="0000CC"/>
                </a:solidFill>
                <a:latin typeface="微软雅黑" panose="020B0503020204020204" charset="-122"/>
                <a:ea typeface="微软雅黑" panose="020B0503020204020204" charset="-122"/>
                <a:cs typeface="微软雅黑" panose="020B0503020204020204" charset="-122"/>
              </a:rPr>
              <a:t>5-28</a:t>
            </a:r>
            <a:r>
              <a:rPr lang="zh-CN" altLang="en-US" sz="2800" b="1" dirty="0">
                <a:solidFill>
                  <a:srgbClr val="0000CC"/>
                </a:solidFill>
                <a:latin typeface="微软雅黑" panose="020B0503020204020204" charset="-122"/>
                <a:ea typeface="微软雅黑" panose="020B0503020204020204" charset="-122"/>
                <a:cs typeface="微软雅黑" panose="020B0503020204020204" charset="-122"/>
              </a:rPr>
              <a:t>：</a:t>
            </a:r>
            <a:r>
              <a:rPr lang="zh-CN" altLang="en-US" sz="2800" b="1" dirty="0">
                <a:latin typeface="微软雅黑" panose="020B0503020204020204" charset="-122"/>
                <a:ea typeface="微软雅黑" panose="020B0503020204020204" charset="-122"/>
                <a:cs typeface="微软雅黑" panose="020B0503020204020204" charset="-122"/>
              </a:rPr>
              <a:t> </a:t>
            </a:r>
            <a:br>
              <a:rPr lang="zh-CN" altLang="en-US" sz="2800" b="1" dirty="0">
                <a:latin typeface="微软雅黑" panose="020B0503020204020204" charset="-122"/>
                <a:ea typeface="微软雅黑" panose="020B0503020204020204" charset="-122"/>
                <a:cs typeface="微软雅黑" panose="020B0503020204020204" charset="-122"/>
              </a:rPr>
            </a:br>
            <a:endParaRPr lang="zh-CN" altLang="en-US" sz="2800" b="1">
              <a:latin typeface="微软雅黑" panose="020B0503020204020204" charset="-122"/>
              <a:ea typeface="微软雅黑" panose="020B0503020204020204" charset="-122"/>
              <a:cs typeface="微软雅黑" panose="020B0503020204020204" charset="-122"/>
            </a:endParaRPr>
          </a:p>
        </p:txBody>
      </p:sp>
      <p:sp>
        <p:nvSpPr>
          <p:cNvPr id="272387" name="矩形 770052"/>
          <p:cNvSpPr/>
          <p:nvPr/>
        </p:nvSpPr>
        <p:spPr>
          <a:xfrm>
            <a:off x="0" y="1701483"/>
            <a:ext cx="9144000" cy="0"/>
          </a:xfrm>
          <a:prstGeom prst="rect">
            <a:avLst/>
          </a:prstGeom>
          <a:noFill/>
          <a:ln w="9525">
            <a:noFill/>
          </a:ln>
        </p:spPr>
        <p:txBody>
          <a:bodyPr anchor="t" anchorCtr="0"/>
          <a:p>
            <a:endParaRPr lang="zh-CN" altLang="en-US">
              <a:latin typeface="Arial" panose="020B0604020202020204" pitchFamily="34" charset="0"/>
              <a:ea typeface="宋体" panose="02010600030101010101" pitchFamily="2" charset="-122"/>
            </a:endParaRPr>
          </a:p>
        </p:txBody>
      </p:sp>
      <p:grpSp>
        <p:nvGrpSpPr>
          <p:cNvPr id="272388" name="组合 16"/>
          <p:cNvGrpSpPr/>
          <p:nvPr/>
        </p:nvGrpSpPr>
        <p:grpSpPr>
          <a:xfrm>
            <a:off x="755650" y="2279650"/>
            <a:ext cx="7915430" cy="2915520"/>
            <a:chOff x="1871" y="5168"/>
            <a:chExt cx="10854" cy="3527"/>
          </a:xfrm>
        </p:grpSpPr>
        <p:grpSp>
          <p:nvGrpSpPr>
            <p:cNvPr id="272389" name="组合 10"/>
            <p:cNvGrpSpPr/>
            <p:nvPr/>
          </p:nvGrpSpPr>
          <p:grpSpPr>
            <a:xfrm>
              <a:off x="1871" y="5168"/>
              <a:ext cx="10658" cy="3527"/>
              <a:chOff x="1674" y="2010"/>
              <a:chExt cx="10093" cy="3353"/>
            </a:xfrm>
          </p:grpSpPr>
          <p:pic>
            <p:nvPicPr>
              <p:cNvPr id="272390" name="图片 777220" descr="e8"/>
              <p:cNvPicPr>
                <a:picLocks noChangeAspect="1"/>
              </p:cNvPicPr>
              <p:nvPr/>
            </p:nvPicPr>
            <p:blipFill>
              <a:blip r:embed="rId1"/>
              <a:stretch>
                <a:fillRect/>
              </a:stretch>
            </p:blipFill>
            <p:spPr>
              <a:xfrm>
                <a:off x="1674" y="2010"/>
                <a:ext cx="10093" cy="3353"/>
              </a:xfrm>
              <a:prstGeom prst="rect">
                <a:avLst/>
              </a:prstGeom>
              <a:noFill/>
              <a:ln w="9525">
                <a:noFill/>
              </a:ln>
            </p:spPr>
          </p:pic>
          <p:pic>
            <p:nvPicPr>
              <p:cNvPr id="272391" name="图片 3"/>
              <p:cNvPicPr>
                <a:picLocks noChangeAspect="1"/>
              </p:cNvPicPr>
              <p:nvPr/>
            </p:nvPicPr>
            <p:blipFill>
              <a:blip r:embed="rId2"/>
              <a:stretch>
                <a:fillRect/>
              </a:stretch>
            </p:blipFill>
            <p:spPr>
              <a:xfrm>
                <a:off x="10964" y="4826"/>
                <a:ext cx="690" cy="270"/>
              </a:xfrm>
              <a:prstGeom prst="rect">
                <a:avLst/>
              </a:prstGeom>
              <a:noFill/>
              <a:ln w="9525">
                <a:noFill/>
              </a:ln>
            </p:spPr>
          </p:pic>
          <p:pic>
            <p:nvPicPr>
              <p:cNvPr id="272392" name="图片 6"/>
              <p:cNvPicPr>
                <a:picLocks noChangeAspect="1"/>
              </p:cNvPicPr>
              <p:nvPr/>
            </p:nvPicPr>
            <p:blipFill>
              <a:blip r:embed="rId3"/>
              <a:stretch>
                <a:fillRect/>
              </a:stretch>
            </p:blipFill>
            <p:spPr>
              <a:xfrm>
                <a:off x="11144" y="4909"/>
                <a:ext cx="510" cy="375"/>
              </a:xfrm>
              <a:prstGeom prst="rect">
                <a:avLst/>
              </a:prstGeom>
              <a:noFill/>
              <a:ln w="9525">
                <a:noFill/>
              </a:ln>
            </p:spPr>
          </p:pic>
          <p:pic>
            <p:nvPicPr>
              <p:cNvPr id="272393" name="图片 7"/>
              <p:cNvPicPr>
                <a:picLocks noChangeAspect="1"/>
              </p:cNvPicPr>
              <p:nvPr/>
            </p:nvPicPr>
            <p:blipFill>
              <a:blip r:embed="rId4"/>
              <a:stretch>
                <a:fillRect/>
              </a:stretch>
            </p:blipFill>
            <p:spPr>
              <a:xfrm>
                <a:off x="9662" y="2195"/>
                <a:ext cx="655" cy="378"/>
              </a:xfrm>
              <a:prstGeom prst="rect">
                <a:avLst/>
              </a:prstGeom>
              <a:noFill/>
              <a:ln w="9525">
                <a:noFill/>
              </a:ln>
            </p:spPr>
          </p:pic>
          <p:pic>
            <p:nvPicPr>
              <p:cNvPr id="272394" name="图片 8"/>
              <p:cNvPicPr>
                <a:picLocks noChangeAspect="1"/>
              </p:cNvPicPr>
              <p:nvPr/>
            </p:nvPicPr>
            <p:blipFill>
              <a:blip r:embed="rId4"/>
              <a:stretch>
                <a:fillRect/>
              </a:stretch>
            </p:blipFill>
            <p:spPr>
              <a:xfrm>
                <a:off x="6860" y="2195"/>
                <a:ext cx="655" cy="378"/>
              </a:xfrm>
              <a:prstGeom prst="rect">
                <a:avLst/>
              </a:prstGeom>
              <a:noFill/>
              <a:ln w="9525">
                <a:noFill/>
              </a:ln>
            </p:spPr>
          </p:pic>
          <p:pic>
            <p:nvPicPr>
              <p:cNvPr id="272395" name="图片 9"/>
              <p:cNvPicPr>
                <a:picLocks noChangeAspect="1"/>
              </p:cNvPicPr>
              <p:nvPr/>
            </p:nvPicPr>
            <p:blipFill>
              <a:blip r:embed="rId4"/>
              <a:stretch>
                <a:fillRect/>
              </a:stretch>
            </p:blipFill>
            <p:spPr>
              <a:xfrm>
                <a:off x="4396" y="2195"/>
                <a:ext cx="655" cy="378"/>
              </a:xfrm>
              <a:prstGeom prst="rect">
                <a:avLst/>
              </a:prstGeom>
              <a:noFill/>
              <a:ln w="9525">
                <a:noFill/>
              </a:ln>
            </p:spPr>
          </p:pic>
        </p:grpSp>
        <p:pic>
          <p:nvPicPr>
            <p:cNvPr id="272396" name="图片 1"/>
            <p:cNvPicPr>
              <a:picLocks noChangeAspect="1"/>
            </p:cNvPicPr>
            <p:nvPr/>
          </p:nvPicPr>
          <p:blipFill>
            <a:blip r:embed="rId5"/>
            <a:stretch>
              <a:fillRect/>
            </a:stretch>
          </p:blipFill>
          <p:spPr>
            <a:xfrm>
              <a:off x="12200" y="7695"/>
              <a:ext cx="525" cy="435"/>
            </a:xfrm>
            <a:prstGeom prst="rect">
              <a:avLst/>
            </a:prstGeom>
            <a:noFill/>
            <a:ln w="9525">
              <a:noFill/>
            </a:ln>
          </p:spPr>
        </p:pic>
        <p:pic>
          <p:nvPicPr>
            <p:cNvPr id="272397" name="图片 2"/>
            <p:cNvPicPr>
              <a:picLocks noChangeAspect="1"/>
            </p:cNvPicPr>
            <p:nvPr/>
          </p:nvPicPr>
          <p:blipFill>
            <a:blip r:embed="rId6"/>
            <a:stretch>
              <a:fillRect/>
            </a:stretch>
          </p:blipFill>
          <p:spPr>
            <a:xfrm>
              <a:off x="10306" y="5431"/>
              <a:ext cx="480" cy="330"/>
            </a:xfrm>
            <a:prstGeom prst="rect">
              <a:avLst/>
            </a:prstGeom>
            <a:noFill/>
            <a:ln w="9525">
              <a:noFill/>
            </a:ln>
          </p:spPr>
        </p:pic>
        <p:pic>
          <p:nvPicPr>
            <p:cNvPr id="272398" name="图片 4"/>
            <p:cNvPicPr>
              <a:picLocks noChangeAspect="1"/>
            </p:cNvPicPr>
            <p:nvPr/>
          </p:nvPicPr>
          <p:blipFill>
            <a:blip r:embed="rId6"/>
            <a:stretch>
              <a:fillRect/>
            </a:stretch>
          </p:blipFill>
          <p:spPr>
            <a:xfrm>
              <a:off x="9290" y="8084"/>
              <a:ext cx="480" cy="330"/>
            </a:xfrm>
            <a:prstGeom prst="rect">
              <a:avLst/>
            </a:prstGeom>
            <a:noFill/>
            <a:ln w="9525">
              <a:noFill/>
            </a:ln>
          </p:spPr>
        </p:pic>
        <p:pic>
          <p:nvPicPr>
            <p:cNvPr id="272399" name="图片 5"/>
            <p:cNvPicPr>
              <a:picLocks noChangeAspect="1"/>
            </p:cNvPicPr>
            <p:nvPr/>
          </p:nvPicPr>
          <p:blipFill>
            <a:blip r:embed="rId7"/>
            <a:stretch>
              <a:fillRect/>
            </a:stretch>
          </p:blipFill>
          <p:spPr>
            <a:xfrm>
              <a:off x="7544" y="5397"/>
              <a:ext cx="495" cy="330"/>
            </a:xfrm>
            <a:prstGeom prst="rect">
              <a:avLst/>
            </a:prstGeom>
            <a:noFill/>
            <a:ln w="9525">
              <a:noFill/>
            </a:ln>
          </p:spPr>
        </p:pic>
        <p:pic>
          <p:nvPicPr>
            <p:cNvPr id="272400" name="图片 11"/>
            <p:cNvPicPr>
              <a:picLocks noChangeAspect="1"/>
            </p:cNvPicPr>
            <p:nvPr/>
          </p:nvPicPr>
          <p:blipFill>
            <a:blip r:embed="rId7"/>
            <a:stretch>
              <a:fillRect/>
            </a:stretch>
          </p:blipFill>
          <p:spPr>
            <a:xfrm>
              <a:off x="6538" y="8084"/>
              <a:ext cx="495" cy="330"/>
            </a:xfrm>
            <a:prstGeom prst="rect">
              <a:avLst/>
            </a:prstGeom>
            <a:noFill/>
            <a:ln w="9525">
              <a:noFill/>
            </a:ln>
          </p:spPr>
        </p:pic>
        <p:pic>
          <p:nvPicPr>
            <p:cNvPr id="272401" name="图片 12"/>
            <p:cNvPicPr>
              <a:picLocks noChangeAspect="1"/>
            </p:cNvPicPr>
            <p:nvPr/>
          </p:nvPicPr>
          <p:blipFill>
            <a:blip r:embed="rId8"/>
            <a:stretch>
              <a:fillRect/>
            </a:stretch>
          </p:blipFill>
          <p:spPr>
            <a:xfrm>
              <a:off x="4745" y="5318"/>
              <a:ext cx="450" cy="435"/>
            </a:xfrm>
            <a:prstGeom prst="rect">
              <a:avLst/>
            </a:prstGeom>
            <a:noFill/>
            <a:ln w="9525">
              <a:noFill/>
            </a:ln>
          </p:spPr>
        </p:pic>
        <p:pic>
          <p:nvPicPr>
            <p:cNvPr id="272402" name="图片 13"/>
            <p:cNvPicPr>
              <a:picLocks noChangeAspect="1"/>
            </p:cNvPicPr>
            <p:nvPr/>
          </p:nvPicPr>
          <p:blipFill>
            <a:blip r:embed="rId8"/>
            <a:stretch>
              <a:fillRect/>
            </a:stretch>
          </p:blipFill>
          <p:spPr>
            <a:xfrm>
              <a:off x="3621" y="8130"/>
              <a:ext cx="450" cy="435"/>
            </a:xfrm>
            <a:prstGeom prst="rect">
              <a:avLst/>
            </a:prstGeom>
            <a:noFill/>
            <a:ln w="9525">
              <a:noFill/>
            </a:ln>
          </p:spPr>
        </p:pic>
        <p:pic>
          <p:nvPicPr>
            <p:cNvPr id="272403" name="图片 14"/>
            <p:cNvPicPr>
              <a:picLocks noChangeAspect="1"/>
            </p:cNvPicPr>
            <p:nvPr/>
          </p:nvPicPr>
          <p:blipFill>
            <a:blip r:embed="rId9"/>
            <a:stretch>
              <a:fillRect/>
            </a:stretch>
          </p:blipFill>
          <p:spPr>
            <a:xfrm>
              <a:off x="1871" y="5761"/>
              <a:ext cx="450" cy="405"/>
            </a:xfrm>
            <a:prstGeom prst="rect">
              <a:avLst/>
            </a:prstGeom>
            <a:noFill/>
            <a:ln w="9525">
              <a:noFill/>
            </a:ln>
          </p:spPr>
        </p:pic>
      </p:gr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3409" name="标题 766977"/>
          <p:cNvSpPr>
            <a:spLocks noGrp="1"/>
          </p:cNvSpPr>
          <p:nvPr>
            <p:ph type="title"/>
          </p:nvPr>
        </p:nvSpPr>
        <p:spPr>
          <a:xfrm>
            <a:off x="685483" y="835978"/>
            <a:ext cx="7772400" cy="4968875"/>
          </a:xfrm>
          <a:noFill/>
          <a:ln>
            <a:noFill/>
          </a:ln>
        </p:spPr>
        <p:txBody>
          <a:bodyPr anchor="t" anchorCtr="0"/>
          <a:p>
            <a:pPr algn="l">
              <a:lnSpc>
                <a:spcPct val="130000"/>
              </a:lnSpc>
              <a:buClr>
                <a:schemeClr val="accent2"/>
              </a:buClr>
            </a:pP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例</a:t>
            </a:r>
            <a:r>
              <a:rPr lang="en-US" altLang="zh-CN" sz="2400" b="1" dirty="0">
                <a:solidFill>
                  <a:srgbClr val="0000CC"/>
                </a:solidFill>
                <a:latin typeface="微软雅黑" panose="020B0503020204020204" charset="-122"/>
                <a:ea typeface="微软雅黑" panose="020B0503020204020204" charset="-122"/>
                <a:cs typeface="微软雅黑" panose="020B0503020204020204" charset="-122"/>
              </a:rPr>
              <a:t>5-28</a:t>
            </a: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a:t>
            </a:r>
            <a:r>
              <a:rPr lang="zh-CN" altLang="en-US" sz="2400" b="1" dirty="0">
                <a:latin typeface="微软雅黑" panose="020B0503020204020204" charset="-122"/>
                <a:ea typeface="微软雅黑" panose="020B0503020204020204" charset="-122"/>
                <a:cs typeface="微软雅黑" panose="020B0503020204020204" charset="-122"/>
              </a:rPr>
              <a:t> </a:t>
            </a:r>
            <a:r>
              <a:rPr lang="zh-CN" altLang="en-US" sz="2400" b="1" dirty="0">
                <a:solidFill>
                  <a:srgbClr val="002060"/>
                </a:solidFill>
                <a:latin typeface="微软雅黑" panose="020B0503020204020204" charset="-122"/>
                <a:ea typeface="微软雅黑" panose="020B0503020204020204" charset="-122"/>
                <a:cs typeface="微软雅黑" panose="020B0503020204020204" charset="-122"/>
              </a:rPr>
              <a:t>描述</a:t>
            </a:r>
            <a:r>
              <a:rPr lang="en-US" altLang="zh-CN" sz="2400" b="1" dirty="0">
                <a:solidFill>
                  <a:srgbClr val="002060"/>
                </a:solidFill>
                <a:latin typeface="微软雅黑" panose="020B0503020204020204" charset="-122"/>
                <a:ea typeface="微软雅黑" panose="020B0503020204020204" charset="-122"/>
                <a:cs typeface="微软雅黑" panose="020B0503020204020204" charset="-122"/>
              </a:rPr>
              <a:t>1</a:t>
            </a:r>
            <a:br>
              <a:rPr lang="zh-CN" altLang="en-US" sz="2400" b="1" dirty="0">
                <a:solidFill>
                  <a:srgbClr val="002060"/>
                </a:solidFill>
                <a:latin typeface="微软雅黑" panose="020B0503020204020204" charset="-122"/>
                <a:ea typeface="微软雅黑" panose="020B0503020204020204" charset="-122"/>
                <a:cs typeface="微软雅黑" panose="020B0503020204020204" charset="-122"/>
              </a:rPr>
            </a:br>
            <a:r>
              <a:rPr lang="en-US" altLang="zh-CN" sz="2400" b="1">
                <a:latin typeface="微软雅黑" panose="020B0503020204020204" charset="-122"/>
                <a:ea typeface="微软雅黑" panose="020B0503020204020204" charset="-122"/>
                <a:cs typeface="微软雅黑" panose="020B0503020204020204" charset="-122"/>
              </a:rPr>
              <a:t>architecture  behavioral of adder4 IS</a:t>
            </a:r>
            <a:br>
              <a:rPr lang="en-US" altLang="zh-CN" sz="2400" b="1">
                <a:latin typeface="微软雅黑" panose="020B0503020204020204" charset="-122"/>
                <a:ea typeface="微软雅黑" panose="020B0503020204020204" charset="-122"/>
                <a:cs typeface="微软雅黑" panose="020B0503020204020204" charset="-122"/>
              </a:rPr>
            </a:br>
            <a:r>
              <a:rPr lang="en-US" altLang="zh-CN" sz="2400" b="1" err="1">
                <a:solidFill>
                  <a:schemeClr val="accent2"/>
                </a:solidFill>
                <a:latin typeface="微软雅黑" panose="020B0503020204020204" charset="-122"/>
                <a:ea typeface="微软雅黑" panose="020B0503020204020204" charset="-122"/>
                <a:cs typeface="微软雅黑" panose="020B0503020204020204" charset="-122"/>
              </a:rPr>
              <a:t>signal c: std_logic_vector( 4 downto</a:t>
            </a:r>
            <a:r>
              <a:rPr lang="en-US" altLang="zh-CN" sz="2400" b="1">
                <a:solidFill>
                  <a:schemeClr val="accent2"/>
                </a:solidFill>
                <a:latin typeface="微软雅黑" panose="020B0503020204020204" charset="-122"/>
                <a:ea typeface="微软雅黑" panose="020B0503020204020204" charset="-122"/>
                <a:cs typeface="微软雅黑" panose="020B0503020204020204" charset="-122"/>
              </a:rPr>
              <a:t> 0);</a:t>
            </a:r>
            <a:br>
              <a:rPr lang="en-US" altLang="zh-CN" sz="2400" b="1">
                <a:solidFill>
                  <a:schemeClr val="accent2"/>
                </a:solidFill>
                <a:latin typeface="微软雅黑" panose="020B0503020204020204" charset="-122"/>
                <a:ea typeface="微软雅黑" panose="020B0503020204020204" charset="-122"/>
                <a:cs typeface="微软雅黑" panose="020B0503020204020204" charset="-122"/>
              </a:rPr>
            </a:br>
            <a:r>
              <a:rPr lang="en-US" altLang="zh-CN" sz="2400" b="1" err="1">
                <a:latin typeface="微软雅黑" panose="020B0503020204020204" charset="-122"/>
                <a:ea typeface="微软雅黑" panose="020B0503020204020204" charset="-122"/>
                <a:cs typeface="微软雅黑" panose="020B0503020204020204" charset="-122"/>
              </a:rPr>
              <a:t>component adder1 is </a:t>
            </a:r>
            <a:br>
              <a:rPr lang="en-US" altLang="zh-CN" sz="2400" b="1" err="1">
                <a:latin typeface="微软雅黑" panose="020B0503020204020204" charset="-122"/>
                <a:ea typeface="微软雅黑" panose="020B0503020204020204" charset="-122"/>
                <a:cs typeface="微软雅黑" panose="020B0503020204020204" charset="-122"/>
              </a:rPr>
            </a:br>
            <a:r>
              <a:rPr lang="en-US" altLang="zh-CN" sz="2400" b="1" err="1">
                <a:latin typeface="微软雅黑" panose="020B0503020204020204" charset="-122"/>
                <a:ea typeface="微软雅黑" panose="020B0503020204020204" charset="-122"/>
                <a:cs typeface="微软雅黑" panose="020B0503020204020204" charset="-122"/>
              </a:rPr>
              <a:t>port ( a : in std_logic;</a:t>
            </a:r>
            <a:br>
              <a:rPr lang="en-US" altLang="zh-CN" sz="2400" b="1" err="1">
                <a:latin typeface="微软雅黑" panose="020B0503020204020204" charset="-122"/>
                <a:ea typeface="微软雅黑" panose="020B0503020204020204" charset="-122"/>
                <a:cs typeface="微软雅黑" panose="020B0503020204020204" charset="-122"/>
              </a:rPr>
            </a:br>
            <a:r>
              <a:rPr lang="en-US" altLang="zh-CN" sz="2400" b="1" err="1">
                <a:latin typeface="微软雅黑" panose="020B0503020204020204" charset="-122"/>
                <a:ea typeface="微软雅黑" panose="020B0503020204020204" charset="-122"/>
                <a:cs typeface="微软雅黑" panose="020B0503020204020204" charset="-122"/>
              </a:rPr>
              <a:t>           b : in std_logic;</a:t>
            </a:r>
            <a:br>
              <a:rPr lang="en-US" altLang="zh-CN" sz="2400" b="1" err="1">
                <a:latin typeface="微软雅黑" panose="020B0503020204020204" charset="-122"/>
                <a:ea typeface="微软雅黑" panose="020B0503020204020204" charset="-122"/>
                <a:cs typeface="微软雅黑" panose="020B0503020204020204" charset="-122"/>
              </a:rPr>
            </a:br>
            <a:r>
              <a:rPr lang="en-US" altLang="zh-CN" sz="2400" b="1" err="1">
                <a:latin typeface="微软雅黑" panose="020B0503020204020204" charset="-122"/>
                <a:ea typeface="微软雅黑" panose="020B0503020204020204" charset="-122"/>
                <a:cs typeface="微软雅黑" panose="020B0503020204020204" charset="-122"/>
              </a:rPr>
              <a:t>           ci: in std_logic;</a:t>
            </a:r>
            <a:br>
              <a:rPr lang="en-US" altLang="zh-CN" sz="2400" b="1" err="1">
                <a:latin typeface="微软雅黑" panose="020B0503020204020204" charset="-122"/>
                <a:ea typeface="微软雅黑" panose="020B0503020204020204" charset="-122"/>
                <a:cs typeface="微软雅黑" panose="020B0503020204020204" charset="-122"/>
              </a:rPr>
            </a:br>
            <a:r>
              <a:rPr lang="en-US" altLang="zh-CN" sz="2400" b="1" err="1">
                <a:latin typeface="微软雅黑" panose="020B0503020204020204" charset="-122"/>
                <a:ea typeface="微软雅黑" panose="020B0503020204020204" charset="-122"/>
                <a:cs typeface="微软雅黑" panose="020B0503020204020204" charset="-122"/>
              </a:rPr>
              <a:t>           co: out std_logic;</a:t>
            </a:r>
            <a:br>
              <a:rPr lang="en-US" altLang="zh-CN" sz="2400" b="1" err="1">
                <a:latin typeface="微软雅黑" panose="020B0503020204020204" charset="-122"/>
                <a:ea typeface="微软雅黑" panose="020B0503020204020204" charset="-122"/>
                <a:cs typeface="微软雅黑" panose="020B0503020204020204" charset="-122"/>
              </a:rPr>
            </a:br>
            <a:r>
              <a:rPr lang="en-US" altLang="zh-CN" sz="2400" b="1" err="1">
                <a:latin typeface="微软雅黑" panose="020B0503020204020204" charset="-122"/>
                <a:ea typeface="微软雅黑" panose="020B0503020204020204" charset="-122"/>
                <a:cs typeface="微软雅黑" panose="020B0503020204020204" charset="-122"/>
              </a:rPr>
              <a:t>	s : out std_logic</a:t>
            </a:r>
            <a:r>
              <a:rPr lang="en-US" altLang="zh-CN" sz="2400" b="1">
                <a:latin typeface="微软雅黑" panose="020B0503020204020204" charset="-122"/>
                <a:ea typeface="微软雅黑" panose="020B0503020204020204" charset="-122"/>
                <a:cs typeface="微软雅黑" panose="020B0503020204020204" charset="-122"/>
              </a:rPr>
              <a:t>  );</a:t>
            </a:r>
            <a:br>
              <a:rPr lang="en-US" altLang="zh-CN" sz="2400" b="1">
                <a:latin typeface="微软雅黑" panose="020B0503020204020204" charset="-122"/>
                <a:ea typeface="微软雅黑" panose="020B0503020204020204" charset="-122"/>
                <a:cs typeface="微软雅黑" panose="020B0503020204020204" charset="-122"/>
              </a:rPr>
            </a:br>
            <a:r>
              <a:rPr lang="en-US" altLang="zh-CN" sz="2400" b="1">
                <a:latin typeface="微软雅黑" panose="020B0503020204020204" charset="-122"/>
                <a:ea typeface="微软雅黑" panose="020B0503020204020204" charset="-122"/>
                <a:cs typeface="微软雅黑" panose="020B0503020204020204" charset="-122"/>
              </a:rPr>
              <a:t>end component;</a:t>
            </a:r>
            <a:br>
              <a:rPr lang="en-US" altLang="zh-CN" sz="2400" b="1">
                <a:latin typeface="微软雅黑" panose="020B0503020204020204" charset="-122"/>
                <a:ea typeface="微软雅黑" panose="020B0503020204020204" charset="-122"/>
                <a:cs typeface="微软雅黑" panose="020B0503020204020204" charset="-122"/>
              </a:rPr>
            </a:br>
            <a:endParaRPr lang="en-US" altLang="zh-CN" sz="2400" b="1">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4433" name="标题 772097"/>
          <p:cNvSpPr>
            <a:spLocks noGrp="1"/>
          </p:cNvSpPr>
          <p:nvPr>
            <p:ph type="title"/>
          </p:nvPr>
        </p:nvSpPr>
        <p:spPr>
          <a:xfrm>
            <a:off x="35560" y="2564765"/>
            <a:ext cx="8749665" cy="3867785"/>
          </a:xfrm>
          <a:noFill/>
          <a:ln>
            <a:noFill/>
          </a:ln>
        </p:spPr>
        <p:txBody>
          <a:bodyPr anchor="t" anchorCtr="0"/>
          <a:p>
            <a:pPr algn="l">
              <a:lnSpc>
                <a:spcPct val="130000"/>
              </a:lnSpc>
              <a:buClr>
                <a:schemeClr val="accent2"/>
              </a:buClr>
            </a:pPr>
            <a:r>
              <a:rPr lang="zh-CN" altLang="en-US" sz="2400" b="1" dirty="0">
                <a:latin typeface="微软雅黑" panose="020B0503020204020204" charset="-122"/>
                <a:ea typeface="微软雅黑" panose="020B0503020204020204" charset="-122"/>
              </a:rPr>
              <a:t> </a:t>
            </a:r>
            <a:r>
              <a:rPr lang="en-US" altLang="zh-CN" sz="2400" b="1" err="1">
                <a:latin typeface="微软雅黑" panose="020B0503020204020204" charset="-122"/>
                <a:ea typeface="微软雅黑" panose="020B0503020204020204" charset="-122"/>
              </a:rPr>
              <a:t>begin </a:t>
            </a:r>
            <a:br>
              <a:rPr lang="en-US" altLang="zh-CN" sz="2400" b="1" err="1">
                <a:latin typeface="微软雅黑" panose="020B0503020204020204" charset="-122"/>
                <a:ea typeface="微软雅黑" panose="020B0503020204020204" charset="-122"/>
              </a:rPr>
            </a:br>
            <a:r>
              <a:rPr lang="en-US" altLang="zh-CN" sz="2400" b="1" err="1">
                <a:latin typeface="微软雅黑" panose="020B0503020204020204" charset="-122"/>
                <a:ea typeface="微软雅黑" panose="020B0503020204020204" charset="-122"/>
              </a:rPr>
              <a:t>              c(0)&lt;=cin;</a:t>
            </a:r>
            <a:br>
              <a:rPr lang="en-US" altLang="zh-CN" sz="2400" b="1" err="1">
                <a:latin typeface="微软雅黑" panose="020B0503020204020204" charset="-122"/>
                <a:ea typeface="微软雅黑" panose="020B0503020204020204" charset="-122"/>
              </a:rPr>
            </a:br>
            <a:r>
              <a:rPr lang="en-US" altLang="zh-CN" sz="2400" b="1" err="1">
                <a:latin typeface="微软雅黑" panose="020B0503020204020204" charset="-122"/>
                <a:ea typeface="微软雅黑" panose="020B0503020204020204" charset="-122"/>
              </a:rPr>
              <a:t>	   cout&lt;=c(4);</a:t>
            </a:r>
            <a:br>
              <a:rPr lang="en-US" altLang="zh-CN" sz="2400" b="1" err="1">
                <a:latin typeface="微软雅黑" panose="020B0503020204020204" charset="-122"/>
                <a:ea typeface="微软雅黑" panose="020B0503020204020204" charset="-122"/>
              </a:rPr>
            </a:br>
            <a:r>
              <a:rPr lang="en-US" altLang="zh-CN" sz="2400" b="1" err="1">
                <a:latin typeface="微软雅黑" panose="020B0503020204020204" charset="-122"/>
                <a:ea typeface="微软雅黑" panose="020B0503020204020204" charset="-122"/>
              </a:rPr>
              <a:t>adder_gen:  for i in 0 to 3 generate</a:t>
            </a:r>
            <a:br>
              <a:rPr lang="en-US" altLang="zh-CN" sz="2400" b="1" err="1">
                <a:latin typeface="微软雅黑" panose="020B0503020204020204" charset="-122"/>
                <a:ea typeface="微软雅黑" panose="020B0503020204020204" charset="-122"/>
              </a:rPr>
            </a:br>
            <a:br>
              <a:rPr lang="en-US" altLang="zh-CN" sz="2400" b="1" err="1">
                <a:latin typeface="微软雅黑" panose="020B0503020204020204" charset="-122"/>
                <a:ea typeface="微软雅黑" panose="020B0503020204020204" charset="-122"/>
              </a:rPr>
            </a:br>
            <a:br>
              <a:rPr lang="en-US" altLang="zh-CN" sz="2400" b="1">
                <a:solidFill>
                  <a:srgbClr val="FF0000"/>
                </a:solidFill>
                <a:latin typeface="微软雅黑" panose="020B0503020204020204" charset="-122"/>
                <a:ea typeface="微软雅黑" panose="020B0503020204020204" charset="-122"/>
              </a:rPr>
            </a:br>
            <a:r>
              <a:rPr lang="en-US" altLang="zh-CN" sz="2400" b="1">
                <a:latin typeface="微软雅黑" panose="020B0503020204020204" charset="-122"/>
                <a:ea typeface="微软雅黑" panose="020B0503020204020204" charset="-122"/>
              </a:rPr>
              <a:t>end generate;</a:t>
            </a:r>
            <a:br>
              <a:rPr lang="en-US" altLang="zh-CN" sz="2400" b="1">
                <a:latin typeface="微软雅黑" panose="020B0503020204020204" charset="-122"/>
                <a:ea typeface="微软雅黑" panose="020B0503020204020204" charset="-122"/>
              </a:rPr>
            </a:br>
            <a:r>
              <a:rPr lang="en-US" altLang="zh-CN" sz="2400" b="1">
                <a:latin typeface="微软雅黑" panose="020B0503020204020204" charset="-122"/>
                <a:ea typeface="微软雅黑" panose="020B0503020204020204" charset="-122"/>
              </a:rPr>
              <a:t>end behavioral;</a:t>
            </a:r>
            <a:endParaRPr lang="en-US" altLang="zh-CN" sz="2400" b="1">
              <a:latin typeface="微软雅黑" panose="020B0503020204020204" charset="-122"/>
              <a:ea typeface="微软雅黑" panose="020B0503020204020204" charset="-122"/>
            </a:endParaRPr>
          </a:p>
        </p:txBody>
      </p:sp>
      <p:grpSp>
        <p:nvGrpSpPr>
          <p:cNvPr id="272388" name="组合 16"/>
          <p:cNvGrpSpPr/>
          <p:nvPr/>
        </p:nvGrpSpPr>
        <p:grpSpPr>
          <a:xfrm>
            <a:off x="3203575" y="299085"/>
            <a:ext cx="5599430" cy="2216150"/>
            <a:chOff x="1871" y="5168"/>
            <a:chExt cx="10854" cy="3527"/>
          </a:xfrm>
        </p:grpSpPr>
        <p:grpSp>
          <p:nvGrpSpPr>
            <p:cNvPr id="272389" name="组合 10"/>
            <p:cNvGrpSpPr/>
            <p:nvPr/>
          </p:nvGrpSpPr>
          <p:grpSpPr>
            <a:xfrm>
              <a:off x="1871" y="5168"/>
              <a:ext cx="10658" cy="3527"/>
              <a:chOff x="1674" y="2010"/>
              <a:chExt cx="10093" cy="3353"/>
            </a:xfrm>
          </p:grpSpPr>
          <p:pic>
            <p:nvPicPr>
              <p:cNvPr id="272390" name="图片 777220" descr="e8"/>
              <p:cNvPicPr>
                <a:picLocks noChangeAspect="1"/>
              </p:cNvPicPr>
              <p:nvPr/>
            </p:nvPicPr>
            <p:blipFill>
              <a:blip r:embed="rId1"/>
              <a:stretch>
                <a:fillRect/>
              </a:stretch>
            </p:blipFill>
            <p:spPr>
              <a:xfrm>
                <a:off x="1674" y="2010"/>
                <a:ext cx="10093" cy="3353"/>
              </a:xfrm>
              <a:prstGeom prst="rect">
                <a:avLst/>
              </a:prstGeom>
              <a:noFill/>
              <a:ln w="9525">
                <a:noFill/>
              </a:ln>
            </p:spPr>
          </p:pic>
          <p:pic>
            <p:nvPicPr>
              <p:cNvPr id="272391" name="图片 3"/>
              <p:cNvPicPr>
                <a:picLocks noChangeAspect="1"/>
              </p:cNvPicPr>
              <p:nvPr/>
            </p:nvPicPr>
            <p:blipFill>
              <a:blip r:embed="rId2"/>
              <a:stretch>
                <a:fillRect/>
              </a:stretch>
            </p:blipFill>
            <p:spPr>
              <a:xfrm>
                <a:off x="10964" y="4826"/>
                <a:ext cx="690" cy="270"/>
              </a:xfrm>
              <a:prstGeom prst="rect">
                <a:avLst/>
              </a:prstGeom>
              <a:noFill/>
              <a:ln w="9525">
                <a:noFill/>
              </a:ln>
            </p:spPr>
          </p:pic>
          <p:pic>
            <p:nvPicPr>
              <p:cNvPr id="272392" name="图片 6"/>
              <p:cNvPicPr>
                <a:picLocks noChangeAspect="1"/>
              </p:cNvPicPr>
              <p:nvPr/>
            </p:nvPicPr>
            <p:blipFill>
              <a:blip r:embed="rId3"/>
              <a:stretch>
                <a:fillRect/>
              </a:stretch>
            </p:blipFill>
            <p:spPr>
              <a:xfrm>
                <a:off x="11144" y="4909"/>
                <a:ext cx="510" cy="375"/>
              </a:xfrm>
              <a:prstGeom prst="rect">
                <a:avLst/>
              </a:prstGeom>
              <a:noFill/>
              <a:ln w="9525">
                <a:noFill/>
              </a:ln>
            </p:spPr>
          </p:pic>
          <p:pic>
            <p:nvPicPr>
              <p:cNvPr id="272393" name="图片 7"/>
              <p:cNvPicPr>
                <a:picLocks noChangeAspect="1"/>
              </p:cNvPicPr>
              <p:nvPr/>
            </p:nvPicPr>
            <p:blipFill>
              <a:blip r:embed="rId4"/>
              <a:stretch>
                <a:fillRect/>
              </a:stretch>
            </p:blipFill>
            <p:spPr>
              <a:xfrm>
                <a:off x="9662" y="2195"/>
                <a:ext cx="655" cy="378"/>
              </a:xfrm>
              <a:prstGeom prst="rect">
                <a:avLst/>
              </a:prstGeom>
              <a:noFill/>
              <a:ln w="9525">
                <a:noFill/>
              </a:ln>
            </p:spPr>
          </p:pic>
          <p:pic>
            <p:nvPicPr>
              <p:cNvPr id="272394" name="图片 8"/>
              <p:cNvPicPr>
                <a:picLocks noChangeAspect="1"/>
              </p:cNvPicPr>
              <p:nvPr/>
            </p:nvPicPr>
            <p:blipFill>
              <a:blip r:embed="rId4"/>
              <a:stretch>
                <a:fillRect/>
              </a:stretch>
            </p:blipFill>
            <p:spPr>
              <a:xfrm>
                <a:off x="6860" y="2195"/>
                <a:ext cx="655" cy="378"/>
              </a:xfrm>
              <a:prstGeom prst="rect">
                <a:avLst/>
              </a:prstGeom>
              <a:noFill/>
              <a:ln w="9525">
                <a:noFill/>
              </a:ln>
            </p:spPr>
          </p:pic>
          <p:pic>
            <p:nvPicPr>
              <p:cNvPr id="272395" name="图片 9"/>
              <p:cNvPicPr>
                <a:picLocks noChangeAspect="1"/>
              </p:cNvPicPr>
              <p:nvPr/>
            </p:nvPicPr>
            <p:blipFill>
              <a:blip r:embed="rId4"/>
              <a:stretch>
                <a:fillRect/>
              </a:stretch>
            </p:blipFill>
            <p:spPr>
              <a:xfrm>
                <a:off x="4396" y="2195"/>
                <a:ext cx="655" cy="378"/>
              </a:xfrm>
              <a:prstGeom prst="rect">
                <a:avLst/>
              </a:prstGeom>
              <a:noFill/>
              <a:ln w="9525">
                <a:noFill/>
              </a:ln>
            </p:spPr>
          </p:pic>
        </p:grpSp>
        <p:pic>
          <p:nvPicPr>
            <p:cNvPr id="272396" name="图片 1"/>
            <p:cNvPicPr>
              <a:picLocks noChangeAspect="1"/>
            </p:cNvPicPr>
            <p:nvPr/>
          </p:nvPicPr>
          <p:blipFill>
            <a:blip r:embed="rId5"/>
            <a:stretch>
              <a:fillRect/>
            </a:stretch>
          </p:blipFill>
          <p:spPr>
            <a:xfrm>
              <a:off x="12200" y="7695"/>
              <a:ext cx="525" cy="435"/>
            </a:xfrm>
            <a:prstGeom prst="rect">
              <a:avLst/>
            </a:prstGeom>
            <a:noFill/>
            <a:ln w="9525">
              <a:noFill/>
            </a:ln>
          </p:spPr>
        </p:pic>
        <p:pic>
          <p:nvPicPr>
            <p:cNvPr id="272397" name="图片 2"/>
            <p:cNvPicPr>
              <a:picLocks noChangeAspect="1"/>
            </p:cNvPicPr>
            <p:nvPr/>
          </p:nvPicPr>
          <p:blipFill>
            <a:blip r:embed="rId6"/>
            <a:stretch>
              <a:fillRect/>
            </a:stretch>
          </p:blipFill>
          <p:spPr>
            <a:xfrm>
              <a:off x="10306" y="5431"/>
              <a:ext cx="480" cy="330"/>
            </a:xfrm>
            <a:prstGeom prst="rect">
              <a:avLst/>
            </a:prstGeom>
            <a:noFill/>
            <a:ln w="9525">
              <a:noFill/>
            </a:ln>
          </p:spPr>
        </p:pic>
        <p:pic>
          <p:nvPicPr>
            <p:cNvPr id="272398" name="图片 4"/>
            <p:cNvPicPr>
              <a:picLocks noChangeAspect="1"/>
            </p:cNvPicPr>
            <p:nvPr/>
          </p:nvPicPr>
          <p:blipFill>
            <a:blip r:embed="rId6"/>
            <a:stretch>
              <a:fillRect/>
            </a:stretch>
          </p:blipFill>
          <p:spPr>
            <a:xfrm>
              <a:off x="9290" y="8084"/>
              <a:ext cx="480" cy="330"/>
            </a:xfrm>
            <a:prstGeom prst="rect">
              <a:avLst/>
            </a:prstGeom>
            <a:noFill/>
            <a:ln w="9525">
              <a:noFill/>
            </a:ln>
          </p:spPr>
        </p:pic>
        <p:pic>
          <p:nvPicPr>
            <p:cNvPr id="272399" name="图片 5"/>
            <p:cNvPicPr>
              <a:picLocks noChangeAspect="1"/>
            </p:cNvPicPr>
            <p:nvPr/>
          </p:nvPicPr>
          <p:blipFill>
            <a:blip r:embed="rId7"/>
            <a:stretch>
              <a:fillRect/>
            </a:stretch>
          </p:blipFill>
          <p:spPr>
            <a:xfrm>
              <a:off x="7544" y="5397"/>
              <a:ext cx="495" cy="330"/>
            </a:xfrm>
            <a:prstGeom prst="rect">
              <a:avLst/>
            </a:prstGeom>
            <a:noFill/>
            <a:ln w="9525">
              <a:noFill/>
            </a:ln>
          </p:spPr>
        </p:pic>
        <p:pic>
          <p:nvPicPr>
            <p:cNvPr id="272400" name="图片 11"/>
            <p:cNvPicPr>
              <a:picLocks noChangeAspect="1"/>
            </p:cNvPicPr>
            <p:nvPr/>
          </p:nvPicPr>
          <p:blipFill>
            <a:blip r:embed="rId7"/>
            <a:stretch>
              <a:fillRect/>
            </a:stretch>
          </p:blipFill>
          <p:spPr>
            <a:xfrm>
              <a:off x="6538" y="8084"/>
              <a:ext cx="495" cy="330"/>
            </a:xfrm>
            <a:prstGeom prst="rect">
              <a:avLst/>
            </a:prstGeom>
            <a:noFill/>
            <a:ln w="9525">
              <a:noFill/>
            </a:ln>
          </p:spPr>
        </p:pic>
        <p:pic>
          <p:nvPicPr>
            <p:cNvPr id="272401" name="图片 12"/>
            <p:cNvPicPr>
              <a:picLocks noChangeAspect="1"/>
            </p:cNvPicPr>
            <p:nvPr/>
          </p:nvPicPr>
          <p:blipFill>
            <a:blip r:embed="rId8"/>
            <a:stretch>
              <a:fillRect/>
            </a:stretch>
          </p:blipFill>
          <p:spPr>
            <a:xfrm>
              <a:off x="4745" y="5318"/>
              <a:ext cx="450" cy="435"/>
            </a:xfrm>
            <a:prstGeom prst="rect">
              <a:avLst/>
            </a:prstGeom>
            <a:noFill/>
            <a:ln w="9525">
              <a:noFill/>
            </a:ln>
          </p:spPr>
        </p:pic>
        <p:pic>
          <p:nvPicPr>
            <p:cNvPr id="272402" name="图片 13"/>
            <p:cNvPicPr>
              <a:picLocks noChangeAspect="1"/>
            </p:cNvPicPr>
            <p:nvPr/>
          </p:nvPicPr>
          <p:blipFill>
            <a:blip r:embed="rId8"/>
            <a:stretch>
              <a:fillRect/>
            </a:stretch>
          </p:blipFill>
          <p:spPr>
            <a:xfrm>
              <a:off x="3621" y="8130"/>
              <a:ext cx="450" cy="435"/>
            </a:xfrm>
            <a:prstGeom prst="rect">
              <a:avLst/>
            </a:prstGeom>
            <a:noFill/>
            <a:ln w="9525">
              <a:noFill/>
            </a:ln>
          </p:spPr>
        </p:pic>
        <p:pic>
          <p:nvPicPr>
            <p:cNvPr id="272403" name="图片 14"/>
            <p:cNvPicPr>
              <a:picLocks noChangeAspect="1"/>
            </p:cNvPicPr>
            <p:nvPr/>
          </p:nvPicPr>
          <p:blipFill>
            <a:blip r:embed="rId9"/>
            <a:stretch>
              <a:fillRect/>
            </a:stretch>
          </p:blipFill>
          <p:spPr>
            <a:xfrm>
              <a:off x="1871" y="5761"/>
              <a:ext cx="450" cy="405"/>
            </a:xfrm>
            <a:prstGeom prst="rect">
              <a:avLst/>
            </a:prstGeom>
            <a:noFill/>
            <a:ln w="9525">
              <a:noFill/>
            </a:ln>
          </p:spPr>
        </p:pic>
      </p:grpSp>
      <p:sp>
        <p:nvSpPr>
          <p:cNvPr id="2" name="文本框 1"/>
          <p:cNvSpPr txBox="1"/>
          <p:nvPr/>
        </p:nvSpPr>
        <p:spPr>
          <a:xfrm>
            <a:off x="135255" y="4619625"/>
            <a:ext cx="8973185" cy="829945"/>
          </a:xfrm>
          <a:prstGeom prst="rect">
            <a:avLst/>
          </a:prstGeom>
          <a:noFill/>
        </p:spPr>
        <p:txBody>
          <a:bodyPr wrap="square" rtlCol="0">
            <a:spAutoFit/>
          </a:bodyPr>
          <a:p>
            <a:r>
              <a:rPr kumimoji="1" lang="en-US" altLang="zh-CN" sz="2400" err="1">
                <a:solidFill>
                  <a:srgbClr val="FF0000"/>
                </a:solidFill>
                <a:latin typeface="微软雅黑" panose="020B0503020204020204" charset="-122"/>
                <a:ea typeface="微软雅黑" panose="020B0503020204020204" charset="-122"/>
                <a:cs typeface="+mj-cs"/>
                <a:sym typeface="+mn-ea"/>
              </a:rPr>
              <a:t>U:  adder1 </a:t>
            </a:r>
            <a:br>
              <a:rPr kumimoji="1" lang="en-US" altLang="zh-CN" sz="2400" err="1">
                <a:solidFill>
                  <a:srgbClr val="FF0000"/>
                </a:solidFill>
                <a:latin typeface="微软雅黑" panose="020B0503020204020204" charset="-122"/>
                <a:ea typeface="微软雅黑" panose="020B0503020204020204" charset="-122"/>
                <a:cs typeface="+mj-cs"/>
                <a:sym typeface="+mn-ea"/>
              </a:rPr>
            </a:br>
            <a:r>
              <a:rPr kumimoji="1" lang="en-US" altLang="zh-CN" sz="2400" err="1">
                <a:solidFill>
                  <a:srgbClr val="FF0000"/>
                </a:solidFill>
                <a:latin typeface="微软雅黑" panose="020B0503020204020204" charset="-122"/>
                <a:ea typeface="微软雅黑" panose="020B0503020204020204" charset="-122"/>
                <a:cs typeface="+mj-cs"/>
                <a:sym typeface="+mn-ea"/>
              </a:rPr>
              <a:t>port map(a=&gt;a(i),b=&gt;b(i),ci=&gt;c(i),co=&gt;c(i+1),s=&gt;s(i</a:t>
            </a:r>
            <a:r>
              <a:rPr kumimoji="1" lang="en-US" altLang="zh-CN" sz="2400">
                <a:solidFill>
                  <a:srgbClr val="FF0000"/>
                </a:solidFill>
                <a:latin typeface="微软雅黑" panose="020B0503020204020204" charset="-122"/>
                <a:ea typeface="微软雅黑" panose="020B0503020204020204" charset="-122"/>
                <a:cs typeface="+mj-cs"/>
                <a:sym typeface="+mn-ea"/>
              </a:rPr>
              <a:t>));</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2388"/>
                                        </p:tgtEl>
                                        <p:attrNameLst>
                                          <p:attrName>style.visibility</p:attrName>
                                        </p:attrNameLst>
                                      </p:cBhvr>
                                      <p:to>
                                        <p:strVal val="visible"/>
                                      </p:to>
                                    </p:set>
                                    <p:anim calcmode="lin" valueType="num">
                                      <p:cBhvr additive="base">
                                        <p:cTn id="7" dur="500" fill="hold"/>
                                        <p:tgtEl>
                                          <p:spTgt spid="272388"/>
                                        </p:tgtEl>
                                        <p:attrNameLst>
                                          <p:attrName>ppt_x</p:attrName>
                                        </p:attrNameLst>
                                      </p:cBhvr>
                                      <p:tavLst>
                                        <p:tav tm="0">
                                          <p:val>
                                            <p:strVal val="#ppt_x"/>
                                          </p:val>
                                        </p:tav>
                                        <p:tav tm="100000">
                                          <p:val>
                                            <p:strVal val="#ppt_x"/>
                                          </p:val>
                                        </p:tav>
                                      </p:tavLst>
                                    </p:anim>
                                    <p:anim calcmode="lin" valueType="num">
                                      <p:cBhvr additive="base">
                                        <p:cTn id="8" dur="500" fill="hold"/>
                                        <p:tgtEl>
                                          <p:spTgt spid="27238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3" grpId="1"/>
      <p:bldP spid="2" grpId="0"/>
      <p:bldP spid="2"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5457" name="标题 766977"/>
          <p:cNvSpPr>
            <a:spLocks noGrp="1"/>
          </p:cNvSpPr>
          <p:nvPr>
            <p:ph type="title"/>
          </p:nvPr>
        </p:nvSpPr>
        <p:spPr>
          <a:xfrm>
            <a:off x="179388" y="1340803"/>
            <a:ext cx="7772400" cy="585787"/>
          </a:xfrm>
          <a:noFill/>
          <a:ln>
            <a:noFill/>
          </a:ln>
        </p:spPr>
        <p:txBody>
          <a:bodyPr anchor="t" anchorCtr="0"/>
          <a:p>
            <a:pPr algn="l">
              <a:lnSpc>
                <a:spcPct val="130000"/>
              </a:lnSpc>
              <a:buClr>
                <a:schemeClr val="accent2"/>
              </a:buClr>
            </a:pP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例</a:t>
            </a:r>
            <a:r>
              <a:rPr lang="en-US" altLang="zh-CN" sz="2400" b="1" dirty="0">
                <a:solidFill>
                  <a:srgbClr val="0000CC"/>
                </a:solidFill>
                <a:latin typeface="微软雅黑" panose="020B0503020204020204" charset="-122"/>
                <a:ea typeface="微软雅黑" panose="020B0503020204020204" charset="-122"/>
                <a:cs typeface="微软雅黑" panose="020B0503020204020204" charset="-122"/>
              </a:rPr>
              <a:t>5-28</a:t>
            </a: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a:t>
            </a:r>
            <a:r>
              <a:rPr lang="zh-CN" altLang="en-US" sz="2400" b="1" dirty="0">
                <a:latin typeface="微软雅黑" panose="020B0503020204020204" charset="-122"/>
                <a:ea typeface="微软雅黑" panose="020B0503020204020204" charset="-122"/>
                <a:cs typeface="微软雅黑" panose="020B0503020204020204" charset="-122"/>
              </a:rPr>
              <a:t> </a:t>
            </a:r>
            <a:r>
              <a:rPr lang="zh-CN" altLang="en-US" sz="2400" b="1" dirty="0">
                <a:solidFill>
                  <a:srgbClr val="002060"/>
                </a:solidFill>
                <a:latin typeface="微软雅黑" panose="020B0503020204020204" charset="-122"/>
                <a:ea typeface="微软雅黑" panose="020B0503020204020204" charset="-122"/>
                <a:cs typeface="微软雅黑" panose="020B0503020204020204" charset="-122"/>
              </a:rPr>
              <a:t>描述</a:t>
            </a:r>
            <a:r>
              <a:rPr lang="en-US" altLang="zh-CN" sz="2400" b="1" dirty="0">
                <a:solidFill>
                  <a:srgbClr val="002060"/>
                </a:solidFill>
                <a:latin typeface="微软雅黑" panose="020B0503020204020204" charset="-122"/>
                <a:ea typeface="微软雅黑" panose="020B0503020204020204" charset="-122"/>
                <a:cs typeface="微软雅黑" panose="020B0503020204020204" charset="-122"/>
              </a:rPr>
              <a:t>2</a:t>
            </a:r>
            <a:br>
              <a:rPr lang="zh-CN" altLang="en-US" sz="2400" b="1" dirty="0">
                <a:solidFill>
                  <a:srgbClr val="002060"/>
                </a:solidFill>
                <a:latin typeface="微软雅黑" panose="020B0503020204020204" charset="-122"/>
                <a:ea typeface="微软雅黑" panose="020B0503020204020204" charset="-122"/>
                <a:cs typeface="微软雅黑" panose="020B0503020204020204" charset="-122"/>
              </a:rPr>
            </a:br>
            <a:endParaRPr lang="en-US" altLang="zh-CN" sz="2400" b="1">
              <a:latin typeface="微软雅黑" panose="020B0503020204020204" charset="-122"/>
              <a:ea typeface="微软雅黑" panose="020B0503020204020204" charset="-122"/>
              <a:cs typeface="微软雅黑" panose="020B0503020204020204" charset="-122"/>
            </a:endParaRPr>
          </a:p>
        </p:txBody>
      </p:sp>
      <p:sp>
        <p:nvSpPr>
          <p:cNvPr id="17411" name="Rectangle 3"/>
          <p:cNvSpPr>
            <a:spLocks noGrp="1" noChangeArrowheads="1"/>
          </p:cNvSpPr>
          <p:nvPr/>
        </p:nvSpPr>
        <p:spPr>
          <a:xfrm>
            <a:off x="35560" y="2205355"/>
            <a:ext cx="9131300" cy="4392613"/>
          </a:xfrm>
          <a:prstGeom prst="rect">
            <a:avLst/>
          </a:prstGeom>
          <a:noFill/>
          <a:ln>
            <a:noFill/>
          </a:ln>
        </p:spPr>
        <p:txBody>
          <a:bodyPr vert="horz" wrap="square" lIns="91440" tIns="45720" rIns="91440" bIns="45720" numCol="1" anchor="t" anchorCtr="0" compatLnSpc="1"/>
          <a:lstStyle>
            <a:lvl1pPr marL="342900" indent="-342900" algn="l" rtl="0" fontAlgn="base">
              <a:spcBef>
                <a:spcPct val="20000"/>
              </a:spcBef>
              <a:spcAft>
                <a:spcPct val="0"/>
              </a:spcAft>
              <a:buClr>
                <a:srgbClr val="7DA0D3"/>
              </a:buClr>
              <a:buFont typeface="Wingdings" panose="05000000000000000000" pitchFamily="2" charset="2"/>
              <a:buChar char="v"/>
              <a:defRPr sz="2800">
                <a:solidFill>
                  <a:srgbClr val="000000"/>
                </a:solidFill>
                <a:latin typeface="Arial" panose="020B0604020202020204" pitchFamily="34" charset="0"/>
                <a:ea typeface="微软雅黑" panose="020B0503020204020204" charset="-122"/>
                <a:cs typeface="+mn-ea"/>
              </a:defRPr>
            </a:lvl1pPr>
            <a:lvl2pPr marL="742950" indent="-285750" algn="l" rtl="0" fontAlgn="base">
              <a:spcBef>
                <a:spcPct val="20000"/>
              </a:spcBef>
              <a:spcAft>
                <a:spcPct val="0"/>
              </a:spcAft>
              <a:buClr>
                <a:srgbClr val="65AAE9"/>
              </a:buClr>
              <a:buFont typeface="Wingdings" panose="05000000000000000000" pitchFamily="2" charset="2"/>
              <a:buChar char="§"/>
              <a:defRPr sz="2400">
                <a:solidFill>
                  <a:srgbClr val="000000"/>
                </a:solidFill>
                <a:latin typeface="Arial" panose="020B0604020202020204" pitchFamily="34" charset="0"/>
                <a:ea typeface="微软雅黑" panose="020B0503020204020204" charset="-122"/>
              </a:defRPr>
            </a:lvl2pPr>
            <a:lvl3pPr marL="1143000" indent="-228600" algn="l" rtl="0" fontAlgn="base">
              <a:spcBef>
                <a:spcPct val="20000"/>
              </a:spcBef>
              <a:spcAft>
                <a:spcPct val="0"/>
              </a:spcAft>
              <a:buClr>
                <a:srgbClr val="000000"/>
              </a:buClr>
              <a:buChar char="•"/>
              <a:defRPr sz="2200">
                <a:solidFill>
                  <a:srgbClr val="000000"/>
                </a:solidFill>
                <a:latin typeface="Arial" panose="020B0604020202020204" pitchFamily="34" charset="0"/>
                <a:ea typeface="微软雅黑" panose="020B0503020204020204" charset="-122"/>
              </a:defRPr>
            </a:lvl3pPr>
            <a:lvl4pPr marL="1600200" indent="-228600" algn="l" rtl="0" fontAlgn="base">
              <a:spcBef>
                <a:spcPct val="20000"/>
              </a:spcBef>
              <a:spcAft>
                <a:spcPct val="0"/>
              </a:spcAft>
              <a:buChar char="–"/>
              <a:defRPr sz="2000">
                <a:solidFill>
                  <a:srgbClr val="000000"/>
                </a:solidFill>
                <a:latin typeface="Arial" panose="020B0604020202020204" pitchFamily="34" charset="0"/>
                <a:ea typeface="微软雅黑" panose="020B0503020204020204" charset="-122"/>
              </a:defRPr>
            </a:lvl4pPr>
            <a:lvl5pPr marL="2057400" indent="-228600" algn="l" rtl="0" fontAlgn="base">
              <a:spcBef>
                <a:spcPct val="20000"/>
              </a:spcBef>
              <a:spcAft>
                <a:spcPct val="0"/>
              </a:spcAft>
              <a:buChar char="»"/>
              <a:defRPr sz="2000">
                <a:solidFill>
                  <a:srgbClr val="000000"/>
                </a:solidFill>
                <a:latin typeface="Arial" panose="020B0604020202020204" pitchFamily="34" charset="0"/>
                <a:ea typeface="微软雅黑" panose="020B0503020204020204" charset="-122"/>
              </a:defRPr>
            </a:lvl5pPr>
            <a:lvl6pPr marL="2514600" indent="-228600" algn="l" rtl="0" fontAlgn="base">
              <a:spcBef>
                <a:spcPct val="20000"/>
              </a:spcBef>
              <a:spcAft>
                <a:spcPct val="0"/>
              </a:spcAft>
              <a:buChar char="»"/>
              <a:defRPr sz="2000">
                <a:solidFill>
                  <a:srgbClr val="000000"/>
                </a:solidFill>
                <a:latin typeface="Arial" panose="020B0604020202020204" pitchFamily="34" charset="0"/>
                <a:ea typeface="微软雅黑" panose="020B0503020204020204" charset="-122"/>
              </a:defRPr>
            </a:lvl6pPr>
            <a:lvl7pPr marL="2971800" indent="-228600" algn="l" rtl="0" fontAlgn="base">
              <a:spcBef>
                <a:spcPct val="20000"/>
              </a:spcBef>
              <a:spcAft>
                <a:spcPct val="0"/>
              </a:spcAft>
              <a:buChar char="»"/>
              <a:defRPr sz="2000">
                <a:solidFill>
                  <a:srgbClr val="000000"/>
                </a:solidFill>
                <a:latin typeface="Arial" panose="020B0604020202020204" pitchFamily="34" charset="0"/>
                <a:ea typeface="微软雅黑" panose="020B0503020204020204" charset="-122"/>
              </a:defRPr>
            </a:lvl7pPr>
            <a:lvl8pPr marL="3429000" indent="-228600" algn="l" rtl="0" fontAlgn="base">
              <a:spcBef>
                <a:spcPct val="20000"/>
              </a:spcBef>
              <a:spcAft>
                <a:spcPct val="0"/>
              </a:spcAft>
              <a:buChar char="»"/>
              <a:defRPr sz="2000">
                <a:solidFill>
                  <a:srgbClr val="000000"/>
                </a:solidFill>
                <a:latin typeface="Arial" panose="020B0604020202020204" pitchFamily="34" charset="0"/>
                <a:ea typeface="微软雅黑" panose="020B0503020204020204" charset="-122"/>
              </a:defRPr>
            </a:lvl8pPr>
            <a:lvl9pPr marL="3886200" indent="-228600" algn="l" rtl="0" fontAlgn="base">
              <a:spcBef>
                <a:spcPct val="20000"/>
              </a:spcBef>
              <a:spcAft>
                <a:spcPct val="0"/>
              </a:spcAft>
              <a:buChar char="»"/>
              <a:defRPr sz="2000">
                <a:solidFill>
                  <a:srgbClr val="000000"/>
                </a:solidFill>
                <a:latin typeface="Arial" panose="020B0604020202020204" pitchFamily="34" charset="0"/>
                <a:ea typeface="微软雅黑" panose="020B0503020204020204" charset="-122"/>
              </a:defRPr>
            </a:lvl9pPr>
          </a:lstStyle>
          <a:p>
            <a:pPr marL="0" indent="0" fontAlgn="base">
              <a:buNone/>
            </a:pPr>
            <a:r>
              <a:rPr lang="en-US" altLang="zh-CN" sz="2400" b="1"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rPr>
              <a:t>architecture ARCHI of EXAMPLE is</a:t>
            </a:r>
            <a:endParaRPr lang="zh-CN" altLang="zh-CN" sz="2400" b="1" strike="noStrike" noProof="1" dirty="0">
              <a:solidFill>
                <a:schemeClr val="tx1"/>
              </a:solidFill>
              <a:latin typeface="Times New Roman" panose="02020603050405020304" pitchFamily="18" charset="0"/>
              <a:cs typeface="Times New Roman" panose="02020603050405020304" pitchFamily="18" charset="0"/>
            </a:endParaRPr>
          </a:p>
          <a:p>
            <a:pPr marL="0" indent="0" fontAlgn="base">
              <a:buNone/>
            </a:pPr>
            <a:r>
              <a:rPr lang="en-US" altLang="zh-CN" sz="2400" b="1" strike="noStrike" noProof="1"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b="1" strike="noStrike" noProof="1" dirty="0">
                <a:solidFill>
                  <a:schemeClr val="accent6"/>
                </a:solidFill>
                <a:latin typeface="Times New Roman" panose="02020603050405020304" pitchFamily="18" charset="0"/>
                <a:ea typeface="微软雅黑" panose="020B0503020204020204" charset="-122"/>
                <a:cs typeface="Times New Roman" panose="02020603050405020304" pitchFamily="18" charset="0"/>
              </a:rPr>
              <a:t>signal</a:t>
            </a:r>
            <a:r>
              <a:rPr lang="en-US" altLang="zh-CN" sz="2400" b="1" strike="noStrike" noProof="1" dirty="0" smtClean="0">
                <a:solidFill>
                  <a:schemeClr val="accent6"/>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b="1" strike="noStrike" noProof="1" dirty="0">
                <a:solidFill>
                  <a:schemeClr val="accent6"/>
                </a:solidFill>
                <a:latin typeface="Times New Roman" panose="02020603050405020304" pitchFamily="18" charset="0"/>
                <a:ea typeface="微软雅黑" panose="020B0503020204020204" charset="-122"/>
                <a:cs typeface="Times New Roman" panose="02020603050405020304" pitchFamily="18" charset="0"/>
              </a:rPr>
              <a:t>C : BIT_VECTOR (0 to 4);</a:t>
            </a:r>
            <a:endParaRPr lang="zh-CN" altLang="zh-CN" sz="2400" b="1" strike="noStrike" noProof="1" dirty="0">
              <a:solidFill>
                <a:schemeClr val="accent6"/>
              </a:solidFill>
              <a:latin typeface="Times New Roman" panose="02020603050405020304" pitchFamily="18" charset="0"/>
              <a:cs typeface="Times New Roman" panose="02020603050405020304" pitchFamily="18" charset="0"/>
            </a:endParaRPr>
          </a:p>
          <a:p>
            <a:pPr marL="0" indent="0" fontAlgn="base">
              <a:buNone/>
            </a:pPr>
            <a:r>
              <a:rPr lang="en-US" altLang="zh-CN" sz="2400" b="1"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rPr>
              <a:t>begin</a:t>
            </a:r>
            <a:endParaRPr lang="zh-CN" altLang="zh-CN" sz="2400" b="1" strike="noStrike" noProof="1" dirty="0">
              <a:solidFill>
                <a:schemeClr val="tx1"/>
              </a:solidFill>
              <a:latin typeface="Times New Roman" panose="02020603050405020304" pitchFamily="18" charset="0"/>
              <a:cs typeface="Times New Roman" panose="02020603050405020304" pitchFamily="18" charset="0"/>
            </a:endParaRPr>
          </a:p>
          <a:p>
            <a:pPr marL="0" indent="0" fontAlgn="base">
              <a:buNone/>
            </a:pPr>
            <a:r>
              <a:rPr lang="en-US" altLang="zh-CN" sz="2400" b="1" strike="noStrike" noProof="1"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    C(0</a:t>
            </a:r>
            <a:r>
              <a:rPr lang="en-US" altLang="zh-CN" sz="2400" b="1"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rPr>
              <a:t>) &lt;= CIN;</a:t>
            </a:r>
            <a:endParaRPr lang="zh-CN" altLang="zh-CN" sz="2400" b="1" strike="noStrike" noProof="1" dirty="0">
              <a:solidFill>
                <a:schemeClr val="tx1"/>
              </a:solidFill>
              <a:latin typeface="Times New Roman" panose="02020603050405020304" pitchFamily="18" charset="0"/>
              <a:cs typeface="Times New Roman" panose="02020603050405020304" pitchFamily="18" charset="0"/>
            </a:endParaRPr>
          </a:p>
          <a:p>
            <a:pPr marL="0" indent="0" fontAlgn="base">
              <a:buNone/>
            </a:pPr>
            <a:r>
              <a:rPr lang="en-US" altLang="zh-CN" sz="2400" b="1" strike="noStrike" noProof="1"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    COUT </a:t>
            </a:r>
            <a:r>
              <a:rPr lang="en-US" altLang="zh-CN" sz="2400" b="1"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rPr>
              <a:t>&lt;= C(4);</a:t>
            </a:r>
            <a:endParaRPr lang="zh-CN" altLang="zh-CN" sz="2400" b="1" strike="noStrike" noProof="1" dirty="0">
              <a:solidFill>
                <a:schemeClr val="tx1"/>
              </a:solidFill>
              <a:latin typeface="Times New Roman" panose="02020603050405020304" pitchFamily="18" charset="0"/>
              <a:cs typeface="Times New Roman" panose="02020603050405020304" pitchFamily="18" charset="0"/>
            </a:endParaRPr>
          </a:p>
          <a:p>
            <a:pPr marL="0" indent="0" fontAlgn="base">
              <a:buNone/>
            </a:pPr>
            <a:r>
              <a:rPr lang="en-US" altLang="zh-CN" sz="2400" b="1" strike="noStrike" noProof="1"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    LOOP_ADD </a:t>
            </a:r>
            <a:r>
              <a:rPr lang="en-US" altLang="zh-CN" sz="2400" b="1"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rPr>
              <a:t>: for I in 0 to 3 generate</a:t>
            </a:r>
            <a:endParaRPr lang="zh-CN" altLang="zh-CN" sz="2400" b="1" strike="noStrike" noProof="1" dirty="0">
              <a:solidFill>
                <a:schemeClr val="tx1"/>
              </a:solidFill>
              <a:latin typeface="Times New Roman" panose="02020603050405020304" pitchFamily="18" charset="0"/>
              <a:cs typeface="Times New Roman" panose="02020603050405020304" pitchFamily="18" charset="0"/>
            </a:endParaRPr>
          </a:p>
          <a:p>
            <a:pPr marL="0" indent="0" fontAlgn="base">
              <a:buNone/>
            </a:pPr>
            <a:r>
              <a:rPr lang="en-US" altLang="zh-CN" sz="2400" b="1" strike="noStrike" noProof="1"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        </a:t>
            </a:r>
            <a:endParaRPr lang="en-US" altLang="zh-CN" sz="2400" b="1" strike="noStrike" noProof="1"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endParaRPr>
          </a:p>
          <a:p>
            <a:pPr marL="0" indent="0" fontAlgn="base">
              <a:buNone/>
            </a:pPr>
            <a:endParaRPr lang="en-US" altLang="zh-CN" sz="2400" b="1" strike="noStrike" noProof="1"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endParaRPr>
          </a:p>
          <a:p>
            <a:pPr marL="0" indent="0" fontAlgn="base">
              <a:buNone/>
            </a:pPr>
            <a:r>
              <a:rPr lang="en-US" altLang="zh-CN" sz="2400" b="1" strike="noStrike" noProof="1"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b="1"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rPr>
              <a:t>end</a:t>
            </a:r>
            <a:r>
              <a:rPr lang="en-US" altLang="zh-CN" sz="2400" b="1" strike="noStrike" noProof="1"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b="1"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rPr>
              <a:t>generate;</a:t>
            </a:r>
            <a:endParaRPr lang="zh-CN" altLang="zh-CN" sz="2400" b="1" strike="noStrike" noProof="1" dirty="0">
              <a:solidFill>
                <a:schemeClr val="tx1"/>
              </a:solidFill>
              <a:latin typeface="Times New Roman" panose="02020603050405020304" pitchFamily="18" charset="0"/>
              <a:cs typeface="Times New Roman" panose="02020603050405020304" pitchFamily="18" charset="0"/>
            </a:endParaRPr>
          </a:p>
          <a:p>
            <a:pPr marL="0" indent="0" fontAlgn="base">
              <a:buNone/>
            </a:pPr>
            <a:r>
              <a:rPr lang="en-US" altLang="zh-CN" sz="2400" b="1" strike="noStrike" noProof="1" dirty="0">
                <a:solidFill>
                  <a:schemeClr val="tx1"/>
                </a:solidFill>
                <a:latin typeface="Times New Roman" panose="02020603050405020304" pitchFamily="18" charset="0"/>
                <a:ea typeface="微软雅黑" panose="020B0503020204020204" charset="-122"/>
                <a:cs typeface="Times New Roman" panose="02020603050405020304" pitchFamily="18" charset="0"/>
              </a:rPr>
              <a:t>end ARCHI;   </a:t>
            </a:r>
            <a:endParaRPr lang="en-US" altLang="zh-CN" sz="2400" b="1" strike="noStrike" noProof="1" dirty="0">
              <a:solidFill>
                <a:schemeClr val="tx1"/>
              </a:solidFill>
              <a:latin typeface="Times New Roman" panose="02020603050405020304" pitchFamily="18" charset="0"/>
              <a:cs typeface="Times New Roman" panose="02020603050405020304" pitchFamily="18" charset="0"/>
            </a:endParaRPr>
          </a:p>
        </p:txBody>
      </p:sp>
      <p:grpSp>
        <p:nvGrpSpPr>
          <p:cNvPr id="272388" name="组合 16"/>
          <p:cNvGrpSpPr/>
          <p:nvPr/>
        </p:nvGrpSpPr>
        <p:grpSpPr>
          <a:xfrm>
            <a:off x="3563620" y="188595"/>
            <a:ext cx="5120640" cy="1812290"/>
            <a:chOff x="1871" y="5168"/>
            <a:chExt cx="10854" cy="3527"/>
          </a:xfrm>
        </p:grpSpPr>
        <p:grpSp>
          <p:nvGrpSpPr>
            <p:cNvPr id="272389" name="组合 10"/>
            <p:cNvGrpSpPr/>
            <p:nvPr/>
          </p:nvGrpSpPr>
          <p:grpSpPr>
            <a:xfrm>
              <a:off x="1871" y="5168"/>
              <a:ext cx="10658" cy="3527"/>
              <a:chOff x="1674" y="2010"/>
              <a:chExt cx="10093" cy="3353"/>
            </a:xfrm>
          </p:grpSpPr>
          <p:pic>
            <p:nvPicPr>
              <p:cNvPr id="272390" name="图片 777220" descr="e8"/>
              <p:cNvPicPr>
                <a:picLocks noChangeAspect="1"/>
              </p:cNvPicPr>
              <p:nvPr/>
            </p:nvPicPr>
            <p:blipFill>
              <a:blip r:embed="rId1"/>
              <a:stretch>
                <a:fillRect/>
              </a:stretch>
            </p:blipFill>
            <p:spPr>
              <a:xfrm>
                <a:off x="1674" y="2010"/>
                <a:ext cx="10093" cy="3353"/>
              </a:xfrm>
              <a:prstGeom prst="rect">
                <a:avLst/>
              </a:prstGeom>
              <a:noFill/>
              <a:ln w="9525">
                <a:noFill/>
              </a:ln>
            </p:spPr>
          </p:pic>
          <p:pic>
            <p:nvPicPr>
              <p:cNvPr id="272391" name="图片 3"/>
              <p:cNvPicPr>
                <a:picLocks noChangeAspect="1"/>
              </p:cNvPicPr>
              <p:nvPr/>
            </p:nvPicPr>
            <p:blipFill>
              <a:blip r:embed="rId2"/>
              <a:stretch>
                <a:fillRect/>
              </a:stretch>
            </p:blipFill>
            <p:spPr>
              <a:xfrm>
                <a:off x="10964" y="4826"/>
                <a:ext cx="690" cy="270"/>
              </a:xfrm>
              <a:prstGeom prst="rect">
                <a:avLst/>
              </a:prstGeom>
              <a:noFill/>
              <a:ln w="9525">
                <a:noFill/>
              </a:ln>
            </p:spPr>
          </p:pic>
          <p:pic>
            <p:nvPicPr>
              <p:cNvPr id="272392" name="图片 6"/>
              <p:cNvPicPr>
                <a:picLocks noChangeAspect="1"/>
              </p:cNvPicPr>
              <p:nvPr/>
            </p:nvPicPr>
            <p:blipFill>
              <a:blip r:embed="rId3"/>
              <a:stretch>
                <a:fillRect/>
              </a:stretch>
            </p:blipFill>
            <p:spPr>
              <a:xfrm>
                <a:off x="11144" y="4909"/>
                <a:ext cx="510" cy="375"/>
              </a:xfrm>
              <a:prstGeom prst="rect">
                <a:avLst/>
              </a:prstGeom>
              <a:noFill/>
              <a:ln w="9525">
                <a:noFill/>
              </a:ln>
            </p:spPr>
          </p:pic>
          <p:pic>
            <p:nvPicPr>
              <p:cNvPr id="272393" name="图片 7"/>
              <p:cNvPicPr>
                <a:picLocks noChangeAspect="1"/>
              </p:cNvPicPr>
              <p:nvPr/>
            </p:nvPicPr>
            <p:blipFill>
              <a:blip r:embed="rId4"/>
              <a:stretch>
                <a:fillRect/>
              </a:stretch>
            </p:blipFill>
            <p:spPr>
              <a:xfrm>
                <a:off x="9662" y="2195"/>
                <a:ext cx="655" cy="378"/>
              </a:xfrm>
              <a:prstGeom prst="rect">
                <a:avLst/>
              </a:prstGeom>
              <a:noFill/>
              <a:ln w="9525">
                <a:noFill/>
              </a:ln>
            </p:spPr>
          </p:pic>
          <p:pic>
            <p:nvPicPr>
              <p:cNvPr id="272394" name="图片 8"/>
              <p:cNvPicPr>
                <a:picLocks noChangeAspect="1"/>
              </p:cNvPicPr>
              <p:nvPr/>
            </p:nvPicPr>
            <p:blipFill>
              <a:blip r:embed="rId4"/>
              <a:stretch>
                <a:fillRect/>
              </a:stretch>
            </p:blipFill>
            <p:spPr>
              <a:xfrm>
                <a:off x="6860" y="2195"/>
                <a:ext cx="655" cy="378"/>
              </a:xfrm>
              <a:prstGeom prst="rect">
                <a:avLst/>
              </a:prstGeom>
              <a:noFill/>
              <a:ln w="9525">
                <a:noFill/>
              </a:ln>
            </p:spPr>
          </p:pic>
          <p:pic>
            <p:nvPicPr>
              <p:cNvPr id="272395" name="图片 9"/>
              <p:cNvPicPr>
                <a:picLocks noChangeAspect="1"/>
              </p:cNvPicPr>
              <p:nvPr/>
            </p:nvPicPr>
            <p:blipFill>
              <a:blip r:embed="rId4"/>
              <a:stretch>
                <a:fillRect/>
              </a:stretch>
            </p:blipFill>
            <p:spPr>
              <a:xfrm>
                <a:off x="4396" y="2195"/>
                <a:ext cx="655" cy="378"/>
              </a:xfrm>
              <a:prstGeom prst="rect">
                <a:avLst/>
              </a:prstGeom>
              <a:noFill/>
              <a:ln w="9525">
                <a:noFill/>
              </a:ln>
            </p:spPr>
          </p:pic>
        </p:grpSp>
        <p:pic>
          <p:nvPicPr>
            <p:cNvPr id="272396" name="图片 1"/>
            <p:cNvPicPr>
              <a:picLocks noChangeAspect="1"/>
            </p:cNvPicPr>
            <p:nvPr/>
          </p:nvPicPr>
          <p:blipFill>
            <a:blip r:embed="rId5"/>
            <a:stretch>
              <a:fillRect/>
            </a:stretch>
          </p:blipFill>
          <p:spPr>
            <a:xfrm>
              <a:off x="12200" y="7695"/>
              <a:ext cx="525" cy="435"/>
            </a:xfrm>
            <a:prstGeom prst="rect">
              <a:avLst/>
            </a:prstGeom>
            <a:noFill/>
            <a:ln w="9525">
              <a:noFill/>
            </a:ln>
          </p:spPr>
        </p:pic>
        <p:pic>
          <p:nvPicPr>
            <p:cNvPr id="272397" name="图片 2"/>
            <p:cNvPicPr>
              <a:picLocks noChangeAspect="1"/>
            </p:cNvPicPr>
            <p:nvPr/>
          </p:nvPicPr>
          <p:blipFill>
            <a:blip r:embed="rId6"/>
            <a:stretch>
              <a:fillRect/>
            </a:stretch>
          </p:blipFill>
          <p:spPr>
            <a:xfrm>
              <a:off x="10306" y="5431"/>
              <a:ext cx="480" cy="330"/>
            </a:xfrm>
            <a:prstGeom prst="rect">
              <a:avLst/>
            </a:prstGeom>
            <a:noFill/>
            <a:ln w="9525">
              <a:noFill/>
            </a:ln>
          </p:spPr>
        </p:pic>
        <p:pic>
          <p:nvPicPr>
            <p:cNvPr id="272398" name="图片 4"/>
            <p:cNvPicPr>
              <a:picLocks noChangeAspect="1"/>
            </p:cNvPicPr>
            <p:nvPr/>
          </p:nvPicPr>
          <p:blipFill>
            <a:blip r:embed="rId6"/>
            <a:stretch>
              <a:fillRect/>
            </a:stretch>
          </p:blipFill>
          <p:spPr>
            <a:xfrm>
              <a:off x="9290" y="8084"/>
              <a:ext cx="480" cy="330"/>
            </a:xfrm>
            <a:prstGeom prst="rect">
              <a:avLst/>
            </a:prstGeom>
            <a:noFill/>
            <a:ln w="9525">
              <a:noFill/>
            </a:ln>
          </p:spPr>
        </p:pic>
        <p:pic>
          <p:nvPicPr>
            <p:cNvPr id="272399" name="图片 5"/>
            <p:cNvPicPr>
              <a:picLocks noChangeAspect="1"/>
            </p:cNvPicPr>
            <p:nvPr/>
          </p:nvPicPr>
          <p:blipFill>
            <a:blip r:embed="rId7"/>
            <a:stretch>
              <a:fillRect/>
            </a:stretch>
          </p:blipFill>
          <p:spPr>
            <a:xfrm>
              <a:off x="7544" y="5397"/>
              <a:ext cx="495" cy="330"/>
            </a:xfrm>
            <a:prstGeom prst="rect">
              <a:avLst/>
            </a:prstGeom>
            <a:noFill/>
            <a:ln w="9525">
              <a:noFill/>
            </a:ln>
          </p:spPr>
        </p:pic>
        <p:pic>
          <p:nvPicPr>
            <p:cNvPr id="272400" name="图片 11"/>
            <p:cNvPicPr>
              <a:picLocks noChangeAspect="1"/>
            </p:cNvPicPr>
            <p:nvPr/>
          </p:nvPicPr>
          <p:blipFill>
            <a:blip r:embed="rId7"/>
            <a:stretch>
              <a:fillRect/>
            </a:stretch>
          </p:blipFill>
          <p:spPr>
            <a:xfrm>
              <a:off x="6538" y="8084"/>
              <a:ext cx="495" cy="330"/>
            </a:xfrm>
            <a:prstGeom prst="rect">
              <a:avLst/>
            </a:prstGeom>
            <a:noFill/>
            <a:ln w="9525">
              <a:noFill/>
            </a:ln>
          </p:spPr>
        </p:pic>
        <p:pic>
          <p:nvPicPr>
            <p:cNvPr id="272401" name="图片 12"/>
            <p:cNvPicPr>
              <a:picLocks noChangeAspect="1"/>
            </p:cNvPicPr>
            <p:nvPr/>
          </p:nvPicPr>
          <p:blipFill>
            <a:blip r:embed="rId8"/>
            <a:stretch>
              <a:fillRect/>
            </a:stretch>
          </p:blipFill>
          <p:spPr>
            <a:xfrm>
              <a:off x="4745" y="5318"/>
              <a:ext cx="450" cy="435"/>
            </a:xfrm>
            <a:prstGeom prst="rect">
              <a:avLst/>
            </a:prstGeom>
            <a:noFill/>
            <a:ln w="9525">
              <a:noFill/>
            </a:ln>
          </p:spPr>
        </p:pic>
        <p:pic>
          <p:nvPicPr>
            <p:cNvPr id="272402" name="图片 13"/>
            <p:cNvPicPr>
              <a:picLocks noChangeAspect="1"/>
            </p:cNvPicPr>
            <p:nvPr/>
          </p:nvPicPr>
          <p:blipFill>
            <a:blip r:embed="rId8"/>
            <a:stretch>
              <a:fillRect/>
            </a:stretch>
          </p:blipFill>
          <p:spPr>
            <a:xfrm>
              <a:off x="3621" y="8130"/>
              <a:ext cx="450" cy="435"/>
            </a:xfrm>
            <a:prstGeom prst="rect">
              <a:avLst/>
            </a:prstGeom>
            <a:noFill/>
            <a:ln w="9525">
              <a:noFill/>
            </a:ln>
          </p:spPr>
        </p:pic>
        <p:pic>
          <p:nvPicPr>
            <p:cNvPr id="272403" name="图片 14"/>
            <p:cNvPicPr>
              <a:picLocks noChangeAspect="1"/>
            </p:cNvPicPr>
            <p:nvPr/>
          </p:nvPicPr>
          <p:blipFill>
            <a:blip r:embed="rId9"/>
            <a:stretch>
              <a:fillRect/>
            </a:stretch>
          </p:blipFill>
          <p:spPr>
            <a:xfrm>
              <a:off x="1871" y="5761"/>
              <a:ext cx="450" cy="405"/>
            </a:xfrm>
            <a:prstGeom prst="rect">
              <a:avLst/>
            </a:prstGeom>
            <a:noFill/>
            <a:ln w="9525">
              <a:noFill/>
            </a:ln>
          </p:spPr>
        </p:pic>
      </p:grpSp>
      <p:graphicFrame>
        <p:nvGraphicFramePr>
          <p:cNvPr id="543749" name="对象 543748"/>
          <p:cNvGraphicFramePr>
            <a:graphicFrameLocks noGrp="1"/>
          </p:cNvGraphicFramePr>
          <p:nvPr/>
        </p:nvGraphicFramePr>
        <p:xfrm>
          <a:off x="5556250" y="2348865"/>
          <a:ext cx="3241675" cy="1060450"/>
        </p:xfrm>
        <a:graphic>
          <a:graphicData uri="http://schemas.openxmlformats.org/presentationml/2006/ole">
            <mc:AlternateContent xmlns:mc="http://schemas.openxmlformats.org/markup-compatibility/2006">
              <mc:Choice xmlns:v="urn:schemas-microsoft-com:vml" Requires="v">
                <p:oleObj spid="_x0000_s3076" name="" r:id="rId10" imgW="1397000" imgH="457200" progId="Equation.3">
                  <p:embed/>
                </p:oleObj>
              </mc:Choice>
              <mc:Fallback>
                <p:oleObj name="" r:id="rId10" imgW="1397000" imgH="457200" progId="Equation.3">
                  <p:embed/>
                  <p:pic>
                    <p:nvPicPr>
                      <p:cNvPr id="0" name="图片 3075"/>
                      <p:cNvPicPr/>
                      <p:nvPr/>
                    </p:nvPicPr>
                    <p:blipFill>
                      <a:blip r:embed="rId11"/>
                      <a:srcRect/>
                      <a:stretch>
                        <a:fillRect/>
                      </a:stretch>
                    </p:blipFill>
                    <p:spPr>
                      <a:xfrm>
                        <a:off x="5556250" y="2348865"/>
                        <a:ext cx="3241675" cy="1060450"/>
                      </a:xfrm>
                      <a:prstGeom prst="rect">
                        <a:avLst/>
                      </a:prstGeom>
                      <a:noFill/>
                      <a:ln w="38100">
                        <a:miter/>
                      </a:ln>
                    </p:spPr>
                  </p:pic>
                </p:oleObj>
              </mc:Fallback>
            </mc:AlternateContent>
          </a:graphicData>
        </a:graphic>
      </p:graphicFrame>
      <p:sp>
        <p:nvSpPr>
          <p:cNvPr id="2" name="文本框 1"/>
          <p:cNvSpPr txBox="1"/>
          <p:nvPr/>
        </p:nvSpPr>
        <p:spPr>
          <a:xfrm>
            <a:off x="265430" y="4869180"/>
            <a:ext cx="8829675" cy="829945"/>
          </a:xfrm>
          <a:prstGeom prst="rect">
            <a:avLst/>
          </a:prstGeom>
          <a:noFill/>
        </p:spPr>
        <p:txBody>
          <a:bodyPr wrap="square" rtlCol="0">
            <a:spAutoFit/>
          </a:bodyPr>
          <a:p>
            <a:pPr marL="0" indent="0" fontAlgn="base">
              <a:buNone/>
            </a:pPr>
            <a:r>
              <a:rPr lang="en-US" altLang="zh-CN" sz="2400" dirty="0" smtClean="0">
                <a:ea typeface="微软雅黑" panose="020B0503020204020204" charset="-122"/>
                <a:cs typeface="Times New Roman" panose="02020603050405020304" pitchFamily="18" charset="0"/>
                <a:sym typeface="+mn-ea"/>
              </a:rPr>
              <a:t> </a:t>
            </a:r>
            <a:r>
              <a:rPr lang="pl-PL" altLang="zh-CN" sz="2400" dirty="0" smtClean="0">
                <a:solidFill>
                  <a:srgbClr val="FF0000"/>
                </a:solidFill>
                <a:ea typeface="微软雅黑" panose="020B0503020204020204" charset="-122"/>
                <a:cs typeface="Times New Roman" panose="02020603050405020304" pitchFamily="18" charset="0"/>
                <a:sym typeface="+mn-ea"/>
              </a:rPr>
              <a:t>SUM(I</a:t>
            </a:r>
            <a:r>
              <a:rPr lang="pl-PL" altLang="zh-CN" sz="2400" dirty="0">
                <a:solidFill>
                  <a:srgbClr val="FF0000"/>
                </a:solidFill>
                <a:ea typeface="微软雅黑" panose="020B0503020204020204" charset="-122"/>
                <a:cs typeface="Times New Roman" panose="02020603050405020304" pitchFamily="18" charset="0"/>
                <a:sym typeface="+mn-ea"/>
              </a:rPr>
              <a:t>) &lt;= A(I) </a:t>
            </a:r>
            <a:r>
              <a:rPr lang="en-US" altLang="zh-CN" sz="2400" dirty="0" err="1">
                <a:solidFill>
                  <a:srgbClr val="FF0000"/>
                </a:solidFill>
                <a:ea typeface="微软雅黑" panose="020B0503020204020204" charset="-122"/>
                <a:cs typeface="Times New Roman" panose="02020603050405020304" pitchFamily="18" charset="0"/>
                <a:sym typeface="+mn-ea"/>
              </a:rPr>
              <a:t>xor</a:t>
            </a:r>
            <a:r>
              <a:rPr lang="pl-PL" altLang="zh-CN" sz="2400" dirty="0">
                <a:solidFill>
                  <a:srgbClr val="FF0000"/>
                </a:solidFill>
                <a:ea typeface="微软雅黑" panose="020B0503020204020204" charset="-122"/>
                <a:cs typeface="Times New Roman" panose="02020603050405020304" pitchFamily="18" charset="0"/>
                <a:sym typeface="+mn-ea"/>
              </a:rPr>
              <a:t> B(I) </a:t>
            </a:r>
            <a:r>
              <a:rPr lang="en-US" altLang="zh-CN" sz="2400" dirty="0" err="1">
                <a:solidFill>
                  <a:srgbClr val="FF0000"/>
                </a:solidFill>
                <a:ea typeface="微软雅黑" panose="020B0503020204020204" charset="-122"/>
                <a:cs typeface="Times New Roman" panose="02020603050405020304" pitchFamily="18" charset="0"/>
                <a:sym typeface="+mn-ea"/>
              </a:rPr>
              <a:t>xor</a:t>
            </a:r>
            <a:r>
              <a:rPr lang="pl-PL" altLang="zh-CN" sz="2400" dirty="0">
                <a:solidFill>
                  <a:srgbClr val="FF0000"/>
                </a:solidFill>
                <a:ea typeface="微软雅黑" panose="020B0503020204020204" charset="-122"/>
                <a:cs typeface="Times New Roman" panose="02020603050405020304" pitchFamily="18" charset="0"/>
                <a:sym typeface="+mn-ea"/>
              </a:rPr>
              <a:t> C(I);</a:t>
            </a:r>
            <a:endParaRPr lang="zh-CN" altLang="zh-CN" sz="2400" b="1" strike="noStrike" noProof="1" dirty="0">
              <a:solidFill>
                <a:srgbClr val="FF0000"/>
              </a:solidFill>
              <a:latin typeface="Times New Roman" panose="02020603050405020304" pitchFamily="18" charset="0"/>
              <a:cs typeface="Times New Roman" panose="02020603050405020304" pitchFamily="18" charset="0"/>
            </a:endParaRPr>
          </a:p>
          <a:p>
            <a:pPr marL="0" indent="0" fontAlgn="base">
              <a:buNone/>
            </a:pPr>
            <a:r>
              <a:rPr lang="en-US" altLang="zh-CN" sz="2400" dirty="0" smtClean="0">
                <a:solidFill>
                  <a:srgbClr val="FF0000"/>
                </a:solidFill>
                <a:ea typeface="微软雅黑" panose="020B0503020204020204" charset="-122"/>
                <a:cs typeface="Times New Roman" panose="02020603050405020304" pitchFamily="18" charset="0"/>
                <a:sym typeface="+mn-ea"/>
              </a:rPr>
              <a:t> C(I+1</a:t>
            </a:r>
            <a:r>
              <a:rPr lang="en-US" altLang="zh-CN" sz="2400" dirty="0">
                <a:solidFill>
                  <a:srgbClr val="FF0000"/>
                </a:solidFill>
                <a:ea typeface="微软雅黑" panose="020B0503020204020204" charset="-122"/>
                <a:cs typeface="Times New Roman" panose="02020603050405020304" pitchFamily="18" charset="0"/>
                <a:sym typeface="+mn-ea"/>
              </a:rPr>
              <a:t>) &lt;= (A(I) and B(I)) or (A(I) and C(I)) or (B(I) and C(I));</a:t>
            </a:r>
            <a:endParaRPr lang="zh-CN" altLang="en-US" sz="24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2388"/>
                                        </p:tgtEl>
                                        <p:attrNameLst>
                                          <p:attrName>style.visibility</p:attrName>
                                        </p:attrNameLst>
                                      </p:cBhvr>
                                      <p:to>
                                        <p:strVal val="visible"/>
                                      </p:to>
                                    </p:set>
                                    <p:anim calcmode="lin" valueType="num">
                                      <p:cBhvr additive="base">
                                        <p:cTn id="7" dur="500" fill="hold"/>
                                        <p:tgtEl>
                                          <p:spTgt spid="272388"/>
                                        </p:tgtEl>
                                        <p:attrNameLst>
                                          <p:attrName>ppt_x</p:attrName>
                                        </p:attrNameLst>
                                      </p:cBhvr>
                                      <p:tavLst>
                                        <p:tav tm="0">
                                          <p:val>
                                            <p:strVal val="#ppt_x"/>
                                          </p:val>
                                        </p:tav>
                                        <p:tav tm="100000">
                                          <p:val>
                                            <p:strVal val="#ppt_x"/>
                                          </p:val>
                                        </p:tav>
                                      </p:tavLst>
                                    </p:anim>
                                    <p:anim calcmode="lin" valueType="num">
                                      <p:cBhvr additive="base">
                                        <p:cTn id="8" dur="500" fill="hold"/>
                                        <p:tgtEl>
                                          <p:spTgt spid="27238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43749"/>
                                        </p:tgtEl>
                                        <p:attrNameLst>
                                          <p:attrName>style.visibility</p:attrName>
                                        </p:attrNameLst>
                                      </p:cBhvr>
                                      <p:to>
                                        <p:strVal val="visible"/>
                                      </p:to>
                                    </p:set>
                                    <p:anim calcmode="lin" valueType="num">
                                      <p:cBhvr additive="base">
                                        <p:cTn id="11" dur="500" fill="hold"/>
                                        <p:tgtEl>
                                          <p:spTgt spid="543749"/>
                                        </p:tgtEl>
                                        <p:attrNameLst>
                                          <p:attrName>ppt_x</p:attrName>
                                        </p:attrNameLst>
                                      </p:cBhvr>
                                      <p:tavLst>
                                        <p:tav tm="0">
                                          <p:val>
                                            <p:strVal val="#ppt_x"/>
                                          </p:val>
                                        </p:tav>
                                        <p:tav tm="100000">
                                          <p:val>
                                            <p:strVal val="#ppt_x"/>
                                          </p:val>
                                        </p:tav>
                                      </p:tavLst>
                                    </p:anim>
                                    <p:anim calcmode="lin" valueType="num">
                                      <p:cBhvr additive="base">
                                        <p:cTn id="12" dur="500" fill="hold"/>
                                        <p:tgtEl>
                                          <p:spTgt spid="54374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81" name="标题 765953"/>
          <p:cNvSpPr>
            <a:spLocks noGrp="1"/>
          </p:cNvSpPr>
          <p:nvPr>
            <p:ph type="title"/>
          </p:nvPr>
        </p:nvSpPr>
        <p:spPr>
          <a:xfrm>
            <a:off x="539750" y="1196340"/>
            <a:ext cx="8136255" cy="3601720"/>
          </a:xfrm>
          <a:noFill/>
          <a:ln>
            <a:noFill/>
          </a:ln>
        </p:spPr>
        <p:txBody>
          <a:bodyPr anchor="t" anchorCtr="0"/>
          <a:p>
            <a:pPr algn="l">
              <a:lnSpc>
                <a:spcPct val="150000"/>
              </a:lnSpc>
              <a:buClr>
                <a:schemeClr val="accent2"/>
              </a:buClr>
              <a:buFont typeface="Wingdings" panose="05000000000000000000" pitchFamily="2" charset="2"/>
              <a:buChar char="Ø"/>
            </a:pPr>
            <a:r>
              <a:rPr lang="en-US" altLang="zh-CN" sz="2400" b="1" dirty="0">
                <a:solidFill>
                  <a:schemeClr val="accent2"/>
                </a:solidFill>
                <a:latin typeface="微软雅黑" panose="020B0503020204020204" charset="-122"/>
                <a:ea typeface="微软雅黑" panose="020B0503020204020204" charset="-122"/>
                <a:cs typeface="微软雅黑" panose="020B0503020204020204" charset="-122"/>
              </a:rPr>
              <a:t> if  </a:t>
            </a:r>
            <a:r>
              <a:rPr lang="zh-CN" altLang="en-US" sz="2400" b="1" dirty="0">
                <a:solidFill>
                  <a:schemeClr val="accent2"/>
                </a:solidFill>
                <a:latin typeface="微软雅黑" panose="020B0503020204020204" charset="-122"/>
                <a:ea typeface="微软雅黑" panose="020B0503020204020204" charset="-122"/>
                <a:cs typeface="微软雅黑" panose="020B0503020204020204" charset="-122"/>
              </a:rPr>
              <a:t>模式</a:t>
            </a:r>
            <a:br>
              <a:rPr lang="zh-CN" altLang="en-US" sz="2400" b="1" dirty="0">
                <a:latin typeface="微软雅黑" panose="020B0503020204020204" charset="-122"/>
                <a:ea typeface="微软雅黑" panose="020B0503020204020204" charset="-122"/>
                <a:cs typeface="微软雅黑" panose="020B0503020204020204" charset="-122"/>
              </a:rPr>
            </a:b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格式：</a:t>
            </a:r>
            <a:r>
              <a:rPr lang="zh-CN" altLang="en-US" sz="2400" b="1" dirty="0">
                <a:latin typeface="微软雅黑" panose="020B0503020204020204" charset="-122"/>
                <a:ea typeface="微软雅黑" panose="020B0503020204020204" charset="-122"/>
                <a:cs typeface="微软雅黑" panose="020B0503020204020204" charset="-122"/>
              </a:rPr>
              <a:t> </a:t>
            </a:r>
            <a:r>
              <a:rPr lang="en-US" altLang="zh-CN" sz="2400" b="1" dirty="0">
                <a:latin typeface="微软雅黑" panose="020B0503020204020204" charset="-122"/>
                <a:ea typeface="微软雅黑" panose="020B0503020204020204" charset="-122"/>
                <a:cs typeface="微软雅黑" panose="020B0503020204020204" charset="-122"/>
              </a:rPr>
              <a:t>if &lt;</a:t>
            </a:r>
            <a:r>
              <a:rPr lang="zh-CN" altLang="en-US" sz="2400" b="1" dirty="0">
                <a:latin typeface="微软雅黑" panose="020B0503020204020204" charset="-122"/>
                <a:ea typeface="微软雅黑" panose="020B0503020204020204" charset="-122"/>
                <a:cs typeface="微软雅黑" panose="020B0503020204020204" charset="-122"/>
              </a:rPr>
              <a:t>条件 </a:t>
            </a:r>
            <a:r>
              <a:rPr lang="en-US" altLang="zh-CN" sz="2400" b="1" dirty="0">
                <a:latin typeface="微软雅黑" panose="020B0503020204020204" charset="-122"/>
                <a:ea typeface="微软雅黑" panose="020B0503020204020204" charset="-122"/>
                <a:cs typeface="微软雅黑" panose="020B0503020204020204" charset="-122"/>
              </a:rPr>
              <a:t>&gt; generate</a:t>
            </a:r>
            <a:br>
              <a:rPr lang="en-US" altLang="zh-CN" sz="2400" b="1" dirty="0">
                <a:latin typeface="微软雅黑" panose="020B0503020204020204" charset="-122"/>
                <a:ea typeface="微软雅黑" panose="020B0503020204020204" charset="-122"/>
                <a:cs typeface="微软雅黑" panose="020B0503020204020204" charset="-122"/>
              </a:rPr>
            </a:br>
            <a:r>
              <a:rPr lang="en-US" altLang="zh-CN" sz="2400" b="1" dirty="0">
                <a:latin typeface="微软雅黑" panose="020B0503020204020204" charset="-122"/>
                <a:ea typeface="微软雅黑" panose="020B0503020204020204" charset="-122"/>
                <a:cs typeface="微软雅黑" panose="020B0503020204020204" charset="-122"/>
              </a:rPr>
              <a:t>                 </a:t>
            </a:r>
            <a:r>
              <a:rPr lang="zh-CN" altLang="en-US" sz="2400" b="1" dirty="0">
                <a:latin typeface="微软雅黑" panose="020B0503020204020204" charset="-122"/>
                <a:ea typeface="微软雅黑" panose="020B0503020204020204" charset="-122"/>
                <a:cs typeface="微软雅黑" panose="020B0503020204020204" charset="-122"/>
              </a:rPr>
              <a:t>并行语句；</a:t>
            </a:r>
            <a:br>
              <a:rPr lang="zh-CN" altLang="en-US" sz="2400" b="1" dirty="0">
                <a:latin typeface="微软雅黑" panose="020B0503020204020204" charset="-122"/>
                <a:ea typeface="微软雅黑" panose="020B0503020204020204" charset="-122"/>
                <a:cs typeface="微软雅黑" panose="020B0503020204020204" charset="-122"/>
              </a:rPr>
            </a:br>
            <a:r>
              <a:rPr lang="zh-CN" altLang="en-US" sz="2400" b="1" dirty="0">
                <a:latin typeface="微软雅黑" panose="020B0503020204020204" charset="-122"/>
                <a:ea typeface="微软雅黑" panose="020B0503020204020204" charset="-122"/>
                <a:cs typeface="微软雅黑" panose="020B0503020204020204" charset="-122"/>
              </a:rPr>
              <a:t>             </a:t>
            </a:r>
            <a:r>
              <a:rPr lang="en-US" altLang="zh-CN" sz="2400" b="1" dirty="0">
                <a:latin typeface="微软雅黑" panose="020B0503020204020204" charset="-122"/>
                <a:ea typeface="微软雅黑" panose="020B0503020204020204" charset="-122"/>
                <a:cs typeface="微软雅黑" panose="020B0503020204020204" charset="-122"/>
              </a:rPr>
              <a:t>end  generate;</a:t>
            </a:r>
            <a:br>
              <a:rPr lang="en-US" altLang="zh-CN" sz="2400" b="1" dirty="0">
                <a:latin typeface="微软雅黑" panose="020B0503020204020204" charset="-122"/>
                <a:ea typeface="微软雅黑" panose="020B0503020204020204" charset="-122"/>
                <a:cs typeface="微软雅黑" panose="020B0503020204020204" charset="-122"/>
              </a:rPr>
            </a:br>
            <a:r>
              <a:rPr lang="zh-CN" altLang="en-US" sz="2400" b="1" dirty="0">
                <a:latin typeface="微软雅黑" panose="020B0503020204020204" charset="-122"/>
                <a:ea typeface="微软雅黑" panose="020B0503020204020204" charset="-122"/>
                <a:cs typeface="微软雅黑" panose="020B0503020204020204" charset="-122"/>
              </a:rPr>
              <a:t>实现有条件的复制，用来描述重复结构中例外的情况。</a:t>
            </a:r>
            <a:br>
              <a:rPr lang="zh-CN" altLang="en-US" sz="2400" b="1" dirty="0">
                <a:latin typeface="微软雅黑" panose="020B0503020204020204" charset="-122"/>
                <a:ea typeface="微软雅黑" panose="020B0503020204020204" charset="-122"/>
                <a:cs typeface="微软雅黑" panose="020B0503020204020204" charset="-122"/>
              </a:rPr>
            </a:br>
            <a:r>
              <a:rPr lang="zh-CN" altLang="en-US" sz="2400" b="1" dirty="0">
                <a:latin typeface="微软雅黑" panose="020B0503020204020204" charset="-122"/>
                <a:ea typeface="微软雅黑" panose="020B0503020204020204" charset="-122"/>
                <a:cs typeface="微软雅黑" panose="020B0503020204020204" charset="-122"/>
              </a:rPr>
              <a:t>作为</a:t>
            </a:r>
            <a:r>
              <a:rPr lang="en-US" altLang="zh-CN" sz="2400" b="1" dirty="0">
                <a:latin typeface="微软雅黑" panose="020B0503020204020204" charset="-122"/>
                <a:ea typeface="微软雅黑" panose="020B0503020204020204" charset="-122"/>
                <a:cs typeface="微软雅黑" panose="020B0503020204020204" charset="-122"/>
              </a:rPr>
              <a:t>for  </a:t>
            </a:r>
            <a:r>
              <a:rPr lang="zh-CN" altLang="en-US" sz="2400" b="1" dirty="0">
                <a:latin typeface="微软雅黑" panose="020B0503020204020204" charset="-122"/>
                <a:ea typeface="微软雅黑" panose="020B0503020204020204" charset="-122"/>
                <a:cs typeface="微软雅黑" panose="020B0503020204020204" charset="-122"/>
              </a:rPr>
              <a:t> </a:t>
            </a:r>
            <a:r>
              <a:rPr lang="en-US" altLang="zh-CN" sz="2400" b="1" dirty="0">
                <a:latin typeface="微软雅黑" panose="020B0503020204020204" charset="-122"/>
                <a:ea typeface="微软雅黑" panose="020B0503020204020204" charset="-122"/>
                <a:cs typeface="微软雅黑" panose="020B0503020204020204" charset="-122"/>
                <a:sym typeface="+mn-ea"/>
              </a:rPr>
              <a:t>generate</a:t>
            </a:r>
            <a:r>
              <a:rPr lang="zh-CN" altLang="en-US" sz="2400" b="1" dirty="0">
                <a:latin typeface="微软雅黑" panose="020B0503020204020204" charset="-122"/>
                <a:ea typeface="微软雅黑" panose="020B0503020204020204" charset="-122"/>
                <a:cs typeface="微软雅黑" panose="020B0503020204020204" charset="-122"/>
                <a:sym typeface="+mn-ea"/>
              </a:rPr>
              <a:t>中特例的描述。</a:t>
            </a:r>
            <a:endParaRPr lang="zh-CN" altLang="en-US" sz="2400" b="1" dirty="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5" name="标题 773121"/>
          <p:cNvSpPr>
            <a:spLocks noGrp="1"/>
          </p:cNvSpPr>
          <p:nvPr>
            <p:ph type="title"/>
          </p:nvPr>
        </p:nvSpPr>
        <p:spPr>
          <a:xfrm>
            <a:off x="427355" y="836295"/>
            <a:ext cx="7772400" cy="1216025"/>
          </a:xfrm>
          <a:noFill/>
          <a:ln>
            <a:noFill/>
          </a:ln>
        </p:spPr>
        <p:txBody>
          <a:bodyPr anchor="t" anchorCtr="0"/>
          <a:p>
            <a:pPr algn="l">
              <a:lnSpc>
                <a:spcPct val="130000"/>
              </a:lnSpc>
              <a:buClr>
                <a:schemeClr val="accent2"/>
              </a:buClr>
              <a:buFont typeface="Wingdings" panose="05000000000000000000" pitchFamily="2" charset="2"/>
              <a:buChar char="Ø"/>
            </a:pPr>
            <a:r>
              <a:rPr lang="en-US" altLang="zh-CN" sz="2500" b="1" dirty="0">
                <a:latin typeface="微软雅黑" panose="020B0503020204020204" charset="-122"/>
                <a:ea typeface="微软雅黑" panose="020B0503020204020204" charset="-122"/>
                <a:cs typeface="微软雅黑" panose="020B0503020204020204" charset="-122"/>
              </a:rPr>
              <a:t> </a:t>
            </a:r>
            <a:r>
              <a:rPr lang="en-US" altLang="zh-CN" sz="2500" b="1" dirty="0">
                <a:solidFill>
                  <a:schemeClr val="accent2"/>
                </a:solidFill>
                <a:latin typeface="微软雅黑" panose="020B0503020204020204" charset="-122"/>
                <a:ea typeface="微软雅黑" panose="020B0503020204020204" charset="-122"/>
                <a:cs typeface="微软雅黑" panose="020B0503020204020204" charset="-122"/>
              </a:rPr>
              <a:t>if  </a:t>
            </a:r>
            <a:r>
              <a:rPr lang="zh-CN" altLang="en-US" sz="2500" b="1" dirty="0">
                <a:solidFill>
                  <a:schemeClr val="accent2"/>
                </a:solidFill>
                <a:latin typeface="微软雅黑" panose="020B0503020204020204" charset="-122"/>
                <a:ea typeface="微软雅黑" panose="020B0503020204020204" charset="-122"/>
                <a:cs typeface="微软雅黑" panose="020B0503020204020204" charset="-122"/>
              </a:rPr>
              <a:t>模式</a:t>
            </a:r>
            <a:br>
              <a:rPr lang="zh-CN" altLang="en-US" sz="2500" b="1" dirty="0">
                <a:latin typeface="微软雅黑" panose="020B0503020204020204" charset="-122"/>
                <a:ea typeface="微软雅黑" panose="020B0503020204020204" charset="-122"/>
                <a:cs typeface="微软雅黑" panose="020B0503020204020204" charset="-122"/>
              </a:rPr>
            </a:br>
            <a:r>
              <a:rPr lang="zh-CN" altLang="en-US" sz="2500" b="1" dirty="0">
                <a:solidFill>
                  <a:srgbClr val="0000CC"/>
                </a:solidFill>
                <a:latin typeface="微软雅黑" panose="020B0503020204020204" charset="-122"/>
                <a:ea typeface="微软雅黑" panose="020B0503020204020204" charset="-122"/>
                <a:cs typeface="微软雅黑" panose="020B0503020204020204" charset="-122"/>
              </a:rPr>
              <a:t>例</a:t>
            </a:r>
            <a:r>
              <a:rPr lang="en-US" altLang="zh-CN" sz="2500" b="1" dirty="0">
                <a:solidFill>
                  <a:srgbClr val="0000CC"/>
                </a:solidFill>
                <a:latin typeface="微软雅黑" panose="020B0503020204020204" charset="-122"/>
                <a:ea typeface="微软雅黑" panose="020B0503020204020204" charset="-122"/>
                <a:cs typeface="微软雅黑" panose="020B0503020204020204" charset="-122"/>
              </a:rPr>
              <a:t>5-29</a:t>
            </a:r>
            <a:r>
              <a:rPr lang="zh-CN" altLang="en-US" sz="2500" b="1" dirty="0">
                <a:solidFill>
                  <a:srgbClr val="0000CC"/>
                </a:solidFill>
                <a:latin typeface="微软雅黑" panose="020B0503020204020204" charset="-122"/>
                <a:ea typeface="微软雅黑" panose="020B0503020204020204" charset="-122"/>
                <a:cs typeface="微软雅黑" panose="020B0503020204020204" charset="-122"/>
              </a:rPr>
              <a:t>：</a:t>
            </a:r>
            <a:r>
              <a:rPr lang="zh-CN" altLang="en-US" sz="2500" b="1" dirty="0">
                <a:latin typeface="微软雅黑" panose="020B0503020204020204" charset="-122"/>
                <a:ea typeface="微软雅黑" panose="020B0503020204020204" charset="-122"/>
                <a:cs typeface="微软雅黑" panose="020B0503020204020204" charset="-122"/>
              </a:rPr>
              <a:t> </a:t>
            </a:r>
            <a:br>
              <a:rPr lang="zh-CN" altLang="en-US" sz="2500" b="1" dirty="0">
                <a:latin typeface="微软雅黑" panose="020B0503020204020204" charset="-122"/>
                <a:ea typeface="微软雅黑" panose="020B0503020204020204" charset="-122"/>
                <a:cs typeface="微软雅黑" panose="020B0503020204020204" charset="-122"/>
              </a:rPr>
            </a:br>
            <a:endParaRPr lang="zh-CN" altLang="en-US" sz="2000" b="1">
              <a:latin typeface="微软雅黑" panose="020B0503020204020204" charset="-122"/>
              <a:ea typeface="微软雅黑" panose="020B0503020204020204" charset="-122"/>
              <a:cs typeface="微软雅黑" panose="020B0503020204020204" charset="-122"/>
            </a:endParaRPr>
          </a:p>
        </p:txBody>
      </p:sp>
      <p:grpSp>
        <p:nvGrpSpPr>
          <p:cNvPr id="277507" name="组合 18"/>
          <p:cNvGrpSpPr/>
          <p:nvPr/>
        </p:nvGrpSpPr>
        <p:grpSpPr>
          <a:xfrm>
            <a:off x="539750" y="2682240"/>
            <a:ext cx="7994650" cy="2755900"/>
            <a:chOff x="1674" y="2010"/>
            <a:chExt cx="10092" cy="3352"/>
          </a:xfrm>
        </p:grpSpPr>
        <p:pic>
          <p:nvPicPr>
            <p:cNvPr id="277508" name="图片 777220" descr="e8"/>
            <p:cNvPicPr>
              <a:picLocks noChangeAspect="1"/>
            </p:cNvPicPr>
            <p:nvPr/>
          </p:nvPicPr>
          <p:blipFill>
            <a:blip r:embed="rId1"/>
            <a:stretch>
              <a:fillRect/>
            </a:stretch>
          </p:blipFill>
          <p:spPr>
            <a:xfrm>
              <a:off x="1674" y="2010"/>
              <a:ext cx="10093" cy="3353"/>
            </a:xfrm>
            <a:prstGeom prst="rect">
              <a:avLst/>
            </a:prstGeom>
            <a:noFill/>
            <a:ln w="9525">
              <a:noFill/>
            </a:ln>
          </p:spPr>
        </p:pic>
        <p:pic>
          <p:nvPicPr>
            <p:cNvPr id="277509" name="图片 20"/>
            <p:cNvPicPr>
              <a:picLocks noChangeAspect="1"/>
            </p:cNvPicPr>
            <p:nvPr/>
          </p:nvPicPr>
          <p:blipFill>
            <a:blip r:embed="rId2"/>
            <a:stretch>
              <a:fillRect/>
            </a:stretch>
          </p:blipFill>
          <p:spPr>
            <a:xfrm>
              <a:off x="10964" y="4826"/>
              <a:ext cx="690" cy="270"/>
            </a:xfrm>
            <a:prstGeom prst="rect">
              <a:avLst/>
            </a:prstGeom>
            <a:noFill/>
            <a:ln w="9525">
              <a:noFill/>
            </a:ln>
          </p:spPr>
        </p:pic>
        <p:pic>
          <p:nvPicPr>
            <p:cNvPr id="277510" name="图片 21"/>
            <p:cNvPicPr>
              <a:picLocks noChangeAspect="1"/>
            </p:cNvPicPr>
            <p:nvPr/>
          </p:nvPicPr>
          <p:blipFill>
            <a:blip r:embed="rId3"/>
            <a:stretch>
              <a:fillRect/>
            </a:stretch>
          </p:blipFill>
          <p:spPr>
            <a:xfrm>
              <a:off x="11144" y="4826"/>
              <a:ext cx="510" cy="375"/>
            </a:xfrm>
            <a:prstGeom prst="rect">
              <a:avLst/>
            </a:prstGeom>
            <a:noFill/>
            <a:ln w="9525">
              <a:noFill/>
            </a:ln>
          </p:spPr>
        </p:pic>
        <p:pic>
          <p:nvPicPr>
            <p:cNvPr id="277511" name="图片 22"/>
            <p:cNvPicPr>
              <a:picLocks noChangeAspect="1"/>
            </p:cNvPicPr>
            <p:nvPr/>
          </p:nvPicPr>
          <p:blipFill>
            <a:blip r:embed="rId4"/>
            <a:stretch>
              <a:fillRect/>
            </a:stretch>
          </p:blipFill>
          <p:spPr>
            <a:xfrm>
              <a:off x="9662" y="2195"/>
              <a:ext cx="655" cy="378"/>
            </a:xfrm>
            <a:prstGeom prst="rect">
              <a:avLst/>
            </a:prstGeom>
            <a:noFill/>
            <a:ln w="9525">
              <a:noFill/>
            </a:ln>
          </p:spPr>
        </p:pic>
        <p:pic>
          <p:nvPicPr>
            <p:cNvPr id="277512" name="图片 23"/>
            <p:cNvPicPr>
              <a:picLocks noChangeAspect="1"/>
            </p:cNvPicPr>
            <p:nvPr/>
          </p:nvPicPr>
          <p:blipFill>
            <a:blip r:embed="rId4"/>
            <a:stretch>
              <a:fillRect/>
            </a:stretch>
          </p:blipFill>
          <p:spPr>
            <a:xfrm>
              <a:off x="6860" y="2195"/>
              <a:ext cx="655" cy="378"/>
            </a:xfrm>
            <a:prstGeom prst="rect">
              <a:avLst/>
            </a:prstGeom>
            <a:noFill/>
            <a:ln w="9525">
              <a:noFill/>
            </a:ln>
          </p:spPr>
        </p:pic>
        <p:pic>
          <p:nvPicPr>
            <p:cNvPr id="277513" name="图片 24"/>
            <p:cNvPicPr>
              <a:picLocks noChangeAspect="1"/>
            </p:cNvPicPr>
            <p:nvPr/>
          </p:nvPicPr>
          <p:blipFill>
            <a:blip r:embed="rId4"/>
            <a:stretch>
              <a:fillRect/>
            </a:stretch>
          </p:blipFill>
          <p:spPr>
            <a:xfrm>
              <a:off x="4396" y="2195"/>
              <a:ext cx="655" cy="378"/>
            </a:xfrm>
            <a:prstGeom prst="rect">
              <a:avLst/>
            </a:prstGeom>
            <a:noFill/>
            <a:ln w="9525">
              <a:noFill/>
            </a:ln>
          </p:spPr>
        </p:pic>
      </p:grpSp>
      <p:pic>
        <p:nvPicPr>
          <p:cNvPr id="277514" name="图片 26"/>
          <p:cNvPicPr>
            <a:picLocks noChangeAspect="1"/>
          </p:cNvPicPr>
          <p:nvPr/>
        </p:nvPicPr>
        <p:blipFill>
          <a:blip r:embed="rId5"/>
          <a:stretch>
            <a:fillRect/>
          </a:stretch>
        </p:blipFill>
        <p:spPr>
          <a:xfrm>
            <a:off x="4755515" y="2997200"/>
            <a:ext cx="304800" cy="209550"/>
          </a:xfrm>
          <a:prstGeom prst="rect">
            <a:avLst/>
          </a:prstGeom>
          <a:noFill/>
          <a:ln w="9525">
            <a:noFill/>
          </a:ln>
        </p:spPr>
      </p:pic>
      <p:pic>
        <p:nvPicPr>
          <p:cNvPr id="277515" name="图片 27"/>
          <p:cNvPicPr>
            <a:picLocks noChangeAspect="1"/>
          </p:cNvPicPr>
          <p:nvPr/>
        </p:nvPicPr>
        <p:blipFill>
          <a:blip r:embed="rId5"/>
          <a:stretch>
            <a:fillRect/>
          </a:stretch>
        </p:blipFill>
        <p:spPr>
          <a:xfrm>
            <a:off x="4160838" y="5162550"/>
            <a:ext cx="304800" cy="209550"/>
          </a:xfrm>
          <a:prstGeom prst="rect">
            <a:avLst/>
          </a:prstGeom>
          <a:noFill/>
          <a:ln w="9525">
            <a:noFill/>
          </a:ln>
        </p:spPr>
      </p:pic>
      <p:pic>
        <p:nvPicPr>
          <p:cNvPr id="277516" name="图片 28"/>
          <p:cNvPicPr>
            <a:picLocks noChangeAspect="1"/>
          </p:cNvPicPr>
          <p:nvPr/>
        </p:nvPicPr>
        <p:blipFill>
          <a:blip r:embed="rId6"/>
          <a:stretch>
            <a:fillRect/>
          </a:stretch>
        </p:blipFill>
        <p:spPr>
          <a:xfrm>
            <a:off x="2627630" y="2991485"/>
            <a:ext cx="314325" cy="209550"/>
          </a:xfrm>
          <a:prstGeom prst="rect">
            <a:avLst/>
          </a:prstGeom>
          <a:noFill/>
          <a:ln w="9525">
            <a:noFill/>
          </a:ln>
        </p:spPr>
      </p:pic>
      <p:pic>
        <p:nvPicPr>
          <p:cNvPr id="277517" name="图片 29"/>
          <p:cNvPicPr>
            <a:picLocks noChangeAspect="1"/>
          </p:cNvPicPr>
          <p:nvPr/>
        </p:nvPicPr>
        <p:blipFill>
          <a:blip r:embed="rId6"/>
          <a:stretch>
            <a:fillRect/>
          </a:stretch>
        </p:blipFill>
        <p:spPr>
          <a:xfrm>
            <a:off x="1691323" y="5151755"/>
            <a:ext cx="314325" cy="209550"/>
          </a:xfrm>
          <a:prstGeom prst="rect">
            <a:avLst/>
          </a:prstGeom>
          <a:noFill/>
          <a:ln w="9525">
            <a:noFill/>
          </a:ln>
        </p:spPr>
      </p:pic>
      <p:pic>
        <p:nvPicPr>
          <p:cNvPr id="277518" name="图片 31"/>
          <p:cNvPicPr>
            <a:picLocks noChangeAspect="1"/>
          </p:cNvPicPr>
          <p:nvPr/>
        </p:nvPicPr>
        <p:blipFill>
          <a:blip r:embed="rId7"/>
          <a:stretch>
            <a:fillRect/>
          </a:stretch>
        </p:blipFill>
        <p:spPr>
          <a:xfrm>
            <a:off x="971550" y="3201035"/>
            <a:ext cx="285750" cy="276225"/>
          </a:xfrm>
          <a:prstGeom prst="rect">
            <a:avLst/>
          </a:prstGeom>
          <a:noFill/>
          <a:ln w="9525">
            <a:noFill/>
          </a:ln>
        </p:spPr>
      </p:pic>
      <p:pic>
        <p:nvPicPr>
          <p:cNvPr id="277519" name="图片 34"/>
          <p:cNvPicPr>
            <a:picLocks noChangeAspect="1"/>
          </p:cNvPicPr>
          <p:nvPr/>
        </p:nvPicPr>
        <p:blipFill>
          <a:blip r:embed="rId8"/>
          <a:stretch>
            <a:fillRect/>
          </a:stretch>
        </p:blipFill>
        <p:spPr>
          <a:xfrm>
            <a:off x="6804025" y="2924810"/>
            <a:ext cx="333375" cy="276225"/>
          </a:xfrm>
          <a:prstGeom prst="rect">
            <a:avLst/>
          </a:prstGeom>
          <a:noFill/>
          <a:ln w="9525">
            <a:noFill/>
          </a:ln>
        </p:spPr>
      </p:pic>
      <p:pic>
        <p:nvPicPr>
          <p:cNvPr id="277520" name="图片 35"/>
          <p:cNvPicPr>
            <a:picLocks noChangeAspect="1"/>
          </p:cNvPicPr>
          <p:nvPr/>
        </p:nvPicPr>
        <p:blipFill>
          <a:blip r:embed="rId8"/>
          <a:stretch>
            <a:fillRect/>
          </a:stretch>
        </p:blipFill>
        <p:spPr>
          <a:xfrm>
            <a:off x="5940108" y="5085080"/>
            <a:ext cx="333375" cy="276225"/>
          </a:xfrm>
          <a:prstGeom prst="rect">
            <a:avLst/>
          </a:prstGeom>
          <a:noFill/>
          <a:ln w="9525">
            <a:noFill/>
          </a:ln>
        </p:spPr>
      </p:pic>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8529" name="标题 768001"/>
          <p:cNvSpPr>
            <a:spLocks noGrp="1"/>
          </p:cNvSpPr>
          <p:nvPr>
            <p:ph type="title"/>
          </p:nvPr>
        </p:nvSpPr>
        <p:spPr>
          <a:xfrm>
            <a:off x="539750" y="980123"/>
            <a:ext cx="7772400" cy="4772025"/>
          </a:xfrm>
          <a:noFill/>
          <a:ln>
            <a:noFill/>
          </a:ln>
        </p:spPr>
        <p:txBody>
          <a:bodyPr anchor="t" anchorCtr="0"/>
          <a:p>
            <a:pPr algn="l">
              <a:lnSpc>
                <a:spcPct val="130000"/>
              </a:lnSpc>
              <a:buClr>
                <a:schemeClr val="accent2"/>
              </a:buClr>
              <a:buFont typeface="Wingdings" panose="05000000000000000000" pitchFamily="2" charset="2"/>
              <a:buChar char="Ø"/>
            </a:pPr>
            <a:r>
              <a:rPr lang="en-US" altLang="zh-CN" sz="2400" b="1" dirty="0">
                <a:latin typeface="微软雅黑" panose="020B0503020204020204" charset="-122"/>
                <a:ea typeface="微软雅黑" panose="020B0503020204020204" charset="-122"/>
                <a:cs typeface="微软雅黑" panose="020B0503020204020204" charset="-122"/>
              </a:rPr>
              <a:t> </a:t>
            </a:r>
            <a:r>
              <a:rPr lang="en-US" altLang="zh-CN" sz="2400" b="1" dirty="0">
                <a:solidFill>
                  <a:schemeClr val="accent2"/>
                </a:solidFill>
                <a:latin typeface="微软雅黑" panose="020B0503020204020204" charset="-122"/>
                <a:ea typeface="微软雅黑" panose="020B0503020204020204" charset="-122"/>
                <a:cs typeface="微软雅黑" panose="020B0503020204020204" charset="-122"/>
              </a:rPr>
              <a:t>if  </a:t>
            </a:r>
            <a:r>
              <a:rPr lang="zh-CN" altLang="en-US" sz="2400" b="1" dirty="0">
                <a:solidFill>
                  <a:schemeClr val="accent2"/>
                </a:solidFill>
                <a:latin typeface="微软雅黑" panose="020B0503020204020204" charset="-122"/>
                <a:ea typeface="微软雅黑" panose="020B0503020204020204" charset="-122"/>
                <a:cs typeface="微软雅黑" panose="020B0503020204020204" charset="-122"/>
              </a:rPr>
              <a:t>模式</a:t>
            </a:r>
            <a:br>
              <a:rPr lang="zh-CN" altLang="en-US" sz="2400" b="1" dirty="0">
                <a:latin typeface="微软雅黑" panose="020B0503020204020204" charset="-122"/>
                <a:ea typeface="微软雅黑" panose="020B0503020204020204" charset="-122"/>
                <a:cs typeface="微软雅黑" panose="020B0503020204020204" charset="-122"/>
              </a:rPr>
            </a:b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例</a:t>
            </a:r>
            <a:r>
              <a:rPr lang="en-US" altLang="zh-CN" sz="2400" b="1" dirty="0">
                <a:solidFill>
                  <a:srgbClr val="0000CC"/>
                </a:solidFill>
                <a:latin typeface="微软雅黑" panose="020B0503020204020204" charset="-122"/>
                <a:ea typeface="微软雅黑" panose="020B0503020204020204" charset="-122"/>
                <a:cs typeface="微软雅黑" panose="020B0503020204020204" charset="-122"/>
              </a:rPr>
              <a:t>5-29</a:t>
            </a: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a:t>
            </a:r>
            <a:r>
              <a:rPr lang="zh-CN" altLang="en-US" sz="2400" b="1" dirty="0">
                <a:latin typeface="微软雅黑" panose="020B0503020204020204" charset="-122"/>
                <a:ea typeface="微软雅黑" panose="020B0503020204020204" charset="-122"/>
                <a:cs typeface="微软雅黑" panose="020B0503020204020204" charset="-122"/>
              </a:rPr>
              <a:t> 描述</a:t>
            </a:r>
            <a:r>
              <a:rPr lang="en-US" altLang="zh-CN" sz="2400" b="1" dirty="0">
                <a:latin typeface="微软雅黑" panose="020B0503020204020204" charset="-122"/>
                <a:ea typeface="微软雅黑" panose="020B0503020204020204" charset="-122"/>
                <a:cs typeface="微软雅黑" panose="020B0503020204020204" charset="-122"/>
              </a:rPr>
              <a:t>1</a:t>
            </a:r>
            <a:br>
              <a:rPr lang="zh-CN" altLang="en-US" sz="2400" b="1" dirty="0">
                <a:latin typeface="微软雅黑" panose="020B0503020204020204" charset="-122"/>
                <a:ea typeface="微软雅黑" panose="020B0503020204020204" charset="-122"/>
                <a:cs typeface="微软雅黑" panose="020B0503020204020204" charset="-122"/>
              </a:rPr>
            </a:br>
            <a:r>
              <a:rPr lang="en-US" altLang="zh-CN" sz="2400" b="1">
                <a:latin typeface="+mn-lt"/>
                <a:ea typeface="微软雅黑" panose="020B0503020204020204" charset="-122"/>
                <a:cs typeface="+mn-lt"/>
              </a:rPr>
              <a:t>architecture  behavioral of adder4 IS</a:t>
            </a:r>
            <a:br>
              <a:rPr lang="en-US" altLang="zh-CN" sz="2400" b="1">
                <a:latin typeface="+mn-lt"/>
                <a:ea typeface="微软雅黑" panose="020B0503020204020204" charset="-122"/>
                <a:cs typeface="+mn-lt"/>
              </a:rPr>
            </a:br>
            <a:r>
              <a:rPr lang="en-US" altLang="zh-CN" sz="2400" b="1" err="1">
                <a:solidFill>
                  <a:srgbClr val="FF5050"/>
                </a:solidFill>
                <a:latin typeface="+mn-lt"/>
                <a:ea typeface="微软雅黑" panose="020B0503020204020204" charset="-122"/>
                <a:cs typeface="+mn-lt"/>
              </a:rPr>
              <a:t>signal c: std_logic_vector(3 downto</a:t>
            </a:r>
            <a:r>
              <a:rPr lang="en-US" altLang="zh-CN" sz="2400" b="1">
                <a:solidFill>
                  <a:srgbClr val="FF5050"/>
                </a:solidFill>
                <a:latin typeface="+mn-lt"/>
                <a:ea typeface="微软雅黑" panose="020B0503020204020204" charset="-122"/>
                <a:cs typeface="+mn-lt"/>
              </a:rPr>
              <a:t> 0);</a:t>
            </a:r>
            <a:br>
              <a:rPr lang="en-US" altLang="zh-CN" sz="2400" b="1" err="1">
                <a:latin typeface="+mn-lt"/>
                <a:ea typeface="微软雅黑" panose="020B0503020204020204" charset="-122"/>
                <a:cs typeface="+mn-lt"/>
              </a:rPr>
            </a:br>
            <a:r>
              <a:rPr lang="en-US" altLang="zh-CN" sz="2400" b="1" err="1">
                <a:latin typeface="+mn-lt"/>
                <a:ea typeface="微软雅黑" panose="020B0503020204020204" charset="-122"/>
                <a:cs typeface="+mn-lt"/>
              </a:rPr>
              <a:t>component adder1 is </a:t>
            </a:r>
            <a:br>
              <a:rPr lang="en-US" altLang="zh-CN" sz="2400" b="1" err="1">
                <a:latin typeface="+mn-lt"/>
                <a:ea typeface="微软雅黑" panose="020B0503020204020204" charset="-122"/>
                <a:cs typeface="+mn-lt"/>
              </a:rPr>
            </a:br>
            <a:r>
              <a:rPr lang="en-US" altLang="zh-CN" sz="2400" b="1" err="1">
                <a:latin typeface="+mn-lt"/>
                <a:ea typeface="微软雅黑" panose="020B0503020204020204" charset="-122"/>
                <a:cs typeface="+mn-lt"/>
              </a:rPr>
              <a:t>port ( a,b,ci : in std_logic;</a:t>
            </a:r>
            <a:br>
              <a:rPr lang="en-US" altLang="zh-CN" sz="2400" b="1" err="1">
                <a:latin typeface="+mn-lt"/>
                <a:ea typeface="微软雅黑" panose="020B0503020204020204" charset="-122"/>
                <a:cs typeface="+mn-lt"/>
              </a:rPr>
            </a:br>
            <a:r>
              <a:rPr lang="en-US" altLang="zh-CN" sz="2400" b="1" err="1">
                <a:latin typeface="+mn-lt"/>
                <a:ea typeface="微软雅黑" panose="020B0503020204020204" charset="-122"/>
                <a:cs typeface="+mn-lt"/>
              </a:rPr>
              <a:t>	   co,s: out std_logic</a:t>
            </a:r>
            <a:br>
              <a:rPr lang="en-US" altLang="zh-CN" sz="2400" b="1">
                <a:latin typeface="+mn-lt"/>
                <a:ea typeface="微软雅黑" panose="020B0503020204020204" charset="-122"/>
                <a:cs typeface="+mn-lt"/>
              </a:rPr>
            </a:br>
            <a:r>
              <a:rPr lang="en-US" altLang="zh-CN" sz="2400" b="1">
                <a:latin typeface="+mn-lt"/>
                <a:ea typeface="微软雅黑" panose="020B0503020204020204" charset="-122"/>
                <a:cs typeface="+mn-lt"/>
              </a:rPr>
              <a:t>         );</a:t>
            </a:r>
            <a:br>
              <a:rPr lang="en-US" altLang="zh-CN" sz="2400" b="1">
                <a:latin typeface="+mn-lt"/>
                <a:ea typeface="微软雅黑" panose="020B0503020204020204" charset="-122"/>
                <a:cs typeface="+mn-lt"/>
              </a:rPr>
            </a:br>
            <a:r>
              <a:rPr lang="en-US" altLang="zh-CN" sz="2400" b="1">
                <a:latin typeface="+mn-lt"/>
                <a:ea typeface="微软雅黑" panose="020B0503020204020204" charset="-122"/>
                <a:cs typeface="+mn-lt"/>
              </a:rPr>
              <a:t>end component;</a:t>
            </a:r>
            <a:br>
              <a:rPr lang="en-US" altLang="zh-CN" sz="2400" b="1">
                <a:latin typeface="+mn-lt"/>
                <a:ea typeface="微软雅黑" panose="020B0503020204020204" charset="-122"/>
                <a:cs typeface="+mn-lt"/>
              </a:rPr>
            </a:br>
            <a:r>
              <a:rPr lang="en-US" altLang="zh-CN" sz="2400" b="1">
                <a:latin typeface="+mn-lt"/>
                <a:ea typeface="微软雅黑" panose="020B0503020204020204" charset="-122"/>
                <a:cs typeface="+mn-lt"/>
              </a:rPr>
              <a:t>begin </a:t>
            </a:r>
            <a:endParaRPr lang="en-US" altLang="zh-CN" sz="2400" b="1">
              <a:latin typeface="+mn-lt"/>
              <a:ea typeface="微软雅黑" panose="020B0503020204020204" charset="-122"/>
              <a:cs typeface="+mn-lt"/>
            </a:endParaRPr>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3" name="标题 774145"/>
          <p:cNvSpPr>
            <a:spLocks noGrp="1"/>
          </p:cNvSpPr>
          <p:nvPr>
            <p:ph type="title"/>
          </p:nvPr>
        </p:nvSpPr>
        <p:spPr>
          <a:xfrm>
            <a:off x="0" y="938213"/>
            <a:ext cx="9321800" cy="5919787"/>
          </a:xfrm>
          <a:noFill/>
          <a:ln>
            <a:noFill/>
          </a:ln>
        </p:spPr>
        <p:txBody>
          <a:bodyPr anchor="t" anchorCtr="0"/>
          <a:p>
            <a:pPr algn="l">
              <a:lnSpc>
                <a:spcPct val="130000"/>
              </a:lnSpc>
              <a:buClr>
                <a:schemeClr val="accent2"/>
              </a:buClr>
            </a:pPr>
            <a:r>
              <a:rPr lang="en-US" altLang="zh-CN" sz="2400" b="1" err="1">
                <a:latin typeface="Times New Roman" panose="02020603050405020304" pitchFamily="18" charset="0"/>
              </a:rPr>
              <a:t>adder_gen</a:t>
            </a:r>
            <a:r>
              <a:rPr lang="en-US" altLang="zh-CN" sz="2400" b="1">
                <a:latin typeface="Times New Roman" panose="02020603050405020304" pitchFamily="18" charset="0"/>
              </a:rPr>
              <a:t>:  for i in 0 to 3 generate</a:t>
            </a:r>
            <a:br>
              <a:rPr lang="en-US" altLang="zh-CN" sz="2400" b="1">
                <a:latin typeface="Times New Roman" panose="02020603050405020304" pitchFamily="18" charset="0"/>
              </a:rPr>
            </a:br>
            <a:r>
              <a:rPr lang="en-US" altLang="zh-CN" sz="2400" b="1">
                <a:latin typeface="Times New Roman" panose="02020603050405020304" pitchFamily="18" charset="0"/>
              </a:rPr>
              <a:t>low:   if </a:t>
            </a:r>
            <a:r>
              <a:rPr lang="en-US" altLang="zh-CN" sz="2400" b="1">
                <a:solidFill>
                  <a:srgbClr val="FF5050"/>
                </a:solidFill>
                <a:latin typeface="Times New Roman" panose="02020603050405020304" pitchFamily="18" charset="0"/>
              </a:rPr>
              <a:t> i=0</a:t>
            </a:r>
            <a:r>
              <a:rPr lang="en-US" altLang="zh-CN" sz="2400" b="1" err="1">
                <a:latin typeface="Times New Roman" panose="02020603050405020304" pitchFamily="18" charset="0"/>
              </a:rPr>
              <a:t>  generate </a:t>
            </a:r>
            <a:br>
              <a:rPr lang="en-US" altLang="zh-CN" sz="2400" b="1" err="1">
                <a:latin typeface="Times New Roman" panose="02020603050405020304" pitchFamily="18" charset="0"/>
              </a:rPr>
            </a:br>
            <a:r>
              <a:rPr lang="en-US" altLang="zh-CN" sz="2400" b="1" err="1">
                <a:latin typeface="Times New Roman" panose="02020603050405020304" pitchFamily="18" charset="0"/>
              </a:rPr>
              <a:t>  U1:  </a:t>
            </a:r>
            <a:r>
              <a:rPr lang="en-US" altLang="zh-CN" sz="2400" b="1" err="1">
                <a:solidFill>
                  <a:srgbClr val="FF0000"/>
                </a:solidFill>
                <a:latin typeface="Times New Roman" panose="02020603050405020304" pitchFamily="18" charset="0"/>
              </a:rPr>
              <a:t>adder1 port map(a=&gt;a(0),b=&gt;b(0),ci=&gt;cin,co=&gt;c(0),s=&gt;sum(0));</a:t>
            </a:r>
            <a:br>
              <a:rPr lang="en-US" altLang="zh-CN" sz="2400" b="1" err="1">
                <a:solidFill>
                  <a:srgbClr val="FF0000"/>
                </a:solidFill>
                <a:latin typeface="Times New Roman" panose="02020603050405020304" pitchFamily="18" charset="0"/>
              </a:rPr>
            </a:br>
            <a:r>
              <a:rPr lang="en-US" altLang="zh-CN" sz="2400" b="1" err="1">
                <a:latin typeface="Times New Roman" panose="02020603050405020304" pitchFamily="18" charset="0"/>
              </a:rPr>
              <a:t>   end generate;</a:t>
            </a:r>
            <a:br>
              <a:rPr lang="en-US" altLang="zh-CN" sz="2400" b="1" err="1">
                <a:latin typeface="Times New Roman" panose="02020603050405020304" pitchFamily="18" charset="0"/>
              </a:rPr>
            </a:br>
            <a:r>
              <a:rPr lang="en-US" altLang="zh-CN" sz="2400" b="1" err="1">
                <a:latin typeface="Times New Roman" panose="02020603050405020304" pitchFamily="18" charset="0"/>
              </a:rPr>
              <a:t>other: if I in 1 to 3 generate </a:t>
            </a:r>
            <a:br>
              <a:rPr lang="en-US" altLang="zh-CN" sz="2400" b="1" err="1">
                <a:latin typeface="Times New Roman" panose="02020603050405020304" pitchFamily="18" charset="0"/>
              </a:rPr>
            </a:br>
            <a:r>
              <a:rPr lang="en-US" altLang="zh-CN" sz="2400" b="1" err="1">
                <a:latin typeface="Times New Roman" panose="02020603050405020304" pitchFamily="18" charset="0"/>
              </a:rPr>
              <a:t>  U2:  </a:t>
            </a:r>
            <a:r>
              <a:rPr lang="en-US" altLang="zh-CN" sz="2400" b="1" err="1">
                <a:solidFill>
                  <a:srgbClr val="FF0000"/>
                </a:solidFill>
                <a:latin typeface="Times New Roman" panose="02020603050405020304" pitchFamily="18" charset="0"/>
              </a:rPr>
              <a:t>adder1 port map(a=&gt;a(i),b=&gt;b(i),ci=&gt;c(i-1),co=&gt;c(i),s=&gt;sum(i</a:t>
            </a:r>
            <a:r>
              <a:rPr lang="en-US" altLang="zh-CN" sz="2400" b="1">
                <a:solidFill>
                  <a:srgbClr val="FF0000"/>
                </a:solidFill>
                <a:latin typeface="Times New Roman" panose="02020603050405020304" pitchFamily="18" charset="0"/>
              </a:rPr>
              <a:t>));</a:t>
            </a:r>
            <a:br>
              <a:rPr lang="en-US" altLang="zh-CN" sz="2400" b="1">
                <a:solidFill>
                  <a:srgbClr val="FF0000"/>
                </a:solidFill>
                <a:latin typeface="Times New Roman" panose="02020603050405020304" pitchFamily="18" charset="0"/>
              </a:rPr>
            </a:br>
            <a:r>
              <a:rPr lang="en-US" altLang="zh-CN" sz="2400" b="1">
                <a:solidFill>
                  <a:srgbClr val="FF0000"/>
                </a:solidFill>
                <a:latin typeface="Times New Roman" panose="02020603050405020304" pitchFamily="18" charset="0"/>
              </a:rPr>
              <a:t>	end generate;</a:t>
            </a:r>
            <a:br>
              <a:rPr lang="en-US" altLang="zh-CN" sz="2400" b="1">
                <a:solidFill>
                  <a:srgbClr val="FF0000"/>
                </a:solidFill>
                <a:latin typeface="Times New Roman" panose="02020603050405020304" pitchFamily="18" charset="0"/>
              </a:rPr>
            </a:br>
            <a:r>
              <a:rPr lang="en-US" altLang="zh-CN" sz="2400" b="1">
                <a:latin typeface="Times New Roman" panose="02020603050405020304" pitchFamily="18" charset="0"/>
              </a:rPr>
              <a:t>  end generate;</a:t>
            </a:r>
            <a:br>
              <a:rPr lang="en-US" altLang="zh-CN" sz="2400" b="1">
                <a:latin typeface="Times New Roman" panose="02020603050405020304" pitchFamily="18" charset="0"/>
              </a:rPr>
            </a:br>
            <a:r>
              <a:rPr lang="en-US" altLang="zh-CN" sz="2400" b="1">
                <a:latin typeface="Times New Roman" panose="02020603050405020304" pitchFamily="18" charset="0"/>
              </a:rPr>
              <a:t>   co&lt;=c(3);</a:t>
            </a:r>
            <a:br>
              <a:rPr lang="en-US" altLang="zh-CN" sz="2400" b="1">
                <a:latin typeface="Times New Roman" panose="02020603050405020304" pitchFamily="18" charset="0"/>
              </a:rPr>
            </a:br>
            <a:r>
              <a:rPr lang="en-US" altLang="zh-CN" sz="2400" b="1">
                <a:latin typeface="Times New Roman" panose="02020603050405020304" pitchFamily="18" charset="0"/>
              </a:rPr>
              <a:t>end behavioral;</a:t>
            </a:r>
            <a:endParaRPr lang="en-US" altLang="zh-CN" sz="2400" b="1">
              <a:latin typeface="Times New Roman" panose="02020603050405020304" pitchFamily="18" charset="0"/>
            </a:endParaRP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0577" name="标题 768001"/>
          <p:cNvSpPr>
            <a:spLocks noGrp="1"/>
          </p:cNvSpPr>
          <p:nvPr>
            <p:ph type="title"/>
          </p:nvPr>
        </p:nvSpPr>
        <p:spPr>
          <a:xfrm>
            <a:off x="673100" y="1316038"/>
            <a:ext cx="7772400" cy="4772025"/>
          </a:xfrm>
          <a:noFill/>
          <a:ln>
            <a:noFill/>
          </a:ln>
        </p:spPr>
        <p:txBody>
          <a:bodyPr anchor="t" anchorCtr="0"/>
          <a:p>
            <a:pPr algn="l">
              <a:lnSpc>
                <a:spcPct val="130000"/>
              </a:lnSpc>
              <a:buClr>
                <a:schemeClr val="accent2"/>
              </a:buClr>
              <a:buFont typeface="Wingdings" panose="05000000000000000000" pitchFamily="2" charset="2"/>
            </a:pP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例</a:t>
            </a:r>
            <a:r>
              <a:rPr lang="en-US" altLang="zh-CN" sz="2400" b="1" dirty="0">
                <a:solidFill>
                  <a:srgbClr val="0000CC"/>
                </a:solidFill>
                <a:latin typeface="微软雅黑" panose="020B0503020204020204" charset="-122"/>
                <a:ea typeface="微软雅黑" panose="020B0503020204020204" charset="-122"/>
                <a:cs typeface="微软雅黑" panose="020B0503020204020204" charset="-122"/>
              </a:rPr>
              <a:t>5-29</a:t>
            </a:r>
            <a:r>
              <a:rPr lang="zh-CN" altLang="en-US" sz="2400" b="1" dirty="0">
                <a:solidFill>
                  <a:srgbClr val="0000CC"/>
                </a:solidFill>
                <a:latin typeface="微软雅黑" panose="020B0503020204020204" charset="-122"/>
                <a:ea typeface="微软雅黑" panose="020B0503020204020204" charset="-122"/>
                <a:cs typeface="微软雅黑" panose="020B0503020204020204" charset="-122"/>
              </a:rPr>
              <a:t>：</a:t>
            </a:r>
            <a:r>
              <a:rPr lang="zh-CN" altLang="en-US" sz="2400" b="1" dirty="0">
                <a:latin typeface="微软雅黑" panose="020B0503020204020204" charset="-122"/>
                <a:ea typeface="微软雅黑" panose="020B0503020204020204" charset="-122"/>
                <a:cs typeface="微软雅黑" panose="020B0503020204020204" charset="-122"/>
              </a:rPr>
              <a:t> 描述</a:t>
            </a:r>
            <a:r>
              <a:rPr lang="en-US" altLang="zh-CN" sz="2400" b="1" dirty="0">
                <a:latin typeface="微软雅黑" panose="020B0503020204020204" charset="-122"/>
                <a:ea typeface="微软雅黑" panose="020B0503020204020204" charset="-122"/>
                <a:cs typeface="微软雅黑" panose="020B0503020204020204" charset="-122"/>
              </a:rPr>
              <a:t>2</a:t>
            </a:r>
            <a:br>
              <a:rPr lang="zh-CN" altLang="en-US" sz="2400" b="1" dirty="0">
                <a:latin typeface="微软雅黑" panose="020B0503020204020204" charset="-122"/>
                <a:ea typeface="微软雅黑" panose="020B0503020204020204" charset="-122"/>
                <a:cs typeface="微软雅黑" panose="020B0503020204020204" charset="-122"/>
              </a:rPr>
            </a:br>
            <a:r>
              <a:rPr lang="en-US" altLang="zh-CN" sz="2400" b="1">
                <a:latin typeface="Times New Roman" panose="02020603050405020304" pitchFamily="18" charset="0"/>
                <a:ea typeface="微软雅黑" panose="020B0503020204020204" charset="-122"/>
                <a:cs typeface="Times New Roman" panose="02020603050405020304" pitchFamily="18" charset="0"/>
              </a:rPr>
              <a:t>architecture  behavioral of adder4 IS</a:t>
            </a:r>
            <a:br>
              <a:rPr lang="en-US" altLang="zh-CN" sz="2400" b="1">
                <a:latin typeface="Times New Roman" panose="02020603050405020304" pitchFamily="18" charset="0"/>
                <a:ea typeface="微软雅黑" panose="020B0503020204020204" charset="-122"/>
                <a:cs typeface="Times New Roman" panose="02020603050405020304" pitchFamily="18" charset="0"/>
              </a:rPr>
            </a:br>
            <a:r>
              <a:rPr lang="en-US" altLang="zh-CN" sz="2400" b="1" err="1">
                <a:solidFill>
                  <a:srgbClr val="FF5050"/>
                </a:solidFill>
                <a:latin typeface="Times New Roman" panose="02020603050405020304" pitchFamily="18" charset="0"/>
                <a:ea typeface="微软雅黑" panose="020B0503020204020204" charset="-122"/>
                <a:cs typeface="Times New Roman" panose="02020603050405020304" pitchFamily="18" charset="0"/>
              </a:rPr>
              <a:t>signal c: std_logic_vector(3 downto</a:t>
            </a:r>
            <a:r>
              <a:rPr lang="en-US" altLang="zh-CN" sz="2400" b="1">
                <a:solidFill>
                  <a:srgbClr val="FF5050"/>
                </a:solidFill>
                <a:latin typeface="Times New Roman" panose="02020603050405020304" pitchFamily="18" charset="0"/>
                <a:ea typeface="微软雅黑" panose="020B0503020204020204" charset="-122"/>
                <a:cs typeface="Times New Roman" panose="02020603050405020304" pitchFamily="18" charset="0"/>
              </a:rPr>
              <a:t> 0);</a:t>
            </a:r>
            <a:br>
              <a:rPr lang="en-US" altLang="zh-CN" sz="2400" b="1" err="1">
                <a:latin typeface="Times New Roman" panose="02020603050405020304" pitchFamily="18" charset="0"/>
                <a:ea typeface="微软雅黑" panose="020B0503020204020204" charset="-122"/>
                <a:cs typeface="Times New Roman" panose="02020603050405020304" pitchFamily="18" charset="0"/>
              </a:rPr>
            </a:br>
            <a:r>
              <a:rPr lang="en-US" altLang="zh-CN" sz="2400" b="1" err="1">
                <a:latin typeface="Times New Roman" panose="02020603050405020304" pitchFamily="18" charset="0"/>
                <a:ea typeface="微软雅黑" panose="020B0503020204020204" charset="-122"/>
                <a:cs typeface="Times New Roman" panose="02020603050405020304" pitchFamily="18" charset="0"/>
              </a:rPr>
              <a:t>component adder1 is </a:t>
            </a:r>
            <a:br>
              <a:rPr lang="en-US" altLang="zh-CN" sz="2400" b="1" err="1">
                <a:latin typeface="Times New Roman" panose="02020603050405020304" pitchFamily="18" charset="0"/>
                <a:ea typeface="微软雅黑" panose="020B0503020204020204" charset="-122"/>
                <a:cs typeface="Times New Roman" panose="02020603050405020304" pitchFamily="18" charset="0"/>
              </a:rPr>
            </a:br>
            <a:r>
              <a:rPr lang="en-US" altLang="zh-CN" sz="2400" b="1" err="1">
                <a:latin typeface="Times New Roman" panose="02020603050405020304" pitchFamily="18" charset="0"/>
                <a:ea typeface="微软雅黑" panose="020B0503020204020204" charset="-122"/>
                <a:cs typeface="Times New Roman" panose="02020603050405020304" pitchFamily="18" charset="0"/>
              </a:rPr>
              <a:t>port ( a,b,ci : in std_logic;</a:t>
            </a:r>
            <a:br>
              <a:rPr lang="en-US" altLang="zh-CN" sz="2400" b="1" err="1">
                <a:latin typeface="Times New Roman" panose="02020603050405020304" pitchFamily="18" charset="0"/>
                <a:ea typeface="微软雅黑" panose="020B0503020204020204" charset="-122"/>
                <a:cs typeface="Times New Roman" panose="02020603050405020304" pitchFamily="18" charset="0"/>
              </a:rPr>
            </a:br>
            <a:r>
              <a:rPr lang="en-US" altLang="zh-CN" sz="2400" b="1" err="1">
                <a:latin typeface="Times New Roman" panose="02020603050405020304" pitchFamily="18" charset="0"/>
                <a:ea typeface="微软雅黑" panose="020B0503020204020204" charset="-122"/>
                <a:cs typeface="Times New Roman" panose="02020603050405020304" pitchFamily="18" charset="0"/>
              </a:rPr>
              <a:t>	   co,s: out std_logic</a:t>
            </a:r>
            <a:br>
              <a:rPr lang="en-US" altLang="zh-CN" sz="2400" b="1">
                <a:latin typeface="Times New Roman" panose="02020603050405020304" pitchFamily="18" charset="0"/>
                <a:ea typeface="微软雅黑" panose="020B0503020204020204" charset="-122"/>
                <a:cs typeface="Times New Roman" panose="02020603050405020304" pitchFamily="18" charset="0"/>
              </a:rPr>
            </a:br>
            <a:r>
              <a:rPr lang="en-US" altLang="zh-CN" sz="2400" b="1">
                <a:latin typeface="Times New Roman" panose="02020603050405020304" pitchFamily="18" charset="0"/>
                <a:ea typeface="微软雅黑" panose="020B0503020204020204" charset="-122"/>
                <a:cs typeface="Times New Roman" panose="02020603050405020304" pitchFamily="18" charset="0"/>
              </a:rPr>
              <a:t>         );</a:t>
            </a:r>
            <a:br>
              <a:rPr lang="en-US" altLang="zh-CN" sz="2400" b="1">
                <a:latin typeface="Times New Roman" panose="02020603050405020304" pitchFamily="18" charset="0"/>
                <a:ea typeface="微软雅黑" panose="020B0503020204020204" charset="-122"/>
                <a:cs typeface="Times New Roman" panose="02020603050405020304" pitchFamily="18" charset="0"/>
              </a:rPr>
            </a:br>
            <a:r>
              <a:rPr lang="en-US" altLang="zh-CN" sz="2400" b="1">
                <a:latin typeface="Times New Roman" panose="02020603050405020304" pitchFamily="18" charset="0"/>
                <a:ea typeface="微软雅黑" panose="020B0503020204020204" charset="-122"/>
                <a:cs typeface="Times New Roman" panose="02020603050405020304" pitchFamily="18" charset="0"/>
              </a:rPr>
              <a:t>end component;</a:t>
            </a:r>
            <a:br>
              <a:rPr lang="en-US" altLang="zh-CN" sz="2400" b="1">
                <a:latin typeface="Times New Roman" panose="02020603050405020304" pitchFamily="18" charset="0"/>
                <a:ea typeface="微软雅黑" panose="020B0503020204020204" charset="-122"/>
                <a:cs typeface="Times New Roman" panose="02020603050405020304" pitchFamily="18" charset="0"/>
              </a:rPr>
            </a:br>
            <a:r>
              <a:rPr lang="en-US" altLang="zh-CN" sz="2400" b="1">
                <a:latin typeface="Times New Roman" panose="02020603050405020304" pitchFamily="18" charset="0"/>
                <a:ea typeface="微软雅黑" panose="020B0503020204020204" charset="-122"/>
                <a:cs typeface="Times New Roman" panose="02020603050405020304" pitchFamily="18" charset="0"/>
              </a:rPr>
              <a:t>begin </a:t>
            </a:r>
            <a:endParaRPr lang="en-US" altLang="zh-CN" sz="2400" b="1">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1601" name="标题 774145"/>
          <p:cNvSpPr>
            <a:spLocks noGrp="1"/>
          </p:cNvSpPr>
          <p:nvPr>
            <p:ph type="title"/>
          </p:nvPr>
        </p:nvSpPr>
        <p:spPr>
          <a:xfrm>
            <a:off x="0" y="938213"/>
            <a:ext cx="9321800" cy="5919787"/>
          </a:xfrm>
          <a:noFill/>
          <a:ln>
            <a:noFill/>
          </a:ln>
        </p:spPr>
        <p:txBody>
          <a:bodyPr anchor="t" anchorCtr="0"/>
          <a:p>
            <a:pPr algn="l">
              <a:lnSpc>
                <a:spcPct val="130000"/>
              </a:lnSpc>
              <a:buClr>
                <a:schemeClr val="accent2"/>
              </a:buClr>
            </a:pPr>
            <a:r>
              <a:rPr lang="en-US" altLang="zh-CN" sz="2400" b="1" err="1">
                <a:latin typeface="Times New Roman" panose="02020603050405020304" pitchFamily="18" charset="0"/>
                <a:cs typeface="Times New Roman" panose="02020603050405020304" pitchFamily="18" charset="0"/>
              </a:rPr>
              <a:t>adder_gen</a:t>
            </a:r>
            <a:r>
              <a:rPr lang="en-US" altLang="zh-CN" sz="2400" b="1">
                <a:latin typeface="Times New Roman" panose="02020603050405020304" pitchFamily="18" charset="0"/>
                <a:cs typeface="Times New Roman" panose="02020603050405020304" pitchFamily="18" charset="0"/>
              </a:rPr>
              <a:t>:  for i in 0 to 3 generate</a:t>
            </a:r>
            <a:br>
              <a:rPr lang="en-US" altLang="zh-CN" sz="2400" b="1">
                <a:latin typeface="Times New Roman" panose="02020603050405020304" pitchFamily="18" charset="0"/>
                <a:cs typeface="Times New Roman" panose="02020603050405020304" pitchFamily="18" charset="0"/>
              </a:rPr>
            </a:br>
            <a:r>
              <a:rPr lang="en-US" altLang="zh-CN" sz="2400" b="1">
                <a:latin typeface="Times New Roman" panose="02020603050405020304" pitchFamily="18" charset="0"/>
                <a:cs typeface="Times New Roman" panose="02020603050405020304" pitchFamily="18" charset="0"/>
              </a:rPr>
              <a:t>low:   if </a:t>
            </a:r>
            <a:r>
              <a:rPr lang="en-US" altLang="zh-CN" sz="2400" b="1">
                <a:solidFill>
                  <a:srgbClr val="FF5050"/>
                </a:solidFill>
                <a:latin typeface="Times New Roman" panose="02020603050405020304" pitchFamily="18" charset="0"/>
                <a:cs typeface="Times New Roman" panose="02020603050405020304" pitchFamily="18" charset="0"/>
              </a:rPr>
              <a:t> i=0</a:t>
            </a:r>
            <a:r>
              <a:rPr lang="en-US" altLang="zh-CN" sz="2400" b="1" err="1">
                <a:latin typeface="Times New Roman" panose="02020603050405020304" pitchFamily="18" charset="0"/>
                <a:cs typeface="Times New Roman" panose="02020603050405020304" pitchFamily="18" charset="0"/>
              </a:rPr>
              <a:t>  generate </a:t>
            </a:r>
            <a:br>
              <a:rPr lang="en-US" altLang="zh-CN" sz="2400" b="1" err="1">
                <a:latin typeface="Times New Roman" panose="02020603050405020304" pitchFamily="18" charset="0"/>
                <a:cs typeface="Times New Roman" panose="02020603050405020304" pitchFamily="18" charset="0"/>
              </a:rPr>
            </a:br>
            <a:r>
              <a:rPr lang="en-US" altLang="zh-CN" sz="2400" b="1" err="1">
                <a:latin typeface="Times New Roman" panose="02020603050405020304" pitchFamily="18" charset="0"/>
                <a:cs typeface="Times New Roman" panose="02020603050405020304" pitchFamily="18" charset="0"/>
              </a:rPr>
              <a:t>  U1: </a:t>
            </a:r>
            <a:r>
              <a:rPr lang="en-US" altLang="zh-CN" sz="2400" b="1" dirty="0">
                <a:solidFill>
                  <a:srgbClr val="7030A0"/>
                </a:solidFill>
                <a:latin typeface="Times New Roman" panose="02020603050405020304" pitchFamily="18" charset="0"/>
                <a:cs typeface="Times New Roman" panose="02020603050405020304" pitchFamily="18" charset="0"/>
              </a:rPr>
              <a:t> </a:t>
            </a:r>
            <a:br>
              <a:rPr lang="en-US" altLang="zh-CN" sz="2400" b="1" dirty="0">
                <a:solidFill>
                  <a:srgbClr val="7030A0"/>
                </a:solidFill>
                <a:latin typeface="Times New Roman" panose="02020603050405020304" pitchFamily="18" charset="0"/>
                <a:cs typeface="Times New Roman" panose="02020603050405020304" pitchFamily="18" charset="0"/>
              </a:rPr>
            </a:br>
            <a:br>
              <a:rPr lang="en-US" altLang="zh-CN" sz="2400" b="1" dirty="0">
                <a:solidFill>
                  <a:srgbClr val="7030A0"/>
                </a:solidFill>
                <a:latin typeface="Times New Roman" panose="02020603050405020304" pitchFamily="18" charset="0"/>
                <a:cs typeface="Times New Roman" panose="02020603050405020304" pitchFamily="18" charset="0"/>
              </a:rPr>
            </a:br>
            <a:r>
              <a:rPr lang="en-US" altLang="zh-CN" sz="2400" b="1" err="1">
                <a:latin typeface="Times New Roman" panose="02020603050405020304" pitchFamily="18" charset="0"/>
                <a:cs typeface="Times New Roman" panose="02020603050405020304" pitchFamily="18" charset="0"/>
              </a:rPr>
              <a:t>       end generate;</a:t>
            </a:r>
            <a:br>
              <a:rPr lang="en-US" altLang="zh-CN" sz="2400" b="1" err="1">
                <a:latin typeface="Times New Roman" panose="02020603050405020304" pitchFamily="18" charset="0"/>
                <a:cs typeface="Times New Roman" panose="02020603050405020304" pitchFamily="18" charset="0"/>
              </a:rPr>
            </a:br>
            <a:r>
              <a:rPr lang="en-US" altLang="zh-CN" sz="2400" b="1" err="1">
                <a:latin typeface="Times New Roman" panose="02020603050405020304" pitchFamily="18" charset="0"/>
                <a:cs typeface="Times New Roman" panose="02020603050405020304" pitchFamily="18" charset="0"/>
              </a:rPr>
              <a:t>other: if I in 1 to 3 generate </a:t>
            </a:r>
            <a:br>
              <a:rPr lang="en-US" altLang="zh-CN" sz="2400" b="1" err="1">
                <a:latin typeface="Times New Roman" panose="02020603050405020304" pitchFamily="18" charset="0"/>
                <a:cs typeface="Times New Roman" panose="02020603050405020304" pitchFamily="18" charset="0"/>
              </a:rPr>
            </a:br>
            <a:r>
              <a:rPr lang="en-US" altLang="zh-CN" sz="2400" b="1" err="1">
                <a:latin typeface="Times New Roman" panose="02020603050405020304" pitchFamily="18" charset="0"/>
                <a:cs typeface="Times New Roman" panose="02020603050405020304" pitchFamily="18" charset="0"/>
              </a:rPr>
              <a:t>  U2: </a:t>
            </a:r>
            <a:br>
              <a:rPr lang="en-US" altLang="zh-CN" sz="2400" b="1" err="1">
                <a:latin typeface="Times New Roman" panose="02020603050405020304" pitchFamily="18" charset="0"/>
                <a:cs typeface="Times New Roman" panose="02020603050405020304" pitchFamily="18" charset="0"/>
              </a:rPr>
            </a:br>
            <a:br>
              <a:rPr lang="en-US" altLang="zh-CN" sz="2400" b="1" err="1">
                <a:latin typeface="Times New Roman" panose="02020603050405020304" pitchFamily="18" charset="0"/>
                <a:cs typeface="Times New Roman" panose="02020603050405020304" pitchFamily="18" charset="0"/>
              </a:rPr>
            </a:br>
            <a:r>
              <a:rPr lang="zh-CN" altLang="zh-CN" sz="2400" b="1" dirty="0">
                <a:solidFill>
                  <a:srgbClr val="7030A0"/>
                </a:solidFill>
                <a:latin typeface="Times New Roman" panose="02020603050405020304" pitchFamily="18" charset="0"/>
                <a:cs typeface="Times New Roman" panose="02020603050405020304" pitchFamily="18" charset="0"/>
              </a:rPr>
              <a:t>      </a:t>
            </a:r>
            <a:r>
              <a:rPr lang="en-US" altLang="zh-CN" sz="2400" b="1">
                <a:latin typeface="Times New Roman" panose="02020603050405020304" pitchFamily="18" charset="0"/>
                <a:cs typeface="Times New Roman" panose="02020603050405020304" pitchFamily="18" charset="0"/>
              </a:rPr>
              <a:t>end generate;</a:t>
            </a:r>
            <a:br>
              <a:rPr lang="en-US" altLang="zh-CN" sz="2400" b="1">
                <a:latin typeface="Times New Roman" panose="02020603050405020304" pitchFamily="18" charset="0"/>
                <a:cs typeface="Times New Roman" panose="02020603050405020304" pitchFamily="18" charset="0"/>
              </a:rPr>
            </a:br>
            <a:r>
              <a:rPr lang="en-US" altLang="zh-CN" sz="2400" b="1">
                <a:latin typeface="Times New Roman" panose="02020603050405020304" pitchFamily="18" charset="0"/>
                <a:cs typeface="Times New Roman" panose="02020603050405020304" pitchFamily="18" charset="0"/>
              </a:rPr>
              <a:t>  end generate;</a:t>
            </a:r>
            <a:br>
              <a:rPr lang="en-US" altLang="zh-CN" sz="2400" b="1">
                <a:latin typeface="Times New Roman" panose="02020603050405020304" pitchFamily="18" charset="0"/>
                <a:cs typeface="Times New Roman" panose="02020603050405020304" pitchFamily="18" charset="0"/>
              </a:rPr>
            </a:br>
            <a:r>
              <a:rPr lang="en-US" altLang="zh-CN" sz="2400" b="1">
                <a:latin typeface="Times New Roman" panose="02020603050405020304" pitchFamily="18" charset="0"/>
                <a:cs typeface="Times New Roman" panose="02020603050405020304" pitchFamily="18" charset="0"/>
              </a:rPr>
              <a:t>   co&lt;=c(3);</a:t>
            </a:r>
            <a:br>
              <a:rPr lang="en-US" altLang="zh-CN" sz="2400" b="1">
                <a:latin typeface="Times New Roman" panose="02020603050405020304" pitchFamily="18" charset="0"/>
                <a:cs typeface="Times New Roman" panose="02020603050405020304" pitchFamily="18" charset="0"/>
              </a:rPr>
            </a:br>
            <a:r>
              <a:rPr lang="en-US" altLang="zh-CN" sz="2400" b="1">
                <a:latin typeface="Times New Roman" panose="02020603050405020304" pitchFamily="18" charset="0"/>
                <a:cs typeface="Times New Roman" panose="02020603050405020304" pitchFamily="18" charset="0"/>
              </a:rPr>
              <a:t>end behavioral;</a:t>
            </a:r>
            <a:endParaRPr lang="en-US" altLang="zh-CN" sz="2400" b="1">
              <a:latin typeface="Times New Roman" panose="02020603050405020304" pitchFamily="18" charset="0"/>
              <a:cs typeface="Times New Roman" panose="02020603050405020304" pitchFamily="18" charset="0"/>
            </a:endParaRPr>
          </a:p>
        </p:txBody>
      </p:sp>
      <p:sp>
        <p:nvSpPr>
          <p:cNvPr id="2" name="文本框 1"/>
          <p:cNvSpPr txBox="1"/>
          <p:nvPr/>
        </p:nvSpPr>
        <p:spPr>
          <a:xfrm>
            <a:off x="762000" y="2032000"/>
            <a:ext cx="8194675" cy="1198563"/>
          </a:xfrm>
          <a:prstGeom prst="rect">
            <a:avLst/>
          </a:prstGeom>
          <a:noFill/>
          <a:ln w="9525">
            <a:noFill/>
          </a:ln>
        </p:spPr>
        <p:txBody>
          <a:bodyPr wrap="square" anchor="t" anchorCtr="0">
            <a:spAutoFit/>
          </a:bodyPr>
          <a:p>
            <a:r>
              <a:rPr lang="en-US" altLang="zh-CN" sz="2400" b="1" dirty="0">
                <a:solidFill>
                  <a:srgbClr val="7030A0"/>
                </a:solidFill>
                <a:latin typeface="Times New Roman" panose="02020603050405020304" pitchFamily="18" charset="0"/>
                <a:ea typeface="宋体" panose="02010600030101010101" pitchFamily="2" charset="-122"/>
                <a:sym typeface="宋体" panose="02010600030101010101" pitchFamily="2" charset="-122"/>
              </a:rPr>
              <a:t> </a:t>
            </a:r>
            <a:r>
              <a:rPr lang="pl-PL"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SUM(</a:t>
            </a:r>
            <a:r>
              <a:rPr lang="en-US" altLang="pl-PL"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0</a:t>
            </a:r>
            <a:r>
              <a:rPr lang="pl-PL"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 &lt;= A(</a:t>
            </a:r>
            <a:r>
              <a:rPr lang="en-US" altLang="pl-PL"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0</a:t>
            </a:r>
            <a:r>
              <a:rPr lang="pl-PL"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 </a:t>
            </a:r>
            <a:r>
              <a:rPr lang="en-US" altLang="zh-CN" sz="2400" b="1" dirty="0" err="1">
                <a:solidFill>
                  <a:srgbClr val="FF0000"/>
                </a:solidFill>
                <a:latin typeface="Times New Roman" panose="02020603050405020304" pitchFamily="18" charset="0"/>
                <a:ea typeface="宋体" panose="02010600030101010101" pitchFamily="2" charset="-122"/>
                <a:sym typeface="宋体" panose="02010600030101010101" pitchFamily="2" charset="-122"/>
              </a:rPr>
              <a:t>xor</a:t>
            </a:r>
            <a:r>
              <a:rPr lang="pl-PL"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 B(</a:t>
            </a:r>
            <a:r>
              <a:rPr lang="en-US" altLang="pl-PL"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0</a:t>
            </a:r>
            <a:r>
              <a:rPr lang="pl-PL"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 </a:t>
            </a:r>
            <a:r>
              <a:rPr lang="en-US" altLang="zh-CN" sz="2400" b="1" dirty="0" err="1">
                <a:solidFill>
                  <a:srgbClr val="FF0000"/>
                </a:solidFill>
                <a:latin typeface="Times New Roman" panose="02020603050405020304" pitchFamily="18" charset="0"/>
                <a:ea typeface="宋体" panose="02010600030101010101" pitchFamily="2" charset="-122"/>
                <a:sym typeface="宋体" panose="02010600030101010101" pitchFamily="2" charset="-122"/>
              </a:rPr>
              <a:t>xor</a:t>
            </a:r>
            <a:r>
              <a:rPr lang="pl-PL"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 </a:t>
            </a:r>
            <a:r>
              <a:rPr lang="en-US" altLang="pl-PL"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CIN</a:t>
            </a:r>
            <a:r>
              <a:rPr lang="pl-PL"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a:t>
            </a:r>
            <a:br>
              <a:rPr lang="zh-CN" altLang="zh-CN" sz="2400" b="1" dirty="0">
                <a:solidFill>
                  <a:srgbClr val="FF0000"/>
                </a:solidFill>
                <a:latin typeface="Times New Roman" panose="02020603050405020304" pitchFamily="18" charset="0"/>
                <a:ea typeface="宋体" panose="02010600030101010101" pitchFamily="2" charset="-122"/>
              </a:rPr>
            </a:br>
            <a:r>
              <a:rPr lang="en-US"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 C(0) &lt;= (A(0) and B(0)) or (A(0) and CIN) or (B(0) and CIN);</a:t>
            </a:r>
            <a:br>
              <a:rPr lang="zh-CN" altLang="zh-CN" sz="2400" b="1" dirty="0">
                <a:solidFill>
                  <a:srgbClr val="FF0000"/>
                </a:solidFill>
                <a:latin typeface="Times New Roman" panose="02020603050405020304" pitchFamily="18" charset="0"/>
                <a:ea typeface="宋体" panose="02010600030101010101" pitchFamily="2" charset="-122"/>
              </a:rPr>
            </a:br>
            <a:endParaRPr lang="zh-CN" altLang="zh-CN" sz="2400" b="1" dirty="0">
              <a:solidFill>
                <a:srgbClr val="FF0000"/>
              </a:solidFill>
              <a:latin typeface="Times New Roman" panose="02020603050405020304" pitchFamily="18" charset="0"/>
              <a:ea typeface="宋体" panose="02010600030101010101" pitchFamily="2" charset="-122"/>
            </a:endParaRPr>
          </a:p>
        </p:txBody>
      </p:sp>
      <p:sp>
        <p:nvSpPr>
          <p:cNvPr id="3" name="文本框 2"/>
          <p:cNvSpPr txBox="1"/>
          <p:nvPr/>
        </p:nvSpPr>
        <p:spPr>
          <a:xfrm>
            <a:off x="762000" y="3897313"/>
            <a:ext cx="8272463" cy="1198562"/>
          </a:xfrm>
          <a:prstGeom prst="rect">
            <a:avLst/>
          </a:prstGeom>
          <a:noFill/>
          <a:ln w="9525">
            <a:noFill/>
          </a:ln>
        </p:spPr>
        <p:txBody>
          <a:bodyPr wrap="square" anchor="t" anchorCtr="0">
            <a:spAutoFit/>
          </a:bodyPr>
          <a:p>
            <a:r>
              <a:rPr lang="pl-PL"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SUM(</a:t>
            </a:r>
            <a:r>
              <a:rPr lang="en-US" altLang="pl-PL"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i</a:t>
            </a:r>
            <a:r>
              <a:rPr lang="pl-PL"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 &lt;= A(</a:t>
            </a:r>
            <a:r>
              <a:rPr lang="en-US" altLang="pl-PL"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i</a:t>
            </a:r>
            <a:r>
              <a:rPr lang="pl-PL"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 </a:t>
            </a:r>
            <a:r>
              <a:rPr lang="en-US" altLang="zh-CN" sz="2400" b="1" dirty="0" err="1">
                <a:solidFill>
                  <a:srgbClr val="FF0000"/>
                </a:solidFill>
                <a:latin typeface="Times New Roman" panose="02020603050405020304" pitchFamily="18" charset="0"/>
                <a:ea typeface="宋体" panose="02010600030101010101" pitchFamily="2" charset="-122"/>
                <a:sym typeface="宋体" panose="02010600030101010101" pitchFamily="2" charset="-122"/>
              </a:rPr>
              <a:t>xor</a:t>
            </a:r>
            <a:r>
              <a:rPr lang="pl-PL"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 B(</a:t>
            </a:r>
            <a:r>
              <a:rPr lang="en-US" altLang="pl-PL"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i</a:t>
            </a:r>
            <a:r>
              <a:rPr lang="pl-PL"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 </a:t>
            </a:r>
            <a:r>
              <a:rPr lang="en-US" altLang="zh-CN" sz="2400" b="1" dirty="0" err="1">
                <a:solidFill>
                  <a:srgbClr val="FF0000"/>
                </a:solidFill>
                <a:latin typeface="Times New Roman" panose="02020603050405020304" pitchFamily="18" charset="0"/>
                <a:ea typeface="宋体" panose="02010600030101010101" pitchFamily="2" charset="-122"/>
                <a:sym typeface="宋体" panose="02010600030101010101" pitchFamily="2" charset="-122"/>
              </a:rPr>
              <a:t>xor</a:t>
            </a:r>
            <a:r>
              <a:rPr lang="pl-PL"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 C(</a:t>
            </a:r>
            <a:r>
              <a:rPr lang="en-US" altLang="pl-PL"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i-1</a:t>
            </a:r>
            <a:r>
              <a:rPr lang="pl-PL"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a:t>
            </a:r>
            <a:br>
              <a:rPr lang="zh-CN" altLang="zh-CN" sz="2400" b="1" dirty="0">
                <a:solidFill>
                  <a:srgbClr val="FF0000"/>
                </a:solidFill>
                <a:latin typeface="Times New Roman" panose="02020603050405020304" pitchFamily="18" charset="0"/>
                <a:ea typeface="宋体" panose="02010600030101010101" pitchFamily="2" charset="-122"/>
              </a:rPr>
            </a:br>
            <a:r>
              <a:rPr lang="en-US" altLang="zh-CN" sz="2400" b="1" dirty="0">
                <a:solidFill>
                  <a:srgbClr val="FF0000"/>
                </a:solidFill>
                <a:latin typeface="Times New Roman" panose="02020603050405020304" pitchFamily="18" charset="0"/>
                <a:ea typeface="宋体" panose="02010600030101010101" pitchFamily="2" charset="-122"/>
                <a:sym typeface="宋体" panose="02010600030101010101" pitchFamily="2" charset="-122"/>
              </a:rPr>
              <a:t> C(i) &lt;= (A(i) and B(i)) or (A(i) and C(i-1)) or (B(i) and C(i-1));</a:t>
            </a:r>
            <a:br>
              <a:rPr lang="zh-CN" altLang="zh-CN" sz="2400" b="1" dirty="0">
                <a:solidFill>
                  <a:srgbClr val="FF0000"/>
                </a:solidFill>
                <a:latin typeface="Times New Roman" panose="02020603050405020304" pitchFamily="18" charset="0"/>
                <a:ea typeface="宋体" panose="02010600030101010101" pitchFamily="2" charset="-122"/>
              </a:rPr>
            </a:br>
            <a:endParaRPr lang="zh-CN" altLang="zh-CN" sz="24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1" grpId="1"/>
      <p:bldP spid="2" grpId="0"/>
      <p:bldP spid="2" grpId="1"/>
      <p:bldP spid="3" grpId="0"/>
      <p:bldP spid="3" grpId="1"/>
    </p:bldLst>
  </p:timing>
</p:sld>
</file>

<file path=ppt/tags/tag1.xml><?xml version="1.0" encoding="utf-8"?>
<p:tagLst xmlns:p="http://schemas.openxmlformats.org/presentationml/2006/main">
  <p:tag name="KSO_WM_UNIT_PLACING_PICTURE_USER_VIEWPORT" val="{&quot;height&quot;:5940,&quot;width&quot;:9817.4992125984245}"/>
</p:tagLst>
</file>

<file path=ppt/tags/tag2.xml><?xml version="1.0" encoding="utf-8"?>
<p:tagLst xmlns:p="http://schemas.openxmlformats.org/presentationml/2006/main">
  <p:tag name="KSO_WPP_MARK_KEY" val="77ed8b66-f046-4fee-9cfc-ca9e68c1e832"/>
  <p:tag name="COMMONDATA" val="eyJoZGlkIjoiMDRiNWM4ZTRkMzMxZWMzM2IxMDc5NzU0Njk3ODNlNzAifQ=="/>
</p:tagLst>
</file>

<file path=ppt/theme/theme1.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5231</Words>
  <Application>WPS 演示</Application>
  <PresentationFormat>全屏显示(4:3)</PresentationFormat>
  <Paragraphs>198</Paragraphs>
  <Slides>30</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30</vt:i4>
      </vt:variant>
    </vt:vector>
  </HeadingPairs>
  <TitlesOfParts>
    <vt:vector size="46" baseType="lpstr">
      <vt:lpstr>Arial</vt:lpstr>
      <vt:lpstr>宋体</vt:lpstr>
      <vt:lpstr>Wingdings</vt:lpstr>
      <vt:lpstr>Times New Roman</vt:lpstr>
      <vt:lpstr>Verdana</vt:lpstr>
      <vt:lpstr>隶书</vt:lpstr>
      <vt:lpstr>华文行楷</vt:lpstr>
      <vt:lpstr>微软雅黑</vt:lpstr>
      <vt:lpstr>楷体_GB2312</vt:lpstr>
      <vt:lpstr>新宋体</vt:lpstr>
      <vt:lpstr>Arial Unicode MS</vt:lpstr>
      <vt:lpstr>Calibri</vt:lpstr>
      <vt:lpstr>1_默认设计模板</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for 模式 格式： for 循环变量 in 离散范围 generate                  并行语句；              end  generate;  生成n个完全相同的并行语句指定的结构。主要用于描述简单重复结构。</vt:lpstr>
      <vt:lpstr> for 模式 例5-28：  </vt:lpstr>
      <vt:lpstr>例5-28： 描述1 architecture  behavioral of adder4 IS signal c: std_logic_vector( 4 downto 0); component adder1 is  port ( a : in std_logic;            b : in std_logic;            ci: in std_logic;            co: out std_logic; 	s : out std_logic  ); end component; </vt:lpstr>
      <vt:lpstr> begin                c(0)&lt;=cin; 	   cout&lt;=c(4); adder_gen:  for i in 0 to 3 generate U:  adder1  port map(a=&gt;a(i),b=&gt;b(i),ci=&gt;c(i),co=&gt;c(i+1),s=&gt;s(i)); end generate; end behavioral;</vt:lpstr>
      <vt:lpstr>例5-28： 描述2 </vt:lpstr>
      <vt:lpstr> if  模式 格式： if &lt;条件 &gt; generate                  并行语句；              end  generate; 实现有条件的复制，用来描述重复结构中例外的情况。 作为for   generate中特例的描述。</vt:lpstr>
      <vt:lpstr> if  模式 例5-29：  </vt:lpstr>
      <vt:lpstr> if  模式 例5-29： 描述1 architecture  behavioral of adder4 IS signal c: std_logic_vector(3 downto 0); component adder1 is  port ( a,b,ci : in std_logic; 	   co,s: out std_logic          ); end component; begin </vt:lpstr>
      <vt:lpstr>adder_gen:  for i in 0 to 3 generate low:   if  i=0  generate    U1:  adder1 port map(a=&gt;a(0),b=&gt;b(0),ci=&gt;cin,co=&gt;c(0),s=&gt;sum(0));    end generate; other: if I in 1 to 3 generate    U2:  adder1 port map(a=&gt;a(i),b=&gt;b(i),ci=&gt;c(i-1),co=&gt;c(i),s=&gt;sum(i)); 	end generate;   end generate;    co&lt;=c(3); end behavioral;</vt:lpstr>
      <vt:lpstr>例5-29： 描述2 architecture  behavioral of adder4 IS signal c: std_logic_vector(3 downto 0); component adder1 is  port ( a,b,ci : in std_logic; 	   co,s: out std_logic          ); end component; begin </vt:lpstr>
      <vt:lpstr>adder_gen:  for i in 0 to 3 generate low:   if  i=0  generate    U1:           end generate; other: if I in 1 to 3 generate    U2:         end generate;   end generate;    co&lt;=c(3); end behavioral;</vt:lpstr>
    </vt:vector>
  </TitlesOfParts>
  <Company>njust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wjx</dc:creator>
  <cp:lastModifiedBy>林惜汐</cp:lastModifiedBy>
  <cp:revision>283</cp:revision>
  <dcterms:created xsi:type="dcterms:W3CDTF">2006-04-19T05:22:00Z</dcterms:created>
  <dcterms:modified xsi:type="dcterms:W3CDTF">2026-04-23T05:57:28Z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5697599ECCA24FEF9DCF7629C7543150</vt:lpwstr>
  </property>
</Properties>
</file>