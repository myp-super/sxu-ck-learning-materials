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387" r:id="rId3"/>
    <p:sldId id="928" r:id="rId4"/>
    <p:sldId id="847" r:id="rId5"/>
    <p:sldId id="848" r:id="rId6"/>
    <p:sldId id="849" r:id="rId7"/>
    <p:sldId id="916" r:id="rId8"/>
    <p:sldId id="850" r:id="rId9"/>
    <p:sldId id="851" r:id="rId10"/>
    <p:sldId id="852" r:id="rId11"/>
    <p:sldId id="855" r:id="rId12"/>
    <p:sldId id="856" r:id="rId13"/>
    <p:sldId id="859" r:id="rId14"/>
    <p:sldId id="860" r:id="rId15"/>
    <p:sldId id="861" r:id="rId16"/>
    <p:sldId id="862" r:id="rId17"/>
    <p:sldId id="865" r:id="rId18"/>
    <p:sldId id="866" r:id="rId19"/>
    <p:sldId id="868" r:id="rId20"/>
    <p:sldId id="873" r:id="rId21"/>
    <p:sldId id="869" r:id="rId22"/>
    <p:sldId id="870" r:id="rId23"/>
    <p:sldId id="871" r:id="rId24"/>
    <p:sldId id="872" r:id="rId25"/>
    <p:sldId id="876" r:id="rId26"/>
    <p:sldId id="877" r:id="rId27"/>
    <p:sldId id="879" r:id="rId28"/>
    <p:sldId id="878" r:id="rId29"/>
    <p:sldId id="880" r:id="rId30"/>
    <p:sldId id="881" r:id="rId31"/>
    <p:sldId id="883" r:id="rId32"/>
    <p:sldId id="884" r:id="rId33"/>
    <p:sldId id="885" r:id="rId34"/>
    <p:sldId id="894" r:id="rId35"/>
    <p:sldId id="895" r:id="rId36"/>
    <p:sldId id="896" r:id="rId37"/>
    <p:sldId id="897" r:id="rId38"/>
    <p:sldId id="900" r:id="rId39"/>
    <p:sldId id="901" r:id="rId40"/>
    <p:sldId id="899" r:id="rId41"/>
    <p:sldId id="886" r:id="rId42"/>
    <p:sldId id="888" r:id="rId43"/>
    <p:sldId id="890" r:id="rId44"/>
    <p:sldId id="891" r:id="rId45"/>
    <p:sldId id="892" r:id="rId46"/>
    <p:sldId id="893" r:id="rId47"/>
    <p:sldId id="902" r:id="rId48"/>
    <p:sldId id="912" r:id="rId49"/>
    <p:sldId id="913" r:id="rId50"/>
    <p:sldId id="914" r:id="rId51"/>
    <p:sldId id="915" r:id="rId52"/>
    <p:sldId id="903" r:id="rId53"/>
    <p:sldId id="904" r:id="rId54"/>
    <p:sldId id="917" r:id="rId55"/>
    <p:sldId id="918" r:id="rId56"/>
    <p:sldId id="905" r:id="rId57"/>
    <p:sldId id="906" r:id="rId58"/>
    <p:sldId id="907" r:id="rId59"/>
    <p:sldId id="908" r:id="rId61"/>
    <p:sldId id="909" r:id="rId62"/>
    <p:sldId id="910" r:id="rId63"/>
    <p:sldId id="911" r:id="rId64"/>
    <p:sldId id="919" r:id="rId65"/>
    <p:sldId id="920" r:id="rId66"/>
    <p:sldId id="921" r:id="rId67"/>
    <p:sldId id="922" r:id="rId68"/>
    <p:sldId id="923" r:id="rId69"/>
    <p:sldId id="924" r:id="rId70"/>
    <p:sldId id="925" r:id="rId71"/>
    <p:sldId id="926" r:id="rId72"/>
    <p:sldId id="927" r:id="rId73"/>
  </p:sldIdLst>
  <p:sldSz cx="9144000" cy="6858000" type="screen4x3"/>
  <p:notesSz cx="6858000" cy="9144000"/>
  <p:custDataLst>
    <p:tags r:id="rId7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60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8" Type="http://schemas.openxmlformats.org/officeDocument/2006/relationships/tags" Target="tags/tag16.xml"/><Relationship Id="rId77" Type="http://schemas.openxmlformats.org/officeDocument/2006/relationships/commentAuthors" Target="commentAuthors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2467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 algn="r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2468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4514" name="备注占位符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4515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 algn="r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4516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6563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 algn="r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  <p:sp>
        <p:nvSpPr>
          <p:cNvPr id="66564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4.xml"/><Relationship Id="rId4" Type="http://schemas.openxmlformats.org/officeDocument/2006/relationships/image" Target="../media/image12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6.xml"/><Relationship Id="rId2" Type="http://schemas.openxmlformats.org/officeDocument/2006/relationships/image" Target="../media/image17.emf"/><Relationship Id="rId1" Type="http://schemas.openxmlformats.org/officeDocument/2006/relationships/tags" Target="../tags/tag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3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97633"/>
          <p:cNvSpPr>
            <a:spLocks noGrp="1"/>
          </p:cNvSpPr>
          <p:nvPr>
            <p:ph type="title"/>
          </p:nvPr>
        </p:nvSpPr>
        <p:spPr>
          <a:xfrm>
            <a:off x="323215" y="836930"/>
            <a:ext cx="8229600" cy="1143000"/>
          </a:xfrm>
          <a:noFill/>
          <a:ln>
            <a:noFill/>
          </a:ln>
        </p:spPr>
        <p:txBody>
          <a:bodyPr anchor="t"/>
          <a:p>
            <a:pPr algn="ctr"/>
            <a: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 常用电路的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b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44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3508" name="矩形 533507"/>
          <p:cNvSpPr/>
          <p:nvPr/>
        </p:nvSpPr>
        <p:spPr>
          <a:xfrm>
            <a:off x="971550" y="1917065"/>
            <a:ext cx="3671888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本章内容：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53350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31595" y="2708910"/>
            <a:ext cx="7002780" cy="3521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组合电路设计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算数逻辑单元设计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时序电路设计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①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计数器及其应用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Calibri" panose="020F0502020204030204" charset="0"/>
                <a:ea typeface="微软雅黑" panose="020B0503020204020204" charset="-122"/>
              </a:rPr>
              <a:t>②</a:t>
            </a:r>
            <a:r>
              <a:rPr lang="zh-CN" altLang="en-US" sz="2400" b="1" dirty="0">
                <a:latin typeface="Calibri" panose="020F0502020204030204" charset="0"/>
                <a:ea typeface="微软雅黑" panose="020B0503020204020204" charset="-122"/>
              </a:rPr>
              <a:t>移位寄存器及其应用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存储器设计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状态机设计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8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矩形 314372"/>
          <p:cNvSpPr/>
          <p:nvPr/>
        </p:nvSpPr>
        <p:spPr>
          <a:xfrm>
            <a:off x="684530" y="1844040"/>
            <a:ext cx="7989570" cy="288861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组合电路的</a:t>
            </a:r>
            <a:r>
              <a:rPr lang="en-US" altLang="zh-CN"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描述方法：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、真值表：行为描述（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：有优先级；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、表达式：数据流（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、逻辑电路：结构式（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元件例化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21" name="标题 534529"/>
          <p:cNvSpPr>
            <a:spLocks noGrp="1"/>
          </p:cNvSpPr>
          <p:nvPr/>
        </p:nvSpPr>
        <p:spPr>
          <a:xfrm>
            <a:off x="457200" y="839470"/>
            <a:ext cx="8229600" cy="721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组合逻辑电路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4531" name="文本占位符 534530"/>
          <p:cNvSpPr>
            <a:spLocks noGrp="1"/>
          </p:cNvSpPr>
          <p:nvPr/>
        </p:nvSpPr>
        <p:spPr>
          <a:xfrm>
            <a:off x="611505" y="4594225"/>
            <a:ext cx="8150225" cy="17284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组合逻辑电路的功能可以用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真值表、表达式、电路图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等方式描述。基于这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种方式可以分别采用行为式、数据流式和结构式的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描述风格及层次。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4532" name="矩形 534531"/>
          <p:cNvSpPr/>
          <p:nvPr/>
        </p:nvSpPr>
        <p:spPr>
          <a:xfrm>
            <a:off x="611505" y="431800"/>
            <a:ext cx="7416800" cy="583057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常见的组合逻辑电路：</a:t>
            </a:r>
            <a:endParaRPr lang="zh-CN" altLang="en-US" sz="3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基本门电路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编码器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译码器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数据选择器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数据比较器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8bit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位的加法器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总线缓冲器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4531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build="p"/>
      <p:bldP spid="5345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2" name="矩形 735237"/>
          <p:cNvSpPr/>
          <p:nvPr/>
        </p:nvSpPr>
        <p:spPr>
          <a:xfrm>
            <a:off x="291465" y="16637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基本门电路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484630"/>
            <a:ext cx="6750050" cy="37401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2" name="矩形 735237"/>
          <p:cNvSpPr/>
          <p:nvPr/>
        </p:nvSpPr>
        <p:spPr>
          <a:xfrm>
            <a:off x="291465" y="16637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基本门电路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type="subTitle" idx="1"/>
          </p:nvPr>
        </p:nvSpPr>
        <p:spPr>
          <a:xfrm>
            <a:off x="812800" y="881380"/>
            <a:ext cx="7517765" cy="5714365"/>
          </a:xfrm>
        </p:spPr>
        <p:txBody>
          <a:bodyPr vert="horz" wrap="square" lIns="91440" tIns="45720" rIns="91440" bIns="45720" anchor="t"/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-2</a:t>
            </a:r>
            <a:endParaRPr lang="en-US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Library ieee;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 ieee.std_logic_1164.all; </a:t>
            </a:r>
            <a:endParaRPr lang="en-US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Entity and_gate_4  is 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Port(a, b,c,d   :    in   std_logic;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f       :    out  std_logic);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 and_gate_4;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architecture rtl  of  </a:t>
            </a: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and_gate_4</a:t>
            </a: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is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f&lt;=a  and  b  and c  and  d;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 rtl; </a:t>
            </a:r>
            <a:endParaRPr lang="zh-CN" altLang="zh-CN" sz="2400" b="1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735237"/>
          <p:cNvSpPr/>
          <p:nvPr/>
        </p:nvSpPr>
        <p:spPr>
          <a:xfrm>
            <a:off x="5821680" y="1199515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4193" name="文本占位符 736257"/>
          <p:cNvSpPr>
            <a:spLocks noGrp="1"/>
          </p:cNvSpPr>
          <p:nvPr>
            <p:ph idx="1"/>
          </p:nvPr>
        </p:nvSpPr>
        <p:spPr>
          <a:xfrm>
            <a:off x="1121410" y="1485900"/>
            <a:ext cx="7343140" cy="5059680"/>
          </a:xfrm>
        </p:spPr>
        <p:txBody>
          <a:bodyPr anchor="t" anchorCtr="0"/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LIBRARY IEEE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ENTITY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AND_GATE_2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PORT(A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IN STD_LOGIC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                       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OUT STD_LOGIC)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ENTITY ND2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ARCHITECTURE DATAFLOW OF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 C&lt;=A AND B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ARCHITECTURE ARTND2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4194" name="矩形 736258"/>
          <p:cNvSpPr/>
          <p:nvPr/>
        </p:nvSpPr>
        <p:spPr>
          <a:xfrm>
            <a:off x="673100" y="981075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下层元件描述</a:t>
            </a:r>
            <a:endParaRPr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矩形 735237"/>
          <p:cNvSpPr/>
          <p:nvPr/>
        </p:nvSpPr>
        <p:spPr>
          <a:xfrm>
            <a:off x="6228080" y="548640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结构化描述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1550" y="4051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7030A0"/>
                </a:solidFill>
                <a:ea typeface="+mn-ea"/>
                <a:cs typeface="Times New Roman" panose="02020603050405020304" pitchFamily="18" charset="0"/>
                <a:sym typeface="+mn-ea"/>
              </a:rPr>
              <a:t>例</a:t>
            </a:r>
            <a:r>
              <a:rPr lang="en-US" altLang="zh-CN" sz="2400" dirty="0">
                <a:solidFill>
                  <a:srgbClr val="7030A0"/>
                </a:solidFill>
                <a:ea typeface="+mn-ea"/>
                <a:cs typeface="Times New Roman" panose="02020603050405020304" pitchFamily="18" charset="0"/>
                <a:sym typeface="+mn-ea"/>
              </a:rPr>
              <a:t>6-3</a:t>
            </a:r>
            <a:endParaRPr lang="en-US" altLang="zh-CN" sz="2400" dirty="0">
              <a:solidFill>
                <a:srgbClr val="7030A0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5217" name="文本占位符 737281"/>
          <p:cNvSpPr>
            <a:spLocks noGrp="1"/>
          </p:cNvSpPr>
          <p:nvPr>
            <p:ph idx="1"/>
          </p:nvPr>
        </p:nvSpPr>
        <p:spPr>
          <a:xfrm>
            <a:off x="1295400" y="1389063"/>
            <a:ext cx="6400800" cy="4992687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LIBRARY IEEE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USE  IEEE.STD_LOGIC_1164.ALL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ENTITY AND_GATE_4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PORT(A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IN STD_LOGIC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                             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OUT STD_LOGIC)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ENTITY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AND_GATE_4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STRUCTURE OF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AND_GATE_4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COMPONENT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  PORT(A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IN STD_LOGIC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OUT STD_LOGIC)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COMPONENT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5218" name="矩形 737283"/>
          <p:cNvSpPr/>
          <p:nvPr/>
        </p:nvSpPr>
        <p:spPr>
          <a:xfrm>
            <a:off x="673100" y="476250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上层元件引用</a:t>
            </a:r>
            <a:endParaRPr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41" name="文本占位符 738305"/>
          <p:cNvSpPr>
            <a:spLocks noGrp="1"/>
          </p:cNvSpPr>
          <p:nvPr>
            <p:ph idx="1"/>
          </p:nvPr>
        </p:nvSpPr>
        <p:spPr>
          <a:xfrm>
            <a:off x="468313" y="1909763"/>
            <a:ext cx="8280400" cy="3895725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5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SIGNAL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TEMP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TEMP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STD_LOGIC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U1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PORT MAP (A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TEMP1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             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U2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PORT MAP (C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TEMP2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U3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AND_GATE_2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PORT MAP (TEMP1, TEMP2,   F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                               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ARCHITECTURE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STRUCTURE</a:t>
            </a:r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42" name="矩形 738306"/>
          <p:cNvSpPr/>
          <p:nvPr/>
        </p:nvSpPr>
        <p:spPr>
          <a:xfrm>
            <a:off x="673100" y="476250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上层元件引用</a:t>
            </a:r>
            <a:endParaRPr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2"/>
          <p:cNvSpPr>
            <a:spLocks noGrp="1"/>
          </p:cNvSpPr>
          <p:nvPr>
            <p:ph type="subTitle" idx="1"/>
          </p:nvPr>
        </p:nvSpPr>
        <p:spPr>
          <a:xfrm>
            <a:off x="23813" y="1341438"/>
            <a:ext cx="9120187" cy="5040312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buClrTx/>
              <a:buSzTx/>
              <a:buFontTx/>
            </a:pP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例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8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-3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编码器</a:t>
            </a:r>
            <a:endParaRPr lang="zh-CN" altLang="zh-CN" sz="2400" b="1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encoder_8_3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port ( d : in std_logic_vector 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y :out std_logic_vector (2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archi of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编码器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21680" y="1199515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738495" y="2391410"/>
            <a:ext cx="2967990" cy="3138170"/>
            <a:chOff x="9240" y="3775"/>
            <a:chExt cx="4674" cy="49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2"/>
          <p:cNvSpPr>
            <a:spLocks noGrp="1"/>
          </p:cNvSpPr>
          <p:nvPr>
            <p:ph type="subTitle" idx="1"/>
          </p:nvPr>
        </p:nvSpPr>
        <p:spPr>
          <a:xfrm>
            <a:off x="24130" y="87630"/>
            <a:ext cx="9119870" cy="6099175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 process (d)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if (d = “10000000”) then code &lt;= “111”;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“01000000”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“110”;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“00100000”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“101”;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“00010000”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“100”;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“00001000”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“011”;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“00000100”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“010”;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elsif (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d = “00000010”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) then code &lt;= “001”;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elsif (d = “00000001”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) then code &lt;= “000”;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else code&lt;= “ZZZ”;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end if;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end process;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archi;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FontTx/>
            </a:pPr>
            <a:endParaRPr lang="zh-CN" altLang="en-US" sz="2400" b="1" kern="1200" dirty="0">
              <a:solidFill>
                <a:srgbClr val="7030A0"/>
              </a:solidFill>
              <a:latin typeface="微软雅黑" panose="020B0503020204020204" charset="-122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627370" y="1958975"/>
            <a:ext cx="2967990" cy="3138170"/>
            <a:chOff x="9240" y="3775"/>
            <a:chExt cx="4674" cy="49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2"/>
          <p:cNvSpPr>
            <a:spLocks noGrp="1"/>
          </p:cNvSpPr>
          <p:nvPr>
            <p:ph type="subTitle" idx="1"/>
          </p:nvPr>
        </p:nvSpPr>
        <p:spPr>
          <a:xfrm>
            <a:off x="23813" y="1341438"/>
            <a:ext cx="9120187" cy="5040312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buClrTx/>
              <a:buSzTx/>
              <a:buFontTx/>
            </a:pP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例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6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-4   8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-3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编码器</a:t>
            </a:r>
            <a:endParaRPr lang="zh-CN" altLang="zh-CN" sz="2400" b="1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encoder_8_3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port ( d : in std_logic_vector 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y :out std_logic_vector (2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archi of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21680" y="1199515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87060" y="2328545"/>
            <a:ext cx="2967990" cy="3138170"/>
            <a:chOff x="9240" y="3775"/>
            <a:chExt cx="4674" cy="4942"/>
          </a:xfrm>
        </p:grpSpPr>
        <p:pic>
          <p:nvPicPr>
            <p:cNvPr id="7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" name="文本框 19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2"/>
          <p:cNvSpPr>
            <a:spLocks noGrp="1"/>
          </p:cNvSpPr>
          <p:nvPr>
            <p:ph type="subTitle" idx="1"/>
          </p:nvPr>
        </p:nvSpPr>
        <p:spPr>
          <a:xfrm>
            <a:off x="24130" y="147320"/>
            <a:ext cx="9119870" cy="6400800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process (d)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begin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case d is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when “10000000”   =&gt;  y&lt;= “111”;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“01000000”   =&gt;  y&lt;= “110”;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“00100000”   =&gt;  y&lt;= “101”;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“00010000”   =&gt;  y&lt;= “100”;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“00001000”   =&gt;  y&lt;= “011”;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“00000100”   =&gt;  y&lt;= “010”;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“00000010”   =&gt;  y&lt;= “001”;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“00000001”   =&gt;  y&lt;= “000”;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   others   =&gt;       y&lt;= “ZZZ”;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end case;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end process;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archi;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FontTx/>
            </a:pPr>
            <a:endParaRPr lang="zh-CN" altLang="en-US" sz="2400" b="1" kern="1200" dirty="0">
              <a:solidFill>
                <a:srgbClr val="7030A0"/>
              </a:solidFill>
              <a:latin typeface="微软雅黑" panose="020B0503020204020204" charset="-122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188585" y="2070735"/>
            <a:ext cx="2967990" cy="3138170"/>
            <a:chOff x="9240" y="3775"/>
            <a:chExt cx="4674" cy="49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2"/>
          <p:cNvSpPr>
            <a:spLocks noGrp="1"/>
          </p:cNvSpPr>
          <p:nvPr>
            <p:ph type="subTitle" idx="1"/>
          </p:nvPr>
        </p:nvSpPr>
        <p:spPr>
          <a:xfrm>
            <a:off x="23813" y="1341438"/>
            <a:ext cx="9120187" cy="5040312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buClrTx/>
              <a:buSzTx/>
              <a:buFontTx/>
            </a:pP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例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6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-5   8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-3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编码器</a:t>
            </a:r>
            <a:endParaRPr lang="zh-CN" altLang="zh-CN" sz="2400" b="1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encoder_8_3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port ( d : in std_logic_vector 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y :out std_logic_vector (2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archi of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21680" y="1199515"/>
            <a:ext cx="237744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87060" y="2328545"/>
            <a:ext cx="2967990" cy="3138170"/>
            <a:chOff x="9240" y="3775"/>
            <a:chExt cx="4674" cy="4942"/>
          </a:xfrm>
        </p:grpSpPr>
        <p:pic>
          <p:nvPicPr>
            <p:cNvPr id="7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" name="文本框 19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2"/>
          <p:cNvSpPr>
            <a:spLocks noGrp="1"/>
          </p:cNvSpPr>
          <p:nvPr>
            <p:ph type="subTitle" idx="1"/>
          </p:nvPr>
        </p:nvSpPr>
        <p:spPr>
          <a:xfrm>
            <a:off x="24130" y="525145"/>
            <a:ext cx="9119870" cy="5430520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with d select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y&lt;= “111”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when “10000000”  ,</a:t>
            </a:r>
            <a:endParaRPr lang="en-US" altLang="zh-CN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“110”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“01000000”  </a:t>
            </a: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,</a:t>
            </a:r>
            <a:endParaRPr lang="en-US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“101”</a:t>
            </a: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“00100000”  ,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“00010000”  ,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“011”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“00001000”  ,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“010”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“00000100”  </a:t>
            </a: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,</a:t>
            </a:r>
            <a:endParaRPr lang="en-US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“001”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“00000010”  ,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“000”</a:t>
            </a: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“00000001”  ,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“ZZZ”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others   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archi;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FontTx/>
            </a:pPr>
            <a:endParaRPr lang="zh-CN" altLang="en-US" sz="2400" b="1" kern="1200" dirty="0">
              <a:solidFill>
                <a:srgbClr val="7030A0"/>
              </a:solidFill>
              <a:latin typeface="微软雅黑" panose="020B0503020204020204" charset="-122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188585" y="2070735"/>
            <a:ext cx="2967990" cy="3138170"/>
            <a:chOff x="9240" y="3775"/>
            <a:chExt cx="4674" cy="49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2"/>
          <p:cNvSpPr>
            <a:spLocks noGrp="1"/>
          </p:cNvSpPr>
          <p:nvPr>
            <p:ph type="subTitle" idx="1"/>
          </p:nvPr>
        </p:nvSpPr>
        <p:spPr>
          <a:xfrm>
            <a:off x="23813" y="1341438"/>
            <a:ext cx="9120187" cy="5040312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buClrTx/>
              <a:buSzTx/>
              <a:buFontTx/>
            </a:pP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例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6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-6   8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-3</a:t>
            </a:r>
            <a:r>
              <a:rPr lang="zh-CN" altLang="en-US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线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编码器</a:t>
            </a:r>
            <a:endParaRPr lang="zh-CN" altLang="zh-CN" sz="2400" b="1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encoder_8_3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port ( d : in std_logic_vector 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y :out std_logic_vector (2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archi of </a:t>
            </a:r>
            <a:r>
              <a:rPr lang="en-US" altLang="zh-CN" sz="2000" b="1" kern="1200" dirty="0">
                <a:solidFill>
                  <a:srgbClr val="7030A0"/>
                </a:solidFill>
                <a:sym typeface="+mn-ea"/>
              </a:rPr>
              <a:t>encoder_8_3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21680" y="1199515"/>
            <a:ext cx="237744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87060" y="2328545"/>
            <a:ext cx="2967990" cy="3138170"/>
            <a:chOff x="9240" y="3775"/>
            <a:chExt cx="4674" cy="4942"/>
          </a:xfrm>
        </p:grpSpPr>
        <p:pic>
          <p:nvPicPr>
            <p:cNvPr id="7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" name="文本框 19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2"/>
          <p:cNvSpPr>
            <a:spLocks noGrp="1"/>
          </p:cNvSpPr>
          <p:nvPr>
            <p:ph type="subTitle" idx="1"/>
          </p:nvPr>
        </p:nvSpPr>
        <p:spPr>
          <a:xfrm>
            <a:off x="24130" y="525145"/>
            <a:ext cx="9119870" cy="5430520"/>
          </a:xfrm>
          <a:solidFill>
            <a:schemeClr val="bg1"/>
          </a:solidFill>
        </p:spPr>
        <p:txBody>
          <a:bodyPr vert="horz" wrap="square" lIns="91440" tIns="45720" rIns="91440" bIns="45720" anchor="t"/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y&lt;= “111”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when   d=“10000000” else</a:t>
            </a:r>
            <a:endParaRPr lang="en-US" altLang="zh-CN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“110”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d=“01000000”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en-US" altLang="zh-CN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“101”</a:t>
            </a:r>
            <a:r>
              <a:rPr lang="en-US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d=“00100000”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“100”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d=“00010000”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“011”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d=“00001000”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“010”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d=“00000100”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en-US" sz="2000" b="1" kern="1200" dirty="0">
              <a:solidFill>
                <a:srgbClr val="7030A0"/>
              </a:solidFill>
              <a:sym typeface="宋体" panose="02010600030101010101" pitchFamily="2" charset="-122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“001”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 d=“00000010”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“000”</a:t>
            </a:r>
            <a:r>
              <a:rPr lang="zh-CN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when  d=“00000001”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          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“ZZZ”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</a:t>
            </a:r>
            <a:r>
              <a:rPr lang="en-US" altLang="zh-CN" sz="2000" b="1" kern="1200" dirty="0">
                <a:solidFill>
                  <a:srgbClr val="7030A0"/>
                </a:solidFill>
                <a:sym typeface="宋体" panose="02010600030101010101" pitchFamily="2" charset="-122"/>
              </a:rPr>
              <a:t>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rPr>
              <a:t>    </a:t>
            </a: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archi;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</a:pPr>
            <a:endParaRPr lang="zh-CN" altLang="zh-CN" sz="20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FontTx/>
            </a:pPr>
            <a:endParaRPr lang="zh-CN" altLang="en-US" sz="2400" b="1" kern="1200" dirty="0">
              <a:solidFill>
                <a:srgbClr val="7030A0"/>
              </a:solidFill>
              <a:latin typeface="微软雅黑" panose="020B0503020204020204" charset="-122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188585" y="2070735"/>
            <a:ext cx="2967990" cy="3138170"/>
            <a:chOff x="9240" y="3775"/>
            <a:chExt cx="4674" cy="4942"/>
          </a:xfrm>
        </p:grpSpPr>
        <p:pic>
          <p:nvPicPr>
            <p:cNvPr id="4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40" y="3945"/>
              <a:ext cx="4675" cy="42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9409" y="3775"/>
              <a:ext cx="966" cy="4800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846" y="3945"/>
              <a:ext cx="966" cy="4773"/>
            </a:xfrm>
            <a:prstGeom prst="rect">
              <a:avLst/>
            </a:prstGeom>
            <a:solidFill>
              <a:schemeClr val="bg1"/>
            </a:solidFill>
          </p:spPr>
          <p:txBody>
            <a:bodyPr vert="eaVert" wrap="square" rtlCol="0">
              <a:spAutoFit/>
            </a:bodyPr>
            <a:p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74" y="404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D0</a:t>
              </a:r>
              <a:endParaRPr lang="en-US" altLang="zh-CN" sz="1600" b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48" y="458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D1</a:t>
              </a:r>
              <a:endParaRPr lang="en-US" altLang="zh-CN" sz="1600" b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48" y="503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D2</a:t>
              </a:r>
              <a:endParaRPr lang="en-US" altLang="zh-CN" sz="1600" b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74" y="559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D3</a:t>
              </a:r>
              <a:endParaRPr lang="en-US" altLang="zh-CN" sz="1600" b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48" y="6066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D4</a:t>
              </a:r>
              <a:endParaRPr lang="en-US" altLang="zh-CN" sz="1600" b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74" y="6597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D5</a:t>
              </a:r>
              <a:endParaRPr lang="en-US" altLang="zh-CN" sz="1600" b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48" y="7128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D6</a:t>
              </a:r>
              <a:endParaRPr lang="en-US" altLang="zh-CN" sz="1600" b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74" y="770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D7</a:t>
              </a:r>
              <a:endParaRPr lang="en-US" altLang="zh-CN" sz="1600" b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6" y="4844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Y0</a:t>
              </a:r>
              <a:endParaRPr lang="en-US" altLang="zh-CN" sz="1600" b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46" y="5909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Y1</a:t>
              </a:r>
              <a:endParaRPr lang="en-US" altLang="zh-CN" sz="1600" b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46" y="6965"/>
              <a:ext cx="70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0"/>
                <a:t>Y3</a:t>
              </a:r>
              <a:endParaRPr lang="en-US" altLang="zh-CN" sz="1600" b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文本占位符 618497"/>
          <p:cNvSpPr>
            <a:spLocks noGrp="1"/>
          </p:cNvSpPr>
          <p:nvPr/>
        </p:nvSpPr>
        <p:spPr>
          <a:xfrm>
            <a:off x="755650" y="1341438"/>
            <a:ext cx="7129463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2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accent2"/>
                </a:solidFill>
                <a:sym typeface="+mn-ea"/>
              </a:rPr>
              <a:t>6</a:t>
            </a:r>
            <a:r>
              <a:rPr lang="en-US" altLang="zh-CN" sz="2400" dirty="0">
                <a:solidFill>
                  <a:schemeClr val="accent2"/>
                </a:solidFill>
                <a:sym typeface="+mn-ea"/>
              </a:rPr>
              <a:t>-7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优先编码器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8685" name="矩形 618684"/>
          <p:cNvSpPr/>
          <p:nvPr/>
        </p:nvSpPr>
        <p:spPr>
          <a:xfrm>
            <a:off x="900113" y="1844675"/>
            <a:ext cx="4248150" cy="593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1" name="矩形 618700"/>
          <p:cNvSpPr/>
          <p:nvPr/>
        </p:nvSpPr>
        <p:spPr>
          <a:xfrm>
            <a:off x="0" y="4637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矩形 624125"/>
          <p:cNvSpPr/>
          <p:nvPr/>
        </p:nvSpPr>
        <p:spPr>
          <a:xfrm>
            <a:off x="0" y="20208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3" name="矩形 625213"/>
          <p:cNvSpPr/>
          <p:nvPr/>
        </p:nvSpPr>
        <p:spPr>
          <a:xfrm>
            <a:off x="0" y="4837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25218" name="图片 6252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565400"/>
            <a:ext cx="5832475" cy="3094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5220" name="图片 625219" descr="g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2636838"/>
            <a:ext cx="1830388" cy="2376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2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2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6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43" name="内容占位符 317442"/>
          <p:cNvSpPr>
            <a:spLocks noGrp="1"/>
          </p:cNvSpPr>
          <p:nvPr>
            <p:ph idx="1"/>
          </p:nvPr>
        </p:nvSpPr>
        <p:spPr>
          <a:xfrm>
            <a:off x="503873" y="1421448"/>
            <a:ext cx="8135937" cy="4465637"/>
          </a:xfrm>
        </p:spPr>
        <p:txBody>
          <a:bodyPr anchor="t"/>
          <a:p>
            <a:pPr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entity encoder_74ls148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            port (   d: in  std_logic_vector(7 downto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	          st: in  std_logic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	          y: out std_logic_vector(2 downto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             yex: out std_logic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               ys: out std_logic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encoder_74ls148;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58405" name="图片 358404" descr="g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1916113"/>
            <a:ext cx="1830388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735237"/>
          <p:cNvSpPr/>
          <p:nvPr/>
        </p:nvSpPr>
        <p:spPr>
          <a:xfrm>
            <a:off x="5779135" y="1002030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744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7443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44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7443">
                                            <p:txEl>
                                              <p:charRg st="44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7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7443">
                                            <p:txEl>
                                              <p:charRg st="70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12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17443">
                                            <p:txEl>
                                              <p:charRg st="128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159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17443">
                                            <p:txEl>
                                              <p:charRg st="159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208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17443">
                                            <p:txEl>
                                              <p:charRg st="208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242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17443">
                                            <p:txEl>
                                              <p:charRg st="242" end="2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280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317443">
                                            <p:txEl>
                                              <p:charRg st="280" end="3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7602" name="内容占位符 537601"/>
          <p:cNvSpPr>
            <a:spLocks noGrp="1"/>
          </p:cNvSpPr>
          <p:nvPr>
            <p:ph idx="1"/>
          </p:nvPr>
        </p:nvSpPr>
        <p:spPr>
          <a:xfrm>
            <a:off x="179388" y="1196975"/>
            <a:ext cx="8135937" cy="4464050"/>
          </a:xfrm>
        </p:spPr>
        <p:txBody>
          <a:bodyPr anchor="t"/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Behavioral of encoder_74ls148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process(st,d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      if   st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='1' then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s-E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   y&lt;="111";	yex&lt;='1';   s &lt;='1';</a:t>
            </a:r>
            <a:endParaRPr lang="es-E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s-E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elsif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d="11111111"  then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  y&lt;="111";	yex&lt;='1';   ys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&lt;='0';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      elsif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d(7)='0' then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s-ES" altLang="zh-CN" sz="2000" dirty="0">
                <a:latin typeface="Times New Roman" panose="02020603050405020304" pitchFamily="18" charset="0"/>
                <a:ea typeface="楷体_GB2312" pitchFamily="49" charset="-122"/>
              </a:rPr>
              <a:t>	  y&lt;="000";	yex&lt;='0';  ys &lt;='1';</a:t>
            </a:r>
            <a:endParaRPr lang="es-ES" altLang="zh-CN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s-ES" altLang="zh-CN" sz="2000" dirty="0">
                <a:latin typeface="Times New Roman" panose="02020603050405020304" pitchFamily="18" charset="0"/>
                <a:ea typeface="楷体_GB2312" pitchFamily="49" charset="-122"/>
              </a:rPr>
              <a:t>		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	  </a:t>
            </a:r>
            <a:r>
              <a:rPr lang="en-US" altLang="zh-CN" sz="2000">
                <a:latin typeface="Arial" panose="020B0604020202020204" pitchFamily="34" charset="0"/>
              </a:rPr>
              <a:t>…</a:t>
            </a:r>
            <a:r>
              <a:rPr lang="en-US" altLang="zh-CN" sz="2000"/>
              <a:t> </a:t>
            </a:r>
            <a:r>
              <a:rPr lang="en-US" altLang="zh-CN" sz="2000">
                <a:latin typeface="Arial" panose="020B0604020202020204" pitchFamily="34" charset="0"/>
              </a:rPr>
              <a:t>…</a:t>
            </a:r>
            <a:endParaRPr lang="en-US" altLang="zh-CN" sz="2000"/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      elsif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d(0)='0' then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  y&lt;="111";	yex&lt;='0';  ys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&lt;='1';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end if;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end Behavioral;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37604" name="图片 5376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563" y="1916113"/>
            <a:ext cx="4643437" cy="246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7602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37602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52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37602">
                                            <p:txEl>
                                              <p:charRg st="52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37602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7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37602">
                                            <p:txEl>
                                              <p:charRg st="76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10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37602">
                                            <p:txEl>
                                              <p:charRg st="100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140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37602">
                                            <p:txEl>
                                              <p:charRg st="140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172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37602">
                                            <p:txEl>
                                              <p:charRg st="172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207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37602">
                                            <p:txEl>
                                              <p:charRg st="207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233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37602">
                                            <p:txEl>
                                              <p:charRg st="233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26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37602">
                                            <p:txEl>
                                              <p:charRg st="267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279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37602">
                                            <p:txEl>
                                              <p:charRg st="279" end="3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30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37602">
                                            <p:txEl>
                                              <p:charRg st="30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339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37602">
                                            <p:txEl>
                                              <p:charRg st="339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353" end="3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37602">
                                            <p:txEl>
                                              <p:charRg st="353" end="3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2">
                                            <p:txEl>
                                              <p:charRg st="366" end="3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37602">
                                            <p:txEl>
                                              <p:charRg st="366" end="3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5837" name="图片 625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73" y="2965768"/>
            <a:ext cx="5400675" cy="295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5838" name="矩形 625837"/>
          <p:cNvSpPr/>
          <p:nvPr/>
        </p:nvSpPr>
        <p:spPr>
          <a:xfrm>
            <a:off x="810895" y="1882775"/>
            <a:ext cx="4248150" cy="593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625840" name="图片 625839" descr="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60" y="2312035"/>
            <a:ext cx="1701800" cy="2233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317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译码器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69" name="文本占位符 618497"/>
          <p:cNvSpPr>
            <a:spLocks noGrp="1"/>
          </p:cNvSpPr>
          <p:nvPr/>
        </p:nvSpPr>
        <p:spPr>
          <a:xfrm>
            <a:off x="437515" y="1332548"/>
            <a:ext cx="7129463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2"/>
                </a:solidFill>
                <a:sym typeface="+mn-ea"/>
              </a:rPr>
              <a:t>例</a:t>
            </a:r>
            <a:r>
              <a:rPr lang="en-US" altLang="zh-CN" sz="2400" dirty="0">
                <a:solidFill>
                  <a:schemeClr val="accent2"/>
                </a:solidFill>
                <a:sym typeface="+mn-ea"/>
              </a:rPr>
              <a:t>6</a:t>
            </a:r>
            <a:r>
              <a:rPr lang="en-US" altLang="zh-CN" sz="2400" dirty="0">
                <a:solidFill>
                  <a:schemeClr val="accent2"/>
                </a:solidFill>
                <a:sym typeface="+mn-ea"/>
              </a:rPr>
              <a:t>-8   3-8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编码器。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779135" y="1002030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2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2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2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8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8626" name="内容占位符 538625"/>
          <p:cNvSpPr>
            <a:spLocks noGrp="1"/>
          </p:cNvSpPr>
          <p:nvPr>
            <p:ph idx="1"/>
          </p:nvPr>
        </p:nvSpPr>
        <p:spPr>
          <a:xfrm>
            <a:off x="504190" y="1112520"/>
            <a:ext cx="8135938" cy="4895850"/>
          </a:xfrm>
        </p:spPr>
        <p:txBody>
          <a:bodyPr vert="horz" wrap="square" lIns="91440" tIns="45720" rIns="91440" bIns="45720" anchor="t"/>
          <a:p>
            <a:pPr>
              <a:lnSpc>
                <a:spcPct val="90000"/>
              </a:lnSpc>
              <a:buNone/>
            </a:pP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entity decoder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    port (sta: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        stb: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        stc: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	a: in  std_logic_vector( 2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	y: out std_logic_vector( 7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		   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decoder;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38630" name="图片 538629" descr="G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225" y="1700213"/>
            <a:ext cx="1701800" cy="2233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1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8626">
                                            <p:txEl>
                                              <p:charRg st="1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1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38626">
                                            <p:txEl>
                                              <p:charRg st="15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38626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6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38626">
                                            <p:txEl>
                                              <p:charRg st="63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38626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13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38626">
                                            <p:txEl>
                                              <p:charRg st="132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164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38626">
                                            <p:txEl>
                                              <p:charRg st="164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205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38626">
                                            <p:txEl>
                                              <p:charRg st="205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245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38626">
                                            <p:txEl>
                                              <p:charRg st="245" end="2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charRg st="254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38626">
                                            <p:txEl>
                                              <p:charRg st="254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9653" name="图片 539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463" y="2997200"/>
            <a:ext cx="4394200" cy="2400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9650" name="内容占位符 539649"/>
          <p:cNvSpPr>
            <a:spLocks noGrp="1"/>
          </p:cNvSpPr>
          <p:nvPr>
            <p:ph idx="1"/>
          </p:nvPr>
        </p:nvSpPr>
        <p:spPr>
          <a:xfrm>
            <a:off x="276860" y="1126490"/>
            <a:ext cx="8136255" cy="5125720"/>
          </a:xfrm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Behavioral of decoder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    process(sta,stb,stc,a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  <a:ea typeface="楷体_GB2312" pitchFamily="49" charset="-122"/>
              </a:rPr>
              <a:t>	 if  (sta='1' and stb='0' and stc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='0') then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    case a is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      when "000" =&gt; y&lt;="11111110";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		   	</a:t>
            </a:r>
            <a:r>
              <a:rPr lang="en-US" altLang="zh-CN" sz="2000">
                <a:latin typeface="Arial" panose="020B0604020202020204" pitchFamily="34" charset="0"/>
              </a:rPr>
              <a:t>…</a:t>
            </a:r>
            <a:r>
              <a:rPr lang="en-US" altLang="zh-CN" sz="2000"/>
              <a:t> </a:t>
            </a:r>
            <a:r>
              <a:rPr lang="en-US" altLang="zh-CN" sz="2000">
                <a:latin typeface="Arial" panose="020B0604020202020204" pitchFamily="34" charset="0"/>
              </a:rPr>
              <a:t>…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      when "111" =&gt; y&lt;="01111111";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     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when others =&gt;y&lt;="11111111";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    end case;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else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    y&lt;="11111111";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	 end if;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end process;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end Behavioral;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39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38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39650">
                                            <p:txEl>
                                              <p:charRg st="38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4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39650">
                                            <p:txEl>
                                              <p:charRg st="44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39650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8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39650">
                                            <p:txEl>
                                              <p:charRg st="81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127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39650">
                                            <p:txEl>
                                              <p:charRg st="127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144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39650">
                                            <p:txEl>
                                              <p:charRg st="144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18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39650">
                                            <p:txEl>
                                              <p:charRg st="187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199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39650">
                                            <p:txEl>
                                              <p:charRg st="199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242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39650">
                                            <p:txEl>
                                              <p:charRg st="242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27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39650">
                                            <p:txEl>
                                              <p:charRg st="279" end="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295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39650">
                                            <p:txEl>
                                              <p:charRg st="295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302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39650">
                                            <p:txEl>
                                              <p:charRg st="302" end="3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323" end="3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39650">
                                            <p:txEl>
                                              <p:charRg st="323" end="3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333" end="3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39650">
                                            <p:txEl>
                                              <p:charRg st="333" end="3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>
                                            <p:txEl>
                                              <p:charRg st="351" end="3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39650">
                                            <p:txEl>
                                              <p:charRg st="351" end="3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0674" name="内容占位符 540673"/>
          <p:cNvSpPr>
            <a:spLocks noGrp="1"/>
          </p:cNvSpPr>
          <p:nvPr>
            <p:ph idx="1"/>
          </p:nvPr>
        </p:nvSpPr>
        <p:spPr>
          <a:xfrm>
            <a:off x="684213" y="1844675"/>
            <a:ext cx="8135937" cy="4464050"/>
          </a:xfrm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entity comp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port (a: in  std_logic_vector( 3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b: in  std_logic_vector( 3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a_greater_b: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 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a_less_b: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  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a_equal_b: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comp;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14" name="矩形 540675"/>
          <p:cNvSpPr/>
          <p:nvPr/>
        </p:nvSpPr>
        <p:spPr>
          <a:xfrm>
            <a:off x="539750" y="1123315"/>
            <a:ext cx="43237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-9 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位二进制数比较器</a:t>
            </a:r>
            <a:endParaRPr lang="zh-CN" altLang="en-US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40685" name="图片 540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3698" y="2973388"/>
            <a:ext cx="1989137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317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数值比较器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779135" y="1002030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067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0674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0674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067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6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0674">
                                            <p:txEl>
                                              <p:charRg st="60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0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0674">
                                            <p:txEl>
                                              <p:charRg st="108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40674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86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0674">
                                            <p:txEl>
                                              <p:charRg st="186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221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40674">
                                            <p:txEl>
                                              <p:charRg st="221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25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40674">
                                            <p:txEl>
                                              <p:charRg st="25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文本占位符 541697"/>
          <p:cNvSpPr>
            <a:spLocks noGrp="1"/>
          </p:cNvSpPr>
          <p:nvPr>
            <p:ph idx="1"/>
          </p:nvPr>
        </p:nvSpPr>
        <p:spPr>
          <a:xfrm>
            <a:off x="503555" y="807720"/>
            <a:ext cx="8136255" cy="5632450"/>
          </a:xfrm>
        </p:spPr>
        <p:txBody>
          <a:bodyPr vert="horz" wrap="square" lIns="91440" tIns="45720" rIns="91440" bIns="45720" anchor="t"/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architecture Behavioral1 of comp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process(a,b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if     a &gt; b then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        a_greater_b&lt;='1';  a_less_b&lt;='0';  a_equal_b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&lt;='0';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    elsif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a &lt; b then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a_greater_b&lt;='0';   a_less_b&lt;='1';  a_equal_b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&lt;='0';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else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a_greater_b&lt;='0';  a_less_b&lt;='0';	  a_equal_b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&lt;='1';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end if;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end process;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Behavioral1;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0674" name="内容占位符 540673"/>
          <p:cNvSpPr>
            <a:spLocks noGrp="1"/>
          </p:cNvSpPr>
          <p:nvPr>
            <p:ph idx="1"/>
          </p:nvPr>
        </p:nvSpPr>
        <p:spPr>
          <a:xfrm>
            <a:off x="684213" y="1844675"/>
            <a:ext cx="8135937" cy="4464050"/>
          </a:xfrm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entity comp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port (a: in  std_logic_vector( 3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b: in  std_logic_vector( 3 downto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a_greater_b: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 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a_less_b: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  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a_equal_b: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comp;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14" name="矩形 540675"/>
          <p:cNvSpPr/>
          <p:nvPr/>
        </p:nvSpPr>
        <p:spPr>
          <a:xfrm>
            <a:off x="539750" y="1123315"/>
            <a:ext cx="43237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-9 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位二进制数比较器</a:t>
            </a:r>
            <a:endParaRPr lang="zh-CN" altLang="en-US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40685" name="图片 540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3698" y="2973388"/>
            <a:ext cx="1989137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735237"/>
          <p:cNvSpPr/>
          <p:nvPr/>
        </p:nvSpPr>
        <p:spPr>
          <a:xfrm>
            <a:off x="5779135" y="1002030"/>
            <a:ext cx="24892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067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0674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0674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067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6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0674">
                                            <p:txEl>
                                              <p:charRg st="60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0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0674">
                                            <p:txEl>
                                              <p:charRg st="108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40674">
                                            <p:txEl>
                                              <p:charRg st="149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186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0674">
                                            <p:txEl>
                                              <p:charRg st="186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221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40674">
                                            <p:txEl>
                                              <p:charRg st="221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4">
                                            <p:txEl>
                                              <p:charRg st="25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40674">
                                            <p:txEl>
                                              <p:charRg st="25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文本占位符 627713"/>
          <p:cNvSpPr>
            <a:spLocks noGrp="1"/>
          </p:cNvSpPr>
          <p:nvPr>
            <p:ph idx="1"/>
          </p:nvPr>
        </p:nvSpPr>
        <p:spPr>
          <a:xfrm>
            <a:off x="539750" y="1412875"/>
            <a:ext cx="8135938" cy="4464050"/>
          </a:xfrm>
        </p:spPr>
        <p:txBody>
          <a:bodyPr vert="horz" wrap="square" lIns="91440" tIns="45720" rIns="91440" bIns="45720" anchor="t"/>
          <a:p>
            <a:pPr>
              <a:lnSpc>
                <a:spcPct val="13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architecture Behavioral2 of comp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a_greater_b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&lt;='1' when a&gt;b else ‘0’;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a_less_b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&lt;='1' when a&lt;b else ‘0’;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a_equal_b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&lt;='1' when a=b else ‘0’;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Behavioral2;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Text Box 3"/>
          <p:cNvSpPr txBox="1"/>
          <p:nvPr/>
        </p:nvSpPr>
        <p:spPr>
          <a:xfrm>
            <a:off x="231775" y="1742123"/>
            <a:ext cx="8543925" cy="4078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multiplexers is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port ( d : in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0" dirty="0" err="1">
                <a:solidFill>
                  <a:schemeClr val="tx1"/>
                </a:solidFill>
                <a:sym typeface="+mn-ea"/>
              </a:rPr>
              <a:t>_vector</a:t>
            </a:r>
            <a:r>
              <a:rPr lang="en-US" altLang="zh-CN" sz="2400" b="0" dirty="0">
                <a:solidFill>
                  <a:schemeClr val="tx1"/>
                </a:solidFill>
                <a:sym typeface="+mn-ea"/>
              </a:rPr>
              <a:t> (7 </a:t>
            </a:r>
            <a:r>
              <a:rPr lang="en-US" altLang="zh-CN" sz="2400" b="0" dirty="0" err="1">
                <a:solidFill>
                  <a:schemeClr val="tx1"/>
                </a:solidFill>
                <a:sym typeface="+mn-ea"/>
              </a:rPr>
              <a:t>downto</a:t>
            </a:r>
            <a:r>
              <a:rPr lang="en-US" altLang="zh-CN" sz="2400" b="0" dirty="0">
                <a:solidFill>
                  <a:schemeClr val="tx1"/>
                </a:solidFill>
                <a:sym typeface="+mn-ea"/>
              </a:rPr>
              <a:t> 0)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sel : in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std_logic_vector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(2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downto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0);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y : out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multiplexers;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14" name="矩形 540675"/>
          <p:cNvSpPr/>
          <p:nvPr/>
        </p:nvSpPr>
        <p:spPr>
          <a:xfrm>
            <a:off x="539750" y="1123315"/>
            <a:ext cx="39668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-10   </a:t>
            </a:r>
            <a:r>
              <a:rPr 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的数据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比较器</a:t>
            </a:r>
            <a:endParaRPr lang="zh-CN" altLang="en-US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317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数据比较器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内容占位符 2"/>
          <p:cNvSpPr>
            <a:spLocks noGrp="1"/>
          </p:cNvSpPr>
          <p:nvPr/>
        </p:nvSpPr>
        <p:spPr>
          <a:xfrm>
            <a:off x="348615" y="417830"/>
            <a:ext cx="8446135" cy="602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architecture </a:t>
            </a:r>
            <a:r>
              <a:rPr lang="en-US" altLang="zh-CN" sz="2400" b="0" dirty="0" err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archi_1</a:t>
            </a: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of multiplexers is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begin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process (d, sel)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begin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if (sel = "000") then y &lt;= d(0);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0" dirty="0" err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elsif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(sel = "001") then y &lt;= </a:t>
            </a:r>
            <a:r>
              <a:rPr lang="en-US" altLang="zh-CN" sz="2400" b="0" dirty="0">
                <a:cs typeface="Times New Roman" panose="02020603050405020304" pitchFamily="18" charset="0"/>
                <a:sym typeface="+mn-ea"/>
              </a:rPr>
              <a:t>d(1)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......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0" dirty="0" err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elsif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(sel = "111") then y &lt;= </a:t>
            </a:r>
            <a:r>
              <a:rPr lang="en-US" altLang="zh-CN" sz="2400" b="0" dirty="0">
                <a:cs typeface="Times New Roman" panose="02020603050405020304" pitchFamily="18" charset="0"/>
                <a:sym typeface="+mn-ea"/>
              </a:rPr>
              <a:t>d(7)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else y &lt;= 'Z';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end if;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 process;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 </a:t>
            </a:r>
            <a:r>
              <a:rPr lang="en-US" altLang="zh-CN" sz="2400" b="0" dirty="0" err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archi</a:t>
            </a:r>
            <a:r>
              <a:rPr lang="en-US" altLang="zh-CN" sz="2400" b="0" dirty="0" err="1">
                <a:cs typeface="Times New Roman" panose="02020603050405020304" pitchFamily="18" charset="0"/>
                <a:sym typeface="+mn-ea"/>
              </a:rPr>
              <a:t>_1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zh-CN" sz="20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47715" y="1981835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内容占位符 2"/>
          <p:cNvSpPr>
            <a:spLocks noGrp="1"/>
          </p:cNvSpPr>
          <p:nvPr/>
        </p:nvSpPr>
        <p:spPr>
          <a:xfrm>
            <a:off x="198755" y="124460"/>
            <a:ext cx="8229600" cy="6617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architecture </a:t>
            </a:r>
            <a:r>
              <a:rPr lang="en-US" altLang="zh-CN" sz="2400" b="0" dirty="0" err="1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archi</a:t>
            </a:r>
            <a:r>
              <a:rPr lang="en-US" altLang="zh-CN" sz="2400" b="0" dirty="0" err="1">
                <a:cs typeface="Times New Roman" panose="02020603050405020304" pitchFamily="18" charset="0"/>
                <a:sym typeface="+mn-ea"/>
              </a:rPr>
              <a:t>_2</a:t>
            </a: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of multiplexers is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begin</a:t>
            </a:r>
            <a:endParaRPr lang="en-US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process ( d, sel)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begin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case sel  is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when "000" =&gt; y &lt;= </a:t>
            </a:r>
            <a:r>
              <a:rPr lang="en-US" altLang="zh-CN" sz="2400" b="0" dirty="0">
                <a:cs typeface="Times New Roman" panose="02020603050405020304" pitchFamily="18" charset="0"/>
                <a:sym typeface="+mn-ea"/>
              </a:rPr>
              <a:t>d(0)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when "001" =&gt; y &lt;= </a:t>
            </a:r>
            <a:r>
              <a:rPr lang="en-US" altLang="zh-CN" sz="2400" b="0" dirty="0">
                <a:cs typeface="Times New Roman" panose="02020603050405020304" pitchFamily="18" charset="0"/>
                <a:sym typeface="+mn-ea"/>
              </a:rPr>
              <a:t>d(1)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......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when "111" =&gt; y&lt;= </a:t>
            </a:r>
            <a:r>
              <a:rPr lang="en-US" altLang="zh-CN" sz="2400" b="0" dirty="0">
                <a:cs typeface="Times New Roman" panose="02020603050405020304" pitchFamily="18" charset="0"/>
                <a:sym typeface="+mn-ea"/>
              </a:rPr>
              <a:t>d(7)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when others =&gt; y &lt;= 'Z';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end case;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 process;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 </a:t>
            </a:r>
            <a:r>
              <a:rPr lang="en-US" altLang="zh-CN" sz="2400" b="0" dirty="0" err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archi</a:t>
            </a:r>
            <a:r>
              <a:rPr lang="en-US" altLang="zh-CN" sz="2400" b="0" dirty="0" err="1">
                <a:cs typeface="Times New Roman" panose="02020603050405020304" pitchFamily="18" charset="0"/>
                <a:sym typeface="+mn-ea"/>
              </a:rPr>
              <a:t>_2</a:t>
            </a:r>
            <a:r>
              <a:rPr lang="en-US" altLang="zh-CN" sz="2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zh-CN" sz="2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47715" y="1981835"/>
            <a:ext cx="19907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行为描述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249555" y="1499870"/>
            <a:ext cx="8243888" cy="3692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</a:t>
            </a:r>
            <a:r>
              <a:rPr lang="en-US" altLang="zh-CN" sz="2000" b="0" dirty="0" err="1">
                <a:cs typeface="Times New Roman" panose="02020603050405020304" pitchFamily="18" charset="0"/>
                <a:sym typeface="+mn-ea"/>
              </a:rPr>
              <a:t>archi_3</a:t>
            </a:r>
            <a:r>
              <a:rPr lang="en-US" altLang="zh-CN" sz="2000" b="0" dirty="0">
                <a:cs typeface="Times New Roman" panose="02020603050405020304" pitchFamily="18" charset="0"/>
                <a:sym typeface="+mn-ea"/>
              </a:rPr>
              <a:t> of multiplexers is</a:t>
            </a:r>
            <a:endParaRPr lang="zh-CN" altLang="zh-CN" sz="20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y&lt;= d(0)  when  sel = “000”  else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d(1)  when  sel = “001”  else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......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d(7)  when  sel = “111”  else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                'Z'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</a:t>
            </a:r>
            <a:r>
              <a:rPr lang="en-US" altLang="zh-CN" sz="2000" b="0" dirty="0" err="1">
                <a:cs typeface="Times New Roman" panose="02020603050405020304" pitchFamily="18" charset="0"/>
                <a:sym typeface="+mn-ea"/>
              </a:rPr>
              <a:t>archi_3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47715" y="1981835"/>
            <a:ext cx="240220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274955" y="1628775"/>
            <a:ext cx="8243888" cy="3692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architecture </a:t>
            </a:r>
            <a:r>
              <a:rPr lang="en-US" altLang="zh-CN" sz="2000" b="0" dirty="0" err="1">
                <a:cs typeface="Times New Roman" panose="02020603050405020304" pitchFamily="18" charset="0"/>
                <a:sym typeface="+mn-ea"/>
              </a:rPr>
              <a:t>archi_4</a:t>
            </a:r>
            <a:r>
              <a:rPr lang="en-US" altLang="zh-CN" sz="2000" b="0" dirty="0">
                <a:cs typeface="Times New Roman" panose="02020603050405020304" pitchFamily="18" charset="0"/>
                <a:sym typeface="+mn-ea"/>
              </a:rPr>
              <a:t> of multiplexers is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begin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with sel  select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q&lt;=d(0)  when  “000” ,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</a:t>
            </a: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d(1)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when  “001” ,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.......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                         d(7)  when  “111” ,                        </a:t>
            </a:r>
            <a:endParaRPr lang="en-US" altLang="zh-CN" sz="2000" b="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                         ‘Z'   when  others</a:t>
            </a:r>
            <a:r>
              <a:rPr lang="zh-CN" altLang="zh-CN" sz="2000" b="0" dirty="0">
                <a:solidFill>
                  <a:schemeClr val="tx1"/>
                </a:solidFill>
                <a:sym typeface="+mn-ea"/>
              </a:rPr>
              <a:t>；</a:t>
            </a:r>
            <a:endParaRPr lang="zh-CN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 end </a:t>
            </a:r>
            <a:r>
              <a:rPr lang="en-US" altLang="zh-CN" sz="2000" b="0" dirty="0" err="1">
                <a:cs typeface="Times New Roman" panose="02020603050405020304" pitchFamily="18" charset="0"/>
                <a:sym typeface="+mn-ea"/>
              </a:rPr>
              <a:t>archi_4</a:t>
            </a:r>
            <a:r>
              <a:rPr lang="en-US" altLang="zh-CN" sz="2000" b="0" dirty="0">
                <a:solidFill>
                  <a:schemeClr val="tx1"/>
                </a:solidFill>
                <a:sym typeface="+mn-ea"/>
              </a:rPr>
              <a:t>; 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矩形 735237"/>
          <p:cNvSpPr/>
          <p:nvPr/>
        </p:nvSpPr>
        <p:spPr>
          <a:xfrm>
            <a:off x="5847715" y="1981835"/>
            <a:ext cx="240220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数据流描述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矩形 628739"/>
          <p:cNvSpPr/>
          <p:nvPr/>
        </p:nvSpPr>
        <p:spPr>
          <a:xfrm>
            <a:off x="684213" y="1312863"/>
            <a:ext cx="32051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数据流式：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位全加器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8742" name="图片 6287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636838"/>
            <a:ext cx="4248150" cy="2430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8743" name="矩形 628742"/>
          <p:cNvSpPr/>
          <p:nvPr/>
        </p:nvSpPr>
        <p:spPr>
          <a:xfrm>
            <a:off x="1071880" y="2043430"/>
            <a:ext cx="17907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8744" name="矩形 628743"/>
          <p:cNvSpPr/>
          <p:nvPr/>
        </p:nvSpPr>
        <p:spPr>
          <a:xfrm>
            <a:off x="5148580" y="1844675"/>
            <a:ext cx="17780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9" name="文本框 628744"/>
          <p:cNvSpPr txBox="1"/>
          <p:nvPr/>
        </p:nvSpPr>
        <p:spPr>
          <a:xfrm>
            <a:off x="5580063" y="2924175"/>
            <a:ext cx="27368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28746" name="内容占位符 628745"/>
          <p:cNvGraphicFramePr>
            <a:graphicFrameLocks noGrp="1"/>
          </p:cNvGraphicFramePr>
          <p:nvPr>
            <p:ph idx="1"/>
          </p:nvPr>
        </p:nvGraphicFramePr>
        <p:xfrm>
          <a:off x="5219700" y="2873375"/>
          <a:ext cx="3221038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397000" imgH="457200" progId="Equation.3">
                  <p:embed/>
                </p:oleObj>
              </mc:Choice>
              <mc:Fallback>
                <p:oleObj name="" r:id="rId2" imgW="13970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19700" y="2873375"/>
                        <a:ext cx="3221038" cy="10556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2" name="矩形 735237"/>
          <p:cNvSpPr/>
          <p:nvPr>
            <p:custDataLst>
              <p:tags r:id="rId4"/>
            </p:custDataLst>
          </p:nvPr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位全加器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2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3" grpId="0"/>
      <p:bldP spid="6287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22" name="内容占位符 542721"/>
          <p:cNvSpPr>
            <a:spLocks noGrp="1"/>
          </p:cNvSpPr>
          <p:nvPr>
            <p:ph idx="1"/>
          </p:nvPr>
        </p:nvSpPr>
        <p:spPr>
          <a:xfrm>
            <a:off x="612775" y="1844675"/>
            <a:ext cx="8135938" cy="44640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library ieee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entity adder1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port (a,b,ci: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      co,s: out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adder1;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10" name="文本框 542724"/>
          <p:cNvSpPr txBox="1"/>
          <p:nvPr/>
        </p:nvSpPr>
        <p:spPr>
          <a:xfrm>
            <a:off x="754063" y="1279525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程序设计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实体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42728" name="图片 5427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1375" y="2060575"/>
            <a:ext cx="1963738" cy="2376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272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272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2722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61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2722">
                                            <p:txEl>
                                              <p:charRg st="61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93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2722">
                                            <p:txEl>
                                              <p:charRg st="93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12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2722">
                                            <p:txEl>
                                              <p:charRg st="12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3746" name="文本占位符 543745"/>
          <p:cNvSpPr>
            <a:spLocks noGrp="1"/>
          </p:cNvSpPr>
          <p:nvPr>
            <p:ph type="body" sz="half" idx="4294967295"/>
          </p:nvPr>
        </p:nvSpPr>
        <p:spPr>
          <a:xfrm>
            <a:off x="179705" y="2565400"/>
            <a:ext cx="5689600" cy="30956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35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architecture  behavioral of adder1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begin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co&lt;=(a and b) or (a and ci) or (b and ci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s&lt;=a xor b xor ci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34" name="文本框 543747"/>
          <p:cNvSpPr txBox="1"/>
          <p:nvPr/>
        </p:nvSpPr>
        <p:spPr>
          <a:xfrm>
            <a:off x="611188" y="1517650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程序设计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结构体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43749" name="内容占位符 543748"/>
          <p:cNvGraphicFramePr>
            <a:graphicFrameLocks noGrp="1"/>
          </p:cNvGraphicFramePr>
          <p:nvPr>
            <p:ph sz="half" idx="4294967295"/>
          </p:nvPr>
        </p:nvGraphicFramePr>
        <p:xfrm>
          <a:off x="5902325" y="1631950"/>
          <a:ext cx="32416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97000" imgH="457200" progId="Equation.3">
                  <p:embed/>
                </p:oleObj>
              </mc:Choice>
              <mc:Fallback>
                <p:oleObj name="" r:id="rId1" imgW="1397000" imgH="457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02325" y="1631950"/>
                        <a:ext cx="3241675" cy="1060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374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3746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4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3746">
                                            <p:txEl>
                                              <p:charRg st="45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3746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3746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25" y="4254500"/>
            <a:ext cx="327025" cy="34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0" y="4192588"/>
            <a:ext cx="327025" cy="344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文本占位符 81923" descr="图片2-5"/>
          <p:cNvPicPr>
            <a:picLocks noGrp="1" noChangeAspect="1"/>
          </p:cNvPicPr>
          <p:nvPr>
            <p:ph type="body" idx="4294967295"/>
          </p:nvPr>
        </p:nvPicPr>
        <p:blipFill>
          <a:blip r:embed="rId2"/>
          <a:stretch>
            <a:fillRect/>
          </a:stretch>
        </p:blipFill>
        <p:spPr>
          <a:xfrm>
            <a:off x="1079500" y="2619375"/>
            <a:ext cx="6985000" cy="2087563"/>
          </a:xfrm>
        </p:spPr>
      </p:pic>
      <p:sp>
        <p:nvSpPr>
          <p:cNvPr id="41985" name="矩形 628739"/>
          <p:cNvSpPr/>
          <p:nvPr>
            <p:custDataLst>
              <p:tags r:id="rId3"/>
            </p:custDataLst>
          </p:nvPr>
        </p:nvSpPr>
        <p:spPr>
          <a:xfrm>
            <a:off x="684213" y="1312863"/>
            <a:ext cx="29000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结构式：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位全加器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5" name="图片 11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025" y="2197100"/>
            <a:ext cx="4362450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6" name="图片 112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2924175"/>
            <a:ext cx="3294062" cy="2090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7" name="图片 112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2924175"/>
            <a:ext cx="2676525" cy="2203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9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138" y="4670425"/>
            <a:ext cx="517525" cy="34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0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700" y="4670425"/>
            <a:ext cx="381000" cy="401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4194" name="矩形 736258"/>
          <p:cNvSpPr/>
          <p:nvPr>
            <p:custDataLst>
              <p:tags r:id="rId5"/>
            </p:custDataLst>
          </p:nvPr>
        </p:nvSpPr>
        <p:spPr>
          <a:xfrm>
            <a:off x="673100" y="476250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下层元件描述</a:t>
            </a:r>
            <a:endParaRPr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342900" y="822325"/>
            <a:ext cx="8458200" cy="5165725"/>
            <a:chOff x="540" y="1295"/>
            <a:chExt cx="13320" cy="8135"/>
          </a:xfrm>
        </p:grpSpPr>
        <p:pic>
          <p:nvPicPr>
            <p:cNvPr id="4" name="图片 99331" descr="图片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540" y="1468"/>
              <a:ext cx="13320" cy="79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118" y="1295"/>
              <a:ext cx="4420" cy="54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764540"/>
            <a:ext cx="7080250" cy="5995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4194" name="矩形 736258"/>
          <p:cNvSpPr/>
          <p:nvPr>
            <p:custDataLst>
              <p:tags r:id="rId2"/>
            </p:custDataLst>
          </p:nvPr>
        </p:nvSpPr>
        <p:spPr>
          <a:xfrm>
            <a:off x="683895" y="259715"/>
            <a:ext cx="82296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上层元件引用</a:t>
            </a:r>
            <a:endParaRPr lang="zh-CN" altLang="en-US" sz="24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4770" name="内容占位符 544769"/>
          <p:cNvSpPr>
            <a:spLocks noGrp="1"/>
          </p:cNvSpPr>
          <p:nvPr>
            <p:ph idx="1"/>
          </p:nvPr>
        </p:nvSpPr>
        <p:spPr>
          <a:xfrm>
            <a:off x="503555" y="1521778"/>
            <a:ext cx="8135938" cy="4464050"/>
          </a:xfrm>
        </p:spPr>
        <p:txBody>
          <a:bodyPr vert="horz" wrap="square" lIns="91440" tIns="45720" rIns="91440" bIns="45720" anchor="t"/>
          <a:p>
            <a:pPr>
              <a:lnSpc>
                <a:spcPct val="9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entity tri_gate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           port (a: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              b: in 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   en: in 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	       f: out </a:t>
            </a:r>
            <a:r>
              <a:rPr lang="en-US" altLang="zh-CN" sz="24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std_logic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);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end tri_gate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03" name="矩形 544772"/>
          <p:cNvSpPr/>
          <p:nvPr/>
        </p:nvSpPr>
        <p:spPr>
          <a:xfrm>
            <a:off x="0" y="2838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44772" name="对象 544771"/>
          <p:cNvGraphicFramePr/>
          <p:nvPr/>
        </p:nvGraphicFramePr>
        <p:xfrm>
          <a:off x="6120448" y="2387283"/>
          <a:ext cx="2843212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825625" imgH="1183640" progId="Word.Picture.8">
                  <p:embed/>
                </p:oleObj>
              </mc:Choice>
              <mc:Fallback>
                <p:oleObj name="" r:id="rId1" imgW="1825625" imgH="118364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20448" y="2387283"/>
                        <a:ext cx="2843212" cy="183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三态门电路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4477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44770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44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44770">
                                            <p:txEl>
                                              <p:charRg st="44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63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44770">
                                            <p:txEl>
                                              <p:charRg st="63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98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44770">
                                            <p:txEl>
                                              <p:charRg st="98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131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44770">
                                            <p:txEl>
                                              <p:charRg st="131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44770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>
                                            <p:txEl>
                                              <p:charRg st="181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44770">
                                            <p:txEl>
                                              <p:charRg st="181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0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5794" name="文本占位符 545793"/>
          <p:cNvSpPr>
            <a:spLocks noGrp="1"/>
          </p:cNvSpPr>
          <p:nvPr/>
        </p:nvSpPr>
        <p:spPr>
          <a:xfrm>
            <a:off x="509270" y="1373505"/>
            <a:ext cx="5184775" cy="4826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architecture Behavioral of tri_gate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process(a,b,en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begin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 if  en='1' then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  <a:ea typeface="楷体_GB2312" pitchFamily="49" charset="-122"/>
              </a:rPr>
              <a:t>		      f&lt;=a nand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b;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 else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	  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f&lt;='Z';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     end if;	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	end process;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226" name="内容占位符 545797"/>
          <p:cNvGraphicFramePr>
            <a:graphicFrameLocks noGrp="1"/>
          </p:cNvGraphicFramePr>
          <p:nvPr>
            <p:ph sz="half" idx="2"/>
          </p:nvPr>
        </p:nvGraphicFramePr>
        <p:xfrm>
          <a:off x="6011863" y="2673350"/>
          <a:ext cx="2520950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825625" imgH="1183640" progId="Word.Picture.8">
                  <p:embed/>
                </p:oleObj>
              </mc:Choice>
              <mc:Fallback>
                <p:oleObj name="" r:id="rId1" imgW="1825625" imgH="1183640" progId="Word.Picture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1863" y="2673350"/>
                        <a:ext cx="2520950" cy="16335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5794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3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5794">
                                            <p:txEl>
                                              <p:charRg st="39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4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5794">
                                            <p:txEl>
                                              <p:charRg st="45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6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5794">
                                            <p:txEl>
                                              <p:charRg st="6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6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5794">
                                            <p:txEl>
                                              <p:charRg st="69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92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5794">
                                            <p:txEl>
                                              <p:charRg st="92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11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5794">
                                            <p:txEl>
                                              <p:charRg st="113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124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45794">
                                            <p:txEl>
                                              <p:charRg st="124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140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5794">
                                            <p:txEl>
                                              <p:charRg st="140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155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45794">
                                            <p:txEl>
                                              <p:charRg st="155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>
                                            <p:txEl>
                                              <p:charRg st="169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45794">
                                            <p:txEl>
                                              <p:charRg st="169" end="1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4226" name="内容占位符 564225"/>
          <p:cNvSpPr>
            <a:spLocks noGrp="1"/>
          </p:cNvSpPr>
          <p:nvPr>
            <p:ph idx="1"/>
          </p:nvPr>
        </p:nvSpPr>
        <p:spPr>
          <a:xfrm>
            <a:off x="539750" y="3068638"/>
            <a:ext cx="7772400" cy="3097212"/>
          </a:xfrm>
        </p:spPr>
        <p:txBody>
          <a:bodyPr vert="horz" wrap="square" lIns="91440" tIns="45720" rIns="91440" bIns="45720" anchor="t"/>
          <a:p>
            <a:pPr>
              <a:lnSpc>
                <a:spcPct val="13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ENTITY BIDIR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PORT(A,B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INOUT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STD_LOGIC_VECTOR(7 DOWNTO 0);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DIR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STD_LOGIC);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ENTITY BIDIR;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4228" name="组合 564227"/>
          <p:cNvGrpSpPr/>
          <p:nvPr/>
        </p:nvGrpSpPr>
        <p:grpSpPr>
          <a:xfrm>
            <a:off x="5651500" y="2060575"/>
            <a:ext cx="2520950" cy="1944688"/>
            <a:chOff x="1819" y="2482"/>
            <a:chExt cx="3585" cy="2226"/>
          </a:xfrm>
        </p:grpSpPr>
        <p:sp>
          <p:nvSpPr>
            <p:cNvPr id="58372" name="等腰三角形 564228"/>
            <p:cNvSpPr/>
            <p:nvPr/>
          </p:nvSpPr>
          <p:spPr>
            <a:xfrm rot="-5400000">
              <a:off x="3304" y="4114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73" name="等腰三角形 564229"/>
            <p:cNvSpPr/>
            <p:nvPr/>
          </p:nvSpPr>
          <p:spPr>
            <a:xfrm rot="5400000">
              <a:off x="3304" y="3061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74" name="直接连接符 564230"/>
            <p:cNvSpPr/>
            <p:nvPr/>
          </p:nvSpPr>
          <p:spPr>
            <a:xfrm>
              <a:off x="388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5" name="直接连接符 564231"/>
            <p:cNvSpPr/>
            <p:nvPr/>
          </p:nvSpPr>
          <p:spPr>
            <a:xfrm flipH="1">
              <a:off x="214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6" name="直接连接符 564232"/>
            <p:cNvSpPr/>
            <p:nvPr/>
          </p:nvSpPr>
          <p:spPr>
            <a:xfrm flipH="1">
              <a:off x="2732" y="4338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7" name="直接连接符 564233"/>
            <p:cNvSpPr/>
            <p:nvPr/>
          </p:nvSpPr>
          <p:spPr>
            <a:xfrm flipH="1">
              <a:off x="3904" y="4345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8" name="直接连接符 564234"/>
            <p:cNvSpPr/>
            <p:nvPr/>
          </p:nvSpPr>
          <p:spPr>
            <a:xfrm>
              <a:off x="2749" y="3277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9" name="直接连接符 564235"/>
            <p:cNvSpPr/>
            <p:nvPr/>
          </p:nvSpPr>
          <p:spPr>
            <a:xfrm>
              <a:off x="4594" y="3292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0" name="直接连接符 564236"/>
            <p:cNvSpPr/>
            <p:nvPr/>
          </p:nvSpPr>
          <p:spPr>
            <a:xfrm>
              <a:off x="2224" y="2620"/>
              <a:ext cx="14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1" name="直接连接符 564237"/>
            <p:cNvSpPr/>
            <p:nvPr/>
          </p:nvSpPr>
          <p:spPr>
            <a:xfrm>
              <a:off x="3664" y="2631"/>
              <a:ext cx="1" cy="4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2" name="直接连接符 564238"/>
            <p:cNvSpPr/>
            <p:nvPr/>
          </p:nvSpPr>
          <p:spPr>
            <a:xfrm>
              <a:off x="2929" y="2630"/>
              <a:ext cx="1" cy="1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3" name="直接连接符 564239"/>
            <p:cNvSpPr/>
            <p:nvPr/>
          </p:nvSpPr>
          <p:spPr>
            <a:xfrm>
              <a:off x="2929" y="3871"/>
              <a:ext cx="70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4" name="直接连接符 564240"/>
            <p:cNvSpPr/>
            <p:nvPr/>
          </p:nvSpPr>
          <p:spPr>
            <a:xfrm>
              <a:off x="3634" y="3871"/>
              <a:ext cx="1" cy="25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5" name="椭圆 564241"/>
            <p:cNvSpPr/>
            <p:nvPr/>
          </p:nvSpPr>
          <p:spPr>
            <a:xfrm>
              <a:off x="3581" y="4114"/>
              <a:ext cx="113" cy="11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6" name="文本框 564242"/>
            <p:cNvSpPr txBox="1"/>
            <p:nvPr/>
          </p:nvSpPr>
          <p:spPr>
            <a:xfrm>
              <a:off x="1909" y="3166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87" name="文本框 564243"/>
            <p:cNvSpPr txBox="1"/>
            <p:nvPr/>
          </p:nvSpPr>
          <p:spPr>
            <a:xfrm>
              <a:off x="5155" y="3148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88" name="文本框 564244"/>
            <p:cNvSpPr txBox="1"/>
            <p:nvPr/>
          </p:nvSpPr>
          <p:spPr>
            <a:xfrm>
              <a:off x="1819" y="2482"/>
              <a:ext cx="59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DIR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4246" name="文本框 564245"/>
          <p:cNvSpPr txBox="1"/>
          <p:nvPr/>
        </p:nvSpPr>
        <p:spPr>
          <a:xfrm>
            <a:off x="5435600" y="1341438"/>
            <a:ext cx="1728788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结构图：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4247" name="矩形 564246"/>
          <p:cNvSpPr/>
          <p:nvPr/>
        </p:nvSpPr>
        <p:spPr>
          <a:xfrm>
            <a:off x="367030" y="1756410"/>
            <a:ext cx="4217035" cy="56642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双进程描述：【例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-14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矩形 735237"/>
          <p:cNvSpPr/>
          <p:nvPr/>
        </p:nvSpPr>
        <p:spPr>
          <a:xfrm>
            <a:off x="179705" y="287020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双向端口设计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6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6422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64226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43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64226">
                                            <p:txEl>
                                              <p:charRg st="43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59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64226">
                                            <p:txEl>
                                              <p:charRg st="59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10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64226">
                                            <p:txEl>
                                              <p:charRg st="105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>
                                            <p:txEl>
                                              <p:charRg st="130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64226">
                                            <p:txEl>
                                              <p:charRg st="130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6" grpId="0" build="p"/>
      <p:bldP spid="564246" grpId="0"/>
      <p:bldP spid="56424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5250" name="内容占位符 565249"/>
          <p:cNvSpPr>
            <a:spLocks noGrp="1"/>
          </p:cNvSpPr>
          <p:nvPr>
            <p:ph idx="1"/>
          </p:nvPr>
        </p:nvSpPr>
        <p:spPr>
          <a:xfrm>
            <a:off x="719773" y="980123"/>
            <a:ext cx="7704137" cy="4627562"/>
          </a:xfrm>
        </p:spPr>
        <p:txBody>
          <a:bodyPr vert="horz" wrap="square" lIns="91440" tIns="45720" rIns="91440" bIns="45720" anchor="t"/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ART OF BIDIR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SIGNAL  AOUT,BOUT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STD_LOGIC_VECTOR(7 DOWNTO 0);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PROCESS(A,DIR) IS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	              --A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为输入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IF (DIR=‘1’) THEN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BOUT&lt;=A;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ELSE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BOUT&lt;="ZZZZZZZZ"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IF;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     B&lt;=BOUT;         		--B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为输出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5255" name="组合 565254"/>
          <p:cNvGrpSpPr/>
          <p:nvPr/>
        </p:nvGrpSpPr>
        <p:grpSpPr>
          <a:xfrm>
            <a:off x="5795963" y="2779713"/>
            <a:ext cx="2520950" cy="1944687"/>
            <a:chOff x="1819" y="2482"/>
            <a:chExt cx="3585" cy="2226"/>
          </a:xfrm>
        </p:grpSpPr>
        <p:sp>
          <p:nvSpPr>
            <p:cNvPr id="59397" name="等腰三角形 565255"/>
            <p:cNvSpPr/>
            <p:nvPr/>
          </p:nvSpPr>
          <p:spPr>
            <a:xfrm rot="-5400000">
              <a:off x="3304" y="4114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8" name="等腰三角形 565256"/>
            <p:cNvSpPr/>
            <p:nvPr/>
          </p:nvSpPr>
          <p:spPr>
            <a:xfrm rot="5400000">
              <a:off x="3304" y="3061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9" name="直接连接符 565257"/>
            <p:cNvSpPr/>
            <p:nvPr/>
          </p:nvSpPr>
          <p:spPr>
            <a:xfrm>
              <a:off x="388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0" name="直接连接符 565258"/>
            <p:cNvSpPr/>
            <p:nvPr/>
          </p:nvSpPr>
          <p:spPr>
            <a:xfrm flipH="1">
              <a:off x="214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1" name="直接连接符 565259"/>
            <p:cNvSpPr/>
            <p:nvPr/>
          </p:nvSpPr>
          <p:spPr>
            <a:xfrm flipH="1">
              <a:off x="2732" y="4338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2" name="直接连接符 565260"/>
            <p:cNvSpPr/>
            <p:nvPr/>
          </p:nvSpPr>
          <p:spPr>
            <a:xfrm flipH="1">
              <a:off x="3904" y="4345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3" name="直接连接符 565261"/>
            <p:cNvSpPr/>
            <p:nvPr/>
          </p:nvSpPr>
          <p:spPr>
            <a:xfrm>
              <a:off x="2749" y="3277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4" name="直接连接符 565262"/>
            <p:cNvSpPr/>
            <p:nvPr/>
          </p:nvSpPr>
          <p:spPr>
            <a:xfrm>
              <a:off x="4594" y="3292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5" name="直接连接符 565263"/>
            <p:cNvSpPr/>
            <p:nvPr/>
          </p:nvSpPr>
          <p:spPr>
            <a:xfrm>
              <a:off x="2224" y="2620"/>
              <a:ext cx="14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6" name="直接连接符 565264"/>
            <p:cNvSpPr/>
            <p:nvPr/>
          </p:nvSpPr>
          <p:spPr>
            <a:xfrm>
              <a:off x="3664" y="2631"/>
              <a:ext cx="1" cy="4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7" name="直接连接符 565265"/>
            <p:cNvSpPr/>
            <p:nvPr/>
          </p:nvSpPr>
          <p:spPr>
            <a:xfrm>
              <a:off x="2929" y="2630"/>
              <a:ext cx="1" cy="1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8" name="直接连接符 565266"/>
            <p:cNvSpPr/>
            <p:nvPr/>
          </p:nvSpPr>
          <p:spPr>
            <a:xfrm>
              <a:off x="2929" y="3871"/>
              <a:ext cx="70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9" name="直接连接符 565267"/>
            <p:cNvSpPr/>
            <p:nvPr/>
          </p:nvSpPr>
          <p:spPr>
            <a:xfrm>
              <a:off x="3634" y="3871"/>
              <a:ext cx="1" cy="25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10" name="椭圆 565268"/>
            <p:cNvSpPr/>
            <p:nvPr/>
          </p:nvSpPr>
          <p:spPr>
            <a:xfrm>
              <a:off x="3581" y="4114"/>
              <a:ext cx="113" cy="11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1" name="文本框 565269"/>
            <p:cNvSpPr txBox="1"/>
            <p:nvPr/>
          </p:nvSpPr>
          <p:spPr>
            <a:xfrm>
              <a:off x="1909" y="3166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2" name="文本框 565270"/>
            <p:cNvSpPr txBox="1"/>
            <p:nvPr/>
          </p:nvSpPr>
          <p:spPr>
            <a:xfrm>
              <a:off x="5155" y="3148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3" name="文本框 565271"/>
            <p:cNvSpPr txBox="1"/>
            <p:nvPr/>
          </p:nvSpPr>
          <p:spPr>
            <a:xfrm>
              <a:off x="1819" y="2482"/>
              <a:ext cx="59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DIR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19" name="文本框 566275"/>
          <p:cNvSpPr txBox="1"/>
          <p:nvPr/>
        </p:nvSpPr>
        <p:spPr>
          <a:xfrm>
            <a:off x="539750" y="2122488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进程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设计：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6525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2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65250">
                                            <p:txEl>
                                              <p:charRg st="2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77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65250">
                                            <p:txEl>
                                              <p:charRg st="77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2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65250">
                                            <p:txEl>
                                              <p:charRg st="125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65250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58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65250">
                                            <p:txEl>
                                              <p:charRg st="158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67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65250">
                                            <p:txEl>
                                              <p:charRg st="167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81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65250">
                                            <p:txEl>
                                              <p:charRg st="181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199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65250">
                                            <p:txEl>
                                              <p:charRg st="199" end="2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215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65250">
                                            <p:txEl>
                                              <p:charRg st="215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>
                                            <p:txEl>
                                              <p:charRg st="24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65250">
                                            <p:txEl>
                                              <p:charRg st="249" end="2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0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6274" name="内容占位符 566273"/>
          <p:cNvSpPr>
            <a:spLocks noGrp="1"/>
          </p:cNvSpPr>
          <p:nvPr>
            <p:ph idx="1"/>
          </p:nvPr>
        </p:nvSpPr>
        <p:spPr>
          <a:xfrm>
            <a:off x="900113" y="1557338"/>
            <a:ext cx="6705600" cy="4627562"/>
          </a:xfrm>
        </p:spPr>
        <p:txBody>
          <a:bodyPr vert="horz" wrap="square" lIns="91440" tIns="45720" rIns="91440" bIns="45720" anchor="t"/>
          <a:p>
            <a:pPr>
              <a:lnSpc>
                <a:spcPct val="110000"/>
              </a:lnSpc>
              <a:buNone/>
            </a:pP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PROCESS(B,DIR) IS 	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	--B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为输入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IF(DIR=‘0’)THEN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    AOUT&lt;=B;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ELSE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    AOUT&lt;="ZZZZZZZZ";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END IF;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</a:rPr>
              <a:t>   A&lt;=AOUT;         		--A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为输出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ARCHITECTURE ART;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19" name="文本框 566275"/>
          <p:cNvSpPr txBox="1"/>
          <p:nvPr/>
        </p:nvSpPr>
        <p:spPr>
          <a:xfrm>
            <a:off x="539750" y="1125538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进程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设计：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6277" name="组合 566276"/>
          <p:cNvGrpSpPr/>
          <p:nvPr/>
        </p:nvGrpSpPr>
        <p:grpSpPr>
          <a:xfrm>
            <a:off x="5867400" y="2349500"/>
            <a:ext cx="2520950" cy="1944688"/>
            <a:chOff x="1819" y="2482"/>
            <a:chExt cx="3585" cy="2226"/>
          </a:xfrm>
        </p:grpSpPr>
        <p:sp>
          <p:nvSpPr>
            <p:cNvPr id="60421" name="等腰三角形 566277"/>
            <p:cNvSpPr/>
            <p:nvPr/>
          </p:nvSpPr>
          <p:spPr>
            <a:xfrm rot="-5400000">
              <a:off x="3304" y="4114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22" name="等腰三角形 566278"/>
            <p:cNvSpPr/>
            <p:nvPr/>
          </p:nvSpPr>
          <p:spPr>
            <a:xfrm rot="5400000">
              <a:off x="3304" y="3061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23" name="直接连接符 566279"/>
            <p:cNvSpPr/>
            <p:nvPr/>
          </p:nvSpPr>
          <p:spPr>
            <a:xfrm>
              <a:off x="388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4" name="直接连接符 566280"/>
            <p:cNvSpPr/>
            <p:nvPr/>
          </p:nvSpPr>
          <p:spPr>
            <a:xfrm flipH="1">
              <a:off x="214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5" name="直接连接符 566281"/>
            <p:cNvSpPr/>
            <p:nvPr/>
          </p:nvSpPr>
          <p:spPr>
            <a:xfrm flipH="1">
              <a:off x="2732" y="4338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6" name="直接连接符 566282"/>
            <p:cNvSpPr/>
            <p:nvPr/>
          </p:nvSpPr>
          <p:spPr>
            <a:xfrm flipH="1">
              <a:off x="3904" y="4345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7" name="直接连接符 566283"/>
            <p:cNvSpPr/>
            <p:nvPr/>
          </p:nvSpPr>
          <p:spPr>
            <a:xfrm>
              <a:off x="2749" y="3277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8" name="直接连接符 566284"/>
            <p:cNvSpPr/>
            <p:nvPr/>
          </p:nvSpPr>
          <p:spPr>
            <a:xfrm>
              <a:off x="4594" y="3292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9" name="直接连接符 566285"/>
            <p:cNvSpPr/>
            <p:nvPr/>
          </p:nvSpPr>
          <p:spPr>
            <a:xfrm>
              <a:off x="2224" y="2620"/>
              <a:ext cx="14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0" name="直接连接符 566286"/>
            <p:cNvSpPr/>
            <p:nvPr/>
          </p:nvSpPr>
          <p:spPr>
            <a:xfrm>
              <a:off x="3664" y="2631"/>
              <a:ext cx="1" cy="4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1" name="直接连接符 566287"/>
            <p:cNvSpPr/>
            <p:nvPr/>
          </p:nvSpPr>
          <p:spPr>
            <a:xfrm>
              <a:off x="2929" y="2630"/>
              <a:ext cx="1" cy="1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2" name="直接连接符 566288"/>
            <p:cNvSpPr/>
            <p:nvPr/>
          </p:nvSpPr>
          <p:spPr>
            <a:xfrm>
              <a:off x="2929" y="3871"/>
              <a:ext cx="70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3" name="直接连接符 566289"/>
            <p:cNvSpPr/>
            <p:nvPr/>
          </p:nvSpPr>
          <p:spPr>
            <a:xfrm>
              <a:off x="3634" y="3871"/>
              <a:ext cx="1" cy="25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4" name="椭圆 566290"/>
            <p:cNvSpPr/>
            <p:nvPr/>
          </p:nvSpPr>
          <p:spPr>
            <a:xfrm>
              <a:off x="3581" y="4114"/>
              <a:ext cx="113" cy="11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文本框 566291"/>
            <p:cNvSpPr txBox="1"/>
            <p:nvPr/>
          </p:nvSpPr>
          <p:spPr>
            <a:xfrm>
              <a:off x="1909" y="3166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文本框 566292"/>
            <p:cNvSpPr txBox="1"/>
            <p:nvPr/>
          </p:nvSpPr>
          <p:spPr>
            <a:xfrm>
              <a:off x="5155" y="3148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7" name="文本框 566293"/>
            <p:cNvSpPr txBox="1"/>
            <p:nvPr/>
          </p:nvSpPr>
          <p:spPr>
            <a:xfrm>
              <a:off x="1819" y="2482"/>
              <a:ext cx="59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DIR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6627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27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66274">
                                            <p:txEl>
                                              <p:charRg st="27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3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66274">
                                            <p:txEl>
                                              <p:charRg st="3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66274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66274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66274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123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66274">
                                            <p:txEl>
                                              <p:charRg st="123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139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66274">
                                            <p:txEl>
                                              <p:charRg st="139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168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66274">
                                            <p:txEl>
                                              <p:charRg st="168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>
                                            <p:txEl>
                                              <p:charRg st="181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66274">
                                            <p:txEl>
                                              <p:charRg st="181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7298" name="内容占位符 567297"/>
          <p:cNvSpPr>
            <a:spLocks noGrp="1"/>
          </p:cNvSpPr>
          <p:nvPr>
            <p:ph idx="1"/>
          </p:nvPr>
        </p:nvSpPr>
        <p:spPr>
          <a:xfrm>
            <a:off x="818833" y="1663700"/>
            <a:ext cx="6705600" cy="4627563"/>
          </a:xfrm>
        </p:spPr>
        <p:txBody>
          <a:bodyPr vert="horz" wrap="square" lIns="91440" tIns="45720" rIns="91440" bIns="45720" anchor="t"/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ARCHITECTURE ART OF BIDIR IS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Process (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,DIR)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if (DIR='0') then 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A&lt;= B;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B&lt;= "ZZZZZZZZ";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Else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B &lt;=A; 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 &lt;="ZZZZZZZZ";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    end if;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END ARCHITECTURE ART;</a:t>
            </a:r>
            <a:endParaRPr lang="en-US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7300" name="矩形 567299"/>
          <p:cNvSpPr/>
          <p:nvPr/>
        </p:nvSpPr>
        <p:spPr>
          <a:xfrm>
            <a:off x="532130" y="989330"/>
            <a:ext cx="5051425" cy="56642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单进程描述：【例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-15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7301" name="组合 567300"/>
          <p:cNvGrpSpPr/>
          <p:nvPr/>
        </p:nvGrpSpPr>
        <p:grpSpPr>
          <a:xfrm>
            <a:off x="5867400" y="2349500"/>
            <a:ext cx="2520950" cy="1944688"/>
            <a:chOff x="1819" y="2482"/>
            <a:chExt cx="3585" cy="2226"/>
          </a:xfrm>
        </p:grpSpPr>
        <p:sp>
          <p:nvSpPr>
            <p:cNvPr id="61445" name="等腰三角形 567301"/>
            <p:cNvSpPr/>
            <p:nvPr/>
          </p:nvSpPr>
          <p:spPr>
            <a:xfrm rot="-5400000">
              <a:off x="3304" y="4114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6" name="等腰三角形 567302"/>
            <p:cNvSpPr/>
            <p:nvPr/>
          </p:nvSpPr>
          <p:spPr>
            <a:xfrm rot="5400000">
              <a:off x="3304" y="3061"/>
              <a:ext cx="720" cy="4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7" name="直接连接符 567303"/>
            <p:cNvSpPr/>
            <p:nvPr/>
          </p:nvSpPr>
          <p:spPr>
            <a:xfrm>
              <a:off x="388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8" name="直接连接符 567304"/>
            <p:cNvSpPr/>
            <p:nvPr/>
          </p:nvSpPr>
          <p:spPr>
            <a:xfrm flipH="1">
              <a:off x="2149" y="3292"/>
              <a:ext cx="12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9" name="直接连接符 567305"/>
            <p:cNvSpPr/>
            <p:nvPr/>
          </p:nvSpPr>
          <p:spPr>
            <a:xfrm flipH="1">
              <a:off x="2732" y="4338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0" name="直接连接符 567306"/>
            <p:cNvSpPr/>
            <p:nvPr/>
          </p:nvSpPr>
          <p:spPr>
            <a:xfrm flipH="1">
              <a:off x="3904" y="4345"/>
              <a:ext cx="692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1" name="直接连接符 567307"/>
            <p:cNvSpPr/>
            <p:nvPr/>
          </p:nvSpPr>
          <p:spPr>
            <a:xfrm>
              <a:off x="2749" y="3277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2" name="直接连接符 567308"/>
            <p:cNvSpPr/>
            <p:nvPr/>
          </p:nvSpPr>
          <p:spPr>
            <a:xfrm>
              <a:off x="4594" y="3292"/>
              <a:ext cx="1" cy="10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3" name="直接连接符 567309"/>
            <p:cNvSpPr/>
            <p:nvPr/>
          </p:nvSpPr>
          <p:spPr>
            <a:xfrm>
              <a:off x="2224" y="2620"/>
              <a:ext cx="14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4" name="直接连接符 567310"/>
            <p:cNvSpPr/>
            <p:nvPr/>
          </p:nvSpPr>
          <p:spPr>
            <a:xfrm>
              <a:off x="3664" y="2631"/>
              <a:ext cx="1" cy="4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5" name="直接连接符 567311"/>
            <p:cNvSpPr/>
            <p:nvPr/>
          </p:nvSpPr>
          <p:spPr>
            <a:xfrm>
              <a:off x="2929" y="2630"/>
              <a:ext cx="1" cy="12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6" name="直接连接符 567312"/>
            <p:cNvSpPr/>
            <p:nvPr/>
          </p:nvSpPr>
          <p:spPr>
            <a:xfrm>
              <a:off x="2929" y="3871"/>
              <a:ext cx="709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7" name="直接连接符 567313"/>
            <p:cNvSpPr/>
            <p:nvPr/>
          </p:nvSpPr>
          <p:spPr>
            <a:xfrm>
              <a:off x="3634" y="3871"/>
              <a:ext cx="1" cy="25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8" name="椭圆 567314"/>
            <p:cNvSpPr/>
            <p:nvPr/>
          </p:nvSpPr>
          <p:spPr>
            <a:xfrm>
              <a:off x="3581" y="4114"/>
              <a:ext cx="113" cy="11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9" name="文本框 567315"/>
            <p:cNvSpPr txBox="1"/>
            <p:nvPr/>
          </p:nvSpPr>
          <p:spPr>
            <a:xfrm>
              <a:off x="1909" y="3166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0" name="文本框 567316"/>
            <p:cNvSpPr txBox="1"/>
            <p:nvPr/>
          </p:nvSpPr>
          <p:spPr>
            <a:xfrm>
              <a:off x="5155" y="3148"/>
              <a:ext cx="24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1" name="文本框 567317"/>
            <p:cNvSpPr txBox="1"/>
            <p:nvPr/>
          </p:nvSpPr>
          <p:spPr>
            <a:xfrm>
              <a:off x="1819" y="2482"/>
              <a:ext cx="59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/>
            <a:p>
              <a:pPr algn="just"/>
              <a:r>
                <a: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DIR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6729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29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67298">
                                            <p:txEl>
                                              <p:charRg st="29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35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67298">
                                            <p:txEl>
                                              <p:charRg st="35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53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67298">
                                            <p:txEl>
                                              <p:charRg st="53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5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67298">
                                            <p:txEl>
                                              <p:charRg st="59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8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67298">
                                            <p:txEl>
                                              <p:charRg st="83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99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67298">
                                            <p:txEl>
                                              <p:charRg st="99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2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67298">
                                            <p:txEl>
                                              <p:charRg st="12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33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67298">
                                            <p:txEl>
                                              <p:charRg st="133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4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67298">
                                            <p:txEl>
                                              <p:charRg st="149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73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67298">
                                            <p:txEl>
                                              <p:charRg st="173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86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67298">
                                            <p:txEl>
                                              <p:charRg st="186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charRg st="199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67298">
                                            <p:txEl>
                                              <p:charRg st="199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 uiExpand="1" build="p"/>
      <p:bldP spid="56730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6513" y="1989138"/>
            <a:ext cx="9072563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数据运算操作主要包含加法操作、减法操作、乘法操作和除法操作，由这四种运算单元和逻辑运算单元一起，可以完成复杂数学运算</a:t>
            </a:r>
            <a:r>
              <a:rPr kumimoji="0" lang="zh-CN" altLang="zh-CN" sz="28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</a:t>
            </a:r>
            <a:endParaRPr kumimoji="0" lang="en-US" altLang="zh-CN" sz="2800" b="1" i="0" u="none" strike="noStrike" kern="1200" cap="none" spc="0" normalizeH="0" baseline="0" noProof="1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HDL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语言中提供了丰富的数据算术操作的运算符。</a:t>
            </a:r>
            <a:endParaRPr kumimoji="0" lang="zh-CN" altLang="zh-CN" sz="24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0721" name="标题 53452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839470"/>
            <a:ext cx="8229600" cy="721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数据运算</a:t>
            </a:r>
            <a:r>
              <a:rPr lang="zh-CN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矩形 628739"/>
          <p:cNvSpPr/>
          <p:nvPr/>
        </p:nvSpPr>
        <p:spPr>
          <a:xfrm>
            <a:off x="668338" y="2737485"/>
            <a:ext cx="3205162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数据流式：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位全加器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8742" name="图片 6287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338" y="4269423"/>
            <a:ext cx="4248150" cy="2430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8743" name="矩形 628742"/>
          <p:cNvSpPr/>
          <p:nvPr/>
        </p:nvSpPr>
        <p:spPr>
          <a:xfrm>
            <a:off x="1546225" y="3674110"/>
            <a:ext cx="2492375" cy="593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8744" name="矩形 628743"/>
          <p:cNvSpPr/>
          <p:nvPr/>
        </p:nvSpPr>
        <p:spPr>
          <a:xfrm>
            <a:off x="5580063" y="3374073"/>
            <a:ext cx="2376487" cy="593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表达式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438" name="文本框 628744"/>
          <p:cNvSpPr txBox="1"/>
          <p:nvPr/>
        </p:nvSpPr>
        <p:spPr>
          <a:xfrm>
            <a:off x="5580063" y="3785235"/>
            <a:ext cx="2736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628746" name="内容占位符 628745"/>
          <p:cNvGraphicFramePr>
            <a:graphicFrameLocks noGrp="1"/>
          </p:cNvGraphicFramePr>
          <p:nvPr>
            <p:ph idx="1"/>
          </p:nvPr>
        </p:nvGraphicFramePr>
        <p:xfrm>
          <a:off x="5338763" y="4428173"/>
          <a:ext cx="322103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397000" imgH="457200" progId="Equation.3">
                  <p:embed/>
                </p:oleObj>
              </mc:Choice>
              <mc:Fallback>
                <p:oleObj name="" r:id="rId2" imgW="13970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5338763" y="4428173"/>
                        <a:ext cx="3221037" cy="10556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文本占位符 778241"/>
          <p:cNvSpPr txBox="1"/>
          <p:nvPr/>
        </p:nvSpPr>
        <p:spPr>
          <a:xfrm>
            <a:off x="35243" y="1409700"/>
            <a:ext cx="8001000" cy="1244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defTabSz="0">
              <a:lnSpc>
                <a:spcPct val="150000"/>
              </a:lnSpc>
              <a:spcBef>
                <a:spcPct val="20000"/>
              </a:spcBef>
              <a:buFontTx/>
            </a:pP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）一位全加器设计</a:t>
            </a:r>
            <a:endParaRPr lang="zh-CN" altLang="en-US" sz="2400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just" defTabSz="0">
              <a:lnSpc>
                <a:spcPct val="150000"/>
              </a:lnSpc>
              <a:spcBef>
                <a:spcPct val="20000"/>
              </a:spcBef>
              <a:buFontTx/>
            </a:pP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位二进制加法器设计</a:t>
            </a:r>
            <a:endParaRPr lang="zh-CN" altLang="en-US" sz="2400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63172" name="矩形 735237"/>
          <p:cNvSpPr/>
          <p:nvPr>
            <p:custDataLst>
              <p:tags r:id="rId4"/>
            </p:custDataLst>
          </p:nvPr>
        </p:nvSpPr>
        <p:spPr>
          <a:xfrm>
            <a:off x="107315" y="4768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加法运算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2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3" grpId="0"/>
      <p:bldP spid="62874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22" name="内容占位符 542721"/>
          <p:cNvSpPr>
            <a:spLocks noGrp="1"/>
          </p:cNvSpPr>
          <p:nvPr>
            <p:ph idx="1"/>
          </p:nvPr>
        </p:nvSpPr>
        <p:spPr>
          <a:xfrm>
            <a:off x="612775" y="1844675"/>
            <a:ext cx="8135938" cy="44640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library ieee;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use ieee.std_logic_1164.all;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entity adder1 is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port (a,b,ci: in  std_logic;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         co,s: out std_logic);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end adder1;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19459" name="文本框 542724"/>
          <p:cNvSpPr txBox="1"/>
          <p:nvPr/>
        </p:nvSpPr>
        <p:spPr>
          <a:xfrm>
            <a:off x="754063" y="1279525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程序设计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实体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42728" name="图片 5427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1375" y="2060575"/>
            <a:ext cx="1963738" cy="2376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272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2722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2722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61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2722">
                                            <p:txEl>
                                              <p:charRg st="61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93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2722">
                                            <p:txEl>
                                              <p:charRg st="93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charRg st="12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42722">
                                            <p:txEl>
                                              <p:charRg st="12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3746" name="文本占位符 543745"/>
          <p:cNvSpPr>
            <a:spLocks noGrp="1"/>
          </p:cNvSpPr>
          <p:nvPr>
            <p:ph type="body" sz="half" idx="1"/>
          </p:nvPr>
        </p:nvSpPr>
        <p:spPr>
          <a:xfrm>
            <a:off x="611188" y="2565400"/>
            <a:ext cx="5689600" cy="3095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architecture  behavioral of adder1 IS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begin 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co&lt;=(a and b) or (a and ci) or (b and ci);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    s&lt;=a xor b xor ci;</a:t>
            </a:r>
            <a:endParaRPr lang="en-US" altLang="zh-CN" sz="2400" dirty="0"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end behavioral;</a:t>
            </a:r>
            <a:endParaRPr lang="en-US" altLang="zh-CN" sz="2400" dirty="0">
              <a:ea typeface="楷体_GB2312" pitchFamily="49" charset="-122"/>
            </a:endParaRPr>
          </a:p>
        </p:txBody>
      </p:sp>
      <p:sp>
        <p:nvSpPr>
          <p:cNvPr id="20483" name="文本框 543747"/>
          <p:cNvSpPr txBox="1"/>
          <p:nvPr/>
        </p:nvSpPr>
        <p:spPr>
          <a:xfrm>
            <a:off x="611188" y="1517650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程序设计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结构体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43749" name="对象 543748"/>
          <p:cNvGraphicFramePr>
            <a:graphicFrameLocks noGrp="1"/>
          </p:cNvGraphicFramePr>
          <p:nvPr/>
        </p:nvGraphicFramePr>
        <p:xfrm>
          <a:off x="5651500" y="1631950"/>
          <a:ext cx="32416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97000" imgH="457200" progId="Equation.3">
                  <p:embed/>
                </p:oleObj>
              </mc:Choice>
              <mc:Fallback>
                <p:oleObj name="" r:id="rId1" imgW="1397000" imgH="457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651500" y="1631950"/>
                        <a:ext cx="3241675" cy="1060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8" y="3425825"/>
            <a:ext cx="2000250" cy="523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43746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43746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4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43746">
                                            <p:txEl>
                                              <p:charRg st="45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43746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6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43746">
                                            <p:txEl>
                                              <p:charRg st="115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9313" name="文本占位符 778241"/>
          <p:cNvSpPr>
            <a:spLocks noGrp="1"/>
          </p:cNvSpPr>
          <p:nvPr>
            <p:ph idx="1"/>
          </p:nvPr>
        </p:nvSpPr>
        <p:spPr>
          <a:xfrm>
            <a:off x="119063" y="0"/>
            <a:ext cx="8001000" cy="12446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50000"/>
              </a:lnSpc>
              <a:buNone/>
            </a:pPr>
            <a:endParaRPr lang="zh-CN" alt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4</a:t>
            </a:r>
            <a:r>
              <a:rPr lang="zh-CN" altLang="en-US" sz="2400" dirty="0"/>
              <a:t>位二进制加法器设计</a:t>
            </a:r>
            <a:endParaRPr lang="zh-CN" altLang="en-US" sz="2400" dirty="0"/>
          </a:p>
        </p:txBody>
      </p:sp>
      <p:sp>
        <p:nvSpPr>
          <p:cNvPr id="269314" name="矩形 778244"/>
          <p:cNvSpPr/>
          <p:nvPr/>
        </p:nvSpPr>
        <p:spPr>
          <a:xfrm>
            <a:off x="119063" y="1397000"/>
            <a:ext cx="9024937" cy="5003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architecture  behavioral of adder4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signal c: std_logic_vector(2 downto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0);       --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内部进位信号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component adder1 is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port (a,b,ci: in 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co,s: out std_logic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	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component;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U0: adder1 port map(a=&gt;a(0),b=&gt;b(0),ci=&gt;cin,co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=&gt;c(0),s=&gt;s(0));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U1: adder1 port map(a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=&gt;a(1),b=&gt;b(1),ci=&gt;c(0),co=&gt;c(1),s=&gt;s(1));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U2: adder1 port map(a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=&gt;a(2),b=&gt;b(2),ci=&gt;c(1),co=&gt;c(2),s=&gt;s(2));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U3: adder1 port map(a=&gt;a(3),b=&gt;b(3),ci=&gt;c(2),co=&gt;cout,s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=&gt;s(3));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just"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84948"/>
            <a:ext cx="9144000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带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进位输入和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输出无符号</a:t>
            </a:r>
            <a:r>
              <a:rPr kumimoji="0" lang="pt-BR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比特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加法器</a:t>
            </a:r>
            <a:r>
              <a:rPr kumimoji="0" lang="pt-BR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描述</a:t>
            </a:r>
            <a:endParaRPr kumimoji="0" lang="zh-CN" altLang="zh-CN" sz="2400" b="1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library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ieee.std_logic_1164.all;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entity adders_4 is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port(A,B,CI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SUM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out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1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CO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out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adders_4;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4768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加法运算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560" y="1628775"/>
            <a:ext cx="8643620" cy="3600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architecture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archi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adders_4 is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signal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(8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SUM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CO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(8);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tmp </a:t>
            </a:r>
            <a:r>
              <a:rPr kumimoji="0" lang="pt-BR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 conv_std_logic_vector((conv_integer(A) + conv_integer(B</a:t>
            </a:r>
            <a:r>
              <a:rPr kumimoji="0" lang="pt-BR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pt-BR" altLang="zh-CN" sz="2000" b="1" i="0" u="none" strike="noStrike" kern="1200" cap="none" spc="0" normalizeH="0" baseline="0" noProof="1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t-BR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+</a:t>
            </a:r>
            <a:r>
              <a:rPr kumimoji="0" lang="pt-BR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conv_integer(CI)),9);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archi;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84948"/>
            <a:ext cx="9144000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带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进位输入和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输出无符号</a:t>
            </a:r>
            <a:r>
              <a:rPr kumimoji="0" lang="pt-BR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比特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加法器</a:t>
            </a:r>
            <a:r>
              <a:rPr kumimoji="0" lang="pt-BR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描述</a:t>
            </a:r>
            <a:endParaRPr kumimoji="0" lang="zh-CN" altLang="zh-CN" sz="2400" b="1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library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ieee.std_logic_1164.all;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ieee.std_logic_arith.all;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ieee.std_logic_unsigned.all;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entity adders_4 is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port(A,B,CI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SUM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out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1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CO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out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adders_4;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4768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加法运算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560" y="1557020"/>
            <a:ext cx="8643620" cy="415734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architecture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archi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adders_4 is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signal A1,B1,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(8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begin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A1&lt;=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‘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0’&amp;A;</a:t>
            </a:r>
            <a:endParaRPr lang="en-US" altLang="zh-CN" sz="20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kern="120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     B1&lt;=</a:t>
            </a: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‘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0’&amp;B;</a:t>
            </a:r>
            <a:endParaRPr lang="en-US" altLang="zh-CN" sz="20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pt-BR" altLang="zh-CN" sz="2000" b="1" kern="120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tmp </a:t>
            </a:r>
            <a:r>
              <a:rPr kumimoji="0" lang="pt-BR" altLang="zh-CN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&lt;= A</a:t>
            </a:r>
            <a:r>
              <a:rPr kumimoji="0" lang="en-US" altLang="pt-BR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1</a:t>
            </a:r>
            <a:r>
              <a:rPr kumimoji="0" lang="pt-BR" altLang="zh-CN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+ B</a:t>
            </a:r>
            <a:r>
              <a:rPr kumimoji="0" lang="en-US" altLang="pt-BR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1</a:t>
            </a:r>
            <a:r>
              <a:rPr kumimoji="0" lang="pt-BR" altLang="zh-CN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0" lang="pt-BR" altLang="zh-CN" sz="2000" b="1" kern="120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+</a:t>
            </a:r>
            <a:r>
              <a:rPr kumimoji="0" lang="pt-BR" altLang="zh-CN" sz="2000" b="1" kern="120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sym typeface="+mn-ea"/>
              </a:rPr>
              <a:t>CI;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SUM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CO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(8);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pt-BR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archi;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内容占位符 2"/>
          <p:cNvSpPr>
            <a:spLocks noGrp="1"/>
          </p:cNvSpPr>
          <p:nvPr>
            <p:ph type="subTitle" idx="1"/>
          </p:nvPr>
        </p:nvSpPr>
        <p:spPr>
          <a:xfrm>
            <a:off x="35560" y="1124585"/>
            <a:ext cx="8928100" cy="5690870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无符号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位带借位减法器的</a:t>
            </a:r>
            <a:r>
              <a:rPr lang="en-US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VHDL</a:t>
            </a:r>
            <a:r>
              <a:rPr lang="zh-CN" altLang="zh-CN" sz="2400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描述</a:t>
            </a:r>
            <a:endParaRPr lang="zh-CN" altLang="zh-CN" sz="24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IEEE.STD_LOGIC_UNSIGNED.ALL;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adders_8 is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port(A,B : in std_logic_vector(7 downto 0);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BI : in std_logic;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RES : out std_logic_vector(7 downto 0));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adders_8;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archi of adders_8 is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RES &lt;= A - B - BI;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buClrTx/>
              <a:buSzTx/>
              <a:buFontTx/>
              <a:buNone/>
            </a:pPr>
            <a:r>
              <a:rPr lang="en-US" altLang="zh-CN" sz="24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archi;</a:t>
            </a:r>
            <a:endParaRPr lang="zh-CN" altLang="zh-CN" sz="24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2609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减法运算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内容占位符 2"/>
          <p:cNvSpPr>
            <a:spLocks noGrp="1"/>
          </p:cNvSpPr>
          <p:nvPr>
            <p:ph type="subTitle" idx="1"/>
          </p:nvPr>
        </p:nvSpPr>
        <p:spPr>
          <a:xfrm>
            <a:off x="35560" y="1196658"/>
            <a:ext cx="8928100" cy="5300662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位和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位无符号的乘法操作的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VHDL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描述</a:t>
            </a:r>
            <a:endParaRPr lang="zh-CN" altLang="zh-CN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ieee.std_logic_unsigned.all;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multipliers_1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port(A : in std_logic_vector(7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B : in std_logic_vector(3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RES : out std_logic_vector(11 downto 0));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multipliers_1;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beh of multipliers_1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RES &lt;= A * B;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beh;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40000"/>
              </a:lnSpc>
              <a:buClrTx/>
              <a:buSzTx/>
              <a:buFontTx/>
              <a:buNone/>
            </a:pPr>
            <a:endParaRPr lang="zh-CN" alt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2609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乘法运算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内容占位符 2"/>
          <p:cNvSpPr>
            <a:spLocks noGrp="1"/>
          </p:cNvSpPr>
          <p:nvPr>
            <p:ph type="subTitle" idx="1"/>
          </p:nvPr>
        </p:nvSpPr>
        <p:spPr>
          <a:xfrm>
            <a:off x="107633" y="1340803"/>
            <a:ext cx="8928100" cy="5157787"/>
          </a:xfrm>
        </p:spPr>
        <p:txBody>
          <a:bodyPr vert="horz" wrap="square" lIns="91440" tIns="45720" rIns="91440" bIns="45720" anchor="t" anchorCtr="0"/>
          <a:p>
            <a:pPr algn="l" eaLnBrk="1" hangingPunct="1">
              <a:buClrTx/>
              <a:buSzTx/>
              <a:buFontTx/>
              <a:buNone/>
            </a:pP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无符号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位被除数和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位除数除法操作</a:t>
            </a:r>
            <a:r>
              <a:rPr lang="en-US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VHDL</a:t>
            </a:r>
            <a:r>
              <a:rPr lang="zh-CN" altLang="zh-CN" b="1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描述</a:t>
            </a:r>
            <a:endParaRPr lang="zh-CN" altLang="zh-CN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library IEEE;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IEEE.STD_LOGIC_1164.ALL;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IEEE.STD_LOGIC_ARITH.ALL;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use IEEE.STD_LOGIC_UNSIGNED.ALL;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entity div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Port ( numerator   : in  std_logic_vector(7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denominator : in  std_logic_vector(7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quotient    : out std_logic_vector(7 downto 0);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remainder   : out std_logic_vector(7 downto 0)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	    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div;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 </a:t>
            </a:r>
            <a:endParaRPr lang="zh-CN" altLang="zh-CN" sz="2000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2609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除法运算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内容占位符 2"/>
          <p:cNvSpPr>
            <a:spLocks noGrp="1"/>
          </p:cNvSpPr>
          <p:nvPr>
            <p:ph type="subTitle" idx="1"/>
          </p:nvPr>
        </p:nvSpPr>
        <p:spPr>
          <a:xfrm>
            <a:off x="107950" y="1989138"/>
            <a:ext cx="8928100" cy="3671887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architecture Behavioral of div is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process(numerator,denominator)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begin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if(denominator/="00000000") then        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quotient&lt;=conv_std_logic_vector(conv_integer(numerator)/conv_integer(denominator),8);</a:t>
            </a:r>
            <a:endParaRPr lang="en-US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内容占位符 2"/>
          <p:cNvSpPr>
            <a:spLocks noGrp="1"/>
          </p:cNvSpPr>
          <p:nvPr>
            <p:ph type="subTitle" idx="1"/>
          </p:nvPr>
        </p:nvSpPr>
        <p:spPr>
          <a:xfrm>
            <a:off x="23813" y="1700213"/>
            <a:ext cx="8928100" cy="4968875"/>
          </a:xfrm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remainder&lt;=conv_std_logic_vector(conv_integer(numerator)rem conv_integer(denominator),8);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else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quotient&lt;="00000000";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	      remainder&lt;="00000000";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end if;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process;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algn="l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2000" b="1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end Behavioral;</a:t>
            </a:r>
            <a:endParaRPr lang="zh-CN" altLang="zh-CN" sz="2000" b="1" kern="1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988" y="1663700"/>
            <a:ext cx="88566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前面介绍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了加法器和减法器电路的设计。通过增加一些逻辑操作，设计一个叫做算术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逻辑单元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的模块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由于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包含了所希望实现的功能集的电路，因此很容易替换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扩展来包含不同的操作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zh-CN" sz="2400" b="1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3172" name="矩形 735237"/>
          <p:cNvSpPr/>
          <p:nvPr>
            <p:custDataLst>
              <p:tags r:id="rId1"/>
            </p:custDataLst>
          </p:nvPr>
        </p:nvSpPr>
        <p:spPr>
          <a:xfrm>
            <a:off x="107315" y="26098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算数逻辑单元</a:t>
            </a:r>
            <a:endParaRPr lang="zh-CN" altLang="en-US" sz="36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1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1585278"/>
            <a:ext cx="3971925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1" name="矩形 3"/>
          <p:cNvSpPr/>
          <p:nvPr/>
        </p:nvSpPr>
        <p:spPr>
          <a:xfrm>
            <a:off x="5867400" y="1150303"/>
            <a:ext cx="1230313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  <a:r>
              <a:rPr lang="zh-CN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操作</a:t>
            </a: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4663" y="1556703"/>
          <a:ext cx="4392613" cy="329247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87166"/>
                <a:gridCol w="1199223"/>
                <a:gridCol w="1606223"/>
              </a:tblGrid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</a:rPr>
                        <a:t>alusel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[2:0]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功能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</a:rPr>
                        <a:t>输出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  <a:tab pos="619125" algn="ct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传递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001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</a:rPr>
                        <a:t>a+b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010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减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a-b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011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减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b-a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取反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not a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与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 and 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110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 or 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111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zh-CN" sz="1600" kern="100" dirty="0">
                          <a:solidFill>
                            <a:schemeClr val="tx1"/>
                          </a:solidFill>
                          <a:effectLst/>
                        </a:rPr>
                        <a:t>异或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6675" algn="l"/>
                          <a:tab pos="200025" algn="l"/>
                        </a:tabLs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a </a:t>
                      </a: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</a:rPr>
                        <a:t>xor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 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5" marR="68585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701" y="908601"/>
            <a:ext cx="6434333" cy="315372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>
                <a:solidFill>
                  <a:srgbClr val="7030A0"/>
                </a:solidFill>
              </a:rPr>
              <a:t>由于</a:t>
            </a:r>
            <a:r>
              <a:rPr lang="en-US" altLang="zh-CN" sz="2400" b="1" dirty="0">
                <a:solidFill>
                  <a:srgbClr val="7030A0"/>
                </a:solidFill>
              </a:rPr>
              <a:t>ALU</a:t>
            </a:r>
            <a:r>
              <a:rPr lang="zh-CN" altLang="zh-CN" sz="2400" b="1" dirty="0">
                <a:solidFill>
                  <a:srgbClr val="7030A0"/>
                </a:solidFill>
              </a:rPr>
              <a:t>完成</a:t>
            </a:r>
            <a:r>
              <a:rPr lang="en-US" altLang="zh-CN" sz="2400" b="1" dirty="0">
                <a:solidFill>
                  <a:srgbClr val="7030A0"/>
                </a:solidFill>
              </a:rPr>
              <a:t>8</a:t>
            </a:r>
            <a:r>
              <a:rPr lang="zh-CN" altLang="zh-CN" sz="2400" b="1" dirty="0">
                <a:solidFill>
                  <a:srgbClr val="7030A0"/>
                </a:solidFill>
              </a:rPr>
              <a:t>种功能，所以选择线为</a:t>
            </a:r>
            <a:r>
              <a:rPr lang="en-US" altLang="zh-CN" sz="2400" b="1" dirty="0">
                <a:solidFill>
                  <a:srgbClr val="7030A0"/>
                </a:solidFill>
              </a:rPr>
              <a:t>3</a:t>
            </a:r>
            <a:r>
              <a:rPr lang="zh-CN" altLang="zh-CN" sz="2400" b="1" dirty="0" smtClean="0">
                <a:solidFill>
                  <a:srgbClr val="7030A0"/>
                </a:solidFill>
              </a:rPr>
              <a:t>位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.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 smtClean="0">
                <a:solidFill>
                  <a:srgbClr val="7030A0"/>
                </a:solidFill>
              </a:rPr>
              <a:t>此外</a:t>
            </a:r>
            <a:r>
              <a:rPr lang="zh-CN" altLang="zh-CN" sz="2400" b="1" dirty="0">
                <a:solidFill>
                  <a:srgbClr val="7030A0"/>
                </a:solidFill>
              </a:rPr>
              <a:t>，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ALU</a:t>
            </a:r>
            <a:r>
              <a:rPr lang="zh-CN" altLang="zh-CN" sz="2400" b="1" dirty="0" smtClean="0">
                <a:solidFill>
                  <a:srgbClr val="7030A0"/>
                </a:solidFill>
              </a:rPr>
              <a:t>提供</a:t>
            </a:r>
            <a:r>
              <a:rPr lang="en-US" altLang="zh-CN" sz="2400" b="1" dirty="0">
                <a:solidFill>
                  <a:srgbClr val="7030A0"/>
                </a:solidFill>
              </a:rPr>
              <a:t>4</a:t>
            </a:r>
            <a:r>
              <a:rPr lang="zh-CN" altLang="zh-CN" sz="2400" b="1" dirty="0">
                <a:solidFill>
                  <a:srgbClr val="7030A0"/>
                </a:solidFill>
              </a:rPr>
              <a:t>位的</a:t>
            </a:r>
            <a:r>
              <a:rPr lang="en-US" altLang="zh-CN" sz="2400" b="1" dirty="0">
                <a:solidFill>
                  <a:srgbClr val="7030A0"/>
                </a:solidFill>
              </a:rPr>
              <a:t>y</a:t>
            </a:r>
            <a:r>
              <a:rPr lang="zh-CN" altLang="zh-CN" sz="2400" b="1" dirty="0">
                <a:solidFill>
                  <a:srgbClr val="7030A0"/>
                </a:solidFill>
              </a:rPr>
              <a:t>输出和四个标志位</a:t>
            </a:r>
            <a:r>
              <a:rPr lang="zh-CN" altLang="zh-CN" sz="2400" b="1" dirty="0" smtClean="0">
                <a:solidFill>
                  <a:srgbClr val="7030A0"/>
                </a:solidFill>
              </a:rPr>
              <a:t>。</a:t>
            </a:r>
            <a:r>
              <a:rPr lang="zh-CN" altLang="en-US" sz="2400" b="1" dirty="0" smtClean="0">
                <a:solidFill>
                  <a:srgbClr val="7030A0"/>
                </a:solidFill>
              </a:rPr>
              <a:t>其中：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 err="1" smtClean="0">
                <a:solidFill>
                  <a:srgbClr val="00B050"/>
                </a:solidFill>
              </a:rPr>
              <a:t>cf</a:t>
            </a:r>
            <a:r>
              <a:rPr lang="zh-CN" altLang="zh-CN" sz="2400" b="1" dirty="0">
                <a:solidFill>
                  <a:srgbClr val="00B050"/>
                </a:solidFill>
              </a:rPr>
              <a:t>为</a:t>
            </a:r>
            <a:r>
              <a:rPr lang="zh-CN" altLang="zh-CN" sz="2400" b="1" dirty="0" smtClean="0">
                <a:solidFill>
                  <a:srgbClr val="00B050"/>
                </a:solidFill>
              </a:rPr>
              <a:t>进位标志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；</a:t>
            </a:r>
            <a:endParaRPr lang="en-US" altLang="zh-CN" sz="2400" b="1" dirty="0" smtClean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 err="1" smtClean="0">
                <a:solidFill>
                  <a:srgbClr val="00B050"/>
                </a:solidFill>
              </a:rPr>
              <a:t>ovf</a:t>
            </a:r>
            <a:r>
              <a:rPr lang="zh-CN" altLang="zh-CN" sz="2400" b="1" dirty="0">
                <a:solidFill>
                  <a:srgbClr val="00B050"/>
                </a:solidFill>
              </a:rPr>
              <a:t>为溢出</a:t>
            </a:r>
            <a:r>
              <a:rPr lang="zh-CN" altLang="zh-CN" sz="2400" b="1" dirty="0" smtClean="0">
                <a:solidFill>
                  <a:srgbClr val="00B050"/>
                </a:solidFill>
              </a:rPr>
              <a:t>标志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；</a:t>
            </a:r>
            <a:endParaRPr lang="en-US" altLang="zh-CN" sz="2400" b="1" dirty="0" smtClean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 err="1" smtClean="0">
                <a:solidFill>
                  <a:srgbClr val="00B050"/>
                </a:solidFill>
              </a:rPr>
              <a:t>zf</a:t>
            </a:r>
            <a:r>
              <a:rPr lang="zh-CN" altLang="zh-CN" sz="2400" b="1" dirty="0">
                <a:solidFill>
                  <a:srgbClr val="00B050"/>
                </a:solidFill>
              </a:rPr>
              <a:t>为</a:t>
            </a:r>
            <a:r>
              <a:rPr lang="en-US" altLang="zh-CN" sz="2400" b="1" dirty="0">
                <a:solidFill>
                  <a:srgbClr val="00B050"/>
                </a:solidFill>
              </a:rPr>
              <a:t>0</a:t>
            </a:r>
            <a:r>
              <a:rPr lang="zh-CN" altLang="zh-CN" sz="2400" b="1" dirty="0">
                <a:solidFill>
                  <a:srgbClr val="00B050"/>
                </a:solidFill>
              </a:rPr>
              <a:t>标志（当输出为</a:t>
            </a:r>
            <a:r>
              <a:rPr lang="en-US" altLang="zh-CN" sz="2400" b="1" dirty="0">
                <a:solidFill>
                  <a:srgbClr val="00B050"/>
                </a:solidFill>
              </a:rPr>
              <a:t>0</a:t>
            </a:r>
            <a:r>
              <a:rPr lang="zh-CN" altLang="zh-CN" sz="2400" b="1" dirty="0">
                <a:solidFill>
                  <a:srgbClr val="00B050"/>
                </a:solidFill>
              </a:rPr>
              <a:t>时，该标志有效</a:t>
            </a:r>
            <a:r>
              <a:rPr lang="zh-CN" altLang="zh-CN" sz="2400" b="1" dirty="0" smtClean="0">
                <a:solidFill>
                  <a:srgbClr val="00B050"/>
                </a:solidFill>
              </a:rPr>
              <a:t>）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；</a:t>
            </a:r>
            <a:endParaRPr lang="en-US" altLang="zh-CN" sz="2400" b="1" dirty="0" smtClean="0">
              <a:solidFill>
                <a:srgbClr val="00B050"/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306" y="1628775"/>
            <a:ext cx="6608928" cy="339447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>
                <a:solidFill>
                  <a:srgbClr val="7030A0"/>
                </a:solidFill>
              </a:rPr>
              <a:t>为了讨论进位标志和溢出标志的不同，考虑一个</a:t>
            </a:r>
            <a:r>
              <a:rPr lang="en-US" altLang="zh-CN" sz="2400" b="1" dirty="0">
                <a:solidFill>
                  <a:srgbClr val="7030A0"/>
                </a:solidFill>
              </a:rPr>
              <a:t>8</a:t>
            </a:r>
            <a:r>
              <a:rPr lang="zh-CN" altLang="zh-CN" sz="2400" b="1" dirty="0">
                <a:solidFill>
                  <a:srgbClr val="7030A0"/>
                </a:solidFill>
              </a:rPr>
              <a:t>位的加法（最高位为符号位）。当无符号的数的和超过</a:t>
            </a:r>
            <a:r>
              <a:rPr lang="en-US" altLang="zh-CN" sz="2400" b="1" dirty="0">
                <a:solidFill>
                  <a:srgbClr val="7030A0"/>
                </a:solidFill>
              </a:rPr>
              <a:t>255</a:t>
            </a:r>
            <a:r>
              <a:rPr lang="zh-CN" altLang="zh-CN" sz="2400" b="1" dirty="0">
                <a:solidFill>
                  <a:srgbClr val="7030A0"/>
                </a:solidFill>
              </a:rPr>
              <a:t>时，进位标志被设置。当有符号数的和超过了</a:t>
            </a:r>
            <a:r>
              <a:rPr lang="en-US" altLang="zh-CN" sz="2400" b="1" dirty="0">
                <a:solidFill>
                  <a:srgbClr val="7030A0"/>
                </a:solidFill>
              </a:rPr>
              <a:t>-128-+127</a:t>
            </a:r>
            <a:r>
              <a:rPr lang="zh-CN" altLang="zh-CN" sz="2400" b="1" dirty="0">
                <a:solidFill>
                  <a:srgbClr val="7030A0"/>
                </a:solidFill>
              </a:rPr>
              <a:t>的范围时，溢出标志被设置。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260" y="404495"/>
            <a:ext cx="7098030" cy="57594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>
                <a:solidFill>
                  <a:srgbClr val="7030A0"/>
                </a:solidFill>
              </a:rPr>
              <a:t>考虑下面的几个例子</a:t>
            </a:r>
            <a:r>
              <a:rPr lang="en-US" altLang="zh-CN" sz="2400" b="1" dirty="0">
                <a:solidFill>
                  <a:srgbClr val="7030A0"/>
                </a:solidFill>
              </a:rPr>
              <a:t>(</a:t>
            </a:r>
            <a:r>
              <a:rPr lang="zh-CN" altLang="zh-CN" sz="2400" b="1" dirty="0">
                <a:solidFill>
                  <a:srgbClr val="7030A0"/>
                </a:solidFill>
              </a:rPr>
              <a:t>最高位为符号位</a:t>
            </a:r>
            <a:r>
              <a:rPr lang="en-US" altLang="zh-CN" sz="2400" b="1" dirty="0">
                <a:solidFill>
                  <a:srgbClr val="7030A0"/>
                </a:solidFill>
              </a:rPr>
              <a:t>)</a:t>
            </a:r>
            <a:r>
              <a:rPr lang="zh-CN" altLang="zh-CN" sz="2400" b="1" dirty="0">
                <a:solidFill>
                  <a:srgbClr val="7030A0"/>
                </a:solidFill>
              </a:rPr>
              <a:t>：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srgbClr val="00B050"/>
                </a:solidFill>
              </a:rPr>
              <a:t>53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en-US" altLang="zh-CN" sz="2400" dirty="0" smtClean="0">
                <a:solidFill>
                  <a:srgbClr val="00B050"/>
                </a:solidFill>
              </a:rPr>
              <a:t>+25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en-US" altLang="zh-CN" sz="2400" dirty="0" smtClean="0">
                <a:solidFill>
                  <a:srgbClr val="00B050"/>
                </a:solidFill>
              </a:rPr>
              <a:t>=35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en-US" altLang="zh-CN" sz="2400" dirty="0" smtClean="0">
                <a:solidFill>
                  <a:srgbClr val="00B050"/>
                </a:solidFill>
              </a:rPr>
              <a:t>+19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en-US" altLang="zh-CN" sz="2400" dirty="0" smtClean="0">
                <a:solidFill>
                  <a:srgbClr val="00B050"/>
                </a:solidFill>
              </a:rPr>
              <a:t>=78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en-US" altLang="zh-CN" sz="2400" dirty="0" smtClean="0">
                <a:solidFill>
                  <a:srgbClr val="00B050"/>
                </a:solidFill>
              </a:rPr>
              <a:t>=4E</a:t>
            </a:r>
            <a:r>
              <a:rPr lang="en-US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en-US" altLang="zh-CN" sz="2400" dirty="0" smtClean="0">
                <a:solidFill>
                  <a:srgbClr val="00B050"/>
                </a:solidFill>
              </a:rPr>
              <a:t>,cf=0,ovf=0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pt-BR" altLang="zh-CN" sz="2400" dirty="0" smtClean="0">
                <a:solidFill>
                  <a:srgbClr val="00B050"/>
                </a:solidFill>
              </a:rPr>
              <a:t>53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+91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=35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+5B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=144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=90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,cf=0,ovf=1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pt-BR" altLang="zh-CN" sz="2400" dirty="0" smtClean="0">
                <a:solidFill>
                  <a:srgbClr val="00B050"/>
                </a:solidFill>
              </a:rPr>
              <a:t>53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-45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=35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+D3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=8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=08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,</a:t>
            </a:r>
            <a:r>
              <a:rPr lang="en-US" altLang="pt-BR" sz="2400" dirty="0" smtClean="0">
                <a:solidFill>
                  <a:srgbClr val="00B050"/>
                </a:solidFill>
              </a:rPr>
              <a:t>  </a:t>
            </a:r>
            <a:r>
              <a:rPr lang="pt-BR" altLang="zh-CN" sz="2400" dirty="0" smtClean="0">
                <a:solidFill>
                  <a:srgbClr val="00B050"/>
                </a:solidFill>
              </a:rPr>
              <a:t>cf=</a:t>
            </a:r>
            <a:r>
              <a:rPr lang="en-US" altLang="pt-BR" sz="2400" dirty="0" smtClean="0">
                <a:solidFill>
                  <a:srgbClr val="00B050"/>
                </a:solidFill>
              </a:rPr>
              <a:t>1</a:t>
            </a:r>
            <a:r>
              <a:rPr lang="pt-BR" altLang="zh-CN" sz="2400" dirty="0" smtClean="0">
                <a:solidFill>
                  <a:srgbClr val="00B050"/>
                </a:solidFill>
              </a:rPr>
              <a:t>,ovf=0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pt-BR" altLang="zh-CN" sz="2400" dirty="0" smtClean="0">
                <a:solidFill>
                  <a:srgbClr val="00B050"/>
                </a:solidFill>
              </a:rPr>
              <a:t>-98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-45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10</a:t>
            </a:r>
            <a:r>
              <a:rPr lang="pt-BR" altLang="zh-CN" sz="2400" dirty="0" smtClean="0">
                <a:solidFill>
                  <a:srgbClr val="00B050"/>
                </a:solidFill>
              </a:rPr>
              <a:t>=9E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 smtClean="0">
                <a:solidFill>
                  <a:srgbClr val="00B050"/>
                </a:solidFill>
              </a:rPr>
              <a:t>+D3</a:t>
            </a:r>
            <a:r>
              <a:rPr lang="pt-BR" altLang="zh-CN" sz="2400" baseline="-25000" dirty="0" smtClean="0">
                <a:solidFill>
                  <a:srgbClr val="00B050"/>
                </a:solidFill>
              </a:rPr>
              <a:t>16</a:t>
            </a:r>
            <a:r>
              <a:rPr lang="pt-BR" altLang="zh-CN" sz="2400" dirty="0">
                <a:solidFill>
                  <a:srgbClr val="00B050"/>
                </a:solidFill>
              </a:rPr>
              <a:t>=-143</a:t>
            </a:r>
            <a:r>
              <a:rPr lang="pt-BR" altLang="zh-CN" sz="2400" baseline="-25000" dirty="0">
                <a:solidFill>
                  <a:srgbClr val="00B050"/>
                </a:solidFill>
              </a:rPr>
              <a:t>10</a:t>
            </a:r>
            <a:r>
              <a:rPr lang="pt-BR" altLang="zh-CN" sz="2400" dirty="0">
                <a:solidFill>
                  <a:srgbClr val="00B050"/>
                </a:solidFill>
              </a:rPr>
              <a:t>=171</a:t>
            </a:r>
            <a:r>
              <a:rPr lang="pt-BR" altLang="zh-CN" sz="2400" baseline="-25000" dirty="0">
                <a:solidFill>
                  <a:srgbClr val="00B050"/>
                </a:solidFill>
              </a:rPr>
              <a:t>16</a:t>
            </a:r>
            <a:r>
              <a:rPr lang="pt-BR" altLang="zh-CN" sz="2400" dirty="0">
                <a:solidFill>
                  <a:srgbClr val="00B050"/>
                </a:solidFill>
              </a:rPr>
              <a:t>,cf=1,ovf=1</a:t>
            </a:r>
            <a:endParaRPr lang="zh-CN" altLang="zh-CN" sz="2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>
                <a:solidFill>
                  <a:srgbClr val="7030A0"/>
                </a:solidFill>
              </a:rPr>
              <a:t>当满足条件：（第七位向第八位进位）</a:t>
            </a:r>
            <a:r>
              <a:rPr lang="pt-BR" altLang="zh-CN" sz="2400" b="1" dirty="0">
                <a:solidFill>
                  <a:srgbClr val="7030A0"/>
                </a:solidFill>
              </a:rPr>
              <a:t> xor  </a:t>
            </a:r>
            <a:r>
              <a:rPr lang="zh-CN" altLang="zh-CN" sz="2400" b="1" dirty="0">
                <a:solidFill>
                  <a:srgbClr val="7030A0"/>
                </a:solidFill>
              </a:rPr>
              <a:t>（第八位向</a:t>
            </a:r>
            <a:r>
              <a:rPr lang="pt-BR" altLang="zh-CN" sz="2400" b="1" dirty="0">
                <a:solidFill>
                  <a:srgbClr val="7030A0"/>
                </a:solidFill>
              </a:rPr>
              <a:t>cf</a:t>
            </a:r>
            <a:r>
              <a:rPr lang="zh-CN" altLang="zh-CN" sz="2400" b="1" dirty="0">
                <a:solidFill>
                  <a:srgbClr val="7030A0"/>
                </a:solidFill>
              </a:rPr>
              <a:t>进位）时，</a:t>
            </a:r>
            <a:r>
              <a:rPr lang="pt-BR" altLang="zh-CN" sz="2400" b="1" dirty="0">
                <a:solidFill>
                  <a:srgbClr val="7030A0"/>
                </a:solidFill>
              </a:rPr>
              <a:t>ovf=1</a:t>
            </a:r>
            <a:r>
              <a:rPr lang="zh-CN" altLang="zh-CN" sz="2400" b="1" dirty="0">
                <a:solidFill>
                  <a:srgbClr val="7030A0"/>
                </a:solidFill>
              </a:rPr>
              <a:t>。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513080"/>
            <a:ext cx="7845425" cy="5831840"/>
          </a:xfrm>
        </p:spPr>
        <p:txBody>
          <a:bodyPr/>
          <a:lstStyle/>
          <a:p>
            <a:pPr marL="0" indent="0">
              <a:buNone/>
            </a:pPr>
            <a:r>
              <a:rPr lang="zh-CN" altLang="zh-CN" b="1" dirty="0" smtClean="0">
                <a:solidFill>
                  <a:srgbClr val="0070C0"/>
                </a:solidFill>
              </a:rPr>
              <a:t>算术</a:t>
            </a:r>
            <a:r>
              <a:rPr lang="zh-CN" altLang="zh-CN" b="1" dirty="0">
                <a:solidFill>
                  <a:srgbClr val="0070C0"/>
                </a:solidFill>
              </a:rPr>
              <a:t>逻辑单元</a:t>
            </a:r>
            <a:r>
              <a:rPr lang="en-US" altLang="zh-CN" b="1" dirty="0">
                <a:solidFill>
                  <a:srgbClr val="0070C0"/>
                </a:solidFill>
              </a:rPr>
              <a:t>ALU</a:t>
            </a:r>
            <a:r>
              <a:rPr lang="zh-CN" altLang="zh-CN" b="1" dirty="0">
                <a:solidFill>
                  <a:srgbClr val="0070C0"/>
                </a:solidFill>
              </a:rPr>
              <a:t>的</a:t>
            </a:r>
            <a:r>
              <a:rPr lang="en-US" altLang="zh-CN" b="1" dirty="0" smtClean="0">
                <a:solidFill>
                  <a:srgbClr val="0070C0"/>
                </a:solidFill>
              </a:rPr>
              <a:t>VHDL</a:t>
            </a:r>
            <a:r>
              <a:rPr lang="zh-CN" altLang="zh-CN" b="1" dirty="0">
                <a:solidFill>
                  <a:srgbClr val="0070C0"/>
                </a:solidFill>
              </a:rPr>
              <a:t>描述</a:t>
            </a:r>
            <a:endParaRPr lang="zh-CN" altLang="zh-C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altLang="zh-CN" sz="2400" b="1" dirty="0">
                <a:solidFill>
                  <a:srgbClr val="7030A0"/>
                </a:solidFill>
              </a:rPr>
              <a:t>library IEEE;	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400" b="1" dirty="0">
                <a:solidFill>
                  <a:srgbClr val="7030A0"/>
                </a:solidFill>
              </a:rPr>
              <a:t>use IEEE.STD_LOGIC_1164.ALL;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400" b="1" dirty="0">
                <a:solidFill>
                  <a:srgbClr val="7030A0"/>
                </a:solidFill>
              </a:rPr>
              <a:t>use IEEE.STD_LOGIC_ARITH.ALL;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400" b="1" dirty="0">
                <a:solidFill>
                  <a:srgbClr val="7030A0"/>
                </a:solidFill>
              </a:rPr>
              <a:t>use IEEE.STD_LOGIC_UNSIGNED.ALL;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400" b="1" dirty="0">
                <a:solidFill>
                  <a:srgbClr val="7030A0"/>
                </a:solidFill>
              </a:rPr>
              <a:t> 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entity alu4 is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port(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   a       </a:t>
            </a:r>
            <a:r>
              <a:rPr lang="en-US" altLang="zh-CN" sz="2400" b="1" dirty="0">
                <a:solidFill>
                  <a:srgbClr val="7030A0"/>
                </a:solidFill>
              </a:rPr>
              <a:t>:   in 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(3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         b       :   in 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(3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alusel</a:t>
            </a:r>
            <a:r>
              <a:rPr lang="en-US" altLang="zh-CN" sz="2400" b="1" dirty="0">
                <a:solidFill>
                  <a:srgbClr val="7030A0"/>
                </a:solidFill>
              </a:rPr>
              <a:t>    :   in 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(2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</a:t>
            </a:r>
            <a:r>
              <a:rPr lang="en-US" altLang="zh-CN" sz="2400" b="1" dirty="0">
                <a:solidFill>
                  <a:srgbClr val="7030A0"/>
                </a:solidFill>
              </a:rPr>
              <a:t>	  y   :   out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(3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0);</a:t>
            </a:r>
            <a:endParaRPr lang="zh-CN" altLang="zh-CN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476885"/>
            <a:ext cx="7771765" cy="617918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</a:t>
            </a:r>
            <a:r>
              <a:rPr lang="en-US" altLang="zh-CN" sz="2400" b="1" dirty="0" err="1" smtClean="0">
                <a:solidFill>
                  <a:srgbClr val="7030A0"/>
                </a:solidFill>
              </a:rPr>
              <a:t>nf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</a:t>
            </a:r>
            <a:r>
              <a:rPr lang="en-US" altLang="zh-CN" sz="2400" b="1" dirty="0">
                <a:solidFill>
                  <a:srgbClr val="7030A0"/>
                </a:solidFill>
              </a:rPr>
              <a:t>:   out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</a:rPr>
              <a:t>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zf</a:t>
            </a:r>
            <a:r>
              <a:rPr lang="en-US" altLang="zh-CN" sz="2400" b="1" dirty="0">
                <a:solidFill>
                  <a:srgbClr val="7030A0"/>
                </a:solidFill>
              </a:rPr>
              <a:t>      :   out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</a:rPr>
              <a:t>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cf</a:t>
            </a:r>
            <a:r>
              <a:rPr lang="en-US" altLang="zh-CN" sz="2400" b="1" dirty="0">
                <a:solidFill>
                  <a:srgbClr val="7030A0"/>
                </a:solidFill>
              </a:rPr>
              <a:t>      :   out 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;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ovf</a:t>
            </a:r>
            <a:r>
              <a:rPr lang="en-US" altLang="zh-CN" sz="2400" b="1" dirty="0">
                <a:solidFill>
                  <a:srgbClr val="7030A0"/>
                </a:solidFill>
              </a:rPr>
              <a:t>     :   out  </a:t>
            </a:r>
            <a:r>
              <a:rPr lang="en-US" altLang="zh-CN" sz="2400" b="1" dirty="0" err="1" smtClean="0">
                <a:solidFill>
                  <a:srgbClr val="7030A0"/>
                </a:solidFill>
              </a:rPr>
              <a:t>std_logic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	  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end alu4;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architecture Behavioral of alu4 is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begin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process(</a:t>
            </a:r>
            <a:r>
              <a:rPr lang="en-US" altLang="zh-CN" sz="2400" b="1" dirty="0" err="1">
                <a:solidFill>
                  <a:srgbClr val="7030A0"/>
                </a:solidFill>
              </a:rPr>
              <a:t>a,b,alusel</a:t>
            </a:r>
            <a:r>
              <a:rPr lang="en-US" altLang="zh-CN" sz="2400" b="1" dirty="0">
                <a:solidFill>
                  <a:srgbClr val="7030A0"/>
                </a:solidFill>
              </a:rPr>
              <a:t>)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variable </a:t>
            </a:r>
            <a:r>
              <a:rPr lang="en-US" altLang="zh-CN" sz="2400" b="1" dirty="0">
                <a:solidFill>
                  <a:srgbClr val="7030A0"/>
                </a:solidFill>
              </a:rPr>
              <a:t>temp   :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(4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0):="00000";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variable 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 : </a:t>
            </a:r>
            <a:r>
              <a:rPr lang="en-US" altLang="zh-CN" sz="2400" b="1" dirty="0" err="1">
                <a:solidFill>
                  <a:srgbClr val="7030A0"/>
                </a:solidFill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</a:rPr>
              <a:t>(3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0):="0000";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begin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zh-CN" altLang="zh-CN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780" y="532130"/>
            <a:ext cx="8655685" cy="579310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cf</a:t>
            </a:r>
            <a:r>
              <a:rPr lang="en-US" altLang="zh-CN" sz="2400" b="1" dirty="0">
                <a:solidFill>
                  <a:srgbClr val="7030A0"/>
                </a:solidFill>
              </a:rPr>
              <a:t>&lt;='0';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	 </a:t>
            </a:r>
            <a:r>
              <a:rPr lang="en-US" altLang="zh-CN" sz="2400" b="1" dirty="0" err="1">
                <a:solidFill>
                  <a:srgbClr val="7030A0"/>
                </a:solidFill>
              </a:rPr>
              <a:t>ovf</a:t>
            </a:r>
            <a:r>
              <a:rPr lang="en-US" altLang="zh-CN" sz="2400" b="1" dirty="0">
                <a:solidFill>
                  <a:srgbClr val="7030A0"/>
                </a:solidFill>
              </a:rPr>
              <a:t>&lt;='0';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400" b="1" dirty="0">
                <a:solidFill>
                  <a:srgbClr val="7030A0"/>
                </a:solidFill>
              </a:rPr>
              <a:t>case </a:t>
            </a:r>
            <a:r>
              <a:rPr lang="en-US" altLang="zh-CN" sz="2400" b="1" dirty="0" err="1">
                <a:solidFill>
                  <a:srgbClr val="7030A0"/>
                </a:solidFill>
              </a:rPr>
              <a:t>alusel</a:t>
            </a:r>
            <a:r>
              <a:rPr lang="en-US" altLang="zh-CN" sz="2400" b="1" dirty="0">
                <a:solidFill>
                  <a:srgbClr val="7030A0"/>
                </a:solidFill>
              </a:rPr>
              <a:t> is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400" b="1" dirty="0">
                <a:solidFill>
                  <a:srgbClr val="7030A0"/>
                </a:solidFill>
              </a:rPr>
              <a:t>	   when "000"=&gt;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:=a;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</a:t>
            </a:r>
            <a:r>
              <a:rPr lang="en-US" altLang="zh-CN" sz="2400" b="1" dirty="0">
                <a:solidFill>
                  <a:srgbClr val="7030A0"/>
                </a:solidFill>
              </a:rPr>
              <a:t>	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when </a:t>
            </a:r>
            <a:r>
              <a:rPr lang="en-US" altLang="zh-CN" sz="2400" b="1" dirty="0">
                <a:solidFill>
                  <a:srgbClr val="7030A0"/>
                </a:solidFill>
              </a:rPr>
              <a:t>"001"=&gt;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              </a:t>
            </a:r>
            <a:r>
              <a:rPr lang="en-US" altLang="zh-CN" sz="2400" b="1" dirty="0">
                <a:solidFill>
                  <a:srgbClr val="7030A0"/>
                </a:solidFill>
              </a:rPr>
              <a:t>temp:=('0'&amp;a)+('0'&amp;b);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 </a:t>
            </a:r>
            <a:r>
              <a:rPr lang="en-US" altLang="zh-CN" sz="2400" b="1" dirty="0">
                <a:solidFill>
                  <a:srgbClr val="7030A0"/>
                </a:solidFill>
              </a:rPr>
              <a:t>	     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:=temp(3 </a:t>
            </a:r>
            <a:r>
              <a:rPr lang="en-US" altLang="zh-CN" sz="24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</a:rPr>
              <a:t> 0); 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        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cf</a:t>
            </a:r>
            <a:r>
              <a:rPr lang="en-US" altLang="zh-CN" sz="2400" b="1" dirty="0">
                <a:solidFill>
                  <a:srgbClr val="7030A0"/>
                </a:solidFill>
              </a:rPr>
              <a:t>&lt;=temp(4);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               </a:t>
            </a:r>
            <a:r>
              <a:rPr lang="pt-BR" altLang="zh-CN" sz="2400" b="1" dirty="0" smtClean="0">
                <a:solidFill>
                  <a:srgbClr val="7030A0"/>
                </a:solidFill>
              </a:rPr>
              <a:t>ovf</a:t>
            </a:r>
            <a:r>
              <a:rPr lang="pt-BR" altLang="zh-CN" sz="2400" b="1" dirty="0">
                <a:solidFill>
                  <a:srgbClr val="7030A0"/>
                </a:solidFill>
              </a:rPr>
              <a:t>&lt;=temp(3) xor a(3) xor b(3) xor temp(4);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</a:t>
            </a:r>
            <a:endParaRPr lang="zh-CN" altLang="zh-CN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795" y="692785"/>
            <a:ext cx="7266305" cy="56642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000" b="1" dirty="0">
                <a:solidFill>
                  <a:srgbClr val="7030A0"/>
                </a:solidFill>
              </a:rPr>
              <a:t>when "010"=&gt;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temp:=('0'&amp;a)-('0'&amp;b);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7030A0"/>
                </a:solidFill>
              </a:rPr>
              <a:t>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	      </a:t>
            </a:r>
            <a:r>
              <a:rPr lang="en-US" altLang="zh-CN" sz="20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000" b="1" dirty="0">
                <a:solidFill>
                  <a:srgbClr val="7030A0"/>
                </a:solidFill>
              </a:rPr>
              <a:t>:=temp(3 </a:t>
            </a:r>
            <a:r>
              <a:rPr lang="en-US" altLang="zh-CN" sz="20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000" b="1" dirty="0">
                <a:solidFill>
                  <a:srgbClr val="7030A0"/>
                </a:solidFill>
              </a:rPr>
              <a:t> 0);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	      </a:t>
            </a:r>
            <a:r>
              <a:rPr lang="en-US" altLang="zh-CN" sz="2000" b="1" dirty="0" err="1">
                <a:solidFill>
                  <a:srgbClr val="7030A0"/>
                </a:solidFill>
              </a:rPr>
              <a:t>cf</a:t>
            </a:r>
            <a:r>
              <a:rPr lang="en-US" altLang="zh-CN" sz="2000" b="1" dirty="0">
                <a:solidFill>
                  <a:srgbClr val="7030A0"/>
                </a:solidFill>
              </a:rPr>
              <a:t>&lt;=temp(4);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	      </a:t>
            </a:r>
            <a:r>
              <a:rPr lang="pt-BR" altLang="zh-CN" sz="2000" b="1" dirty="0">
                <a:solidFill>
                  <a:srgbClr val="7030A0"/>
                </a:solidFill>
              </a:rPr>
              <a:t>ovf&lt;=temp(3) xor a(3) xor b(3) xor temp(4);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000" b="1" dirty="0">
                <a:solidFill>
                  <a:srgbClr val="7030A0"/>
                </a:solidFill>
              </a:rPr>
              <a:t> </a:t>
            </a:r>
            <a:r>
              <a:rPr lang="pt-BR" altLang="zh-CN" sz="20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000" b="1" dirty="0">
                <a:solidFill>
                  <a:srgbClr val="7030A0"/>
                </a:solidFill>
              </a:rPr>
              <a:t>when "011"=&gt;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temp:=('0'&amp;b)-('0'&amp;a);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      </a:t>
            </a:r>
            <a:r>
              <a:rPr lang="en-US" altLang="zh-CN" sz="2000" b="1" dirty="0" err="1" smtClean="0">
                <a:solidFill>
                  <a:srgbClr val="7030A0"/>
                </a:solidFill>
              </a:rPr>
              <a:t>y_temp</a:t>
            </a:r>
            <a:r>
              <a:rPr lang="en-US" altLang="zh-CN" sz="2000" b="1" dirty="0">
                <a:solidFill>
                  <a:srgbClr val="7030A0"/>
                </a:solidFill>
              </a:rPr>
              <a:t>:=temp(3 </a:t>
            </a:r>
            <a:r>
              <a:rPr lang="en-US" altLang="zh-CN" sz="2000" b="1" dirty="0" err="1">
                <a:solidFill>
                  <a:srgbClr val="7030A0"/>
                </a:solidFill>
              </a:rPr>
              <a:t>downto</a:t>
            </a:r>
            <a:r>
              <a:rPr lang="en-US" altLang="zh-CN" sz="2000" b="1" dirty="0">
                <a:solidFill>
                  <a:srgbClr val="7030A0"/>
                </a:solidFill>
              </a:rPr>
              <a:t> 0);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	      </a:t>
            </a:r>
            <a:r>
              <a:rPr lang="en-US" altLang="zh-CN" sz="2000" b="1" dirty="0" err="1">
                <a:solidFill>
                  <a:srgbClr val="7030A0"/>
                </a:solidFill>
              </a:rPr>
              <a:t>cf</a:t>
            </a:r>
            <a:r>
              <a:rPr lang="en-US" altLang="zh-CN" sz="2000" b="1" dirty="0">
                <a:solidFill>
                  <a:srgbClr val="7030A0"/>
                </a:solidFill>
              </a:rPr>
              <a:t>&lt;=temp(4);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</a:t>
            </a:r>
            <a:r>
              <a:rPr lang="en-US" altLang="zh-CN" sz="2000" b="1" dirty="0">
                <a:solidFill>
                  <a:srgbClr val="7030A0"/>
                </a:solidFill>
              </a:rPr>
              <a:t>	      </a:t>
            </a:r>
            <a:r>
              <a:rPr lang="pt-BR" altLang="zh-CN" sz="2000" b="1" dirty="0">
                <a:solidFill>
                  <a:srgbClr val="7030A0"/>
                </a:solidFill>
              </a:rPr>
              <a:t>ovf&lt;=temp(3) xor a(3) xor b(3) xor temp(4);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altLang="zh-CN" sz="2000" b="1" dirty="0">
                <a:solidFill>
                  <a:srgbClr val="7030A0"/>
                </a:solidFill>
              </a:rPr>
              <a:t> </a:t>
            </a:r>
            <a:r>
              <a:rPr lang="pt-BR" altLang="zh-CN" sz="20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when </a:t>
            </a:r>
            <a:r>
              <a:rPr lang="en-US" altLang="zh-CN" sz="2000" b="1" dirty="0">
                <a:solidFill>
                  <a:srgbClr val="7030A0"/>
                </a:solidFill>
              </a:rPr>
              <a:t>"100"=&gt;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       </a:t>
            </a:r>
            <a:r>
              <a:rPr lang="en-US" altLang="zh-CN" sz="20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000" b="1" dirty="0">
                <a:solidFill>
                  <a:srgbClr val="7030A0"/>
                </a:solidFill>
              </a:rPr>
              <a:t>:=not a; 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when </a:t>
            </a:r>
            <a:r>
              <a:rPr lang="en-US" altLang="zh-CN" sz="2000" b="1" dirty="0">
                <a:solidFill>
                  <a:srgbClr val="7030A0"/>
                </a:solidFill>
              </a:rPr>
              <a:t>"101"=&gt;</a:t>
            </a:r>
            <a:endParaRPr lang="zh-CN" altLang="zh-CN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7030A0"/>
                </a:solidFill>
              </a:rPr>
              <a:t>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                   </a:t>
            </a:r>
            <a:r>
              <a:rPr lang="en-US" altLang="zh-CN" sz="20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000" b="1" dirty="0">
                <a:solidFill>
                  <a:srgbClr val="7030A0"/>
                </a:solidFill>
              </a:rPr>
              <a:t>:=a and b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;</a:t>
            </a:r>
            <a:endParaRPr lang="zh-CN" altLang="zh-CN" sz="2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795" y="980440"/>
            <a:ext cx="7198360" cy="44684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when </a:t>
            </a:r>
            <a:r>
              <a:rPr lang="en-US" altLang="zh-CN" sz="2400" b="1" dirty="0">
                <a:solidFill>
                  <a:srgbClr val="7030A0"/>
                </a:solidFill>
              </a:rPr>
              <a:t>"110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"=&gt;</a:t>
            </a:r>
            <a:r>
              <a:rPr lang="en-US" altLang="zh-CN" sz="2400" b="1" dirty="0">
                <a:solidFill>
                  <a:srgbClr val="7030A0"/>
                </a:solidFill>
              </a:rPr>
              <a:t>		            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        </a:t>
            </a:r>
            <a:r>
              <a:rPr lang="en-US" altLang="zh-CN" sz="2400" b="1" dirty="0" err="1" smtClean="0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:=a or b;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    </a:t>
            </a:r>
            <a:r>
              <a:rPr lang="en-US" altLang="zh-CN" sz="2400" b="1" dirty="0">
                <a:solidFill>
                  <a:srgbClr val="7030A0"/>
                </a:solidFill>
              </a:rPr>
              <a:t>		when "111"=&gt;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    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:=a </a:t>
            </a:r>
            <a:r>
              <a:rPr lang="en-US" altLang="zh-CN" sz="2400" b="1" dirty="0" err="1">
                <a:solidFill>
                  <a:srgbClr val="7030A0"/>
                </a:solidFill>
              </a:rPr>
              <a:t>xor</a:t>
            </a:r>
            <a:r>
              <a:rPr lang="en-US" altLang="zh-CN" sz="2400" b="1" dirty="0">
                <a:solidFill>
                  <a:srgbClr val="7030A0"/>
                </a:solidFill>
              </a:rPr>
              <a:t> b;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  when </a:t>
            </a:r>
            <a:r>
              <a:rPr lang="en-US" altLang="zh-CN" sz="2400" b="1" dirty="0">
                <a:solidFill>
                  <a:srgbClr val="7030A0"/>
                </a:solidFill>
              </a:rPr>
              <a:t>others=&gt;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            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:=a;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  end case;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     </a:t>
            </a:r>
            <a:r>
              <a:rPr lang="en-US" altLang="zh-CN" sz="2400" b="1" dirty="0">
                <a:solidFill>
                  <a:srgbClr val="7030A0"/>
                </a:solidFill>
              </a:rPr>
              <a:t>	</a:t>
            </a:r>
            <a:r>
              <a:rPr lang="en-US" altLang="zh-CN" sz="2400" b="1" dirty="0" err="1">
                <a:solidFill>
                  <a:srgbClr val="7030A0"/>
                </a:solidFill>
              </a:rPr>
              <a:t>nf</a:t>
            </a:r>
            <a:r>
              <a:rPr lang="en-US" altLang="zh-CN" sz="2400" b="1" dirty="0">
                <a:solidFill>
                  <a:srgbClr val="7030A0"/>
                </a:solidFill>
              </a:rPr>
              <a:t>&lt;=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(3);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y</a:t>
            </a:r>
            <a:r>
              <a:rPr lang="en-US" altLang="zh-CN" sz="2400" b="1" dirty="0">
                <a:solidFill>
                  <a:srgbClr val="7030A0"/>
                </a:solidFill>
              </a:rPr>
              <a:t>&lt;=</a:t>
            </a:r>
            <a:r>
              <a:rPr lang="en-US" altLang="zh-CN" sz="2400" b="1" dirty="0" err="1">
                <a:solidFill>
                  <a:srgbClr val="7030A0"/>
                </a:solidFill>
              </a:rPr>
              <a:t>y_temp</a:t>
            </a:r>
            <a:r>
              <a:rPr lang="en-US" altLang="zh-CN" sz="2400" b="1" dirty="0">
                <a:solidFill>
                  <a:srgbClr val="7030A0"/>
                </a:solidFill>
              </a:rPr>
              <a:t>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</a:t>
            </a:r>
            <a:endParaRPr lang="zh-CN" altLang="zh-CN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205" y="1484630"/>
            <a:ext cx="6172200" cy="34645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if(temp="0000") then 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</a:t>
            </a:r>
            <a:r>
              <a:rPr lang="en-US" altLang="zh-CN" sz="2400" b="1" dirty="0">
                <a:solidFill>
                  <a:srgbClr val="7030A0"/>
                </a:solidFill>
              </a:rPr>
              <a:t>  </a:t>
            </a:r>
            <a:r>
              <a:rPr lang="en-US" altLang="zh-CN" sz="2400" b="1" dirty="0" err="1">
                <a:solidFill>
                  <a:srgbClr val="7030A0"/>
                </a:solidFill>
              </a:rPr>
              <a:t>zf</a:t>
            </a:r>
            <a:r>
              <a:rPr lang="en-US" altLang="zh-CN" sz="2400" b="1" dirty="0">
                <a:solidFill>
                  <a:srgbClr val="7030A0"/>
                </a:solidFill>
              </a:rPr>
              <a:t>&lt;='1';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else</a:t>
            </a:r>
            <a:endParaRPr lang="en-US" altLang="zh-CN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 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    </a:t>
            </a:r>
            <a:r>
              <a:rPr lang="en-US" altLang="zh-CN" sz="2400" b="1" dirty="0" err="1" smtClean="0">
                <a:solidFill>
                  <a:srgbClr val="7030A0"/>
                </a:solidFill>
              </a:rPr>
              <a:t>zf</a:t>
            </a:r>
            <a:r>
              <a:rPr lang="en-US" altLang="zh-CN" sz="2400" b="1" dirty="0">
                <a:solidFill>
                  <a:srgbClr val="7030A0"/>
                </a:solidFill>
              </a:rPr>
              <a:t>&lt;='0';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7030A0"/>
                </a:solidFill>
              </a:rPr>
              <a:t>end </a:t>
            </a:r>
            <a:r>
              <a:rPr lang="en-US" altLang="zh-CN" sz="2400" b="1" dirty="0">
                <a:solidFill>
                  <a:srgbClr val="7030A0"/>
                </a:solidFill>
              </a:rPr>
              <a:t>if;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end process;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end Behavioral;</a:t>
            </a:r>
            <a:endParaRPr lang="zh-CN" altLang="zh-CN" sz="2400" b="1" dirty="0">
              <a:solidFill>
                <a:srgbClr val="7030A0"/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PP_MARK_KEY" val="5b1d1d7c-3803-4080-bf89-dd9345059f28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15156</Words>
  <Application>WPS 演示</Application>
  <PresentationFormat>全屏显示(4:3)</PresentationFormat>
  <Paragraphs>1042</Paragraphs>
  <Slides>70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70</vt:i4>
      </vt:variant>
    </vt:vector>
  </HeadingPairs>
  <TitlesOfParts>
    <vt:vector size="90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楷体_GB2312</vt:lpstr>
      <vt:lpstr>新宋体</vt:lpstr>
      <vt:lpstr>微软雅黑</vt:lpstr>
      <vt:lpstr>Calibri</vt:lpstr>
      <vt:lpstr>Arial Unicode MS</vt:lpstr>
      <vt:lpstr>Times New Roman</vt:lpstr>
      <vt:lpstr>1_默认设计模板</vt:lpstr>
      <vt:lpstr>Equation.3</vt:lpstr>
      <vt:lpstr>Equation.3</vt:lpstr>
      <vt:lpstr>Word.Picture.8</vt:lpstr>
      <vt:lpstr>Word.Picture.8</vt:lpstr>
      <vt:lpstr>Equation.3</vt:lpstr>
      <vt:lpstr>Equation.3</vt:lpstr>
      <vt:lpstr>PowerPoint 演示文稿</vt:lpstr>
      <vt:lpstr> 第6章 常用电路的VHDL描述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410</cp:revision>
  <dcterms:created xsi:type="dcterms:W3CDTF">2006-04-19T05:22:00Z</dcterms:created>
  <dcterms:modified xsi:type="dcterms:W3CDTF">2026-04-23T08:23:29Z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5697599ECCA24FEF9DCF7629C7543150</vt:lpwstr>
  </property>
</Properties>
</file>