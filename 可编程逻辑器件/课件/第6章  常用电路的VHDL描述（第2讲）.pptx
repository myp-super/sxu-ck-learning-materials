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7"/>
  </p:notesMasterIdLst>
  <p:sldIdLst>
    <p:sldId id="387" r:id="rId3"/>
    <p:sldId id="1236" r:id="rId4"/>
    <p:sldId id="847" r:id="rId5"/>
    <p:sldId id="925" r:id="rId6"/>
    <p:sldId id="894" r:id="rId7"/>
    <p:sldId id="895" r:id="rId8"/>
    <p:sldId id="896" r:id="rId9"/>
    <p:sldId id="1047" r:id="rId10"/>
    <p:sldId id="897" r:id="rId11"/>
    <p:sldId id="899" r:id="rId12"/>
    <p:sldId id="898" r:id="rId13"/>
    <p:sldId id="926" r:id="rId14"/>
    <p:sldId id="995" r:id="rId15"/>
    <p:sldId id="918" r:id="rId16"/>
    <p:sldId id="919" r:id="rId17"/>
    <p:sldId id="956" r:id="rId18"/>
    <p:sldId id="955" r:id="rId19"/>
    <p:sldId id="1160" r:id="rId20"/>
    <p:sldId id="996" r:id="rId21"/>
    <p:sldId id="997" r:id="rId22"/>
    <p:sldId id="962" r:id="rId23"/>
    <p:sldId id="992" r:id="rId24"/>
    <p:sldId id="993" r:id="rId25"/>
    <p:sldId id="994" r:id="rId26"/>
    <p:sldId id="998" r:id="rId27"/>
    <p:sldId id="959" r:id="rId28"/>
    <p:sldId id="960" r:id="rId29"/>
    <p:sldId id="963" r:id="rId30"/>
    <p:sldId id="965" r:id="rId31"/>
    <p:sldId id="966" r:id="rId32"/>
    <p:sldId id="920" r:id="rId33"/>
    <p:sldId id="921" r:id="rId34"/>
    <p:sldId id="973" r:id="rId35"/>
    <p:sldId id="1233" r:id="rId36"/>
    <p:sldId id="1234" r:id="rId37"/>
    <p:sldId id="976" r:id="rId38"/>
    <p:sldId id="907" r:id="rId39"/>
    <p:sldId id="901" r:id="rId40"/>
    <p:sldId id="902" r:id="rId41"/>
    <p:sldId id="903" r:id="rId42"/>
    <p:sldId id="904" r:id="rId43"/>
    <p:sldId id="1235" r:id="rId44"/>
    <p:sldId id="905" r:id="rId45"/>
    <p:sldId id="906" r:id="rId46"/>
  </p:sldIdLst>
  <p:sldSz cx="9144000" cy="6858000" type="screen4x3"/>
  <p:notesSz cx="6858000" cy="9144000"/>
  <p:custDataLst>
    <p:tags r:id="rId52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283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" initials="m" lastIdx="1" clrIdx="0"/>
  <p:cmAuthor id="2" name="Administrator" initials="A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39"/>
    <p:restoredTop sz="94655"/>
  </p:normalViewPr>
  <p:slideViewPr>
    <p:cSldViewPr showGuides="1">
      <p:cViewPr varScale="1">
        <p:scale>
          <a:sx n="45" d="100"/>
          <a:sy n="45" d="100"/>
        </p:scale>
        <p:origin x="970" y="34"/>
      </p:cViewPr>
      <p:guideLst>
        <p:guide orient="horz" pos="2208"/>
        <p:guide pos="283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2" Type="http://schemas.openxmlformats.org/officeDocument/2006/relationships/tags" Target="tags/tag3.xml"/><Relationship Id="rId51" Type="http://schemas.openxmlformats.org/officeDocument/2006/relationships/commentAuthors" Target="commentAuthors.xml"/><Relationship Id="rId50" Type="http://schemas.openxmlformats.org/officeDocument/2006/relationships/tableStyles" Target="tableStyles.xml"/><Relationship Id="rId5" Type="http://schemas.openxmlformats.org/officeDocument/2006/relationships/slide" Target="slides/slide3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notesMaster" Target="notesMasters/notesMaster1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bg>
      <p:bgPr>
        <a:pattFill prst="ltHorz">
          <a:fgClr>
            <a:srgbClr val="E0E0E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6858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fontAlgn="base"/>
            <a:endParaRPr lang="en-US" strike="noStrike" noProof="1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400800"/>
            <a:ext cx="2895600" cy="320675"/>
          </a:xfrm>
        </p:spPr>
        <p:txBody>
          <a:bodyPr/>
          <a:lstStyle>
            <a:lvl1pPr>
              <a:defRPr/>
            </a:lvl1pPr>
          </a:lstStyle>
          <a:p>
            <a:pPr fontAlgn="base"/>
            <a:endParaRPr lang="zh-CN" altLang="zh-CN" strike="noStrike" noProof="1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fontAlgn="base"/>
            <a:fld id="{B5BAE9EB-4175-4107-BAE7-3DF64F6C22AB}" type="slidenum">
              <a:rPr lang="zh-CN" altLang="zh-CN" strike="noStrike" noProof="1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Rectangle 3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b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0"/>
            </a:lvl1pPr>
          </a:lstStyle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9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2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8.wmf"/><Relationship Id="rId6" Type="http://schemas.openxmlformats.org/officeDocument/2006/relationships/oleObject" Target="../embeddings/oleObject4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3.bin"/><Relationship Id="rId3" Type="http://schemas.openxmlformats.org/officeDocument/2006/relationships/image" Target="../media/image6.wmf"/><Relationship Id="rId2" Type="http://schemas.openxmlformats.org/officeDocument/2006/relationships/oleObject" Target="../embeddings/oleObject2.bin"/><Relationship Id="rId1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slide" Target="slide4.xml"/><Relationship Id="rId2" Type="http://schemas.openxmlformats.org/officeDocument/2006/relationships/slide" Target="slide11.xml"/><Relationship Id="rId1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10.emf"/><Relationship Id="rId1" Type="http://schemas.openxmlformats.org/officeDocument/2006/relationships/oleObject" Target="../embeddings/oleObject5.bin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矩形 181249"/>
          <p:cNvSpPr>
            <a:spLocks noRot="1"/>
          </p:cNvSpPr>
          <p:nvPr/>
        </p:nvSpPr>
        <p:spPr>
          <a:xfrm>
            <a:off x="1257300" y="1731963"/>
            <a:ext cx="6811963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 eaLnBrk="0" hangingPunct="0"/>
            <a:r>
              <a:rPr lang="zh-CN" altLang="zh-CN" sz="5100" dirty="0">
                <a:solidFill>
                  <a:srgbClr val="7C020E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可编程逻辑器件</a:t>
            </a:r>
            <a:r>
              <a:rPr lang="zh-CN" altLang="en-US" sz="5100" dirty="0">
                <a:solidFill>
                  <a:srgbClr val="FB051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 </a:t>
            </a:r>
            <a:endParaRPr lang="zh-CN" altLang="en-US" sz="5100">
              <a:solidFill>
                <a:srgbClr val="FB051C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7170" name="文本框 181250"/>
          <p:cNvSpPr txBox="1"/>
          <p:nvPr/>
        </p:nvSpPr>
        <p:spPr>
          <a:xfrm>
            <a:off x="1835150" y="3429000"/>
            <a:ext cx="5257800" cy="13223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</a:pPr>
            <a:r>
              <a:rPr lang="zh-CN" altLang="en-US" sz="3200" dirty="0">
                <a:latin typeface="Arial" panose="020B0604020202020204" pitchFamily="34" charset="0"/>
                <a:ea typeface="华文行楷" panose="02010800040101010101" pitchFamily="2" charset="-122"/>
              </a:rPr>
              <a:t>山西大学</a:t>
            </a:r>
            <a:endParaRPr lang="zh-CN" altLang="en-US" sz="3200" dirty="0"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algn="ctr" eaLnBrk="0" hangingPunct="0">
              <a:spcBef>
                <a:spcPct val="50000"/>
              </a:spcBef>
            </a:pPr>
            <a:r>
              <a:rPr lang="zh-CN" altLang="en-US" sz="3200" dirty="0">
                <a:latin typeface="Arial" panose="020B0604020202020204" pitchFamily="34" charset="0"/>
                <a:ea typeface="华文行楷" panose="02010800040101010101" pitchFamily="2" charset="-122"/>
              </a:rPr>
              <a:t>白婷婷</a:t>
            </a:r>
            <a:endParaRPr lang="zh-CN" altLang="en-US" sz="3200" dirty="0"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pic>
        <p:nvPicPr>
          <p:cNvPr id="7171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9825" y="0"/>
            <a:ext cx="2619375" cy="10382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标题 197633"/>
          <p:cNvSpPr>
            <a:spLocks noGrp="1"/>
          </p:cNvSpPr>
          <p:nvPr>
            <p:ph type="title"/>
          </p:nvPr>
        </p:nvSpPr>
        <p:spPr>
          <a:xfrm>
            <a:off x="323215" y="836930"/>
            <a:ext cx="8229600" cy="1143000"/>
          </a:xfrm>
          <a:noFill/>
          <a:ln>
            <a:noFill/>
          </a:ln>
        </p:spPr>
        <p:txBody>
          <a:bodyPr anchor="t"/>
          <a:p>
            <a:pPr algn="ctr"/>
            <a:r>
              <a:rPr lang="zh-CN" altLang="en-US" sz="4400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章 常用电路的</a:t>
            </a:r>
            <a:r>
              <a:rPr lang="en-US" altLang="zh-CN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VHDL</a:t>
            </a:r>
            <a:r>
              <a:rPr lang="zh-CN" altLang="en-US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</a:t>
            </a:r>
            <a:br>
              <a:rPr lang="zh-CN" altLang="en-US" sz="4400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</a:br>
            <a:endParaRPr lang="zh-CN" altLang="en-US" sz="4400" dirty="0">
              <a:solidFill>
                <a:srgbClr val="99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33508" name="矩形 533507"/>
          <p:cNvSpPr/>
          <p:nvPr/>
        </p:nvSpPr>
        <p:spPr>
          <a:xfrm>
            <a:off x="971550" y="1917065"/>
            <a:ext cx="3671888" cy="58356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本章内容：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内容占位符 53350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331595" y="2708910"/>
            <a:ext cx="7002780" cy="35210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4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组合电路设计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算数逻辑单元设计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时序电路设计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      ①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计数器及其应用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       </a:t>
            </a:r>
            <a:r>
              <a:rPr lang="en-US" altLang="zh-CN" sz="2400" b="1" dirty="0">
                <a:latin typeface="Calibri" panose="020F0502020204030204" charset="0"/>
                <a:ea typeface="微软雅黑" panose="020B0503020204020204" charset="-122"/>
              </a:rPr>
              <a:t>②</a:t>
            </a:r>
            <a:r>
              <a:rPr lang="zh-CN" altLang="en-US" sz="2400" b="1" dirty="0">
                <a:latin typeface="Calibri" panose="020F0502020204030204" charset="0"/>
                <a:ea typeface="微软雅黑" panose="020B0503020204020204" charset="-122"/>
              </a:rPr>
              <a:t>移位寄存器及其应用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存储器设计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状态机设计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533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7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charRg st="7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4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charRg st="14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3508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矩形 314372"/>
          <p:cNvSpPr/>
          <p:nvPr/>
        </p:nvSpPr>
        <p:spPr>
          <a:xfrm>
            <a:off x="684213" y="1843723"/>
            <a:ext cx="7989887" cy="4319587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时序电路的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VHDL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描述方法</a:t>
            </a:r>
            <a:b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、状态表：行为描述（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进程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2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、状态转换图：有限状态机</a:t>
            </a:r>
            <a:b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3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、逻辑电路：结构式（</a:t>
            </a:r>
            <a:r>
              <a:rPr lang="zh-CN" altLang="en-US" sz="2400" b="1" dirty="0">
                <a:solidFill>
                  <a:srgbClr val="FF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元件例化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b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721" name="标题 534529"/>
          <p:cNvSpPr>
            <a:spLocks noGrp="1"/>
          </p:cNvSpPr>
          <p:nvPr/>
        </p:nvSpPr>
        <p:spPr>
          <a:xfrm>
            <a:off x="457200" y="839470"/>
            <a:ext cx="8229600" cy="72199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4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6.3 </a:t>
            </a:r>
            <a:r>
              <a:rPr lang="zh-CN" altLang="zh-CN" sz="4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时序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电路</a:t>
            </a:r>
            <a:r>
              <a:rPr lang="en-US" altLang="zh-CN" sz="4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VHDL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</a:t>
            </a:r>
            <a:endParaRPr lang="zh-CN" altLang="en-US" sz="40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8386" name="标题 528385"/>
          <p:cNvSpPr>
            <a:spLocks noGrp="1"/>
          </p:cNvSpPr>
          <p:nvPr>
            <p:ph type="title"/>
          </p:nvPr>
        </p:nvSpPr>
        <p:spPr>
          <a:xfrm>
            <a:off x="685800" y="695325"/>
            <a:ext cx="8458200" cy="5293995"/>
          </a:xfrm>
          <a:noFill/>
          <a:ln>
            <a:noFill/>
          </a:ln>
        </p:spPr>
        <p:txBody>
          <a:bodyPr/>
          <a:p>
            <a:pPr marL="0" indent="0" algn="l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2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PROCESS+IF</a:t>
            </a:r>
            <a:r>
              <a:rPr lang="zh-CN" altLang="en-US" sz="2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br>
              <a:rPr lang="zh-CN" altLang="en-US" sz="2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PROCESS </a:t>
            </a:r>
            <a:b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敏感表中放异步控制信号、时钟信号；</a:t>
            </a:r>
            <a:b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多进程对应异步结构。</a:t>
            </a:r>
            <a:b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b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不完整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形成触发器结构；</a:t>
            </a:r>
            <a:b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条件判断顺序对应控制信号的优先级。</a:t>
            </a:r>
            <a:b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）有限状态机描述控制部件</a:t>
            </a:r>
            <a:b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）元件例化语句描述</a:t>
            </a:r>
            <a:b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endParaRPr lang="zh-CN" altLang="en-US" sz="24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0"/>
                                        <p:tgtEl>
                                          <p:spTgt spid="528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838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5" name="标题 570369"/>
          <p:cNvSpPr>
            <a:spLocks noGrp="1"/>
          </p:cNvSpPr>
          <p:nvPr>
            <p:ph type="title"/>
          </p:nvPr>
        </p:nvSpPr>
        <p:spPr>
          <a:xfrm>
            <a:off x="531495" y="1125855"/>
            <a:ext cx="7656513" cy="1079500"/>
          </a:xfrm>
          <a:noFill/>
          <a:ln>
            <a:noFill/>
          </a:ln>
        </p:spPr>
        <p:txBody>
          <a:bodyPr anchor="t"/>
          <a:p>
            <a:pPr marL="342900" indent="-342900" algn="l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常用时序部件</a:t>
            </a:r>
            <a:b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</a:b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70372" name="矩形 570371"/>
          <p:cNvSpPr/>
          <p:nvPr/>
        </p:nvSpPr>
        <p:spPr>
          <a:xfrm>
            <a:off x="1057275" y="2205038"/>
            <a:ext cx="2893060" cy="370903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 algn="l">
              <a:lnSpc>
                <a:spcPct val="140000"/>
              </a:lnSpc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触发器和锁存器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计数器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移位寄存器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序列信号发生器；</a:t>
            </a:r>
            <a:endParaRPr lang="zh-CN" altLang="en-US" sz="2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序列信号检测器；</a:t>
            </a:r>
            <a:endParaRPr lang="zh-CN" altLang="en-US" sz="2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状态控制器</a:t>
            </a:r>
            <a:b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70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037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1397" name="文本框 571396"/>
          <p:cNvSpPr txBox="1"/>
          <p:nvPr/>
        </p:nvSpPr>
        <p:spPr>
          <a:xfrm>
            <a:off x="1044575" y="1557338"/>
            <a:ext cx="5543550" cy="3292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en-US" sz="2800" b="1" noProof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时钟</a:t>
            </a:r>
            <a:endParaRPr lang="zh-CN" altLang="en-US" sz="2800" b="1" noProof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sz="2400" b="1" noProof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</a:t>
            </a:r>
            <a:r>
              <a:rPr lang="zh-CN" altLang="en-US" sz="2400" b="1" noProof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锁存器、触发器</a:t>
            </a:r>
            <a:endParaRPr lang="zh-CN" altLang="en-US" sz="2400" b="1" noProof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marR="0" indent="-342900" algn="just" defTabSz="914400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2400" b="1" noProof="1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rPr>
              <a:t>触发器</a:t>
            </a:r>
            <a:r>
              <a:rPr lang="zh-CN" altLang="en-US" sz="2400" b="1" noProof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rPr>
              <a:t>是靠敏感信号的</a:t>
            </a:r>
            <a:r>
              <a:rPr lang="zh-CN" altLang="en-US" sz="2400" b="1" noProof="1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rPr>
              <a:t>边沿触发；</a:t>
            </a:r>
            <a:endParaRPr kumimoji="0" lang="en-US" altLang="zh-CN" sz="2400" b="1" kern="1200" cap="none" spc="0" normalizeH="0" baseline="0" noProof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  <a:p>
            <a:pPr marL="342900" marR="0" indent="-342900" algn="just" defTabSz="914400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2400" b="1" noProof="1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rPr>
              <a:t>锁存器</a:t>
            </a:r>
            <a:r>
              <a:rPr lang="zh-CN" altLang="en-US" sz="2400" b="1" noProof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rPr>
              <a:t>是靠敏感信号的电平触发。</a:t>
            </a:r>
            <a:endParaRPr kumimoji="0" lang="zh-CN" altLang="en-US" sz="2400" b="1" kern="1200" cap="none" spc="0" normalizeH="0" baseline="0" noProof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</a:pPr>
            <a:endParaRPr lang="zh-CN" altLang="en-US" sz="2400" b="1" noProof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</a:pPr>
            <a:endParaRPr lang="zh-CN" altLang="en-US" sz="2400" b="1" noProof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1398" name="文本框 571397"/>
          <p:cNvSpPr txBox="1"/>
          <p:nvPr/>
        </p:nvSpPr>
        <p:spPr>
          <a:xfrm>
            <a:off x="1044575" y="4098925"/>
            <a:ext cx="5543550" cy="107632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同步、异步控制</a:t>
            </a:r>
            <a:endParaRPr lang="zh-CN" altLang="en-US" sz="28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    复位、置位</a:t>
            </a:r>
            <a:endParaRPr lang="zh-CN" altLang="en-US" sz="24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3172" name="矩形 735237"/>
          <p:cNvSpPr/>
          <p:nvPr/>
        </p:nvSpPr>
        <p:spPr>
          <a:xfrm>
            <a:off x="290830" y="520065"/>
            <a:ext cx="8229600" cy="71501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触发器和锁存器</a:t>
            </a:r>
            <a:endParaRPr lang="zh-CN" altLang="en-US" sz="3600" b="1" dirty="0">
              <a:solidFill>
                <a:srgbClr val="C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71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71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1397" grpId="0"/>
      <p:bldP spid="57139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2419" name="文本框 572418"/>
          <p:cNvSpPr txBox="1"/>
          <p:nvPr/>
        </p:nvSpPr>
        <p:spPr>
          <a:xfrm>
            <a:off x="0" y="1628775"/>
            <a:ext cx="9144000" cy="2171700"/>
          </a:xfrm>
          <a:prstGeom prst="rect">
            <a:avLst/>
          </a:prstGeom>
          <a:noFill/>
          <a:ln w="9525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>
            <a:spAutoFit/>
          </a:bodyPr>
          <a:p>
            <a:pPr indent="187325" algn="just" eaLnBrk="0" hangingPunct="0">
              <a:buFont typeface="Wingdings" panose="05000000000000000000" pitchFamily="2" charset="2"/>
            </a:pPr>
            <a:r>
              <a:rPr lang="en-US" altLang="zh-CN" sz="200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      ...</a:t>
            </a:r>
            <a:endParaRPr lang="en-US" altLang="zh-CN" sz="200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indent="187325" eaLnBrk="0" hangingPunct="0">
              <a:lnSpc>
                <a:spcPct val="96000"/>
              </a:lnSpc>
            </a:pPr>
            <a:r>
              <a:rPr lang="en-US" altLang="zh-CN" sz="200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      PROCESS (</a:t>
            </a:r>
            <a:r>
              <a:rPr lang="en-US" altLang="zh-CN" sz="200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CLK</a:t>
            </a:r>
            <a:r>
              <a:rPr lang="zh-CN" altLang="en-US" sz="200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，</a:t>
            </a:r>
            <a:r>
              <a:rPr lang="en-US" altLang="zh-CN" sz="200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D</a:t>
            </a:r>
            <a:r>
              <a:rPr lang="en-US" altLang="zh-CN" sz="200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)  </a:t>
            </a:r>
            <a:endParaRPr lang="en-US" altLang="zh-CN" sz="200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indent="187325" eaLnBrk="0" hangingPunct="0">
              <a:lnSpc>
                <a:spcPct val="96000"/>
              </a:lnSpc>
            </a:pPr>
            <a:r>
              <a:rPr lang="en-US" altLang="zh-CN" sz="200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       BEGIN</a:t>
            </a:r>
            <a:endParaRPr lang="en-US" altLang="zh-CN" sz="200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indent="187325" eaLnBrk="0" hangingPunct="0">
              <a:lnSpc>
                <a:spcPct val="96000"/>
              </a:lnSpc>
            </a:pPr>
            <a:r>
              <a:rPr lang="en-US" altLang="zh-CN" sz="200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          IF  </a:t>
            </a:r>
            <a:r>
              <a:rPr lang="en-US" altLang="zh-CN" sz="2000">
                <a:solidFill>
                  <a:schemeClr val="accent2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CLK = '1 '</a:t>
            </a:r>
            <a:r>
              <a:rPr lang="en-US" altLang="zh-CN" sz="200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THEN    </a:t>
            </a:r>
            <a:r>
              <a:rPr lang="en-US" altLang="zh-CN" sz="20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--</a:t>
            </a:r>
            <a:r>
              <a:rPr lang="zh-CN" altLang="en-US" sz="20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电平触发型寄存器</a:t>
            </a:r>
            <a:endParaRPr lang="zh-CN" altLang="en-US" sz="2000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indent="187325" eaLnBrk="0" hangingPunct="0">
              <a:lnSpc>
                <a:spcPct val="96000"/>
              </a:lnSpc>
            </a:pPr>
            <a:r>
              <a:rPr lang="zh-CN" altLang="en-US" sz="200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            </a:t>
            </a:r>
            <a:r>
              <a:rPr lang="en-US" altLang="zh-CN" sz="200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Q &lt;= D ;    </a:t>
            </a:r>
            <a:endParaRPr lang="en-US" altLang="zh-CN" sz="200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indent="187325" eaLnBrk="0" hangingPunct="0">
              <a:lnSpc>
                <a:spcPct val="96000"/>
              </a:lnSpc>
            </a:pPr>
            <a:r>
              <a:rPr lang="en-US" altLang="zh-CN" sz="200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          END IF; </a:t>
            </a:r>
            <a:endParaRPr lang="en-US" altLang="zh-CN" sz="200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indent="187325" algn="just" eaLnBrk="0" hangingPunct="0"/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                END PROCESS ;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72420" name="对象 572419"/>
          <p:cNvGraphicFramePr/>
          <p:nvPr/>
        </p:nvGraphicFramePr>
        <p:xfrm>
          <a:off x="0" y="4044950"/>
          <a:ext cx="9144000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4019550" imgH="771525" progId="Word.Document.8">
                  <p:embed/>
                </p:oleObj>
              </mc:Choice>
              <mc:Fallback>
                <p:oleObj name="" r:id="rId1" imgW="4019550" imgH="771525" progId="Word.Document.8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0" y="4044950"/>
                        <a:ext cx="9144000" cy="1905000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chemeClr val="bg2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16" name="矩形 572422"/>
          <p:cNvSpPr/>
          <p:nvPr/>
        </p:nvSpPr>
        <p:spPr>
          <a:xfrm>
            <a:off x="674053" y="561975"/>
            <a:ext cx="136842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锁存器</a:t>
            </a:r>
            <a:endParaRPr lang="zh-CN" altLang="en-US" sz="24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pull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2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572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2419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66" name="文本框 399365"/>
          <p:cNvSpPr txBox="1"/>
          <p:nvPr/>
        </p:nvSpPr>
        <p:spPr>
          <a:xfrm>
            <a:off x="683260" y="404495"/>
            <a:ext cx="8284210" cy="617728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触发器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25000"/>
              </a:lnSpc>
              <a:buFont typeface="Wingdings" panose="05000000000000000000" pitchFamily="2" charset="2"/>
            </a:pPr>
            <a:r>
              <a:rPr lang="en-US" altLang="zh-CN">
                <a:latin typeface="Times New Roman" panose="02020603050405020304" pitchFamily="18" charset="0"/>
              </a:rPr>
              <a:t>architecture Behavioral of </a:t>
            </a:r>
            <a:r>
              <a:rPr lang="en-US" altLang="zh-CN" err="1">
                <a:latin typeface="Times New Roman" panose="02020603050405020304" pitchFamily="18" charset="0"/>
              </a:rPr>
              <a:t>d_cfq</a:t>
            </a:r>
            <a:r>
              <a:rPr lang="en-US" altLang="zh-CN">
                <a:latin typeface="Times New Roman" panose="02020603050405020304" pitchFamily="18" charset="0"/>
              </a:rPr>
              <a:t> is</a:t>
            </a:r>
            <a:endParaRPr lang="en-US" altLang="zh-CN">
              <a:latin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>
                <a:latin typeface="Times New Roman" panose="02020603050405020304" pitchFamily="18" charset="0"/>
              </a:rPr>
              <a:t>begin</a:t>
            </a:r>
            <a:endParaRPr lang="en-US" altLang="zh-CN">
              <a:latin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err="1">
                <a:latin typeface="Times New Roman" panose="02020603050405020304" pitchFamily="18" charset="0"/>
              </a:rPr>
              <a:t>process(clk</a:t>
            </a:r>
            <a:r>
              <a:rPr lang="en-US" altLang="zh-CN" err="1">
                <a:solidFill>
                  <a:srgbClr val="0000FF"/>
                </a:solidFill>
                <a:latin typeface="Times New Roman" panose="02020603050405020304" pitchFamily="18" charset="0"/>
              </a:rPr>
              <a:t>,d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endParaRPr lang="en-US" altLang="zh-CN">
              <a:latin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>
                <a:latin typeface="Times New Roman" panose="02020603050405020304" pitchFamily="18" charset="0"/>
              </a:rPr>
              <a:t>begin</a:t>
            </a:r>
            <a:endParaRPr lang="en-US" altLang="zh-CN">
              <a:latin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>
                <a:latin typeface="Times New Roman" panose="02020603050405020304" pitchFamily="18" charset="0"/>
              </a:rPr>
              <a:t>     if  </a:t>
            </a:r>
            <a:r>
              <a:rPr lang="en-US" altLang="zh-CN" err="1">
                <a:solidFill>
                  <a:schemeClr val="accent2"/>
                </a:solidFill>
                <a:latin typeface="Times New Roman" panose="02020603050405020304" pitchFamily="18" charset="0"/>
              </a:rPr>
              <a:t>clk'event</a:t>
            </a:r>
            <a:r>
              <a:rPr lang="en-US" altLang="zh-CN">
                <a:solidFill>
                  <a:schemeClr val="accent2"/>
                </a:solidFill>
                <a:latin typeface="Times New Roman" panose="02020603050405020304" pitchFamily="18" charset="0"/>
              </a:rPr>
              <a:t> and </a:t>
            </a:r>
            <a:r>
              <a:rPr lang="en-US" altLang="zh-CN" err="1">
                <a:solidFill>
                  <a:schemeClr val="accent2"/>
                </a:solidFill>
                <a:latin typeface="Times New Roman" panose="02020603050405020304" pitchFamily="18" charset="0"/>
              </a:rPr>
              <a:t>clk</a:t>
            </a:r>
            <a:r>
              <a:rPr lang="en-US" altLang="zh-CN">
                <a:solidFill>
                  <a:schemeClr val="accent2"/>
                </a:solidFill>
                <a:latin typeface="Times New Roman" panose="02020603050405020304" pitchFamily="18" charset="0"/>
              </a:rPr>
              <a:t>='1'</a:t>
            </a:r>
            <a:r>
              <a:rPr lang="en-US" altLang="zh-CN">
                <a:latin typeface="Times New Roman" panose="02020603050405020304" pitchFamily="18" charset="0"/>
              </a:rPr>
              <a:t> then             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--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时钟上升沿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5000"/>
              </a:lnSpc>
            </a:pPr>
            <a:r>
              <a:rPr lang="zh-CN" altLang="en-US">
                <a:latin typeface="Times New Roman" panose="02020603050405020304" pitchFamily="18" charset="0"/>
              </a:rPr>
              <a:t>          </a:t>
            </a:r>
            <a:r>
              <a:rPr lang="en-US" altLang="zh-CN">
                <a:latin typeface="Times New Roman" panose="02020603050405020304" pitchFamily="18" charset="0"/>
              </a:rPr>
              <a:t>q&lt;=d;</a:t>
            </a:r>
            <a:endParaRPr lang="en-US" altLang="zh-CN">
              <a:latin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>
                <a:latin typeface="Times New Roman" panose="02020603050405020304" pitchFamily="18" charset="0"/>
              </a:rPr>
              <a:t>     end if;</a:t>
            </a:r>
            <a:endParaRPr lang="en-US" altLang="zh-CN">
              <a:latin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>
                <a:latin typeface="Times New Roman" panose="02020603050405020304" pitchFamily="18" charset="0"/>
              </a:rPr>
              <a:t>end process;</a:t>
            </a:r>
            <a:endParaRPr lang="en-US" altLang="zh-CN">
              <a:latin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>
                <a:latin typeface="Times New Roman" panose="02020603050405020304" pitchFamily="18" charset="0"/>
              </a:rPr>
              <a:t>end Behavioral;</a:t>
            </a:r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2739" name="内容占位符 372738"/>
          <p:cNvSpPr>
            <a:spLocks noGrp="1"/>
          </p:cNvSpPr>
          <p:nvPr>
            <p:ph idx="1"/>
          </p:nvPr>
        </p:nvSpPr>
        <p:spPr>
          <a:xfrm>
            <a:off x="539750" y="1657350"/>
            <a:ext cx="7772400" cy="4864100"/>
          </a:xfrm>
        </p:spPr>
        <p:txBody>
          <a:bodyPr vert="horz" wrap="square" lIns="91440" tIns="45720" rIns="91440" bIns="45720" anchor="t">
            <a:spAutoFit/>
          </a:bodyPr>
          <a:p>
            <a:pPr marL="0" indent="0">
              <a:lnSpc>
                <a:spcPct val="145000"/>
              </a:lnSpc>
              <a:spcBef>
                <a:spcPct val="0"/>
              </a:spcBef>
              <a:buClr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LIBRARY IEEE</a:t>
            </a:r>
            <a:r>
              <a:rPr lang="zh-CN" altLang="en-US" sz="2400">
                <a:latin typeface="Times New Roman" panose="02020603050405020304" pitchFamily="18" charset="0"/>
              </a:rPr>
              <a:t>；</a:t>
            </a:r>
            <a:endParaRPr lang="zh-CN" altLang="en-US" sz="2400">
              <a:latin typeface="Times New Roman" panose="02020603050405020304" pitchFamily="18" charset="0"/>
            </a:endParaRPr>
          </a:p>
          <a:p>
            <a:pPr marL="0" indent="0">
              <a:lnSpc>
                <a:spcPct val="14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USE IEEE.STD_LOGIC_1164.ALL</a:t>
            </a:r>
            <a:r>
              <a:rPr lang="zh-CN" altLang="en-US" sz="2400">
                <a:latin typeface="Times New Roman" panose="02020603050405020304" pitchFamily="18" charset="0"/>
              </a:rPr>
              <a:t>；</a:t>
            </a:r>
            <a:endParaRPr lang="zh-CN" altLang="en-US" sz="2400">
              <a:latin typeface="Times New Roman" panose="02020603050405020304" pitchFamily="18" charset="0"/>
            </a:endParaRPr>
          </a:p>
          <a:p>
            <a:pPr marL="0" indent="0">
              <a:lnSpc>
                <a:spcPct val="145000"/>
              </a:lnSpc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marL="0" indent="0">
              <a:lnSpc>
                <a:spcPct val="14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ENTITY ASYNDCFQ IS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marL="0" indent="0">
              <a:lnSpc>
                <a:spcPct val="14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PORT(CLK</a:t>
            </a:r>
            <a:r>
              <a:rPr lang="zh-CN" altLang="en-US" sz="2400">
                <a:latin typeface="Times New Roman" panose="02020603050405020304" pitchFamily="18" charset="0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</a:rPr>
              <a:t>D</a:t>
            </a:r>
            <a:r>
              <a:rPr lang="zh-CN" altLang="en-US" sz="2400">
                <a:latin typeface="Times New Roman" panose="02020603050405020304" pitchFamily="18" charset="0"/>
              </a:rPr>
              <a:t>，</a:t>
            </a:r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</a:rPr>
              <a:t>PRESET</a:t>
            </a:r>
            <a:r>
              <a:rPr lang="zh-CN" altLang="en-US" sz="2400">
                <a:solidFill>
                  <a:schemeClr val="accent2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</a:rPr>
              <a:t>CLR</a:t>
            </a:r>
            <a:r>
              <a:rPr lang="zh-CN" altLang="en-US" sz="2400">
                <a:latin typeface="Times New Roman" panose="02020603050405020304" pitchFamily="18" charset="0"/>
              </a:rPr>
              <a:t>：</a:t>
            </a:r>
            <a:r>
              <a:rPr lang="en-US" altLang="zh-CN" sz="2400">
                <a:latin typeface="Times New Roman" panose="02020603050405020304" pitchFamily="18" charset="0"/>
              </a:rPr>
              <a:t>IN STD_LOGIC</a:t>
            </a:r>
            <a:r>
              <a:rPr lang="zh-CN" altLang="en-US" sz="2400">
                <a:latin typeface="Times New Roman" panose="02020603050405020304" pitchFamily="18" charset="0"/>
              </a:rPr>
              <a:t>；</a:t>
            </a:r>
            <a:endParaRPr lang="zh-CN" altLang="en-US" sz="2400">
              <a:latin typeface="Times New Roman" panose="02020603050405020304" pitchFamily="18" charset="0"/>
            </a:endParaRPr>
          </a:p>
          <a:p>
            <a:pPr marL="0" indent="0">
              <a:lnSpc>
                <a:spcPct val="14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                                                         </a:t>
            </a:r>
            <a:r>
              <a:rPr lang="en-US" altLang="zh-CN" sz="2400">
                <a:latin typeface="Times New Roman" panose="02020603050405020304" pitchFamily="18" charset="0"/>
              </a:rPr>
              <a:t>Q</a:t>
            </a:r>
            <a:r>
              <a:rPr lang="zh-CN" altLang="en-US" sz="2400">
                <a:latin typeface="Times New Roman" panose="02020603050405020304" pitchFamily="18" charset="0"/>
              </a:rPr>
              <a:t>：</a:t>
            </a:r>
            <a:r>
              <a:rPr lang="en-US" altLang="zh-CN" sz="2400">
                <a:latin typeface="Times New Roman" panose="02020603050405020304" pitchFamily="18" charset="0"/>
              </a:rPr>
              <a:t>OUT STD_LOGIC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marL="0" indent="0">
              <a:lnSpc>
                <a:spcPct val="14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            )</a:t>
            </a:r>
            <a:r>
              <a:rPr lang="zh-CN" altLang="en-US" sz="2400">
                <a:latin typeface="Times New Roman" panose="02020603050405020304" pitchFamily="18" charset="0"/>
              </a:rPr>
              <a:t>；</a:t>
            </a:r>
            <a:endParaRPr lang="zh-CN" altLang="en-US" sz="2400">
              <a:latin typeface="Times New Roman" panose="02020603050405020304" pitchFamily="18" charset="0"/>
            </a:endParaRPr>
          </a:p>
          <a:p>
            <a:pPr marL="0" indent="0">
              <a:lnSpc>
                <a:spcPct val="14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END ENTITY ASYNDCFQ</a:t>
            </a:r>
            <a:r>
              <a:rPr lang="zh-CN" altLang="en-US" sz="2400">
                <a:latin typeface="Times New Roman" panose="02020603050405020304" pitchFamily="18" charset="0"/>
              </a:rPr>
              <a:t>；</a:t>
            </a:r>
            <a:endParaRPr lang="zh-CN" altLang="en-US" sz="2400">
              <a:latin typeface="Times New Roman" panose="02020603050405020304" pitchFamily="18" charset="0"/>
            </a:endParaRPr>
          </a:p>
          <a:p>
            <a:pPr marL="0" indent="0">
              <a:lnSpc>
                <a:spcPct val="145000"/>
              </a:lnSpc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pic>
        <p:nvPicPr>
          <p:cNvPr id="372744" name="图片 3727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0425" y="1268413"/>
            <a:ext cx="2160588" cy="2133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5539" name="矩形 572422"/>
          <p:cNvSpPr/>
          <p:nvPr/>
        </p:nvSpPr>
        <p:spPr>
          <a:xfrm>
            <a:off x="759143" y="808355"/>
            <a:ext cx="289306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带控制位的触发器</a:t>
            </a:r>
            <a:endParaRPr lang="zh-CN" altLang="en-US" sz="24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72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72739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charRg st="14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72739">
                                            <p:txEl>
                                              <p:charRg st="14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charRg st="44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372739">
                                            <p:txEl>
                                              <p:charRg st="44" end="6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charRg st="63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372739">
                                            <p:txEl>
                                              <p:charRg st="63" end="9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charRg st="99" end="1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372739">
                                            <p:txEl>
                                              <p:charRg st="99" end="1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charRg st="172" end="1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372739">
                                            <p:txEl>
                                              <p:charRg st="172" end="1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charRg st="187" end="2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372739">
                                            <p:txEl>
                                              <p:charRg st="187" end="20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2739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6835" name="内容占位符 376834"/>
          <p:cNvSpPr>
            <a:spLocks noGrp="1"/>
          </p:cNvSpPr>
          <p:nvPr>
            <p:ph idx="1"/>
          </p:nvPr>
        </p:nvSpPr>
        <p:spPr>
          <a:xfrm>
            <a:off x="609600" y="981075"/>
            <a:ext cx="8001000" cy="5387975"/>
          </a:xfrm>
        </p:spPr>
        <p:txBody>
          <a:bodyPr vert="horz" wrap="square" lIns="91440" tIns="45720" rIns="91440" bIns="45720" anchor="t">
            <a:spAutoFit/>
          </a:bodyPr>
          <a:p>
            <a:pPr marL="0" indent="0">
              <a:lnSpc>
                <a:spcPct val="14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ARCHITECTURE ART OF SYNDCFQ IS</a:t>
            </a:r>
            <a:endParaRPr lang="en-US" altLang="zh-CN" sz="2000">
              <a:latin typeface="Times New Roman" panose="02020603050405020304" pitchFamily="18" charset="0"/>
            </a:endParaRPr>
          </a:p>
          <a:p>
            <a:pPr marL="0" indent="0">
              <a:lnSpc>
                <a:spcPct val="14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BEGIN 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4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PROCESS(CLK) IS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4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BEGIN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4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IF(</a:t>
            </a:r>
            <a:r>
              <a:rPr lang="en-US" altLang="zh-CN" sz="20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CLK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'EVENT AND CLK=‘1’)THEN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4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    IF(</a:t>
            </a:r>
            <a:r>
              <a:rPr lang="en-US" altLang="zh-CN" sz="20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RESET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=‘0’)THEN        		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4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         Q&lt;=‘0’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；               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--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时钟边沿到来且有复位信号，触发器被复位</a:t>
            </a:r>
            <a:endParaRPr lang="zh-CN" altLang="en-US" sz="20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4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ELSE Q&lt;=D</a:t>
            </a:r>
            <a:r>
              <a:rPr lang="zh-CN" altLang="en-US" sz="2000">
                <a:latin typeface="Times New Roman" panose="02020603050405020304" pitchFamily="18" charset="0"/>
                <a:ea typeface="楷体_GB2312" pitchFamily="49" charset="-122"/>
              </a:rPr>
              <a:t>；                       </a:t>
            </a:r>
            <a:endParaRPr lang="zh-CN" altLang="en-US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4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END IF</a:t>
            </a:r>
            <a:r>
              <a:rPr lang="zh-CN" altLang="en-US" sz="2000"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lang="zh-CN" altLang="en-US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4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END IF</a:t>
            </a:r>
            <a:r>
              <a:rPr lang="zh-CN" altLang="en-US" sz="2000"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lang="zh-CN" altLang="en-US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4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END PROCESS</a:t>
            </a:r>
            <a:r>
              <a:rPr lang="zh-CN" altLang="en-US" sz="2000"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lang="zh-CN" altLang="en-US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4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END ARCHITECTURE ART</a:t>
            </a:r>
            <a:r>
              <a:rPr lang="zh-CN" altLang="en-US" sz="2000"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lang="zh-CN" altLang="en-US" sz="20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7586" name="矩形 376835"/>
          <p:cNvSpPr/>
          <p:nvPr/>
        </p:nvSpPr>
        <p:spPr>
          <a:xfrm>
            <a:off x="914400" y="433388"/>
            <a:ext cx="8229600" cy="633412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同步控制</a:t>
            </a:r>
            <a:br>
              <a:rPr lang="zh-CN" altLang="en-US" sz="2800" b="1" dirty="0">
                <a:solidFill>
                  <a:srgbClr val="0000FF"/>
                </a:solidFill>
                <a:latin typeface="Arial Narrow" panose="020B0606020202030204" pitchFamily="34" charset="0"/>
                <a:ea typeface="楷体_GB2312" pitchFamily="49" charset="-122"/>
              </a:rPr>
            </a:br>
            <a:endParaRPr lang="zh-CN" altLang="en-US" sz="2800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pic>
        <p:nvPicPr>
          <p:cNvPr id="376837" name="图片 3768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7400" y="981075"/>
            <a:ext cx="2663825" cy="2444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76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5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76835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5">
                                            <p:txEl>
                                              <p:charRg st="31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76835">
                                            <p:txEl>
                                              <p:charRg st="31" end="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5">
                                            <p:txEl>
                                              <p:charRg st="38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376835">
                                            <p:txEl>
                                              <p:charRg st="38" end="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5">
                                            <p:txEl>
                                              <p:charRg st="54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376835">
                                            <p:txEl>
                                              <p:charRg st="54" end="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5">
                                            <p:txEl>
                                              <p:charRg st="60" end="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376835">
                                            <p:txEl>
                                              <p:charRg st="60" end="9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5">
                                            <p:txEl>
                                              <p:charRg st="90" end="1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376835">
                                            <p:txEl>
                                              <p:charRg st="90" end="1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5">
                                            <p:txEl>
                                              <p:charRg st="123" end="1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376835">
                                            <p:txEl>
                                              <p:charRg st="123" end="17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5">
                                            <p:txEl>
                                              <p:charRg st="176" end="2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376835">
                                            <p:txEl>
                                              <p:charRg st="176" end="2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5">
                                            <p:txEl>
                                              <p:charRg st="215" end="2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376835">
                                            <p:txEl>
                                              <p:charRg st="215" end="2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5">
                                            <p:txEl>
                                              <p:charRg st="228" end="2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376835">
                                            <p:txEl>
                                              <p:charRg st="228" end="2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5">
                                            <p:txEl>
                                              <p:charRg st="236" end="2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376835">
                                            <p:txEl>
                                              <p:charRg st="236" end="2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5">
                                            <p:txEl>
                                              <p:charRg st="249" end="2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500"/>
                                        <p:tgtEl>
                                          <p:spTgt spid="376835">
                                            <p:txEl>
                                              <p:charRg st="249" end="2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683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3763" name="内容占位符 373762"/>
          <p:cNvSpPr>
            <a:spLocks noGrp="1"/>
          </p:cNvSpPr>
          <p:nvPr>
            <p:ph idx="1"/>
          </p:nvPr>
        </p:nvSpPr>
        <p:spPr>
          <a:xfrm>
            <a:off x="685800" y="1171575"/>
            <a:ext cx="7772400" cy="5426075"/>
          </a:xfrm>
        </p:spPr>
        <p:txBody>
          <a:bodyPr vert="horz" wrap="square" lIns="91440" tIns="45720" rIns="91440" bIns="45720" anchor="t">
            <a:spAutoFit/>
          </a:bodyPr>
          <a:p>
            <a:pPr marL="0" indent="0"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ARCHITECTURE ART OF ASYNDCFQ IS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BEGIN 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PROCESS(CLK</a:t>
            </a:r>
            <a:r>
              <a:rPr lang="zh-CN" altLang="en-US"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PRESET</a:t>
            </a:r>
            <a:r>
              <a:rPr lang="zh-CN" altLang="en-US"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CLR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) IS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BEGIN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 IF(</a:t>
            </a:r>
            <a:r>
              <a:rPr lang="en-US" altLang="zh-CN" sz="20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PRESET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=‘0')THEN     --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置位</a:t>
            </a:r>
            <a:endParaRPr lang="zh-CN" altLang="en-US" sz="20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lang="zh-CN" altLang="en-US" sz="20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Q&lt;='1'</a:t>
            </a:r>
            <a:r>
              <a:rPr lang="zh-CN" altLang="en-US" sz="2000"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lang="zh-CN" altLang="en-US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ELSIF(</a:t>
            </a:r>
            <a:r>
              <a:rPr lang="en-US" altLang="zh-CN" sz="20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CLR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=‘0')THEN     --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复位</a:t>
            </a:r>
            <a:endParaRPr lang="zh-CN" altLang="en-US" sz="20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      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Q&lt;='0'</a:t>
            </a:r>
            <a:r>
              <a:rPr lang="zh-CN" altLang="en-US" sz="2000"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lang="zh-CN" altLang="en-US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ELSIF(</a:t>
            </a:r>
            <a:r>
              <a:rPr lang="en-US" altLang="zh-CN" sz="20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CLK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'EVENT AND CLK=‘1’)THEN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      Q&lt;=D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lang="zh-CN" altLang="en-US" sz="20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END IF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lang="zh-CN" altLang="en-US" sz="20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END PROCESS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lang="zh-CN" altLang="en-US" sz="20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END ARCHITECTURE ART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lang="zh-CN" altLang="en-US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endParaRPr lang="zh-CN" altLang="en-US" sz="20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pic>
        <p:nvPicPr>
          <p:cNvPr id="562179" name="图片 56217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6688" y="1196975"/>
            <a:ext cx="2160587" cy="2133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6563" name="矩形 372740"/>
          <p:cNvSpPr/>
          <p:nvPr/>
        </p:nvSpPr>
        <p:spPr>
          <a:xfrm>
            <a:off x="927100" y="422275"/>
            <a:ext cx="44450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buFont typeface="Wingdings" panose="05000000000000000000" pitchFamily="2" charset="2"/>
              <a:buChar char="p"/>
            </a:pP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异步复位、置位控制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触发器</a:t>
            </a:r>
            <a:endParaRPr lang="zh-CN" altLang="en-US" sz="24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62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3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73763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3">
                                            <p:txEl>
                                              <p:charRg st="32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73763">
                                            <p:txEl>
                                              <p:charRg st="32" end="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3">
                                            <p:txEl>
                                              <p:charRg st="39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373763">
                                            <p:txEl>
                                              <p:charRg st="39" end="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3">
                                            <p:txEl>
                                              <p:charRg st="66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373763">
                                            <p:txEl>
                                              <p:charRg st="66" end="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3">
                                            <p:txEl>
                                              <p:charRg st="72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373763">
                                            <p:txEl>
                                              <p:charRg st="72" end="10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3">
                                            <p:txEl>
                                              <p:charRg st="102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373763">
                                            <p:txEl>
                                              <p:charRg st="102" end="1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3">
                                            <p:txEl>
                                              <p:charRg st="116" end="1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373763">
                                            <p:txEl>
                                              <p:charRg st="116" end="1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3">
                                            <p:txEl>
                                              <p:charRg st="146" end="1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373763">
                                            <p:txEl>
                                              <p:charRg st="146" end="1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3">
                                            <p:txEl>
                                              <p:charRg st="160" end="1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373763">
                                            <p:txEl>
                                              <p:charRg st="160" end="1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3">
                                            <p:txEl>
                                              <p:charRg st="195" end="2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373763">
                                            <p:txEl>
                                              <p:charRg st="195" end="20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3">
                                            <p:txEl>
                                              <p:charRg st="207" end="2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373763">
                                            <p:txEl>
                                              <p:charRg st="207" end="2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3">
                                            <p:txEl>
                                              <p:charRg st="217" end="2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500"/>
                                        <p:tgtEl>
                                          <p:spTgt spid="373763">
                                            <p:txEl>
                                              <p:charRg st="217" end="2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3">
                                            <p:txEl>
                                              <p:charRg st="230" end="2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2" dur="500"/>
                                        <p:tgtEl>
                                          <p:spTgt spid="373763">
                                            <p:txEl>
                                              <p:charRg st="230" end="25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376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3172" name="矩形 735237"/>
          <p:cNvSpPr/>
          <p:nvPr/>
        </p:nvSpPr>
        <p:spPr>
          <a:xfrm>
            <a:off x="290830" y="520065"/>
            <a:ext cx="8229600" cy="71501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计数器</a:t>
            </a:r>
            <a:endParaRPr lang="zh-CN" altLang="en-US" sz="3600" b="1" dirty="0">
              <a:solidFill>
                <a:srgbClr val="C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85027" name="文本占位符 385026"/>
          <p:cNvSpPr>
            <a:spLocks noGrp="1"/>
          </p:cNvSpPr>
          <p:nvPr>
            <p:ph type="body" idx="1"/>
          </p:nvPr>
        </p:nvSpPr>
        <p:spPr>
          <a:xfrm>
            <a:off x="533400" y="1479550"/>
            <a:ext cx="7772400" cy="2306955"/>
          </a:xfrm>
        </p:spPr>
        <p:txBody>
          <a:bodyPr vert="horz" wrap="square" lIns="91440" tIns="45720" rIns="91440" bIns="45720" anchor="t" anchorCtr="0">
            <a:spAutoFit/>
          </a:bodyPr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</a:rPr>
              <a:t>     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计数器是在数字系统中使用最多的时序电路，它不仅能用于对时钟脉冲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计数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，还可以用于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分频、定时、产生节拍脉冲和脉冲序列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以及进行数字运算等。 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            </a:t>
            </a:r>
            <a:endParaRPr lang="zh-CN" altLang="en-US" sz="24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endParaRPr lang="zh-CN" altLang="en-US" sz="24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61155" name="矩形 561154"/>
          <p:cNvSpPr/>
          <p:nvPr/>
        </p:nvSpPr>
        <p:spPr>
          <a:xfrm>
            <a:off x="533400" y="3716655"/>
            <a:ext cx="8117840" cy="11245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40000"/>
              </a:lnSpc>
              <a:buClr>
                <a:schemeClr val="accent2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计数器设计（二进制、非二进制计数器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同步、异步）</a:t>
            </a:r>
            <a:endParaRPr lang="zh-CN" altLang="en-US" sz="24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  <a:buClr>
                <a:schemeClr val="accent2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计数器应用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（分频器、序列发生器）</a:t>
            </a:r>
            <a:endParaRPr lang="zh-CN" altLang="en-US" sz="24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61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115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矩形 1"/>
          <p:cNvSpPr/>
          <p:nvPr/>
        </p:nvSpPr>
        <p:spPr>
          <a:xfrm>
            <a:off x="3059113" y="2562225"/>
            <a:ext cx="278447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400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zh-CN" sz="2400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位计数器的状态表</a:t>
            </a:r>
            <a:endParaRPr lang="zh-CN" altLang="en-US" sz="2400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68313" y="3055938"/>
          <a:ext cx="8229600" cy="274320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7"/>
              </a:tblGrid>
              <a:tr h="2743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</a:rPr>
                        <a:t>当前状态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</a:rPr>
                        <a:t>下一状态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</a:rPr>
                        <a:t>状态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q</a:t>
                      </a:r>
                      <a:r>
                        <a:rPr lang="en-US" sz="1800" kern="100" baseline="-25000" dirty="0">
                          <a:solidFill>
                            <a:schemeClr val="tx1"/>
                          </a:solidFill>
                          <a:effectLst/>
                          <a:uFillTx/>
                        </a:rPr>
                        <a:t>2</a:t>
                      </a:r>
                      <a:r>
                        <a:rPr lang="en-US" sz="1800" kern="100" baseline="30000" dirty="0">
                          <a:solidFill>
                            <a:schemeClr val="tx1"/>
                          </a:solidFill>
                          <a:effectLst/>
                          <a:uFillTx/>
                        </a:rPr>
                        <a:t>n</a:t>
                      </a:r>
                      <a:endParaRPr lang="en-US" sz="1800" kern="100" baseline="30000" dirty="0">
                        <a:solidFill>
                          <a:schemeClr val="tx1"/>
                        </a:solidFill>
                        <a:effectLst/>
                        <a:uFillTx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sym typeface="+mn-ea"/>
                        </a:rPr>
                        <a:t>q</a:t>
                      </a:r>
                      <a:r>
                        <a:rPr lang="en-US" sz="1800" kern="100" baseline="-25000" dirty="0">
                          <a:solidFill>
                            <a:schemeClr val="tx1"/>
                          </a:solidFill>
                          <a:effectLst/>
                          <a:uFillTx/>
                          <a:sym typeface="+mn-ea"/>
                        </a:rPr>
                        <a:t>1</a:t>
                      </a:r>
                      <a:r>
                        <a:rPr lang="en-US" sz="1800" kern="100" baseline="30000" dirty="0">
                          <a:solidFill>
                            <a:schemeClr val="tx1"/>
                          </a:solidFill>
                          <a:effectLst/>
                          <a:uFillTx/>
                          <a:sym typeface="+mn-ea"/>
                        </a:rPr>
                        <a:t>n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sym typeface="+mn-ea"/>
                        </a:rPr>
                        <a:t>q</a:t>
                      </a:r>
                      <a:r>
                        <a:rPr lang="en-US" sz="1800" kern="100" baseline="-25000" dirty="0">
                          <a:solidFill>
                            <a:schemeClr val="tx1"/>
                          </a:solidFill>
                          <a:effectLst/>
                          <a:uFillTx/>
                          <a:sym typeface="+mn-ea"/>
                        </a:rPr>
                        <a:t>0</a:t>
                      </a:r>
                      <a:r>
                        <a:rPr lang="en-US" sz="1800" kern="100" baseline="30000" dirty="0">
                          <a:solidFill>
                            <a:schemeClr val="tx1"/>
                          </a:solidFill>
                          <a:effectLst/>
                          <a:uFillTx/>
                          <a:sym typeface="+mn-ea"/>
                        </a:rPr>
                        <a:t>n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q</a:t>
                      </a:r>
                      <a:r>
                        <a:rPr lang="en-US" sz="1800" kern="100" baseline="-25000" dirty="0">
                          <a:solidFill>
                            <a:schemeClr val="tx1"/>
                          </a:solidFill>
                          <a:effectLst/>
                          <a:uFillTx/>
                        </a:rPr>
                        <a:t>2</a:t>
                      </a:r>
                      <a:r>
                        <a:rPr lang="en-US" sz="1800" kern="100" baseline="30000" dirty="0">
                          <a:solidFill>
                            <a:schemeClr val="tx1"/>
                          </a:solidFill>
                          <a:effectLst/>
                          <a:uFillTx/>
                        </a:rPr>
                        <a:t>n+1</a:t>
                      </a:r>
                      <a:endParaRPr lang="en-US" sz="1800" kern="100" baseline="30000" dirty="0">
                        <a:solidFill>
                          <a:schemeClr val="tx1"/>
                        </a:solidFill>
                        <a:effectLst/>
                        <a:uFillTx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sym typeface="+mn-ea"/>
                        </a:rPr>
                        <a:t>q</a:t>
                      </a:r>
                      <a:r>
                        <a:rPr lang="en-US" sz="1800" kern="100" baseline="-25000" dirty="0">
                          <a:solidFill>
                            <a:schemeClr val="tx1"/>
                          </a:solidFill>
                          <a:effectLst/>
                          <a:uFillTx/>
                          <a:sym typeface="+mn-ea"/>
                        </a:rPr>
                        <a:t>1</a:t>
                      </a:r>
                      <a:r>
                        <a:rPr lang="en-US" sz="1800" kern="100" baseline="30000" dirty="0">
                          <a:solidFill>
                            <a:schemeClr val="tx1"/>
                          </a:solidFill>
                          <a:effectLst/>
                          <a:uFillTx/>
                          <a:sym typeface="+mn-ea"/>
                        </a:rPr>
                        <a:t>n+1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sym typeface="+mn-ea"/>
                        </a:rPr>
                        <a:t>q</a:t>
                      </a:r>
                      <a:r>
                        <a:rPr lang="en-US" sz="1800" kern="100" baseline="-25000" dirty="0">
                          <a:solidFill>
                            <a:schemeClr val="tx1"/>
                          </a:solidFill>
                          <a:effectLst/>
                          <a:uFillTx/>
                          <a:sym typeface="+mn-ea"/>
                        </a:rPr>
                        <a:t>0</a:t>
                      </a:r>
                      <a:r>
                        <a:rPr lang="en-US" sz="1800" kern="100" baseline="30000" dirty="0">
                          <a:solidFill>
                            <a:schemeClr val="tx1"/>
                          </a:solidFill>
                          <a:effectLst/>
                          <a:uFillTx/>
                          <a:sym typeface="+mn-ea"/>
                        </a:rPr>
                        <a:t>n+1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S0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S1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S2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S3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S4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S5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S6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S7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/>
        </p:nvSpPr>
        <p:spPr>
          <a:xfrm>
            <a:off x="143510" y="2034858"/>
            <a:ext cx="8982075" cy="4429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400" b="0" i="0">
                <a:solidFill>
                  <a:srgbClr val="0A085E"/>
                </a:solidFill>
                <a:latin typeface="Times New Roman" panose="02020603050405020304"/>
                <a:ea typeface="+mj-ea"/>
                <a:cs typeface="Times New Roman" panose="02020603050405020304"/>
              </a:defRPr>
            </a:lvl1pPr>
          </a:lstStyle>
          <a:p>
            <a:pPr marL="12700" fontAlgn="base">
              <a:lnSpc>
                <a:spcPct val="100000"/>
              </a:lnSpc>
              <a:spcBef>
                <a:spcPts val="100"/>
              </a:spcBef>
            </a:pPr>
            <a:r>
              <a:rPr sz="2800" b="1" strike="noStrike" spc="275" noProof="1" dirty="0">
                <a:solidFill>
                  <a:srgbClr val="E40E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</a:t>
            </a:r>
            <a:r>
              <a:rPr sz="2800" b="1" strike="noStrike" spc="200" noProof="1" dirty="0">
                <a:solidFill>
                  <a:srgbClr val="E40E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sz="2800" b="1" strike="noStrike" kern="0" noProof="1" dirty="0">
                <a:solidFill>
                  <a:srgbClr val="E40E0F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根据给定的逻辑功能建立状态表</a:t>
            </a:r>
            <a:endParaRPr sz="2800" b="1" strike="noStrike" kern="0" noProof="1" dirty="0">
              <a:solidFill>
                <a:srgbClr val="E40E0F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946" name="矩形 578562"/>
          <p:cNvSpPr/>
          <p:nvPr/>
        </p:nvSpPr>
        <p:spPr>
          <a:xfrm>
            <a:off x="519430" y="701675"/>
            <a:ext cx="8229600" cy="110617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二进制计数器设计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buFont typeface="Wingdings" panose="05000000000000000000" pitchFamily="2" charset="2"/>
            </a:pP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                    ———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同步计数器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586" name="矩形 376835"/>
          <p:cNvSpPr/>
          <p:nvPr/>
        </p:nvSpPr>
        <p:spPr>
          <a:xfrm>
            <a:off x="254000" y="68263"/>
            <a:ext cx="8229600" cy="633412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计数器设计</a:t>
            </a:r>
            <a:br>
              <a:rPr lang="zh-CN" altLang="en-US" sz="2800" b="1" dirty="0">
                <a:solidFill>
                  <a:srgbClr val="0000FF"/>
                </a:solidFill>
                <a:latin typeface="Arial Narrow" panose="020B0606020202030204" pitchFamily="34" charset="0"/>
                <a:ea typeface="楷体_GB2312" pitchFamily="49" charset="-122"/>
              </a:rPr>
            </a:br>
            <a:endParaRPr lang="zh-CN" altLang="en-US" sz="2800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473" name="Rectangle 3"/>
          <p:cNvSpPr>
            <a:spLocks noGrp="1"/>
          </p:cNvSpPr>
          <p:nvPr>
            <p:ph idx="1"/>
          </p:nvPr>
        </p:nvSpPr>
        <p:spPr>
          <a:xfrm>
            <a:off x="364490" y="1169670"/>
            <a:ext cx="8568055" cy="4518660"/>
          </a:xfrm>
        </p:spPr>
        <p:txBody>
          <a:bodyPr vert="horz" wrap="square" lIns="91440" tIns="45720" rIns="91440" bIns="45720" anchor="t" anchorCtr="0"/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同步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二进制加法</a:t>
            </a:r>
            <a:r>
              <a:rPr lang="zh-CN" altLang="zh-CN" sz="2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计数器</a:t>
            </a: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VHDL</a:t>
            </a:r>
            <a:r>
              <a:rPr lang="zh-CN" altLang="zh-CN" sz="2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</a:t>
            </a:r>
            <a:endParaRPr lang="zh-CN" altLang="zh-CN" sz="2400" dirty="0">
              <a:solidFill>
                <a:srgbClr val="0070C0"/>
              </a:solidFill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library IEEE;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use IEEE.STD_LOGIC_1164.ALL;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use IEEE.STD_LOGIC_ARITH.ALL;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use IEEE.STD_LOGIC_UNSIGNED.ALL;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entity count8 is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   Port ( clr : in  STD_LOGIC;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           clk : in  STD_LOGIC;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           q :   </a:t>
            </a:r>
            <a:r>
              <a:rPr lang="en-US" altLang="zh-CN" sz="2400" b="1" dirty="0">
                <a:solidFill>
                  <a:srgbClr val="C00000"/>
                </a:solidFill>
                <a:cs typeface="+mn-lt"/>
              </a:rPr>
              <a:t>out</a:t>
            </a: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  STD_LOGIC_VECTOR (2 downto 0));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end count8;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 eaLnBrk="1" hangingPunct="1">
              <a:buNone/>
            </a:pPr>
            <a:r>
              <a:rPr lang="en-US" altLang="zh-CN" sz="2000" dirty="0"/>
              <a:t> </a:t>
            </a:r>
            <a:endParaRPr lang="zh-CN" altLang="zh-CN" sz="2000" dirty="0"/>
          </a:p>
        </p:txBody>
      </p:sp>
      <p:sp>
        <p:nvSpPr>
          <p:cNvPr id="2" name="文本框 4"/>
          <p:cNvSpPr txBox="1"/>
          <p:nvPr/>
        </p:nvSpPr>
        <p:spPr>
          <a:xfrm>
            <a:off x="6393815" y="2528570"/>
            <a:ext cx="2345690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3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行为描述</a:t>
            </a:r>
            <a:r>
              <a:rPr lang="en-US" altLang="zh-CN" sz="3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32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6497" name="Rectangle 3"/>
          <p:cNvSpPr>
            <a:spLocks noGrp="1"/>
          </p:cNvSpPr>
          <p:nvPr>
            <p:ph idx="1"/>
          </p:nvPr>
        </p:nvSpPr>
        <p:spPr>
          <a:xfrm>
            <a:off x="218440" y="645795"/>
            <a:ext cx="8229600" cy="5931535"/>
          </a:xfrm>
        </p:spPr>
        <p:txBody>
          <a:bodyPr vert="horz" wrap="square" lIns="91440" tIns="45720" rIns="91440" bIns="45720" anchor="t" anchorCtr="0"/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architecture Behavioral of count8 is</a:t>
            </a:r>
            <a:endParaRPr lang="en-US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err="1">
                <a:solidFill>
                  <a:schemeClr val="accent2"/>
                </a:solidFill>
                <a:ea typeface="楷体_GB2312" pitchFamily="49" charset="-122"/>
                <a:cs typeface="+mn-lt"/>
                <a:sym typeface="+mn-ea"/>
              </a:rPr>
              <a:t>signal cnt1: std_logic_vector(2 downto</a:t>
            </a:r>
            <a:r>
              <a:rPr lang="en-US" altLang="zh-CN" sz="2400" b="1">
                <a:solidFill>
                  <a:schemeClr val="accent2"/>
                </a:solidFill>
                <a:ea typeface="楷体_GB2312" pitchFamily="49" charset="-122"/>
                <a:cs typeface="+mn-lt"/>
                <a:sym typeface="+mn-ea"/>
              </a:rPr>
              <a:t> 0):="000";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begin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process(clr,clk)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begin 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    if(clr='1') then 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        	</a:t>
            </a:r>
            <a:r>
              <a:rPr lang="en-US" altLang="zh-CN" sz="2400" b="1" dirty="0">
                <a:solidFill>
                  <a:schemeClr val="accent2"/>
                </a:solidFill>
                <a:cs typeface="+mn-lt"/>
              </a:rPr>
              <a:t>cnt1&lt;="000";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     elsif(rising_edge(clk)) then 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       </a:t>
            </a:r>
            <a:r>
              <a:rPr lang="en-US" altLang="zh-CN" sz="2400" b="1" dirty="0">
                <a:solidFill>
                  <a:schemeClr val="accent2"/>
                </a:solidFill>
                <a:cs typeface="+mn-lt"/>
              </a:rPr>
              <a:t>    cnt1&lt;=cnt1+1;</a:t>
            </a:r>
            <a:endParaRPr lang="en-US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     end if;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end process;</a:t>
            </a:r>
            <a:endParaRPr lang="en-US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err="1">
                <a:ea typeface="楷体_GB2312" pitchFamily="49" charset="-122"/>
                <a:cs typeface="+mn-lt"/>
                <a:sym typeface="+mn-ea"/>
              </a:rPr>
              <a:t> </a:t>
            </a:r>
            <a:r>
              <a:rPr lang="en-US" altLang="zh-CN" sz="2400" b="1" err="1">
                <a:solidFill>
                  <a:schemeClr val="accent2"/>
                </a:solidFill>
                <a:ea typeface="楷体_GB2312" pitchFamily="49" charset="-122"/>
                <a:cs typeface="+mn-lt"/>
                <a:sym typeface="+mn-ea"/>
              </a:rPr>
              <a:t>q</a:t>
            </a:r>
            <a:r>
              <a:rPr lang="en-US" altLang="zh-CN" sz="2400" b="1">
                <a:solidFill>
                  <a:schemeClr val="accent2"/>
                </a:solidFill>
                <a:ea typeface="楷体_GB2312" pitchFamily="49" charset="-122"/>
                <a:cs typeface="+mn-lt"/>
                <a:sym typeface="+mn-ea"/>
              </a:rPr>
              <a:t>&lt;=cnt1;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end Behavioral;</a:t>
            </a:r>
            <a:endParaRPr lang="en-US" altLang="zh-CN" sz="2400" b="1" dirty="0">
              <a:solidFill>
                <a:schemeClr val="tx1"/>
              </a:solidFill>
              <a:cs typeface="+mn-l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473" name="Rectangle 3"/>
          <p:cNvSpPr>
            <a:spLocks noGrp="1"/>
          </p:cNvSpPr>
          <p:nvPr>
            <p:ph idx="1"/>
          </p:nvPr>
        </p:nvSpPr>
        <p:spPr>
          <a:xfrm>
            <a:off x="288290" y="1073150"/>
            <a:ext cx="8568055" cy="4518660"/>
          </a:xfrm>
        </p:spPr>
        <p:txBody>
          <a:bodyPr vert="horz" wrap="square" lIns="91440" tIns="45720" rIns="91440" bIns="45720" anchor="t" anchorCtr="0"/>
          <a:p>
            <a:pPr marL="0" indent="0" eaLnBrk="1" hangingPunct="1">
              <a:buNone/>
            </a:pPr>
            <a:endParaRPr lang="zh-CN" altLang="zh-CN" sz="2400" dirty="0">
              <a:solidFill>
                <a:srgbClr val="0070C0"/>
              </a:solidFill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library IEEE;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use IEEE.STD_LOGIC_1164.ALL;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use IEEE.STD_LOGIC_ARITH.ALL;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use IEEE.STD_LOGIC_UNSIGNED.ALL;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entity count8 is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   Port ( clr : in  STD_LOGIC;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           clk : in  STD_LOGIC;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           q :  </a:t>
            </a:r>
            <a:r>
              <a:rPr lang="en-US" altLang="zh-CN" sz="2400" b="1" dirty="0">
                <a:solidFill>
                  <a:srgbClr val="C00000"/>
                </a:solidFill>
                <a:cs typeface="+mn-lt"/>
              </a:rPr>
              <a:t> inout</a:t>
            </a: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  STD_LOGIC_VECTOR (2 downto 0));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end count8;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 eaLnBrk="1" hangingPunct="1">
              <a:buNone/>
            </a:pPr>
            <a:r>
              <a:rPr lang="en-US" altLang="zh-CN" sz="2000" dirty="0"/>
              <a:t> </a:t>
            </a:r>
            <a:endParaRPr lang="zh-CN" altLang="zh-CN" sz="2000" dirty="0"/>
          </a:p>
        </p:txBody>
      </p:sp>
      <p:sp>
        <p:nvSpPr>
          <p:cNvPr id="73730" name="文本框 4"/>
          <p:cNvSpPr txBox="1"/>
          <p:nvPr/>
        </p:nvSpPr>
        <p:spPr>
          <a:xfrm>
            <a:off x="499745" y="551180"/>
            <a:ext cx="234696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改进后程序</a:t>
            </a:r>
            <a:endParaRPr lang="zh-CN" altLang="en-US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4"/>
          <p:cNvSpPr txBox="1"/>
          <p:nvPr/>
        </p:nvSpPr>
        <p:spPr>
          <a:xfrm>
            <a:off x="6038850" y="1792605"/>
            <a:ext cx="2287905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3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行为描述</a:t>
            </a:r>
            <a:r>
              <a:rPr lang="en-US" altLang="zh-CN" sz="3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32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6497" name="Rectangle 3"/>
          <p:cNvSpPr>
            <a:spLocks noGrp="1"/>
          </p:cNvSpPr>
          <p:nvPr>
            <p:ph idx="1"/>
          </p:nvPr>
        </p:nvSpPr>
        <p:spPr>
          <a:xfrm>
            <a:off x="302895" y="569595"/>
            <a:ext cx="8229600" cy="5931535"/>
          </a:xfrm>
        </p:spPr>
        <p:txBody>
          <a:bodyPr vert="horz" wrap="square" lIns="91440" tIns="45720" rIns="91440" bIns="45720" anchor="t" anchorCtr="0"/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architecture Behavioral of count8 is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begin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process(clr,clk)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begin 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    if(clr='1') then 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        	</a:t>
            </a:r>
            <a:r>
              <a:rPr lang="en-US" altLang="zh-CN" sz="2400" b="1" dirty="0">
                <a:solidFill>
                  <a:schemeClr val="accent2"/>
                </a:solidFill>
                <a:cs typeface="+mn-lt"/>
              </a:rPr>
              <a:t>q&lt;="000";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     elsif(rising_edge(clk)) then 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       </a:t>
            </a:r>
            <a:r>
              <a:rPr lang="en-US" altLang="zh-CN" sz="2400" b="1" dirty="0">
                <a:solidFill>
                  <a:schemeClr val="accent2"/>
                </a:solidFill>
                <a:cs typeface="+mn-lt"/>
              </a:rPr>
              <a:t>    q&lt;=q+1;</a:t>
            </a:r>
            <a:endParaRPr lang="en-US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     end if;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end process;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end Behavioral;</a:t>
            </a:r>
            <a:endParaRPr lang="en-US" altLang="zh-CN" sz="2400" b="1" dirty="0">
              <a:solidFill>
                <a:schemeClr val="tx1"/>
              </a:solidFill>
              <a:cs typeface="+mn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矩形 1"/>
          <p:cNvSpPr/>
          <p:nvPr/>
        </p:nvSpPr>
        <p:spPr>
          <a:xfrm>
            <a:off x="3059748" y="1932305"/>
            <a:ext cx="278447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400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zh-CN" sz="2400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位计数器的状态表</a:t>
            </a:r>
            <a:endParaRPr lang="zh-CN" altLang="en-US" sz="2400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68948" y="2426018"/>
          <a:ext cx="8229600" cy="274320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7"/>
              </a:tblGrid>
              <a:tr h="2743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</a:rPr>
                        <a:t>当前状态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</a:rPr>
                        <a:t>下一状态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</a:rPr>
                        <a:t>状态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q</a:t>
                      </a:r>
                      <a:r>
                        <a:rPr lang="en-US" sz="1800" kern="100" baseline="-25000" dirty="0">
                          <a:solidFill>
                            <a:schemeClr val="tx1"/>
                          </a:solidFill>
                          <a:effectLst/>
                          <a:uFillTx/>
                        </a:rPr>
                        <a:t>2</a:t>
                      </a:r>
                      <a:r>
                        <a:rPr lang="en-US" sz="1800" kern="100" baseline="30000" dirty="0">
                          <a:solidFill>
                            <a:schemeClr val="tx1"/>
                          </a:solidFill>
                          <a:effectLst/>
                          <a:uFillTx/>
                        </a:rPr>
                        <a:t>n</a:t>
                      </a:r>
                      <a:endParaRPr lang="en-US" sz="1800" kern="100" baseline="30000" dirty="0">
                        <a:solidFill>
                          <a:schemeClr val="tx1"/>
                        </a:solidFill>
                        <a:effectLst/>
                        <a:uFillTx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sym typeface="+mn-ea"/>
                        </a:rPr>
                        <a:t>q</a:t>
                      </a:r>
                      <a:r>
                        <a:rPr lang="en-US" sz="1800" kern="100" baseline="-25000" dirty="0">
                          <a:solidFill>
                            <a:schemeClr val="tx1"/>
                          </a:solidFill>
                          <a:effectLst/>
                          <a:uFillTx/>
                          <a:sym typeface="+mn-ea"/>
                        </a:rPr>
                        <a:t>1</a:t>
                      </a:r>
                      <a:r>
                        <a:rPr lang="en-US" sz="1800" kern="100" baseline="30000" dirty="0">
                          <a:solidFill>
                            <a:schemeClr val="tx1"/>
                          </a:solidFill>
                          <a:effectLst/>
                          <a:uFillTx/>
                          <a:sym typeface="+mn-ea"/>
                        </a:rPr>
                        <a:t>n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sym typeface="+mn-ea"/>
                        </a:rPr>
                        <a:t>q</a:t>
                      </a:r>
                      <a:r>
                        <a:rPr lang="en-US" sz="1800" kern="100" baseline="-25000" dirty="0">
                          <a:solidFill>
                            <a:schemeClr val="tx1"/>
                          </a:solidFill>
                          <a:effectLst/>
                          <a:uFillTx/>
                          <a:sym typeface="+mn-ea"/>
                        </a:rPr>
                        <a:t>0</a:t>
                      </a:r>
                      <a:r>
                        <a:rPr lang="en-US" sz="1800" kern="100" baseline="30000" dirty="0">
                          <a:solidFill>
                            <a:schemeClr val="tx1"/>
                          </a:solidFill>
                          <a:effectLst/>
                          <a:uFillTx/>
                          <a:sym typeface="+mn-ea"/>
                        </a:rPr>
                        <a:t>n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q</a:t>
                      </a:r>
                      <a:r>
                        <a:rPr lang="en-US" sz="1800" kern="100" baseline="-25000" dirty="0">
                          <a:solidFill>
                            <a:schemeClr val="tx1"/>
                          </a:solidFill>
                          <a:effectLst/>
                          <a:uFillTx/>
                        </a:rPr>
                        <a:t>2</a:t>
                      </a:r>
                      <a:r>
                        <a:rPr lang="en-US" sz="1800" kern="100" baseline="30000" dirty="0">
                          <a:solidFill>
                            <a:schemeClr val="tx1"/>
                          </a:solidFill>
                          <a:effectLst/>
                          <a:uFillTx/>
                        </a:rPr>
                        <a:t>n+1</a:t>
                      </a:r>
                      <a:endParaRPr lang="en-US" sz="1800" kern="100" baseline="30000" dirty="0">
                        <a:solidFill>
                          <a:schemeClr val="tx1"/>
                        </a:solidFill>
                        <a:effectLst/>
                        <a:uFillTx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sym typeface="+mn-ea"/>
                        </a:rPr>
                        <a:t>q</a:t>
                      </a:r>
                      <a:r>
                        <a:rPr lang="en-US" sz="1800" kern="100" baseline="-25000" dirty="0">
                          <a:solidFill>
                            <a:schemeClr val="tx1"/>
                          </a:solidFill>
                          <a:effectLst/>
                          <a:uFillTx/>
                          <a:sym typeface="+mn-ea"/>
                        </a:rPr>
                        <a:t>1</a:t>
                      </a:r>
                      <a:r>
                        <a:rPr lang="en-US" sz="1800" kern="100" baseline="30000" dirty="0">
                          <a:solidFill>
                            <a:schemeClr val="tx1"/>
                          </a:solidFill>
                          <a:effectLst/>
                          <a:uFillTx/>
                          <a:sym typeface="+mn-ea"/>
                        </a:rPr>
                        <a:t>n+1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sym typeface="+mn-ea"/>
                        </a:rPr>
                        <a:t>q</a:t>
                      </a:r>
                      <a:r>
                        <a:rPr lang="en-US" sz="1800" kern="100" baseline="-25000" dirty="0">
                          <a:solidFill>
                            <a:schemeClr val="tx1"/>
                          </a:solidFill>
                          <a:effectLst/>
                          <a:uFillTx/>
                          <a:sym typeface="+mn-ea"/>
                        </a:rPr>
                        <a:t>0</a:t>
                      </a:r>
                      <a:r>
                        <a:rPr lang="en-US" sz="1800" kern="100" baseline="30000" dirty="0">
                          <a:solidFill>
                            <a:schemeClr val="tx1"/>
                          </a:solidFill>
                          <a:effectLst/>
                          <a:uFillTx/>
                          <a:sym typeface="+mn-ea"/>
                        </a:rPr>
                        <a:t>n+1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S0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S1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S2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S3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S4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S5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S6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S7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236980" y="5249545"/>
            <a:ext cx="1214438" cy="5207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q</a:t>
            </a:r>
            <a:r>
              <a:rPr lang="en-US" altLang="zh-CN" baseline="30000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n+1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=D</a:t>
            </a:r>
            <a:endParaRPr lang="en-US" altLang="en-US" dirty="0">
              <a:latin typeface="Times New Roman" panose="02020603050405020304" pitchFamily="18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5171123" y="2708593"/>
          <a:ext cx="3527425" cy="274638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</a:tblGrid>
              <a:tr h="0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D</a:t>
                      </a:r>
                      <a:r>
                        <a:rPr lang="en-US" sz="1800" kern="100" baseline="-250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D</a:t>
                      </a:r>
                      <a:r>
                        <a:rPr lang="en-US" sz="1800" kern="100" baseline="-250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D</a:t>
                      </a:r>
                      <a:r>
                        <a:rPr lang="en-US" sz="1800" kern="100" baseline="-250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247" name="矩形 5">
            <a:hlinkClick r:id="rId1" action="ppaction://hlinksldjump"/>
          </p:cNvPr>
          <p:cNvSpPr/>
          <p:nvPr/>
        </p:nvSpPr>
        <p:spPr>
          <a:xfrm>
            <a:off x="34925" y="476250"/>
            <a:ext cx="4032250" cy="792163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object 4"/>
          <p:cNvSpPr txBox="1">
            <a:spLocks noGrp="1"/>
          </p:cNvSpPr>
          <p:nvPr/>
        </p:nvSpPr>
        <p:spPr>
          <a:xfrm>
            <a:off x="107950" y="625475"/>
            <a:ext cx="8982075" cy="4429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400" b="0" i="0">
                <a:solidFill>
                  <a:srgbClr val="0A085E"/>
                </a:solidFill>
                <a:latin typeface="Times New Roman" panose="02020603050405020304"/>
                <a:ea typeface="+mj-ea"/>
                <a:cs typeface="Times New Roman" panose="02020603050405020304"/>
              </a:defRPr>
            </a:lvl1pPr>
          </a:lstStyle>
          <a:p>
            <a:pPr marL="12700" fontAlgn="base">
              <a:lnSpc>
                <a:spcPct val="100000"/>
              </a:lnSpc>
              <a:spcBef>
                <a:spcPts val="100"/>
              </a:spcBef>
            </a:pPr>
            <a:r>
              <a:rPr sz="2800" b="1" strike="noStrike" spc="275" noProof="1" dirty="0">
                <a:solidFill>
                  <a:srgbClr val="E40E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en-US" sz="2800" b="1" strike="noStrike" spc="275" noProof="1" dirty="0">
                <a:solidFill>
                  <a:srgbClr val="E40E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2800" b="1" strike="noStrike" spc="200" noProof="1" dirty="0">
                <a:solidFill>
                  <a:srgbClr val="E40E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sz="2800" b="1" strike="noStrike" spc="200" noProof="1" dirty="0">
                <a:solidFill>
                  <a:srgbClr val="E40E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确定激励方程</a:t>
            </a:r>
            <a:endParaRPr lang="zh-CN" sz="2800" b="1" strike="noStrike" kern="0" spc="200" noProof="1" dirty="0">
              <a:solidFill>
                <a:srgbClr val="E40E0F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92867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075" y="1565275"/>
            <a:ext cx="8758238" cy="2303463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/>
        </p:nvGrpSpPr>
        <p:grpSpPr>
          <a:xfrm>
            <a:off x="1005205" y="4144645"/>
            <a:ext cx="4275138" cy="2232025"/>
            <a:chOff x="2339845" y="4293060"/>
            <a:chExt cx="4276514" cy="2232155"/>
          </a:xfrm>
        </p:grpSpPr>
        <p:graphicFrame>
          <p:nvGraphicFramePr>
            <p:cNvPr id="10243" name="对象 1"/>
            <p:cNvGraphicFramePr>
              <a:graphicFrameLocks noChangeAspect="1"/>
            </p:cNvGraphicFramePr>
            <p:nvPr/>
          </p:nvGraphicFramePr>
          <p:xfrm>
            <a:off x="2357778" y="4293060"/>
            <a:ext cx="4258581" cy="6480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2" imgW="2197100" imgH="330200" progId="Equation.3">
                    <p:embed/>
                  </p:oleObj>
                </mc:Choice>
                <mc:Fallback>
                  <p:oleObj name="" r:id="rId2" imgW="2197100" imgH="330200" progId="Equation.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357778" y="4293060"/>
                          <a:ext cx="4258581" cy="6480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4" name="对象 2"/>
            <p:cNvGraphicFramePr>
              <a:graphicFrameLocks noChangeAspect="1"/>
            </p:cNvGraphicFramePr>
            <p:nvPr/>
          </p:nvGraphicFramePr>
          <p:xfrm>
            <a:off x="2339845" y="5013110"/>
            <a:ext cx="3600250" cy="72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" r:id="rId4" imgW="1333500" imgH="330200" progId="Equation.3">
                    <p:embed/>
                  </p:oleObj>
                </mc:Choice>
                <mc:Fallback>
                  <p:oleObj name="" r:id="rId4" imgW="1333500" imgH="330200" progId="Equation.3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339845" y="5013110"/>
                          <a:ext cx="3600250" cy="7200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5" name="对象 3"/>
            <p:cNvGraphicFramePr>
              <a:graphicFrameLocks noChangeAspect="1"/>
            </p:cNvGraphicFramePr>
            <p:nvPr/>
          </p:nvGraphicFramePr>
          <p:xfrm>
            <a:off x="2339845" y="5877170"/>
            <a:ext cx="1512105" cy="6480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" name="" r:id="rId6" imgW="584200" imgH="330200" progId="Equation.3">
                    <p:embed/>
                  </p:oleObj>
                </mc:Choice>
                <mc:Fallback>
                  <p:oleObj name="" r:id="rId6" imgW="584200" imgH="330200" progId="Equation.3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339845" y="5877170"/>
                          <a:ext cx="1512105" cy="6480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文本框 4"/>
          <p:cNvSpPr txBox="1"/>
          <p:nvPr/>
        </p:nvSpPr>
        <p:spPr>
          <a:xfrm>
            <a:off x="6140450" y="4667250"/>
            <a:ext cx="2287905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3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混合</a:t>
            </a:r>
            <a:r>
              <a:rPr lang="zh-CN" altLang="en-US" sz="3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描述</a:t>
            </a:r>
            <a:endParaRPr lang="en-US" altLang="zh-CN" sz="32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28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28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904875" y="1211263"/>
            <a:ext cx="7540625" cy="52562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object 4"/>
          <p:cNvSpPr txBox="1">
            <a:spLocks noGrp="1"/>
          </p:cNvSpPr>
          <p:nvPr/>
        </p:nvSpPr>
        <p:spPr>
          <a:xfrm>
            <a:off x="131763" y="306388"/>
            <a:ext cx="8982075" cy="4429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400" b="0" i="0">
                <a:solidFill>
                  <a:srgbClr val="0A085E"/>
                </a:solidFill>
                <a:latin typeface="Times New Roman" panose="02020603050405020304"/>
                <a:ea typeface="+mj-ea"/>
                <a:cs typeface="Times New Roman" panose="02020603050405020304"/>
              </a:defRPr>
            </a:lvl1pPr>
          </a:lstStyle>
          <a:p>
            <a:pPr marL="12700" fontAlgn="base">
              <a:lnSpc>
                <a:spcPct val="100000"/>
              </a:lnSpc>
              <a:spcBef>
                <a:spcPts val="100"/>
              </a:spcBef>
            </a:pPr>
            <a:r>
              <a:rPr sz="2800" b="1" strike="noStrike" spc="275" noProof="1" dirty="0">
                <a:solidFill>
                  <a:srgbClr val="E40E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en-US" sz="2800" b="1" strike="noStrike" spc="275" noProof="1" dirty="0">
                <a:solidFill>
                  <a:srgbClr val="E40E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sz="2800" b="1" strike="noStrike" spc="200" noProof="1" dirty="0">
                <a:solidFill>
                  <a:srgbClr val="E40E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sz="2800" b="1" strike="noStrike" spc="200" noProof="1" dirty="0">
                <a:solidFill>
                  <a:srgbClr val="E40E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电路逻辑图</a:t>
            </a:r>
            <a:endParaRPr lang="zh-CN" sz="2800" b="1" strike="noStrike" kern="0" spc="200" noProof="1" dirty="0">
              <a:solidFill>
                <a:srgbClr val="E40E0F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267" name="矩形 1">
            <a:hlinkClick r:id="rId2" action="ppaction://hlinksldjump"/>
          </p:cNvPr>
          <p:cNvSpPr/>
          <p:nvPr/>
        </p:nvSpPr>
        <p:spPr>
          <a:xfrm>
            <a:off x="107950" y="115888"/>
            <a:ext cx="3095625" cy="792162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68" name="矩形 2">
            <a:hlinkClick r:id="rId3" action="ppaction://hlinksldjump"/>
          </p:cNvPr>
          <p:cNvSpPr/>
          <p:nvPr/>
        </p:nvSpPr>
        <p:spPr>
          <a:xfrm>
            <a:off x="250825" y="908050"/>
            <a:ext cx="8858250" cy="5761038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473" name="Rectangle 3"/>
          <p:cNvSpPr>
            <a:spLocks noGrp="1"/>
          </p:cNvSpPr>
          <p:nvPr>
            <p:ph idx="1"/>
          </p:nvPr>
        </p:nvSpPr>
        <p:spPr>
          <a:xfrm>
            <a:off x="288290" y="1073150"/>
            <a:ext cx="8568055" cy="4518660"/>
          </a:xfrm>
        </p:spPr>
        <p:txBody>
          <a:bodyPr vert="horz" wrap="square" lIns="91440" tIns="45720" rIns="91440" bIns="45720" anchor="t" anchorCtr="0"/>
          <a:p>
            <a:pPr marL="0" indent="0" eaLnBrk="1" hangingPunct="1">
              <a:buNone/>
            </a:pPr>
            <a:endParaRPr lang="zh-CN" altLang="zh-CN" sz="2400" dirty="0">
              <a:solidFill>
                <a:srgbClr val="0070C0"/>
              </a:solidFill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library IEEE;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use IEEE.STD_LOGIC_1164.ALL;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use IEEE.STD_LOGIC_ARITH.ALL;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use IEEE.STD_LOGIC_UNSIGNED.ALL;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entity count8 is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   Port ( clr : in  STD_LOGIC;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           clk : in  STD_LOGIC;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           q :  </a:t>
            </a:r>
            <a:r>
              <a:rPr lang="en-US" altLang="zh-CN" sz="2400" b="1" dirty="0">
                <a:solidFill>
                  <a:srgbClr val="C00000"/>
                </a:solidFill>
                <a:cs typeface="+mn-lt"/>
              </a:rPr>
              <a:t> inout</a:t>
            </a: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  STD_LOGIC_VECTOR (2 downto 0));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end count8;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 eaLnBrk="1" hangingPunct="1">
              <a:buNone/>
            </a:pPr>
            <a:r>
              <a:rPr lang="en-US" altLang="zh-CN" sz="2000" dirty="0"/>
              <a:t> </a:t>
            </a:r>
            <a:endParaRPr lang="zh-CN" altLang="zh-CN" sz="2000" dirty="0"/>
          </a:p>
        </p:txBody>
      </p:sp>
      <p:sp>
        <p:nvSpPr>
          <p:cNvPr id="2" name="文本框 4"/>
          <p:cNvSpPr txBox="1"/>
          <p:nvPr/>
        </p:nvSpPr>
        <p:spPr>
          <a:xfrm>
            <a:off x="6149340" y="1546860"/>
            <a:ext cx="2287905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3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结构描述</a:t>
            </a:r>
            <a:endParaRPr lang="en-US" altLang="zh-CN" sz="32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文本框 1"/>
          <p:cNvSpPr txBox="1"/>
          <p:nvPr/>
        </p:nvSpPr>
        <p:spPr>
          <a:xfrm>
            <a:off x="131763" y="349250"/>
            <a:ext cx="9340850" cy="67392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</a:rPr>
              <a:t>architecture 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</a:rPr>
              <a:t>structure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</a:rPr>
              <a:t> of </a:t>
            </a:r>
            <a:r>
              <a:rPr lang="en-US" altLang="zh-CN" sz="1800" err="1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count8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</a:rPr>
              <a:t> is</a:t>
            </a:r>
            <a:endParaRPr lang="zh-CN" altLang="en-US" sz="180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18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</a:rPr>
              <a:t>component MY_INV</a:t>
            </a:r>
            <a:endParaRPr lang="en-US" altLang="zh-CN" sz="18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</a:rPr>
              <a:t>port( a:in std_logic;</a:t>
            </a:r>
            <a:endParaRPr lang="en-US" altLang="zh-CN" sz="18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</a:rPr>
              <a:t>          b:out std_logic);</a:t>
            </a:r>
            <a:endParaRPr lang="en-US" altLang="zh-CN" sz="18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</a:rPr>
              <a:t>end component;</a:t>
            </a:r>
            <a:endParaRPr lang="en-US" altLang="zh-CN" sz="180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18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</a:rPr>
              <a:t>component MY_AND2</a:t>
            </a:r>
            <a:endParaRPr lang="en-US" altLang="zh-CN" sz="18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</a:rPr>
              <a:t>port(a,b:in std_logic;</a:t>
            </a:r>
            <a:endParaRPr lang="en-US" altLang="zh-CN" sz="18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</a:rPr>
              <a:t>             c:out std_logic);</a:t>
            </a:r>
            <a:endParaRPr lang="en-US" altLang="zh-CN" sz="18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</a:rPr>
              <a:t>end component;</a:t>
            </a:r>
            <a:endParaRPr lang="en-US" altLang="zh-CN" sz="180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18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</a:rPr>
              <a:t>component MY_AND3</a:t>
            </a:r>
            <a:endParaRPr lang="en-US" altLang="zh-CN" sz="18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</a:rPr>
              <a:t>port(a,b,c:in std_logic;</a:t>
            </a:r>
            <a:endParaRPr lang="en-US" altLang="zh-CN" sz="18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</a:rPr>
              <a:t>             d:out std_logic);</a:t>
            </a:r>
            <a:endParaRPr lang="en-US" altLang="zh-CN" sz="18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</a:rPr>
              <a:t>end component;</a:t>
            </a:r>
            <a:endParaRPr lang="en-US" altLang="zh-CN" sz="180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18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</a:rPr>
              <a:t>component MY_OR2</a:t>
            </a:r>
            <a:endParaRPr lang="en-US" altLang="zh-CN" sz="18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</a:rPr>
              <a:t>port(a,b:in std_logic;</a:t>
            </a:r>
            <a:endParaRPr lang="en-US" altLang="zh-CN" sz="18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</a:rPr>
              <a:t>             c:out std_logic);</a:t>
            </a:r>
            <a:endParaRPr lang="en-US" altLang="zh-CN" sz="18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</a:rPr>
              <a:t>end component;</a:t>
            </a:r>
            <a:endParaRPr lang="en-US" altLang="zh-CN" sz="180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180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180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18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文本框 2"/>
          <p:cNvSpPr txBox="1"/>
          <p:nvPr/>
        </p:nvSpPr>
        <p:spPr>
          <a:xfrm>
            <a:off x="55563" y="369888"/>
            <a:ext cx="9088437" cy="439896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endParaRPr lang="en-US" altLang="zh-CN" sz="20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component MY_OR3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port(a,b,c:in std_logic;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 d:out std_logic);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end component;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000"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component MY_DFF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port( d:in std_logic;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q:out std_logic);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end component;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0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</a:rPr>
              <a:t>signal nq0,nq1,nq2,sig1,sig2,sig3,sig4,sig5,d1,d2:STD_LOGIC;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00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文本框 1"/>
          <p:cNvSpPr txBox="1"/>
          <p:nvPr/>
        </p:nvSpPr>
        <p:spPr>
          <a:xfrm>
            <a:off x="155575" y="396875"/>
            <a:ext cx="8169275" cy="501491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begin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U0:MY_INV port map(a=&gt;q(0),b=&gt;nq0);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U1:MY_INV port map(a=&gt;q(1),b=&gt;nq1);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U2:MY_INV port map(a=&gt;q(2),b=&gt;nq2);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U3:MY_AND2 port map(a=&gt;q(0),b=&gt;nq1,c=&gt;SIG1);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U4:MY_AND2 port map(a=&gt;nq(0),b=&gt;q(1),c=&gt;SIG2);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U5:MY_AND2 port map(a=&gt;nq(1),b=&gt;q(2),c=&gt;SIG3);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U6:MY_AND2 port map(a=&gt;nq(0),b=&gt;q(2),c=&gt;SIG4);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U7:MY_AND3 port map(a=&gt;nq(2),b=&gt;q(1),c=&gt;q(0),d=&gt;SIG5);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U8:MY_OR2 port map(a=&gt;SIG1,b=&gt;SIG2,c=&gt;d1);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U9:MY_OR3 port map(a=&gt;SIG3,b=&gt;SIG4,c=&gt;SIG4,d=&gt;d2);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U10:MY_DFF port map(d=&gt;nq(0),q=&gt;q0);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U11:MY_DFF port map(d=&gt;d1,q=&gt;q1);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U12:MY_DFF port map(d=&gt;d2,q=&gt;q2);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end 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structure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;</a:t>
            </a: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713" name="Text Box 113"/>
          <p:cNvSpPr txBox="1"/>
          <p:nvPr/>
        </p:nvSpPr>
        <p:spPr>
          <a:xfrm>
            <a:off x="0" y="1770698"/>
            <a:ext cx="9039860" cy="953135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p>
            <a:r>
              <a:rPr lang="zh-CN" altLang="en-US" dirty="0">
                <a:solidFill>
                  <a:srgbClr val="993300"/>
                </a:solidFill>
                <a:latin typeface="楷体_GB2312" pitchFamily="49" charset="-122"/>
              </a:rPr>
              <a:t>   由</a:t>
            </a:r>
            <a:r>
              <a:rPr lang="zh-CN" altLang="en-US" dirty="0">
                <a:solidFill>
                  <a:schemeClr val="accent2"/>
                </a:solidFill>
                <a:latin typeface="楷体_GB2312" pitchFamily="49" charset="-122"/>
              </a:rPr>
              <a:t>下降边沿</a:t>
            </a:r>
            <a:r>
              <a:rPr lang="zh-CN" altLang="en-US" dirty="0">
                <a:solidFill>
                  <a:srgbClr val="993300"/>
                </a:solidFill>
                <a:latin typeface="楷体_GB2312" pitchFamily="49" charset="-122"/>
              </a:rPr>
              <a:t>触发的</a:t>
            </a:r>
            <a:r>
              <a:rPr lang="en-US" altLang="zh-CN">
                <a:solidFill>
                  <a:srgbClr val="993300"/>
                </a:solidFill>
                <a:latin typeface="Times New Roman" panose="02020603050405020304" pitchFamily="18" charset="0"/>
              </a:rPr>
              <a:t>JK</a:t>
            </a:r>
            <a:r>
              <a:rPr lang="zh-CN" altLang="en-US" dirty="0">
                <a:solidFill>
                  <a:srgbClr val="993300"/>
                </a:solidFill>
                <a:latin typeface="楷体_GB2312" pitchFamily="49" charset="-122"/>
              </a:rPr>
              <a:t>触发器（已转换为</a:t>
            </a:r>
            <a:r>
              <a:rPr lang="en-US" altLang="zh-CN">
                <a:solidFill>
                  <a:schemeClr val="accent2"/>
                </a:solidFill>
                <a:latin typeface="Times New Roman" panose="02020603050405020304" pitchFamily="18" charset="0"/>
              </a:rPr>
              <a:t>T’</a:t>
            </a:r>
            <a:r>
              <a:rPr lang="zh-CN" altLang="en-US" dirty="0">
                <a:solidFill>
                  <a:schemeClr val="accent2"/>
                </a:solidFill>
                <a:latin typeface="楷体_GB2312" pitchFamily="49" charset="-122"/>
              </a:rPr>
              <a:t>触发器）</a:t>
            </a:r>
            <a:r>
              <a:rPr lang="zh-CN" altLang="en-US" dirty="0">
                <a:solidFill>
                  <a:srgbClr val="993300"/>
                </a:solidFill>
                <a:latin typeface="楷体_GB2312" pitchFamily="49" charset="-122"/>
              </a:rPr>
              <a:t>构</a:t>
            </a:r>
            <a:endParaRPr lang="zh-CN" altLang="en-US" dirty="0">
              <a:solidFill>
                <a:srgbClr val="993300"/>
              </a:solidFill>
              <a:latin typeface="楷体_GB2312" pitchFamily="49" charset="-122"/>
            </a:endParaRPr>
          </a:p>
          <a:p>
            <a:r>
              <a:rPr lang="zh-CN" altLang="en-US" dirty="0">
                <a:solidFill>
                  <a:srgbClr val="993300"/>
                </a:solidFill>
                <a:latin typeface="楷体_GB2312" pitchFamily="49" charset="-122"/>
              </a:rPr>
              <a:t>成的三位二进制</a:t>
            </a:r>
            <a:r>
              <a:rPr lang="zh-CN" altLang="en-US" dirty="0">
                <a:solidFill>
                  <a:schemeClr val="accent2"/>
                </a:solidFill>
                <a:latin typeface="楷体_GB2312" pitchFamily="49" charset="-122"/>
              </a:rPr>
              <a:t>加法</a:t>
            </a:r>
            <a:r>
              <a:rPr lang="zh-CN" altLang="en-US" dirty="0">
                <a:solidFill>
                  <a:srgbClr val="993300"/>
                </a:solidFill>
                <a:latin typeface="楷体_GB2312" pitchFamily="49" charset="-122"/>
              </a:rPr>
              <a:t>计数器</a:t>
            </a:r>
            <a:r>
              <a:rPr lang="en-US" altLang="zh-CN">
                <a:solidFill>
                  <a:srgbClr val="993300"/>
                </a:solidFill>
                <a:latin typeface="楷体_GB2312" pitchFamily="49" charset="-122"/>
              </a:rPr>
              <a:t>:</a:t>
            </a:r>
            <a:endParaRPr lang="en-US" altLang="zh-CN">
              <a:solidFill>
                <a:srgbClr val="993300"/>
              </a:solidFill>
              <a:latin typeface="楷体_GB2312" pitchFamily="49" charset="-122"/>
            </a:endParaRPr>
          </a:p>
        </p:txBody>
      </p:sp>
      <p:sp>
        <p:nvSpPr>
          <p:cNvPr id="82946" name="矩形 578562"/>
          <p:cNvSpPr/>
          <p:nvPr/>
        </p:nvSpPr>
        <p:spPr>
          <a:xfrm>
            <a:off x="457835" y="261620"/>
            <a:ext cx="8229600" cy="110617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二进制计数器设计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buFont typeface="Wingdings" panose="05000000000000000000" pitchFamily="2" charset="2"/>
            </a:pP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                    ———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异步计数器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972185" y="3500120"/>
            <a:ext cx="7922895" cy="2096135"/>
            <a:chOff x="1078" y="5396"/>
            <a:chExt cx="12477" cy="3301"/>
          </a:xfrm>
        </p:grpSpPr>
        <p:graphicFrame>
          <p:nvGraphicFramePr>
            <p:cNvPr id="38002" name="对象 38001"/>
            <p:cNvGraphicFramePr/>
            <p:nvPr/>
          </p:nvGraphicFramePr>
          <p:xfrm>
            <a:off x="1078" y="5396"/>
            <a:ext cx="12360" cy="3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1" imgW="4256405" imgH="1103630" progId="Visio.Drawing.11">
                    <p:embed/>
                  </p:oleObj>
                </mc:Choice>
                <mc:Fallback>
                  <p:oleObj name="" r:id="rId1" imgW="4256405" imgH="1103630" progId="Visio.Drawing.11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078" y="5396"/>
                          <a:ext cx="12360" cy="31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89" y="5511"/>
              <a:ext cx="3066" cy="2944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10417" y="6570"/>
              <a:ext cx="463" cy="770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9262" y="4384"/>
              <a:ext cx="463" cy="2487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9149" y="7335"/>
              <a:ext cx="463" cy="2262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5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1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473" name="Rectangle 3"/>
          <p:cNvSpPr>
            <a:spLocks noGrp="1"/>
          </p:cNvSpPr>
          <p:nvPr>
            <p:ph idx="1"/>
          </p:nvPr>
        </p:nvSpPr>
        <p:spPr>
          <a:xfrm>
            <a:off x="287655" y="1055370"/>
            <a:ext cx="8568055" cy="5093970"/>
          </a:xfrm>
        </p:spPr>
        <p:txBody>
          <a:bodyPr vert="horz" wrap="square" lIns="91440" tIns="45720" rIns="91440" bIns="45720" anchor="t" anchorCtr="0"/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异步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二进制加法</a:t>
            </a:r>
            <a:r>
              <a:rPr lang="zh-CN" altLang="zh-CN" sz="2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计数器</a:t>
            </a: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VHDL</a:t>
            </a:r>
            <a:r>
              <a:rPr lang="zh-CN" altLang="zh-CN" sz="2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</a:t>
            </a:r>
            <a:endParaRPr lang="zh-CN" altLang="zh-CN" sz="2400" dirty="0">
              <a:solidFill>
                <a:srgbClr val="0070C0"/>
              </a:solidFill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library IEEE;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use IEEE.STD_LOGIC_1164.ALL;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use IEEE.STD_LOGIC_ARITH.ALL;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use IEEE.STD_LOGIC_UNSIGNED.ALL;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entity count8 is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   Port ( reset : in  STD_LOGIC;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           clk : in  STD_LOGIC;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           q :   </a:t>
            </a:r>
            <a:r>
              <a:rPr lang="en-US" altLang="zh-CN" sz="2400" b="1" dirty="0">
                <a:solidFill>
                  <a:srgbClr val="C00000"/>
                </a:solidFill>
                <a:cs typeface="+mn-lt"/>
              </a:rPr>
              <a:t>inout</a:t>
            </a: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  STD_LOGIC_VECTOR (2 downto 0));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end count8;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 eaLnBrk="1" hangingPunct="1">
              <a:buNone/>
            </a:pPr>
            <a:r>
              <a:rPr lang="en-US" altLang="zh-CN" sz="2000" dirty="0"/>
              <a:t> </a:t>
            </a:r>
            <a:endParaRPr lang="zh-CN" altLang="zh-CN" sz="2000" dirty="0"/>
          </a:p>
        </p:txBody>
      </p:sp>
      <p:sp>
        <p:nvSpPr>
          <p:cNvPr id="73730" name="文本框 4"/>
          <p:cNvSpPr txBox="1"/>
          <p:nvPr/>
        </p:nvSpPr>
        <p:spPr>
          <a:xfrm>
            <a:off x="6317615" y="3742055"/>
            <a:ext cx="2287905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3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行为描述</a:t>
            </a:r>
            <a:endParaRPr lang="en-US" altLang="zh-CN" sz="32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9617" name="文本框 754689"/>
          <p:cNvSpPr txBox="1"/>
          <p:nvPr/>
        </p:nvSpPr>
        <p:spPr>
          <a:xfrm>
            <a:off x="454025" y="720725"/>
            <a:ext cx="8368030" cy="51149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>
              <a:lnSpc>
                <a:spcPct val="120000"/>
              </a:lnSpc>
            </a:pPr>
            <a:endParaRPr lang="zh-CN" altLang="en-US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ARCHITECTURE Behavioral OF count8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IS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begin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   p_a:process (clk,</a:t>
            </a:r>
            <a:r>
              <a:rPr lang="en-US" altLang="zh-CN" sz="2400" dirty="0">
                <a:cs typeface="+mn-lt"/>
                <a:sym typeface="+mn-ea"/>
              </a:rPr>
              <a:t>reset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)                  --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时钟</a:t>
            </a: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clk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为敏感信号</a:t>
            </a:r>
            <a:endParaRPr lang="zh-CN" altLang="en-US" sz="24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begin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ea typeface="楷体_GB2312" pitchFamily="49" charset="-122"/>
                <a:sym typeface="+mn-ea"/>
              </a:rPr>
              <a:t> if(</a:t>
            </a:r>
            <a:r>
              <a:rPr lang="en-US" altLang="zh-CN" sz="2400">
                <a:solidFill>
                  <a:schemeClr val="tx1"/>
                </a:solidFill>
                <a:ea typeface="楷体_GB2312" pitchFamily="49" charset="-122"/>
                <a:sym typeface="+mn-ea"/>
              </a:rPr>
              <a:t>reset</a:t>
            </a:r>
            <a:r>
              <a:rPr lang="en-US" altLang="zh-CN" sz="2400" dirty="0">
                <a:ea typeface="楷体_GB2312" pitchFamily="49" charset="-122"/>
                <a:sym typeface="+mn-ea"/>
              </a:rPr>
              <a:t>=‘0')THEN                           --</a:t>
            </a:r>
            <a:r>
              <a:rPr lang="zh-CN" altLang="en-US" sz="2400" dirty="0">
                <a:ea typeface="楷体_GB2312" pitchFamily="49" charset="-122"/>
                <a:sym typeface="+mn-ea"/>
              </a:rPr>
              <a:t>复位</a:t>
            </a:r>
            <a:endParaRPr lang="zh-CN" altLang="en-US" sz="24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ea typeface="楷体_GB2312" pitchFamily="49" charset="-122"/>
                <a:sym typeface="+mn-ea"/>
              </a:rPr>
              <a:t>     </a:t>
            </a:r>
            <a:r>
              <a:rPr lang="zh-CN" altLang="en-US" sz="2400">
                <a:ea typeface="楷体_GB2312" pitchFamily="49" charset="-122"/>
                <a:sym typeface="+mn-ea"/>
              </a:rPr>
              <a:t> </a:t>
            </a:r>
            <a:r>
              <a:rPr lang="en-US" altLang="zh-CN" sz="2400">
                <a:ea typeface="楷体_GB2312" pitchFamily="49" charset="-122"/>
                <a:sym typeface="+mn-ea"/>
              </a:rPr>
              <a:t>q(0)&lt;='0'</a:t>
            </a:r>
            <a:r>
              <a:rPr lang="zh-CN" altLang="en-US" sz="2400">
                <a:ea typeface="楷体_GB2312" pitchFamily="49" charset="-122"/>
                <a:sym typeface="+mn-ea"/>
              </a:rPr>
              <a:t>；</a:t>
            </a:r>
            <a:endParaRPr lang="zh-CN" altLang="en-US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      elsif clk’event and clk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=’1’ then        --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时钟</a:t>
            </a: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clk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的上升沿检测</a:t>
            </a:r>
            <a:endParaRPr lang="zh-CN" altLang="en-US" sz="24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         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q(0)&lt;=not q(0);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     end if;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    end process p_a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9617" name="文本框 754689"/>
          <p:cNvSpPr txBox="1"/>
          <p:nvPr/>
        </p:nvSpPr>
        <p:spPr>
          <a:xfrm>
            <a:off x="323850" y="116840"/>
            <a:ext cx="8696960" cy="671893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>
              <a:lnSpc>
                <a:spcPct val="120000"/>
              </a:lnSpc>
            </a:pPr>
            <a:r>
              <a:rPr lang="en-US" altLang="zh-CN" sz="2000" b="1" err="1">
                <a:latin typeface="Times New Roman" panose="02020603050405020304" pitchFamily="18" charset="0"/>
                <a:ea typeface="楷体_GB2312" pitchFamily="49" charset="-122"/>
              </a:rPr>
              <a:t>p_b:process (q(0)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)                              --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时钟</a:t>
            </a:r>
            <a:r>
              <a:rPr lang="en-US" altLang="zh-CN" sz="2000" b="1" err="1">
                <a:latin typeface="Times New Roman" panose="02020603050405020304" pitchFamily="18" charset="0"/>
                <a:ea typeface="楷体_GB2312" pitchFamily="49" charset="-122"/>
              </a:rPr>
              <a:t>q0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为敏感信号</a:t>
            </a:r>
            <a:endParaRPr lang="zh-CN" altLang="en-US" sz="20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</a:rPr>
              <a:t>begin</a:t>
            </a:r>
            <a:endParaRPr lang="en-US" altLang="zh-CN" sz="20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ea typeface="楷体_GB2312" pitchFamily="49" charset="-122"/>
                <a:sym typeface="+mn-ea"/>
              </a:rPr>
              <a:t>if(reset</a:t>
            </a:r>
            <a:r>
              <a:rPr lang="en-US" altLang="zh-CN" sz="2000" dirty="0">
                <a:ea typeface="楷体_GB2312" pitchFamily="49" charset="-122"/>
                <a:sym typeface="+mn-ea"/>
              </a:rPr>
              <a:t>=‘0')THEN                           --</a:t>
            </a:r>
            <a:r>
              <a:rPr lang="zh-CN" altLang="en-US" sz="2000" dirty="0">
                <a:ea typeface="楷体_GB2312" pitchFamily="49" charset="-122"/>
                <a:sym typeface="+mn-ea"/>
              </a:rPr>
              <a:t>复位</a:t>
            </a:r>
            <a:endParaRPr lang="zh-CN" altLang="en-US" sz="20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ea typeface="楷体_GB2312" pitchFamily="49" charset="-122"/>
                <a:sym typeface="+mn-ea"/>
              </a:rPr>
              <a:t>     </a:t>
            </a:r>
            <a:r>
              <a:rPr lang="zh-CN" altLang="en-US" sz="2000">
                <a:ea typeface="楷体_GB2312" pitchFamily="49" charset="-122"/>
                <a:sym typeface="+mn-ea"/>
              </a:rPr>
              <a:t> </a:t>
            </a:r>
            <a:r>
              <a:rPr lang="zh-CN" altLang="en-US" sz="2000" dirty="0">
                <a:ea typeface="楷体_GB2312" pitchFamily="49" charset="-122"/>
                <a:sym typeface="+mn-ea"/>
              </a:rPr>
              <a:t> </a:t>
            </a:r>
            <a:r>
              <a:rPr lang="en-US" altLang="zh-CN" sz="2000">
                <a:ea typeface="楷体_GB2312" pitchFamily="49" charset="-122"/>
                <a:sym typeface="+mn-ea"/>
              </a:rPr>
              <a:t>q(1)</a:t>
            </a:r>
            <a:r>
              <a:rPr lang="en-US" altLang="zh-CN" sz="2000">
                <a:ea typeface="楷体_GB2312" pitchFamily="49" charset="-122"/>
                <a:sym typeface="+mn-ea"/>
              </a:rPr>
              <a:t>&lt;='0'</a:t>
            </a:r>
            <a:r>
              <a:rPr lang="zh-CN" altLang="en-US" sz="2000">
                <a:ea typeface="楷体_GB2312" pitchFamily="49" charset="-122"/>
                <a:sym typeface="+mn-ea"/>
              </a:rPr>
              <a:t>；</a:t>
            </a:r>
            <a:endParaRPr lang="zh-CN" altLang="en-US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en-US" altLang="zh-CN" sz="2000" err="1">
                <a:ea typeface="楷体_GB2312" pitchFamily="49" charset="-122"/>
                <a:sym typeface="+mn-ea"/>
              </a:rPr>
              <a:t>      els</a:t>
            </a:r>
            <a:r>
              <a:rPr lang="en-US" altLang="zh-CN" sz="2000" b="1" err="1">
                <a:latin typeface="Times New Roman" panose="02020603050405020304" pitchFamily="18" charset="0"/>
                <a:ea typeface="楷体_GB2312" pitchFamily="49" charset="-122"/>
              </a:rPr>
              <a:t>if q(0)’event and q(0)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=’0’ then        --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时钟</a:t>
            </a:r>
            <a:r>
              <a:rPr lang="en-US" altLang="zh-CN" sz="2000" b="1" err="1">
                <a:latin typeface="Times New Roman" panose="02020603050405020304" pitchFamily="18" charset="0"/>
                <a:ea typeface="楷体_GB2312" pitchFamily="49" charset="-122"/>
              </a:rPr>
              <a:t>q0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的下降沿检测</a:t>
            </a:r>
            <a:endParaRPr lang="zh-CN" altLang="en-US" sz="20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         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</a:rPr>
              <a:t>q(1)&lt;=not q(1);</a:t>
            </a:r>
            <a:endParaRPr lang="en-US" altLang="zh-CN" sz="20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</a:rPr>
              <a:t>      end if;</a:t>
            </a:r>
            <a:endParaRPr lang="en-US" altLang="zh-CN" sz="20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en-US" altLang="zh-CN" sz="2000" b="1" err="1">
                <a:latin typeface="Times New Roman" panose="02020603050405020304" pitchFamily="18" charset="0"/>
                <a:ea typeface="楷体_GB2312" pitchFamily="49" charset="-122"/>
              </a:rPr>
              <a:t>    end process p_b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endParaRPr lang="en-US" altLang="zh-CN" sz="20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endParaRPr lang="en-US" altLang="zh-CN" sz="20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en-US" altLang="zh-CN" sz="2000" err="1">
                <a:ea typeface="楷体_GB2312" pitchFamily="49" charset="-122"/>
                <a:sym typeface="+mn-ea"/>
              </a:rPr>
              <a:t>p_c:process (q(1)</a:t>
            </a:r>
            <a:r>
              <a:rPr lang="en-US" altLang="zh-CN" sz="2000" dirty="0">
                <a:ea typeface="楷体_GB2312" pitchFamily="49" charset="-122"/>
                <a:sym typeface="+mn-ea"/>
              </a:rPr>
              <a:t>)                              --</a:t>
            </a:r>
            <a:r>
              <a:rPr lang="zh-CN" altLang="en-US" sz="2000" dirty="0">
                <a:ea typeface="楷体_GB2312" pitchFamily="49" charset="-122"/>
                <a:sym typeface="+mn-ea"/>
              </a:rPr>
              <a:t>时钟</a:t>
            </a:r>
            <a:r>
              <a:rPr lang="en-US" altLang="zh-CN" sz="2000" err="1">
                <a:ea typeface="楷体_GB2312" pitchFamily="49" charset="-122"/>
                <a:sym typeface="+mn-ea"/>
              </a:rPr>
              <a:t>q1</a:t>
            </a:r>
            <a:r>
              <a:rPr lang="zh-CN" altLang="en-US" sz="2000" dirty="0">
                <a:ea typeface="楷体_GB2312" pitchFamily="49" charset="-122"/>
                <a:sym typeface="+mn-ea"/>
              </a:rPr>
              <a:t>为敏感信号</a:t>
            </a:r>
            <a:endParaRPr lang="zh-CN" altLang="en-US" sz="20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zh-CN" altLang="en-US" sz="2000" dirty="0">
                <a:ea typeface="楷体_GB2312" pitchFamily="49" charset="-122"/>
                <a:sym typeface="+mn-ea"/>
              </a:rPr>
              <a:t>    </a:t>
            </a:r>
            <a:r>
              <a:rPr lang="en-US" altLang="zh-CN" sz="2000">
                <a:ea typeface="楷体_GB2312" pitchFamily="49" charset="-122"/>
                <a:sym typeface="+mn-ea"/>
              </a:rPr>
              <a:t>begin</a:t>
            </a:r>
            <a:endParaRPr lang="en-US" altLang="zh-CN" sz="20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err="1">
                <a:ea typeface="楷体_GB2312" pitchFamily="49" charset="-122"/>
                <a:sym typeface="+mn-ea"/>
              </a:rPr>
              <a:t>     </a:t>
            </a:r>
            <a:r>
              <a:rPr lang="en-US" altLang="zh-CN" sz="2000">
                <a:ea typeface="楷体_GB2312" pitchFamily="49" charset="-122"/>
                <a:sym typeface="+mn-ea"/>
              </a:rPr>
              <a:t>if(reset</a:t>
            </a:r>
            <a:r>
              <a:rPr lang="en-US" altLang="zh-CN" sz="2000" dirty="0">
                <a:ea typeface="楷体_GB2312" pitchFamily="49" charset="-122"/>
                <a:sym typeface="+mn-ea"/>
              </a:rPr>
              <a:t>=‘0')THEN                           --</a:t>
            </a:r>
            <a:r>
              <a:rPr lang="zh-CN" altLang="en-US" sz="2000" dirty="0">
                <a:ea typeface="楷体_GB2312" pitchFamily="49" charset="-122"/>
                <a:sym typeface="+mn-ea"/>
              </a:rPr>
              <a:t>复位</a:t>
            </a:r>
            <a:endParaRPr lang="zh-CN" altLang="en-US" sz="20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ea typeface="楷体_GB2312" pitchFamily="49" charset="-122"/>
                <a:sym typeface="+mn-ea"/>
              </a:rPr>
              <a:t>     </a:t>
            </a:r>
            <a:r>
              <a:rPr lang="zh-CN" altLang="en-US" sz="2000">
                <a:ea typeface="楷体_GB2312" pitchFamily="49" charset="-122"/>
                <a:sym typeface="+mn-ea"/>
              </a:rPr>
              <a:t> </a:t>
            </a:r>
            <a:r>
              <a:rPr lang="en-US" altLang="zh-CN" sz="2000">
                <a:ea typeface="楷体_GB2312" pitchFamily="49" charset="-122"/>
                <a:sym typeface="+mn-ea"/>
              </a:rPr>
              <a:t>q(2)&lt;='0'</a:t>
            </a:r>
            <a:r>
              <a:rPr lang="zh-CN" altLang="en-US" sz="2000">
                <a:ea typeface="楷体_GB2312" pitchFamily="49" charset="-122"/>
                <a:sym typeface="+mn-ea"/>
              </a:rPr>
              <a:t>；</a:t>
            </a:r>
            <a:endParaRPr lang="zh-CN" altLang="en-US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en-US" altLang="zh-CN" sz="2000" err="1">
                <a:ea typeface="楷体_GB2312" pitchFamily="49" charset="-122"/>
                <a:sym typeface="+mn-ea"/>
              </a:rPr>
              <a:t>      els</a:t>
            </a:r>
            <a:r>
              <a:rPr lang="en-US" altLang="zh-CN" sz="2000">
                <a:ea typeface="楷体_GB2312" pitchFamily="49" charset="-122"/>
                <a:sym typeface="+mn-ea"/>
              </a:rPr>
              <a:t>if q(1)’event and q(1)=’0’ then</a:t>
            </a:r>
            <a:r>
              <a:rPr lang="en-US" altLang="zh-CN" sz="2000" dirty="0">
                <a:ea typeface="楷体_GB2312" pitchFamily="49" charset="-122"/>
                <a:sym typeface="+mn-ea"/>
              </a:rPr>
              <a:t>        --</a:t>
            </a:r>
            <a:r>
              <a:rPr lang="zh-CN" altLang="en-US" sz="2000" dirty="0">
                <a:ea typeface="楷体_GB2312" pitchFamily="49" charset="-122"/>
                <a:sym typeface="+mn-ea"/>
              </a:rPr>
              <a:t>时钟</a:t>
            </a:r>
            <a:r>
              <a:rPr lang="en-US" altLang="zh-CN" sz="2000" err="1">
                <a:ea typeface="楷体_GB2312" pitchFamily="49" charset="-122"/>
                <a:sym typeface="+mn-ea"/>
              </a:rPr>
              <a:t>q1</a:t>
            </a:r>
            <a:r>
              <a:rPr lang="zh-CN" altLang="en-US" sz="2000" dirty="0">
                <a:ea typeface="楷体_GB2312" pitchFamily="49" charset="-122"/>
                <a:sym typeface="+mn-ea"/>
              </a:rPr>
              <a:t>的下降沿检测</a:t>
            </a:r>
            <a:endParaRPr lang="zh-CN" altLang="en-US" sz="20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zh-CN" altLang="en-US" sz="2000" dirty="0">
                <a:ea typeface="楷体_GB2312" pitchFamily="49" charset="-122"/>
                <a:sym typeface="+mn-ea"/>
              </a:rPr>
              <a:t>         </a:t>
            </a:r>
            <a:r>
              <a:rPr lang="en-US" altLang="zh-CN" sz="2000">
                <a:ea typeface="楷体_GB2312" pitchFamily="49" charset="-122"/>
                <a:sym typeface="+mn-ea"/>
              </a:rPr>
              <a:t>q(2)&lt;=not q(2);</a:t>
            </a:r>
            <a:endParaRPr lang="en-US" altLang="zh-CN" sz="20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en-US" altLang="zh-CN" sz="2000">
                <a:ea typeface="楷体_GB2312" pitchFamily="49" charset="-122"/>
                <a:sym typeface="+mn-ea"/>
              </a:rPr>
              <a:t>      end if;</a:t>
            </a:r>
            <a:endParaRPr lang="en-US" altLang="zh-CN" sz="20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en-US" altLang="zh-CN" sz="2000" err="1">
                <a:ea typeface="楷体_GB2312" pitchFamily="49" charset="-122"/>
                <a:sym typeface="+mn-ea"/>
              </a:rPr>
              <a:t>    end process p_c</a:t>
            </a:r>
            <a:r>
              <a:rPr lang="en-US" altLang="zh-CN" sz="2000">
                <a:ea typeface="楷体_GB2312" pitchFamily="49" charset="-122"/>
                <a:sym typeface="+mn-ea"/>
              </a:rPr>
              <a:t>;</a:t>
            </a:r>
            <a:endParaRPr lang="en-US" altLang="zh-CN" sz="2000">
              <a:ea typeface="楷体_GB2312" pitchFamily="49" charset="-122"/>
              <a:sym typeface="+mn-ea"/>
            </a:endParaRPr>
          </a:p>
          <a:p>
            <a:pPr marL="469900" indent="-469900">
              <a:lnSpc>
                <a:spcPct val="120000"/>
              </a:lnSpc>
            </a:pPr>
            <a:r>
              <a:rPr lang="en-US" altLang="zh-CN" sz="2000">
                <a:ea typeface="楷体_GB2312" pitchFamily="49" charset="-122"/>
                <a:sym typeface="+mn-ea"/>
              </a:rPr>
              <a:t>end Behavioral;</a:t>
            </a:r>
            <a:endParaRPr lang="en-US" altLang="zh-CN" sz="20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endParaRPr lang="en-US" altLang="zh-CN" sz="20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473" name="Rectangle 3"/>
          <p:cNvSpPr>
            <a:spLocks noGrp="1"/>
          </p:cNvSpPr>
          <p:nvPr>
            <p:ph idx="1"/>
          </p:nvPr>
        </p:nvSpPr>
        <p:spPr>
          <a:xfrm>
            <a:off x="288290" y="1073150"/>
            <a:ext cx="8568055" cy="4518660"/>
          </a:xfrm>
        </p:spPr>
        <p:txBody>
          <a:bodyPr vert="horz" wrap="square" lIns="91440" tIns="45720" rIns="91440" bIns="45720" anchor="t" anchorCtr="0"/>
          <a:p>
            <a:pPr marL="0" indent="0" eaLnBrk="1" hangingPunct="1">
              <a:buNone/>
            </a:pPr>
            <a:endParaRPr lang="zh-CN" altLang="zh-CN" sz="2400" dirty="0">
              <a:solidFill>
                <a:srgbClr val="0070C0"/>
              </a:solidFill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library IEEE;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use IEEE.STD_LOGIC_1164.ALL;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use IEEE.STD_LOGIC_ARITH.ALL;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use IEEE.STD_LOGIC_UNSIGNED.ALL;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entity count8 is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   Port ( </a:t>
            </a:r>
            <a:r>
              <a:rPr lang="en-US" altLang="zh-CN" sz="2400" b="1">
                <a:ea typeface="楷体_GB2312" pitchFamily="49" charset="-122"/>
                <a:sym typeface="+mn-ea"/>
              </a:rPr>
              <a:t>reset</a:t>
            </a: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 : in  STD_LOGIC;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           clk : in  STD_LOGIC;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           q :  </a:t>
            </a:r>
            <a:r>
              <a:rPr lang="en-US" altLang="zh-CN" sz="2400" b="1" dirty="0">
                <a:solidFill>
                  <a:srgbClr val="C00000"/>
                </a:solidFill>
                <a:cs typeface="+mn-lt"/>
              </a:rPr>
              <a:t> inout</a:t>
            </a: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  STD_LOGIC_VECTOR (2 downto 0));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end count8;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 eaLnBrk="1" hangingPunct="1">
              <a:buNone/>
            </a:pPr>
            <a:r>
              <a:rPr lang="en-US" altLang="zh-CN" sz="2000" dirty="0"/>
              <a:t> </a:t>
            </a:r>
            <a:endParaRPr lang="zh-CN" altLang="zh-CN" sz="2000" dirty="0"/>
          </a:p>
        </p:txBody>
      </p:sp>
      <p:sp>
        <p:nvSpPr>
          <p:cNvPr id="2" name="文本框 4"/>
          <p:cNvSpPr txBox="1"/>
          <p:nvPr/>
        </p:nvSpPr>
        <p:spPr>
          <a:xfrm>
            <a:off x="6149340" y="1546860"/>
            <a:ext cx="2287905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3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结构描述</a:t>
            </a:r>
            <a:endParaRPr lang="en-US" altLang="zh-CN" sz="32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3809" name="文本框 881667"/>
          <p:cNvSpPr txBox="1"/>
          <p:nvPr/>
        </p:nvSpPr>
        <p:spPr>
          <a:xfrm>
            <a:off x="398145" y="244475"/>
            <a:ext cx="8112760" cy="60007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/>
            <a:r>
              <a:rPr lang="en-US" altLang="zh-CN" sz="2400">
                <a:latin typeface="+mn-lt"/>
                <a:ea typeface="宋体" panose="02010600030101010101" pitchFamily="2" charset="-122"/>
                <a:cs typeface="+mn-lt"/>
              </a:rPr>
              <a:t> </a:t>
            </a:r>
            <a:endParaRPr lang="en-US" altLang="zh-CN" sz="2400">
              <a:latin typeface="+mn-lt"/>
              <a:ea typeface="宋体" panose="02010600030101010101" pitchFamily="2" charset="-122"/>
              <a:cs typeface="+mn-lt"/>
            </a:endParaRPr>
          </a:p>
          <a:p>
            <a:pPr algn="l"/>
            <a:r>
              <a:rPr lang="en-US" altLang="zh-CN" sz="2400" dirty="0">
                <a:cs typeface="+mn-lt"/>
                <a:sym typeface="+mn-ea"/>
              </a:rPr>
              <a:t>architecture structure of count8 is</a:t>
            </a:r>
            <a:endParaRPr lang="en-US" altLang="zh-CN" sz="2400" dirty="0">
              <a:cs typeface="+mn-lt"/>
              <a:sym typeface="+mn-ea"/>
            </a:endParaRPr>
          </a:p>
          <a:p>
            <a:pPr algn="l"/>
            <a:endParaRPr lang="en-US" altLang="zh-CN" sz="2400">
              <a:latin typeface="+mn-lt"/>
              <a:ea typeface="宋体" panose="02010600030101010101" pitchFamily="2" charset="-122"/>
              <a:cs typeface="+mn-lt"/>
            </a:endParaRPr>
          </a:p>
          <a:p>
            <a:pPr algn="l"/>
            <a:r>
              <a:rPr lang="en-US" altLang="zh-CN" sz="2400" err="1">
                <a:latin typeface="+mn-lt"/>
                <a:ea typeface="宋体" panose="02010600030101010101" pitchFamily="2" charset="-122"/>
                <a:cs typeface="+mn-lt"/>
              </a:rPr>
              <a:t> component tff </a:t>
            </a:r>
            <a:endParaRPr lang="en-US" altLang="zh-CN" sz="2400">
              <a:latin typeface="+mn-lt"/>
              <a:ea typeface="宋体" panose="02010600030101010101" pitchFamily="2" charset="-122"/>
              <a:cs typeface="+mn-lt"/>
            </a:endParaRPr>
          </a:p>
          <a:p>
            <a:pPr algn="l"/>
            <a:r>
              <a:rPr lang="en-US" altLang="zh-CN" sz="2400" err="1">
                <a:latin typeface="+mn-lt"/>
                <a:ea typeface="宋体" panose="02010600030101010101" pitchFamily="2" charset="-122"/>
                <a:cs typeface="+mn-lt"/>
              </a:rPr>
              <a:t>	   port (clr</a:t>
            </a:r>
            <a:r>
              <a:rPr lang="en-US" altLang="zh-CN" sz="2400">
                <a:latin typeface="+mn-lt"/>
                <a:ea typeface="宋体" panose="02010600030101010101" pitchFamily="2" charset="-122"/>
                <a:cs typeface="+mn-lt"/>
              </a:rPr>
              <a:t>, clock : in  std_logic;</a:t>
            </a:r>
            <a:endParaRPr lang="en-US" altLang="zh-CN" sz="2400">
              <a:latin typeface="+mn-lt"/>
              <a:ea typeface="宋体" panose="02010600030101010101" pitchFamily="2" charset="-122"/>
              <a:cs typeface="+mn-lt"/>
            </a:endParaRPr>
          </a:p>
          <a:p>
            <a:pPr algn="l"/>
            <a:r>
              <a:rPr lang="en-US" altLang="zh-CN" sz="2400" dirty="0">
                <a:latin typeface="+mn-lt"/>
                <a:ea typeface="宋体" panose="02010600030101010101" pitchFamily="2" charset="-122"/>
                <a:cs typeface="+mn-lt"/>
              </a:rPr>
              <a:t>	</a:t>
            </a:r>
            <a:r>
              <a:rPr lang="zh-CN" altLang="en-US" sz="2400" dirty="0">
                <a:latin typeface="+mn-lt"/>
                <a:ea typeface="宋体" panose="02010600030101010101" pitchFamily="2" charset="-122"/>
                <a:cs typeface="+mn-lt"/>
              </a:rPr>
              <a:t>　</a:t>
            </a:r>
            <a:r>
              <a:rPr lang="zh-CN" altLang="en-US" sz="2400">
                <a:latin typeface="+mn-lt"/>
                <a:ea typeface="宋体" panose="02010600030101010101" pitchFamily="2" charset="-122"/>
                <a:cs typeface="+mn-lt"/>
              </a:rPr>
              <a:t>                </a:t>
            </a:r>
            <a:r>
              <a:rPr lang="en-US" altLang="zh-CN" sz="2400">
                <a:latin typeface="+mn-lt"/>
                <a:ea typeface="宋体" panose="02010600030101010101" pitchFamily="2" charset="-122"/>
                <a:cs typeface="+mn-lt"/>
              </a:rPr>
              <a:t>y : out std_logic);</a:t>
            </a:r>
            <a:endParaRPr lang="en-US" altLang="zh-CN" sz="2400">
              <a:latin typeface="+mn-lt"/>
              <a:ea typeface="宋体" panose="02010600030101010101" pitchFamily="2" charset="-122"/>
              <a:cs typeface="+mn-lt"/>
            </a:endParaRPr>
          </a:p>
          <a:p>
            <a:pPr algn="l"/>
            <a:r>
              <a:rPr lang="en-US" altLang="zh-CN" sz="2400">
                <a:latin typeface="+mn-lt"/>
                <a:ea typeface="宋体" panose="02010600030101010101" pitchFamily="2" charset="-122"/>
                <a:cs typeface="+mn-lt"/>
              </a:rPr>
              <a:t> end component;</a:t>
            </a:r>
            <a:endParaRPr lang="en-US" altLang="zh-CN" sz="2400">
              <a:latin typeface="+mn-lt"/>
              <a:ea typeface="宋体" panose="02010600030101010101" pitchFamily="2" charset="-122"/>
              <a:cs typeface="+mn-lt"/>
            </a:endParaRPr>
          </a:p>
          <a:p>
            <a:pPr algn="l"/>
            <a:endParaRPr lang="en-US" altLang="zh-CN" sz="2400">
              <a:latin typeface="+mn-lt"/>
              <a:ea typeface="宋体" panose="02010600030101010101" pitchFamily="2" charset="-122"/>
              <a:cs typeface="+mn-lt"/>
            </a:endParaRPr>
          </a:p>
          <a:p>
            <a:pPr marL="469900" indent="-469900" algn="just"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400">
                <a:ea typeface="楷体_GB2312" pitchFamily="49" charset="-122"/>
                <a:sym typeface="+mn-ea"/>
              </a:rPr>
              <a:t>begin 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 algn="just"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400" err="1">
                <a:ea typeface="楷体_GB2312" pitchFamily="49" charset="-122"/>
                <a:sym typeface="+mn-ea"/>
              </a:rPr>
              <a:t>U0: tff  port map(</a:t>
            </a:r>
            <a:r>
              <a:rPr lang="en-US" altLang="zh-CN" sz="2400">
                <a:ea typeface="楷体_GB2312" pitchFamily="49" charset="-122"/>
                <a:sym typeface="+mn-ea"/>
              </a:rPr>
              <a:t>reset</a:t>
            </a:r>
            <a:r>
              <a:rPr lang="en-US" altLang="zh-CN" sz="2400" err="1">
                <a:ea typeface="楷体_GB2312" pitchFamily="49" charset="-122"/>
                <a:sym typeface="+mn-ea"/>
              </a:rPr>
              <a:t>,clk,q</a:t>
            </a:r>
            <a:r>
              <a:rPr lang="en-US" altLang="zh-CN" sz="2400">
                <a:ea typeface="楷体_GB2312" pitchFamily="49" charset="-122"/>
                <a:sym typeface="+mn-ea"/>
              </a:rPr>
              <a:t>(0));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 algn="just"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400" err="1">
                <a:ea typeface="楷体_GB2312" pitchFamily="49" charset="-122"/>
                <a:sym typeface="+mn-ea"/>
              </a:rPr>
              <a:t>U1: tff  port map(</a:t>
            </a:r>
            <a:r>
              <a:rPr lang="en-US" altLang="zh-CN" sz="2400" err="1">
                <a:ea typeface="楷体_GB2312" pitchFamily="49" charset="-122"/>
                <a:sym typeface="+mn-ea"/>
              </a:rPr>
              <a:t>clr</a:t>
            </a:r>
            <a:r>
              <a:rPr lang="en-US" altLang="zh-CN" sz="2400">
                <a:ea typeface="楷体_GB2312" pitchFamily="49" charset="-122"/>
                <a:sym typeface="+mn-ea"/>
              </a:rPr>
              <a:t>=&gt;reset</a:t>
            </a:r>
            <a:r>
              <a:rPr lang="en-US" altLang="zh-CN" sz="2400">
                <a:ea typeface="楷体_GB2312" pitchFamily="49" charset="-122"/>
                <a:sym typeface="+mn-ea"/>
              </a:rPr>
              <a:t>,</a:t>
            </a:r>
            <a:r>
              <a:rPr lang="en-US" altLang="zh-CN" sz="2400">
                <a:latin typeface="+mn-lt"/>
                <a:cs typeface="+mn-lt"/>
                <a:sym typeface="+mn-ea"/>
              </a:rPr>
              <a:t>clock</a:t>
            </a:r>
            <a:r>
              <a:rPr lang="en-US" altLang="zh-CN" sz="2400">
                <a:ea typeface="楷体_GB2312" pitchFamily="49" charset="-122"/>
                <a:sym typeface="+mn-ea"/>
              </a:rPr>
              <a:t>=&gt;</a:t>
            </a:r>
            <a:r>
              <a:rPr lang="en-US" altLang="zh-CN" sz="2400">
                <a:ea typeface="楷体_GB2312" pitchFamily="49" charset="-122"/>
                <a:sym typeface="+mn-ea"/>
              </a:rPr>
              <a:t>q(0),</a:t>
            </a:r>
            <a:r>
              <a:rPr lang="en-US" altLang="zh-CN" sz="2400">
                <a:ea typeface="楷体_GB2312" pitchFamily="49" charset="-122"/>
                <a:sym typeface="+mn-ea"/>
              </a:rPr>
              <a:t>y=&gt;</a:t>
            </a:r>
            <a:r>
              <a:rPr lang="en-US" altLang="zh-CN" sz="2400">
                <a:ea typeface="楷体_GB2312" pitchFamily="49" charset="-122"/>
                <a:sym typeface="+mn-ea"/>
              </a:rPr>
              <a:t>q(1));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 algn="just"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400" err="1">
                <a:ea typeface="楷体_GB2312" pitchFamily="49" charset="-122"/>
                <a:sym typeface="+mn-ea"/>
              </a:rPr>
              <a:t>U2: tff  port map(</a:t>
            </a:r>
            <a:r>
              <a:rPr lang="en-US" altLang="zh-CN" sz="2400">
                <a:ea typeface="楷体_GB2312" pitchFamily="49" charset="-122"/>
                <a:sym typeface="+mn-ea"/>
              </a:rPr>
              <a:t>reset</a:t>
            </a:r>
            <a:r>
              <a:rPr lang="en-US" altLang="zh-CN" sz="2400">
                <a:ea typeface="楷体_GB2312" pitchFamily="49" charset="-122"/>
                <a:sym typeface="+mn-ea"/>
              </a:rPr>
              <a:t>,q(1),y=&gt;q(2));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 algn="just"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400">
                <a:ea typeface="楷体_GB2312" pitchFamily="49" charset="-122"/>
                <a:sym typeface="+mn-ea"/>
              </a:rPr>
              <a:t>end structure;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algn="l"/>
            <a:endParaRPr lang="en-US" altLang="zh-CN" sz="2400">
              <a:latin typeface="+mn-lt"/>
              <a:ea typeface="宋体" panose="02010600030101010101" pitchFamily="2" charset="-122"/>
              <a:cs typeface="+mn-lt"/>
            </a:endParaRPr>
          </a:p>
          <a:p>
            <a:pPr algn="l"/>
            <a:endParaRPr lang="en-US" altLang="zh-CN" sz="2400">
              <a:latin typeface="+mn-lt"/>
              <a:ea typeface="宋体" panose="02010600030101010101" pitchFamily="2" charset="-122"/>
              <a:cs typeface="+mn-lt"/>
            </a:endParaRPr>
          </a:p>
          <a:p>
            <a:pPr algn="l"/>
            <a:endParaRPr lang="en-US" altLang="zh-CN" sz="2400">
              <a:latin typeface="+mn-lt"/>
              <a:ea typeface="宋体" panose="02010600030101010101" pitchFamily="2" charset="-122"/>
              <a:cs typeface="+mn-lt"/>
            </a:endParaRPr>
          </a:p>
        </p:txBody>
      </p:sp>
    </p:spTree>
  </p:cSld>
  <p:clrMapOvr>
    <a:masterClrMapping/>
  </p:clrMapOvr>
  <p:transition>
    <p:checker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7521" name="Rectangle 3"/>
          <p:cNvSpPr>
            <a:spLocks noGrp="1"/>
          </p:cNvSpPr>
          <p:nvPr>
            <p:ph idx="1"/>
          </p:nvPr>
        </p:nvSpPr>
        <p:spPr>
          <a:xfrm>
            <a:off x="457835" y="1699895"/>
            <a:ext cx="8210550" cy="4394200"/>
          </a:xfrm>
        </p:spPr>
        <p:txBody>
          <a:bodyPr vert="horz" wrap="square" lIns="91440" tIns="45720" rIns="91440" bIns="45720" anchor="t" anchorCtr="0"/>
          <a:p>
            <a:pPr marL="0" indent="0" eaLnBrk="1" hangingPunct="1">
              <a:buNone/>
            </a:pP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</a:t>
            </a: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同步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加法</a:t>
            </a:r>
            <a:r>
              <a:rPr lang="zh-CN" altLang="zh-CN" sz="2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计数器</a:t>
            </a: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VHDL</a:t>
            </a:r>
            <a:r>
              <a:rPr lang="zh-CN" altLang="zh-CN" sz="2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</a:t>
            </a:r>
            <a:endParaRPr lang="zh-CN" altLang="zh-CN" sz="2400" b="1" dirty="0">
              <a:solidFill>
                <a:srgbClr val="0070C0"/>
              </a:solidFill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library IEEE;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use IEEE.STD_LOGIC_1164.ALL;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use IEEE.STD_LOGIC_ARITH.ALL;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use IEEE.STD_LOGIC_UNSIGNED.ALL;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entity count5 is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    Port ( clr : in  STD_LOGIC;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              clk : in  STD_LOGIC;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                q : inout  STD_LOGIC_VECTOR (2 downto 0));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end </a:t>
            </a:r>
            <a:r>
              <a:rPr lang="en-US" altLang="zh-CN" sz="2400" b="1" dirty="0">
                <a:cs typeface="+mn-lt"/>
                <a:sym typeface="+mn-ea"/>
              </a:rPr>
              <a:t>count5</a:t>
            </a: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; 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endParaRPr lang="zh-CN" altLang="zh-CN" sz="2400" b="1" dirty="0">
              <a:solidFill>
                <a:schemeClr val="tx1"/>
              </a:solidFill>
              <a:cs typeface="+mn-lt"/>
            </a:endParaRPr>
          </a:p>
        </p:txBody>
      </p:sp>
      <p:sp>
        <p:nvSpPr>
          <p:cNvPr id="2" name="文本框 4"/>
          <p:cNvSpPr txBox="1"/>
          <p:nvPr/>
        </p:nvSpPr>
        <p:spPr>
          <a:xfrm>
            <a:off x="6114415" y="1978660"/>
            <a:ext cx="2345690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3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行为描述</a:t>
            </a:r>
            <a:endParaRPr lang="en-US" altLang="zh-CN" sz="32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578562"/>
          <p:cNvSpPr/>
          <p:nvPr/>
        </p:nvSpPr>
        <p:spPr>
          <a:xfrm>
            <a:off x="457835" y="261620"/>
            <a:ext cx="8229600" cy="110617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非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二进制计数器设计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buFont typeface="Wingdings" panose="05000000000000000000" pitchFamily="2" charset="2"/>
            </a:pP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                    ———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同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步计数器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545" name="Rectangle 3"/>
          <p:cNvSpPr>
            <a:spLocks noGrp="1"/>
          </p:cNvSpPr>
          <p:nvPr>
            <p:ph idx="1"/>
          </p:nvPr>
        </p:nvSpPr>
        <p:spPr>
          <a:xfrm>
            <a:off x="215900" y="73660"/>
            <a:ext cx="8712200" cy="6533515"/>
          </a:xfrm>
        </p:spPr>
        <p:txBody>
          <a:bodyPr vert="horz" wrap="square" lIns="91440" tIns="45720" rIns="91440" bIns="45720" anchor="t" anchorCtr="0"/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  <a:sym typeface="+mn-ea"/>
              </a:rPr>
              <a:t>architecture Behavioral of count5 is</a:t>
            </a:r>
            <a:endParaRPr lang="en-US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begin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process(clk,clr)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begin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   if(clr='1') then 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           q&lt;="000";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     elsif(rising_edge(clk)) then 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         if(q="100") then                       </a:t>
            </a:r>
            <a:r>
              <a:rPr lang="en-US" altLang="zh-CN" sz="2400" b="1" dirty="0">
                <a:cs typeface="+mn-lt"/>
                <a:sym typeface="+mn-ea"/>
              </a:rPr>
              <a:t>  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             q&lt;="000";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         else  </a:t>
            </a:r>
            <a:endParaRPr lang="en-US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             q&lt;=q + 1;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        end if;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   end if;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end process;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end Behavioral;</a:t>
            </a:r>
            <a:endParaRPr lang="en-US" altLang="zh-CN" sz="2400" b="1" dirty="0">
              <a:solidFill>
                <a:schemeClr val="tx1"/>
              </a:solidFill>
              <a:cs typeface="+mn-l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473" name="Rectangle 3"/>
          <p:cNvSpPr>
            <a:spLocks noGrp="1"/>
          </p:cNvSpPr>
          <p:nvPr>
            <p:ph idx="1"/>
          </p:nvPr>
        </p:nvSpPr>
        <p:spPr>
          <a:xfrm>
            <a:off x="288290" y="1484630"/>
            <a:ext cx="8568055" cy="5093970"/>
          </a:xfrm>
        </p:spPr>
        <p:txBody>
          <a:bodyPr vert="horz" wrap="square" lIns="91440" tIns="45720" rIns="91440" bIns="45720" anchor="t" anchorCtr="0"/>
          <a:p>
            <a:pPr marL="0" indent="0" eaLnBrk="1" hangingPunct="1">
              <a:buNone/>
            </a:pPr>
            <a:r>
              <a:rPr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</a:t>
            </a:r>
            <a:r>
              <a:rPr 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异步</a:t>
            </a:r>
            <a:r>
              <a:rPr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加法计数器VHDL描述</a:t>
            </a:r>
            <a:endParaRPr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library IEEE;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use IEEE.STD_LOGIC_1164.ALL;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use IEEE.STD_LOGIC_ARITH.ALL;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use IEEE.STD_LOGIC_UNSIGNED.ALL;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entity count5 is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   Port ( </a:t>
            </a:r>
            <a:r>
              <a:rPr lang="en-US" altLang="zh-CN" sz="2400" b="1" dirty="0">
                <a:cs typeface="+mn-lt"/>
                <a:sym typeface="+mn-ea"/>
              </a:rPr>
              <a:t>reset</a:t>
            </a: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 : in  STD_LOGIC;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           clk : in  STD_LOGIC;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           q :   </a:t>
            </a:r>
            <a:r>
              <a:rPr lang="en-US" altLang="zh-CN" sz="2400" b="1" dirty="0">
                <a:solidFill>
                  <a:srgbClr val="C00000"/>
                </a:solidFill>
                <a:cs typeface="+mn-lt"/>
              </a:rPr>
              <a:t>inout</a:t>
            </a: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  STD_LOGIC_VECTOR (2 downto 0));</a:t>
            </a:r>
            <a:endParaRPr lang="zh-CN" altLang="zh-CN" sz="2400" b="1" dirty="0">
              <a:solidFill>
                <a:schemeClr val="tx1"/>
              </a:solidFill>
              <a:cs typeface="+mn-lt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end count5;</a:t>
            </a:r>
            <a:endParaRPr lang="zh-CN" altLang="zh-CN" sz="2000" dirty="0"/>
          </a:p>
        </p:txBody>
      </p:sp>
      <p:sp>
        <p:nvSpPr>
          <p:cNvPr id="73730" name="文本框 4"/>
          <p:cNvSpPr txBox="1"/>
          <p:nvPr/>
        </p:nvSpPr>
        <p:spPr>
          <a:xfrm>
            <a:off x="6515735" y="3357245"/>
            <a:ext cx="2287905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3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行为描述</a:t>
            </a:r>
            <a:endParaRPr lang="en-US" altLang="zh-CN" sz="32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578562"/>
          <p:cNvSpPr/>
          <p:nvPr>
            <p:custDataLst>
              <p:tags r:id="rId1"/>
            </p:custDataLst>
          </p:nvPr>
        </p:nvSpPr>
        <p:spPr>
          <a:xfrm>
            <a:off x="457835" y="261620"/>
            <a:ext cx="8229600" cy="110617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非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二进制计数器设计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buFont typeface="Wingdings" panose="05000000000000000000" pitchFamily="2" charset="2"/>
            </a:pP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                    ———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异步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计数器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9617" name="文本框 754689"/>
          <p:cNvSpPr txBox="1"/>
          <p:nvPr/>
        </p:nvSpPr>
        <p:spPr>
          <a:xfrm>
            <a:off x="454025" y="720725"/>
            <a:ext cx="8368030" cy="51149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>
              <a:lnSpc>
                <a:spcPct val="120000"/>
              </a:lnSpc>
            </a:pPr>
            <a:endParaRPr lang="zh-CN" altLang="en-US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ARCHITECTURE Behavioral OF count8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IS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begin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   p_a:process (clk,</a:t>
            </a:r>
            <a:r>
              <a:rPr lang="en-US" altLang="zh-CN" sz="2400" dirty="0">
                <a:cs typeface="+mn-lt"/>
                <a:sym typeface="+mn-ea"/>
              </a:rPr>
              <a:t>reset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)                  --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时钟</a:t>
            </a: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clk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为敏感信号</a:t>
            </a:r>
            <a:endParaRPr lang="zh-CN" altLang="en-US" sz="24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begin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ea typeface="楷体_GB2312" pitchFamily="49" charset="-122"/>
                <a:sym typeface="+mn-ea"/>
              </a:rPr>
              <a:t> if(</a:t>
            </a:r>
            <a:r>
              <a:rPr lang="en-US" altLang="zh-CN" sz="2400">
                <a:solidFill>
                  <a:schemeClr val="tx1"/>
                </a:solidFill>
                <a:ea typeface="楷体_GB2312" pitchFamily="49" charset="-122"/>
                <a:sym typeface="+mn-ea"/>
              </a:rPr>
              <a:t>reset</a:t>
            </a:r>
            <a:r>
              <a:rPr lang="en-US" altLang="zh-CN" sz="2400" dirty="0">
                <a:ea typeface="楷体_GB2312" pitchFamily="49" charset="-122"/>
                <a:sym typeface="+mn-ea"/>
              </a:rPr>
              <a:t>=‘0')THEN                           --</a:t>
            </a:r>
            <a:r>
              <a:rPr lang="zh-CN" altLang="en-US" sz="2400" dirty="0">
                <a:ea typeface="楷体_GB2312" pitchFamily="49" charset="-122"/>
                <a:sym typeface="+mn-ea"/>
              </a:rPr>
              <a:t>复位</a:t>
            </a:r>
            <a:endParaRPr lang="zh-CN" altLang="en-US" sz="24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ea typeface="楷体_GB2312" pitchFamily="49" charset="-122"/>
                <a:sym typeface="+mn-ea"/>
              </a:rPr>
              <a:t>     </a:t>
            </a:r>
            <a:r>
              <a:rPr lang="zh-CN" altLang="en-US" sz="2400">
                <a:ea typeface="楷体_GB2312" pitchFamily="49" charset="-122"/>
                <a:sym typeface="+mn-ea"/>
              </a:rPr>
              <a:t> </a:t>
            </a:r>
            <a:r>
              <a:rPr lang="en-US" altLang="zh-CN" sz="2400">
                <a:ea typeface="楷体_GB2312" pitchFamily="49" charset="-122"/>
                <a:sym typeface="+mn-ea"/>
              </a:rPr>
              <a:t>q(0)&lt;='0'</a:t>
            </a:r>
            <a:r>
              <a:rPr lang="zh-CN" altLang="en-US" sz="2400">
                <a:ea typeface="楷体_GB2312" pitchFamily="49" charset="-122"/>
                <a:sym typeface="+mn-ea"/>
              </a:rPr>
              <a:t>；</a:t>
            </a:r>
            <a:endParaRPr lang="zh-CN" altLang="en-US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      elsif clk’event and clk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=’1’ then        --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时钟</a:t>
            </a: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clk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的上升沿检测</a:t>
            </a:r>
            <a:endParaRPr lang="zh-CN" altLang="en-US" sz="24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         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q(0)&lt;=not q(0);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     end if;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    end process p_a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9617" name="文本框 754689"/>
          <p:cNvSpPr txBox="1"/>
          <p:nvPr/>
        </p:nvSpPr>
        <p:spPr>
          <a:xfrm>
            <a:off x="323850" y="116840"/>
            <a:ext cx="8696960" cy="671893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>
              <a:lnSpc>
                <a:spcPct val="120000"/>
              </a:lnSpc>
            </a:pPr>
            <a:r>
              <a:rPr lang="en-US" altLang="zh-CN" sz="2000" b="1" err="1">
                <a:latin typeface="Times New Roman" panose="02020603050405020304" pitchFamily="18" charset="0"/>
                <a:ea typeface="楷体_GB2312" pitchFamily="49" charset="-122"/>
              </a:rPr>
              <a:t>p_b:process (q(0)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)                              --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时钟</a:t>
            </a:r>
            <a:r>
              <a:rPr lang="en-US" altLang="zh-CN" sz="2000" b="1" err="1">
                <a:latin typeface="Times New Roman" panose="02020603050405020304" pitchFamily="18" charset="0"/>
                <a:ea typeface="楷体_GB2312" pitchFamily="49" charset="-122"/>
              </a:rPr>
              <a:t>q0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为敏感信号</a:t>
            </a:r>
            <a:endParaRPr lang="zh-CN" altLang="en-US" sz="20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</a:rPr>
              <a:t>begin</a:t>
            </a:r>
            <a:endParaRPr lang="en-US" altLang="zh-CN" sz="20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ea typeface="楷体_GB2312" pitchFamily="49" charset="-122"/>
                <a:sym typeface="+mn-ea"/>
              </a:rPr>
              <a:t>if(reset</a:t>
            </a:r>
            <a:r>
              <a:rPr lang="en-US" altLang="zh-CN" sz="2000" dirty="0">
                <a:ea typeface="楷体_GB2312" pitchFamily="49" charset="-122"/>
                <a:sym typeface="+mn-ea"/>
              </a:rPr>
              <a:t>=‘0')THEN                           --</a:t>
            </a:r>
            <a:r>
              <a:rPr lang="zh-CN" altLang="en-US" sz="2000" dirty="0">
                <a:ea typeface="楷体_GB2312" pitchFamily="49" charset="-122"/>
                <a:sym typeface="+mn-ea"/>
              </a:rPr>
              <a:t>复位</a:t>
            </a:r>
            <a:endParaRPr lang="zh-CN" altLang="en-US" sz="20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ea typeface="楷体_GB2312" pitchFamily="49" charset="-122"/>
                <a:sym typeface="+mn-ea"/>
              </a:rPr>
              <a:t>     </a:t>
            </a:r>
            <a:r>
              <a:rPr lang="zh-CN" altLang="en-US" sz="2000">
                <a:ea typeface="楷体_GB2312" pitchFamily="49" charset="-122"/>
                <a:sym typeface="+mn-ea"/>
              </a:rPr>
              <a:t> </a:t>
            </a:r>
            <a:r>
              <a:rPr lang="zh-CN" altLang="en-US" sz="2000" dirty="0">
                <a:ea typeface="楷体_GB2312" pitchFamily="49" charset="-122"/>
                <a:sym typeface="+mn-ea"/>
              </a:rPr>
              <a:t> </a:t>
            </a:r>
            <a:r>
              <a:rPr lang="en-US" altLang="zh-CN" sz="2000">
                <a:ea typeface="楷体_GB2312" pitchFamily="49" charset="-122"/>
                <a:sym typeface="+mn-ea"/>
              </a:rPr>
              <a:t>q(1)</a:t>
            </a:r>
            <a:r>
              <a:rPr lang="en-US" altLang="zh-CN" sz="2000">
                <a:ea typeface="楷体_GB2312" pitchFamily="49" charset="-122"/>
                <a:sym typeface="+mn-ea"/>
              </a:rPr>
              <a:t>&lt;='0'</a:t>
            </a:r>
            <a:r>
              <a:rPr lang="zh-CN" altLang="en-US" sz="2000">
                <a:ea typeface="楷体_GB2312" pitchFamily="49" charset="-122"/>
                <a:sym typeface="+mn-ea"/>
              </a:rPr>
              <a:t>；</a:t>
            </a:r>
            <a:endParaRPr lang="zh-CN" altLang="en-US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en-US" altLang="zh-CN" sz="2000" err="1">
                <a:ea typeface="楷体_GB2312" pitchFamily="49" charset="-122"/>
                <a:sym typeface="+mn-ea"/>
              </a:rPr>
              <a:t>      els</a:t>
            </a:r>
            <a:r>
              <a:rPr lang="en-US" altLang="zh-CN" sz="2000" b="1" err="1">
                <a:latin typeface="Times New Roman" panose="02020603050405020304" pitchFamily="18" charset="0"/>
                <a:ea typeface="楷体_GB2312" pitchFamily="49" charset="-122"/>
              </a:rPr>
              <a:t>if q(0)’event and q(0)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=’0’ then        --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时钟</a:t>
            </a:r>
            <a:r>
              <a:rPr lang="en-US" altLang="zh-CN" sz="2000" b="1" err="1">
                <a:latin typeface="Times New Roman" panose="02020603050405020304" pitchFamily="18" charset="0"/>
                <a:ea typeface="楷体_GB2312" pitchFamily="49" charset="-122"/>
              </a:rPr>
              <a:t>q0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的下降沿检测</a:t>
            </a:r>
            <a:endParaRPr lang="zh-CN" altLang="en-US" sz="20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         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</a:rPr>
              <a:t>q(1)&lt;=not q(1);</a:t>
            </a:r>
            <a:endParaRPr lang="en-US" altLang="zh-CN" sz="20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</a:rPr>
              <a:t>      end if;</a:t>
            </a:r>
            <a:endParaRPr lang="en-US" altLang="zh-CN" sz="20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en-US" altLang="zh-CN" sz="2000" b="1" err="1">
                <a:latin typeface="Times New Roman" panose="02020603050405020304" pitchFamily="18" charset="0"/>
                <a:ea typeface="楷体_GB2312" pitchFamily="49" charset="-122"/>
              </a:rPr>
              <a:t>    end process p_b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endParaRPr lang="en-US" altLang="zh-CN" sz="20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endParaRPr lang="en-US" altLang="zh-CN" sz="20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en-US" altLang="zh-CN" sz="2000" err="1">
                <a:ea typeface="楷体_GB2312" pitchFamily="49" charset="-122"/>
                <a:sym typeface="+mn-ea"/>
              </a:rPr>
              <a:t>p_c:process (q(1)</a:t>
            </a:r>
            <a:r>
              <a:rPr lang="en-US" altLang="zh-CN" sz="2000" dirty="0">
                <a:ea typeface="楷体_GB2312" pitchFamily="49" charset="-122"/>
                <a:sym typeface="+mn-ea"/>
              </a:rPr>
              <a:t>)                              --</a:t>
            </a:r>
            <a:r>
              <a:rPr lang="zh-CN" altLang="en-US" sz="2000" dirty="0">
                <a:ea typeface="楷体_GB2312" pitchFamily="49" charset="-122"/>
                <a:sym typeface="+mn-ea"/>
              </a:rPr>
              <a:t>时钟</a:t>
            </a:r>
            <a:r>
              <a:rPr lang="en-US" altLang="zh-CN" sz="2000" err="1">
                <a:ea typeface="楷体_GB2312" pitchFamily="49" charset="-122"/>
                <a:sym typeface="+mn-ea"/>
              </a:rPr>
              <a:t>q1</a:t>
            </a:r>
            <a:r>
              <a:rPr lang="zh-CN" altLang="en-US" sz="2000" dirty="0">
                <a:ea typeface="楷体_GB2312" pitchFamily="49" charset="-122"/>
                <a:sym typeface="+mn-ea"/>
              </a:rPr>
              <a:t>为敏感信号</a:t>
            </a:r>
            <a:endParaRPr lang="zh-CN" altLang="en-US" sz="20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zh-CN" altLang="en-US" sz="2000" dirty="0">
                <a:ea typeface="楷体_GB2312" pitchFamily="49" charset="-122"/>
                <a:sym typeface="+mn-ea"/>
              </a:rPr>
              <a:t>    </a:t>
            </a:r>
            <a:r>
              <a:rPr lang="en-US" altLang="zh-CN" sz="2000">
                <a:ea typeface="楷体_GB2312" pitchFamily="49" charset="-122"/>
                <a:sym typeface="+mn-ea"/>
              </a:rPr>
              <a:t>begin</a:t>
            </a:r>
            <a:endParaRPr lang="en-US" altLang="zh-CN" sz="20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err="1">
                <a:ea typeface="楷体_GB2312" pitchFamily="49" charset="-122"/>
                <a:sym typeface="+mn-ea"/>
              </a:rPr>
              <a:t>     </a:t>
            </a:r>
            <a:r>
              <a:rPr lang="en-US" altLang="zh-CN" sz="2000">
                <a:ea typeface="楷体_GB2312" pitchFamily="49" charset="-122"/>
                <a:sym typeface="+mn-ea"/>
              </a:rPr>
              <a:t>if(reset</a:t>
            </a:r>
            <a:r>
              <a:rPr lang="en-US" altLang="zh-CN" sz="2000" dirty="0">
                <a:ea typeface="楷体_GB2312" pitchFamily="49" charset="-122"/>
                <a:sym typeface="+mn-ea"/>
              </a:rPr>
              <a:t>=‘0')THEN                           --</a:t>
            </a:r>
            <a:r>
              <a:rPr lang="zh-CN" altLang="en-US" sz="2000" dirty="0">
                <a:ea typeface="楷体_GB2312" pitchFamily="49" charset="-122"/>
                <a:sym typeface="+mn-ea"/>
              </a:rPr>
              <a:t>复位</a:t>
            </a:r>
            <a:endParaRPr lang="zh-CN" altLang="en-US" sz="20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ea typeface="楷体_GB2312" pitchFamily="49" charset="-122"/>
                <a:sym typeface="+mn-ea"/>
              </a:rPr>
              <a:t>     </a:t>
            </a:r>
            <a:r>
              <a:rPr lang="zh-CN" altLang="en-US" sz="2000">
                <a:ea typeface="楷体_GB2312" pitchFamily="49" charset="-122"/>
                <a:sym typeface="+mn-ea"/>
              </a:rPr>
              <a:t> </a:t>
            </a:r>
            <a:r>
              <a:rPr lang="en-US" altLang="zh-CN" sz="2000">
                <a:ea typeface="楷体_GB2312" pitchFamily="49" charset="-122"/>
                <a:sym typeface="+mn-ea"/>
              </a:rPr>
              <a:t>q(2)&lt;='0'</a:t>
            </a:r>
            <a:r>
              <a:rPr lang="zh-CN" altLang="en-US" sz="2000">
                <a:ea typeface="楷体_GB2312" pitchFamily="49" charset="-122"/>
                <a:sym typeface="+mn-ea"/>
              </a:rPr>
              <a:t>；</a:t>
            </a:r>
            <a:endParaRPr lang="zh-CN" altLang="en-US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en-US" altLang="zh-CN" sz="2000" err="1">
                <a:ea typeface="楷体_GB2312" pitchFamily="49" charset="-122"/>
                <a:sym typeface="+mn-ea"/>
              </a:rPr>
              <a:t>      els</a:t>
            </a:r>
            <a:r>
              <a:rPr lang="en-US" altLang="zh-CN" sz="2000">
                <a:ea typeface="楷体_GB2312" pitchFamily="49" charset="-122"/>
                <a:sym typeface="+mn-ea"/>
              </a:rPr>
              <a:t>if q(1)’event and q(1)=’0’ then</a:t>
            </a:r>
            <a:r>
              <a:rPr lang="en-US" altLang="zh-CN" sz="2000" dirty="0">
                <a:ea typeface="楷体_GB2312" pitchFamily="49" charset="-122"/>
                <a:sym typeface="+mn-ea"/>
              </a:rPr>
              <a:t>        --</a:t>
            </a:r>
            <a:r>
              <a:rPr lang="zh-CN" altLang="en-US" sz="2000" dirty="0">
                <a:ea typeface="楷体_GB2312" pitchFamily="49" charset="-122"/>
                <a:sym typeface="+mn-ea"/>
              </a:rPr>
              <a:t>时钟</a:t>
            </a:r>
            <a:r>
              <a:rPr lang="en-US" altLang="zh-CN" sz="2000" err="1">
                <a:ea typeface="楷体_GB2312" pitchFamily="49" charset="-122"/>
                <a:sym typeface="+mn-ea"/>
              </a:rPr>
              <a:t>q1</a:t>
            </a:r>
            <a:r>
              <a:rPr lang="zh-CN" altLang="en-US" sz="2000" dirty="0">
                <a:ea typeface="楷体_GB2312" pitchFamily="49" charset="-122"/>
                <a:sym typeface="+mn-ea"/>
              </a:rPr>
              <a:t>的下降沿检测</a:t>
            </a:r>
            <a:endParaRPr lang="zh-CN" altLang="en-US" sz="20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zh-CN" altLang="en-US" sz="2000" dirty="0">
                <a:ea typeface="楷体_GB2312" pitchFamily="49" charset="-122"/>
                <a:sym typeface="+mn-ea"/>
              </a:rPr>
              <a:t>         </a:t>
            </a:r>
            <a:r>
              <a:rPr lang="en-US" altLang="zh-CN" sz="2000">
                <a:ea typeface="楷体_GB2312" pitchFamily="49" charset="-122"/>
                <a:sym typeface="+mn-ea"/>
              </a:rPr>
              <a:t>q(2)&lt;=not q(2);</a:t>
            </a:r>
            <a:endParaRPr lang="en-US" altLang="zh-CN" sz="20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en-US" altLang="zh-CN" sz="2000">
                <a:ea typeface="楷体_GB2312" pitchFamily="49" charset="-122"/>
                <a:sym typeface="+mn-ea"/>
              </a:rPr>
              <a:t>      end if;</a:t>
            </a:r>
            <a:endParaRPr lang="en-US" altLang="zh-CN" sz="20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en-US" altLang="zh-CN" sz="2000" err="1">
                <a:ea typeface="楷体_GB2312" pitchFamily="49" charset="-122"/>
                <a:sym typeface="+mn-ea"/>
              </a:rPr>
              <a:t>    end process p_c</a:t>
            </a:r>
            <a:r>
              <a:rPr lang="en-US" altLang="zh-CN" sz="2000">
                <a:ea typeface="楷体_GB2312" pitchFamily="49" charset="-122"/>
                <a:sym typeface="+mn-ea"/>
              </a:rPr>
              <a:t>;</a:t>
            </a:r>
            <a:endParaRPr lang="en-US" altLang="zh-CN" sz="2000">
              <a:ea typeface="楷体_GB2312" pitchFamily="49" charset="-122"/>
              <a:sym typeface="+mn-ea"/>
            </a:endParaRPr>
          </a:p>
          <a:p>
            <a:pPr marL="469900" indent="-469900">
              <a:lnSpc>
                <a:spcPct val="120000"/>
              </a:lnSpc>
            </a:pPr>
            <a:r>
              <a:rPr lang="en-US" altLang="zh-CN" sz="2000">
                <a:ea typeface="楷体_GB2312" pitchFamily="49" charset="-122"/>
                <a:sym typeface="+mn-ea"/>
              </a:rPr>
              <a:t>end Behavioral;</a:t>
            </a:r>
            <a:endParaRPr lang="en-US" altLang="zh-CN" sz="20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</a:pP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endParaRPr lang="en-US" altLang="zh-CN" sz="20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0641" name="文本框 757761"/>
          <p:cNvSpPr txBox="1"/>
          <p:nvPr/>
        </p:nvSpPr>
        <p:spPr>
          <a:xfrm>
            <a:off x="488950" y="365760"/>
            <a:ext cx="8166735" cy="637413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>
              <a:lnSpc>
                <a:spcPct val="130000"/>
              </a:lnSpc>
            </a:pPr>
            <a:r>
              <a:rPr sz="2400">
                <a:ea typeface="楷体_GB2312" pitchFamily="49" charset="-122"/>
                <a:sym typeface="+mn-ea"/>
              </a:rPr>
              <a:t>p_</a:t>
            </a:r>
            <a:r>
              <a:rPr lang="en-US" sz="2400">
                <a:ea typeface="楷体_GB2312" pitchFamily="49" charset="-122"/>
                <a:sym typeface="+mn-ea"/>
              </a:rPr>
              <a:t>d</a:t>
            </a:r>
            <a:r>
              <a:rPr sz="2400">
                <a:ea typeface="楷体_GB2312" pitchFamily="49" charset="-122"/>
                <a:sym typeface="+mn-ea"/>
              </a:rPr>
              <a:t>:process (q(</a:t>
            </a:r>
            <a:r>
              <a:rPr lang="en-US" sz="2400">
                <a:ea typeface="楷体_GB2312" pitchFamily="49" charset="-122"/>
                <a:sym typeface="+mn-ea"/>
              </a:rPr>
              <a:t>2</a:t>
            </a:r>
            <a:r>
              <a:rPr sz="2400">
                <a:ea typeface="楷体_GB2312" pitchFamily="49" charset="-122"/>
                <a:sym typeface="+mn-ea"/>
              </a:rPr>
              <a:t>)</a:t>
            </a:r>
            <a:r>
              <a:rPr lang="en-US" sz="2400">
                <a:ea typeface="楷体_GB2312" pitchFamily="49" charset="-122"/>
                <a:sym typeface="+mn-ea"/>
              </a:rPr>
              <a:t>,</a:t>
            </a:r>
            <a:r>
              <a:rPr sz="2400">
                <a:ea typeface="楷体_GB2312" pitchFamily="49" charset="-122"/>
                <a:sym typeface="+mn-ea"/>
              </a:rPr>
              <a:t>q(</a:t>
            </a:r>
            <a:r>
              <a:rPr lang="en-US" sz="2400">
                <a:ea typeface="楷体_GB2312" pitchFamily="49" charset="-122"/>
                <a:sym typeface="+mn-ea"/>
              </a:rPr>
              <a:t>1</a:t>
            </a:r>
            <a:r>
              <a:rPr sz="2400">
                <a:ea typeface="楷体_GB2312" pitchFamily="49" charset="-122"/>
                <a:sym typeface="+mn-ea"/>
              </a:rPr>
              <a:t>)</a:t>
            </a:r>
            <a:r>
              <a:rPr lang="en-US" sz="2400">
                <a:ea typeface="楷体_GB2312" pitchFamily="49" charset="-122"/>
                <a:sym typeface="+mn-ea"/>
              </a:rPr>
              <a:t>,</a:t>
            </a:r>
            <a:r>
              <a:rPr sz="2400">
                <a:ea typeface="楷体_GB2312" pitchFamily="49" charset="-122"/>
                <a:sym typeface="+mn-ea"/>
              </a:rPr>
              <a:t>q(</a:t>
            </a:r>
            <a:r>
              <a:rPr lang="en-US" sz="2400">
                <a:ea typeface="楷体_GB2312" pitchFamily="49" charset="-122"/>
                <a:sym typeface="+mn-ea"/>
              </a:rPr>
              <a:t>0</a:t>
            </a:r>
            <a:r>
              <a:rPr sz="2400">
                <a:ea typeface="楷体_GB2312" pitchFamily="49" charset="-122"/>
                <a:sym typeface="+mn-ea"/>
              </a:rPr>
              <a:t>))           --</a:t>
            </a:r>
            <a:r>
              <a:rPr lang="en-US" sz="2400">
                <a:ea typeface="楷体_GB2312" pitchFamily="49" charset="-122"/>
                <a:sym typeface="+mn-ea"/>
              </a:rPr>
              <a:t>101</a:t>
            </a:r>
            <a:r>
              <a:rPr sz="2400">
                <a:ea typeface="楷体_GB2312" pitchFamily="49" charset="-122"/>
                <a:sym typeface="+mn-ea"/>
              </a:rPr>
              <a:t>为敏感信号</a:t>
            </a:r>
            <a:endParaRPr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30000"/>
              </a:lnSpc>
            </a:pPr>
            <a:r>
              <a:rPr sz="2400">
                <a:ea typeface="楷体_GB2312" pitchFamily="49" charset="-122"/>
                <a:sym typeface="+mn-ea"/>
              </a:rPr>
              <a:t>    begin</a:t>
            </a:r>
            <a:endParaRPr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30000"/>
              </a:lnSpc>
            </a:pPr>
            <a:r>
              <a:rPr sz="2400">
                <a:ea typeface="楷体_GB2312" pitchFamily="49" charset="-122"/>
                <a:sym typeface="+mn-ea"/>
              </a:rPr>
              <a:t>     if </a:t>
            </a:r>
            <a:r>
              <a:rPr lang="en-US" sz="2400">
                <a:ea typeface="楷体_GB2312" pitchFamily="49" charset="-122"/>
                <a:sym typeface="+mn-ea"/>
              </a:rPr>
              <a:t>(</a:t>
            </a:r>
            <a:r>
              <a:rPr sz="2400">
                <a:ea typeface="楷体_GB2312" pitchFamily="49" charset="-122"/>
                <a:sym typeface="+mn-ea"/>
              </a:rPr>
              <a:t> q(</a:t>
            </a:r>
            <a:r>
              <a:rPr lang="en-US" sz="2400">
                <a:ea typeface="楷体_GB2312" pitchFamily="49" charset="-122"/>
                <a:sym typeface="+mn-ea"/>
              </a:rPr>
              <a:t>2</a:t>
            </a:r>
            <a:r>
              <a:rPr sz="2400">
                <a:ea typeface="楷体_GB2312" pitchFamily="49" charset="-122"/>
                <a:sym typeface="+mn-ea"/>
              </a:rPr>
              <a:t>) </a:t>
            </a:r>
            <a:r>
              <a:rPr lang="en-US" sz="2400">
                <a:ea typeface="楷体_GB2312" pitchFamily="49" charset="-122"/>
                <a:sym typeface="+mn-ea"/>
              </a:rPr>
              <a:t>and (not q(1) )and q(0)</a:t>
            </a:r>
            <a:r>
              <a:rPr sz="2400">
                <a:ea typeface="楷体_GB2312" pitchFamily="49" charset="-122"/>
                <a:sym typeface="+mn-ea"/>
              </a:rPr>
              <a:t>=</a:t>
            </a:r>
            <a:r>
              <a:rPr lang="en-US" sz="2400">
                <a:ea typeface="楷体_GB2312" pitchFamily="49" charset="-122"/>
                <a:sym typeface="+mn-ea"/>
              </a:rPr>
              <a:t>1) </a:t>
            </a:r>
            <a:r>
              <a:rPr sz="2400">
                <a:ea typeface="楷体_GB2312" pitchFamily="49" charset="-122"/>
                <a:sym typeface="+mn-ea"/>
              </a:rPr>
              <a:t> then       </a:t>
            </a:r>
            <a:endParaRPr sz="2400">
              <a:ea typeface="楷体_GB2312" pitchFamily="49" charset="-122"/>
              <a:sym typeface="+mn-ea"/>
            </a:endParaRPr>
          </a:p>
          <a:p>
            <a:pPr marL="469900" indent="-469900">
              <a:lnSpc>
                <a:spcPct val="130000"/>
              </a:lnSpc>
            </a:pPr>
            <a:r>
              <a:rPr sz="2400">
                <a:ea typeface="楷体_GB2312" pitchFamily="49" charset="-122"/>
                <a:sym typeface="+mn-ea"/>
              </a:rPr>
              <a:t>         q&lt;=</a:t>
            </a:r>
            <a:r>
              <a:rPr lang="en-US" altLang="zh-CN" sz="2400" dirty="0">
                <a:cs typeface="+mn-lt"/>
                <a:sym typeface="+mn-ea"/>
              </a:rPr>
              <a:t>"000"</a:t>
            </a:r>
            <a:r>
              <a:rPr sz="2400">
                <a:ea typeface="楷体_GB2312" pitchFamily="49" charset="-122"/>
                <a:sym typeface="+mn-ea"/>
              </a:rPr>
              <a:t>;</a:t>
            </a:r>
            <a:endParaRPr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30000"/>
              </a:lnSpc>
            </a:pPr>
            <a:r>
              <a:rPr sz="2400">
                <a:ea typeface="楷体_GB2312" pitchFamily="49" charset="-122"/>
                <a:sym typeface="+mn-ea"/>
              </a:rPr>
              <a:t>      end if;</a:t>
            </a:r>
            <a:endParaRPr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30000"/>
              </a:lnSpc>
            </a:pPr>
            <a:r>
              <a:rPr sz="2400">
                <a:ea typeface="楷体_GB2312" pitchFamily="49" charset="-122"/>
                <a:sym typeface="+mn-ea"/>
              </a:rPr>
              <a:t>    end process p_</a:t>
            </a:r>
            <a:r>
              <a:rPr lang="en-US" sz="2400">
                <a:ea typeface="楷体_GB2312" pitchFamily="49" charset="-122"/>
                <a:sym typeface="+mn-ea"/>
              </a:rPr>
              <a:t>d</a:t>
            </a:r>
            <a:r>
              <a:rPr sz="2400">
                <a:ea typeface="楷体_GB2312" pitchFamily="49" charset="-122"/>
                <a:sym typeface="+mn-ea"/>
              </a:rPr>
              <a:t>;</a:t>
            </a:r>
            <a:r>
              <a:rPr lang="en-US" altLang="zh-CN" sz="2400">
                <a:ea typeface="楷体_GB2312" pitchFamily="49" charset="-122"/>
                <a:sym typeface="+mn-ea"/>
              </a:rPr>
              <a:t>   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30000"/>
              </a:lnSpc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end Behavioral;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30000"/>
              </a:lnSpc>
              <a:buClr>
                <a:srgbClr val="0000CC"/>
              </a:buClr>
              <a:buFont typeface="Wingdings" panose="05000000000000000000" pitchFamily="2" charset="2"/>
              <a:buChar char="p"/>
            </a:pP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0642" name="矩形 757762"/>
          <p:cNvSpPr/>
          <p:nvPr/>
        </p:nvSpPr>
        <p:spPr>
          <a:xfrm>
            <a:off x="0" y="2838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1" name="文本占位符 385026"/>
          <p:cNvSpPr>
            <a:spLocks noGrp="1"/>
          </p:cNvSpPr>
          <p:nvPr>
            <p:ph idx="1"/>
          </p:nvPr>
        </p:nvSpPr>
        <p:spPr>
          <a:xfrm>
            <a:off x="533400" y="1479550"/>
            <a:ext cx="7772400" cy="2306638"/>
          </a:xfrm>
        </p:spPr>
        <p:txBody>
          <a:bodyPr vert="horz" wrap="square" lIns="91440" tIns="45720" rIns="91440" bIns="45720" anchor="t" anchorCtr="0">
            <a:spAutoFit/>
          </a:bodyPr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</a:rPr>
              <a:t>      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计数器是在数字系统中使用最多的时序电路，它不仅能用于对时钟脉冲</a:t>
            </a:r>
            <a:r>
              <a:rPr lang="zh-CN" altLang="en-US" sz="2400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计数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，还可以用于</a:t>
            </a:r>
            <a:r>
              <a:rPr lang="zh-CN" altLang="en-US" sz="2400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分频、定时、产生节拍脉冲和脉冲序列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以及进行数字运算等。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             </a:t>
            </a:r>
            <a:endParaRPr lang="zh-CN" altLang="en-US" sz="24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endParaRPr lang="zh-CN" altLang="en-US" sz="24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61155" name="矩形 561154"/>
          <p:cNvSpPr/>
          <p:nvPr/>
        </p:nvSpPr>
        <p:spPr>
          <a:xfrm>
            <a:off x="1085850" y="3786188"/>
            <a:ext cx="6419850" cy="11245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4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分频器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序列信号发生器应用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586" name="矩形 376835"/>
          <p:cNvSpPr/>
          <p:nvPr/>
        </p:nvSpPr>
        <p:spPr>
          <a:xfrm>
            <a:off x="855345" y="846138"/>
            <a:ext cx="8229600" cy="633412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计数器应用</a:t>
            </a:r>
            <a:br>
              <a:rPr lang="zh-CN" altLang="en-US" sz="2800" b="1" dirty="0">
                <a:solidFill>
                  <a:srgbClr val="0000FF"/>
                </a:solidFill>
                <a:latin typeface="Arial Narrow" panose="020B0606020202030204" pitchFamily="34" charset="0"/>
                <a:ea typeface="楷体_GB2312" pitchFamily="49" charset="-122"/>
              </a:rPr>
            </a:br>
            <a:endParaRPr lang="zh-CN" altLang="en-US" sz="2800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61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115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5" name="文本占位符 578561"/>
          <p:cNvSpPr>
            <a:spLocks noGrp="1"/>
          </p:cNvSpPr>
          <p:nvPr>
            <p:ph idx="1"/>
          </p:nvPr>
        </p:nvSpPr>
        <p:spPr>
          <a:xfrm>
            <a:off x="561340" y="1700530"/>
            <a:ext cx="7966710" cy="4335780"/>
          </a:xfrm>
        </p:spPr>
        <p:txBody>
          <a:bodyPr vert="horz" wrap="square" lIns="91440" tIns="45720" rIns="91440" bIns="45720" anchor="t" anchorCtr="0">
            <a:spAutoFit/>
          </a:bodyPr>
          <a:p>
            <a:pPr marL="0" indent="0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ea typeface="楷体_GB2312" pitchFamily="49" charset="-122"/>
                <a:cs typeface="+mn-lt"/>
              </a:rPr>
              <a:t>library IEEE;</a:t>
            </a:r>
            <a:endParaRPr lang="en-US" altLang="zh-CN" sz="2400" b="1">
              <a:ea typeface="楷体_GB2312" pitchFamily="49" charset="-122"/>
              <a:cs typeface="+mn-lt"/>
            </a:endParaRPr>
          </a:p>
          <a:p>
            <a:pPr marL="0" indent="0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ea typeface="楷体_GB2312" pitchFamily="49" charset="-122"/>
                <a:cs typeface="+mn-lt"/>
              </a:rPr>
              <a:t>use IEEE.STD_LOGIC_1164.ALL;</a:t>
            </a:r>
            <a:endParaRPr lang="en-US" altLang="zh-CN" sz="2400" b="1">
              <a:ea typeface="楷体_GB2312" pitchFamily="49" charset="-122"/>
              <a:cs typeface="+mn-lt"/>
            </a:endParaRPr>
          </a:p>
          <a:p>
            <a:pPr marL="0" indent="0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solidFill>
                  <a:srgbClr val="0000FF"/>
                </a:solidFill>
                <a:ea typeface="楷体_GB2312" pitchFamily="49" charset="-122"/>
                <a:cs typeface="+mn-lt"/>
              </a:rPr>
              <a:t>use IEEE.STD_LOGIC_UNSIGNED.ALL;</a:t>
            </a:r>
            <a:endParaRPr lang="en-US" altLang="zh-CN" sz="2400" b="1">
              <a:solidFill>
                <a:srgbClr val="0000FF"/>
              </a:solidFill>
              <a:ea typeface="楷体_GB2312" pitchFamily="49" charset="-122"/>
              <a:cs typeface="+mn-lt"/>
            </a:endParaRPr>
          </a:p>
          <a:p>
            <a:pPr marL="0" indent="0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endParaRPr lang="en-US" altLang="zh-CN" sz="2400" b="1">
              <a:ea typeface="楷体_GB2312" pitchFamily="49" charset="-122"/>
              <a:cs typeface="+mn-lt"/>
            </a:endParaRPr>
          </a:p>
          <a:p>
            <a:pPr marL="0" indent="0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ea typeface="楷体_GB2312" pitchFamily="49" charset="-122"/>
                <a:cs typeface="+mn-lt"/>
              </a:rPr>
              <a:t>entity counter12 is</a:t>
            </a:r>
            <a:endParaRPr lang="en-US" altLang="zh-CN" sz="2400" b="1">
              <a:ea typeface="楷体_GB2312" pitchFamily="49" charset="-122"/>
              <a:cs typeface="+mn-lt"/>
            </a:endParaRPr>
          </a:p>
          <a:p>
            <a:pPr marL="0" indent="0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err="1">
                <a:ea typeface="楷体_GB2312" pitchFamily="49" charset="-122"/>
                <a:cs typeface="+mn-lt"/>
              </a:rPr>
              <a:t>port (rst: in  std_logic</a:t>
            </a:r>
            <a:r>
              <a:rPr lang="en-US" altLang="zh-CN" sz="2400" b="1" dirty="0">
                <a:ea typeface="楷体_GB2312" pitchFamily="49" charset="-122"/>
                <a:cs typeface="+mn-lt"/>
              </a:rPr>
              <a:t>;                             --</a:t>
            </a:r>
            <a:r>
              <a:rPr lang="zh-CN" altLang="en-US" sz="2400" b="1" dirty="0">
                <a:ea typeface="楷体_GB2312" pitchFamily="49" charset="-122"/>
                <a:cs typeface="+mn-lt"/>
              </a:rPr>
              <a:t>复位输入信号</a:t>
            </a:r>
            <a:endParaRPr lang="zh-CN" altLang="en-US" sz="2400" b="1" dirty="0">
              <a:ea typeface="楷体_GB2312" pitchFamily="49" charset="-122"/>
              <a:cs typeface="+mn-lt"/>
            </a:endParaRPr>
          </a:p>
          <a:p>
            <a:pPr marL="0" indent="0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b="1" err="1">
                <a:ea typeface="楷体_GB2312" pitchFamily="49" charset="-122"/>
                <a:cs typeface="+mn-lt"/>
              </a:rPr>
              <a:t>          </a:t>
            </a:r>
            <a:r>
              <a:rPr lang="en-US" altLang="zh-CN" sz="2400" b="1" err="1">
                <a:ea typeface="楷体_GB2312" pitchFamily="49" charset="-122"/>
                <a:cs typeface="+mn-lt"/>
              </a:rPr>
              <a:t>en: in  std_logic</a:t>
            </a:r>
            <a:r>
              <a:rPr lang="en-US" altLang="zh-CN" sz="2400" b="1" dirty="0">
                <a:ea typeface="楷体_GB2312" pitchFamily="49" charset="-122"/>
                <a:cs typeface="+mn-lt"/>
              </a:rPr>
              <a:t>;                              --</a:t>
            </a:r>
            <a:r>
              <a:rPr lang="zh-CN" altLang="en-US" sz="2400" b="1" dirty="0">
                <a:ea typeface="楷体_GB2312" pitchFamily="49" charset="-122"/>
                <a:cs typeface="+mn-lt"/>
              </a:rPr>
              <a:t>计数使能信号</a:t>
            </a:r>
            <a:endParaRPr lang="zh-CN" altLang="en-US" sz="2400" b="1" dirty="0">
              <a:ea typeface="楷体_GB2312" pitchFamily="49" charset="-122"/>
              <a:cs typeface="+mn-lt"/>
            </a:endParaRPr>
          </a:p>
          <a:p>
            <a:pPr marL="0" indent="0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>
                <a:ea typeface="楷体_GB2312" pitchFamily="49" charset="-122"/>
                <a:cs typeface="+mn-lt"/>
              </a:rPr>
              <a:t>           </a:t>
            </a:r>
            <a:r>
              <a:rPr lang="en-US" altLang="zh-CN" sz="2400" b="1" err="1">
                <a:ea typeface="楷体_GB2312" pitchFamily="49" charset="-122"/>
                <a:cs typeface="+mn-lt"/>
              </a:rPr>
              <a:t>clk: in  std_logic</a:t>
            </a:r>
            <a:r>
              <a:rPr lang="en-US" altLang="zh-CN" sz="2400" b="1" dirty="0">
                <a:ea typeface="楷体_GB2312" pitchFamily="49" charset="-122"/>
                <a:cs typeface="+mn-lt"/>
              </a:rPr>
              <a:t>;                           --</a:t>
            </a:r>
            <a:r>
              <a:rPr lang="zh-CN" altLang="en-US" sz="2400" b="1" dirty="0">
                <a:ea typeface="楷体_GB2312" pitchFamily="49" charset="-122"/>
                <a:cs typeface="+mn-lt"/>
              </a:rPr>
              <a:t>输入时钟信号</a:t>
            </a:r>
            <a:endParaRPr lang="zh-CN" altLang="en-US" sz="2400" b="1" dirty="0">
              <a:ea typeface="楷体_GB2312" pitchFamily="49" charset="-122"/>
              <a:cs typeface="+mn-lt"/>
            </a:endParaRPr>
          </a:p>
          <a:p>
            <a:pPr marL="0" indent="0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>
                <a:ea typeface="楷体_GB2312" pitchFamily="49" charset="-122"/>
                <a:cs typeface="+mn-lt"/>
              </a:rPr>
              <a:t>             </a:t>
            </a:r>
            <a:r>
              <a:rPr lang="en-US" altLang="zh-CN" sz="2400" b="1" err="1">
                <a:ea typeface="楷体_GB2312" pitchFamily="49" charset="-122"/>
                <a:cs typeface="+mn-lt"/>
              </a:rPr>
              <a:t>q: out std_logic</a:t>
            </a:r>
            <a:r>
              <a:rPr lang="en-US" altLang="zh-CN" sz="2400" b="1">
                <a:ea typeface="楷体_GB2312" pitchFamily="49" charset="-122"/>
                <a:cs typeface="+mn-lt"/>
                <a:sym typeface="+mn-ea"/>
              </a:rPr>
              <a:t>);</a:t>
            </a:r>
            <a:r>
              <a:rPr lang="en-US" altLang="zh-CN" sz="2400" b="1" dirty="0">
                <a:ea typeface="楷体_GB2312" pitchFamily="49" charset="-122"/>
                <a:cs typeface="+mn-lt"/>
              </a:rPr>
              <a:t>                      --</a:t>
            </a:r>
            <a:r>
              <a:rPr lang="zh-CN" altLang="en-US" sz="2400" b="1" dirty="0">
                <a:ea typeface="楷体_GB2312" pitchFamily="49" charset="-122"/>
                <a:cs typeface="+mn-lt"/>
              </a:rPr>
              <a:t>十二分频输出信号</a:t>
            </a:r>
            <a:endParaRPr lang="en-US" altLang="zh-CN" sz="2400" b="1">
              <a:ea typeface="楷体_GB2312" pitchFamily="49" charset="-122"/>
              <a:cs typeface="+mn-lt"/>
            </a:endParaRPr>
          </a:p>
          <a:p>
            <a:pPr marL="0" indent="0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ea typeface="楷体_GB2312" pitchFamily="49" charset="-122"/>
                <a:cs typeface="+mn-lt"/>
              </a:rPr>
              <a:t>end counter12;</a:t>
            </a:r>
            <a:endParaRPr lang="en-US" altLang="zh-CN" sz="2400" b="1">
              <a:ea typeface="楷体_GB2312" pitchFamily="49" charset="-122"/>
              <a:cs typeface="+mn-lt"/>
            </a:endParaRPr>
          </a:p>
        </p:txBody>
      </p:sp>
      <p:sp>
        <p:nvSpPr>
          <p:cNvPr id="82946" name="矩形 578562"/>
          <p:cNvSpPr/>
          <p:nvPr/>
        </p:nvSpPr>
        <p:spPr>
          <a:xfrm>
            <a:off x="457200" y="419100"/>
            <a:ext cx="8229600" cy="63341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分频器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947" name="矩形 578563"/>
          <p:cNvSpPr/>
          <p:nvPr/>
        </p:nvSpPr>
        <p:spPr>
          <a:xfrm>
            <a:off x="611505" y="1196975"/>
            <a:ext cx="3903980" cy="60769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【例</a:t>
            </a:r>
            <a:r>
              <a:rPr lang="en-US" altLang="zh-CN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7-21</a:t>
            </a:r>
            <a:r>
              <a:rPr lang="zh-CN" altLang="en-US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】</a:t>
            </a:r>
            <a:r>
              <a:rPr lang="en-US" altLang="zh-CN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12</a:t>
            </a:r>
            <a:r>
              <a:rPr lang="zh-CN" altLang="en-US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分频器</a:t>
            </a:r>
            <a:endParaRPr lang="zh-CN" altLang="en-US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9586" name="内容占位符 579585"/>
          <p:cNvSpPr>
            <a:spLocks noGrp="1"/>
          </p:cNvSpPr>
          <p:nvPr>
            <p:ph idx="1"/>
          </p:nvPr>
        </p:nvSpPr>
        <p:spPr>
          <a:xfrm>
            <a:off x="523558" y="224155"/>
            <a:ext cx="7772400" cy="6054090"/>
          </a:xfrm>
        </p:spPr>
        <p:txBody>
          <a:bodyPr vert="horz" wrap="square" lIns="91440" tIns="45720" rIns="91440" bIns="45720" anchor="t" anchorCtr="0">
            <a:spAutoFit/>
          </a:bodyPr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architecture Behavioral of counter12 is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lang="en-US" altLang="zh-CN" sz="2400" b="1" err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signal cnt1: std_logic_vector(3 downto</a:t>
            </a:r>
            <a:r>
              <a:rPr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 0):="0000";</a:t>
            </a:r>
            <a:endParaRPr lang="en-US" altLang="zh-CN" sz="2400" b="1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begin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process(</a:t>
            </a:r>
            <a:r>
              <a:rPr lang="en-US" altLang="zh-CN" sz="2400" b="1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rst,clk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  begin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         if   rst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='0' then        cnt1&lt;=(others=&gt;'0'); 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        elsif   clk'event and clk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='1' then 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            if  en=’1’ then 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	   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if cnt1=11  then     cnt1&lt;=(others=&gt;'0');</a:t>
            </a:r>
            <a:endParaRPr lang="en-US" altLang="zh-CN" sz="24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	   else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	      cnt1&lt;=cnt1+1;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	   end if;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            end if;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        end if;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end process;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q&lt;='1' when cnt1=11 else '0';</a:t>
            </a:r>
            <a:endParaRPr lang="en-US" altLang="zh-CN" sz="24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end Behavioral;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6">
                                            <p:txEl>
                                              <p:charRg st="0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79586">
                                            <p:txEl>
                                              <p:charRg st="0" end="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6">
                                            <p:txEl>
                                              <p:charRg st="40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79586">
                                            <p:txEl>
                                              <p:charRg st="40" end="9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6">
                                            <p:txEl>
                                              <p:charRg st="96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579586">
                                            <p:txEl>
                                              <p:charRg st="96" end="10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6">
                                            <p:txEl>
                                              <p:charRg st="102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79586">
                                            <p:txEl>
                                              <p:charRg st="102" end="1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6">
                                            <p:txEl>
                                              <p:charRg st="119" end="1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579586">
                                            <p:txEl>
                                              <p:charRg st="119" end="1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6">
                                            <p:txEl>
                                              <p:charRg st="128" end="1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579586">
                                            <p:txEl>
                                              <p:charRg st="128" end="18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6">
                                            <p:txEl>
                                              <p:charRg st="184" end="2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579586">
                                            <p:txEl>
                                              <p:charRg st="184" end="2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6">
                                            <p:txEl>
                                              <p:charRg st="228" end="2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579586">
                                            <p:txEl>
                                              <p:charRg st="228" end="2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6">
                                            <p:txEl>
                                              <p:charRg st="258" end="3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579586">
                                            <p:txEl>
                                              <p:charRg st="258" end="30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6">
                                            <p:txEl>
                                              <p:charRg st="304" end="3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579586">
                                            <p:txEl>
                                              <p:charRg st="304" end="3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6">
                                            <p:txEl>
                                              <p:charRg st="313" end="3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579586">
                                            <p:txEl>
                                              <p:charRg st="313" end="3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6">
                                            <p:txEl>
                                              <p:charRg st="334" end="3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579586">
                                            <p:txEl>
                                              <p:charRg st="334" end="3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6">
                                            <p:txEl>
                                              <p:charRg st="346" end="3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500"/>
                                        <p:tgtEl>
                                          <p:spTgt spid="579586">
                                            <p:txEl>
                                              <p:charRg st="346" end="3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6">
                                            <p:txEl>
                                              <p:charRg st="367" end="3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2" dur="500"/>
                                        <p:tgtEl>
                                          <p:spTgt spid="579586">
                                            <p:txEl>
                                              <p:charRg st="367" end="38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6">
                                            <p:txEl>
                                              <p:charRg st="384" end="3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7" dur="500"/>
                                        <p:tgtEl>
                                          <p:spTgt spid="579586">
                                            <p:txEl>
                                              <p:charRg st="384" end="39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6">
                                            <p:txEl>
                                              <p:charRg st="397" end="4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2" dur="500"/>
                                        <p:tgtEl>
                                          <p:spTgt spid="579586">
                                            <p:txEl>
                                              <p:charRg st="397" end="4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6">
                                            <p:txEl>
                                              <p:charRg st="431" end="4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7" dur="500"/>
                                        <p:tgtEl>
                                          <p:spTgt spid="579586">
                                            <p:txEl>
                                              <p:charRg st="431" end="4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9586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682" name="内容占位符 583681"/>
          <p:cNvSpPr>
            <a:spLocks noGrp="1"/>
          </p:cNvSpPr>
          <p:nvPr>
            <p:ph idx="1"/>
          </p:nvPr>
        </p:nvSpPr>
        <p:spPr>
          <a:xfrm>
            <a:off x="687388" y="1557338"/>
            <a:ext cx="7772400" cy="4707890"/>
          </a:xfrm>
        </p:spPr>
        <p:txBody>
          <a:bodyPr vert="horz" wrap="square" lIns="91440" tIns="45720" rIns="91440" bIns="45720" anchor="t" anchorCtr="0">
            <a:spAutoFit/>
          </a:bodyPr>
          <a:p>
            <a:pPr marL="0" indent="0"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library IEEE;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use IEEE.STD_LOGIC_1164.ALL;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use IEEE.STD_LOGIC_ARITH.ALL;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use IEEE.STD_LOGIC_UNSIGNED.ALL;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err="1">
                <a:latin typeface="Times New Roman" panose="02020603050405020304" pitchFamily="18" charset="0"/>
              </a:rPr>
              <a:t>entity seq_gen</a:t>
            </a:r>
            <a:r>
              <a:rPr lang="en-US" altLang="zh-CN" sz="2400" b="1">
                <a:latin typeface="Times New Roman" panose="02020603050405020304" pitchFamily="18" charset="0"/>
              </a:rPr>
              <a:t> is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err="1">
                <a:latin typeface="Times New Roman" panose="02020603050405020304" pitchFamily="18" charset="0"/>
              </a:rPr>
              <a:t>port (clk: in  std_logic</a:t>
            </a:r>
            <a:r>
              <a:rPr lang="en-US" altLang="zh-CN" sz="2400" b="1">
                <a:latin typeface="Times New Roman" panose="02020603050405020304" pitchFamily="18" charset="0"/>
              </a:rPr>
              <a:t>;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err="1">
                <a:latin typeface="Times New Roman" panose="02020603050405020304" pitchFamily="18" charset="0"/>
              </a:rPr>
              <a:t>          rst: in  std_logic</a:t>
            </a:r>
            <a:r>
              <a:rPr lang="en-US" altLang="zh-CN" sz="2400" b="1">
                <a:latin typeface="Times New Roman" panose="02020603050405020304" pitchFamily="18" charset="0"/>
              </a:rPr>
              <a:t>;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err="1">
                <a:latin typeface="Times New Roman" panose="02020603050405020304" pitchFamily="18" charset="0"/>
              </a:rPr>
              <a:t>             q: out std_logic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		 );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err="1">
                <a:latin typeface="Times New Roman" panose="02020603050405020304" pitchFamily="18" charset="0"/>
              </a:rPr>
              <a:t>end seq_gen</a:t>
            </a:r>
            <a:r>
              <a:rPr lang="en-US" altLang="zh-CN" sz="2400" b="1">
                <a:latin typeface="Times New Roman" panose="02020603050405020304" pitchFamily="18" charset="0"/>
              </a:rPr>
              <a:t>;</a:t>
            </a:r>
            <a:endParaRPr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84994" name="矩形 583682"/>
          <p:cNvSpPr/>
          <p:nvPr/>
        </p:nvSpPr>
        <p:spPr>
          <a:xfrm>
            <a:off x="313690" y="173990"/>
            <a:ext cx="8229600" cy="63341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序列信号发生器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995" name="矩形 583683"/>
          <p:cNvSpPr/>
          <p:nvPr/>
        </p:nvSpPr>
        <p:spPr>
          <a:xfrm>
            <a:off x="220980" y="877570"/>
            <a:ext cx="8847455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25000"/>
              </a:lnSpc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7-22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】利用计数器方式设计产生序列信号“</a:t>
            </a:r>
            <a:r>
              <a:rPr lang="en-US" altLang="zh-CN" sz="24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11000101”</a:t>
            </a:r>
            <a:endParaRPr lang="en-US" altLang="zh-CN" sz="240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2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83682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2">
                                            <p:txEl>
                                              <p:charRg st="14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83682">
                                            <p:txEl>
                                              <p:charRg st="14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2">
                                            <p:txEl>
                                              <p:charRg st="43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583682">
                                            <p:txEl>
                                              <p:charRg st="43" end="7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2">
                                            <p:txEl>
                                              <p:charRg st="73" end="1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83682">
                                            <p:txEl>
                                              <p:charRg st="73" end="10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2">
                                            <p:txEl>
                                              <p:charRg st="106" end="1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583682">
                                            <p:txEl>
                                              <p:charRg st="106" end="1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2">
                                            <p:txEl>
                                              <p:charRg st="124" end="1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583682">
                                            <p:txEl>
                                              <p:charRg st="124" end="1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2">
                                            <p:txEl>
                                              <p:charRg st="150" end="1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583682">
                                            <p:txEl>
                                              <p:charRg st="150" end="18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2">
                                            <p:txEl>
                                              <p:charRg st="180" end="2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583682">
                                            <p:txEl>
                                              <p:charRg st="180" end="2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2">
                                            <p:txEl>
                                              <p:charRg st="210" end="2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583682">
                                            <p:txEl>
                                              <p:charRg st="210" end="2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2">
                                            <p:txEl>
                                              <p:charRg st="216" end="2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583682">
                                            <p:txEl>
                                              <p:charRg st="216" end="2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682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4706" name="内容占位符 584705"/>
          <p:cNvSpPr>
            <a:spLocks noGrp="1"/>
          </p:cNvSpPr>
          <p:nvPr>
            <p:ph idx="1"/>
          </p:nvPr>
        </p:nvSpPr>
        <p:spPr>
          <a:xfrm>
            <a:off x="518478" y="1173798"/>
            <a:ext cx="7772400" cy="4556125"/>
          </a:xfrm>
        </p:spPr>
        <p:txBody>
          <a:bodyPr vert="horz" wrap="square" lIns="91440" tIns="45720" rIns="91440" bIns="45720" anchor="t" anchorCtr="0">
            <a:spAutoFit/>
          </a:bodyPr>
          <a:p>
            <a:pPr marL="0" inden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err="1">
                <a:latin typeface="Times New Roman" panose="02020603050405020304" pitchFamily="18" charset="0"/>
              </a:rPr>
              <a:t>architecture Behavioral of seq_gen</a:t>
            </a:r>
            <a:r>
              <a:rPr lang="en-US" altLang="zh-CN" sz="2400" b="1">
                <a:latin typeface="Times New Roman" panose="02020603050405020304" pitchFamily="18" charset="0"/>
              </a:rPr>
              <a:t> is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err="1">
                <a:solidFill>
                  <a:schemeClr val="accent2"/>
                </a:solidFill>
                <a:latin typeface="Times New Roman" panose="02020603050405020304" pitchFamily="18" charset="0"/>
              </a:rPr>
              <a:t>signal d: std_logic_vector( 2 downto</a:t>
            </a:r>
            <a:r>
              <a:rPr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</a:rPr>
              <a:t> 0);</a:t>
            </a:r>
            <a:endParaRPr lang="en-US" altLang="zh-CN" sz="2400" b="1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begin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err="1">
                <a:solidFill>
                  <a:schemeClr val="accent2"/>
                </a:solidFill>
                <a:latin typeface="Times New Roman" panose="02020603050405020304" pitchFamily="18" charset="0"/>
              </a:rPr>
              <a:t>CNT:process(rst,clk</a:t>
            </a:r>
            <a:r>
              <a:rPr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endParaRPr lang="en-US" altLang="zh-CN" sz="2400" b="1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begin 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err="1">
                <a:latin typeface="Times New Roman" panose="02020603050405020304" pitchFamily="18" charset="0"/>
              </a:rPr>
              <a:t>     if   rst</a:t>
            </a:r>
            <a:r>
              <a:rPr lang="en-US" altLang="zh-CN" sz="2400" b="1">
                <a:latin typeface="Times New Roman" panose="02020603050405020304" pitchFamily="18" charset="0"/>
              </a:rPr>
              <a:t>='0'  then 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	       d&lt;="000";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err="1">
                <a:latin typeface="Times New Roman" panose="02020603050405020304" pitchFamily="18" charset="0"/>
              </a:rPr>
              <a:t>	  elsif clk'event and clk</a:t>
            </a:r>
            <a:r>
              <a:rPr lang="en-US" altLang="zh-CN" sz="2400" b="1">
                <a:latin typeface="Times New Roman" panose="02020603050405020304" pitchFamily="18" charset="0"/>
              </a:rPr>
              <a:t>='1' then 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	        d&lt;=d+1;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	  end if;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end process CNT;</a:t>
            </a:r>
            <a:endParaRPr lang="en-US" altLang="zh-CN" sz="24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6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84706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6">
                                            <p:txEl>
                                              <p:charRg st="38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84706">
                                            <p:txEl>
                                              <p:charRg st="38" end="7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6">
                                            <p:txEl>
                                              <p:charRg st="79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584706">
                                            <p:txEl>
                                              <p:charRg st="79" end="8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6">
                                            <p:txEl>
                                              <p:charRg st="85" end="1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84706">
                                            <p:txEl>
                                              <p:charRg st="85" end="10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6">
                                            <p:txEl>
                                              <p:charRg st="106" end="1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584706">
                                            <p:txEl>
                                              <p:charRg st="106" end="1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6">
                                            <p:txEl>
                                              <p:charRg st="113" end="1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584706">
                                            <p:txEl>
                                              <p:charRg st="113" end="1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6">
                                            <p:txEl>
                                              <p:charRg st="138" end="1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584706">
                                            <p:txEl>
                                              <p:charRg st="138" end="1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6">
                                            <p:txEl>
                                              <p:charRg st="156" end="1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584706">
                                            <p:txEl>
                                              <p:charRg st="156" end="19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6">
                                            <p:txEl>
                                              <p:charRg st="193" end="2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584706">
                                            <p:txEl>
                                              <p:charRg st="193" end="2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6">
                                            <p:txEl>
                                              <p:charRg st="210" end="2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584706">
                                            <p:txEl>
                                              <p:charRg st="210" end="2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6">
                                            <p:txEl>
                                              <p:charRg st="221" end="2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584706">
                                            <p:txEl>
                                              <p:charRg st="221" end="2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4706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5730" name="内容占位符 585729"/>
          <p:cNvSpPr>
            <a:spLocks noGrp="1"/>
          </p:cNvSpPr>
          <p:nvPr>
            <p:ph idx="1"/>
          </p:nvPr>
        </p:nvSpPr>
        <p:spPr>
          <a:xfrm>
            <a:off x="408623" y="326708"/>
            <a:ext cx="7772400" cy="5352415"/>
          </a:xfrm>
        </p:spPr>
        <p:txBody>
          <a:bodyPr vert="horz" wrap="square" lIns="91440" tIns="45720" rIns="91440" bIns="45720" anchor="t" anchorCtr="0">
            <a:spAutoFit/>
          </a:bodyPr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err="1">
                <a:solidFill>
                  <a:schemeClr val="accent2"/>
                </a:solidFill>
                <a:latin typeface="Times New Roman" panose="02020603050405020304" pitchFamily="18" charset="0"/>
              </a:rPr>
              <a:t>COM:process(d</a:t>
            </a:r>
            <a:r>
              <a:rPr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endParaRPr lang="en-US" altLang="zh-CN" sz="2400" b="1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begin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                case d  is 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	     when "000" =&gt; q&lt;='1';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              when "001" =&gt; q&lt;='1';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	     when "010" =&gt; q&lt;='0';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	     when "011" =&gt; q&lt;=‘0';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	     when "100" =&gt; q&lt;=‘0';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              when "101" =&gt; q&lt;=‘1';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	     when "110" =&gt; q&lt;='0';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	     when "111" =&gt; q&lt;='1';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	     when</a:t>
            </a:r>
            <a:r>
              <a:rPr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</a:rPr>
              <a:t> others</a:t>
            </a:r>
            <a:r>
              <a:rPr lang="en-US" altLang="zh-CN" sz="2400" b="1">
                <a:latin typeface="Times New Roman" panose="02020603050405020304" pitchFamily="18" charset="0"/>
              </a:rPr>
              <a:t> =&gt; q&lt;='Z';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	 end case;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end process COM;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end Behavioral;</a:t>
            </a:r>
            <a:endParaRPr lang="en-US" altLang="zh-CN" sz="24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0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85730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0">
                                            <p:txEl>
                                              <p:charRg st="19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85730">
                                            <p:txEl>
                                              <p:charRg st="19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0">
                                            <p:txEl>
                                              <p:charRg st="27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585730">
                                            <p:txEl>
                                              <p:charRg st="27" end="6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0">
                                            <p:txEl>
                                              <p:charRg st="89" end="1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85730">
                                            <p:txEl>
                                              <p:charRg st="89" end="1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0">
                                            <p:txEl>
                                              <p:charRg st="117" end="1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585730">
                                            <p:txEl>
                                              <p:charRg st="117" end="15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0">
                                            <p:txEl>
                                              <p:charRg st="159" end="1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585730">
                                            <p:txEl>
                                              <p:charRg st="159" end="1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0">
                                            <p:txEl>
                                              <p:charRg st="187" end="2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585730">
                                            <p:txEl>
                                              <p:charRg st="187" end="2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0">
                                            <p:txEl>
                                              <p:charRg st="215" end="2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585730">
                                            <p:txEl>
                                              <p:charRg st="215" end="2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0">
                                            <p:txEl>
                                              <p:charRg st="243" end="2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585730">
                                            <p:txEl>
                                              <p:charRg st="243" end="28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0">
                                            <p:txEl>
                                              <p:charRg st="285" end="3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585730">
                                            <p:txEl>
                                              <p:charRg st="285" end="3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0">
                                            <p:txEl>
                                              <p:charRg st="313" end="3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585730">
                                            <p:txEl>
                                              <p:charRg st="313" end="3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0">
                                            <p:txEl>
                                              <p:charRg st="341" end="3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585730">
                                            <p:txEl>
                                              <p:charRg st="341" end="37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0">
                                            <p:txEl>
                                              <p:charRg st="370" end="3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500"/>
                                        <p:tgtEl>
                                          <p:spTgt spid="585730">
                                            <p:txEl>
                                              <p:charRg st="370" end="3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0">
                                            <p:txEl>
                                              <p:charRg st="382" end="3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2" dur="500"/>
                                        <p:tgtEl>
                                          <p:spTgt spid="585730">
                                            <p:txEl>
                                              <p:charRg st="382" end="39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0">
                                            <p:txEl>
                                              <p:charRg st="410" end="4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7" dur="500"/>
                                        <p:tgtEl>
                                          <p:spTgt spid="585730">
                                            <p:txEl>
                                              <p:charRg st="410" end="4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5730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5730" name="内容占位符 585729"/>
          <p:cNvSpPr>
            <a:spLocks noGrp="1"/>
          </p:cNvSpPr>
          <p:nvPr>
            <p:ph idx="1"/>
          </p:nvPr>
        </p:nvSpPr>
        <p:spPr>
          <a:xfrm>
            <a:off x="323850" y="404495"/>
            <a:ext cx="5169535" cy="6054090"/>
          </a:xfrm>
        </p:spPr>
        <p:txBody>
          <a:bodyPr vert="horz" wrap="square" lIns="91440" tIns="45720" rIns="91440" bIns="45720" anchor="t" anchorCtr="0">
            <a:spAutoFit/>
          </a:bodyPr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err="1">
                <a:solidFill>
                  <a:schemeClr val="accent2"/>
                </a:solidFill>
                <a:latin typeface="Times New Roman" panose="02020603050405020304" pitchFamily="18" charset="0"/>
              </a:rPr>
              <a:t>COM:process(</a:t>
            </a:r>
            <a:r>
              <a:rPr lang="en-US" altLang="zh-CN" sz="2400" b="1" err="1">
                <a:solidFill>
                  <a:srgbClr val="0000FF"/>
                </a:solidFill>
                <a:latin typeface="Times New Roman" panose="02020603050405020304" pitchFamily="18" charset="0"/>
              </a:rPr>
              <a:t>clk</a:t>
            </a:r>
            <a:r>
              <a:rPr lang="en-US" altLang="zh-CN" sz="2400" b="1" err="1">
                <a:solidFill>
                  <a:schemeClr val="accent2"/>
                </a:solidFill>
                <a:latin typeface="Times New Roman" panose="02020603050405020304" pitchFamily="18" charset="0"/>
              </a:rPr>
              <a:t>,d</a:t>
            </a:r>
            <a:r>
              <a:rPr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endParaRPr lang="en-US" altLang="zh-CN" sz="2400" b="1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begin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 </a:t>
            </a:r>
            <a:r>
              <a:rPr lang="en-US" altLang="zh-CN" sz="2400" b="1" err="1">
                <a:solidFill>
                  <a:srgbClr val="0000FF"/>
                </a:solidFill>
                <a:latin typeface="Times New Roman" panose="02020603050405020304" pitchFamily="18" charset="0"/>
              </a:rPr>
              <a:t>if  clk'event and clk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='1' then </a:t>
            </a:r>
            <a:endParaRPr lang="en-US" altLang="zh-CN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            case d is 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	     when "000" =&gt; q&lt;='1';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                 when "001" =&gt; q&lt;='1';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	     when "010" =&gt; q&lt;='0';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	     when "011" =&gt; q&lt;=‘0';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	     when "100" =&gt; q&lt;=‘0';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                 when "101" =&gt; q&lt;=‘1';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	     when "110" =&gt; q&lt;='0';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	     when "111" =&gt; q&lt;='1';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	     when</a:t>
            </a:r>
            <a:r>
              <a:rPr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</a:rPr>
              <a:t> others</a:t>
            </a:r>
            <a:r>
              <a:rPr lang="en-US" altLang="zh-CN" sz="2400" b="1">
                <a:latin typeface="Times New Roman" panose="02020603050405020304" pitchFamily="18" charset="0"/>
              </a:rPr>
              <a:t> =&gt; q&lt;='Z';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	 end case;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end if;</a:t>
            </a:r>
            <a:endParaRPr lang="en-US" altLang="zh-CN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end process COM;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end Behavioral;</a:t>
            </a:r>
            <a:endParaRPr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90590" y="2708910"/>
            <a:ext cx="28911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组合进程时序化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443980" y="908685"/>
            <a:ext cx="19062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【例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7-23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】</a:t>
            </a:r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0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85730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0">
                                            <p:txEl>
                                              <p:charRg st="19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85730">
                                            <p:txEl>
                                              <p:charRg st="19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0">
                                            <p:txEl>
                                              <p:charRg st="27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585730">
                                            <p:txEl>
                                              <p:charRg st="27" end="6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0">
                                            <p:txEl>
                                              <p:charRg st="63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85730">
                                            <p:txEl>
                                              <p:charRg st="63" end="8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0">
                                            <p:txEl>
                                              <p:charRg st="89" end="1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585730">
                                            <p:txEl>
                                              <p:charRg st="89" end="1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0">
                                            <p:txEl>
                                              <p:charRg st="117" end="1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585730">
                                            <p:txEl>
                                              <p:charRg st="117" end="15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0">
                                            <p:txEl>
                                              <p:charRg st="159" end="1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585730">
                                            <p:txEl>
                                              <p:charRg st="159" end="1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0">
                                            <p:txEl>
                                              <p:charRg st="187" end="2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585730">
                                            <p:txEl>
                                              <p:charRg st="187" end="2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0">
                                            <p:txEl>
                                              <p:charRg st="215" end="2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585730">
                                            <p:txEl>
                                              <p:charRg st="215" end="2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0">
                                            <p:txEl>
                                              <p:charRg st="243" end="2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585730">
                                            <p:txEl>
                                              <p:charRg st="243" end="28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0">
                                            <p:txEl>
                                              <p:charRg st="285" end="3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585730">
                                            <p:txEl>
                                              <p:charRg st="285" end="3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0">
                                            <p:txEl>
                                              <p:charRg st="313" end="3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585730">
                                            <p:txEl>
                                              <p:charRg st="313" end="3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0">
                                            <p:txEl>
                                              <p:charRg st="341" end="3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500"/>
                                        <p:tgtEl>
                                          <p:spTgt spid="585730">
                                            <p:txEl>
                                              <p:charRg st="341" end="37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0">
                                            <p:txEl>
                                              <p:charRg st="370" end="3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2" dur="500"/>
                                        <p:tgtEl>
                                          <p:spTgt spid="585730">
                                            <p:txEl>
                                              <p:charRg st="370" end="3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0">
                                            <p:txEl>
                                              <p:charRg st="382" end="3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7" dur="500"/>
                                        <p:tgtEl>
                                          <p:spTgt spid="585730">
                                            <p:txEl>
                                              <p:charRg st="382" end="39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0">
                                            <p:txEl>
                                              <p:charRg st="393" end="4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2" dur="500"/>
                                        <p:tgtEl>
                                          <p:spTgt spid="585730">
                                            <p:txEl>
                                              <p:charRg st="393" end="4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0">
                                            <p:txEl>
                                              <p:charRg st="410" end="4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7" dur="500"/>
                                        <p:tgtEl>
                                          <p:spTgt spid="585730">
                                            <p:txEl>
                                              <p:charRg st="410" end="4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5730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8065" name="图片 61747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113" y="3382963"/>
            <a:ext cx="7439025" cy="15589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8066" name="图片 61747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088" y="1370013"/>
            <a:ext cx="7561262" cy="15065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PP_MARK_KEY" val="61a68ca4-7e39-4d64-a80f-fbd1f13f5023"/>
  <p:tag name="COMMONDATA" val="eyJoZGlkIjoiMDRiNWM4ZTRkMzMxZWMzM2IxMDc5NzU0Njk3ODNlNzAifQ=="/>
</p:tagLst>
</file>

<file path=ppt/theme/theme1.xml><?xml version="1.0" encoding="utf-8"?>
<a:theme xmlns:a="http://schemas.openxmlformats.org/drawingml/2006/main" name="1_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10144</Words>
  <Application>WPS 演示</Application>
  <PresentationFormat>全屏显示(4:3)</PresentationFormat>
  <Paragraphs>824</Paragraphs>
  <Slides>44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44</vt:i4>
      </vt:variant>
    </vt:vector>
  </HeadingPairs>
  <TitlesOfParts>
    <vt:vector size="65" baseType="lpstr">
      <vt:lpstr>Arial</vt:lpstr>
      <vt:lpstr>宋体</vt:lpstr>
      <vt:lpstr>Wingdings</vt:lpstr>
      <vt:lpstr>Times New Roman</vt:lpstr>
      <vt:lpstr>Verdana</vt:lpstr>
      <vt:lpstr>隶书</vt:lpstr>
      <vt:lpstr>华文行楷</vt:lpstr>
      <vt:lpstr>楷体_GB2312</vt:lpstr>
      <vt:lpstr>新宋体</vt:lpstr>
      <vt:lpstr>微软雅黑</vt:lpstr>
      <vt:lpstr>Calibri</vt:lpstr>
      <vt:lpstr>Courier New</vt:lpstr>
      <vt:lpstr>Arial Narrow</vt:lpstr>
      <vt:lpstr>Arial Unicode MS</vt:lpstr>
      <vt:lpstr>Times New Roman</vt:lpstr>
      <vt:lpstr>1_默认设计模板</vt:lpstr>
      <vt:lpstr>Word.Document.8</vt:lpstr>
      <vt:lpstr>Equation.3</vt:lpstr>
      <vt:lpstr>Equation.3</vt:lpstr>
      <vt:lpstr>Equation.3</vt:lpstr>
      <vt:lpstr>Visio.Drawing.11</vt:lpstr>
      <vt:lpstr>PowerPoint 演示文稿</vt:lpstr>
      <vt:lpstr> 第6章 常用电路的VHDL描述 </vt:lpstr>
      <vt:lpstr>PowerPoint 演示文稿</vt:lpstr>
      <vt:lpstr>（1）PROCESS+IF：    1、PROCESS          敏感表中放异步控制信号、时钟信号；         多进程对应异步结构。    2、IF：          不完整if形成触发器结构；          条件判断顺序对应控制信号的优先级。 （2）有限状态机描述控制部件 （3）元件例化语句描述 </vt:lpstr>
      <vt:lpstr>常用时序部件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njust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wjx</dc:creator>
  <cp:lastModifiedBy>林惜汐</cp:lastModifiedBy>
  <cp:revision>522</cp:revision>
  <dcterms:created xsi:type="dcterms:W3CDTF">2006-04-19T05:22:00Z</dcterms:created>
  <dcterms:modified xsi:type="dcterms:W3CDTF">2025-04-14T21:12:53Z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5697599ECCA24FEF9DCF7629C7543150</vt:lpwstr>
  </property>
</Properties>
</file>