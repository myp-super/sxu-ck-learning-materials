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87" r:id="rId3"/>
    <p:sldId id="844" r:id="rId4"/>
    <p:sldId id="847" r:id="rId5"/>
    <p:sldId id="925" r:id="rId6"/>
    <p:sldId id="894" r:id="rId7"/>
    <p:sldId id="1028" r:id="rId8"/>
    <p:sldId id="1029" r:id="rId9"/>
    <p:sldId id="1107" r:id="rId10"/>
    <p:sldId id="1108" r:id="rId12"/>
    <p:sldId id="1109" r:id="rId13"/>
    <p:sldId id="1111" r:id="rId14"/>
    <p:sldId id="1233" r:id="rId15"/>
    <p:sldId id="1030" r:id="rId16"/>
    <p:sldId id="1031" r:id="rId17"/>
    <p:sldId id="1033" r:id="rId18"/>
    <p:sldId id="1112" r:id="rId19"/>
    <p:sldId id="1235" r:id="rId20"/>
    <p:sldId id="1032" r:id="rId21"/>
    <p:sldId id="1035" r:id="rId22"/>
    <p:sldId id="1036" r:id="rId23"/>
    <p:sldId id="1037" r:id="rId24"/>
    <p:sldId id="1038" r:id="rId25"/>
    <p:sldId id="1039" r:id="rId26"/>
    <p:sldId id="1040" r:id="rId27"/>
    <p:sldId id="1041" r:id="rId28"/>
    <p:sldId id="1042" r:id="rId29"/>
    <p:sldId id="1043" r:id="rId30"/>
    <p:sldId id="1044" r:id="rId31"/>
    <p:sldId id="1045" r:id="rId32"/>
    <p:sldId id="1113" r:id="rId33"/>
    <p:sldId id="1114" r:id="rId34"/>
    <p:sldId id="1115" r:id="rId35"/>
    <p:sldId id="1116" r:id="rId36"/>
    <p:sldId id="1121" r:id="rId37"/>
    <p:sldId id="1118" r:id="rId38"/>
    <p:sldId id="1119" r:id="rId39"/>
    <p:sldId id="1122" r:id="rId40"/>
    <p:sldId id="1123" r:id="rId41"/>
    <p:sldId id="1124" r:id="rId42"/>
    <p:sldId id="1157" r:id="rId43"/>
    <p:sldId id="1126" r:id="rId44"/>
    <p:sldId id="1127" r:id="rId45"/>
  </p:sldIdLst>
  <p:sldSz cx="9144000" cy="6858000" type="screen4x3"/>
  <p:notesSz cx="6858000" cy="9144000"/>
  <p:custDataLst>
    <p:tags r:id="rId5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79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" initials="m" lastIdx="1" clrIdx="0"/>
  <p:cmAuthor id="2" name="Administrator" initials="A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9"/>
    <p:restoredTop sz="94655"/>
  </p:normalViewPr>
  <p:slideViewPr>
    <p:cSldViewPr showGuides="1">
      <p:cViewPr varScale="1">
        <p:scale>
          <a:sx n="45" d="100"/>
          <a:sy n="45" d="100"/>
        </p:scale>
        <p:origin x="970" y="34"/>
      </p:cViewPr>
      <p:guideLst>
        <p:guide orient="horz" pos="2208"/>
        <p:guide pos="27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gs" Target="tags/tag35.xml"/><Relationship Id="rId5" Type="http://schemas.openxmlformats.org/officeDocument/2006/relationships/slide" Target="slides/slide3.xml"/><Relationship Id="rId49" Type="http://schemas.openxmlformats.org/officeDocument/2006/relationships/commentAuthors" Target="commentAuthors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pattFill prst="ltHorz">
          <a:fgClr>
            <a:srgbClr val="E0E0E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endParaRPr lang="en-US" strike="noStrike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fld id="{B5BAE9EB-4175-4107-BAE7-3DF64F6C22AB}" type="slidenum">
              <a:rPr lang="zh-CN" altLang="zh-CN" strike="noStrike" noProof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10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12.xml"/><Relationship Id="rId2" Type="http://schemas.openxmlformats.org/officeDocument/2006/relationships/image" Target="../media/image2.png"/><Relationship Id="rId1" Type="http://schemas.openxmlformats.org/officeDocument/2006/relationships/tags" Target="../tags/tag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tags" Target="../tags/tag34.xml"/><Relationship Id="rId2" Type="http://schemas.openxmlformats.org/officeDocument/2006/relationships/image" Target="../media/image8.png"/><Relationship Id="rId1" Type="http://schemas.openxmlformats.org/officeDocument/2006/relationships/tags" Target="../tags/tag3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矩形 181249"/>
          <p:cNvSpPr>
            <a:spLocks noRot="1"/>
          </p:cNvSpPr>
          <p:nvPr/>
        </p:nvSpPr>
        <p:spPr>
          <a:xfrm>
            <a:off x="1257300" y="1844358"/>
            <a:ext cx="681196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zh-CN" sz="5100" dirty="0">
                <a:solidFill>
                  <a:srgbClr val="7C020E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可编程逻辑器件</a:t>
            </a:r>
            <a:r>
              <a:rPr lang="zh-CN" altLang="en-US" sz="5100" dirty="0">
                <a:solidFill>
                  <a:srgbClr val="FB051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</a:t>
            </a:r>
            <a:endParaRPr lang="zh-CN" altLang="en-US" sz="5100">
              <a:solidFill>
                <a:srgbClr val="FB051C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170" name="文本框 181250"/>
          <p:cNvSpPr txBox="1"/>
          <p:nvPr/>
        </p:nvSpPr>
        <p:spPr>
          <a:xfrm>
            <a:off x="1835150" y="3429000"/>
            <a:ext cx="5257800" cy="1322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山西大学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白婷婷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pic>
        <p:nvPicPr>
          <p:cNvPr id="717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9825" y="0"/>
            <a:ext cx="2619375" cy="1038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197633"/>
          <p:cNvSpPr>
            <a:spLocks noGrp="1"/>
          </p:cNvSpPr>
          <p:nvPr>
            <p:ph type="title"/>
          </p:nvPr>
        </p:nvSpPr>
        <p:spPr>
          <a:xfrm>
            <a:off x="323215" y="836930"/>
            <a:ext cx="8229600" cy="1143000"/>
          </a:xfrm>
          <a:noFill/>
          <a:ln>
            <a:noFill/>
          </a:ln>
        </p:spPr>
        <p:txBody>
          <a:bodyPr anchor="t"/>
          <a:p>
            <a:pPr algn="ctr"/>
            <a:r>
              <a:rPr lang="zh-CN" altLang="en-US" sz="4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 常用电路的</a:t>
            </a:r>
            <a:r>
              <a:rPr lang="en-US" altLang="zh-CN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br>
              <a:rPr lang="zh-CN" altLang="en-US" sz="4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</a:br>
            <a:endParaRPr lang="zh-CN" altLang="en-US" sz="4400" dirty="0">
              <a:solidFill>
                <a:srgbClr val="99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3508" name="矩形 533507"/>
          <p:cNvSpPr/>
          <p:nvPr/>
        </p:nvSpPr>
        <p:spPr>
          <a:xfrm>
            <a:off x="971550" y="1917065"/>
            <a:ext cx="3671888" cy="58356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本章内容：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53350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331595" y="2708910"/>
            <a:ext cx="7002780" cy="35210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组合电路设计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算数逻辑单元设计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时序电路设计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①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计数器及其应用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en-US" altLang="zh-CN" sz="2400" b="1" dirty="0">
                <a:latin typeface="Calibri" panose="020F0502020204030204" charset="0"/>
                <a:ea typeface="微软雅黑" panose="020B0503020204020204" charset="-122"/>
              </a:rPr>
              <a:t>②</a:t>
            </a:r>
            <a:r>
              <a:rPr lang="zh-CN" altLang="en-US" sz="2400" b="1" dirty="0">
                <a:latin typeface="Calibri" panose="020F0502020204030204" charset="0"/>
                <a:ea typeface="微软雅黑" panose="020B0503020204020204" charset="-122"/>
              </a:rPr>
              <a:t>移位寄存器及其应用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存储器设计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状态机设计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3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charRg st="7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charRg st="14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8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矩形 314372"/>
          <p:cNvSpPr/>
          <p:nvPr/>
        </p:nvSpPr>
        <p:spPr>
          <a:xfrm>
            <a:off x="684213" y="1843723"/>
            <a:ext cx="7989887" cy="431958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时序电路的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描述方法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、状态表：行为描述（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、状态转换图：有限状态机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、逻辑电路：结构式（</a:t>
            </a:r>
            <a:r>
              <a:rPr lang="zh-CN" altLang="en-US" sz="2400" b="1" dirty="0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元件例化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721" name="标题 534529"/>
          <p:cNvSpPr>
            <a:spLocks noGrp="1"/>
          </p:cNvSpPr>
          <p:nvPr/>
        </p:nvSpPr>
        <p:spPr>
          <a:xfrm>
            <a:off x="457200" y="839470"/>
            <a:ext cx="8229600" cy="7219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6.3 </a:t>
            </a:r>
            <a:r>
              <a:rPr lang="zh-CN" altLang="zh-CN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</a:t>
            </a:r>
            <a:r>
              <a:rPr lang="en-US" altLang="zh-CN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endParaRPr lang="zh-CN" altLang="en-US" sz="4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8386" name="标题 528385"/>
          <p:cNvSpPr>
            <a:spLocks noGrp="1"/>
          </p:cNvSpPr>
          <p:nvPr>
            <p:ph type="title"/>
          </p:nvPr>
        </p:nvSpPr>
        <p:spPr>
          <a:xfrm>
            <a:off x="685800" y="695325"/>
            <a:ext cx="8458200" cy="5293995"/>
          </a:xfrm>
          <a:noFill/>
          <a:ln>
            <a:noFill/>
          </a:ln>
        </p:spPr>
        <p:txBody>
          <a:bodyPr/>
          <a:p>
            <a:pPr marL="0" indent="0" algn="l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PROCESS+IF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b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 </a:t>
            </a:r>
            <a:b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敏感表中放异步控制信号、时钟信号；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多进程对应异步结构。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不完整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形成触发器结构；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条件判断顺序对应控制信号的优先级。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）有限状态机描述控制部件</a:t>
            </a:r>
            <a:b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）元件例化语句描述</a:t>
            </a:r>
            <a:b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0"/>
                                        <p:tgtEl>
                                          <p:spTgt spid="52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38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标题 570369"/>
          <p:cNvSpPr>
            <a:spLocks noGrp="1"/>
          </p:cNvSpPr>
          <p:nvPr>
            <p:ph type="title"/>
          </p:nvPr>
        </p:nvSpPr>
        <p:spPr>
          <a:xfrm>
            <a:off x="531495" y="1125855"/>
            <a:ext cx="7656513" cy="1079500"/>
          </a:xfrm>
          <a:noFill/>
          <a:ln>
            <a:noFill/>
          </a:ln>
        </p:spPr>
        <p:txBody>
          <a:bodyPr anchor="t"/>
          <a:p>
            <a:pPr marL="342900" indent="-342900" algn="l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常用时序部件</a:t>
            </a:r>
            <a:b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</a:b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0372" name="矩形 570371"/>
          <p:cNvSpPr/>
          <p:nvPr/>
        </p:nvSpPr>
        <p:spPr>
          <a:xfrm>
            <a:off x="1057275" y="2205038"/>
            <a:ext cx="2893060" cy="370903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algn="l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触发器和锁存器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计数器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移位寄存器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序列信号发生器；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序列信号检测器；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状态控制器</a:t>
            </a:r>
            <a:b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7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2" name="矩形 735237"/>
          <p:cNvSpPr/>
          <p:nvPr/>
        </p:nvSpPr>
        <p:spPr>
          <a:xfrm>
            <a:off x="290830" y="520065"/>
            <a:ext cx="8229600" cy="7150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移位寄存器</a:t>
            </a:r>
            <a:endParaRPr lang="zh-CN" altLang="en-US" sz="36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5027" name="文本占位符 385026"/>
          <p:cNvSpPr>
            <a:spLocks noGrp="1"/>
          </p:cNvSpPr>
          <p:nvPr>
            <p:ph type="body" idx="1"/>
          </p:nvPr>
        </p:nvSpPr>
        <p:spPr>
          <a:xfrm>
            <a:off x="513715" y="1419225"/>
            <a:ext cx="8115935" cy="2306955"/>
          </a:xfrm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457200" eaLnBrk="1" latinLnBrk="0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位寄存器除了具有存放代码的功能外，还具有移位功能。所谓移位，就是寄存器中所存代码能够在移位脉冲（即时钟脉冲）作用下依次左移或右移，可以输入数据的串并转换、并串转换、信号延迟以及进行数字运算等。            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1155" name="矩形 561154"/>
          <p:cNvSpPr/>
          <p:nvPr/>
        </p:nvSpPr>
        <p:spPr>
          <a:xfrm>
            <a:off x="402590" y="4138295"/>
            <a:ext cx="8117840" cy="11245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移位寄存器设计（单向、双向）</a:t>
            </a:r>
            <a:endParaRPr lang="zh-CN" altLang="en-US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移位寄存器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应用（环形计数器、分频器、序列发生器等）</a:t>
            </a:r>
            <a:endParaRPr lang="zh-CN" altLang="en-US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6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矩形 578562"/>
          <p:cNvSpPr/>
          <p:nvPr/>
        </p:nvSpPr>
        <p:spPr>
          <a:xfrm>
            <a:off x="520065" y="1163320"/>
            <a:ext cx="8229600" cy="53086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单向移位寄存器设计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586" name="矩形 376835"/>
          <p:cNvSpPr/>
          <p:nvPr/>
        </p:nvSpPr>
        <p:spPr>
          <a:xfrm>
            <a:off x="254000" y="427038"/>
            <a:ext cx="8229600" cy="6334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移位寄存器设计</a:t>
            </a:r>
            <a:br>
              <a:rPr lang="zh-CN" altLang="en-US" sz="2800" b="1" dirty="0">
                <a:solidFill>
                  <a:srgbClr val="0000FF"/>
                </a:solidFill>
                <a:latin typeface="Arial Narrow" panose="020B0606020202030204" pitchFamily="34" charset="0"/>
                <a:ea typeface="楷体_GB2312" pitchFamily="49" charset="-122"/>
              </a:rPr>
            </a:b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87778" name="文本占位符 587777"/>
          <p:cNvSpPr>
            <a:spLocks noGrp="1"/>
          </p:cNvSpPr>
          <p:nvPr>
            <p:ph type="body" idx="1"/>
          </p:nvPr>
        </p:nvSpPr>
        <p:spPr>
          <a:xfrm>
            <a:off x="748348" y="1822768"/>
            <a:ext cx="8001000" cy="53403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7-24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位单向移位寄存器设计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7782" name="文本框 587781"/>
          <p:cNvSpPr txBox="1"/>
          <p:nvPr/>
        </p:nvSpPr>
        <p:spPr>
          <a:xfrm>
            <a:off x="1692275" y="3712845"/>
            <a:ext cx="4464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</a:endParaRPr>
          </a:p>
        </p:txBody>
      </p:sp>
      <p:pic>
        <p:nvPicPr>
          <p:cNvPr id="587810" name="图片 5878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685" y="4170045"/>
            <a:ext cx="6818313" cy="1587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4000" y="2513965"/>
            <a:ext cx="8808085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indent="609600" defTabSz="914400">
              <a:lnSpc>
                <a:spcPct val="130000"/>
              </a:lnSpc>
              <a:spcBef>
                <a:spcPts val="0"/>
              </a:spcBef>
              <a:buClrTx/>
              <a:buSzTx/>
              <a:buFontTx/>
              <a:defRPr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zh-CN" sz="2400" b="1" noProof="1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在</a:t>
            </a:r>
            <a:r>
              <a:rPr lang="zh-CN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每一个时钟脉冲时，数据从一个触发器移动到另一个触发器</a:t>
            </a:r>
            <a:r>
              <a:rPr lang="zh-CN" altLang="zh-CN" sz="2400" b="1" noProof="1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。串行</a:t>
            </a:r>
            <a:r>
              <a:rPr lang="zh-CN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数据</a:t>
            </a:r>
            <a:r>
              <a:rPr lang="en-US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DIN</a:t>
            </a:r>
            <a:r>
              <a:rPr lang="zh-CN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从移位寄存器的右边输入进来，在每个时钟到来时，</a:t>
            </a:r>
            <a:r>
              <a:rPr lang="en-US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Q0</a:t>
            </a:r>
            <a:r>
              <a:rPr lang="zh-CN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移动到</a:t>
            </a:r>
            <a:r>
              <a:rPr lang="en-US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Q1</a:t>
            </a:r>
            <a:r>
              <a:rPr lang="zh-CN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，</a:t>
            </a:r>
            <a:r>
              <a:rPr lang="en-US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Q1</a:t>
            </a:r>
            <a:r>
              <a:rPr lang="zh-CN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移动到</a:t>
            </a:r>
            <a:r>
              <a:rPr lang="en-US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Q2</a:t>
            </a:r>
            <a:r>
              <a:rPr lang="zh-CN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，</a:t>
            </a:r>
            <a:r>
              <a:rPr lang="en-US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Q2</a:t>
            </a:r>
            <a:r>
              <a:rPr lang="zh-CN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移动到</a:t>
            </a:r>
            <a:r>
              <a:rPr lang="en-US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Q3</a:t>
            </a:r>
            <a:r>
              <a:rPr lang="zh-CN" altLang="zh-CN" sz="2400" b="1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。</a:t>
            </a:r>
            <a:endParaRPr lang="zh-CN" altLang="zh-CN" sz="2400" b="1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内容占位符 640001"/>
          <p:cNvSpPr>
            <a:spLocks noGrp="1"/>
          </p:cNvSpPr>
          <p:nvPr>
            <p:ph idx="1"/>
          </p:nvPr>
        </p:nvSpPr>
        <p:spPr>
          <a:xfrm>
            <a:off x="611188" y="1192213"/>
            <a:ext cx="8001000" cy="452183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library IEEE;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use IEEE.STD_LOGIC_1164.ALL;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use IEEE.STD_LOGIC_ARITH.ALL;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use IEEE.STD_LOGIC_UNSIGNED.ALL;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entity reg4 is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port (clk:in std_logic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 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din</a:t>
            </a: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: in std_logic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    q: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out</a:t>
            </a: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std_logic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	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end reg4;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0659" name="文本框 640003"/>
          <p:cNvSpPr txBox="1"/>
          <p:nvPr/>
        </p:nvSpPr>
        <p:spPr>
          <a:xfrm>
            <a:off x="611188" y="542608"/>
            <a:ext cx="360045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程序设计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实体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3665" y="54292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位串入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串出</a:t>
            </a:r>
            <a:r>
              <a:rPr lang="zh-CN" altLang="zh-CN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移位寄存器</a:t>
            </a:r>
            <a:endParaRPr lang="zh-CN" altLang="zh-CN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40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40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40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40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40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640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640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6400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6400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6400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00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文本框 588803"/>
          <p:cNvSpPr txBox="1"/>
          <p:nvPr>
            <p:custDataLst>
              <p:tags r:id="rId1"/>
            </p:custDataLst>
          </p:nvPr>
        </p:nvSpPr>
        <p:spPr>
          <a:xfrm>
            <a:off x="683260" y="44450"/>
            <a:ext cx="3740785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程序设计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结构体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2706" name="文本框 4"/>
          <p:cNvSpPr txBox="1"/>
          <p:nvPr>
            <p:custDataLst>
              <p:tags r:id="rId2"/>
            </p:custDataLst>
          </p:nvPr>
        </p:nvSpPr>
        <p:spPr>
          <a:xfrm>
            <a:off x="6372225" y="2997200"/>
            <a:ext cx="1982788" cy="5826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for loop</a:t>
            </a:r>
            <a:endParaRPr lang="en-US" altLang="zh-CN" sz="3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705" name="Rectangle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51460" y="404495"/>
            <a:ext cx="5869305" cy="634809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architecture B</a:t>
            </a:r>
            <a:r>
              <a:rPr lang="en-US" altLang="zh-CN" sz="2000">
                <a:ea typeface="楷体_GB2312" pitchFamily="49" charset="-122"/>
                <a:sym typeface="+mn-ea"/>
              </a:rPr>
              <a:t>ehavioral</a:t>
            </a: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of  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reg4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is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signal tmp: std_logic_vector(3 downto 0);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begin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q&lt;=tmp(3)</a:t>
            </a:r>
            <a:endParaRPr lang="en-US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process (clk)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begin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if rising_edge(clk) then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for i in 0 to 2 loop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tmp(i+1) &lt;= tmp(i);</a:t>
            </a:r>
            <a:endParaRPr lang="en-US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end loop;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 tmp(0) &lt;= din;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end if;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end process;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end B</a:t>
            </a:r>
            <a:r>
              <a:rPr lang="en-US" altLang="zh-CN" sz="2000">
                <a:ea typeface="楷体_GB2312" pitchFamily="49" charset="-122"/>
                <a:sym typeface="+mn-ea"/>
              </a:rPr>
              <a:t>ehavioral</a:t>
            </a: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/>
          </p:cNvSpPr>
          <p:nvPr/>
        </p:nvSpPr>
        <p:spPr>
          <a:xfrm>
            <a:off x="288925" y="332423"/>
            <a:ext cx="8566150" cy="60182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eaLnBrk="1" fontAlgn="base" hangingPunct="1"/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architecture structure of </a:t>
            </a:r>
            <a:r>
              <a:rPr lang="en-US" altLang="zh-CN" sz="2000" b="1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reg4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is</a:t>
            </a:r>
            <a:endParaRPr lang="zh-CN" altLang="zh-CN" sz="2000" b="1" strike="noStrike" noProof="1">
              <a:solidFill>
                <a:schemeClr val="tx1"/>
              </a:solidFill>
            </a:endParaRPr>
          </a:p>
          <a:p>
            <a:pPr marL="0" indent="0" algn="l" eaLnBrk="1" fontAlgn="base" hangingPunct="1"/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   Component dff</a:t>
            </a:r>
            <a:endParaRPr lang="zh-CN" altLang="zh-CN" sz="2000" b="1" strike="noStrike" noProof="1">
              <a:solidFill>
                <a:schemeClr val="tx1"/>
              </a:solidFill>
            </a:endParaRPr>
          </a:p>
          <a:p>
            <a:pPr marL="0" indent="0" algn="l" eaLnBrk="1" fontAlgn="base" hangingPunct="1"/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       Port(d,clk  :  in   std_logic;</a:t>
            </a:r>
            <a:endParaRPr lang="zh-CN" altLang="zh-CN" sz="2000" b="1" strike="noStrike" noProof="1">
              <a:solidFill>
                <a:schemeClr val="tx1"/>
              </a:solidFill>
            </a:endParaRPr>
          </a:p>
          <a:p>
            <a:pPr marL="0" indent="0" algn="l" eaLnBrk="1" fontAlgn="base" hangingPunct="1"/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                   q     :  out  std_logic);</a:t>
            </a:r>
            <a:endParaRPr lang="zh-CN" altLang="zh-CN" sz="2000" b="1" strike="noStrike" noProof="1">
              <a:solidFill>
                <a:schemeClr val="tx1"/>
              </a:solidFill>
            </a:endParaRPr>
          </a:p>
          <a:p>
            <a:pPr marL="0" indent="0" algn="l" eaLnBrk="1" fontAlgn="base" hangingPunct="1"/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   End component;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endParaRPr lang="en-US" altLang="zh-CN" sz="2000" b="1" strike="noStrike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l" eaLnBrk="1" fontAlgn="base" hangingPunct="1"/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signal tmp: std_logic_vector(3 downto 0);</a:t>
            </a:r>
            <a:endParaRPr lang="en-US" altLang="zh-CN" sz="2000" b="1" strike="noStrike" noProof="1">
              <a:solidFill>
                <a:schemeClr val="tx1"/>
              </a:solidFill>
            </a:endParaRPr>
          </a:p>
          <a:p>
            <a:pPr marL="0" indent="0" algn="l" eaLnBrk="1" fontAlgn="base" hangingPunct="1"/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endParaRPr lang="en-US" altLang="zh-CN" sz="2000" b="1" strike="noStrike" noProof="1">
              <a:solidFill>
                <a:schemeClr val="tx1"/>
              </a:solidFill>
            </a:endParaRPr>
          </a:p>
          <a:p>
            <a:pPr algn="just" fontAlgn="base">
              <a:lnSpc>
                <a:spcPct val="150000"/>
              </a:lnSpc>
              <a:buNone/>
            </a:pPr>
            <a:r>
              <a:rPr lang="en-US" altLang="zh-CN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 U0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：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lt"/>
                <a:sym typeface="+mn-ea"/>
              </a:rPr>
              <a:t>dff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  PORT MAP (din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clk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tmp(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0))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；</a:t>
            </a:r>
            <a:endParaRPr lang="en-US" altLang="zh-CN" sz="2000" b="1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  <a:buNone/>
            </a:pPr>
            <a:r>
              <a:rPr lang="en-US" altLang="zh-CN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 U1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：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lt"/>
                <a:sym typeface="+mn-ea"/>
              </a:rPr>
              <a:t>dff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  PORT MAP (tmpz(0)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clk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tmp(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1))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；</a:t>
            </a: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            </a:t>
            </a:r>
            <a:endParaRPr lang="zh-CN" altLang="en-US" sz="2000" strike="noStrike" noProof="1"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pPr algn="just" fontAlgn="base">
              <a:lnSpc>
                <a:spcPct val="150000"/>
              </a:lnSpc>
              <a:buNone/>
            </a:pP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 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U2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：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lt"/>
                <a:sym typeface="+mn-ea"/>
              </a:rPr>
              <a:t>dff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  PORT MAP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 (d=&gt;tmp(1)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clk=&gt;clk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q=&gt;tmp(2))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；</a:t>
            </a: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 </a:t>
            </a:r>
            <a:endParaRPr lang="zh-CN" altLang="en-US" sz="2000" strike="noStrike" noProof="1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fontAlgn="base">
              <a:lnSpc>
                <a:spcPct val="150000"/>
              </a:lnSpc>
              <a:buNone/>
            </a:pP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 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U3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：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lt"/>
                <a:sym typeface="+mn-ea"/>
              </a:rPr>
              <a:t>dff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  PORT MAP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 (d=&gt;tmp(2)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clk=&gt;clk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q=&gt;tmp(3))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；</a:t>
            </a: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</a:t>
            </a:r>
            <a:endParaRPr lang="zh-CN" altLang="en-US" sz="2000" strike="noStrike" noProof="1">
              <a:latin typeface="Times New Roman" panose="02020603050405020304" pitchFamily="18" charset="0"/>
              <a:ea typeface="楷体_GB2312" pitchFamily="49" charset="-122"/>
              <a:cs typeface="+mn-cs"/>
              <a:sym typeface="+mn-ea"/>
            </a:endParaRPr>
          </a:p>
          <a:p>
            <a:pPr algn="just" fontAlgn="base">
              <a:lnSpc>
                <a:spcPct val="150000"/>
              </a:lnSpc>
              <a:buNone/>
            </a:pP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  </a:t>
            </a:r>
            <a:r>
              <a:rPr lang="en-US" altLang="zh-CN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q&lt;=</a:t>
            </a: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</a:t>
            </a:r>
            <a:r>
              <a:rPr lang="en-US" altLang="zh-CN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tmp(3);</a:t>
            </a: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</a:t>
            </a:r>
            <a:endParaRPr lang="zh-CN" altLang="en-US" sz="2000" strike="noStrike" noProof="1"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pPr algn="just" fontAlgn="base">
              <a:lnSpc>
                <a:spcPct val="150000"/>
              </a:lnSpc>
              <a:buNone/>
            </a:pP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 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structure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endParaRPr lang="en-US" altLang="zh-CN" sz="2000" b="1" strike="noStrike" noProof="1">
              <a:solidFill>
                <a:schemeClr val="tx1"/>
              </a:solidFill>
            </a:endParaRPr>
          </a:p>
        </p:txBody>
      </p:sp>
      <p:sp>
        <p:nvSpPr>
          <p:cNvPr id="74754" name="文本框 4"/>
          <p:cNvSpPr txBox="1"/>
          <p:nvPr/>
        </p:nvSpPr>
        <p:spPr>
          <a:xfrm>
            <a:off x="6132195" y="2710180"/>
            <a:ext cx="1982788" cy="5826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例化语句</a:t>
            </a:r>
            <a:endParaRPr lang="zh-CN" altLang="en-US" sz="3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7" name="Rectangle 3"/>
          <p:cNvSpPr>
            <a:spLocks noGrp="1"/>
          </p:cNvSpPr>
          <p:nvPr>
            <p:ph idx="1"/>
          </p:nvPr>
        </p:nvSpPr>
        <p:spPr>
          <a:xfrm>
            <a:off x="179070" y="188595"/>
            <a:ext cx="6106160" cy="689991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architecture rtl of shift16 is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    Component dff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         Port(d,clk  :  in   std_logic;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                    q     :  out  std_logic);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    End component;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signal tmp :  std_logic_vector(3 downto 0);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begin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   G1: for i in 0 to 3 generate 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        low:   if </a:t>
            </a:r>
            <a:r>
              <a:rPr lang="en-US" altLang="zh-CN" sz="2000" b="1">
                <a:solidFill>
                  <a:srgbClr val="FF5050"/>
                </a:solidFill>
                <a:latin typeface="Times New Roman" panose="02020603050405020304" pitchFamily="18" charset="0"/>
                <a:sym typeface="+mn-ea"/>
              </a:rPr>
              <a:t> i=0</a:t>
            </a: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 generate </a:t>
            </a:r>
            <a:br>
              <a:rPr lang="en-US" altLang="zh-CN" sz="2000" b="1" err="1">
                <a:latin typeface="Times New Roman" panose="02020603050405020304" pitchFamily="18" charset="0"/>
                <a:sym typeface="+mn-ea"/>
              </a:rPr>
            </a:b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            U1:  </a:t>
            </a:r>
            <a:r>
              <a:rPr lang="en-US" altLang="zh-CN" sz="2000" b="1" dirty="0">
                <a:sym typeface="+mn-ea"/>
              </a:rPr>
              <a:t> </a:t>
            </a:r>
            <a:r>
              <a:rPr lang="pl-PL" altLang="zh-CN" sz="2000" b="1" dirty="0">
                <a:sym typeface="+mn-ea"/>
              </a:rPr>
              <a:t>dff port map(</a:t>
            </a:r>
            <a:r>
              <a:rPr lang="en-US" sz="2000" b="1" dirty="0">
                <a:sym typeface="+mn-ea"/>
              </a:rPr>
              <a:t>din</a:t>
            </a:r>
            <a:r>
              <a:rPr lang="pl-PL" altLang="zh-CN" sz="2000" b="1" dirty="0">
                <a:sym typeface="+mn-ea"/>
              </a:rPr>
              <a:t>,clk,</a:t>
            </a:r>
            <a:r>
              <a:rPr lang="en-US" altLang="pl-PL" sz="2000" b="1" dirty="0">
                <a:sym typeface="+mn-ea"/>
              </a:rPr>
              <a:t>tmp</a:t>
            </a:r>
            <a:r>
              <a:rPr lang="pl-PL" altLang="zh-CN" sz="2000" b="1" dirty="0">
                <a:sym typeface="+mn-ea"/>
              </a:rPr>
              <a:t>(i));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pl-PL" altLang="zh-CN" sz="2000" b="1" dirty="0">
                <a:sym typeface="+mn-ea"/>
              </a:rPr>
              <a:t>  </a:t>
            </a:r>
            <a:r>
              <a:rPr lang="en-US" altLang="zh-CN" sz="2000" b="1" dirty="0">
                <a:sym typeface="+mn-ea"/>
              </a:rPr>
              <a:t> </a:t>
            </a:r>
            <a:r>
              <a:rPr lang="pl-PL" altLang="zh-CN" sz="2000" b="1" dirty="0">
                <a:sym typeface="+mn-ea"/>
              </a:rPr>
              <a:t>     </a:t>
            </a:r>
            <a:r>
              <a:rPr lang="en-US" altLang="pl-PL" sz="2000" b="1" dirty="0">
                <a:sym typeface="+mn-ea"/>
              </a:rPr>
              <a:t>     </a:t>
            </a:r>
            <a:r>
              <a:rPr lang="en-US" altLang="zh-CN" sz="2000" b="1" dirty="0">
                <a:sym typeface="+mn-ea"/>
              </a:rPr>
              <a:t>end generate;</a:t>
            </a:r>
            <a:endParaRPr lang="en-US" altLang="zh-CN" sz="2000" b="1" dirty="0"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        other:   if </a:t>
            </a:r>
            <a:r>
              <a:rPr lang="en-US" altLang="zh-CN" sz="2000" b="1">
                <a:solidFill>
                  <a:srgbClr val="FF5050"/>
                </a:solidFill>
                <a:latin typeface="Times New Roman" panose="02020603050405020304" pitchFamily="18" charset="0"/>
                <a:sym typeface="+mn-ea"/>
              </a:rPr>
              <a:t> i  </a:t>
            </a:r>
            <a:r>
              <a:rPr lang="en-US" altLang="zh-CN" sz="2000" b="1" dirty="0">
                <a:sym typeface="+mn-ea"/>
              </a:rPr>
              <a:t>in 1 to 3 </a:t>
            </a: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generate </a:t>
            </a:r>
            <a:br>
              <a:rPr lang="en-US" altLang="zh-CN" sz="2000" b="1" err="1">
                <a:latin typeface="Times New Roman" panose="02020603050405020304" pitchFamily="18" charset="0"/>
                <a:sym typeface="+mn-ea"/>
              </a:rPr>
            </a:br>
            <a:r>
              <a:rPr lang="en-US" altLang="zh-CN" sz="2000" b="1" dirty="0">
                <a:solidFill>
                  <a:schemeClr val="tx1"/>
                </a:solidFill>
              </a:rPr>
              <a:t>             </a:t>
            </a: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U2:</a:t>
            </a:r>
            <a:r>
              <a:rPr lang="pl-PL" altLang="zh-CN" sz="2000" b="1" dirty="0">
                <a:solidFill>
                  <a:schemeClr val="tx1"/>
                </a:solidFill>
              </a:rPr>
              <a:t> </a:t>
            </a:r>
            <a:r>
              <a:rPr lang="en-US" altLang="pl-PL" sz="2000" b="1" dirty="0">
                <a:solidFill>
                  <a:schemeClr val="tx1"/>
                </a:solidFill>
              </a:rPr>
              <a:t> </a:t>
            </a:r>
            <a:r>
              <a:rPr lang="pl-PL" altLang="zh-CN" sz="2000" b="1" dirty="0">
                <a:solidFill>
                  <a:schemeClr val="tx1"/>
                </a:solidFill>
              </a:rPr>
              <a:t>dff port map(</a:t>
            </a:r>
            <a:r>
              <a:rPr lang="en-US" altLang="pl-PL" sz="2000" b="1" dirty="0">
                <a:solidFill>
                  <a:schemeClr val="tx1"/>
                </a:solidFill>
              </a:rPr>
              <a:t>tmp</a:t>
            </a:r>
            <a:r>
              <a:rPr lang="pl-PL" altLang="zh-CN" sz="2000" b="1" dirty="0">
                <a:solidFill>
                  <a:schemeClr val="tx1"/>
                </a:solidFill>
              </a:rPr>
              <a:t>(i</a:t>
            </a:r>
            <a:r>
              <a:rPr lang="en-US" altLang="pl-PL" sz="2000" b="1" dirty="0">
                <a:solidFill>
                  <a:schemeClr val="tx1"/>
                </a:solidFill>
              </a:rPr>
              <a:t>-1</a:t>
            </a:r>
            <a:r>
              <a:rPr lang="pl-PL" altLang="zh-CN" sz="2000" b="1" dirty="0">
                <a:solidFill>
                  <a:schemeClr val="tx1"/>
                </a:solidFill>
              </a:rPr>
              <a:t>),clk,</a:t>
            </a:r>
            <a:r>
              <a:rPr lang="en-US" altLang="pl-PL" sz="2000" b="1" dirty="0">
                <a:solidFill>
                  <a:schemeClr val="tx1"/>
                </a:solidFill>
              </a:rPr>
              <a:t>tmp</a:t>
            </a:r>
            <a:r>
              <a:rPr lang="pl-PL" altLang="zh-CN" sz="2000" b="1" dirty="0">
                <a:solidFill>
                  <a:schemeClr val="tx1"/>
                </a:solidFill>
              </a:rPr>
              <a:t>(i));</a:t>
            </a:r>
            <a:endParaRPr lang="pl-PL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pl-PL" altLang="zh-CN" sz="2000" b="1" dirty="0">
                <a:solidFill>
                  <a:schemeClr val="tx1"/>
                </a:solidFill>
              </a:rPr>
              <a:t> </a:t>
            </a:r>
            <a:r>
              <a:rPr lang="en-US" altLang="pl-PL" sz="2000" b="1" dirty="0">
                <a:solidFill>
                  <a:schemeClr val="tx1"/>
                </a:solidFill>
              </a:rPr>
              <a:t>            </a:t>
            </a:r>
            <a:r>
              <a:rPr lang="en-US" altLang="zh-CN" sz="2000" b="1" dirty="0">
                <a:sym typeface="+mn-ea"/>
              </a:rPr>
              <a:t>end generate; 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pl-PL" altLang="zh-CN" sz="2000" b="1" dirty="0">
                <a:solidFill>
                  <a:schemeClr val="tx1"/>
                </a:solidFill>
              </a:rPr>
              <a:t>  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pl-PL" altLang="zh-CN" sz="2000" b="1" dirty="0">
                <a:solidFill>
                  <a:schemeClr val="tx1"/>
                </a:solidFill>
              </a:rPr>
              <a:t>     </a:t>
            </a:r>
            <a:r>
              <a:rPr lang="en-US" altLang="zh-CN" sz="2000" b="1" dirty="0">
                <a:solidFill>
                  <a:schemeClr val="tx1"/>
                </a:solidFill>
              </a:rPr>
              <a:t>end generate; 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        </a:t>
            </a:r>
            <a:r>
              <a:rPr lang="en-US" altLang="zh-CN" sz="2000" b="1" dirty="0">
                <a:sym typeface="+mn-ea"/>
              </a:rPr>
              <a:t> q&lt;=tmp(3);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end rtl;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2" name="文本框 4"/>
          <p:cNvSpPr txBox="1"/>
          <p:nvPr>
            <p:custDataLst>
              <p:tags r:id="rId1"/>
            </p:custDataLst>
          </p:nvPr>
        </p:nvSpPr>
        <p:spPr>
          <a:xfrm>
            <a:off x="6228080" y="2994025"/>
            <a:ext cx="21488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生成语句</a:t>
            </a:r>
            <a:r>
              <a:rPr lang="en-US" altLang="zh-CN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3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>
                                            <p:txEl>
                                              <p:charRg st="6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37">
                                            <p:txEl>
                                              <p:charRg st="6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37">
                                            <p:txEl>
                                              <p:charRg st="6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>
                                            <p:txEl>
                                              <p:charRg st="10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137">
                                            <p:txEl>
                                              <p:charRg st="10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137">
                                            <p:txEl>
                                              <p:charRg st="10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1137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1137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7" name="Rectangle 3"/>
          <p:cNvSpPr>
            <a:spLocks noGrp="1"/>
          </p:cNvSpPr>
          <p:nvPr>
            <p:ph idx="1"/>
          </p:nvPr>
        </p:nvSpPr>
        <p:spPr>
          <a:xfrm>
            <a:off x="179070" y="188595"/>
            <a:ext cx="6106160" cy="689991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architecture rtl of shift16 is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  </a:t>
            </a:r>
            <a:r>
              <a:rPr lang="en-US" altLang="zh-CN" sz="2000" b="1" dirty="0">
                <a:solidFill>
                  <a:schemeClr val="tx1"/>
                </a:solidFill>
              </a:rPr>
              <a:t>signal tmp :  std_logic_vector(3 downto 0);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begin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   G1: for i in 0 to 3 generate 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        low:   if </a:t>
            </a:r>
            <a:r>
              <a:rPr lang="en-US" altLang="zh-CN" sz="2000" b="1">
                <a:solidFill>
                  <a:srgbClr val="FF5050"/>
                </a:solidFill>
                <a:latin typeface="Times New Roman" panose="02020603050405020304" pitchFamily="18" charset="0"/>
                <a:sym typeface="+mn-ea"/>
              </a:rPr>
              <a:t> i=0</a:t>
            </a: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 generate </a:t>
            </a:r>
            <a:br>
              <a:rPr lang="en-US" altLang="zh-CN" sz="2000" b="1" err="1">
                <a:latin typeface="Times New Roman" panose="02020603050405020304" pitchFamily="18" charset="0"/>
                <a:sym typeface="+mn-ea"/>
              </a:rPr>
            </a:b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            U1:  </a:t>
            </a:r>
            <a:r>
              <a:rPr lang="en-US" altLang="zh-CN" sz="2000" b="1" dirty="0">
                <a:sym typeface="+mn-ea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tmp(0)&lt;=din;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buNone/>
            </a:pPr>
            <a:r>
              <a:rPr lang="pl-PL" altLang="zh-CN" sz="2000" b="1" dirty="0">
                <a:sym typeface="+mn-ea"/>
              </a:rPr>
              <a:t>  </a:t>
            </a:r>
            <a:r>
              <a:rPr lang="en-US" altLang="zh-CN" sz="2000" b="1" dirty="0">
                <a:sym typeface="+mn-ea"/>
              </a:rPr>
              <a:t> </a:t>
            </a:r>
            <a:r>
              <a:rPr lang="pl-PL" altLang="zh-CN" sz="2000" b="1" dirty="0">
                <a:sym typeface="+mn-ea"/>
              </a:rPr>
              <a:t>     </a:t>
            </a:r>
            <a:r>
              <a:rPr lang="en-US" altLang="pl-PL" sz="2000" b="1" dirty="0">
                <a:sym typeface="+mn-ea"/>
              </a:rPr>
              <a:t>     </a:t>
            </a:r>
            <a:r>
              <a:rPr lang="en-US" altLang="zh-CN" sz="2000" b="1" dirty="0">
                <a:sym typeface="+mn-ea"/>
              </a:rPr>
              <a:t>end generate;</a:t>
            </a:r>
            <a:endParaRPr lang="en-US" altLang="zh-CN" sz="2000" b="1" dirty="0"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        other:   if </a:t>
            </a:r>
            <a:r>
              <a:rPr lang="en-US" altLang="zh-CN" sz="2000" b="1">
                <a:solidFill>
                  <a:srgbClr val="FF5050"/>
                </a:solidFill>
                <a:latin typeface="Times New Roman" panose="02020603050405020304" pitchFamily="18" charset="0"/>
                <a:sym typeface="+mn-ea"/>
              </a:rPr>
              <a:t> i  </a:t>
            </a:r>
            <a:r>
              <a:rPr lang="en-US" altLang="zh-CN" sz="2000" b="1" dirty="0">
                <a:sym typeface="+mn-ea"/>
              </a:rPr>
              <a:t>in 1 to 3 </a:t>
            </a: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generate </a:t>
            </a:r>
            <a:br>
              <a:rPr lang="en-US" altLang="zh-CN" sz="2000" b="1" err="1">
                <a:latin typeface="Times New Roman" panose="02020603050405020304" pitchFamily="18" charset="0"/>
                <a:sym typeface="+mn-ea"/>
              </a:rPr>
            </a:br>
            <a:r>
              <a:rPr lang="en-US" altLang="zh-CN" sz="2000" b="1" dirty="0">
                <a:solidFill>
                  <a:schemeClr val="tx1"/>
                </a:solidFill>
              </a:rPr>
              <a:t>             </a:t>
            </a: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U2:</a:t>
            </a:r>
            <a:r>
              <a:rPr lang="pl-PL" altLang="zh-CN" sz="2000" b="1" dirty="0">
                <a:solidFill>
                  <a:schemeClr val="tx1"/>
                </a:solidFill>
              </a:rPr>
              <a:t> </a:t>
            </a:r>
            <a:r>
              <a:rPr lang="en-US" altLang="pl-PL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tmp(i)&lt;=tmp(i-1);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marL="0" indent="0" eaLnBrk="1" hangingPunct="1">
              <a:buNone/>
            </a:pPr>
            <a:r>
              <a:rPr lang="pl-PL" altLang="zh-CN" sz="2000" b="1" dirty="0">
                <a:solidFill>
                  <a:schemeClr val="tx1"/>
                </a:solidFill>
              </a:rPr>
              <a:t> </a:t>
            </a:r>
            <a:r>
              <a:rPr lang="en-US" altLang="pl-PL" sz="2000" b="1" dirty="0">
                <a:solidFill>
                  <a:schemeClr val="tx1"/>
                </a:solidFill>
              </a:rPr>
              <a:t>            </a:t>
            </a:r>
            <a:r>
              <a:rPr lang="en-US" altLang="zh-CN" sz="2000" b="1" dirty="0">
                <a:sym typeface="+mn-ea"/>
              </a:rPr>
              <a:t>end generate; 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pl-PL" altLang="zh-CN" sz="2000" b="1" dirty="0">
                <a:solidFill>
                  <a:schemeClr val="tx1"/>
                </a:solidFill>
              </a:rPr>
              <a:t>  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pl-PL" altLang="zh-CN" sz="2000" b="1" dirty="0">
                <a:solidFill>
                  <a:schemeClr val="tx1"/>
                </a:solidFill>
              </a:rPr>
              <a:t>     </a:t>
            </a:r>
            <a:r>
              <a:rPr lang="en-US" altLang="zh-CN" sz="2000" b="1" dirty="0">
                <a:solidFill>
                  <a:schemeClr val="tx1"/>
                </a:solidFill>
              </a:rPr>
              <a:t>end generate; 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        </a:t>
            </a:r>
            <a:r>
              <a:rPr lang="en-US" altLang="zh-CN" sz="2000" b="1" dirty="0">
                <a:sym typeface="+mn-ea"/>
              </a:rPr>
              <a:t> q&lt;=tmp(3);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end rtl;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2" name="文本框 4"/>
          <p:cNvSpPr txBox="1"/>
          <p:nvPr>
            <p:custDataLst>
              <p:tags r:id="rId1"/>
            </p:custDataLst>
          </p:nvPr>
        </p:nvSpPr>
        <p:spPr>
          <a:xfrm>
            <a:off x="6228080" y="2994025"/>
            <a:ext cx="21488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生成语句</a:t>
            </a:r>
            <a:r>
              <a:rPr lang="en-US" altLang="zh-CN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3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>
                                            <p:txEl>
                                              <p:charRg st="6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37">
                                            <p:txEl>
                                              <p:charRg st="6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37">
                                            <p:txEl>
                                              <p:charRg st="6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>
                                            <p:txEl>
                                              <p:charRg st="10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137">
                                            <p:txEl>
                                              <p:charRg st="10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137">
                                            <p:txEl>
                                              <p:charRg st="10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1137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1137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内容占位符 640001"/>
          <p:cNvSpPr>
            <a:spLocks noGrp="1"/>
          </p:cNvSpPr>
          <p:nvPr>
            <p:ph idx="1"/>
          </p:nvPr>
        </p:nvSpPr>
        <p:spPr>
          <a:xfrm>
            <a:off x="611188" y="1192213"/>
            <a:ext cx="8001000" cy="452183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library IEEE;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use IEEE.STD_LOGIC_1164.ALL;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use IEEE.STD_LOGIC_ARITH.ALL;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use IEEE.STD_LOGIC_UNSIGNED.ALL;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entity reg4 is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port (clk:in std_logic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 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din</a:t>
            </a: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: in std_logic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    q: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buffer</a:t>
            </a: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std_logic_vector(3 downto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0)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		 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end reg4;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0659" name="文本框 640003"/>
          <p:cNvSpPr txBox="1"/>
          <p:nvPr/>
        </p:nvSpPr>
        <p:spPr>
          <a:xfrm>
            <a:off x="611188" y="542608"/>
            <a:ext cx="360045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程序设计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实体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3665" y="54292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位串入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并出</a:t>
            </a:r>
            <a:r>
              <a:rPr lang="zh-CN" altLang="zh-CN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移位寄存器</a:t>
            </a:r>
            <a:endParaRPr lang="zh-CN" altLang="zh-CN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40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40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40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40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40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640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640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6400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6400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6400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00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3"/>
          <p:cNvSpPr>
            <a:spLocks noGrp="1"/>
          </p:cNvSpPr>
          <p:nvPr/>
        </p:nvSpPr>
        <p:spPr>
          <a:xfrm>
            <a:off x="76835" y="692785"/>
            <a:ext cx="9144000" cy="5892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architecture B</a:t>
            </a:r>
            <a:r>
              <a:rPr lang="en-US" altLang="zh-CN" sz="2000">
                <a:ea typeface="楷体_GB2312" pitchFamily="49" charset="-122"/>
                <a:sym typeface="+mn-ea"/>
              </a:rPr>
              <a:t>ehavioral</a:t>
            </a: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of  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reg4</a:t>
            </a:r>
            <a:r>
              <a:rPr lang="en-US" altLang="zh-CN" sz="200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is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lang="en-US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begin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process (clk)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begin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if rising_edge(clk) then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for i in 0 to 2 loop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q(i+1) &lt;= q(i);</a:t>
            </a:r>
            <a:endParaRPr lang="en-US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end loop;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 q(0) &lt;= din;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     end if;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end process;</a:t>
            </a:r>
            <a:endParaRPr lang="zh-CN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     end B</a:t>
            </a:r>
            <a:r>
              <a:rPr lang="en-US" altLang="zh-CN" sz="2000">
                <a:ea typeface="楷体_GB2312" pitchFamily="49" charset="-122"/>
                <a:sym typeface="+mn-ea"/>
              </a:rPr>
              <a:t>ehavioral</a:t>
            </a:r>
            <a:r>
              <a:rPr lang="en-US" altLang="zh-CN" sz="2000" b="1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0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706" name="文本框 4"/>
          <p:cNvSpPr txBox="1"/>
          <p:nvPr/>
        </p:nvSpPr>
        <p:spPr>
          <a:xfrm>
            <a:off x="6089650" y="2994025"/>
            <a:ext cx="1982788" cy="5826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for loop</a:t>
            </a:r>
            <a:endParaRPr lang="en-US" altLang="zh-CN" sz="3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588803"/>
          <p:cNvSpPr txBox="1"/>
          <p:nvPr>
            <p:custDataLst>
              <p:tags r:id="rId1"/>
            </p:custDataLst>
          </p:nvPr>
        </p:nvSpPr>
        <p:spPr>
          <a:xfrm>
            <a:off x="611505" y="188595"/>
            <a:ext cx="3740785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程序设计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结构体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/>
          </p:cNvSpPr>
          <p:nvPr/>
        </p:nvSpPr>
        <p:spPr>
          <a:xfrm>
            <a:off x="288925" y="579438"/>
            <a:ext cx="8566150" cy="60182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eaLnBrk="1" fontAlgn="base" hangingPunct="1"/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architecture structure of </a:t>
            </a:r>
            <a:r>
              <a:rPr lang="en-US" altLang="zh-CN" sz="2000" b="1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reg4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is</a:t>
            </a:r>
            <a:endParaRPr lang="zh-CN" altLang="zh-CN" sz="2000" b="1" strike="noStrike" noProof="1">
              <a:solidFill>
                <a:schemeClr val="tx1"/>
              </a:solidFill>
            </a:endParaRPr>
          </a:p>
          <a:p>
            <a:pPr marL="0" indent="0" algn="l" eaLnBrk="1" fontAlgn="base" hangingPunct="1"/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   Component dff</a:t>
            </a:r>
            <a:endParaRPr lang="zh-CN" altLang="zh-CN" sz="2000" b="1" strike="noStrike" noProof="1">
              <a:solidFill>
                <a:schemeClr val="tx1"/>
              </a:solidFill>
            </a:endParaRPr>
          </a:p>
          <a:p>
            <a:pPr marL="0" indent="0" algn="l" eaLnBrk="1" fontAlgn="base" hangingPunct="1"/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       Port(d,clk  :  in   std_logic;</a:t>
            </a:r>
            <a:endParaRPr lang="zh-CN" altLang="zh-CN" sz="2000" b="1" strike="noStrike" noProof="1">
              <a:solidFill>
                <a:schemeClr val="tx1"/>
              </a:solidFill>
            </a:endParaRPr>
          </a:p>
          <a:p>
            <a:pPr marL="0" indent="0" algn="l" eaLnBrk="1" fontAlgn="base" hangingPunct="1"/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                   q     :  out  std_logic);</a:t>
            </a:r>
            <a:endParaRPr lang="zh-CN" altLang="zh-CN" sz="2000" b="1" strike="noStrike" noProof="1">
              <a:solidFill>
                <a:schemeClr val="tx1"/>
              </a:solidFill>
            </a:endParaRPr>
          </a:p>
          <a:p>
            <a:pPr marL="0" indent="0" algn="l" eaLnBrk="1" fontAlgn="base" hangingPunct="1"/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   End component;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endParaRPr lang="en-US" altLang="zh-CN" sz="2000" b="1" strike="noStrike" noProof="1">
              <a:solidFill>
                <a:schemeClr val="tx1"/>
              </a:solidFill>
            </a:endParaRPr>
          </a:p>
          <a:p>
            <a:pPr marL="0" indent="0" algn="l" eaLnBrk="1" fontAlgn="base" hangingPunct="1"/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endParaRPr lang="en-US" altLang="zh-CN" sz="2000" b="1" strike="noStrike" noProof="1">
              <a:solidFill>
                <a:schemeClr val="tx1"/>
              </a:solidFill>
            </a:endParaRPr>
          </a:p>
          <a:p>
            <a:pPr algn="just" fontAlgn="base">
              <a:lnSpc>
                <a:spcPct val="150000"/>
              </a:lnSpc>
              <a:buNone/>
            </a:pPr>
            <a:r>
              <a:rPr lang="en-US" altLang="zh-CN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 U0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：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lt"/>
                <a:sym typeface="+mn-ea"/>
              </a:rPr>
              <a:t>dff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  PORT MAP (din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clk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q0)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；</a:t>
            </a:r>
            <a:endParaRPr lang="en-US" altLang="zh-CN" sz="2000" b="1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just" fontAlgn="base">
              <a:lnSpc>
                <a:spcPct val="150000"/>
              </a:lnSpc>
              <a:buNone/>
            </a:pPr>
            <a:r>
              <a:rPr lang="en-US" altLang="zh-CN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 U1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：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lt"/>
                <a:sym typeface="+mn-ea"/>
              </a:rPr>
              <a:t>dff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  PORT MAP (q0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clk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q1)</a:t>
            </a:r>
            <a:r>
              <a:rPr lang="zh-CN" altLang="en-US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；</a:t>
            </a: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            </a:t>
            </a:r>
            <a:endParaRPr lang="zh-CN" altLang="en-US" sz="2000" strike="noStrike" noProof="1"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pPr algn="just" fontAlgn="base">
              <a:lnSpc>
                <a:spcPct val="150000"/>
              </a:lnSpc>
              <a:buNone/>
            </a:pP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 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U2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：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lt"/>
                <a:sym typeface="+mn-ea"/>
              </a:rPr>
              <a:t>dff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  PORT MAP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 (d=&gt;q1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clk=&gt;clk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q=&gt;q2)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；</a:t>
            </a: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 </a:t>
            </a:r>
            <a:endParaRPr lang="zh-CN" altLang="en-US" sz="2000" strike="noStrike" noProof="1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fontAlgn="base">
              <a:lnSpc>
                <a:spcPct val="150000"/>
              </a:lnSpc>
              <a:buNone/>
            </a:pP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 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U3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：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lt"/>
                <a:sym typeface="+mn-ea"/>
              </a:rPr>
              <a:t>dff</a:t>
            </a:r>
            <a:r>
              <a:rPr lang="en-US" altLang="zh-CN" sz="2000" b="1" strike="noStrike" noProof="1">
                <a:latin typeface="+mn-lt"/>
                <a:ea typeface="微软雅黑" panose="020B0503020204020204" charset="-122"/>
                <a:cs typeface="+mn-lt"/>
                <a:sym typeface="+mn-ea"/>
              </a:rPr>
              <a:t>  PORT MAP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 (d=&gt;q2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clk=&gt;clk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，</a:t>
            </a:r>
            <a:r>
              <a:rPr lang="en-US" altLang="zh-CN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q=&gt;q3)</a:t>
            </a:r>
            <a:r>
              <a:rPr lang="zh-CN" altLang="en-US" sz="2000" b="1" strike="noStrike" noProof="1">
                <a:latin typeface="+mn-lt"/>
                <a:ea typeface="楷体_GB2312" pitchFamily="49" charset="-122"/>
                <a:cs typeface="+mn-lt"/>
                <a:sym typeface="+mn-ea"/>
              </a:rPr>
              <a:t>；</a:t>
            </a: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      </a:t>
            </a:r>
            <a:endParaRPr lang="zh-CN" altLang="en-US" sz="2000" strike="noStrike" noProof="1"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pPr algn="just" fontAlgn="base">
              <a:lnSpc>
                <a:spcPct val="150000"/>
              </a:lnSpc>
              <a:buNone/>
            </a:pPr>
            <a:r>
              <a:rPr lang="zh-CN" altLang="en-US" sz="20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 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 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structure</a:t>
            </a:r>
            <a:r>
              <a:rPr lang="en-US" altLang="zh-CN" sz="2000" b="1" strike="noStrike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endParaRPr lang="en-US" altLang="zh-CN" sz="2000" b="1" strike="noStrike" noProof="1">
              <a:solidFill>
                <a:schemeClr val="tx1"/>
              </a:solidFill>
            </a:endParaRPr>
          </a:p>
        </p:txBody>
      </p:sp>
      <p:sp>
        <p:nvSpPr>
          <p:cNvPr id="74754" name="文本框 4"/>
          <p:cNvSpPr txBox="1"/>
          <p:nvPr/>
        </p:nvSpPr>
        <p:spPr>
          <a:xfrm>
            <a:off x="6132195" y="2710180"/>
            <a:ext cx="1982788" cy="5826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例化语句</a:t>
            </a:r>
            <a:endParaRPr lang="zh-CN" altLang="en-US" sz="3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7" name="Rectangle 3"/>
          <p:cNvSpPr>
            <a:spLocks noGrp="1"/>
          </p:cNvSpPr>
          <p:nvPr>
            <p:ph idx="1"/>
          </p:nvPr>
        </p:nvSpPr>
        <p:spPr>
          <a:xfrm>
            <a:off x="179070" y="621030"/>
            <a:ext cx="8557895" cy="605536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architecture rtl of shift16 is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    Component dff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         Port(d,clk  :  in   std_logic;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                    q     :  out  std_logic);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    End component;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signal z :  std_logic_vector(4 downto 0);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begin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  G1: for i in 0 to 3 generate 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        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low:   if </a:t>
            </a:r>
            <a:r>
              <a:rPr lang="en-US" altLang="zh-CN" sz="2000" b="1">
                <a:solidFill>
                  <a:srgbClr val="FF5050"/>
                </a:solidFill>
                <a:latin typeface="Times New Roman" panose="02020603050405020304" pitchFamily="18" charset="0"/>
                <a:sym typeface="+mn-ea"/>
              </a:rPr>
              <a:t> i=0</a:t>
            </a: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 generate </a:t>
            </a:r>
            <a:br>
              <a:rPr lang="en-US" altLang="zh-CN" sz="2000" b="1" err="1">
                <a:latin typeface="Times New Roman" panose="02020603050405020304" pitchFamily="18" charset="0"/>
                <a:sym typeface="+mn-ea"/>
              </a:rPr>
            </a:b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       U1:  </a:t>
            </a:r>
            <a:r>
              <a:rPr lang="en-US" altLang="zh-CN" sz="2000" b="1" err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dff port map(din</a:t>
            </a:r>
            <a:r>
              <a:rPr lang="pl-PL" altLang="zh-CN" sz="2000" b="1" dirty="0">
                <a:solidFill>
                  <a:srgbClr val="FF0000"/>
                </a:solidFill>
                <a:sym typeface="+mn-ea"/>
              </a:rPr>
              <a:t>,clk,</a:t>
            </a:r>
            <a:r>
              <a:rPr lang="en-US" altLang="pl-PL" sz="2000" b="1" dirty="0">
                <a:solidFill>
                  <a:srgbClr val="FF0000"/>
                </a:solidFill>
                <a:sym typeface="+mn-ea"/>
              </a:rPr>
              <a:t>q</a:t>
            </a:r>
            <a:r>
              <a:rPr lang="pl-PL" altLang="zh-CN" sz="2000" b="1" dirty="0">
                <a:solidFill>
                  <a:srgbClr val="FF0000"/>
                </a:solidFill>
                <a:sym typeface="+mn-ea"/>
              </a:rPr>
              <a:t>(</a:t>
            </a:r>
            <a:r>
              <a:rPr lang="en-US" altLang="pl-PL" sz="2000" b="1" dirty="0">
                <a:solidFill>
                  <a:srgbClr val="FF0000"/>
                </a:solidFill>
                <a:sym typeface="+mn-ea"/>
              </a:rPr>
              <a:t>0</a:t>
            </a:r>
            <a:r>
              <a:rPr lang="pl-PL" altLang="zh-CN" sz="2000" b="1" dirty="0">
                <a:solidFill>
                  <a:srgbClr val="FF0000"/>
                </a:solidFill>
                <a:sym typeface="+mn-ea"/>
              </a:rPr>
              <a:t>)</a:t>
            </a:r>
            <a:r>
              <a:rPr lang="en-US" altLang="zh-CN" sz="2000" b="1" err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);</a:t>
            </a:r>
            <a:br>
              <a:rPr lang="en-US" altLang="zh-CN" sz="2000" b="1" err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</a:b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         end generate;</a:t>
            </a:r>
            <a:br>
              <a:rPr lang="en-US" altLang="zh-CN" sz="2000" b="1" err="1">
                <a:latin typeface="Times New Roman" panose="02020603050405020304" pitchFamily="18" charset="0"/>
                <a:sym typeface="+mn-ea"/>
              </a:rPr>
            </a:b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      other: if i in 1 to 3 generate </a:t>
            </a:r>
            <a:br>
              <a:rPr lang="en-US" altLang="zh-CN" sz="2000" b="1" err="1">
                <a:latin typeface="Times New Roman" panose="02020603050405020304" pitchFamily="18" charset="0"/>
                <a:sym typeface="+mn-ea"/>
              </a:rPr>
            </a:b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      U2:  </a:t>
            </a:r>
            <a:r>
              <a:rPr lang="en-US" altLang="zh-CN" sz="2000" b="1" err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dff port map(q</a:t>
            </a:r>
            <a:r>
              <a:rPr lang="pl-PL" altLang="zh-CN" sz="2000" b="1" dirty="0">
                <a:solidFill>
                  <a:srgbClr val="FF0000"/>
                </a:solidFill>
                <a:sym typeface="+mn-ea"/>
              </a:rPr>
              <a:t>(i</a:t>
            </a:r>
            <a:r>
              <a:rPr lang="en-US" altLang="pl-PL" sz="2000" b="1" dirty="0">
                <a:solidFill>
                  <a:srgbClr val="FF0000"/>
                </a:solidFill>
                <a:sym typeface="+mn-ea"/>
              </a:rPr>
              <a:t>-1</a:t>
            </a:r>
            <a:r>
              <a:rPr lang="pl-PL" altLang="zh-CN" sz="2000" b="1" dirty="0">
                <a:solidFill>
                  <a:srgbClr val="FF0000"/>
                </a:solidFill>
                <a:sym typeface="+mn-ea"/>
              </a:rPr>
              <a:t>),clk,</a:t>
            </a:r>
            <a:r>
              <a:rPr lang="en-US" altLang="pl-PL" sz="2000" b="1" dirty="0">
                <a:solidFill>
                  <a:srgbClr val="FF0000"/>
                </a:solidFill>
                <a:sym typeface="+mn-ea"/>
              </a:rPr>
              <a:t>q</a:t>
            </a:r>
            <a:r>
              <a:rPr lang="pl-PL" altLang="zh-CN" sz="2000" b="1" dirty="0">
                <a:solidFill>
                  <a:srgbClr val="FF0000"/>
                </a:solidFill>
                <a:sym typeface="+mn-ea"/>
              </a:rPr>
              <a:t>(i)</a:t>
            </a:r>
            <a:r>
              <a:rPr lang="en-US" altLang="zh-CN" sz="2000" b="1" err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);</a:t>
            </a:r>
            <a:br>
              <a:rPr lang="en-US" altLang="zh-CN" sz="2000" b="1" err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</a:br>
            <a:r>
              <a:rPr lang="en-US" altLang="zh-CN" sz="2000" b="1" err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       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end generate;</a:t>
            </a:r>
            <a:b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</a:br>
            <a:r>
              <a:rPr lang="pl-PL" altLang="zh-CN" sz="2000" b="1" dirty="0">
                <a:solidFill>
                  <a:schemeClr val="tx1"/>
                </a:solidFill>
              </a:rPr>
              <a:t>  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pl-PL" altLang="zh-CN" sz="2000" b="1" dirty="0">
                <a:solidFill>
                  <a:schemeClr val="tx1"/>
                </a:solidFill>
              </a:rPr>
              <a:t>  </a:t>
            </a:r>
            <a:r>
              <a:rPr lang="en-US" altLang="zh-CN" sz="2000" b="1" dirty="0">
                <a:solidFill>
                  <a:schemeClr val="tx1"/>
                </a:solidFill>
              </a:rPr>
              <a:t>end generate; 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     end rtl;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2" name="文本框 4"/>
          <p:cNvSpPr txBox="1"/>
          <p:nvPr>
            <p:custDataLst>
              <p:tags r:id="rId1"/>
            </p:custDataLst>
          </p:nvPr>
        </p:nvSpPr>
        <p:spPr>
          <a:xfrm>
            <a:off x="6228080" y="2994025"/>
            <a:ext cx="21488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生成语句</a:t>
            </a:r>
            <a:r>
              <a:rPr lang="en-US" altLang="zh-CN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3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>
                                            <p:txEl>
                                              <p:charRg st="6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37">
                                            <p:txEl>
                                              <p:charRg st="6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37">
                                            <p:txEl>
                                              <p:charRg st="6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>
                                            <p:txEl>
                                              <p:charRg st="10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137">
                                            <p:txEl>
                                              <p:charRg st="10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137">
                                            <p:txEl>
                                              <p:charRg st="10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1137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1137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7" name="Rectangle 3"/>
          <p:cNvSpPr>
            <a:spLocks noGrp="1"/>
          </p:cNvSpPr>
          <p:nvPr>
            <p:ph idx="1"/>
          </p:nvPr>
        </p:nvSpPr>
        <p:spPr>
          <a:xfrm>
            <a:off x="179070" y="764540"/>
            <a:ext cx="6106160" cy="4552315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architecture rtl of shift16 is</a:t>
            </a:r>
            <a:endParaRPr lang="zh-CN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begin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   G1: for i in 0 to 3 generate 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        low:   if </a:t>
            </a:r>
            <a:r>
              <a:rPr lang="en-US" altLang="zh-CN" sz="2000" b="1">
                <a:solidFill>
                  <a:srgbClr val="FF5050"/>
                </a:solidFill>
                <a:latin typeface="Times New Roman" panose="02020603050405020304" pitchFamily="18" charset="0"/>
                <a:sym typeface="+mn-ea"/>
              </a:rPr>
              <a:t> i=0</a:t>
            </a: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 generate </a:t>
            </a:r>
            <a:br>
              <a:rPr lang="en-US" altLang="zh-CN" sz="2000" b="1" err="1">
                <a:latin typeface="Times New Roman" panose="02020603050405020304" pitchFamily="18" charset="0"/>
                <a:sym typeface="+mn-ea"/>
              </a:rPr>
            </a:b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            U1:  </a:t>
            </a:r>
            <a:r>
              <a:rPr lang="en-US" altLang="zh-CN" sz="2000" b="1" dirty="0">
                <a:sym typeface="+mn-ea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q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(0)&lt;=din;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buNone/>
            </a:pPr>
            <a:r>
              <a:rPr lang="pl-PL" altLang="zh-CN" sz="2000" b="1" dirty="0">
                <a:sym typeface="+mn-ea"/>
              </a:rPr>
              <a:t>  </a:t>
            </a:r>
            <a:r>
              <a:rPr lang="en-US" altLang="zh-CN" sz="2000" b="1" dirty="0">
                <a:sym typeface="+mn-ea"/>
              </a:rPr>
              <a:t> </a:t>
            </a:r>
            <a:r>
              <a:rPr lang="pl-PL" altLang="zh-CN" sz="2000" b="1" dirty="0">
                <a:sym typeface="+mn-ea"/>
              </a:rPr>
              <a:t>     </a:t>
            </a:r>
            <a:r>
              <a:rPr lang="en-US" altLang="pl-PL" sz="2000" b="1" dirty="0">
                <a:sym typeface="+mn-ea"/>
              </a:rPr>
              <a:t>     </a:t>
            </a:r>
            <a:r>
              <a:rPr lang="en-US" altLang="zh-CN" sz="2000" b="1" dirty="0">
                <a:sym typeface="+mn-ea"/>
              </a:rPr>
              <a:t>end generate;</a:t>
            </a:r>
            <a:endParaRPr lang="en-US" altLang="zh-CN" sz="2000" b="1" dirty="0">
              <a:sym typeface="+mn-ea"/>
            </a:endParaRPr>
          </a:p>
          <a:p>
            <a:pPr marL="0" indent="0" eaLnBrk="1" hangingPunct="1"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        other:   if </a:t>
            </a:r>
            <a:r>
              <a:rPr lang="en-US" altLang="zh-CN" sz="2000" b="1">
                <a:solidFill>
                  <a:srgbClr val="FF5050"/>
                </a:solidFill>
                <a:latin typeface="Times New Roman" panose="02020603050405020304" pitchFamily="18" charset="0"/>
                <a:sym typeface="+mn-ea"/>
              </a:rPr>
              <a:t> i  </a:t>
            </a:r>
            <a:r>
              <a:rPr lang="en-US" altLang="zh-CN" sz="2000" b="1" dirty="0">
                <a:sym typeface="+mn-ea"/>
              </a:rPr>
              <a:t>in 1 to 3 </a:t>
            </a: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 generate </a:t>
            </a:r>
            <a:br>
              <a:rPr lang="en-US" altLang="zh-CN" sz="2000" b="1" err="1">
                <a:latin typeface="Times New Roman" panose="02020603050405020304" pitchFamily="18" charset="0"/>
                <a:sym typeface="+mn-ea"/>
              </a:rPr>
            </a:br>
            <a:r>
              <a:rPr lang="en-US" altLang="zh-CN" sz="2000" b="1" dirty="0">
                <a:solidFill>
                  <a:schemeClr val="tx1"/>
                </a:solidFill>
              </a:rPr>
              <a:t>             </a:t>
            </a:r>
            <a:r>
              <a:rPr lang="en-US" altLang="zh-CN" sz="2000" b="1" err="1">
                <a:latin typeface="Times New Roman" panose="02020603050405020304" pitchFamily="18" charset="0"/>
                <a:sym typeface="+mn-ea"/>
              </a:rPr>
              <a:t>U2:</a:t>
            </a:r>
            <a:r>
              <a:rPr lang="pl-PL" altLang="zh-CN" sz="2000" b="1" dirty="0">
                <a:solidFill>
                  <a:schemeClr val="tx1"/>
                </a:solidFill>
              </a:rPr>
              <a:t> </a:t>
            </a:r>
            <a:r>
              <a:rPr lang="en-US" altLang="pl-PL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q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(i)&lt;=q(i-1);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marL="0" indent="0" eaLnBrk="1" hangingPunct="1">
              <a:buNone/>
            </a:pPr>
            <a:r>
              <a:rPr lang="pl-PL" altLang="zh-CN" sz="2000" b="1" dirty="0">
                <a:solidFill>
                  <a:schemeClr val="tx1"/>
                </a:solidFill>
              </a:rPr>
              <a:t> </a:t>
            </a:r>
            <a:r>
              <a:rPr lang="en-US" altLang="pl-PL" sz="2000" b="1" dirty="0">
                <a:solidFill>
                  <a:schemeClr val="tx1"/>
                </a:solidFill>
              </a:rPr>
              <a:t>            </a:t>
            </a:r>
            <a:r>
              <a:rPr lang="en-US" altLang="zh-CN" sz="2000" b="1" dirty="0">
                <a:sym typeface="+mn-ea"/>
              </a:rPr>
              <a:t>end generate; 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pl-PL" altLang="zh-CN" sz="2000" b="1" dirty="0">
                <a:solidFill>
                  <a:schemeClr val="tx1"/>
                </a:solidFill>
              </a:rPr>
              <a:t>  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pl-PL" altLang="zh-CN" sz="2000" b="1" dirty="0">
                <a:solidFill>
                  <a:schemeClr val="tx1"/>
                </a:solidFill>
              </a:rPr>
              <a:t>     </a:t>
            </a:r>
            <a:r>
              <a:rPr lang="en-US" altLang="zh-CN" sz="2000" b="1" dirty="0">
                <a:solidFill>
                  <a:schemeClr val="tx1"/>
                </a:solidFill>
              </a:rPr>
              <a:t>end generate; 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        end rtl;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2" name="文本框 4"/>
          <p:cNvSpPr txBox="1"/>
          <p:nvPr>
            <p:custDataLst>
              <p:tags r:id="rId1"/>
            </p:custDataLst>
          </p:nvPr>
        </p:nvSpPr>
        <p:spPr>
          <a:xfrm>
            <a:off x="6228080" y="2994025"/>
            <a:ext cx="21488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生成语句</a:t>
            </a:r>
            <a:r>
              <a:rPr lang="en-US" altLang="zh-CN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3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>
                                            <p:txEl>
                                              <p:charRg st="6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37">
                                            <p:txEl>
                                              <p:charRg st="6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37">
                                            <p:txEl>
                                              <p:charRg st="6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>
                                            <p:txEl>
                                              <p:charRg st="10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137">
                                            <p:txEl>
                                              <p:charRg st="10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137">
                                            <p:txEl>
                                              <p:charRg st="10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1137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1137">
                                            <p:txEl>
                                              <p:charRg st="161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2" name="内容占位符 588801"/>
          <p:cNvSpPr>
            <a:spLocks noGrp="1"/>
          </p:cNvSpPr>
          <p:nvPr>
            <p:ph idx="1"/>
          </p:nvPr>
        </p:nvSpPr>
        <p:spPr>
          <a:xfrm>
            <a:off x="571183" y="1074738"/>
            <a:ext cx="8001000" cy="452183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architecture Behavioral of reg4 is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process(clk,din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if  clk'event and clk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='1' then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q&lt;=q(2 downto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0) &amp; din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   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end if;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end process;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end Behavioral;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684" name="文本框 1"/>
          <p:cNvSpPr txBox="1"/>
          <p:nvPr/>
        </p:nvSpPr>
        <p:spPr>
          <a:xfrm>
            <a:off x="6262688" y="3136900"/>
            <a:ext cx="1982787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并置操作</a:t>
            </a:r>
            <a:endParaRPr lang="zh-CN" altLang="en-US" sz="3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88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88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88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88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88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88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888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888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888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880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578562"/>
          <p:cNvSpPr/>
          <p:nvPr/>
        </p:nvSpPr>
        <p:spPr>
          <a:xfrm>
            <a:off x="457200" y="544195"/>
            <a:ext cx="8229600" cy="53086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双向移位寄存器设计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1028" name="矩形 641027"/>
          <p:cNvSpPr/>
          <p:nvPr/>
        </p:nvSpPr>
        <p:spPr>
          <a:xfrm>
            <a:off x="701675" y="1371600"/>
            <a:ext cx="62687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7-25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位双向移位寄存器设计</a:t>
            </a:r>
            <a:endParaRPr lang="zh-CN" altLang="en-US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1029" name="文本框 641028"/>
          <p:cNvSpPr txBox="1"/>
          <p:nvPr/>
        </p:nvSpPr>
        <p:spPr>
          <a:xfrm>
            <a:off x="1053465" y="2045335"/>
            <a:ext cx="73453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具有同步置数、同步清零、左移、右移功能：</a:t>
            </a:r>
            <a:endParaRPr lang="zh-CN" altLang="en-US" sz="24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41030" name="图片 6410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0" y="2781300"/>
            <a:ext cx="2095500" cy="300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4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4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文本占位符 589825"/>
          <p:cNvSpPr>
            <a:spLocks noGrp="1"/>
          </p:cNvSpPr>
          <p:nvPr>
            <p:ph type="body" idx="1"/>
          </p:nvPr>
        </p:nvSpPr>
        <p:spPr>
          <a:xfrm>
            <a:off x="611188" y="1225233"/>
            <a:ext cx="8001000" cy="455612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library IEEE;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use IEEE.STD_LOGIC_1164.ALL;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use IEEE.STD_LOGIC_UNSIGNED.ALL;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entity reg4 is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port ( clk , rst : in std_logic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     din_left: in std_logic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 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  din_right: in std_logic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 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             sel: in std_logic_vector(1 downto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0);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                 din: in std_logic_vector(7 downto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0);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                    q: 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out</a:t>
            </a:r>
            <a:r>
              <a:rPr lang="en-US" altLang="zh-CN" sz="2400" b="1" err="1">
                <a:latin typeface="Times New Roman" panose="02020603050405020304" pitchFamily="18" charset="0"/>
                <a:ea typeface="楷体_GB2312" pitchFamily="49" charset="-122"/>
              </a:rPr>
              <a:t> std_logic_vector(7 downto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0)   );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end reg4;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89829" name="文本框 589828"/>
          <p:cNvSpPr txBox="1"/>
          <p:nvPr/>
        </p:nvSpPr>
        <p:spPr>
          <a:xfrm>
            <a:off x="675323" y="514668"/>
            <a:ext cx="360045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程序设计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实体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589830" name="图片 5898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8125" y="837883"/>
            <a:ext cx="2095500" cy="300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8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89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89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89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89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898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89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898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898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898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898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898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文本占位符 590849"/>
          <p:cNvSpPr>
            <a:spLocks noGrp="1"/>
          </p:cNvSpPr>
          <p:nvPr>
            <p:ph type="body" idx="1"/>
          </p:nvPr>
        </p:nvSpPr>
        <p:spPr>
          <a:xfrm>
            <a:off x="519748" y="1148715"/>
            <a:ext cx="8001000" cy="5354320"/>
          </a:xfrm>
        </p:spPr>
        <p:txBody>
          <a:bodyPr vert="horz" wrap="square" lIns="91440" tIns="45720" rIns="91440" bIns="45720" anchor="t">
            <a:spAutoFit/>
          </a:bodyPr>
          <a:lstStyle/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architecture Behavioral of reg4 is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err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signal qin: std_logic_vector(7 downto</a:t>
            </a:r>
            <a:r>
              <a:rPr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0);</a:t>
            </a:r>
            <a:endParaRPr lang="en-US" altLang="zh-CN" sz="2000" b="1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process(clk,sel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begin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    if  clk'event and clk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='1' then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	     if  rst='0'  then       qin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&lt;=(others=&gt;'0');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		 elsif sel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="11" then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		     qin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&lt;=din;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		 elsif sel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="01" then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		     </a:t>
            </a:r>
            <a:r>
              <a:rPr lang="en-US" altLang="zh-CN" sz="2000" b="1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qin&lt;=qin(6 downto 0) &amp; din_left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err="1">
                <a:latin typeface="Times New Roman" panose="02020603050405020304" pitchFamily="18" charset="0"/>
                <a:ea typeface="楷体_GB2312" pitchFamily="49" charset="-122"/>
              </a:rPr>
              <a:t>                              elsif sel</a:t>
            </a: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="10" then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                                 </a:t>
            </a:r>
            <a:r>
              <a:rPr lang="en-US" altLang="zh-CN" sz="2000" b="1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qin&lt;=din_right &amp; qin(7 downto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1);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                  end if;			  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  end if;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end process;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en-US" altLang="zh-CN" sz="2000" b="1" err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q&lt;=qin</a:t>
            </a:r>
            <a:r>
              <a:rPr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000" b="1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楷体_GB2312" pitchFamily="49" charset="-122"/>
              </a:rPr>
              <a:t>end Behavioral;</a:t>
            </a:r>
            <a:endParaRPr lang="en-US" altLang="zh-CN" sz="20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90852" name="文本框 590851"/>
          <p:cNvSpPr txBox="1"/>
          <p:nvPr/>
        </p:nvSpPr>
        <p:spPr>
          <a:xfrm>
            <a:off x="733425" y="520065"/>
            <a:ext cx="3122295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程序设计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结构体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90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90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90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90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90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908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908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908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908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908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908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908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908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5908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59085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59085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59085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59085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文本占位符 385026"/>
          <p:cNvSpPr>
            <a:spLocks noGrp="1"/>
          </p:cNvSpPr>
          <p:nvPr>
            <p:ph idx="1"/>
          </p:nvPr>
        </p:nvSpPr>
        <p:spPr>
          <a:xfrm>
            <a:off x="548640" y="1041400"/>
            <a:ext cx="8047355" cy="2306955"/>
          </a:xfrm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移位寄存器除了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可以输入数据的串并转换、并串转换、信号延迟外，还可以构成环形计数器、进行数字运算、用作分频器、信号发生器等。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         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1155" name="矩形 561154"/>
          <p:cNvSpPr/>
          <p:nvPr/>
        </p:nvSpPr>
        <p:spPr>
          <a:xfrm>
            <a:off x="1086485" y="2924493"/>
            <a:ext cx="6419850" cy="37090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延迟电路（消抖电路）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环形计数器</a:t>
            </a:r>
            <a:endParaRPr lang="zh-CN" altLang="en-US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分频器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序列信号发生器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串行加法器（累加器）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乘法器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586" name="矩形 376835"/>
          <p:cNvSpPr/>
          <p:nvPr/>
        </p:nvSpPr>
        <p:spPr>
          <a:xfrm>
            <a:off x="442595" y="279083"/>
            <a:ext cx="8229600" cy="6334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移位寄存器应用</a:t>
            </a:r>
            <a:br>
              <a:rPr lang="zh-CN" altLang="en-US" sz="2800" b="1" dirty="0">
                <a:solidFill>
                  <a:srgbClr val="0000FF"/>
                </a:solidFill>
                <a:latin typeface="Arial Narrow" panose="020B0606020202030204" pitchFamily="34" charset="0"/>
                <a:ea typeface="楷体_GB2312" pitchFamily="49" charset="-122"/>
              </a:rPr>
            </a:b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6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矩形 578562"/>
          <p:cNvSpPr/>
          <p:nvPr/>
        </p:nvSpPr>
        <p:spPr>
          <a:xfrm>
            <a:off x="379730" y="719455"/>
            <a:ext cx="8229600" cy="6334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消抖电路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4135" y="1530180"/>
            <a:ext cx="8856615" cy="4525963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当按键时，不可避免的引起按键的抖动，需要大约</a:t>
            </a:r>
            <a:r>
              <a:rPr lang="en-US" altLang="zh-CN" sz="24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级的时间才能稳定下来</a:t>
            </a:r>
            <a:r>
              <a:rPr lang="zh-CN" altLang="zh-CN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4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也就是说</a:t>
            </a: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，输入到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的按键信号并不是直接从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变到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，而是在</a:t>
            </a:r>
            <a:r>
              <a:rPr lang="en-US" altLang="zh-CN" sz="24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级时间内在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进行交替变化</a:t>
            </a:r>
            <a:r>
              <a:rPr lang="zh-CN" altLang="zh-CN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</a:t>
            </a: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时钟信号变化的比按键抖动更快，因为会把错误的信号锁存在寄存器</a:t>
            </a:r>
            <a:r>
              <a:rPr lang="zh-CN" altLang="zh-CN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中，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</a:t>
            </a:r>
            <a:r>
              <a:rPr lang="zh-CN" altLang="zh-CN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zh-CN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时序电路时非常严重的问题</a:t>
            </a:r>
            <a:r>
              <a:rPr lang="zh-CN" altLang="zh-CN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zh-CN" sz="24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56260" y="836930"/>
            <a:ext cx="7842250" cy="2825115"/>
            <a:chOff x="876" y="1318"/>
            <a:chExt cx="12350" cy="4449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" y="1318"/>
              <a:ext cx="12351" cy="4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" name="图片 1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3911" y="5287"/>
              <a:ext cx="5078" cy="4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060" y="543560"/>
            <a:ext cx="8229600" cy="577024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library IEEE;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use IEEE.STD_LOGIC_1164.ALL;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use IEEE.STD_LOGIC_ARITH.ALL;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use IEEE.STD_LOGIC_UNSIGNED.ALL;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 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entity debounce4 is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chemeClr val="tx1"/>
                </a:solidFill>
              </a:rPr>
              <a:t>      </a:t>
            </a:r>
            <a:r>
              <a:rPr lang="en-US" altLang="zh-CN" sz="2400" b="1" dirty="0">
                <a:solidFill>
                  <a:schemeClr val="tx1"/>
                </a:solidFill>
              </a:rPr>
              <a:t>Port ( </a:t>
            </a:r>
            <a:r>
              <a:rPr lang="en-US" altLang="zh-CN" sz="2400" b="1" dirty="0" err="1">
                <a:solidFill>
                  <a:schemeClr val="tx1"/>
                </a:solidFill>
              </a:rPr>
              <a:t>inp</a:t>
            </a:r>
            <a:r>
              <a:rPr lang="en-US" altLang="zh-CN" sz="2400" b="1" dirty="0">
                <a:solidFill>
                  <a:schemeClr val="tx1"/>
                </a:solidFill>
              </a:rPr>
              <a:t> : in  STD_LOGIC_VECTOR (3 </a:t>
            </a:r>
            <a:r>
              <a:rPr lang="en-US" altLang="zh-CN" sz="2400" b="1" dirty="0" err="1">
                <a:solidFill>
                  <a:schemeClr val="tx1"/>
                </a:solidFill>
              </a:rPr>
              <a:t>downto</a:t>
            </a:r>
            <a:r>
              <a:rPr lang="en-US" altLang="zh-CN" sz="2400" b="1" dirty="0">
                <a:solidFill>
                  <a:schemeClr val="tx1"/>
                </a:solidFill>
              </a:rPr>
              <a:t> 0);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chemeClr val="tx1"/>
                </a:solidFill>
              </a:rPr>
              <a:t>               </a:t>
            </a:r>
            <a:r>
              <a:rPr lang="en-US" altLang="zh-CN" sz="2400" b="1" dirty="0" err="1">
                <a:solidFill>
                  <a:schemeClr val="tx1"/>
                </a:solidFill>
              </a:rPr>
              <a:t>cclk</a:t>
            </a:r>
            <a:r>
              <a:rPr lang="en-US" altLang="zh-CN" sz="2400" b="1" dirty="0">
                <a:solidFill>
                  <a:schemeClr val="tx1"/>
                </a:solidFill>
              </a:rPr>
              <a:t> : in  STD_LOGIC;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chemeClr val="tx1"/>
                </a:solidFill>
              </a:rPr>
              <a:t>                  </a:t>
            </a:r>
            <a:r>
              <a:rPr lang="en-US" altLang="zh-CN" sz="2400" b="1" dirty="0" err="1">
                <a:solidFill>
                  <a:schemeClr val="tx1"/>
                </a:solidFill>
              </a:rPr>
              <a:t>clr</a:t>
            </a:r>
            <a:r>
              <a:rPr lang="en-US" altLang="zh-CN" sz="2400" b="1" dirty="0">
                <a:solidFill>
                  <a:schemeClr val="tx1"/>
                </a:solidFill>
              </a:rPr>
              <a:t> : in  STD_LOGIC;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</a:rPr>
              <a:t>              </a:t>
            </a:r>
            <a:r>
              <a:rPr lang="en-US" altLang="zh-CN" sz="2400" b="1" dirty="0" err="1">
                <a:solidFill>
                  <a:schemeClr val="tx1"/>
                </a:solidFill>
              </a:rPr>
              <a:t>outp</a:t>
            </a:r>
            <a:r>
              <a:rPr lang="en-US" altLang="zh-CN" sz="2400" b="1" dirty="0">
                <a:solidFill>
                  <a:schemeClr val="tx1"/>
                </a:solidFill>
              </a:rPr>
              <a:t> : out  STD_LOGIC_VECTOR (3 </a:t>
            </a:r>
            <a:r>
              <a:rPr lang="en-US" altLang="zh-CN" sz="2400" b="1" dirty="0" err="1">
                <a:solidFill>
                  <a:schemeClr val="tx1"/>
                </a:solidFill>
              </a:rPr>
              <a:t>downto</a:t>
            </a:r>
            <a:r>
              <a:rPr lang="en-US" altLang="zh-CN" sz="2400" b="1" dirty="0">
                <a:solidFill>
                  <a:schemeClr val="tx1"/>
                </a:solidFill>
              </a:rPr>
              <a:t> 0));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end debounce4</a:t>
            </a:r>
            <a:r>
              <a:rPr lang="en-US" altLang="zh-CN" sz="2400" b="1" dirty="0" smtClean="0">
                <a:solidFill>
                  <a:schemeClr val="tx1"/>
                </a:solidFill>
              </a:rPr>
              <a:t>;</a:t>
            </a:r>
            <a:endParaRPr lang="en-US" altLang="zh-CN" sz="2400" b="1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architecture Behavioral of debounce4 is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 signal delay1,delay2,delay3 : </a:t>
            </a:r>
            <a:r>
              <a:rPr lang="en-US" altLang="zh-CN" sz="2400" b="1" dirty="0" err="1">
                <a:solidFill>
                  <a:schemeClr val="tx1"/>
                </a:solidFill>
              </a:rPr>
              <a:t>std_logic_vector</a:t>
            </a:r>
            <a:r>
              <a:rPr lang="en-US" altLang="zh-CN" sz="2400" b="1" dirty="0">
                <a:solidFill>
                  <a:schemeClr val="tx1"/>
                </a:solidFill>
              </a:rPr>
              <a:t>(3 </a:t>
            </a:r>
            <a:r>
              <a:rPr lang="en-US" altLang="zh-CN" sz="2400" b="1" dirty="0" err="1">
                <a:solidFill>
                  <a:schemeClr val="tx1"/>
                </a:solidFill>
              </a:rPr>
              <a:t>downto</a:t>
            </a:r>
            <a:r>
              <a:rPr lang="en-US" altLang="zh-CN" sz="2400" b="1" dirty="0">
                <a:solidFill>
                  <a:schemeClr val="tx1"/>
                </a:solidFill>
              </a:rPr>
              <a:t> 0);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9395" y="147955"/>
            <a:ext cx="8229600" cy="656145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 </a:t>
            </a:r>
            <a:r>
              <a:rPr lang="en-US" altLang="zh-CN" sz="2400" b="1" dirty="0" smtClean="0">
                <a:solidFill>
                  <a:schemeClr val="tx1"/>
                </a:solidFill>
              </a:rPr>
              <a:t>begin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</a:rPr>
              <a:t>process(</a:t>
            </a:r>
            <a:r>
              <a:rPr lang="en-US" altLang="zh-CN" sz="2400" b="1" dirty="0" err="1" smtClean="0">
                <a:solidFill>
                  <a:schemeClr val="tx1"/>
                </a:solidFill>
              </a:rPr>
              <a:t>cclk,clr,inp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begin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 if(</a:t>
            </a:r>
            <a:r>
              <a:rPr lang="en-US" altLang="zh-CN" sz="2400" b="1" dirty="0" err="1">
                <a:solidFill>
                  <a:schemeClr val="tx1"/>
                </a:solidFill>
              </a:rPr>
              <a:t>clr</a:t>
            </a:r>
            <a:r>
              <a:rPr lang="en-US" altLang="zh-CN" sz="2400" b="1" dirty="0">
                <a:solidFill>
                  <a:schemeClr val="tx1"/>
                </a:solidFill>
              </a:rPr>
              <a:t>='1') then 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chemeClr val="tx1"/>
                </a:solidFill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</a:rPr>
              <a:t>	    delay1&lt;="0000";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chemeClr val="tx1"/>
                </a:solidFill>
              </a:rPr>
              <a:t>     </a:t>
            </a:r>
            <a:r>
              <a:rPr lang="en-US" altLang="zh-CN" sz="2400" b="1" dirty="0">
                <a:solidFill>
                  <a:schemeClr val="tx1"/>
                </a:solidFill>
              </a:rPr>
              <a:t>	    delay2&lt;="0000";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</a:rPr>
              <a:t>               </a:t>
            </a:r>
            <a:r>
              <a:rPr lang="en-US" altLang="zh-CN" sz="2400" b="1" dirty="0">
                <a:solidFill>
                  <a:schemeClr val="tx1"/>
                </a:solidFill>
              </a:rPr>
              <a:t>delay3&lt;="0000";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chemeClr val="tx1"/>
                </a:solidFill>
              </a:rPr>
              <a:t>  </a:t>
            </a:r>
            <a:r>
              <a:rPr lang="en-US" altLang="zh-CN" sz="2400" b="1" dirty="0" err="1">
                <a:solidFill>
                  <a:schemeClr val="tx1"/>
                </a:solidFill>
              </a:rPr>
              <a:t>elsif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</a:rPr>
              <a:t>rising_edge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dirty="0" err="1">
                <a:solidFill>
                  <a:schemeClr val="tx1"/>
                </a:solidFill>
              </a:rPr>
              <a:t>cclk</a:t>
            </a:r>
            <a:r>
              <a:rPr lang="en-US" altLang="zh-CN" sz="2400" b="1" dirty="0">
                <a:solidFill>
                  <a:schemeClr val="tx1"/>
                </a:solidFill>
              </a:rPr>
              <a:t>)) then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chemeClr val="tx1"/>
                </a:solidFill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</a:rPr>
              <a:t>	    delay1&lt;=</a:t>
            </a:r>
            <a:r>
              <a:rPr lang="en-US" altLang="zh-CN" sz="2400" b="1" dirty="0" err="1">
                <a:solidFill>
                  <a:schemeClr val="tx1"/>
                </a:solidFill>
              </a:rPr>
              <a:t>inp</a:t>
            </a:r>
            <a:r>
              <a:rPr lang="en-US" altLang="zh-CN" sz="2400" b="1" dirty="0">
                <a:solidFill>
                  <a:schemeClr val="tx1"/>
                </a:solidFill>
              </a:rPr>
              <a:t>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chemeClr val="tx1"/>
                </a:solidFill>
              </a:rPr>
              <a:t>     </a:t>
            </a:r>
            <a:r>
              <a:rPr lang="en-US" altLang="zh-CN" sz="2400" b="1" dirty="0">
                <a:solidFill>
                  <a:schemeClr val="tx1"/>
                </a:solidFill>
              </a:rPr>
              <a:t>	    delay2&lt;=delay1;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</a:rPr>
              <a:t>               </a:t>
            </a:r>
            <a:r>
              <a:rPr lang="en-US" altLang="zh-CN" sz="2400" b="1" dirty="0">
                <a:solidFill>
                  <a:schemeClr val="tx1"/>
                </a:solidFill>
              </a:rPr>
              <a:t>delay3&lt;=delay2;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  end if;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chemeClr val="tx1"/>
                </a:solidFill>
              </a:rPr>
              <a:t>end </a:t>
            </a:r>
            <a:r>
              <a:rPr lang="en-US" altLang="zh-CN" sz="2400" b="1" dirty="0">
                <a:solidFill>
                  <a:schemeClr val="tx1"/>
                </a:solidFill>
              </a:rPr>
              <a:t>process;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</a:rPr>
              <a:t>     </a:t>
            </a:r>
            <a:r>
              <a:rPr lang="en-US" altLang="zh-CN" sz="2400" b="1" dirty="0" err="1">
                <a:solidFill>
                  <a:schemeClr val="tx1"/>
                </a:solidFill>
              </a:rPr>
              <a:t>outp</a:t>
            </a:r>
            <a:r>
              <a:rPr lang="en-US" altLang="zh-CN" sz="2400" b="1" dirty="0">
                <a:solidFill>
                  <a:schemeClr val="tx1"/>
                </a:solidFill>
              </a:rPr>
              <a:t>&lt;=delay1 and delay2 and delay3;  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end Behavioral;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endParaRPr lang="zh-CN" altLang="zh-CN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10" y="1410970"/>
            <a:ext cx="8856663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</a:t>
            </a:r>
            <a:r>
              <a:rPr kumimoji="0" lang="zh-CN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果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移位寄存器的输出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q0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连接到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q3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的输入端。则移位寄存器变成了环型移位寄存器</a:t>
            </a:r>
            <a:r>
              <a:rPr kumimoji="0" lang="zh-CN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885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997200"/>
            <a:ext cx="7588250" cy="2160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46" name="矩形 578562"/>
          <p:cNvSpPr/>
          <p:nvPr/>
        </p:nvSpPr>
        <p:spPr>
          <a:xfrm>
            <a:off x="457200" y="419100"/>
            <a:ext cx="8229600" cy="6334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环形计数器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内容占位符 2"/>
          <p:cNvSpPr>
            <a:spLocks noGrp="1"/>
          </p:cNvSpPr>
          <p:nvPr/>
        </p:nvSpPr>
        <p:spPr>
          <a:xfrm>
            <a:off x="162878" y="783273"/>
            <a:ext cx="8302625" cy="529113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位右移环形移位寄存器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VHDL</a:t>
            </a:r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描述</a:t>
            </a:r>
            <a:endParaRPr lang="zh-CN" altLang="zh-CN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library IEEE;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use IEEE.STD_LOGIC_1164.ALL;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use IEEE.STD_LOGIC_ARITH.ALL;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use IEEE.STD_LOGIC_UNSIGNED.ALL;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 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entity ring_shiftreg4 is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Port ( clk : in  STD_LOGIC;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         clr : in  STD_LOGIC;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           q : inout  STD_LOGIC_VECTOR (3 downto 0));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end ring_shiftreg4;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/>
        </p:nvSpPr>
        <p:spPr>
          <a:xfrm>
            <a:off x="395288" y="548640"/>
            <a:ext cx="8229600" cy="5562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architecture Behavioral of ring_shiftreg4 is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 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begin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process(clr,clk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)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begin  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	if(clr='1') then 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	    q&lt;="0001";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elsif(rising_edge(clk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)) then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	    q(3) &lt;= q(0);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   q(2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downto 0) &lt;= q(3 downto 1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);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end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if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;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end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process;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end Behavioral;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10" y="1410970"/>
            <a:ext cx="8856663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移位寄存器的输出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q3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连接到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q0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的输入端，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q3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端的输出频率就是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clk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1/4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2946" name="矩形 578562"/>
          <p:cNvSpPr/>
          <p:nvPr/>
        </p:nvSpPr>
        <p:spPr>
          <a:xfrm>
            <a:off x="457200" y="419100"/>
            <a:ext cx="8229600" cy="6334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分频器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15695" y="2420620"/>
            <a:ext cx="6979285" cy="2091690"/>
            <a:chOff x="1757" y="3812"/>
            <a:chExt cx="10991" cy="3294"/>
          </a:xfrm>
        </p:grpSpPr>
        <p:pic>
          <p:nvPicPr>
            <p:cNvPr id="76804" name="图片 587809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1757" y="4606"/>
              <a:ext cx="10738" cy="250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" name="图片 1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1736" y="4617"/>
              <a:ext cx="1013" cy="684"/>
            </a:xfrm>
            <a:prstGeom prst="rect">
              <a:avLst/>
            </a:prstGeom>
          </p:spPr>
        </p:pic>
        <p:cxnSp>
          <p:nvCxnSpPr>
            <p:cNvPr id="6" name="肘形连接符 5"/>
            <p:cNvCxnSpPr/>
            <p:nvPr/>
          </p:nvCxnSpPr>
          <p:spPr>
            <a:xfrm flipV="1">
              <a:off x="3307" y="3812"/>
              <a:ext cx="8429" cy="1373"/>
            </a:xfrm>
            <a:prstGeom prst="bentConnector3">
              <a:avLst>
                <a:gd name="adj1" fmla="val -462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箭头连接符 6"/>
            <p:cNvCxnSpPr/>
            <p:nvPr/>
          </p:nvCxnSpPr>
          <p:spPr>
            <a:xfrm>
              <a:off x="11705" y="3818"/>
              <a:ext cx="10" cy="135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2" name="Text Box 4"/>
          <p:cNvSpPr txBox="1"/>
          <p:nvPr/>
        </p:nvSpPr>
        <p:spPr>
          <a:xfrm>
            <a:off x="323850" y="1773238"/>
            <a:ext cx="2675890" cy="181483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各触发器初态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0, V</a:t>
            </a:r>
            <a:r>
              <a:rPr lang="en-US" altLang="zh-CN" baseline="-25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依次输入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1→0→0→0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时的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波形图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3394" name="组合 13393"/>
          <p:cNvGrpSpPr/>
          <p:nvPr/>
        </p:nvGrpSpPr>
        <p:grpSpPr>
          <a:xfrm>
            <a:off x="3276600" y="1020763"/>
            <a:ext cx="5043488" cy="3200400"/>
            <a:chOff x="2064" y="643"/>
            <a:chExt cx="3177" cy="2016"/>
          </a:xfrm>
        </p:grpSpPr>
        <p:sp>
          <p:nvSpPr>
            <p:cNvPr id="79875" name="Line 6"/>
            <p:cNvSpPr/>
            <p:nvPr/>
          </p:nvSpPr>
          <p:spPr>
            <a:xfrm>
              <a:off x="2505" y="883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76" name="Line 7"/>
            <p:cNvSpPr/>
            <p:nvPr/>
          </p:nvSpPr>
          <p:spPr>
            <a:xfrm flipV="1">
              <a:off x="2793" y="643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77" name="Line 8"/>
            <p:cNvSpPr/>
            <p:nvPr/>
          </p:nvSpPr>
          <p:spPr>
            <a:xfrm>
              <a:off x="2793" y="643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78" name="Line 9"/>
            <p:cNvSpPr/>
            <p:nvPr/>
          </p:nvSpPr>
          <p:spPr>
            <a:xfrm>
              <a:off x="3129" y="643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79" name="Line 10"/>
            <p:cNvSpPr/>
            <p:nvPr/>
          </p:nvSpPr>
          <p:spPr>
            <a:xfrm>
              <a:off x="3129" y="883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80" name="Line 11"/>
            <p:cNvSpPr/>
            <p:nvPr/>
          </p:nvSpPr>
          <p:spPr>
            <a:xfrm flipV="1">
              <a:off x="3417" y="643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81" name="Line 12"/>
            <p:cNvSpPr/>
            <p:nvPr/>
          </p:nvSpPr>
          <p:spPr>
            <a:xfrm>
              <a:off x="3417" y="643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82" name="Line 13"/>
            <p:cNvSpPr/>
            <p:nvPr/>
          </p:nvSpPr>
          <p:spPr>
            <a:xfrm>
              <a:off x="3753" y="643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83" name="Line 14"/>
            <p:cNvSpPr/>
            <p:nvPr/>
          </p:nvSpPr>
          <p:spPr>
            <a:xfrm>
              <a:off x="3753" y="883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84" name="Line 15"/>
            <p:cNvSpPr/>
            <p:nvPr/>
          </p:nvSpPr>
          <p:spPr>
            <a:xfrm flipV="1">
              <a:off x="4041" y="643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85" name="Line 16"/>
            <p:cNvSpPr/>
            <p:nvPr/>
          </p:nvSpPr>
          <p:spPr>
            <a:xfrm>
              <a:off x="4041" y="643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86" name="Line 17"/>
            <p:cNvSpPr/>
            <p:nvPr/>
          </p:nvSpPr>
          <p:spPr>
            <a:xfrm>
              <a:off x="4377" y="643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87" name="Line 18"/>
            <p:cNvSpPr/>
            <p:nvPr/>
          </p:nvSpPr>
          <p:spPr>
            <a:xfrm>
              <a:off x="4377" y="883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88" name="Line 19"/>
            <p:cNvSpPr/>
            <p:nvPr/>
          </p:nvSpPr>
          <p:spPr>
            <a:xfrm flipV="1">
              <a:off x="4665" y="643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89" name="Line 20"/>
            <p:cNvSpPr/>
            <p:nvPr/>
          </p:nvSpPr>
          <p:spPr>
            <a:xfrm>
              <a:off x="4665" y="643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90" name="Line 21"/>
            <p:cNvSpPr/>
            <p:nvPr/>
          </p:nvSpPr>
          <p:spPr>
            <a:xfrm>
              <a:off x="5001" y="643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91" name="Line 22"/>
            <p:cNvSpPr/>
            <p:nvPr/>
          </p:nvSpPr>
          <p:spPr>
            <a:xfrm>
              <a:off x="5001" y="883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92" name="Line 23"/>
            <p:cNvSpPr/>
            <p:nvPr/>
          </p:nvSpPr>
          <p:spPr>
            <a:xfrm>
              <a:off x="2505" y="979"/>
              <a:ext cx="384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93" name="Line 24"/>
            <p:cNvSpPr/>
            <p:nvPr/>
          </p:nvSpPr>
          <p:spPr>
            <a:xfrm>
              <a:off x="2889" y="979"/>
              <a:ext cx="0" cy="19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94" name="Line 25"/>
            <p:cNvSpPr/>
            <p:nvPr/>
          </p:nvSpPr>
          <p:spPr>
            <a:xfrm>
              <a:off x="2889" y="1171"/>
              <a:ext cx="57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96" name="Line 27"/>
            <p:cNvSpPr/>
            <p:nvPr/>
          </p:nvSpPr>
          <p:spPr>
            <a:xfrm>
              <a:off x="3469" y="1171"/>
              <a:ext cx="129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98" name="Line 29"/>
            <p:cNvSpPr/>
            <p:nvPr/>
          </p:nvSpPr>
          <p:spPr>
            <a:xfrm>
              <a:off x="4761" y="1171"/>
              <a:ext cx="480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899" name="Line 30"/>
            <p:cNvSpPr/>
            <p:nvPr/>
          </p:nvSpPr>
          <p:spPr>
            <a:xfrm>
              <a:off x="2793" y="883"/>
              <a:ext cx="0" cy="168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79900" name="Line 31"/>
            <p:cNvSpPr/>
            <p:nvPr/>
          </p:nvSpPr>
          <p:spPr>
            <a:xfrm>
              <a:off x="3417" y="883"/>
              <a:ext cx="0" cy="168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79901" name="Line 32"/>
            <p:cNvSpPr/>
            <p:nvPr/>
          </p:nvSpPr>
          <p:spPr>
            <a:xfrm>
              <a:off x="4041" y="883"/>
              <a:ext cx="0" cy="168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79902" name="Line 33"/>
            <p:cNvSpPr/>
            <p:nvPr/>
          </p:nvSpPr>
          <p:spPr>
            <a:xfrm>
              <a:off x="4665" y="883"/>
              <a:ext cx="0" cy="168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79903" name="Line 34"/>
            <p:cNvSpPr/>
            <p:nvPr/>
          </p:nvSpPr>
          <p:spPr>
            <a:xfrm>
              <a:off x="2505" y="1507"/>
              <a:ext cx="288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04" name="Line 35"/>
            <p:cNvSpPr/>
            <p:nvPr/>
          </p:nvSpPr>
          <p:spPr>
            <a:xfrm flipV="1">
              <a:off x="2793" y="1315"/>
              <a:ext cx="0" cy="192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05" name="Line 36"/>
            <p:cNvSpPr/>
            <p:nvPr/>
          </p:nvSpPr>
          <p:spPr>
            <a:xfrm>
              <a:off x="2793" y="1315"/>
              <a:ext cx="62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06" name="Line 37"/>
            <p:cNvSpPr/>
            <p:nvPr/>
          </p:nvSpPr>
          <p:spPr>
            <a:xfrm>
              <a:off x="3417" y="1315"/>
              <a:ext cx="0" cy="192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07" name="Line 38"/>
            <p:cNvSpPr/>
            <p:nvPr/>
          </p:nvSpPr>
          <p:spPr>
            <a:xfrm>
              <a:off x="3417" y="1507"/>
              <a:ext cx="62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09" name="Line 40"/>
            <p:cNvSpPr/>
            <p:nvPr/>
          </p:nvSpPr>
          <p:spPr>
            <a:xfrm>
              <a:off x="4041" y="1495"/>
              <a:ext cx="1200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10" name="Line 41"/>
            <p:cNvSpPr/>
            <p:nvPr/>
          </p:nvSpPr>
          <p:spPr>
            <a:xfrm>
              <a:off x="2505" y="1843"/>
              <a:ext cx="912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11" name="Line 42"/>
            <p:cNvSpPr/>
            <p:nvPr/>
          </p:nvSpPr>
          <p:spPr>
            <a:xfrm flipV="1">
              <a:off x="3417" y="1651"/>
              <a:ext cx="0" cy="192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12" name="Line 43"/>
            <p:cNvSpPr/>
            <p:nvPr/>
          </p:nvSpPr>
          <p:spPr>
            <a:xfrm>
              <a:off x="3417" y="1651"/>
              <a:ext cx="62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13" name="Line 44"/>
            <p:cNvSpPr/>
            <p:nvPr/>
          </p:nvSpPr>
          <p:spPr>
            <a:xfrm>
              <a:off x="4041" y="1651"/>
              <a:ext cx="0" cy="192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14" name="Line 45"/>
            <p:cNvSpPr/>
            <p:nvPr/>
          </p:nvSpPr>
          <p:spPr>
            <a:xfrm>
              <a:off x="4041" y="1843"/>
              <a:ext cx="62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16" name="Line 47"/>
            <p:cNvSpPr/>
            <p:nvPr/>
          </p:nvSpPr>
          <p:spPr>
            <a:xfrm>
              <a:off x="4665" y="1843"/>
              <a:ext cx="576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17" name="Line 48"/>
            <p:cNvSpPr/>
            <p:nvPr/>
          </p:nvSpPr>
          <p:spPr>
            <a:xfrm>
              <a:off x="2505" y="2179"/>
              <a:ext cx="1536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18" name="Line 49"/>
            <p:cNvSpPr/>
            <p:nvPr/>
          </p:nvSpPr>
          <p:spPr>
            <a:xfrm flipV="1">
              <a:off x="4041" y="1987"/>
              <a:ext cx="0" cy="192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19" name="Line 50"/>
            <p:cNvSpPr/>
            <p:nvPr/>
          </p:nvSpPr>
          <p:spPr>
            <a:xfrm>
              <a:off x="4041" y="1987"/>
              <a:ext cx="62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20" name="Line 51"/>
            <p:cNvSpPr/>
            <p:nvPr/>
          </p:nvSpPr>
          <p:spPr>
            <a:xfrm>
              <a:off x="4665" y="1987"/>
              <a:ext cx="0" cy="192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21" name="Line 52"/>
            <p:cNvSpPr/>
            <p:nvPr/>
          </p:nvSpPr>
          <p:spPr>
            <a:xfrm>
              <a:off x="4665" y="2179"/>
              <a:ext cx="576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22" name="Line 53"/>
            <p:cNvSpPr/>
            <p:nvPr/>
          </p:nvSpPr>
          <p:spPr>
            <a:xfrm>
              <a:off x="2505" y="2563"/>
              <a:ext cx="2160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23" name="Line 54"/>
            <p:cNvSpPr/>
            <p:nvPr/>
          </p:nvSpPr>
          <p:spPr>
            <a:xfrm flipV="1">
              <a:off x="4665" y="2323"/>
              <a:ext cx="0" cy="24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24" name="Line 55"/>
            <p:cNvSpPr/>
            <p:nvPr/>
          </p:nvSpPr>
          <p:spPr>
            <a:xfrm>
              <a:off x="4665" y="2323"/>
              <a:ext cx="576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25" name="Text Box 56"/>
            <p:cNvSpPr txBox="1"/>
            <p:nvPr/>
          </p:nvSpPr>
          <p:spPr>
            <a:xfrm>
              <a:off x="2064" y="729"/>
              <a:ext cx="463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CLK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26" name="Text Box 57"/>
            <p:cNvSpPr txBox="1"/>
            <p:nvPr/>
          </p:nvSpPr>
          <p:spPr>
            <a:xfrm>
              <a:off x="2169" y="969"/>
              <a:ext cx="261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2000" baseline="-25000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0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27" name="Text Box 58"/>
            <p:cNvSpPr txBox="1"/>
            <p:nvPr/>
          </p:nvSpPr>
          <p:spPr>
            <a:xfrm>
              <a:off x="2169" y="1401"/>
              <a:ext cx="292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2000" baseline="-2500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20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28" name="Text Box 59"/>
            <p:cNvSpPr txBox="1"/>
            <p:nvPr/>
          </p:nvSpPr>
          <p:spPr>
            <a:xfrm>
              <a:off x="2181" y="1737"/>
              <a:ext cx="292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2000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0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29" name="Text Box 60"/>
            <p:cNvSpPr txBox="1"/>
            <p:nvPr/>
          </p:nvSpPr>
          <p:spPr>
            <a:xfrm>
              <a:off x="2193" y="2073"/>
              <a:ext cx="292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2000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0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30" name="Text Box 61"/>
            <p:cNvSpPr txBox="1"/>
            <p:nvPr/>
          </p:nvSpPr>
          <p:spPr>
            <a:xfrm>
              <a:off x="2205" y="2409"/>
              <a:ext cx="292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2000" baseline="-2500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0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31" name="Text Box 62"/>
            <p:cNvSpPr txBox="1"/>
            <p:nvPr/>
          </p:nvSpPr>
          <p:spPr>
            <a:xfrm>
              <a:off x="2565" y="921"/>
              <a:ext cx="1955" cy="25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1          0              0              0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32" name="Text Box 63"/>
            <p:cNvSpPr txBox="1"/>
            <p:nvPr/>
          </p:nvSpPr>
          <p:spPr>
            <a:xfrm>
              <a:off x="2553" y="1305"/>
              <a:ext cx="2435" cy="25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0          1              0             0           0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33" name="Text Box 64"/>
            <p:cNvSpPr txBox="1"/>
            <p:nvPr/>
          </p:nvSpPr>
          <p:spPr>
            <a:xfrm>
              <a:off x="2553" y="1641"/>
              <a:ext cx="2475" cy="25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0          0              1              0           0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34" name="Text Box 65"/>
            <p:cNvSpPr txBox="1"/>
            <p:nvPr/>
          </p:nvSpPr>
          <p:spPr>
            <a:xfrm>
              <a:off x="2553" y="1977"/>
              <a:ext cx="2476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0          0              0              1           0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35" name="Text Box 66"/>
            <p:cNvSpPr txBox="1"/>
            <p:nvPr/>
          </p:nvSpPr>
          <p:spPr>
            <a:xfrm>
              <a:off x="2553" y="2313"/>
              <a:ext cx="2476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0          0              0              0           1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36" name="Line 67"/>
            <p:cNvSpPr/>
            <p:nvPr/>
          </p:nvSpPr>
          <p:spPr>
            <a:xfrm>
              <a:off x="4473" y="1123"/>
              <a:ext cx="38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37" name="Line 68"/>
            <p:cNvSpPr/>
            <p:nvPr/>
          </p:nvSpPr>
          <p:spPr>
            <a:xfrm>
              <a:off x="3897" y="1123"/>
              <a:ext cx="38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38" name="Line 69"/>
            <p:cNvSpPr/>
            <p:nvPr/>
          </p:nvSpPr>
          <p:spPr>
            <a:xfrm>
              <a:off x="4521" y="1507"/>
              <a:ext cx="336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39" name="Line 70"/>
            <p:cNvSpPr/>
            <p:nvPr/>
          </p:nvSpPr>
          <p:spPr>
            <a:xfrm>
              <a:off x="3225" y="1123"/>
              <a:ext cx="384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40" name="Line 71"/>
            <p:cNvSpPr/>
            <p:nvPr/>
          </p:nvSpPr>
          <p:spPr>
            <a:xfrm>
              <a:off x="3897" y="1507"/>
              <a:ext cx="384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41" name="Line 72"/>
            <p:cNvSpPr/>
            <p:nvPr/>
          </p:nvSpPr>
          <p:spPr>
            <a:xfrm>
              <a:off x="4473" y="1843"/>
              <a:ext cx="384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42" name="Line 73"/>
            <p:cNvSpPr/>
            <p:nvPr/>
          </p:nvSpPr>
          <p:spPr>
            <a:xfrm>
              <a:off x="2697" y="1123"/>
              <a:ext cx="384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43" name="Line 74"/>
            <p:cNvSpPr/>
            <p:nvPr/>
          </p:nvSpPr>
          <p:spPr>
            <a:xfrm>
              <a:off x="3273" y="1459"/>
              <a:ext cx="384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44" name="Line 75"/>
            <p:cNvSpPr/>
            <p:nvPr/>
          </p:nvSpPr>
          <p:spPr>
            <a:xfrm>
              <a:off x="3897" y="1843"/>
              <a:ext cx="384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45" name="Line 76"/>
            <p:cNvSpPr/>
            <p:nvPr/>
          </p:nvSpPr>
          <p:spPr>
            <a:xfrm>
              <a:off x="4473" y="2179"/>
              <a:ext cx="384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46" name="Line 77"/>
            <p:cNvSpPr/>
            <p:nvPr/>
          </p:nvSpPr>
          <p:spPr>
            <a:xfrm>
              <a:off x="3897" y="2131"/>
              <a:ext cx="384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47" name="Line 78"/>
            <p:cNvSpPr/>
            <p:nvPr/>
          </p:nvSpPr>
          <p:spPr>
            <a:xfrm>
              <a:off x="3273" y="2131"/>
              <a:ext cx="384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48" name="Line 79"/>
            <p:cNvSpPr/>
            <p:nvPr/>
          </p:nvSpPr>
          <p:spPr>
            <a:xfrm>
              <a:off x="3273" y="1795"/>
              <a:ext cx="384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49" name="Line 80"/>
            <p:cNvSpPr/>
            <p:nvPr/>
          </p:nvSpPr>
          <p:spPr>
            <a:xfrm>
              <a:off x="2745" y="1507"/>
              <a:ext cx="336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50" name="Line 81"/>
            <p:cNvSpPr/>
            <p:nvPr/>
          </p:nvSpPr>
          <p:spPr>
            <a:xfrm>
              <a:off x="2697" y="1795"/>
              <a:ext cx="384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951" name="Line 82"/>
            <p:cNvSpPr/>
            <p:nvPr/>
          </p:nvSpPr>
          <p:spPr>
            <a:xfrm>
              <a:off x="2697" y="2131"/>
              <a:ext cx="384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内容占位符 2"/>
          <p:cNvSpPr>
            <a:spLocks noGrp="1"/>
          </p:cNvSpPr>
          <p:nvPr/>
        </p:nvSpPr>
        <p:spPr>
          <a:xfrm>
            <a:off x="179388" y="548323"/>
            <a:ext cx="8302625" cy="529113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移位寄存器构成的分频器的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VHDL</a:t>
            </a:r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描述</a:t>
            </a:r>
            <a:endParaRPr lang="zh-CN" altLang="zh-CN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library IEEE;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use IEEE.STD_LOGIC_1164.ALL;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use IEEE.STD_LOGIC_ARITH.ALL;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use IEEE.STD_LOGIC_UNSIGNED.ALL;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 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entity divf_shiftreg4 is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Port ( clk : in  STD_LOGIC;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         clr : in  STD_LOGIC;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           q : inout  STD_LOGIC);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end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divf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_shiftreg4;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/>
        </p:nvSpPr>
        <p:spPr>
          <a:xfrm>
            <a:off x="323850" y="188595"/>
            <a:ext cx="8229600" cy="62972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None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architecture Behavioral of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divf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_shiftreg4 is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signal qtemp: std_logic_vector(3 downto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0);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 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begin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process(clr,clk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)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begin  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	if(clr='1') then 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	    </a:t>
            </a:r>
            <a:r>
              <a:rPr lang="en-US" altLang="zh-CN" sz="200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qtemp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&lt;="0001";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elsif(rising_edge(clk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)) then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	    </a:t>
            </a:r>
            <a:r>
              <a:rPr lang="en-US" altLang="zh-CN" sz="200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qtemp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(3) &lt;= </a:t>
            </a:r>
            <a:r>
              <a:rPr lang="en-US" altLang="zh-CN" sz="200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qtemp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(0);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   </a:t>
            </a:r>
            <a:r>
              <a:rPr lang="en-US" altLang="zh-CN" sz="200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qtemp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(2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downto 0) &lt;= </a:t>
            </a:r>
            <a:r>
              <a:rPr lang="en-US" altLang="zh-CN" sz="200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qtemp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(3 downto 1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);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end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if</a:t>
            </a: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;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end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process;</a:t>
            </a:r>
            <a:endParaRPr kumimoji="0" lang="en-US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q&lt;=qtemp(3);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end Behavioral;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98" name="Text Box 78"/>
          <p:cNvSpPr txBox="1"/>
          <p:nvPr/>
        </p:nvSpPr>
        <p:spPr>
          <a:xfrm>
            <a:off x="341313" y="2209165"/>
            <a:ext cx="5695950" cy="519113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0  0  0  1  1  1  0  1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0  0  0  1  1  1  0  1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79"/>
          <p:cNvGrpSpPr/>
          <p:nvPr/>
        </p:nvGrpSpPr>
        <p:grpSpPr>
          <a:xfrm>
            <a:off x="323533" y="2636838"/>
            <a:ext cx="3883025" cy="1592262"/>
            <a:chOff x="482" y="679"/>
            <a:chExt cx="2446" cy="1003"/>
          </a:xfrm>
        </p:grpSpPr>
        <p:sp>
          <p:nvSpPr>
            <p:cNvPr id="94212" name="Line 80"/>
            <p:cNvSpPr/>
            <p:nvPr/>
          </p:nvSpPr>
          <p:spPr>
            <a:xfrm>
              <a:off x="528" y="720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213" name="Line 81"/>
            <p:cNvSpPr/>
            <p:nvPr/>
          </p:nvSpPr>
          <p:spPr>
            <a:xfrm>
              <a:off x="720" y="816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214" name="Line 82"/>
            <p:cNvSpPr/>
            <p:nvPr/>
          </p:nvSpPr>
          <p:spPr>
            <a:xfrm>
              <a:off x="960" y="912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215" name="Line 83"/>
            <p:cNvSpPr/>
            <p:nvPr/>
          </p:nvSpPr>
          <p:spPr>
            <a:xfrm>
              <a:off x="1200" y="1008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216" name="Line 84"/>
            <p:cNvSpPr/>
            <p:nvPr/>
          </p:nvSpPr>
          <p:spPr>
            <a:xfrm>
              <a:off x="1440" y="1104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217" name="Line 85"/>
            <p:cNvSpPr/>
            <p:nvPr/>
          </p:nvSpPr>
          <p:spPr>
            <a:xfrm>
              <a:off x="1632" y="1200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218" name="Line 86"/>
            <p:cNvSpPr/>
            <p:nvPr/>
          </p:nvSpPr>
          <p:spPr>
            <a:xfrm>
              <a:off x="1872" y="1296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219" name="Line 87"/>
            <p:cNvSpPr/>
            <p:nvPr/>
          </p:nvSpPr>
          <p:spPr>
            <a:xfrm>
              <a:off x="2112" y="1392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220" name="Line 88"/>
            <p:cNvSpPr/>
            <p:nvPr/>
          </p:nvSpPr>
          <p:spPr>
            <a:xfrm>
              <a:off x="2352" y="1488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221" name="Text Box 89"/>
            <p:cNvSpPr txBox="1"/>
            <p:nvPr/>
          </p:nvSpPr>
          <p:spPr>
            <a:xfrm>
              <a:off x="482" y="679"/>
              <a:ext cx="244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1800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4222" name="Text Box 90"/>
            <p:cNvSpPr txBox="1"/>
            <p:nvPr/>
          </p:nvSpPr>
          <p:spPr>
            <a:xfrm>
              <a:off x="705" y="775"/>
              <a:ext cx="244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1800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4223" name="Text Box 91"/>
            <p:cNvSpPr txBox="1"/>
            <p:nvPr/>
          </p:nvSpPr>
          <p:spPr>
            <a:xfrm>
              <a:off x="919" y="873"/>
              <a:ext cx="244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1800" baseline="-2500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4224" name="Text Box 92"/>
            <p:cNvSpPr txBox="1"/>
            <p:nvPr/>
          </p:nvSpPr>
          <p:spPr>
            <a:xfrm>
              <a:off x="1159" y="969"/>
              <a:ext cx="244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1800" baseline="-2500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4225" name="Text Box 93"/>
            <p:cNvSpPr txBox="1"/>
            <p:nvPr/>
          </p:nvSpPr>
          <p:spPr>
            <a:xfrm>
              <a:off x="1403" y="1065"/>
              <a:ext cx="244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1800" baseline="-25000"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4226" name="Text Box 94"/>
            <p:cNvSpPr txBox="1"/>
            <p:nvPr/>
          </p:nvSpPr>
          <p:spPr>
            <a:xfrm>
              <a:off x="1617" y="1152"/>
              <a:ext cx="244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1800" baseline="-25000"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4227" name="Text Box 95"/>
            <p:cNvSpPr txBox="1"/>
            <p:nvPr/>
          </p:nvSpPr>
          <p:spPr>
            <a:xfrm>
              <a:off x="1853" y="1261"/>
              <a:ext cx="244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1800" baseline="-25000">
                  <a:latin typeface="Times New Roman" panose="02020603050405020304" pitchFamily="18" charset="0"/>
                  <a:ea typeface="楷体_GB2312" pitchFamily="49" charset="-122"/>
                </a:rPr>
                <a:t>7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4228" name="Text Box 96"/>
            <p:cNvSpPr txBox="1"/>
            <p:nvPr/>
          </p:nvSpPr>
          <p:spPr>
            <a:xfrm>
              <a:off x="2108" y="1344"/>
              <a:ext cx="244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1800" baseline="-25000">
                  <a:latin typeface="Times New Roman" panose="02020603050405020304" pitchFamily="18" charset="0"/>
                  <a:ea typeface="楷体_GB2312" pitchFamily="49" charset="-122"/>
                </a:rPr>
                <a:t>8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4229" name="Text Box 97"/>
            <p:cNvSpPr txBox="1"/>
            <p:nvPr/>
          </p:nvSpPr>
          <p:spPr>
            <a:xfrm>
              <a:off x="2481" y="1451"/>
              <a:ext cx="244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1800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" name="Group 108"/>
          <p:cNvGrpSpPr/>
          <p:nvPr/>
        </p:nvGrpSpPr>
        <p:grpSpPr>
          <a:xfrm>
            <a:off x="5724525" y="920750"/>
            <a:ext cx="3281363" cy="4605338"/>
            <a:chOff x="3606" y="580"/>
            <a:chExt cx="2067" cy="2901"/>
          </a:xfrm>
        </p:grpSpPr>
        <p:sp>
          <p:nvSpPr>
            <p:cNvPr id="94231" name="Text Box 99"/>
            <p:cNvSpPr txBox="1"/>
            <p:nvPr/>
          </p:nvSpPr>
          <p:spPr>
            <a:xfrm>
              <a:off x="4195" y="580"/>
              <a:ext cx="1001" cy="261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=Q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en-US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en-US" altLang="zh-CN" sz="24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en-US" altLang="zh-CN" sz="24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en-US" altLang="zh-CN" sz="24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en-US" altLang="zh-CN" sz="24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en-US" altLang="zh-CN" sz="24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en-US" altLang="zh-CN" sz="24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7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en-US" altLang="zh-CN" sz="24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8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en-US" altLang="zh-CN" sz="24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=</a:t>
              </a:r>
              <a:r>
                <a:rPr lang="en-US" altLang="zh-CN" sz="24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4232" name="Line 100"/>
            <p:cNvSpPr/>
            <p:nvPr/>
          </p:nvSpPr>
          <p:spPr>
            <a:xfrm>
              <a:off x="4567" y="916"/>
              <a:ext cx="0" cy="144"/>
            </a:xfrm>
            <a:prstGeom prst="line">
              <a:avLst/>
            </a:prstGeom>
            <a:ln w="19050" cap="flat" cmpd="sng">
              <a:solidFill>
                <a:srgbClr val="0066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4233" name="Line 101"/>
            <p:cNvSpPr/>
            <p:nvPr/>
          </p:nvSpPr>
          <p:spPr>
            <a:xfrm>
              <a:off x="4759" y="927"/>
              <a:ext cx="0" cy="144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4234" name="Line 102"/>
            <p:cNvSpPr/>
            <p:nvPr/>
          </p:nvSpPr>
          <p:spPr>
            <a:xfrm>
              <a:off x="4194" y="3364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235" name="Line 103"/>
            <p:cNvSpPr/>
            <p:nvPr/>
          </p:nvSpPr>
          <p:spPr>
            <a:xfrm flipV="1">
              <a:off x="4578" y="312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4236" name="Line 104"/>
            <p:cNvSpPr/>
            <p:nvPr/>
          </p:nvSpPr>
          <p:spPr>
            <a:xfrm>
              <a:off x="4781" y="312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94237" name="Line 105"/>
            <p:cNvSpPr/>
            <p:nvPr/>
          </p:nvSpPr>
          <p:spPr>
            <a:xfrm>
              <a:off x="4781" y="3364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238" name="Text Box 106"/>
            <p:cNvSpPr txBox="1"/>
            <p:nvPr/>
          </p:nvSpPr>
          <p:spPr>
            <a:xfrm>
              <a:off x="3606" y="3152"/>
              <a:ext cx="566" cy="32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输出</a:t>
              </a:r>
              <a:endParaRPr lang="zh-CN" altLang="en-US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4239" name="Text Box 107"/>
            <p:cNvSpPr txBox="1"/>
            <p:nvPr/>
          </p:nvSpPr>
          <p:spPr>
            <a:xfrm>
              <a:off x="5107" y="3152"/>
              <a:ext cx="566" cy="32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输入</a:t>
              </a:r>
              <a:endPara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95605" y="1052830"/>
            <a:ext cx="4417060" cy="8877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利用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移位型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方式设计产生序列信号“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00011101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946" name="矩形 578562"/>
          <p:cNvSpPr/>
          <p:nvPr>
            <p:custDataLst>
              <p:tags r:id="rId2"/>
            </p:custDataLst>
          </p:nvPr>
        </p:nvSpPr>
        <p:spPr>
          <a:xfrm>
            <a:off x="457200" y="419100"/>
            <a:ext cx="4225925" cy="63373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序列发生器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Group 20"/>
          <p:cNvGrpSpPr/>
          <p:nvPr/>
        </p:nvGrpSpPr>
        <p:grpSpPr>
          <a:xfrm>
            <a:off x="596900" y="4149090"/>
            <a:ext cx="3136900" cy="2135188"/>
            <a:chOff x="3686" y="960"/>
            <a:chExt cx="1976" cy="1345"/>
          </a:xfrm>
        </p:grpSpPr>
        <p:grpSp>
          <p:nvGrpSpPr>
            <p:cNvPr id="92163" name="Group 17"/>
            <p:cNvGrpSpPr/>
            <p:nvPr/>
          </p:nvGrpSpPr>
          <p:grpSpPr>
            <a:xfrm>
              <a:off x="3730" y="960"/>
              <a:ext cx="1932" cy="1296"/>
              <a:chOff x="1440" y="1200"/>
              <a:chExt cx="1932" cy="1296"/>
            </a:xfrm>
          </p:grpSpPr>
          <p:sp>
            <p:nvSpPr>
              <p:cNvPr id="92164" name="Rectangle 4"/>
              <p:cNvSpPr/>
              <p:nvPr>
                <p:custDataLst>
                  <p:tags r:id="rId3"/>
                </p:custDataLst>
              </p:nvPr>
            </p:nvSpPr>
            <p:spPr>
              <a:xfrm>
                <a:off x="1632" y="1200"/>
                <a:ext cx="1200" cy="432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2165" name="Rectangle 5"/>
              <p:cNvSpPr/>
              <p:nvPr>
                <p:custDataLst>
                  <p:tags r:id="rId4"/>
                </p:custDataLst>
              </p:nvPr>
            </p:nvSpPr>
            <p:spPr>
              <a:xfrm>
                <a:off x="1632" y="2064"/>
                <a:ext cx="1200" cy="432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2166" name="Text Box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722" y="1261"/>
                <a:ext cx="1079" cy="29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400" dirty="0">
                    <a:latin typeface="Times New Roman" panose="02020603050405020304" pitchFamily="18" charset="0"/>
                    <a:ea typeface="楷体_GB2312" pitchFamily="49" charset="-122"/>
                  </a:rPr>
                  <a:t>数据选择器</a:t>
                </a:r>
                <a:endParaRPr lang="zh-CN" altLang="en-US" sz="24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2167" name="Text Box 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622" y="2121"/>
                <a:ext cx="1241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dirty="0">
                    <a:latin typeface="Times New Roman" panose="02020603050405020304" pitchFamily="18" charset="0"/>
                    <a:ea typeface="楷体_GB2312" pitchFamily="49" charset="-122"/>
                  </a:rPr>
                  <a:t>移位寄存器</a:t>
                </a:r>
                <a:endParaRPr lang="zh-CN" altLang="en-US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2168" name="Line 8"/>
              <p:cNvSpPr/>
              <p:nvPr>
                <p:custDataLst>
                  <p:tags r:id="rId7"/>
                </p:custDataLst>
              </p:nvPr>
            </p:nvSpPr>
            <p:spPr>
              <a:xfrm flipV="1">
                <a:off x="1824" y="1632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2169" name="Line 9"/>
              <p:cNvSpPr/>
              <p:nvPr>
                <p:custDataLst>
                  <p:tags r:id="rId8"/>
                </p:custDataLst>
              </p:nvPr>
            </p:nvSpPr>
            <p:spPr>
              <a:xfrm flipV="1">
                <a:off x="1968" y="1632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2170" name="Line 10"/>
              <p:cNvSpPr/>
              <p:nvPr>
                <p:custDataLst>
                  <p:tags r:id="rId9"/>
                </p:custDataLst>
              </p:nvPr>
            </p:nvSpPr>
            <p:spPr>
              <a:xfrm flipV="1">
                <a:off x="2640" y="1632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2171" name="Text Box 1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054" y="1626"/>
                <a:ext cx="452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>
                    <a:latin typeface="Times New Roman" panose="02020603050405020304" pitchFamily="18" charset="0"/>
                    <a:ea typeface="楷体_GB2312" pitchFamily="49" charset="-122"/>
                  </a:rPr>
                  <a:t>  …</a:t>
                </a:r>
                <a:endParaRPr lang="en-US" altLang="zh-CN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2172" name="Line 12"/>
              <p:cNvSpPr/>
              <p:nvPr>
                <p:custDataLst>
                  <p:tags r:id="rId11"/>
                </p:custDataLst>
              </p:nvPr>
            </p:nvSpPr>
            <p:spPr>
              <a:xfrm flipH="1">
                <a:off x="1440" y="1392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173" name="Line 13"/>
              <p:cNvSpPr/>
              <p:nvPr>
                <p:custDataLst>
                  <p:tags r:id="rId12"/>
                </p:custDataLst>
              </p:nvPr>
            </p:nvSpPr>
            <p:spPr>
              <a:xfrm>
                <a:off x="1440" y="1392"/>
                <a:ext cx="0" cy="91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174" name="Line 14"/>
              <p:cNvSpPr/>
              <p:nvPr>
                <p:custDataLst>
                  <p:tags r:id="rId13"/>
                </p:custDataLst>
              </p:nvPr>
            </p:nvSpPr>
            <p:spPr>
              <a:xfrm>
                <a:off x="1440" y="2304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2175" name="Line 15"/>
              <p:cNvSpPr/>
              <p:nvPr>
                <p:custDataLst>
                  <p:tags r:id="rId14"/>
                </p:custDataLst>
              </p:nvPr>
            </p:nvSpPr>
            <p:spPr>
              <a:xfrm>
                <a:off x="2832" y="2304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2176" name="Text Box 1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2870" y="1981"/>
                <a:ext cx="502" cy="28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输出</a:t>
                </a:r>
                <a:endPara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92177" name="Text Box 19"/>
            <p:cNvSpPr txBox="1"/>
            <p:nvPr>
              <p:custDataLst>
                <p:tags r:id="rId16"/>
              </p:custDataLst>
            </p:nvPr>
          </p:nvSpPr>
          <p:spPr>
            <a:xfrm>
              <a:off x="3686" y="2054"/>
              <a:ext cx="337" cy="25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din</a:t>
              </a:r>
              <a:endParaRPr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1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8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82" name="内容占位符 583681"/>
          <p:cNvSpPr>
            <a:spLocks noGrp="1"/>
          </p:cNvSpPr>
          <p:nvPr>
            <p:ph idx="1"/>
          </p:nvPr>
        </p:nvSpPr>
        <p:spPr>
          <a:xfrm>
            <a:off x="323533" y="116523"/>
            <a:ext cx="7772400" cy="6748145"/>
          </a:xfrm>
        </p:spPr>
        <p:txBody>
          <a:bodyPr vert="horz" wrap="square" lIns="91440" tIns="45720" rIns="91440" bIns="45720" anchor="t" anchorCtr="0">
            <a:spAutoFit/>
          </a:bodyPr>
          <a:p>
            <a:pPr marL="0" indent="0" algn="l" defTabSz="914400">
              <a:lnSpc>
                <a:spcPct val="130000"/>
              </a:lnSpc>
              <a:spcBef>
                <a:spcPct val="20000"/>
              </a:spcBef>
              <a:buNone/>
            </a:pPr>
            <a:r>
              <a: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library IEEE;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>
              <a:lnSpc>
                <a:spcPct val="130000"/>
              </a:lnSpc>
              <a:spcBef>
                <a:spcPct val="20000"/>
              </a:spcBef>
              <a:buNone/>
            </a:pPr>
            <a:r>
              <a: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use IEEE.STD_LOGIC_1164.ALL;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>
              <a:lnSpc>
                <a:spcPct val="130000"/>
              </a:lnSpc>
              <a:spcBef>
                <a:spcPct val="20000"/>
              </a:spcBef>
              <a:buNone/>
            </a:pPr>
            <a:r>
              <a: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use IEEE.STD_LOGIC_ARITH.ALL;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>
              <a:lnSpc>
                <a:spcPct val="130000"/>
              </a:lnSpc>
              <a:spcBef>
                <a:spcPct val="20000"/>
              </a:spcBef>
              <a:buNone/>
            </a:pPr>
            <a:r>
              <a: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use IEEE.STD_LOGIC_UNSIGNED.ALL;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>
              <a:lnSpc>
                <a:spcPct val="130000"/>
              </a:lnSpc>
              <a:spcBef>
                <a:spcPct val="20000"/>
              </a:spcBef>
              <a:buNone/>
            </a:pPr>
            <a:r>
              <a: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entity </a:t>
            </a:r>
            <a:r>
              <a:rPr lang="en-US" altLang="zh-CN" sz="2000" b="1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seqgen</a:t>
            </a:r>
            <a:r>
              <a: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_shiftreg3 is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>
              <a:lnSpc>
                <a:spcPct val="130000"/>
              </a:lnSpc>
              <a:spcBef>
                <a:spcPct val="20000"/>
              </a:spcBef>
              <a:buNone/>
            </a:pPr>
            <a:r>
              <a: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Port ( clk : in  STD_LOGIC;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>
              <a:lnSpc>
                <a:spcPct val="130000"/>
              </a:lnSpc>
              <a:spcBef>
                <a:spcPct val="20000"/>
              </a:spcBef>
              <a:buNone/>
            </a:pPr>
            <a:r>
              <a: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q : inout  STD_LOGIC);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>
              <a:lnSpc>
                <a:spcPct val="130000"/>
              </a:lnSpc>
              <a:spcBef>
                <a:spcPct val="20000"/>
              </a:spcBef>
              <a:buNone/>
            </a:pPr>
            <a:r>
              <a: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end </a:t>
            </a:r>
            <a:r>
              <a:rPr lang="en-US" altLang="zh-CN" sz="2000" b="1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seqgen</a:t>
            </a:r>
            <a:r>
              <a: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_shiftreg3;</a:t>
            </a:r>
            <a:endParaRPr lang="en-US" altLang="zh-CN" sz="2000" b="1" kern="1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algn="l" defTabSz="914400">
              <a:lnSpc>
                <a:spcPct val="130000"/>
              </a:lnSpc>
              <a:spcBef>
                <a:spcPct val="20000"/>
              </a:spcBef>
              <a:buNone/>
            </a:pPr>
            <a:endParaRPr lang="en-US" altLang="zh-CN" sz="24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110000"/>
              </a:lnSpc>
              <a:buClrTx/>
              <a:buFontTx/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architecture Behavioral of 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seqgen</a:t>
            </a:r>
            <a:r>
              <a:rPr lang="en-US" altLang="zh-CN" sz="24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_shiftreg3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buClrTx/>
              <a:buFontTx/>
              <a:buNone/>
            </a:pPr>
            <a:r>
              <a:rPr lang="en-US" altLang="zh-CN" sz="2400" b="1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signal </a:t>
            </a:r>
            <a:r>
              <a:rPr lang="en-US" altLang="zh-CN" sz="2400" b="1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qin</a:t>
            </a:r>
            <a:r>
              <a:rPr lang="en-US" altLang="zh-CN" sz="2400" b="1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 std_logic_vector( 2 downto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0);</a:t>
            </a:r>
            <a:endParaRPr lang="en-US" altLang="zh-CN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buClrTx/>
              <a:buFontTx/>
              <a:buNone/>
            </a:pPr>
            <a:r>
              <a:rPr lang="en-US" altLang="zh-CN" sz="2400" b="1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signal din: std_logic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;</a:t>
            </a:r>
            <a:endParaRPr lang="en-US" altLang="zh-CN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10000"/>
              </a:lnSpc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 defTabSz="914400">
              <a:lnSpc>
                <a:spcPct val="130000"/>
              </a:lnSpc>
              <a:spcBef>
                <a:spcPct val="20000"/>
              </a:spcBef>
              <a:buNone/>
            </a:pP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8368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8368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83682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83682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83682">
                                            <p:txEl>
                                              <p:char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83682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83682">
                                            <p:txEl>
                                              <p:char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83682">
                                            <p:txEl>
                                              <p:char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83682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83682">
                                            <p:txEl>
                                              <p:char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83682">
                                            <p:txEl>
                                              <p:char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char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83682">
                                            <p:txEl>
                                              <p:char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4706" name="内容占位符 584705"/>
          <p:cNvSpPr>
            <a:spLocks noGrp="1"/>
          </p:cNvSpPr>
          <p:nvPr>
            <p:ph idx="1"/>
          </p:nvPr>
        </p:nvSpPr>
        <p:spPr>
          <a:xfrm>
            <a:off x="395605" y="260350"/>
            <a:ext cx="7772400" cy="5713095"/>
          </a:xfrm>
        </p:spPr>
        <p:txBody>
          <a:bodyPr vert="horz" wrap="square" lIns="91440" tIns="45720" rIns="91440" bIns="45720" anchor="t" anchorCtr="0">
            <a:noAutofit/>
          </a:bodyPr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 err="1">
                <a:solidFill>
                  <a:schemeClr val="accent2"/>
                </a:solidFill>
                <a:latin typeface="Times New Roman" panose="02020603050405020304" pitchFamily="18" charset="0"/>
                <a:sym typeface="+mn-ea"/>
              </a:rPr>
              <a:t>COM:process(</a:t>
            </a:r>
            <a:r>
              <a:rPr lang="en-US" altLang="zh-CN" sz="2000" b="1" err="1">
                <a:solidFill>
                  <a:srgbClr val="0000FF"/>
                </a:solidFill>
                <a:latin typeface="Times New Roman" panose="02020603050405020304" pitchFamily="18" charset="0"/>
                <a:sym typeface="+mn-ea"/>
              </a:rPr>
              <a:t>clk</a:t>
            </a:r>
            <a:r>
              <a:rPr lang="en-US" altLang="zh-CN" sz="2000" b="1" err="1">
                <a:solidFill>
                  <a:schemeClr val="accent2"/>
                </a:solidFill>
                <a:latin typeface="Times New Roman" panose="02020603050405020304" pitchFamily="18" charset="0"/>
                <a:sym typeface="+mn-ea"/>
              </a:rPr>
              <a:t>,qin</a:t>
            </a:r>
            <a:r>
              <a:rPr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+mn-ea"/>
              </a:rPr>
              <a:t>)</a:t>
            </a:r>
            <a:endParaRPr lang="en-US" altLang="zh-CN" sz="2000" b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  begin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    </a:t>
            </a:r>
            <a:r>
              <a:rPr lang="en-US" altLang="zh-CN" sz="2000" b="1" err="1">
                <a:solidFill>
                  <a:srgbClr val="0000FF"/>
                </a:solidFill>
                <a:latin typeface="Times New Roman" panose="02020603050405020304" pitchFamily="18" charset="0"/>
                <a:sym typeface="+mn-ea"/>
              </a:rPr>
              <a:t>if  clk'event and clk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sym typeface="+mn-ea"/>
              </a:rPr>
              <a:t>='1' then 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               case qin is 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	     when "000" =&gt; din&lt;='1';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                    when "001" =&gt; 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din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&lt;='1';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	     when "011" =&gt; 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din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&lt;='1';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	     when "111" =&gt; 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din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&lt;=‘0';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	     when "110" =&gt; 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din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&lt;=‘1';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                    when "101" =&gt; 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din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&lt;=‘0';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	     when "010" =&gt; 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din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&lt;='0';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	     when "100" =&gt; 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din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&lt;='0';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	     when</a:t>
            </a:r>
            <a:r>
              <a:rPr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+mn-ea"/>
              </a:rPr>
              <a:t> others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 =&gt; 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din</a:t>
            </a: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&lt;='Z';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	 end case;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   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sym typeface="+mn-ea"/>
              </a:rPr>
              <a:t>end if;</a:t>
            </a:r>
            <a:endParaRPr lang="en-US" altLang="zh-CN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 algn="l">
              <a:lnSpc>
                <a:spcPct val="95000"/>
              </a:lnSpc>
              <a:buClr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sym typeface="+mn-ea"/>
              </a:rPr>
              <a:t>end process COM;</a:t>
            </a:r>
            <a:endParaRPr lang="en-US" altLang="zh-CN" sz="2000" b="1">
              <a:latin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84706">
                                            <p:txEl>
                                              <p:char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84706">
                                            <p:txEl>
                                              <p:char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84706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84706">
                                            <p:txEl>
                                              <p:char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584706">
                                            <p:txEl>
                                              <p:char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84706">
                                            <p:txEl>
                                              <p:char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584706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84706">
                                            <p:txEl>
                                              <p:char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584706">
                                            <p:txEl>
                                              <p:char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584706">
                                            <p:txEl>
                                              <p:char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84706">
                                            <p:txEl>
                                              <p:char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584706">
                                            <p:txEl>
                                              <p:char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84706">
                                            <p:txEl>
                                              <p:char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584706">
                                            <p:txEl>
                                              <p:char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584706">
                                            <p:txEl>
                                              <p:char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584706">
                                            <p:txEl>
                                              <p:char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706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4706" name="内容占位符 584705"/>
          <p:cNvSpPr>
            <a:spLocks noGrp="1"/>
          </p:cNvSpPr>
          <p:nvPr>
            <p:ph idx="1"/>
          </p:nvPr>
        </p:nvSpPr>
        <p:spPr>
          <a:xfrm>
            <a:off x="518478" y="764223"/>
            <a:ext cx="7772400" cy="4261485"/>
          </a:xfrm>
        </p:spPr>
        <p:txBody>
          <a:bodyPr vert="horz" wrap="square" lIns="91440" tIns="45720" rIns="91440" bIns="45720" anchor="t" anchorCtr="0">
            <a:spAutoFit/>
          </a:bodyPr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SHIFT:process(din,clk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begin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if  clk'event and clk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='1' then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qin&lt;=qin(2 downto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1) &amp; din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;   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end if;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end process CNT;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q&lt;=qin(2)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end Behavioral;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06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84706">
                                            <p:txEl>
                                              <p:charRg st="106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>
                                            <p:txEl>
                                              <p:charRg st="113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84706">
                                            <p:txEl>
                                              <p:charRg st="113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70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82"/>
          <p:cNvGrpSpPr/>
          <p:nvPr/>
        </p:nvGrpSpPr>
        <p:grpSpPr>
          <a:xfrm>
            <a:off x="107950" y="1011238"/>
            <a:ext cx="8915400" cy="4938712"/>
            <a:chOff x="96" y="336"/>
            <a:chExt cx="5616" cy="3111"/>
          </a:xfrm>
        </p:grpSpPr>
        <p:sp>
          <p:nvSpPr>
            <p:cNvPr id="89091" name="Text Box 4"/>
            <p:cNvSpPr txBox="1"/>
            <p:nvPr/>
          </p:nvSpPr>
          <p:spPr>
            <a:xfrm>
              <a:off x="1080" y="936"/>
              <a:ext cx="861" cy="45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位移存器</a:t>
              </a:r>
              <a:endParaRPr lang="zh-CN" altLang="en-US" sz="20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      </a:t>
              </a:r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(1)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092" name="Text Box 5"/>
            <p:cNvSpPr txBox="1"/>
            <p:nvPr/>
          </p:nvSpPr>
          <p:spPr>
            <a:xfrm>
              <a:off x="1104" y="2186"/>
              <a:ext cx="861" cy="45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位移存器</a:t>
              </a:r>
              <a:endParaRPr lang="zh-CN" altLang="en-US" sz="20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      </a:t>
              </a:r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(2)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093" name="Text Box 6"/>
            <p:cNvSpPr txBox="1"/>
            <p:nvPr/>
          </p:nvSpPr>
          <p:spPr>
            <a:xfrm>
              <a:off x="4032" y="2234"/>
              <a:ext cx="1032" cy="45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n+1</a:t>
              </a: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位移存器</a:t>
              </a:r>
              <a:endParaRPr lang="zh-CN" altLang="en-US" sz="20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         </a:t>
              </a:r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(3)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094" name="Rectangle 7"/>
            <p:cNvSpPr/>
            <p:nvPr/>
          </p:nvSpPr>
          <p:spPr>
            <a:xfrm>
              <a:off x="2736" y="1920"/>
              <a:ext cx="624" cy="76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095" name="Text Box 8"/>
            <p:cNvSpPr txBox="1"/>
            <p:nvPr/>
          </p:nvSpPr>
          <p:spPr>
            <a:xfrm>
              <a:off x="2898" y="2172"/>
              <a:ext cx="330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FA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096" name="Rectangle 9"/>
            <p:cNvSpPr/>
            <p:nvPr/>
          </p:nvSpPr>
          <p:spPr>
            <a:xfrm>
              <a:off x="2736" y="576"/>
              <a:ext cx="576" cy="96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097" name="Text Box 10"/>
            <p:cNvSpPr txBox="1"/>
            <p:nvPr/>
          </p:nvSpPr>
          <p:spPr>
            <a:xfrm>
              <a:off x="2736" y="681"/>
              <a:ext cx="22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098" name="Text Box 11"/>
            <p:cNvSpPr txBox="1"/>
            <p:nvPr/>
          </p:nvSpPr>
          <p:spPr>
            <a:xfrm>
              <a:off x="3072" y="672"/>
              <a:ext cx="292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1D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099" name="Text Box 12"/>
            <p:cNvSpPr txBox="1"/>
            <p:nvPr/>
          </p:nvSpPr>
          <p:spPr>
            <a:xfrm>
              <a:off x="3024" y="978"/>
              <a:ext cx="292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C1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00" name="Text Box 13"/>
            <p:cNvSpPr txBox="1"/>
            <p:nvPr/>
          </p:nvSpPr>
          <p:spPr>
            <a:xfrm>
              <a:off x="3120" y="1305"/>
              <a:ext cx="220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01" name="Line 14"/>
            <p:cNvSpPr/>
            <p:nvPr/>
          </p:nvSpPr>
          <p:spPr>
            <a:xfrm flipH="1">
              <a:off x="3264" y="1008"/>
              <a:ext cx="48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02" name="Line 15"/>
            <p:cNvSpPr/>
            <p:nvPr/>
          </p:nvSpPr>
          <p:spPr>
            <a:xfrm>
              <a:off x="3264" y="1104"/>
              <a:ext cx="48" cy="4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03" name="Line 16"/>
            <p:cNvSpPr/>
            <p:nvPr/>
          </p:nvSpPr>
          <p:spPr>
            <a:xfrm>
              <a:off x="480" y="2832"/>
              <a:ext cx="7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04" name="Line 17"/>
            <p:cNvSpPr/>
            <p:nvPr/>
          </p:nvSpPr>
          <p:spPr>
            <a:xfrm flipV="1">
              <a:off x="1200" y="2640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05" name="Line 18"/>
            <p:cNvSpPr/>
            <p:nvPr/>
          </p:nvSpPr>
          <p:spPr>
            <a:xfrm flipV="1">
              <a:off x="624" y="1632"/>
              <a:ext cx="0" cy="12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89106" name="Line 19"/>
            <p:cNvSpPr/>
            <p:nvPr/>
          </p:nvSpPr>
          <p:spPr>
            <a:xfrm>
              <a:off x="624" y="1632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07" name="Line 20"/>
            <p:cNvSpPr/>
            <p:nvPr/>
          </p:nvSpPr>
          <p:spPr>
            <a:xfrm flipV="1">
              <a:off x="1248" y="1392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08" name="Line 21"/>
            <p:cNvSpPr/>
            <p:nvPr/>
          </p:nvSpPr>
          <p:spPr>
            <a:xfrm>
              <a:off x="480" y="3072"/>
              <a:ext cx="37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09" name="Line 22"/>
            <p:cNvSpPr/>
            <p:nvPr/>
          </p:nvSpPr>
          <p:spPr>
            <a:xfrm flipV="1">
              <a:off x="4224" y="2688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10" name="Line 23"/>
            <p:cNvSpPr/>
            <p:nvPr/>
          </p:nvSpPr>
          <p:spPr>
            <a:xfrm flipV="1">
              <a:off x="768" y="1776"/>
              <a:ext cx="0" cy="12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89111" name="Line 24"/>
            <p:cNvSpPr/>
            <p:nvPr/>
          </p:nvSpPr>
          <p:spPr>
            <a:xfrm>
              <a:off x="768" y="1776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12" name="Line 25"/>
            <p:cNvSpPr/>
            <p:nvPr/>
          </p:nvSpPr>
          <p:spPr>
            <a:xfrm flipV="1">
              <a:off x="1392" y="1392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13" name="Line 26"/>
            <p:cNvSpPr/>
            <p:nvPr/>
          </p:nvSpPr>
          <p:spPr>
            <a:xfrm>
              <a:off x="480" y="3312"/>
              <a:ext cx="40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14" name="Line 27"/>
            <p:cNvSpPr/>
            <p:nvPr/>
          </p:nvSpPr>
          <p:spPr>
            <a:xfrm flipV="1">
              <a:off x="4560" y="2688"/>
              <a:ext cx="0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15" name="Line 28"/>
            <p:cNvSpPr/>
            <p:nvPr/>
          </p:nvSpPr>
          <p:spPr>
            <a:xfrm>
              <a:off x="1968" y="2448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16" name="Line 29"/>
            <p:cNvSpPr/>
            <p:nvPr/>
          </p:nvSpPr>
          <p:spPr>
            <a:xfrm>
              <a:off x="2208" y="2448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17" name="Line 30"/>
            <p:cNvSpPr/>
            <p:nvPr/>
          </p:nvSpPr>
          <p:spPr>
            <a:xfrm>
              <a:off x="1968" y="115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18" name="Line 31"/>
            <p:cNvSpPr/>
            <p:nvPr/>
          </p:nvSpPr>
          <p:spPr>
            <a:xfrm>
              <a:off x="2160" y="1152"/>
              <a:ext cx="0" cy="110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19" name="Line 32"/>
            <p:cNvSpPr/>
            <p:nvPr/>
          </p:nvSpPr>
          <p:spPr>
            <a:xfrm>
              <a:off x="2160" y="2256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20" name="Line 33"/>
            <p:cNvSpPr/>
            <p:nvPr/>
          </p:nvSpPr>
          <p:spPr>
            <a:xfrm flipH="1">
              <a:off x="2448" y="816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21" name="Line 34"/>
            <p:cNvSpPr/>
            <p:nvPr/>
          </p:nvSpPr>
          <p:spPr>
            <a:xfrm>
              <a:off x="2448" y="816"/>
              <a:ext cx="0" cy="124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22" name="Line 35"/>
            <p:cNvSpPr/>
            <p:nvPr/>
          </p:nvSpPr>
          <p:spPr>
            <a:xfrm>
              <a:off x="2448" y="2064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23" name="Line 36"/>
            <p:cNvSpPr/>
            <p:nvPr/>
          </p:nvSpPr>
          <p:spPr>
            <a:xfrm flipV="1">
              <a:off x="3648" y="1440"/>
              <a:ext cx="0" cy="18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89124" name="Line 37"/>
            <p:cNvSpPr/>
            <p:nvPr/>
          </p:nvSpPr>
          <p:spPr>
            <a:xfrm flipH="1">
              <a:off x="3312" y="1440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25" name="Line 38"/>
            <p:cNvSpPr/>
            <p:nvPr/>
          </p:nvSpPr>
          <p:spPr>
            <a:xfrm flipV="1">
              <a:off x="3840" y="1104"/>
              <a:ext cx="0" cy="19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89126" name="Line 39"/>
            <p:cNvSpPr/>
            <p:nvPr/>
          </p:nvSpPr>
          <p:spPr>
            <a:xfrm flipH="1">
              <a:off x="3312" y="1104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27" name="Line 40"/>
            <p:cNvSpPr/>
            <p:nvPr/>
          </p:nvSpPr>
          <p:spPr>
            <a:xfrm>
              <a:off x="3360" y="211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28" name="Line 42"/>
            <p:cNvSpPr/>
            <p:nvPr/>
          </p:nvSpPr>
          <p:spPr>
            <a:xfrm flipV="1">
              <a:off x="3552" y="768"/>
              <a:ext cx="0" cy="13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29" name="Line 43"/>
            <p:cNvSpPr/>
            <p:nvPr/>
          </p:nvSpPr>
          <p:spPr>
            <a:xfrm flipH="1">
              <a:off x="3312" y="768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30" name="Line 44"/>
            <p:cNvSpPr/>
            <p:nvPr/>
          </p:nvSpPr>
          <p:spPr>
            <a:xfrm>
              <a:off x="3360" y="2448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31" name="Line 46"/>
            <p:cNvSpPr/>
            <p:nvPr/>
          </p:nvSpPr>
          <p:spPr>
            <a:xfrm>
              <a:off x="5088" y="244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32" name="Line 47"/>
            <p:cNvSpPr/>
            <p:nvPr/>
          </p:nvSpPr>
          <p:spPr>
            <a:xfrm flipV="1">
              <a:off x="1344" y="2640"/>
              <a:ext cx="0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89133" name="Line 48"/>
            <p:cNvSpPr/>
            <p:nvPr/>
          </p:nvSpPr>
          <p:spPr>
            <a:xfrm flipV="1">
              <a:off x="1536" y="2640"/>
              <a:ext cx="0" cy="6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89134" name="Line 49"/>
            <p:cNvSpPr/>
            <p:nvPr/>
          </p:nvSpPr>
          <p:spPr>
            <a:xfrm flipV="1">
              <a:off x="1824" y="2640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35" name="Line 50"/>
            <p:cNvSpPr/>
            <p:nvPr/>
          </p:nvSpPr>
          <p:spPr>
            <a:xfrm>
              <a:off x="1728" y="288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36" name="Line 51"/>
            <p:cNvSpPr/>
            <p:nvPr/>
          </p:nvSpPr>
          <p:spPr>
            <a:xfrm flipV="1">
              <a:off x="960" y="1920"/>
              <a:ext cx="0" cy="13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89137" name="Line 52"/>
            <p:cNvSpPr/>
            <p:nvPr/>
          </p:nvSpPr>
          <p:spPr>
            <a:xfrm>
              <a:off x="960" y="1920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38" name="Line 53"/>
            <p:cNvSpPr/>
            <p:nvPr/>
          </p:nvSpPr>
          <p:spPr>
            <a:xfrm flipV="1">
              <a:off x="1584" y="1392"/>
              <a:ext cx="0" cy="5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39" name="Line 54"/>
            <p:cNvSpPr/>
            <p:nvPr/>
          </p:nvSpPr>
          <p:spPr>
            <a:xfrm flipV="1">
              <a:off x="1824" y="1392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40" name="Line 55"/>
            <p:cNvSpPr/>
            <p:nvPr/>
          </p:nvSpPr>
          <p:spPr>
            <a:xfrm>
              <a:off x="1752" y="168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41" name="Line 57"/>
            <p:cNvSpPr/>
            <p:nvPr/>
          </p:nvSpPr>
          <p:spPr>
            <a:xfrm>
              <a:off x="4896" y="2688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42" name="Line 59"/>
            <p:cNvSpPr/>
            <p:nvPr/>
          </p:nvSpPr>
          <p:spPr>
            <a:xfrm>
              <a:off x="1824" y="1824"/>
              <a:ext cx="0" cy="38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43" name="Line 60"/>
            <p:cNvSpPr/>
            <p:nvPr/>
          </p:nvSpPr>
          <p:spPr>
            <a:xfrm>
              <a:off x="1536" y="624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44" name="Text Box 61"/>
            <p:cNvSpPr txBox="1"/>
            <p:nvPr/>
          </p:nvSpPr>
          <p:spPr>
            <a:xfrm>
              <a:off x="1392" y="336"/>
              <a:ext cx="326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err="1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400" baseline="-25000" err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endParaRPr lang="en-US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45" name="Text Box 62"/>
            <p:cNvSpPr txBox="1"/>
            <p:nvPr/>
          </p:nvSpPr>
          <p:spPr>
            <a:xfrm>
              <a:off x="1834" y="1680"/>
              <a:ext cx="326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err="1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en-US" altLang="zh-CN" sz="2400" baseline="-25000" err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endParaRPr lang="en-US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46" name="Text Box 63"/>
            <p:cNvSpPr txBox="1"/>
            <p:nvPr/>
          </p:nvSpPr>
          <p:spPr>
            <a:xfrm>
              <a:off x="1872" y="2592"/>
              <a:ext cx="342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lang="en-US" altLang="zh-CN" sz="1800" baseline="-25000">
                  <a:latin typeface="Times New Roman" panose="02020603050405020304" pitchFamily="18" charset="0"/>
                  <a:ea typeface="楷体_GB2312" pitchFamily="49" charset="-122"/>
                </a:rPr>
                <a:t>SR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47" name="Text Box 64"/>
            <p:cNvSpPr txBox="1"/>
            <p:nvPr/>
          </p:nvSpPr>
          <p:spPr>
            <a:xfrm>
              <a:off x="1872" y="1392"/>
              <a:ext cx="342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lang="en-US" altLang="zh-CN" sz="1800" baseline="-25000">
                  <a:latin typeface="Times New Roman" panose="02020603050405020304" pitchFamily="18" charset="0"/>
                  <a:ea typeface="楷体_GB2312" pitchFamily="49" charset="-122"/>
                </a:rPr>
                <a:t>SR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48" name="Text Box 65"/>
            <p:cNvSpPr txBox="1"/>
            <p:nvPr/>
          </p:nvSpPr>
          <p:spPr>
            <a:xfrm>
              <a:off x="2424" y="1776"/>
              <a:ext cx="34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aseline="-25000">
                  <a:latin typeface="Times New Roman" panose="02020603050405020304" pitchFamily="18" charset="0"/>
                  <a:ea typeface="楷体_GB2312" pitchFamily="49" charset="-122"/>
                </a:rPr>
                <a:t>i-1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49" name="Text Box 66"/>
            <p:cNvSpPr txBox="1"/>
            <p:nvPr/>
          </p:nvSpPr>
          <p:spPr>
            <a:xfrm>
              <a:off x="3327" y="1872"/>
              <a:ext cx="261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 err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aseline="-25000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50" name="Text Box 67"/>
            <p:cNvSpPr txBox="1"/>
            <p:nvPr/>
          </p:nvSpPr>
          <p:spPr>
            <a:xfrm>
              <a:off x="3339" y="2198"/>
              <a:ext cx="23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2000" baseline="-25000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51" name="Text Box 68"/>
            <p:cNvSpPr txBox="1"/>
            <p:nvPr/>
          </p:nvSpPr>
          <p:spPr>
            <a:xfrm>
              <a:off x="2436" y="2028"/>
              <a:ext cx="225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aseline="-25000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52" name="Text Box 69"/>
            <p:cNvSpPr txBox="1"/>
            <p:nvPr/>
          </p:nvSpPr>
          <p:spPr>
            <a:xfrm>
              <a:off x="2436" y="2220"/>
              <a:ext cx="225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 err="1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en-US" altLang="zh-CN" sz="2000" baseline="-25000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53" name="Text Box 70"/>
            <p:cNvSpPr txBox="1"/>
            <p:nvPr/>
          </p:nvSpPr>
          <p:spPr>
            <a:xfrm>
              <a:off x="4817" y="3062"/>
              <a:ext cx="223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54" name="Line 71"/>
            <p:cNvSpPr/>
            <p:nvPr/>
          </p:nvSpPr>
          <p:spPr>
            <a:xfrm>
              <a:off x="1488" y="67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55" name="Line 72"/>
            <p:cNvSpPr/>
            <p:nvPr/>
          </p:nvSpPr>
          <p:spPr>
            <a:xfrm>
              <a:off x="1776" y="196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56" name="Line 73"/>
            <p:cNvSpPr/>
            <p:nvPr/>
          </p:nvSpPr>
          <p:spPr>
            <a:xfrm>
              <a:off x="4848" y="283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57" name="Text Box 74"/>
            <p:cNvSpPr txBox="1"/>
            <p:nvPr/>
          </p:nvSpPr>
          <p:spPr>
            <a:xfrm>
              <a:off x="4910" y="2736"/>
              <a:ext cx="29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400">
                  <a:latin typeface="Times New Roman" panose="02020603050405020304" pitchFamily="18" charset="0"/>
                  <a:ea typeface="楷体_GB2312" pitchFamily="49" charset="-122"/>
                </a:rPr>
                <a:t>n+1</a:t>
              </a:r>
              <a:endParaRPr lang="en-US" altLang="zh-CN" sz="1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58" name="Text Box 75"/>
            <p:cNvSpPr txBox="1"/>
            <p:nvPr/>
          </p:nvSpPr>
          <p:spPr>
            <a:xfrm>
              <a:off x="1632" y="1872"/>
              <a:ext cx="17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4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endParaRPr lang="en-US" altLang="zh-CN" sz="1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59" name="Text Box 76"/>
            <p:cNvSpPr txBox="1"/>
            <p:nvPr/>
          </p:nvSpPr>
          <p:spPr>
            <a:xfrm>
              <a:off x="1584" y="576"/>
              <a:ext cx="17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4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endParaRPr lang="en-US" altLang="zh-CN" sz="1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60" name="Text Box 77"/>
            <p:cNvSpPr txBox="1"/>
            <p:nvPr/>
          </p:nvSpPr>
          <p:spPr>
            <a:xfrm>
              <a:off x="96" y="2688"/>
              <a:ext cx="406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置数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61" name="Text Box 78"/>
            <p:cNvSpPr txBox="1"/>
            <p:nvPr/>
          </p:nvSpPr>
          <p:spPr>
            <a:xfrm>
              <a:off x="96" y="3216"/>
              <a:ext cx="406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清零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62" name="Text Box 79"/>
            <p:cNvSpPr txBox="1"/>
            <p:nvPr/>
          </p:nvSpPr>
          <p:spPr>
            <a:xfrm>
              <a:off x="96" y="2868"/>
              <a:ext cx="406" cy="40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移位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脉冲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63" name="Text Box 80"/>
            <p:cNvSpPr txBox="1"/>
            <p:nvPr/>
          </p:nvSpPr>
          <p:spPr>
            <a:xfrm>
              <a:off x="5306" y="2256"/>
              <a:ext cx="406" cy="40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串行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输出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9164" name="Text Box 81"/>
            <p:cNvSpPr txBox="1"/>
            <p:nvPr/>
          </p:nvSpPr>
          <p:spPr>
            <a:xfrm>
              <a:off x="4944" y="2908"/>
              <a:ext cx="406" cy="40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并行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输出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82946" name="矩形 578562"/>
          <p:cNvSpPr/>
          <p:nvPr>
            <p:custDataLst>
              <p:tags r:id="rId1"/>
            </p:custDataLst>
          </p:nvPr>
        </p:nvSpPr>
        <p:spPr>
          <a:xfrm>
            <a:off x="457200" y="419100"/>
            <a:ext cx="4225925" cy="63373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串行加法器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89"/>
          <p:cNvGrpSpPr/>
          <p:nvPr/>
        </p:nvGrpSpPr>
        <p:grpSpPr>
          <a:xfrm>
            <a:off x="498475" y="1298575"/>
            <a:ext cx="8569325" cy="4938713"/>
            <a:chOff x="314" y="489"/>
            <a:chExt cx="5398" cy="3111"/>
          </a:xfrm>
        </p:grpSpPr>
        <p:sp>
          <p:nvSpPr>
            <p:cNvPr id="90115" name="Text Box 4"/>
            <p:cNvSpPr txBox="1"/>
            <p:nvPr/>
          </p:nvSpPr>
          <p:spPr>
            <a:xfrm>
              <a:off x="1080" y="1089"/>
              <a:ext cx="861" cy="45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位移存器</a:t>
              </a:r>
              <a:endParaRPr lang="zh-CN" altLang="en-US" sz="20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      </a:t>
              </a:r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(1)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16" name="Text Box 6"/>
            <p:cNvSpPr txBox="1"/>
            <p:nvPr/>
          </p:nvSpPr>
          <p:spPr>
            <a:xfrm>
              <a:off x="4032" y="2387"/>
              <a:ext cx="1061" cy="454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   n</a:t>
              </a: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位移存器  </a:t>
              </a:r>
              <a:endParaRPr lang="zh-CN" altLang="en-US" sz="20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         </a:t>
              </a:r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(2)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17" name="Rectangle 7"/>
            <p:cNvSpPr/>
            <p:nvPr/>
          </p:nvSpPr>
          <p:spPr>
            <a:xfrm>
              <a:off x="2736" y="2073"/>
              <a:ext cx="624" cy="768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18" name="Text Box 8"/>
            <p:cNvSpPr txBox="1"/>
            <p:nvPr/>
          </p:nvSpPr>
          <p:spPr>
            <a:xfrm>
              <a:off x="2898" y="2325"/>
              <a:ext cx="330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FA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19" name="Rectangle 9"/>
            <p:cNvSpPr/>
            <p:nvPr/>
          </p:nvSpPr>
          <p:spPr>
            <a:xfrm>
              <a:off x="2736" y="729"/>
              <a:ext cx="576" cy="96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20" name="Text Box 10"/>
            <p:cNvSpPr txBox="1"/>
            <p:nvPr/>
          </p:nvSpPr>
          <p:spPr>
            <a:xfrm>
              <a:off x="2736" y="834"/>
              <a:ext cx="22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21" name="Text Box 11"/>
            <p:cNvSpPr txBox="1"/>
            <p:nvPr/>
          </p:nvSpPr>
          <p:spPr>
            <a:xfrm>
              <a:off x="3072" y="825"/>
              <a:ext cx="292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1D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22" name="Text Box 12"/>
            <p:cNvSpPr txBox="1"/>
            <p:nvPr/>
          </p:nvSpPr>
          <p:spPr>
            <a:xfrm>
              <a:off x="3024" y="1131"/>
              <a:ext cx="292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C1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23" name="Text Box 13"/>
            <p:cNvSpPr txBox="1"/>
            <p:nvPr/>
          </p:nvSpPr>
          <p:spPr>
            <a:xfrm>
              <a:off x="3120" y="1458"/>
              <a:ext cx="220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80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endParaRPr lang="en-US" altLang="zh-CN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24" name="Line 14"/>
            <p:cNvSpPr/>
            <p:nvPr/>
          </p:nvSpPr>
          <p:spPr>
            <a:xfrm flipH="1">
              <a:off x="3264" y="1161"/>
              <a:ext cx="48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25" name="Line 15"/>
            <p:cNvSpPr/>
            <p:nvPr/>
          </p:nvSpPr>
          <p:spPr>
            <a:xfrm>
              <a:off x="3264" y="1257"/>
              <a:ext cx="48" cy="4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26" name="Line 21"/>
            <p:cNvSpPr/>
            <p:nvPr/>
          </p:nvSpPr>
          <p:spPr>
            <a:xfrm>
              <a:off x="768" y="3216"/>
              <a:ext cx="3456" cy="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27" name="Line 22"/>
            <p:cNvSpPr/>
            <p:nvPr/>
          </p:nvSpPr>
          <p:spPr>
            <a:xfrm flipV="1">
              <a:off x="4224" y="2841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28" name="Line 23"/>
            <p:cNvSpPr/>
            <p:nvPr/>
          </p:nvSpPr>
          <p:spPr>
            <a:xfrm flipV="1">
              <a:off x="1344" y="1929"/>
              <a:ext cx="0" cy="12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90129" name="Line 25"/>
            <p:cNvSpPr/>
            <p:nvPr/>
          </p:nvSpPr>
          <p:spPr>
            <a:xfrm flipV="1">
              <a:off x="1344" y="1545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30" name="Line 27"/>
            <p:cNvSpPr/>
            <p:nvPr/>
          </p:nvSpPr>
          <p:spPr>
            <a:xfrm flipV="1">
              <a:off x="4560" y="2841"/>
              <a:ext cx="0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31" name="Line 29"/>
            <p:cNvSpPr/>
            <p:nvPr/>
          </p:nvSpPr>
          <p:spPr>
            <a:xfrm>
              <a:off x="2208" y="2601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32" name="Line 30"/>
            <p:cNvSpPr/>
            <p:nvPr/>
          </p:nvSpPr>
          <p:spPr>
            <a:xfrm>
              <a:off x="1968" y="1305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33" name="Line 31"/>
            <p:cNvSpPr/>
            <p:nvPr/>
          </p:nvSpPr>
          <p:spPr>
            <a:xfrm>
              <a:off x="2160" y="1305"/>
              <a:ext cx="0" cy="110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34" name="Line 32"/>
            <p:cNvSpPr/>
            <p:nvPr/>
          </p:nvSpPr>
          <p:spPr>
            <a:xfrm>
              <a:off x="2160" y="2409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35" name="Line 33"/>
            <p:cNvSpPr/>
            <p:nvPr/>
          </p:nvSpPr>
          <p:spPr>
            <a:xfrm flipH="1">
              <a:off x="2448" y="969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36" name="Line 34"/>
            <p:cNvSpPr/>
            <p:nvPr/>
          </p:nvSpPr>
          <p:spPr>
            <a:xfrm>
              <a:off x="2448" y="969"/>
              <a:ext cx="0" cy="124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37" name="Line 35"/>
            <p:cNvSpPr/>
            <p:nvPr/>
          </p:nvSpPr>
          <p:spPr>
            <a:xfrm>
              <a:off x="2448" y="2217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38" name="Line 36"/>
            <p:cNvSpPr/>
            <p:nvPr/>
          </p:nvSpPr>
          <p:spPr>
            <a:xfrm flipV="1">
              <a:off x="3648" y="1593"/>
              <a:ext cx="0" cy="18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90139" name="Line 37"/>
            <p:cNvSpPr/>
            <p:nvPr/>
          </p:nvSpPr>
          <p:spPr>
            <a:xfrm flipH="1">
              <a:off x="3312" y="1593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40" name="Line 38"/>
            <p:cNvSpPr/>
            <p:nvPr/>
          </p:nvSpPr>
          <p:spPr>
            <a:xfrm flipV="1">
              <a:off x="3840" y="1257"/>
              <a:ext cx="0" cy="19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90141" name="Line 39"/>
            <p:cNvSpPr/>
            <p:nvPr/>
          </p:nvSpPr>
          <p:spPr>
            <a:xfrm flipH="1">
              <a:off x="3312" y="1257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42" name="Line 40"/>
            <p:cNvSpPr/>
            <p:nvPr/>
          </p:nvSpPr>
          <p:spPr>
            <a:xfrm>
              <a:off x="3360" y="2265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43" name="Line 41"/>
            <p:cNvSpPr/>
            <p:nvPr/>
          </p:nvSpPr>
          <p:spPr>
            <a:xfrm flipV="1">
              <a:off x="3552" y="921"/>
              <a:ext cx="0" cy="13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44" name="Line 42"/>
            <p:cNvSpPr/>
            <p:nvPr/>
          </p:nvSpPr>
          <p:spPr>
            <a:xfrm flipH="1">
              <a:off x="3312" y="921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45" name="Line 43"/>
            <p:cNvSpPr/>
            <p:nvPr/>
          </p:nvSpPr>
          <p:spPr>
            <a:xfrm>
              <a:off x="3360" y="2601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46" name="Line 44"/>
            <p:cNvSpPr/>
            <p:nvPr/>
          </p:nvSpPr>
          <p:spPr>
            <a:xfrm>
              <a:off x="5088" y="2601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47" name="Line 49"/>
            <p:cNvSpPr/>
            <p:nvPr/>
          </p:nvSpPr>
          <p:spPr>
            <a:xfrm flipV="1">
              <a:off x="1680" y="2073"/>
              <a:ext cx="0" cy="13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90148" name="Line 51"/>
            <p:cNvSpPr/>
            <p:nvPr/>
          </p:nvSpPr>
          <p:spPr>
            <a:xfrm flipV="1">
              <a:off x="1680" y="1545"/>
              <a:ext cx="0" cy="5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49" name="Line 56"/>
            <p:cNvSpPr/>
            <p:nvPr/>
          </p:nvSpPr>
          <p:spPr>
            <a:xfrm>
              <a:off x="1536" y="777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50" name="Text Box 57"/>
            <p:cNvSpPr txBox="1"/>
            <p:nvPr/>
          </p:nvSpPr>
          <p:spPr>
            <a:xfrm>
              <a:off x="1392" y="489"/>
              <a:ext cx="326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err="1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400" baseline="-25000" err="1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endParaRPr lang="en-US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51" name="Text Box 61"/>
            <p:cNvSpPr txBox="1"/>
            <p:nvPr/>
          </p:nvSpPr>
          <p:spPr>
            <a:xfrm>
              <a:off x="2424" y="1929"/>
              <a:ext cx="34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aseline="-25000">
                  <a:latin typeface="Times New Roman" panose="02020603050405020304" pitchFamily="18" charset="0"/>
                  <a:ea typeface="楷体_GB2312" pitchFamily="49" charset="-122"/>
                </a:rPr>
                <a:t>i-1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52" name="Text Box 62"/>
            <p:cNvSpPr txBox="1"/>
            <p:nvPr/>
          </p:nvSpPr>
          <p:spPr>
            <a:xfrm>
              <a:off x="3327" y="2025"/>
              <a:ext cx="261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 err="1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000" baseline="-25000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53" name="Text Box 63"/>
            <p:cNvSpPr txBox="1"/>
            <p:nvPr/>
          </p:nvSpPr>
          <p:spPr>
            <a:xfrm>
              <a:off x="3339" y="2351"/>
              <a:ext cx="23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en-US" altLang="zh-CN" sz="2000" baseline="-25000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54" name="Text Box 64"/>
            <p:cNvSpPr txBox="1"/>
            <p:nvPr/>
          </p:nvSpPr>
          <p:spPr>
            <a:xfrm>
              <a:off x="2436" y="2181"/>
              <a:ext cx="225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aseline="-25000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55" name="Text Box 65"/>
            <p:cNvSpPr txBox="1"/>
            <p:nvPr/>
          </p:nvSpPr>
          <p:spPr>
            <a:xfrm>
              <a:off x="2436" y="2373"/>
              <a:ext cx="225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 err="1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en-US" altLang="zh-CN" sz="2000" baseline="-25000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56" name="Line 67"/>
            <p:cNvSpPr/>
            <p:nvPr/>
          </p:nvSpPr>
          <p:spPr>
            <a:xfrm>
              <a:off x="1488" y="825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57" name="Text Box 72"/>
            <p:cNvSpPr txBox="1"/>
            <p:nvPr/>
          </p:nvSpPr>
          <p:spPr>
            <a:xfrm>
              <a:off x="1584" y="729"/>
              <a:ext cx="17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4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endParaRPr lang="en-US" altLang="zh-CN" sz="1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58" name="Text Box 74"/>
            <p:cNvSpPr txBox="1"/>
            <p:nvPr/>
          </p:nvSpPr>
          <p:spPr>
            <a:xfrm>
              <a:off x="314" y="3369"/>
              <a:ext cx="406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清零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59" name="Text Box 75"/>
            <p:cNvSpPr txBox="1"/>
            <p:nvPr/>
          </p:nvSpPr>
          <p:spPr>
            <a:xfrm>
              <a:off x="314" y="2928"/>
              <a:ext cx="406" cy="40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移位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脉冲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60" name="Text Box 76"/>
            <p:cNvSpPr txBox="1"/>
            <p:nvPr/>
          </p:nvSpPr>
          <p:spPr>
            <a:xfrm>
              <a:off x="5306" y="2409"/>
              <a:ext cx="406" cy="40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串行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输出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61" name="Line 78"/>
            <p:cNvSpPr/>
            <p:nvPr/>
          </p:nvSpPr>
          <p:spPr>
            <a:xfrm>
              <a:off x="5184" y="2592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90162" name="Line 79"/>
            <p:cNvSpPr/>
            <p:nvPr/>
          </p:nvSpPr>
          <p:spPr>
            <a:xfrm flipH="1">
              <a:off x="2208" y="3072"/>
              <a:ext cx="29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63" name="Line 80"/>
            <p:cNvSpPr/>
            <p:nvPr/>
          </p:nvSpPr>
          <p:spPr>
            <a:xfrm flipV="1">
              <a:off x="2208" y="2592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64" name="Line 81"/>
            <p:cNvSpPr/>
            <p:nvPr/>
          </p:nvSpPr>
          <p:spPr>
            <a:xfrm flipH="1">
              <a:off x="768" y="3468"/>
              <a:ext cx="37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65" name="Line 82"/>
            <p:cNvSpPr/>
            <p:nvPr/>
          </p:nvSpPr>
          <p:spPr>
            <a:xfrm flipV="1">
              <a:off x="4560" y="1872"/>
              <a:ext cx="0" cy="5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66" name="Line 84"/>
            <p:cNvSpPr/>
            <p:nvPr/>
          </p:nvSpPr>
          <p:spPr>
            <a:xfrm>
              <a:off x="4512" y="211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67" name="Text Box 85"/>
            <p:cNvSpPr txBox="1"/>
            <p:nvPr/>
          </p:nvSpPr>
          <p:spPr>
            <a:xfrm>
              <a:off x="4656" y="1536"/>
              <a:ext cx="406" cy="40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并行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输出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68" name="Text Box 86"/>
            <p:cNvSpPr txBox="1"/>
            <p:nvPr/>
          </p:nvSpPr>
          <p:spPr>
            <a:xfrm>
              <a:off x="4460" y="1632"/>
              <a:ext cx="244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endParaRPr lang="en-US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69" name="Text Box 87"/>
            <p:cNvSpPr txBox="1"/>
            <p:nvPr/>
          </p:nvSpPr>
          <p:spPr>
            <a:xfrm>
              <a:off x="1622" y="604"/>
              <a:ext cx="11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endParaRPr lang="zh-CN" altLang="zh-CN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170" name="Text Box 88"/>
            <p:cNvSpPr txBox="1"/>
            <p:nvPr/>
          </p:nvSpPr>
          <p:spPr>
            <a:xfrm>
              <a:off x="4574" y="2016"/>
              <a:ext cx="17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14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endParaRPr lang="en-US" altLang="zh-CN" sz="1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82946" name="矩形 578562"/>
          <p:cNvSpPr/>
          <p:nvPr>
            <p:custDataLst>
              <p:tags r:id="rId1"/>
            </p:custDataLst>
          </p:nvPr>
        </p:nvSpPr>
        <p:spPr>
          <a:xfrm>
            <a:off x="457200" y="419100"/>
            <a:ext cx="4225925" cy="63373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串行累加器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44135" y="1530180"/>
            <a:ext cx="8856615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移位相加硬件乘法器是以时序方式构成的乘法器。</a:t>
            </a:r>
            <a:endParaRPr lang="zh-CN" sz="24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原理是采用加法器和移位寄存器，通过逐项移位相加来实现乘法器功能。</a:t>
            </a:r>
            <a:endParaRPr lang="zh-CN" sz="24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从被乘数的最低位开始，若为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，则乘数左移后与上一次的和相加；若为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，左移后以全零相加，直至被乘数的最高位。</a:t>
            </a:r>
            <a:endParaRPr lang="zh-CN" sz="24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zh-CN" sz="24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946" name="矩形 578562"/>
          <p:cNvSpPr/>
          <p:nvPr>
            <p:custDataLst>
              <p:tags r:id="rId2"/>
            </p:custDataLst>
          </p:nvPr>
        </p:nvSpPr>
        <p:spPr>
          <a:xfrm>
            <a:off x="457200" y="620395"/>
            <a:ext cx="4225925" cy="63373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乘法器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1331595" y="1484630"/>
            <a:ext cx="5976620" cy="3854450"/>
            <a:chOff x="2097" y="2338"/>
            <a:chExt cx="8558" cy="5188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2097" y="2338"/>
              <a:ext cx="8558" cy="5189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6066" y="6874"/>
              <a:ext cx="2881" cy="4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01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975" y="-935355"/>
            <a:ext cx="1476375" cy="371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02" name="标题 66561"/>
          <p:cNvSpPr>
            <a:spLocks noGrp="1"/>
          </p:cNvSpPr>
          <p:nvPr>
            <p:ph type="title"/>
          </p:nvPr>
        </p:nvSpPr>
        <p:spPr>
          <a:xfrm>
            <a:off x="514350" y="63183"/>
            <a:ext cx="8115300" cy="744537"/>
          </a:xfrm>
        </p:spPr>
        <p:txBody>
          <a:bodyPr vert="horz" wrap="square" lIns="91440" tIns="45720" rIns="91440" bIns="45720" anchor="b" anchorCtr="0"/>
          <a:p>
            <a:pPr eaLnBrk="1" hangingPunct="1"/>
            <a:br>
              <a:rPr lang="zh-CN" altLang="en-US" sz="4000" dirty="0"/>
            </a:br>
            <a:r>
              <a:rPr lang="zh-CN" altLang="en-US" sz="4000" dirty="0"/>
              <a:t>  </a:t>
            </a:r>
            <a:r>
              <a:rPr lang="en-US" altLang="zh-CN" sz="2800" dirty="0"/>
              <a:t>1</a:t>
            </a:r>
            <a:r>
              <a:rPr lang="zh-CN" altLang="en-US" sz="2800" dirty="0"/>
              <a:t>位乘法器</a:t>
            </a:r>
            <a:endParaRPr lang="zh-CN" altLang="en-US" sz="2800" dirty="0"/>
          </a:p>
        </p:txBody>
      </p:sp>
      <p:pic>
        <p:nvPicPr>
          <p:cNvPr id="102403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807720"/>
            <a:ext cx="7842250" cy="53895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PP_MARK_KEY" val="61a68ca4-7e39-4d64-a80f-fbd1f13f5023"/>
  <p:tag name="COMMONDATA" val="eyJoZGlkIjoiMDRiNWM4ZTRkMzMxZWMzM2IxMDc5NzU0Njk3ODNlNzAifQ=="/>
</p:tagLst>
</file>

<file path=ppt/theme/theme1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9295</Words>
  <Application>WPS 演示</Application>
  <PresentationFormat>全屏显示(4:3)</PresentationFormat>
  <Paragraphs>610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62" baseType="lpstr">
      <vt:lpstr>Arial</vt:lpstr>
      <vt:lpstr>宋体</vt:lpstr>
      <vt:lpstr>Wingdings</vt:lpstr>
      <vt:lpstr>Times New Roman</vt:lpstr>
      <vt:lpstr>Verdana</vt:lpstr>
      <vt:lpstr>隶书</vt:lpstr>
      <vt:lpstr>华文行楷</vt:lpstr>
      <vt:lpstr>楷体_GB2312</vt:lpstr>
      <vt:lpstr>新宋体</vt:lpstr>
      <vt:lpstr>微软雅黑</vt:lpstr>
      <vt:lpstr>Calibri</vt:lpstr>
      <vt:lpstr>Arial Narrow</vt:lpstr>
      <vt:lpstr>Arial Unicode MS</vt:lpstr>
      <vt:lpstr>KSOF3FA5480E</vt:lpstr>
      <vt:lpstr>Segoe Print</vt:lpstr>
      <vt:lpstr>Wingdings</vt:lpstr>
      <vt:lpstr>楷体_GB2312</vt:lpstr>
      <vt:lpstr>方正楷体_GB2312</vt:lpstr>
      <vt:lpstr>KSOFE34F9A0C</vt:lpstr>
      <vt:lpstr>1_默认设计模板</vt:lpstr>
      <vt:lpstr>PowerPoint 演示文稿</vt:lpstr>
      <vt:lpstr> 第6章 常用电路的VHDL描述 </vt:lpstr>
      <vt:lpstr>PowerPoint 演示文稿</vt:lpstr>
      <vt:lpstr>（1）PROCESS+IF：    1、PROCESS          敏感表中放异步控制信号、时钟信号；         多进程对应异步结构。    2、IF：          不完整if形成触发器结构；          条件判断顺序对应控制信号的优先级。 （2）有限状态机描述控制部件 （3）元件例化语句描述 </vt:lpstr>
      <vt:lpstr>常用时序部件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1位乘法器</vt:lpstr>
    </vt:vector>
  </TitlesOfParts>
  <Company>njust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wjx</dc:creator>
  <cp:lastModifiedBy>林惜汐</cp:lastModifiedBy>
  <cp:revision>545</cp:revision>
  <dcterms:created xsi:type="dcterms:W3CDTF">2006-04-19T05:22:00Z</dcterms:created>
  <dcterms:modified xsi:type="dcterms:W3CDTF">2026-05-19T01:16:58Z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5697599ECCA24FEF9DCF7629C7543150</vt:lpwstr>
  </property>
</Properties>
</file>