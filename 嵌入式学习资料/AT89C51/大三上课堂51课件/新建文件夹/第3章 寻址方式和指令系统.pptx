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129.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tags/tag1.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44.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Layouts/slideLayout12.xml" ContentType="application/vnd.openxmlformats-officedocument.presentationml.slideLayout+xml"/>
  <Override PartName="/ppt/slides/slide139.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5" r:id="rId1"/>
  </p:sldMasterIdLst>
  <p:notesMasterIdLst>
    <p:notesMasterId r:id="rId148"/>
  </p:notesMasterIdLst>
  <p:handoutMasterIdLst>
    <p:handoutMasterId r:id="rId149"/>
  </p:handoutMasterIdLst>
  <p:sldIdLst>
    <p:sldId id="294" r:id="rId2"/>
    <p:sldId id="377" r:id="rId3"/>
    <p:sldId id="396" r:id="rId4"/>
    <p:sldId id="404" r:id="rId5"/>
    <p:sldId id="405" r:id="rId6"/>
    <p:sldId id="406" r:id="rId7"/>
    <p:sldId id="407" r:id="rId8"/>
    <p:sldId id="388" r:id="rId9"/>
    <p:sldId id="389" r:id="rId10"/>
    <p:sldId id="390" r:id="rId11"/>
    <p:sldId id="393" r:id="rId12"/>
    <p:sldId id="378" r:id="rId13"/>
    <p:sldId id="391" r:id="rId14"/>
    <p:sldId id="379" r:id="rId15"/>
    <p:sldId id="380" r:id="rId16"/>
    <p:sldId id="609" r:id="rId17"/>
    <p:sldId id="382" r:id="rId18"/>
    <p:sldId id="408" r:id="rId19"/>
    <p:sldId id="409" r:id="rId20"/>
    <p:sldId id="610" r:id="rId21"/>
    <p:sldId id="383" r:id="rId22"/>
    <p:sldId id="384" r:id="rId23"/>
    <p:sldId id="385" r:id="rId24"/>
    <p:sldId id="386" r:id="rId25"/>
    <p:sldId id="410" r:id="rId26"/>
    <p:sldId id="411" r:id="rId27"/>
    <p:sldId id="387" r:id="rId28"/>
    <p:sldId id="611" r:id="rId29"/>
    <p:sldId id="612" r:id="rId30"/>
    <p:sldId id="412" r:id="rId31"/>
    <p:sldId id="413" r:id="rId32"/>
    <p:sldId id="414" r:id="rId33"/>
    <p:sldId id="362" r:id="rId34"/>
    <p:sldId id="415" r:id="rId35"/>
    <p:sldId id="363" r:id="rId36"/>
    <p:sldId id="613" r:id="rId37"/>
    <p:sldId id="364" r:id="rId38"/>
    <p:sldId id="460" r:id="rId39"/>
    <p:sldId id="365" r:id="rId40"/>
    <p:sldId id="366" r:id="rId41"/>
    <p:sldId id="417" r:id="rId42"/>
    <p:sldId id="368" r:id="rId43"/>
    <p:sldId id="369" r:id="rId44"/>
    <p:sldId id="370" r:id="rId45"/>
    <p:sldId id="372" r:id="rId46"/>
    <p:sldId id="418" r:id="rId47"/>
    <p:sldId id="419" r:id="rId48"/>
    <p:sldId id="373" r:id="rId49"/>
    <p:sldId id="420" r:id="rId50"/>
    <p:sldId id="296" r:id="rId51"/>
    <p:sldId id="1146" r:id="rId52"/>
    <p:sldId id="258" r:id="rId53"/>
    <p:sldId id="259" r:id="rId54"/>
    <p:sldId id="261" r:id="rId55"/>
    <p:sldId id="423" r:id="rId56"/>
    <p:sldId id="262" r:id="rId57"/>
    <p:sldId id="263" r:id="rId58"/>
    <p:sldId id="264" r:id="rId59"/>
    <p:sldId id="265" r:id="rId60"/>
    <p:sldId id="424" r:id="rId61"/>
    <p:sldId id="266" r:id="rId62"/>
    <p:sldId id="269" r:id="rId63"/>
    <p:sldId id="426" r:id="rId64"/>
    <p:sldId id="425" r:id="rId65"/>
    <p:sldId id="464" r:id="rId66"/>
    <p:sldId id="271" r:id="rId67"/>
    <p:sldId id="272" r:id="rId68"/>
    <p:sldId id="273" r:id="rId69"/>
    <p:sldId id="274" r:id="rId70"/>
    <p:sldId id="260" r:id="rId71"/>
    <p:sldId id="277" r:id="rId72"/>
    <p:sldId id="427" r:id="rId73"/>
    <p:sldId id="280" r:id="rId74"/>
    <p:sldId id="428" r:id="rId75"/>
    <p:sldId id="283" r:id="rId76"/>
    <p:sldId id="284" r:id="rId77"/>
    <p:sldId id="285" r:id="rId78"/>
    <p:sldId id="286" r:id="rId79"/>
    <p:sldId id="289" r:id="rId80"/>
    <p:sldId id="290" r:id="rId81"/>
    <p:sldId id="291" r:id="rId82"/>
    <p:sldId id="292" r:id="rId83"/>
    <p:sldId id="293" r:id="rId84"/>
    <p:sldId id="767" r:id="rId85"/>
    <p:sldId id="288" r:id="rId86"/>
    <p:sldId id="768" r:id="rId87"/>
    <p:sldId id="297" r:id="rId88"/>
    <p:sldId id="299" r:id="rId89"/>
    <p:sldId id="429" r:id="rId90"/>
    <p:sldId id="301" r:id="rId91"/>
    <p:sldId id="302" r:id="rId92"/>
    <p:sldId id="303" r:id="rId93"/>
    <p:sldId id="305" r:id="rId94"/>
    <p:sldId id="306" r:id="rId95"/>
    <p:sldId id="307" r:id="rId96"/>
    <p:sldId id="298" r:id="rId97"/>
    <p:sldId id="308" r:id="rId98"/>
    <p:sldId id="309" r:id="rId99"/>
    <p:sldId id="432" r:id="rId100"/>
    <p:sldId id="948" r:id="rId101"/>
    <p:sldId id="311" r:id="rId102"/>
    <p:sldId id="312" r:id="rId103"/>
    <p:sldId id="313" r:id="rId104"/>
    <p:sldId id="314" r:id="rId105"/>
    <p:sldId id="316" r:id="rId106"/>
    <p:sldId id="325" r:id="rId107"/>
    <p:sldId id="317" r:id="rId108"/>
    <p:sldId id="319" r:id="rId109"/>
    <p:sldId id="326" r:id="rId110"/>
    <p:sldId id="320" r:id="rId111"/>
    <p:sldId id="433" r:id="rId112"/>
    <p:sldId id="434" r:id="rId113"/>
    <p:sldId id="321" r:id="rId114"/>
    <p:sldId id="322" r:id="rId115"/>
    <p:sldId id="436" r:id="rId116"/>
    <p:sldId id="437" r:id="rId117"/>
    <p:sldId id="435" r:id="rId118"/>
    <p:sldId id="950" r:id="rId119"/>
    <p:sldId id="323" r:id="rId120"/>
    <p:sldId id="327" r:id="rId121"/>
    <p:sldId id="329" r:id="rId122"/>
    <p:sldId id="947" r:id="rId123"/>
    <p:sldId id="402" r:id="rId124"/>
    <p:sldId id="331" r:id="rId125"/>
    <p:sldId id="334" r:id="rId126"/>
    <p:sldId id="438" r:id="rId127"/>
    <p:sldId id="439" r:id="rId128"/>
    <p:sldId id="336" r:id="rId129"/>
    <p:sldId id="338" r:id="rId130"/>
    <p:sldId id="1128" r:id="rId131"/>
    <p:sldId id="1147" r:id="rId132"/>
    <p:sldId id="328" r:id="rId133"/>
    <p:sldId id="339" r:id="rId134"/>
    <p:sldId id="399" r:id="rId135"/>
    <p:sldId id="341" r:id="rId136"/>
    <p:sldId id="342" r:id="rId137"/>
    <p:sldId id="359" r:id="rId138"/>
    <p:sldId id="343" r:id="rId139"/>
    <p:sldId id="344" r:id="rId140"/>
    <p:sldId id="441" r:id="rId141"/>
    <p:sldId id="442" r:id="rId142"/>
    <p:sldId id="348" r:id="rId143"/>
    <p:sldId id="444" r:id="rId144"/>
    <p:sldId id="349" r:id="rId145"/>
    <p:sldId id="443" r:id="rId146"/>
    <p:sldId id="360" r:id="rId147"/>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66FF"/>
    <a:srgbClr val="000099"/>
    <a:srgbClr val="FFCCFF"/>
    <a:srgbClr val="990000"/>
    <a:srgbClr val="4646D2"/>
    <a:srgbClr val="CCECFF"/>
    <a:srgbClr val="808000"/>
    <a:srgbClr val="FFFE83"/>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27"/>
    <p:restoredTop sz="94682"/>
  </p:normalViewPr>
  <p:slideViewPr>
    <p:cSldViewPr showGuides="1">
      <p:cViewPr varScale="1">
        <p:scale>
          <a:sx n="64" d="100"/>
          <a:sy n="64" d="100"/>
        </p:scale>
        <p:origin x="-1340" y="-68"/>
      </p:cViewPr>
      <p:guideLst>
        <p:guide orient="horz" pos="4320"/>
        <p:guide pos="5602"/>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5168"/>
    </p:cViewPr>
  </p:sorterViewPr>
  <p:notesViewPr>
    <p:cSldViewPr>
      <p:cViewPr varScale="1">
        <p:scale>
          <a:sx n="51" d="100"/>
          <a:sy n="51" d="100"/>
        </p:scale>
        <p:origin x="-2744" y="-84"/>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handoutMaster" Target="handoutMasters/handout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notesMaster" Target="notesMasters/notesMaster1.xml"/><Relationship Id="rId15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 Id="rId4" Type="http://schemas.openxmlformats.org/officeDocument/2006/relationships/image" Target="../media/image3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Times New Roman" panose="02020603050405020304" pitchFamily="18" charset="0"/>
                <a:ea typeface="宋体" panose="02010600030101010101" pitchFamily="2" charset="-122"/>
                <a:cs typeface="+mn-cs"/>
              </a:rPr>
              <a:pPr fontAlgn="base"/>
              <a:t>2022/9/4</a:t>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Times New Roman" panose="02020603050405020304" pitchFamily="18" charset="0"/>
                <a:ea typeface="宋体" panose="02010600030101010101" pitchFamily="2" charset="-122"/>
                <a:cs typeface="+mn-cs"/>
              </a:rPr>
              <a:pPr fontAlgn="base"/>
              <a:t>‹#›</a:t>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kumimoji="1" sz="1200" b="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b="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0"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kumimoji="1" sz="1200" b="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hangingPunct="1">
              <a:buNone/>
            </a:pPr>
            <a:fld id="{9A0DB2DC-4C9A-4742-B13C-FB6460FD3503}" type="slidenum">
              <a:rPr lang="en-US" altLang="zh-CN" sz="1200" b="0" strike="noStrike" noProof="1" dirty="0">
                <a:latin typeface="Times New Roman" panose="02020603050405020304" pitchFamily="18" charset="0"/>
                <a:ea typeface="宋体" panose="02010600030101010101" pitchFamily="2" charset="-122"/>
                <a:cs typeface="+mn-cs"/>
              </a:rPr>
              <a:pPr lvl="0" algn="r" eaLnBrk="1" fontAlgn="base" hangingPunct="1">
                <a:buNone/>
              </a:pPr>
              <a:t>‹#›</a:t>
            </a:fld>
            <a:endParaRPr lang="en-US" altLang="zh-CN" sz="1200" b="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幻灯片图像占位符 1"/>
          <p:cNvSpPr>
            <a:spLocks noGrp="1" noRot="1" noChangeAspect="1" noTextEdit="1"/>
          </p:cNvSpPr>
          <p:nvPr>
            <p:ph type="sldImg"/>
          </p:nvPr>
        </p:nvSpPr>
        <p:spPr/>
      </p:sp>
      <p:sp>
        <p:nvSpPr>
          <p:cNvPr id="13314"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1331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en-US" altLang="zh-CN" sz="1200" b="0" dirty="0"/>
              <a:pPr lvl="0" algn="r"/>
              <a:t>8</a:t>
            </a:fld>
            <a:endParaRPr lang="en-US" altLang="zh-CN" sz="1200" b="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幻灯片图像占位符 1"/>
          <p:cNvSpPr>
            <a:spLocks noGrp="1" noRot="1" noChangeAspect="1" noTextEdit="1"/>
          </p:cNvSpPr>
          <p:nvPr>
            <p:ph type="sldImg"/>
          </p:nvPr>
        </p:nvSpPr>
        <p:spPr/>
      </p:sp>
      <p:sp>
        <p:nvSpPr>
          <p:cNvPr id="54274"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5427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en-US" altLang="zh-CN" sz="1200" b="0" dirty="0"/>
              <a:pPr lvl="0" algn="r"/>
              <a:t>44</a:t>
            </a:fld>
            <a:endParaRPr lang="en-US" altLang="zh-CN" sz="1200" b="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685800" y="3196686"/>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ctrTitle"/>
          </p:nvPr>
        </p:nvSpPr>
        <p:spPr>
          <a:xfrm>
            <a:off x="685800" y="1676401"/>
            <a:ext cx="7772400" cy="1538286"/>
          </a:xfrm>
        </p:spPr>
        <p:txBody>
          <a:bodyPr anchor="b"/>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endParaRPr kumimoji="0" lang="en-US" dirty="0"/>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a typeface="宋体" panose="02010600030101010101" pitchFamily="2" charset="-122"/>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a:xfrm>
            <a:off x="73152" y="6400800"/>
            <a:ext cx="3200400" cy="283800"/>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a:xfrm>
            <a:off x="5330952" y="6400800"/>
            <a:ext cx="3733800" cy="283800"/>
          </a:xfrm>
        </p:spPr>
        <p:txBody>
          <a:bodyPr/>
          <a:lstStyle/>
          <a:p>
            <a:endParaRPr kumimoji="0" lang="en-US"/>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a typeface="宋体" panose="02010600030101010101" pitchFamily="2" charset="-122"/>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685800" y="3143248"/>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endParaRPr kumimoji="0" lang="en-US" dirty="0"/>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endParaRPr kumimoji="0" lang="en-US"/>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endParaRPr kumimoji="0" lang="en-US"/>
          </a:p>
        </p:txBody>
      </p:sp>
      <p:sp>
        <p:nvSpPr>
          <p:cNvPr id="9" name="灯片编号占位符 8"/>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endParaRPr kumimoji="0" lang="en-US" dirty="0"/>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Ref idx="1002">
        <a:schemeClr val="bg2"/>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endParaRPr kumimoji="0" lang="en-US"/>
          </a:p>
        </p:txBody>
      </p:sp>
      <p:sp>
        <p:nvSpPr>
          <p:cNvPr id="4" name="灯片编号占位符 3"/>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2786050" y="1053546"/>
            <a:ext cx="59040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kumimoji="0" lang="zh-CN" altLang="en-US" smtClean="0"/>
              <a:t>单击此处编辑母版标题样式</a:t>
            </a:r>
            <a:endParaRPr kumimoji="0" lang="en-US"/>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endParaRPr kumimoji="0" lang="en-US"/>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endParaRPr kumimoji="0" lang="en-US"/>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endParaRPr kumimoji="0" lang="en-US"/>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a typeface="宋体" panose="02010600030101010101" pitchFamily="2" charset="-122"/>
            </a:endParaRPr>
          </a:p>
        </p:txBody>
      </p:sp>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8"/>
            <a:ext cx="6686568" cy="6011882"/>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endParaRPr kumimoji="0" lang="en-US"/>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a:xfrm>
            <a:off x="7239000" y="6400800"/>
            <a:ext cx="1905000" cy="457200"/>
          </a:xfrm>
        </p:spPr>
        <p:txBody>
          <a:bodyPr/>
          <a:lstStyle/>
          <a:p>
            <a:pPr lvl="0" eaLnBrk="1" fontAlgn="base" hangingPunct="1">
              <a:buNone/>
            </a:pPr>
            <a:endParaRPr lang="en-US" altLang="zh-CN" strike="noStrike" noProof="1">
              <a:latin typeface="Times New Roman" panose="02020603050405020304" pitchFamily="18" charset="0"/>
              <a:ea typeface="宋体" panose="02010600030101010101" pitchFamily="2" charset="-122"/>
              <a:cs typeface="+mn-cs"/>
            </a:endParaRPr>
          </a:p>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矩形 6"/>
          <p:cNvSpPr/>
          <p:nvPr/>
        </p:nvSpPr>
        <p:spPr>
          <a:xfrm>
            <a:off x="0" y="6678000"/>
            <a:ext cx="9144000" cy="180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600200"/>
            <a:ext cx="8229600" cy="4686320"/>
          </a:xfrm>
          <a:prstGeom prst="rect">
            <a:avLst/>
          </a:prstGeom>
        </p:spPr>
        <p:txBody>
          <a:bodyPr vert="horz" rtlCol="0">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76200" y="6400800"/>
            <a:ext cx="3200400" cy="283800"/>
          </a:xfrm>
          <a:prstGeom prst="rect">
            <a:avLst/>
          </a:prstGeom>
        </p:spPr>
        <p:txBody>
          <a:bodyPr vert="horz" rtlCol="0" anchor="b"/>
          <a:lstStyle>
            <a:lvl1pPr algn="l" eaLnBrk="1" latinLnBrk="0" hangingPunct="1">
              <a:defRPr kumimoji="0" sz="1100">
                <a:solidFill>
                  <a:schemeClr val="tx2">
                    <a:lumMod val="75000"/>
                    <a:lumOff val="2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3"/>
          </p:nvPr>
        </p:nvSpPr>
        <p:spPr>
          <a:xfrm>
            <a:off x="5334000" y="6400800"/>
            <a:ext cx="3733800" cy="283800"/>
          </a:xfrm>
          <a:prstGeom prst="rect">
            <a:avLst/>
          </a:prstGeom>
        </p:spPr>
        <p:txBody>
          <a:bodyPr vert="horz" rtlCol="0" anchor="ctr"/>
          <a:lstStyle>
            <a:lvl1pPr algn="r" eaLnBrk="1" latinLnBrk="0" hangingPunct="1">
              <a:defRPr kumimoji="0" sz="1100">
                <a:solidFill>
                  <a:schemeClr val="tx2">
                    <a:lumMod val="75000"/>
                    <a:lumOff val="25000"/>
                  </a:schemeClr>
                </a:solidFill>
              </a:defRPr>
            </a:lvl1pPr>
          </a:lstStyle>
          <a:p>
            <a:pPr algn="r" eaLnBrk="1" latinLnBrk="0" hangingPunct="1"/>
            <a:endParaRPr kumimoji="0" lang="en-US" sz="1400" dirty="0">
              <a:solidFill>
                <a:schemeClr val="tx2"/>
              </a:solidFill>
            </a:endParaRPr>
          </a:p>
        </p:txBody>
      </p:sp>
      <p:sp>
        <p:nvSpPr>
          <p:cNvPr id="6" name="灯片编号占位符 5"/>
          <p:cNvSpPr>
            <a:spLocks noGrp="1"/>
          </p:cNvSpPr>
          <p:nvPr>
            <p:ph type="sldNum" sz="quarter" idx="4"/>
          </p:nvPr>
        </p:nvSpPr>
        <p:spPr>
          <a:xfrm>
            <a:off x="4114800" y="6400800"/>
            <a:ext cx="914400" cy="283464"/>
          </a:xfrm>
          <a:prstGeom prst="rect">
            <a:avLst/>
          </a:prstGeom>
          <a:noFill/>
        </p:spPr>
        <p:txBody>
          <a:bodyPr vert="horz" lIns="45720" rIns="45720" rtlCol="0" anchor="ctr"/>
          <a:lstStyle>
            <a:lvl1pPr algn="ctr" eaLnBrk="1" latinLnBrk="0" hangingPunct="1">
              <a:defRPr kumimoji="0" sz="1100" b="0">
                <a:solidFill>
                  <a:schemeClr val="tx2">
                    <a:lumMod val="75000"/>
                    <a:lumOff val="25000"/>
                  </a:schemeClr>
                </a:solidFill>
              </a:defRPr>
            </a:lvl1p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a typeface="宋体" panose="02010600030101010101" pitchFamily="2" charset="-122"/>
            </a:endParaRPr>
          </a:p>
        </p:txBody>
      </p:sp>
      <p:sp>
        <p:nvSpPr>
          <p:cNvPr id="8" name="矩形 7"/>
          <p:cNvSpPr/>
          <p:nvPr/>
        </p:nvSpPr>
        <p:spPr>
          <a:xfrm>
            <a:off x="0" y="0"/>
            <a:ext cx="9144000" cy="108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9" name="Text Box 9"/>
          <p:cNvSpPr txBox="1">
            <a:spLocks noChangeArrowheads="1"/>
          </p:cNvSpPr>
          <p:nvPr userDrawn="1"/>
        </p:nvSpPr>
        <p:spPr bwMode="auto">
          <a:xfrm>
            <a:off x="762000" y="152400"/>
            <a:ext cx="3200400" cy="368300"/>
          </a:xfrm>
          <a:prstGeom prst="rect">
            <a:avLst/>
          </a:prstGeom>
          <a:noFill/>
          <a:ln>
            <a:noFill/>
          </a:ln>
        </p:spPr>
        <p:txBody>
          <a:bodyPr>
            <a:spAutoFit/>
          </a:bodyPr>
          <a:lstStyle>
            <a:lvl1pPr algn="ctr">
              <a:defRPr kumimoji="1" sz="2400" b="1">
                <a:solidFill>
                  <a:schemeClr val="tx1"/>
                </a:solidFill>
                <a:latin typeface="Times New Roman" panose="02020603050405020304" pitchFamily="18" charset="0"/>
                <a:ea typeface="宋体" panose="02010600030101010101" pitchFamily="2" charset="-122"/>
              </a:defRPr>
            </a:lvl1pPr>
            <a:lvl2pPr marL="742950" indent="-285750" algn="ctr">
              <a:defRPr kumimoji="1" sz="2400" b="1">
                <a:solidFill>
                  <a:schemeClr val="tx1"/>
                </a:solidFill>
                <a:latin typeface="Times New Roman" panose="02020603050405020304" pitchFamily="18" charset="0"/>
                <a:ea typeface="宋体" panose="02010600030101010101" pitchFamily="2" charset="-122"/>
              </a:defRPr>
            </a:lvl2pPr>
            <a:lvl3pPr marL="1143000" indent="-228600" algn="ctr">
              <a:defRPr kumimoji="1" sz="2400" b="1">
                <a:solidFill>
                  <a:schemeClr val="tx1"/>
                </a:solidFill>
                <a:latin typeface="Times New Roman" panose="02020603050405020304" pitchFamily="18" charset="0"/>
                <a:ea typeface="宋体" panose="02010600030101010101" pitchFamily="2" charset="-122"/>
              </a:defRPr>
            </a:lvl3pPr>
            <a:lvl4pPr marL="1600200" indent="-228600" algn="ctr">
              <a:defRPr kumimoji="1" sz="2400" b="1">
                <a:solidFill>
                  <a:schemeClr val="tx1"/>
                </a:solidFill>
                <a:latin typeface="Times New Roman" panose="02020603050405020304" pitchFamily="18" charset="0"/>
                <a:ea typeface="宋体" panose="02010600030101010101" pitchFamily="2" charset="-122"/>
              </a:defRPr>
            </a:lvl4pPr>
            <a:lvl5pPr marL="2057400" indent="-228600" algn="ctr">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18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a:t>
            </a:r>
            <a:r>
              <a:rPr kumimoji="1" lang="en-US" altLang="zh-CN" sz="18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3</a:t>
            </a:r>
            <a:r>
              <a:rPr kumimoji="1" lang="zh-CN" altLang="en-US" sz="18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章 </a:t>
            </a:r>
            <a:r>
              <a:rPr kumimoji="1" lang="en-US" altLang="zh-CN" sz="18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MCS-51 </a:t>
            </a:r>
            <a:r>
              <a:rPr kumimoji="1" lang="zh-CN" altLang="en-US" sz="18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指令系统</a:t>
            </a: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Lst>
  <p:hf sldNum="0" hdr="0" ftr="0" dt="0"/>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50000"/>
        <a:buFont typeface="Wingdings 2"/>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emf"/></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1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3.xml"/><Relationship Id="rId1" Type="http://schemas.openxmlformats.org/officeDocument/2006/relationships/vmlDrawing" Target="../drawings/vmlDrawing2.v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a:t>
            </a:fld>
            <a:endParaRPr lang="en-US" altLang="zh-CN" sz="1400" b="0" dirty="0"/>
          </a:p>
        </p:txBody>
      </p:sp>
      <p:sp>
        <p:nvSpPr>
          <p:cNvPr id="5122" name="Rectangle 2"/>
          <p:cNvSpPr>
            <a:spLocks noGrp="1"/>
          </p:cNvSpPr>
          <p:nvPr>
            <p:ph type="title" idx="4294967295"/>
          </p:nvPr>
        </p:nvSpPr>
        <p:spPr>
          <a:xfrm>
            <a:off x="0" y="2997200"/>
            <a:ext cx="4724400" cy="1981200"/>
          </a:xfrm>
          <a:prstGeom prst="rect">
            <a:avLst/>
          </a:prstGeom>
          <a:noFill/>
          <a:ln w="9525">
            <a:noFill/>
          </a:ln>
        </p:spPr>
        <p:txBody>
          <a:bodyPr anchor="t" anchorCtr="0">
            <a:normAutofit fontScale="90000"/>
          </a:bodyPr>
          <a:lstStyle/>
          <a:p>
            <a:pPr algn="l" eaLnBrk="1" hangingPunct="1">
              <a:lnSpc>
                <a:spcPct val="140000"/>
              </a:lnSpc>
            </a:pPr>
            <a:r>
              <a:rPr lang="en-US" altLang="zh-CN" sz="2800" b="1" dirty="0">
                <a:solidFill>
                  <a:schemeClr val="accent2"/>
                </a:solidFill>
              </a:rPr>
              <a:t>3.1  </a:t>
            </a:r>
            <a:r>
              <a:rPr lang="zh-CN" altLang="en-US" sz="2800" b="1" dirty="0">
                <a:solidFill>
                  <a:schemeClr val="accent2"/>
                </a:solidFill>
              </a:rPr>
              <a:t>概述</a:t>
            </a:r>
            <a:br>
              <a:rPr lang="zh-CN" altLang="en-US" sz="2800" b="1" dirty="0">
                <a:solidFill>
                  <a:schemeClr val="accent2"/>
                </a:solidFill>
              </a:rPr>
            </a:br>
            <a:r>
              <a:rPr lang="en-US" altLang="zh-CN" sz="2800" b="1" dirty="0">
                <a:solidFill>
                  <a:schemeClr val="accent2"/>
                </a:solidFill>
              </a:rPr>
              <a:t>3.2  </a:t>
            </a:r>
            <a:r>
              <a:rPr lang="zh-CN" altLang="en-US" sz="2800" b="1" dirty="0">
                <a:solidFill>
                  <a:schemeClr val="accent2"/>
                </a:solidFill>
              </a:rPr>
              <a:t>寻址方式</a:t>
            </a:r>
            <a:br>
              <a:rPr lang="zh-CN" altLang="en-US" sz="2800" b="1" dirty="0">
                <a:solidFill>
                  <a:schemeClr val="accent2"/>
                </a:solidFill>
              </a:rPr>
            </a:br>
            <a:r>
              <a:rPr lang="en-US" altLang="zh-CN" sz="2800" b="1" dirty="0">
                <a:solidFill>
                  <a:schemeClr val="accent2"/>
                </a:solidFill>
              </a:rPr>
              <a:t>3.3  </a:t>
            </a:r>
            <a:r>
              <a:rPr lang="zh-CN" altLang="en-US" sz="2800" b="1" dirty="0">
                <a:solidFill>
                  <a:schemeClr val="accent2"/>
                </a:solidFill>
              </a:rPr>
              <a:t>指令系统</a:t>
            </a:r>
            <a:r>
              <a:rPr lang="zh-CN" altLang="en-US" sz="2800" dirty="0">
                <a:solidFill>
                  <a:schemeClr val="accent2"/>
                </a:solidFill>
                <a:latin typeface="宋体" panose="02010600030101010101" pitchFamily="2" charset="-122"/>
              </a:rPr>
              <a:t/>
            </a:r>
            <a:br>
              <a:rPr lang="zh-CN" altLang="en-US" sz="2800" dirty="0">
                <a:solidFill>
                  <a:schemeClr val="accent2"/>
                </a:solidFill>
                <a:latin typeface="宋体" panose="02010600030101010101" pitchFamily="2" charset="-122"/>
              </a:rPr>
            </a:br>
            <a:endParaRPr lang="zh-CN" altLang="en-US" sz="2800" dirty="0">
              <a:solidFill>
                <a:schemeClr val="accent2"/>
              </a:solidFill>
            </a:endParaRPr>
          </a:p>
        </p:txBody>
      </p:sp>
      <p:sp>
        <p:nvSpPr>
          <p:cNvPr id="5123" name="Rectangle 3"/>
          <p:cNvSpPr/>
          <p:nvPr/>
        </p:nvSpPr>
        <p:spPr>
          <a:xfrm>
            <a:off x="1475740" y="1124585"/>
            <a:ext cx="6645910" cy="1260475"/>
          </a:xfrm>
          <a:prstGeom prst="rect">
            <a:avLst/>
          </a:prstGeom>
          <a:noFill/>
          <a:ln w="9525">
            <a:noFill/>
          </a:ln>
        </p:spPr>
        <p:txBody>
          <a:bodyPr wrap="square" anchor="t" anchorCtr="0">
            <a:spAutoFit/>
          </a:bodyPr>
          <a:lstStyle/>
          <a:p>
            <a:r>
              <a:rPr lang="zh-CN" altLang="en-US" sz="3200" dirty="0">
                <a:solidFill>
                  <a:srgbClr val="FF0000"/>
                </a:solidFill>
                <a:latin typeface="Times New Roman" panose="02020603050405020304" pitchFamily="18" charset="0"/>
                <a:ea typeface="黑体" panose="02010609060101010101" pitchFamily="49" charset="-122"/>
              </a:rPr>
              <a:t>第</a:t>
            </a:r>
            <a:r>
              <a:rPr lang="en-US" altLang="zh-CN" sz="3200" dirty="0">
                <a:solidFill>
                  <a:srgbClr val="FF0000"/>
                </a:solidFill>
                <a:latin typeface="Times New Roman" panose="02020603050405020304" pitchFamily="18" charset="0"/>
                <a:ea typeface="黑体" panose="02010609060101010101" pitchFamily="49" charset="-122"/>
              </a:rPr>
              <a:t>3</a:t>
            </a:r>
            <a:r>
              <a:rPr lang="zh-CN" altLang="en-US" sz="3200" dirty="0">
                <a:solidFill>
                  <a:srgbClr val="FF0000"/>
                </a:solidFill>
                <a:latin typeface="Times New Roman" panose="02020603050405020304" pitchFamily="18" charset="0"/>
                <a:ea typeface="黑体" panose="02010609060101010101" pitchFamily="49" charset="-122"/>
              </a:rPr>
              <a:t>章 </a:t>
            </a:r>
            <a:r>
              <a:rPr lang="en-US" altLang="zh-CN" sz="3200" dirty="0">
                <a:solidFill>
                  <a:srgbClr val="FF0000"/>
                </a:solidFill>
                <a:latin typeface="Times New Roman" panose="02020603050405020304" pitchFamily="18" charset="0"/>
                <a:ea typeface="黑体" panose="02010609060101010101" pitchFamily="49" charset="-122"/>
              </a:rPr>
              <a:t> MCS-51</a:t>
            </a:r>
            <a:r>
              <a:rPr lang="zh-CN" altLang="en-US" sz="3200" dirty="0">
                <a:solidFill>
                  <a:srgbClr val="FF0000"/>
                </a:solidFill>
                <a:latin typeface="Times New Roman" panose="02020603050405020304" pitchFamily="18" charset="0"/>
                <a:ea typeface="黑体" panose="02010609060101010101" pitchFamily="49" charset="-122"/>
              </a:rPr>
              <a:t>单片机的指令系统</a:t>
            </a:r>
            <a:r>
              <a:rPr lang="zh-CN" altLang="en-US" sz="4400" b="0" dirty="0">
                <a:solidFill>
                  <a:schemeClr val="tx2"/>
                </a:solidFill>
                <a:latin typeface="Times New Roman" panose="02020603050405020304" pitchFamily="18" charset="0"/>
                <a:ea typeface="宋体" panose="02010600030101010101" pitchFamily="2" charset="-122"/>
              </a:rPr>
              <a:t/>
            </a:r>
            <a:br>
              <a:rPr lang="zh-CN" altLang="en-US" sz="4400" b="0" dirty="0">
                <a:solidFill>
                  <a:schemeClr val="tx2"/>
                </a:solidFill>
                <a:latin typeface="Times New Roman" panose="02020603050405020304" pitchFamily="18" charset="0"/>
                <a:ea typeface="宋体" panose="02010600030101010101" pitchFamily="2" charset="-122"/>
              </a:rPr>
            </a:br>
            <a:endParaRPr lang="zh-CN" altLang="en-US" sz="4400" b="0" dirty="0">
              <a:solidFill>
                <a:schemeClr val="tx2"/>
              </a:solidFill>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2</a:t>
            </a:fld>
            <a:endParaRPr lang="en-US" altLang="zh-CN" sz="1400" b="0" dirty="0"/>
          </a:p>
        </p:txBody>
      </p:sp>
      <p:sp>
        <p:nvSpPr>
          <p:cNvPr id="136194" name="Text Box 2"/>
          <p:cNvSpPr txBox="1"/>
          <p:nvPr/>
        </p:nvSpPr>
        <p:spPr>
          <a:xfrm>
            <a:off x="228600" y="801688"/>
            <a:ext cx="8610600" cy="3240405"/>
          </a:xfrm>
          <a:prstGeom prst="rect">
            <a:avLst/>
          </a:prstGeom>
          <a:noFill/>
          <a:ln w="9525">
            <a:noFill/>
          </a:ln>
        </p:spPr>
        <p:txBody>
          <a:bodyPr anchor="t" anchorCtr="0">
            <a:spAutoFit/>
          </a:bodyPr>
          <a:lstStyle/>
          <a:p>
            <a:pPr algn="ctr">
              <a:spcBef>
                <a:spcPct val="50000"/>
              </a:spcBef>
            </a:pPr>
            <a:r>
              <a:rPr lang="en-US" altLang="zh-CN" sz="3200" dirty="0">
                <a:solidFill>
                  <a:srgbClr val="FF0000"/>
                </a:solidFill>
                <a:latin typeface="Times New Roman" panose="02020603050405020304" pitchFamily="18" charset="0"/>
                <a:ea typeface="宋体" panose="02010600030101010101" pitchFamily="2" charset="-122"/>
              </a:rPr>
              <a:t>3.1   </a:t>
            </a:r>
            <a:r>
              <a:rPr lang="zh-CN" altLang="en-US" sz="3200" dirty="0">
                <a:solidFill>
                  <a:srgbClr val="FF0000"/>
                </a:solidFill>
                <a:latin typeface="Times New Roman" panose="02020603050405020304" pitchFamily="18" charset="0"/>
                <a:ea typeface="宋体" panose="02010600030101010101" pitchFamily="2" charset="-122"/>
              </a:rPr>
              <a:t>概述</a:t>
            </a:r>
          </a:p>
          <a:p>
            <a:pPr>
              <a:spcBef>
                <a:spcPct val="50000"/>
              </a:spcBef>
            </a:pPr>
            <a:r>
              <a:rPr lang="en-US" altLang="zh-CN" dirty="0">
                <a:solidFill>
                  <a:srgbClr val="FF0000"/>
                </a:solidFill>
                <a:latin typeface="Times New Roman" panose="02020603050405020304" pitchFamily="18" charset="0"/>
                <a:ea typeface="宋体" panose="02010600030101010101" pitchFamily="2" charset="-122"/>
              </a:rPr>
              <a:t>3.1.1 </a:t>
            </a:r>
            <a:r>
              <a:rPr lang="zh-CN" altLang="en-US" dirty="0">
                <a:solidFill>
                  <a:srgbClr val="FF0000"/>
                </a:solidFill>
                <a:latin typeface="Times New Roman" panose="02020603050405020304" pitchFamily="18" charset="0"/>
                <a:ea typeface="宋体" panose="02010600030101010101" pitchFamily="2" charset="-122"/>
              </a:rPr>
              <a:t>计算机语言</a:t>
            </a:r>
          </a:p>
          <a:p>
            <a:pPr>
              <a:lnSpc>
                <a:spcPct val="135000"/>
              </a:lnSpc>
              <a:spcBef>
                <a:spcPct val="10000"/>
              </a:spcBef>
            </a:pPr>
            <a:r>
              <a:rPr lang="zh-CN" altLang="en-US" dirty="0">
                <a:solidFill>
                  <a:schemeClr val="accent2"/>
                </a:solidFill>
                <a:latin typeface="Times New Roman" panose="02020603050405020304" pitchFamily="18" charset="0"/>
                <a:ea typeface="宋体" panose="02010600030101010101" pitchFamily="2" charset="-122"/>
              </a:rPr>
              <a:t>     （</a:t>
            </a:r>
            <a:r>
              <a:rPr lang="en-US" altLang="zh-CN" dirty="0">
                <a:solidFill>
                  <a:schemeClr val="accent2"/>
                </a:solidFill>
                <a:latin typeface="Times New Roman" panose="02020603050405020304" pitchFamily="18" charset="0"/>
                <a:ea typeface="宋体" panose="02010600030101010101" pitchFamily="2" charset="-122"/>
              </a:rPr>
              <a:t>1</a:t>
            </a:r>
            <a:r>
              <a:rPr lang="zh-CN" altLang="en-US" dirty="0">
                <a:solidFill>
                  <a:schemeClr val="accent2"/>
                </a:solidFill>
                <a:latin typeface="Times New Roman" panose="02020603050405020304" pitchFamily="18" charset="0"/>
                <a:ea typeface="宋体" panose="02010600030101010101" pitchFamily="2" charset="-122"/>
              </a:rPr>
              <a:t>）机器语言</a:t>
            </a:r>
            <a:r>
              <a:rPr lang="en-US" altLang="zh-CN" dirty="0">
                <a:solidFill>
                  <a:schemeClr val="accent2"/>
                </a:solidFill>
                <a:latin typeface="Times New Roman" panose="02020603050405020304" pitchFamily="18" charset="0"/>
                <a:ea typeface="宋体" panose="02010600030101010101" pitchFamily="2" charset="-122"/>
              </a:rPr>
              <a:t>:</a:t>
            </a:r>
            <a:r>
              <a:rPr lang="zh-CN" altLang="en-US" dirty="0">
                <a:solidFill>
                  <a:srgbClr val="000000"/>
                </a:solidFill>
                <a:latin typeface="Times New Roman" panose="02020603050405020304" pitchFamily="18" charset="0"/>
                <a:ea typeface="宋体" panose="02010600030101010101" pitchFamily="2" charset="-122"/>
              </a:rPr>
              <a:t>是用二进制代码表示的，能被计算机直接识别和执行的一种机器指令的集合。</a:t>
            </a:r>
          </a:p>
          <a:p>
            <a:pPr>
              <a:lnSpc>
                <a:spcPct val="135000"/>
              </a:lnSpc>
              <a:spcBef>
                <a:spcPct val="10000"/>
              </a:spcBef>
            </a:pPr>
            <a:r>
              <a:rPr lang="zh-CN" altLang="en-US" dirty="0">
                <a:solidFill>
                  <a:srgbClr val="FF9900"/>
                </a:solidFill>
                <a:latin typeface="Times New Roman" panose="02020603050405020304" pitchFamily="18" charset="0"/>
                <a:ea typeface="宋体" panose="02010600030101010101" pitchFamily="2" charset="-122"/>
              </a:rPr>
              <a:t>       优点：</a:t>
            </a:r>
            <a:r>
              <a:rPr lang="zh-CN" altLang="en-US" dirty="0">
                <a:solidFill>
                  <a:srgbClr val="000000"/>
                </a:solidFill>
                <a:latin typeface="Times New Roman" panose="02020603050405020304" pitchFamily="18" charset="0"/>
                <a:ea typeface="宋体" panose="02010600030101010101" pitchFamily="2" charset="-122"/>
              </a:rPr>
              <a:t>灵活、能被计算机直接执行、速度快等。 </a:t>
            </a:r>
            <a:r>
              <a:rPr lang="zh-CN" altLang="en-US" dirty="0">
                <a:latin typeface="Times New Roman" panose="02020603050405020304" pitchFamily="18" charset="0"/>
                <a:ea typeface="宋体" panose="02010600030101010101" pitchFamily="2" charset="-122"/>
              </a:rPr>
              <a:t> </a:t>
            </a:r>
          </a:p>
          <a:p>
            <a:pPr>
              <a:lnSpc>
                <a:spcPct val="135000"/>
              </a:lnSpc>
              <a:spcBef>
                <a:spcPct val="10000"/>
              </a:spcBef>
            </a:pPr>
            <a:r>
              <a:rPr lang="zh-CN" altLang="en-US" dirty="0">
                <a:solidFill>
                  <a:schemeClr val="accent2"/>
                </a:solidFill>
                <a:latin typeface="Times New Roman" panose="02020603050405020304" pitchFamily="18" charset="0"/>
                <a:ea typeface="宋体" panose="02010600030101010101" pitchFamily="2" charset="-122"/>
              </a:rPr>
              <a:t>       </a:t>
            </a:r>
            <a:r>
              <a:rPr lang="zh-CN" altLang="en-US" dirty="0">
                <a:solidFill>
                  <a:srgbClr val="FF9900"/>
                </a:solidFill>
                <a:latin typeface="Times New Roman" panose="02020603050405020304" pitchFamily="18" charset="0"/>
                <a:ea typeface="宋体" panose="02010600030101010101" pitchFamily="2" charset="-122"/>
              </a:rPr>
              <a:t>缺点：</a:t>
            </a:r>
            <a:r>
              <a:rPr lang="zh-CN" altLang="en-US" dirty="0">
                <a:solidFill>
                  <a:srgbClr val="000000"/>
                </a:solidFill>
                <a:latin typeface="Times New Roman" panose="02020603050405020304" pitchFamily="18" charset="0"/>
                <a:ea typeface="宋体" panose="02010600030101010101" pitchFamily="2" charset="-122"/>
              </a:rPr>
              <a:t>直观性差，很容易出错，通用性很差。</a:t>
            </a:r>
            <a:endParaRPr lang="zh-CN" altLang="en-US" dirty="0">
              <a:latin typeface="Times New Roman" panose="02020603050405020304" pitchFamily="18" charset="0"/>
              <a:ea typeface="宋体" panose="02010600030101010101" pitchFamily="2" charset="-122"/>
            </a:endParaRPr>
          </a:p>
        </p:txBody>
      </p:sp>
      <p:sp>
        <p:nvSpPr>
          <p:cNvPr id="136195" name="Text Box 3"/>
          <p:cNvSpPr txBox="1"/>
          <p:nvPr/>
        </p:nvSpPr>
        <p:spPr>
          <a:xfrm>
            <a:off x="569913" y="4076700"/>
            <a:ext cx="8323262" cy="2526030"/>
          </a:xfrm>
          <a:prstGeom prst="rect">
            <a:avLst/>
          </a:prstGeom>
          <a:noFill/>
          <a:ln w="9525">
            <a:noFill/>
          </a:ln>
        </p:spPr>
        <p:txBody>
          <a:bodyPr anchor="t" anchorCtr="0">
            <a:spAutoFit/>
          </a:bodyPr>
          <a:lstStyle/>
          <a:p>
            <a:pPr algn="ctr">
              <a:lnSpc>
                <a:spcPct val="130000"/>
              </a:lnSpc>
              <a:spcBef>
                <a:spcPct val="50000"/>
              </a:spcBef>
            </a:pPr>
            <a:r>
              <a:rPr lang="zh-CN" altLang="en-US" dirty="0">
                <a:solidFill>
                  <a:schemeClr val="accent2"/>
                </a:solidFill>
                <a:latin typeface="Times New Roman" panose="02020603050405020304" pitchFamily="18" charset="0"/>
                <a:ea typeface="宋体" panose="02010600030101010101" pitchFamily="2" charset="-122"/>
              </a:rPr>
              <a:t>（</a:t>
            </a:r>
            <a:r>
              <a:rPr lang="en-US" altLang="zh-CN" dirty="0">
                <a:solidFill>
                  <a:schemeClr val="accent2"/>
                </a:solidFill>
                <a:latin typeface="Times New Roman" panose="02020603050405020304" pitchFamily="18" charset="0"/>
                <a:ea typeface="宋体" panose="02010600030101010101" pitchFamily="2" charset="-122"/>
              </a:rPr>
              <a:t>2</a:t>
            </a:r>
            <a:r>
              <a:rPr lang="zh-CN" altLang="en-US" dirty="0">
                <a:solidFill>
                  <a:schemeClr val="accent2"/>
                </a:solidFill>
                <a:latin typeface="Times New Roman" panose="02020603050405020304" pitchFamily="18" charset="0"/>
                <a:ea typeface="宋体" panose="02010600030101010101" pitchFamily="2" charset="-122"/>
              </a:rPr>
              <a:t>）汇编语言：</a:t>
            </a:r>
            <a:r>
              <a:rPr lang="zh-CN" altLang="en-US" dirty="0">
                <a:solidFill>
                  <a:srgbClr val="000000"/>
                </a:solidFill>
                <a:latin typeface="Times New Roman" panose="02020603050405020304" pitchFamily="18" charset="0"/>
                <a:ea typeface="宋体" panose="02010600030101010101" pitchFamily="2" charset="-122"/>
              </a:rPr>
              <a:t>是一种用助记符表示的仍然面向机器的计算机语言，又将其称为符号语言。</a:t>
            </a:r>
          </a:p>
          <a:p>
            <a:pPr>
              <a:lnSpc>
                <a:spcPct val="130000"/>
              </a:lnSpc>
              <a:spcBef>
                <a:spcPct val="10000"/>
              </a:spcBef>
            </a:pPr>
            <a:r>
              <a:rPr lang="zh-CN" altLang="en-US" dirty="0">
                <a:solidFill>
                  <a:srgbClr val="000000"/>
                </a:solidFill>
                <a:latin typeface="Times New Roman" panose="02020603050405020304" pitchFamily="18" charset="0"/>
                <a:ea typeface="宋体" panose="02010600030101010101" pitchFamily="2" charset="-122"/>
              </a:rPr>
              <a:t>       </a:t>
            </a:r>
            <a:r>
              <a:rPr lang="zh-CN" altLang="en-US" dirty="0">
                <a:solidFill>
                  <a:srgbClr val="FF9900"/>
                </a:solidFill>
                <a:latin typeface="Times New Roman" panose="02020603050405020304" pitchFamily="18" charset="0"/>
                <a:ea typeface="宋体" panose="02010600030101010101" pitchFamily="2" charset="-122"/>
              </a:rPr>
              <a:t>优点：</a:t>
            </a:r>
            <a:r>
              <a:rPr lang="zh-CN" altLang="en-US" dirty="0">
                <a:solidFill>
                  <a:srgbClr val="000000"/>
                </a:solidFill>
                <a:latin typeface="Times New Roman" panose="02020603050405020304" pitchFamily="18" charset="0"/>
                <a:ea typeface="宋体" panose="02010600030101010101" pitchFamily="2" charset="-122"/>
              </a:rPr>
              <a:t>用符号代替了机器指令代码，简化了编程过程，而且助记符与指令代码一一对应，基本保留了机器语言的灵活性。占用的内存空间少，运行速度快。 </a:t>
            </a:r>
            <a:r>
              <a:rPr lang="zh-CN" altLang="en-US" dirty="0">
                <a:latin typeface="Times New Roman" panose="02020603050405020304" pitchFamily="18" charset="0"/>
                <a:ea typeface="宋体" panose="02010600030101010101" pitchFamily="2" charset="-122"/>
              </a:rPr>
              <a:t>     </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3</a:t>
            </a:fld>
            <a:endParaRPr lang="en-US" altLang="zh-CN" sz="1400" b="0" dirty="0"/>
          </a:p>
        </p:txBody>
      </p:sp>
      <p:sp>
        <p:nvSpPr>
          <p:cNvPr id="156674" name="Text Box 2"/>
          <p:cNvSpPr txBox="1"/>
          <p:nvPr/>
        </p:nvSpPr>
        <p:spPr>
          <a:xfrm>
            <a:off x="0" y="836613"/>
            <a:ext cx="8763000" cy="2122487"/>
          </a:xfrm>
          <a:prstGeom prst="rect">
            <a:avLst/>
          </a:prstGeom>
          <a:noFill/>
          <a:ln w="9525">
            <a:noFill/>
          </a:ln>
        </p:spPr>
        <p:txBody>
          <a:bodyPr anchor="t" anchorCtr="0">
            <a:spAutoFit/>
          </a:bodyPr>
          <a:lstStyle/>
          <a:p>
            <a:pPr>
              <a:lnSpc>
                <a:spcPct val="135000"/>
              </a:lnSpc>
              <a:spcBef>
                <a:spcPct val="15000"/>
              </a:spcBef>
            </a:pPr>
            <a:r>
              <a:rPr lang="en-US" altLang="zh-CN" dirty="0">
                <a:solidFill>
                  <a:srgbClr val="FF9900"/>
                </a:solidFill>
                <a:latin typeface="Times New Roman" panose="02020603050405020304" pitchFamily="18" charset="0"/>
                <a:ea typeface="宋体" panose="02010600030101010101" pitchFamily="2" charset="-122"/>
              </a:rPr>
              <a:t>         </a:t>
            </a:r>
            <a:r>
              <a:rPr lang="zh-CN" altLang="en-US" dirty="0">
                <a:solidFill>
                  <a:srgbClr val="FF9900"/>
                </a:solidFill>
                <a:latin typeface="Times New Roman" panose="02020603050405020304" pitchFamily="18" charset="0"/>
                <a:ea typeface="宋体" panose="02010600030101010101" pitchFamily="2" charset="-122"/>
              </a:rPr>
              <a:t>缺点：</a:t>
            </a:r>
            <a:r>
              <a:rPr lang="zh-CN" altLang="en-US" dirty="0">
                <a:solidFill>
                  <a:srgbClr val="000000"/>
                </a:solidFill>
                <a:latin typeface="Times New Roman" panose="02020603050405020304" pitchFamily="18" charset="0"/>
                <a:ea typeface="宋体" panose="02010600030101010101" pitchFamily="2" charset="-122"/>
              </a:rPr>
              <a:t> 必须对编写的程序进行加工和翻译，才能变成能够被计算机识别和处理的二进制代码程序。</a:t>
            </a:r>
            <a:r>
              <a:rPr lang="zh-CN" altLang="en-US" dirty="0">
                <a:solidFill>
                  <a:srgbClr val="990000"/>
                </a:solidFill>
                <a:latin typeface="Times New Roman" panose="02020603050405020304" pitchFamily="18" charset="0"/>
                <a:ea typeface="宋体" panose="02010600030101010101" pitchFamily="2" charset="-122"/>
              </a:rPr>
              <a:t>仍然是面向机器的语言</a:t>
            </a:r>
            <a:r>
              <a:rPr lang="zh-CN" altLang="en-US" dirty="0">
                <a:solidFill>
                  <a:srgbClr val="000000"/>
                </a:solidFill>
                <a:latin typeface="Times New Roman" panose="02020603050405020304" pitchFamily="18" charset="0"/>
                <a:ea typeface="宋体" panose="02010600030101010101" pitchFamily="2" charset="-122"/>
              </a:rPr>
              <a:t>，使用起来还是</a:t>
            </a:r>
            <a:r>
              <a:rPr lang="zh-CN" altLang="en-US" dirty="0">
                <a:solidFill>
                  <a:srgbClr val="990000"/>
                </a:solidFill>
                <a:latin typeface="Times New Roman" panose="02020603050405020304" pitchFamily="18" charset="0"/>
                <a:ea typeface="宋体" panose="02010600030101010101" pitchFamily="2" charset="-122"/>
              </a:rPr>
              <a:t>比较繁琐费时，通用性差</a:t>
            </a:r>
            <a:r>
              <a:rPr lang="zh-CN" altLang="en-US" dirty="0">
                <a:solidFill>
                  <a:srgbClr val="000000"/>
                </a:solidFill>
                <a:latin typeface="Times New Roman" panose="02020603050405020304" pitchFamily="18" charset="0"/>
                <a:ea typeface="宋体" panose="02010600030101010101" pitchFamily="2" charset="-122"/>
              </a:rPr>
              <a:t>。</a:t>
            </a:r>
          </a:p>
          <a:p>
            <a:pPr>
              <a:lnSpc>
                <a:spcPct val="135000"/>
              </a:lnSpc>
              <a:spcBef>
                <a:spcPct val="15000"/>
              </a:spcBef>
            </a:pPr>
            <a:r>
              <a:rPr lang="zh-CN" altLang="en-US" dirty="0">
                <a:solidFill>
                  <a:srgbClr val="000000"/>
                </a:solidFill>
                <a:latin typeface="Times New Roman" panose="02020603050405020304" pitchFamily="18" charset="0"/>
                <a:ea typeface="宋体" panose="02010600030101010101" pitchFamily="2" charset="-122"/>
              </a:rPr>
              <a:t>用汇编语言等非机器语言书写好的符号程序称</a:t>
            </a:r>
            <a:r>
              <a:rPr lang="zh-CN" altLang="en-US" dirty="0">
                <a:solidFill>
                  <a:srgbClr val="990000"/>
                </a:solidFill>
                <a:latin typeface="Times New Roman" panose="02020603050405020304" pitchFamily="18" charset="0"/>
                <a:ea typeface="宋体" panose="02010600030101010101" pitchFamily="2" charset="-122"/>
              </a:rPr>
              <a:t>汇编语言源程序</a:t>
            </a:r>
            <a:r>
              <a:rPr lang="zh-CN" altLang="en-US" dirty="0">
                <a:solidFill>
                  <a:srgbClr val="000000"/>
                </a:solidFill>
                <a:latin typeface="Times New Roman" panose="02020603050405020304" pitchFamily="18" charset="0"/>
                <a:ea typeface="宋体" panose="02010600030101010101" pitchFamily="2" charset="-122"/>
              </a:rPr>
              <a:t>。</a:t>
            </a:r>
          </a:p>
        </p:txBody>
      </p:sp>
      <p:sp>
        <p:nvSpPr>
          <p:cNvPr id="156675" name="Text Box 3"/>
          <p:cNvSpPr txBox="1"/>
          <p:nvPr/>
        </p:nvSpPr>
        <p:spPr>
          <a:xfrm>
            <a:off x="179388" y="3429000"/>
            <a:ext cx="8763000" cy="2178050"/>
          </a:xfrm>
          <a:prstGeom prst="rect">
            <a:avLst/>
          </a:prstGeom>
          <a:noFill/>
          <a:ln w="9525">
            <a:noFill/>
          </a:ln>
        </p:spPr>
        <p:txBody>
          <a:bodyPr anchor="t" anchorCtr="0">
            <a:spAutoFit/>
          </a:bodyPr>
          <a:lstStyle/>
          <a:p>
            <a:pPr>
              <a:lnSpc>
                <a:spcPct val="135000"/>
              </a:lnSpc>
              <a:spcBef>
                <a:spcPct val="15000"/>
              </a:spcBef>
            </a:pPr>
            <a:r>
              <a:rPr lang="zh-CN" altLang="en-US" dirty="0">
                <a:solidFill>
                  <a:schemeClr val="accent2"/>
                </a:solidFill>
                <a:latin typeface="Times New Roman" panose="02020603050405020304" pitchFamily="18" charset="0"/>
                <a:ea typeface="黑体" panose="02010609060101010101" pitchFamily="49" charset="-122"/>
              </a:rPr>
              <a:t>（</a:t>
            </a:r>
            <a:r>
              <a:rPr lang="en-US" altLang="zh-CN" dirty="0">
                <a:solidFill>
                  <a:schemeClr val="accent2"/>
                </a:solidFill>
                <a:latin typeface="Times New Roman" panose="02020603050405020304" pitchFamily="18" charset="0"/>
                <a:ea typeface="黑体" panose="02010609060101010101" pitchFamily="49" charset="-122"/>
              </a:rPr>
              <a:t>3</a:t>
            </a:r>
            <a:r>
              <a:rPr lang="zh-CN" altLang="en-US" dirty="0">
                <a:solidFill>
                  <a:schemeClr val="accent2"/>
                </a:solidFill>
                <a:latin typeface="Times New Roman" panose="02020603050405020304" pitchFamily="18" charset="0"/>
                <a:ea typeface="黑体" panose="02010609060101010101" pitchFamily="49" charset="-122"/>
              </a:rPr>
              <a:t>）高级语言：</a:t>
            </a:r>
            <a:r>
              <a:rPr lang="zh-CN" altLang="en-US" dirty="0">
                <a:solidFill>
                  <a:srgbClr val="000000"/>
                </a:solidFill>
                <a:latin typeface="Times New Roman" panose="02020603050405020304" pitchFamily="18" charset="0"/>
                <a:ea typeface="宋体" panose="02010600030101010101" pitchFamily="2" charset="-122"/>
              </a:rPr>
              <a:t>与自然语言相近并为计算机所接受和执行的计算机语言称为高级语言，它是面向用户的语言。</a:t>
            </a:r>
          </a:p>
          <a:p>
            <a:pPr>
              <a:lnSpc>
                <a:spcPct val="135000"/>
              </a:lnSpc>
              <a:spcBef>
                <a:spcPct val="15000"/>
              </a:spcBef>
            </a:pPr>
            <a:r>
              <a:rPr lang="zh-CN" altLang="en-US" dirty="0">
                <a:solidFill>
                  <a:srgbClr val="000000"/>
                </a:solidFill>
                <a:latin typeface="Times New Roman" panose="02020603050405020304" pitchFamily="18" charset="0"/>
                <a:ea typeface="宋体" panose="02010600030101010101" pitchFamily="2" charset="-122"/>
              </a:rPr>
              <a:t>        优点：</a:t>
            </a:r>
            <a:r>
              <a:rPr lang="zh-CN" altLang="en-US" dirty="0">
                <a:solidFill>
                  <a:srgbClr val="990000"/>
                </a:solidFill>
                <a:latin typeface="Times New Roman" panose="02020603050405020304" pitchFamily="18" charset="0"/>
                <a:ea typeface="宋体" panose="02010600030101010101" pitchFamily="2" charset="-122"/>
              </a:rPr>
              <a:t>编程容易</a:t>
            </a:r>
            <a:r>
              <a:rPr lang="zh-CN" altLang="en-US" dirty="0">
                <a:solidFill>
                  <a:srgbClr val="000000"/>
                </a:solidFill>
                <a:latin typeface="Times New Roman" panose="02020603050405020304" pitchFamily="18" charset="0"/>
                <a:ea typeface="宋体" panose="02010600030101010101" pitchFamily="2" charset="-122"/>
              </a:rPr>
              <a:t>，不需要编程者对机器硬件有较好的了解。</a:t>
            </a:r>
          </a:p>
          <a:p>
            <a:pPr>
              <a:lnSpc>
                <a:spcPct val="135000"/>
              </a:lnSpc>
              <a:spcBef>
                <a:spcPct val="15000"/>
              </a:spcBef>
            </a:pPr>
            <a:r>
              <a:rPr lang="zh-CN" altLang="en-US" dirty="0">
                <a:solidFill>
                  <a:srgbClr val="000000"/>
                </a:solidFill>
                <a:latin typeface="Times New Roman" panose="02020603050405020304" pitchFamily="18" charset="0"/>
                <a:ea typeface="宋体" panose="02010600030101010101" pitchFamily="2" charset="-122"/>
              </a:rPr>
              <a:t>        缺点：</a:t>
            </a:r>
            <a:r>
              <a:rPr lang="zh-CN" altLang="en-US" dirty="0">
                <a:solidFill>
                  <a:srgbClr val="990000"/>
                </a:solidFill>
                <a:latin typeface="Times New Roman" panose="02020603050405020304" pitchFamily="18" charset="0"/>
                <a:ea typeface="宋体" panose="02010600030101010101" pitchFamily="2" charset="-122"/>
              </a:rPr>
              <a:t>执行速度比机器语言和汇编语言慢</a:t>
            </a:r>
            <a:r>
              <a:rPr lang="zh-CN" altLang="en-US" dirty="0">
                <a:solidFill>
                  <a:srgbClr val="000000"/>
                </a:solidFill>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4</a:t>
            </a:fld>
            <a:endParaRPr lang="en-US" altLang="zh-CN" sz="1400" b="0" dirty="0"/>
          </a:p>
        </p:txBody>
      </p:sp>
      <p:sp>
        <p:nvSpPr>
          <p:cNvPr id="165890" name="Text Box 2"/>
          <p:cNvSpPr txBox="1"/>
          <p:nvPr/>
        </p:nvSpPr>
        <p:spPr>
          <a:xfrm>
            <a:off x="228600" y="838200"/>
            <a:ext cx="8610600" cy="2324735"/>
          </a:xfrm>
          <a:prstGeom prst="rect">
            <a:avLst/>
          </a:prstGeom>
          <a:noFill/>
          <a:ln w="9525">
            <a:noFill/>
          </a:ln>
        </p:spPr>
        <p:txBody>
          <a:bodyPr anchor="t" anchorCtr="0">
            <a:spAutoFit/>
          </a:bodyPr>
          <a:lstStyle/>
          <a:p>
            <a:pPr>
              <a:spcBef>
                <a:spcPct val="50000"/>
              </a:spcBef>
            </a:pPr>
            <a:r>
              <a:rPr lang="en-US" altLang="zh-CN" dirty="0">
                <a:latin typeface="Times New Roman" panose="02020603050405020304" pitchFamily="18" charset="0"/>
                <a:ea typeface="宋体" panose="02010600030101010101" pitchFamily="2" charset="-122"/>
              </a:rPr>
              <a:t>3.1.2  </a:t>
            </a:r>
            <a:r>
              <a:rPr lang="zh-CN" altLang="en-US" dirty="0">
                <a:latin typeface="Times New Roman" panose="02020603050405020304" pitchFamily="18" charset="0"/>
                <a:ea typeface="宋体" panose="02010600030101010101" pitchFamily="2" charset="-122"/>
              </a:rPr>
              <a:t>汇编语言程序语句格式</a:t>
            </a:r>
          </a:p>
          <a:p>
            <a:pPr algn="just">
              <a:lnSpc>
                <a:spcPct val="135000"/>
              </a:lnSpc>
              <a:spcBef>
                <a:spcPct val="50000"/>
              </a:spcBef>
            </a:pPr>
            <a:r>
              <a:rPr lang="zh-CN" altLang="en-US" dirty="0">
                <a:solidFill>
                  <a:srgbClr val="000000"/>
                </a:solidFill>
                <a:latin typeface="宋体" panose="02010600030101010101" pitchFamily="2" charset="-122"/>
                <a:ea typeface="宋体" panose="02010600030101010101" pitchFamily="2" charset="-122"/>
              </a:rPr>
              <a:t>汇编指令由操作码或伪操作码、目的操作数和源操作数构成，标准书写格式如下：</a:t>
            </a:r>
            <a:endParaRPr lang="zh-CN" altLang="en-US" dirty="0">
              <a:latin typeface="宋体" panose="02010600030101010101" pitchFamily="2" charset="-122"/>
              <a:ea typeface="宋体" panose="02010600030101010101" pitchFamily="2" charset="-122"/>
            </a:endParaRPr>
          </a:p>
          <a:p>
            <a:pPr algn="just">
              <a:lnSpc>
                <a:spcPct val="135000"/>
              </a:lnSpc>
              <a:spcBef>
                <a:spcPct val="50000"/>
              </a:spcBef>
            </a:pPr>
            <a:r>
              <a:rPr lang="en-US" altLang="zh-CN" dirty="0">
                <a:solidFill>
                  <a:srgbClr val="FF3300"/>
                </a:solidFill>
                <a:latin typeface="宋体" panose="02010600030101010101" pitchFamily="2" charset="-122"/>
                <a:ea typeface="宋体" panose="02010600030101010101" pitchFamily="2" charset="-122"/>
              </a:rPr>
              <a:t>[</a:t>
            </a:r>
            <a:r>
              <a:rPr lang="zh-CN" altLang="en-US" dirty="0">
                <a:solidFill>
                  <a:srgbClr val="FF3300"/>
                </a:solidFill>
                <a:latin typeface="宋体" panose="02010600030101010101" pitchFamily="2" charset="-122"/>
                <a:ea typeface="宋体" panose="02010600030101010101" pitchFamily="2" charset="-122"/>
              </a:rPr>
              <a:t>标号</a:t>
            </a:r>
            <a:r>
              <a:rPr lang="en-US" altLang="zh-CN" dirty="0">
                <a:solidFill>
                  <a:srgbClr val="FF3300"/>
                </a:solidFill>
                <a:latin typeface="宋体" panose="02010600030101010101" pitchFamily="2" charset="-122"/>
                <a:ea typeface="宋体" panose="02010600030101010101" pitchFamily="2" charset="-122"/>
              </a:rPr>
              <a:t>:]   </a:t>
            </a:r>
            <a:r>
              <a:rPr lang="zh-CN" altLang="en-US" dirty="0">
                <a:solidFill>
                  <a:srgbClr val="FF3300"/>
                </a:solidFill>
                <a:latin typeface="宋体" panose="02010600030101010101" pitchFamily="2" charset="-122"/>
                <a:ea typeface="宋体" panose="02010600030101010101" pitchFamily="2" charset="-122"/>
              </a:rPr>
              <a:t>操作码</a:t>
            </a:r>
            <a:r>
              <a:rPr lang="en-US" altLang="zh-CN" dirty="0">
                <a:solidFill>
                  <a:srgbClr val="FF3300"/>
                </a:solidFill>
                <a:latin typeface="宋体" panose="02010600030101010101" pitchFamily="2" charset="-122"/>
                <a:ea typeface="宋体" panose="02010600030101010101" pitchFamily="2" charset="-122"/>
              </a:rPr>
              <a:t>/</a:t>
            </a:r>
            <a:r>
              <a:rPr lang="zh-CN" altLang="en-US" dirty="0">
                <a:solidFill>
                  <a:srgbClr val="FF3300"/>
                </a:solidFill>
                <a:latin typeface="宋体" panose="02010600030101010101" pitchFamily="2" charset="-122"/>
                <a:ea typeface="宋体" panose="02010600030101010101" pitchFamily="2" charset="-122"/>
              </a:rPr>
              <a:t>伪操作码  </a:t>
            </a:r>
            <a:r>
              <a:rPr lang="en-US" altLang="zh-CN" dirty="0">
                <a:solidFill>
                  <a:srgbClr val="FF3300"/>
                </a:solidFill>
                <a:latin typeface="宋体" panose="02010600030101010101" pitchFamily="2" charset="-122"/>
                <a:ea typeface="宋体" panose="02010600030101010101" pitchFamily="2" charset="-122"/>
              </a:rPr>
              <a:t>[</a:t>
            </a:r>
            <a:r>
              <a:rPr lang="zh-CN" altLang="en-US" dirty="0">
                <a:solidFill>
                  <a:srgbClr val="FF3300"/>
                </a:solidFill>
                <a:latin typeface="宋体" panose="02010600030101010101" pitchFamily="2" charset="-122"/>
                <a:ea typeface="宋体" panose="02010600030101010101" pitchFamily="2" charset="-122"/>
              </a:rPr>
              <a:t>操作数</a:t>
            </a:r>
            <a:r>
              <a:rPr lang="en-US" altLang="zh-CN" dirty="0">
                <a:solidFill>
                  <a:srgbClr val="FF3300"/>
                </a:solidFill>
                <a:latin typeface="宋体" panose="02010600030101010101" pitchFamily="2" charset="-122"/>
                <a:ea typeface="宋体" panose="02010600030101010101" pitchFamily="2" charset="-122"/>
              </a:rPr>
              <a:t>]  [</a:t>
            </a:r>
            <a:r>
              <a:rPr lang="zh-CN" altLang="en-US" dirty="0">
                <a:solidFill>
                  <a:srgbClr val="FF3300"/>
                </a:solidFill>
                <a:latin typeface="宋体" panose="02010600030101010101" pitchFamily="2" charset="-122"/>
                <a:ea typeface="宋体" panose="02010600030101010101" pitchFamily="2" charset="-122"/>
              </a:rPr>
              <a:t>；注释</a:t>
            </a:r>
            <a:r>
              <a:rPr lang="en-US" altLang="zh-CN" dirty="0">
                <a:solidFill>
                  <a:srgbClr val="FF3300"/>
                </a:solidFill>
                <a:latin typeface="宋体" panose="02010600030101010101" pitchFamily="2" charset="-122"/>
                <a:ea typeface="宋体" panose="02010600030101010101" pitchFamily="2" charset="-122"/>
              </a:rPr>
              <a:t>]</a:t>
            </a:r>
            <a:endParaRPr lang="en-US" altLang="zh-CN" dirty="0">
              <a:solidFill>
                <a:srgbClr val="FF3300"/>
              </a:solidFill>
              <a:latin typeface="宋体" panose="02010600030101010101" pitchFamily="2" charset="-122"/>
              <a:ea typeface="Times New Roman" panose="02020603050405020304" pitchFamily="18" charset="0"/>
            </a:endParaRPr>
          </a:p>
        </p:txBody>
      </p:sp>
      <p:sp>
        <p:nvSpPr>
          <p:cNvPr id="165891" name="Text Box 3"/>
          <p:cNvSpPr txBox="1"/>
          <p:nvPr/>
        </p:nvSpPr>
        <p:spPr>
          <a:xfrm>
            <a:off x="179388" y="3789363"/>
            <a:ext cx="8610600" cy="2743200"/>
          </a:xfrm>
          <a:prstGeom prst="rect">
            <a:avLst/>
          </a:prstGeom>
          <a:noFill/>
          <a:ln w="9525">
            <a:noFill/>
          </a:ln>
        </p:spPr>
        <p:txBody>
          <a:bodyPr anchor="t" anchorCtr="0">
            <a:spAutoFit/>
          </a:bodyPr>
          <a:lstStyle/>
          <a:p>
            <a:pPr algn="just">
              <a:lnSpc>
                <a:spcPct val="135000"/>
              </a:lnSpc>
              <a:spcBef>
                <a:spcPct val="50000"/>
              </a:spcBef>
            </a:pPr>
            <a:r>
              <a:rPr lang="zh-CN" altLang="en-US" dirty="0">
                <a:solidFill>
                  <a:srgbClr val="FF0000"/>
                </a:solidFill>
                <a:latin typeface="宋体" panose="02010600030101010101" pitchFamily="2" charset="-122"/>
                <a:ea typeface="宋体" panose="02010600030101010101" pitchFamily="2" charset="-122"/>
              </a:rPr>
              <a:t>标号</a:t>
            </a:r>
            <a:r>
              <a:rPr lang="zh-CN" altLang="en-US" dirty="0">
                <a:solidFill>
                  <a:srgbClr val="000000"/>
                </a:solidFill>
                <a:latin typeface="宋体" panose="02010600030101010101" pitchFamily="2" charset="-122"/>
                <a:ea typeface="宋体" panose="02010600030101010101" pitchFamily="2" charset="-122"/>
              </a:rPr>
              <a:t>：又称指令地址符号。它是用户设定的符号，代表着该条指令所在的地址。</a:t>
            </a:r>
          </a:p>
          <a:p>
            <a:pPr algn="just">
              <a:lnSpc>
                <a:spcPct val="135000"/>
              </a:lnSpc>
              <a:spcBef>
                <a:spcPct val="50000"/>
              </a:spcBef>
            </a:pPr>
            <a:r>
              <a:rPr lang="zh-CN" altLang="en-US" dirty="0">
                <a:solidFill>
                  <a:srgbClr val="000099"/>
                </a:solidFill>
                <a:latin typeface="宋体" panose="02010600030101010101" pitchFamily="2" charset="-122"/>
                <a:ea typeface="宋体" panose="02010600030101010101" pitchFamily="2" charset="-122"/>
              </a:rPr>
              <a:t>标号必须以字母开头，其后跟</a:t>
            </a:r>
            <a:r>
              <a:rPr lang="en-US" altLang="zh-CN" dirty="0">
                <a:solidFill>
                  <a:srgbClr val="000099"/>
                </a:solidFill>
                <a:latin typeface="Times New Roman" panose="02020603050405020304" pitchFamily="18" charset="0"/>
                <a:ea typeface="宋体" panose="02010600030101010101" pitchFamily="2" charset="-122"/>
              </a:rPr>
              <a:t>1~8</a:t>
            </a:r>
            <a:r>
              <a:rPr lang="zh-CN" altLang="en-US" dirty="0">
                <a:solidFill>
                  <a:srgbClr val="000099"/>
                </a:solidFill>
                <a:latin typeface="宋体" panose="02010600030101010101" pitchFamily="2" charset="-122"/>
                <a:ea typeface="宋体" panose="02010600030101010101" pitchFamily="2" charset="-122"/>
              </a:rPr>
              <a:t>个字母或数字，并以</a:t>
            </a:r>
            <a:r>
              <a:rPr lang="zh-CN" altLang="en-US" dirty="0">
                <a:solidFill>
                  <a:srgbClr val="000099"/>
                </a:solidFill>
                <a:latin typeface="Times New Roman" panose="02020603050405020304" pitchFamily="18" charset="0"/>
                <a:ea typeface="宋体" panose="02010600030101010101" pitchFamily="2" charset="-122"/>
              </a:rPr>
              <a:t>“</a:t>
            </a:r>
            <a:r>
              <a:rPr lang="zh-CN" altLang="en-US" dirty="0">
                <a:solidFill>
                  <a:srgbClr val="000099"/>
                </a:solidFill>
                <a:latin typeface="宋体" panose="02010600030101010101" pitchFamily="2" charset="-122"/>
                <a:ea typeface="宋体" panose="02010600030101010101" pitchFamily="2" charset="-122"/>
              </a:rPr>
              <a:t>：</a:t>
            </a:r>
            <a:r>
              <a:rPr lang="zh-CN" altLang="en-US" dirty="0">
                <a:solidFill>
                  <a:srgbClr val="000099"/>
                </a:solidFill>
                <a:latin typeface="Times New Roman" panose="02020603050405020304" pitchFamily="18" charset="0"/>
                <a:ea typeface="宋体" panose="02010600030101010101" pitchFamily="2" charset="-122"/>
              </a:rPr>
              <a:t>”</a:t>
            </a:r>
            <a:r>
              <a:rPr lang="zh-CN" altLang="en-US" dirty="0">
                <a:solidFill>
                  <a:srgbClr val="000099"/>
                </a:solidFill>
                <a:latin typeface="宋体" panose="02010600030101010101" pitchFamily="2" charset="-122"/>
                <a:ea typeface="宋体" panose="02010600030101010101" pitchFamily="2" charset="-122"/>
              </a:rPr>
              <a:t>结尾</a:t>
            </a:r>
            <a:r>
              <a:rPr lang="zh-CN" altLang="en-US" dirty="0">
                <a:solidFill>
                  <a:srgbClr val="000000"/>
                </a:solidFill>
                <a:latin typeface="宋体" panose="02010600030101010101" pitchFamily="2" charset="-122"/>
                <a:ea typeface="宋体" panose="02010600030101010101" pitchFamily="2" charset="-122"/>
              </a:rPr>
              <a:t>。</a:t>
            </a:r>
            <a:r>
              <a:rPr lang="zh-CN" altLang="en-US" dirty="0">
                <a:solidFill>
                  <a:srgbClr val="000099"/>
                </a:solidFill>
                <a:latin typeface="宋体" panose="02010600030101010101" pitchFamily="2" charset="-122"/>
                <a:ea typeface="宋体" panose="02010600030101010101" pitchFamily="2" charset="-122"/>
              </a:rPr>
              <a:t>标号不能为指令系统中的指令助记符、</a:t>
            </a:r>
            <a:r>
              <a:rPr lang="en-US" altLang="zh-CN" dirty="0">
                <a:solidFill>
                  <a:srgbClr val="000099"/>
                </a:solidFill>
                <a:latin typeface="Times New Roman" panose="02020603050405020304" pitchFamily="18" charset="0"/>
                <a:ea typeface="宋体" panose="02010600030101010101" pitchFamily="2" charset="-122"/>
              </a:rPr>
              <a:t>CPU</a:t>
            </a:r>
            <a:r>
              <a:rPr lang="zh-CN" altLang="en-US" dirty="0">
                <a:solidFill>
                  <a:srgbClr val="000099"/>
                </a:solidFill>
                <a:latin typeface="宋体" panose="02010600030101010101" pitchFamily="2" charset="-122"/>
                <a:ea typeface="宋体" panose="02010600030101010101" pitchFamily="2" charset="-122"/>
              </a:rPr>
              <a:t>的寄存器名以及伪指令等，且同一程序内标号必须互不相同。</a:t>
            </a:r>
            <a:r>
              <a:rPr lang="zh-CN" altLang="en-US" dirty="0">
                <a:solidFill>
                  <a:srgbClr val="000099"/>
                </a:solidFill>
                <a:latin typeface="Times New Roman" panose="02020603050405020304" pitchFamily="18" charset="0"/>
                <a:ea typeface="宋体" panose="02010600030101010101" pitchFamily="2" charset="-122"/>
              </a:rPr>
              <a:t> </a:t>
            </a:r>
          </a:p>
        </p:txBody>
      </p:sp>
      <p:sp>
        <p:nvSpPr>
          <p:cNvPr id="5" name="TextBox 4"/>
          <p:cNvSpPr txBox="1"/>
          <p:nvPr/>
        </p:nvSpPr>
        <p:spPr>
          <a:xfrm>
            <a:off x="2124075" y="3284538"/>
            <a:ext cx="5616575" cy="460375"/>
          </a:xfrm>
          <a:prstGeom prst="rect">
            <a:avLst/>
          </a:prstGeom>
          <a:solidFill>
            <a:srgbClr val="FFFF00"/>
          </a:solidFill>
          <a:ln w="9525">
            <a:noFill/>
          </a:ln>
        </p:spPr>
        <p:txBody>
          <a:bodyPr anchor="t" anchorCtr="0">
            <a:spAutoFit/>
          </a:bodyPr>
          <a:lstStyle/>
          <a:p>
            <a:pPr eaLnBrk="0" hangingPunct="0"/>
            <a:r>
              <a:rPr lang="en-US" altLang="zh-CN" dirty="0">
                <a:solidFill>
                  <a:srgbClr val="7030A0"/>
                </a:solidFill>
                <a:ea typeface="宋体" panose="02010600030101010101" pitchFamily="2" charset="-122"/>
                <a:cs typeface="Times New Roman" panose="02020603050405020304" pitchFamily="18" charset="0"/>
              </a:rPr>
              <a:t> MOV         A</a:t>
            </a:r>
            <a:r>
              <a:rPr lang="zh-CN" altLang="en-US" dirty="0">
                <a:solidFill>
                  <a:srgbClr val="7030A0"/>
                </a:solidFill>
                <a:ea typeface="宋体" panose="02010600030101010101" pitchFamily="2" charset="-122"/>
                <a:cs typeface="Times New Roman" panose="02020603050405020304" pitchFamily="18" charset="0"/>
              </a:rPr>
              <a:t>， </a:t>
            </a:r>
            <a:r>
              <a:rPr lang="en-US" altLang="zh-CN" dirty="0">
                <a:solidFill>
                  <a:srgbClr val="7030A0"/>
                </a:solidFill>
                <a:ea typeface="宋体" panose="02010600030101010101" pitchFamily="2" charset="-122"/>
                <a:cs typeface="Times New Roman" panose="02020603050405020304" pitchFamily="18" charset="0"/>
              </a:rPr>
              <a:t>#20H   </a:t>
            </a:r>
            <a:r>
              <a:rPr lang="zh-CN" altLang="en-US" dirty="0">
                <a:solidFill>
                  <a:srgbClr val="7030A0"/>
                </a:solidFill>
                <a:ea typeface="宋体" panose="02010600030101010101" pitchFamily="2" charset="-122"/>
                <a:cs typeface="Times New Roman" panose="02020603050405020304" pitchFamily="18" charset="0"/>
              </a:rPr>
              <a:t>；</a:t>
            </a:r>
            <a:r>
              <a:rPr lang="en-US" altLang="zh-CN" dirty="0">
                <a:solidFill>
                  <a:srgbClr val="7030A0"/>
                </a:solidFill>
                <a:ea typeface="宋体" panose="02010600030101010101" pitchFamily="2" charset="-122"/>
                <a:cs typeface="Times New Roman" panose="02020603050405020304" pitchFamily="18" charset="0"/>
              </a:rPr>
              <a:t>A ←20H     </a:t>
            </a:r>
            <a:endParaRPr lang="zh-CN" altLang="en-US" dirty="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5</a:t>
            </a:fld>
            <a:endParaRPr lang="en-US" altLang="zh-CN" sz="1400" b="0" dirty="0"/>
          </a:p>
        </p:txBody>
      </p:sp>
      <p:sp>
        <p:nvSpPr>
          <p:cNvPr id="166914" name="Text Box 2"/>
          <p:cNvSpPr txBox="1"/>
          <p:nvPr/>
        </p:nvSpPr>
        <p:spPr>
          <a:xfrm>
            <a:off x="179388" y="836613"/>
            <a:ext cx="8610600" cy="3232150"/>
          </a:xfrm>
          <a:prstGeom prst="rect">
            <a:avLst/>
          </a:prstGeom>
          <a:noFill/>
          <a:ln w="9525">
            <a:noFill/>
          </a:ln>
        </p:spPr>
        <p:txBody>
          <a:bodyPr anchor="t" anchorCtr="0">
            <a:spAutoFit/>
          </a:bodyPr>
          <a:lstStyle/>
          <a:p>
            <a:pPr>
              <a:lnSpc>
                <a:spcPct val="130000"/>
              </a:lnSpc>
              <a:spcBef>
                <a:spcPct val="20000"/>
              </a:spcBef>
            </a:pPr>
            <a:r>
              <a:rPr lang="en-US" altLang="zh-CN" dirty="0">
                <a:solidFill>
                  <a:srgbClr val="FF0000"/>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标号</a:t>
            </a:r>
            <a:r>
              <a:rPr lang="en-US" altLang="zh-CN" dirty="0">
                <a:solidFill>
                  <a:srgbClr val="FF0000"/>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操作码</a:t>
            </a:r>
            <a:r>
              <a:rPr lang="en-US" altLang="zh-CN" dirty="0">
                <a:solidFill>
                  <a:srgbClr val="FF0000"/>
                </a:solidFill>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宋体" panose="02010600030101010101" pitchFamily="2" charset="-122"/>
              </a:rPr>
              <a:t>伪操作码  </a:t>
            </a:r>
            <a:r>
              <a:rPr lang="en-US" altLang="zh-CN" dirty="0">
                <a:solidFill>
                  <a:srgbClr val="FF0000"/>
                </a:solidFill>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宋体" panose="02010600030101010101" pitchFamily="2" charset="-122"/>
              </a:rPr>
              <a:t>操作数</a:t>
            </a:r>
            <a:r>
              <a:rPr lang="en-US" altLang="zh-CN" dirty="0">
                <a:solidFill>
                  <a:srgbClr val="FF0000"/>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；注释</a:t>
            </a:r>
            <a:r>
              <a:rPr lang="en-US" altLang="zh-CN" dirty="0">
                <a:solidFill>
                  <a:srgbClr val="FF0000"/>
                </a:solidFill>
                <a:latin typeface="Times New Roman" panose="02020603050405020304" pitchFamily="18" charset="0"/>
                <a:ea typeface="宋体" panose="02010600030101010101" pitchFamily="2" charset="-122"/>
              </a:rPr>
              <a:t>] </a:t>
            </a:r>
          </a:p>
          <a:p>
            <a:pPr>
              <a:lnSpc>
                <a:spcPct val="130000"/>
              </a:lnSpc>
              <a:spcBef>
                <a:spcPct val="20000"/>
              </a:spcBef>
            </a:pPr>
            <a:r>
              <a:rPr lang="en-US" altLang="zh-CN" dirty="0">
                <a:solidFill>
                  <a:srgbClr val="000000"/>
                </a:solidFill>
                <a:latin typeface="Times New Roman" panose="02020603050405020304" pitchFamily="18" charset="0"/>
                <a:ea typeface="宋体" panose="02010600030101010101" pitchFamily="2" charset="-122"/>
              </a:rPr>
              <a:t>        </a:t>
            </a:r>
            <a:r>
              <a:rPr lang="zh-CN" altLang="en-US" dirty="0">
                <a:solidFill>
                  <a:srgbClr val="000099"/>
                </a:solidFill>
                <a:latin typeface="Times New Roman" panose="02020603050405020304" pitchFamily="18" charset="0"/>
                <a:ea typeface="宋体" panose="02010600030101010101" pitchFamily="2" charset="-122"/>
              </a:rPr>
              <a:t>操作码</a:t>
            </a:r>
            <a:r>
              <a:rPr lang="en-US" altLang="zh-CN" dirty="0">
                <a:solidFill>
                  <a:srgbClr val="000099"/>
                </a:solidFill>
                <a:latin typeface="Times New Roman" panose="02020603050405020304" pitchFamily="18" charset="0"/>
                <a:ea typeface="宋体" panose="02010600030101010101" pitchFamily="2" charset="-122"/>
              </a:rPr>
              <a:t>/</a:t>
            </a:r>
            <a:r>
              <a:rPr lang="zh-CN" altLang="en-US" dirty="0">
                <a:solidFill>
                  <a:srgbClr val="000099"/>
                </a:solidFill>
                <a:latin typeface="Times New Roman" panose="02020603050405020304" pitchFamily="18" charset="0"/>
                <a:ea typeface="宋体" panose="02010600030101010101" pitchFamily="2" charset="-122"/>
              </a:rPr>
              <a:t>伪操作码：</a:t>
            </a:r>
            <a:r>
              <a:rPr lang="zh-CN" altLang="en-US" dirty="0">
                <a:solidFill>
                  <a:srgbClr val="000000"/>
                </a:solidFill>
                <a:latin typeface="Times New Roman" panose="02020603050405020304" pitchFamily="18" charset="0"/>
                <a:ea typeface="宋体" panose="02010600030101010101" pitchFamily="2" charset="-122"/>
              </a:rPr>
              <a:t>是用英文缩写的指令助记符。</a:t>
            </a:r>
          </a:p>
          <a:p>
            <a:pPr>
              <a:lnSpc>
                <a:spcPct val="130000"/>
              </a:lnSpc>
              <a:spcBef>
                <a:spcPct val="20000"/>
              </a:spcBef>
            </a:pPr>
            <a:r>
              <a:rPr lang="zh-CN" altLang="en-US" dirty="0">
                <a:solidFill>
                  <a:srgbClr val="FF0000"/>
                </a:solidFill>
                <a:latin typeface="Times New Roman" panose="02020603050405020304" pitchFamily="18" charset="0"/>
                <a:ea typeface="宋体" panose="02010600030101010101" pitchFamily="2" charset="-122"/>
              </a:rPr>
              <a:t>        </a:t>
            </a:r>
            <a:r>
              <a:rPr lang="zh-CN" altLang="en-US" dirty="0">
                <a:solidFill>
                  <a:srgbClr val="000099"/>
                </a:solidFill>
                <a:latin typeface="Times New Roman" panose="02020603050405020304" pitchFamily="18" charset="0"/>
                <a:ea typeface="宋体" panose="02010600030101010101" pitchFamily="2" charset="-122"/>
              </a:rPr>
              <a:t>操作码：</a:t>
            </a:r>
            <a:r>
              <a:rPr lang="zh-CN" altLang="en-US" dirty="0">
                <a:solidFill>
                  <a:srgbClr val="000000"/>
                </a:solidFill>
                <a:latin typeface="Times New Roman" panose="02020603050405020304" pitchFamily="18" charset="0"/>
                <a:ea typeface="宋体" panose="02010600030101010101" pitchFamily="2" charset="-122"/>
              </a:rPr>
              <a:t>规定了指令的操作功能，它所对应的汇编语句称为指令性语句。	</a:t>
            </a:r>
          </a:p>
          <a:p>
            <a:pPr>
              <a:lnSpc>
                <a:spcPct val="130000"/>
              </a:lnSpc>
              <a:spcBef>
                <a:spcPct val="20000"/>
              </a:spcBef>
            </a:pPr>
            <a:r>
              <a:rPr lang="zh-CN" altLang="en-US" dirty="0">
                <a:solidFill>
                  <a:srgbClr val="000000"/>
                </a:solidFill>
                <a:latin typeface="Times New Roman" panose="02020603050405020304" pitchFamily="18" charset="0"/>
                <a:ea typeface="宋体" panose="02010600030101010101" pitchFamily="2" charset="-122"/>
              </a:rPr>
              <a:t>        如：</a:t>
            </a:r>
            <a:r>
              <a:rPr lang="en-US" altLang="zh-CN" dirty="0">
                <a:solidFill>
                  <a:srgbClr val="000000"/>
                </a:solidFill>
                <a:latin typeface="Times New Roman" panose="02020603050405020304" pitchFamily="18" charset="0"/>
                <a:ea typeface="宋体" panose="02010600030101010101" pitchFamily="2" charset="-122"/>
              </a:rPr>
              <a:t>MOV  50H</a:t>
            </a:r>
            <a:r>
              <a:rPr lang="zh-CN" altLang="en-US" dirty="0">
                <a:solidFill>
                  <a:srgbClr val="000000"/>
                </a:solidFill>
                <a:latin typeface="Times New Roman" panose="02020603050405020304" pitchFamily="18" charset="0"/>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#10H</a:t>
            </a:r>
          </a:p>
          <a:p>
            <a:pPr>
              <a:lnSpc>
                <a:spcPct val="130000"/>
              </a:lnSpc>
              <a:spcBef>
                <a:spcPct val="20000"/>
              </a:spcBef>
            </a:pPr>
            <a:r>
              <a:rPr lang="en-US" altLang="zh-CN" dirty="0">
                <a:solidFill>
                  <a:srgbClr val="000000"/>
                </a:solidFill>
                <a:latin typeface="Times New Roman" panose="02020603050405020304" pitchFamily="18" charset="0"/>
                <a:ea typeface="宋体" panose="02010600030101010101" pitchFamily="2" charset="-122"/>
              </a:rPr>
              <a:t>        </a:t>
            </a:r>
            <a:r>
              <a:rPr lang="zh-CN" altLang="en-US" dirty="0">
                <a:solidFill>
                  <a:srgbClr val="000000"/>
                </a:solidFill>
                <a:latin typeface="Times New Roman" panose="02020603050405020304" pitchFamily="18" charset="0"/>
                <a:ea typeface="宋体" panose="02010600030101010101" pitchFamily="2" charset="-122"/>
              </a:rPr>
              <a:t>机器码：</a:t>
            </a:r>
            <a:r>
              <a:rPr lang="en-US" altLang="zh-CN" dirty="0">
                <a:solidFill>
                  <a:srgbClr val="000000"/>
                </a:solidFill>
                <a:latin typeface="Times New Roman" panose="02020603050405020304" pitchFamily="18" charset="0"/>
                <a:ea typeface="宋体" panose="02010600030101010101" pitchFamily="2" charset="-122"/>
              </a:rPr>
              <a:t>75H</a:t>
            </a:r>
            <a:r>
              <a:rPr lang="zh-CN" altLang="en-US" dirty="0">
                <a:solidFill>
                  <a:srgbClr val="000000"/>
                </a:solidFill>
                <a:latin typeface="Times New Roman" panose="02020603050405020304" pitchFamily="18" charset="0"/>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50H</a:t>
            </a:r>
            <a:r>
              <a:rPr lang="zh-CN" altLang="en-US" dirty="0">
                <a:solidFill>
                  <a:srgbClr val="000000"/>
                </a:solidFill>
                <a:latin typeface="Times New Roman" panose="02020603050405020304" pitchFamily="18" charset="0"/>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10H</a:t>
            </a:r>
            <a:r>
              <a:rPr lang="zh-CN" altLang="en-US" dirty="0">
                <a:solidFill>
                  <a:srgbClr val="000000"/>
                </a:solidFill>
                <a:latin typeface="Times New Roman" panose="02020603050405020304" pitchFamily="18" charset="0"/>
                <a:ea typeface="宋体" panose="02010600030101010101" pitchFamily="2" charset="-122"/>
              </a:rPr>
              <a:t>。</a:t>
            </a:r>
          </a:p>
        </p:txBody>
      </p:sp>
      <p:sp>
        <p:nvSpPr>
          <p:cNvPr id="166915" name="Text Box 3"/>
          <p:cNvSpPr txBox="1"/>
          <p:nvPr/>
        </p:nvSpPr>
        <p:spPr>
          <a:xfrm>
            <a:off x="179388" y="4149725"/>
            <a:ext cx="8610600" cy="2136775"/>
          </a:xfrm>
          <a:prstGeom prst="rect">
            <a:avLst/>
          </a:prstGeom>
          <a:noFill/>
          <a:ln w="9525">
            <a:noFill/>
          </a:ln>
        </p:spPr>
        <p:txBody>
          <a:bodyPr anchor="t" anchorCtr="0">
            <a:spAutoFit/>
          </a:bodyPr>
          <a:lstStyle/>
          <a:p>
            <a:pPr>
              <a:lnSpc>
                <a:spcPct val="130000"/>
              </a:lnSpc>
              <a:spcBef>
                <a:spcPct val="20000"/>
              </a:spcBef>
            </a:pPr>
            <a:r>
              <a:rPr lang="en-US" altLang="zh-CN" dirty="0">
                <a:solidFill>
                  <a:srgbClr val="000099"/>
                </a:solidFill>
                <a:latin typeface="Times New Roman" panose="02020603050405020304" pitchFamily="18" charset="0"/>
                <a:ea typeface="宋体" panose="02010600030101010101" pitchFamily="2" charset="-122"/>
              </a:rPr>
              <a:t>        </a:t>
            </a:r>
            <a:r>
              <a:rPr lang="zh-CN" altLang="en-US" dirty="0">
                <a:solidFill>
                  <a:srgbClr val="000099"/>
                </a:solidFill>
                <a:latin typeface="Times New Roman" panose="02020603050405020304" pitchFamily="18" charset="0"/>
                <a:ea typeface="宋体" panose="02010600030101010101" pitchFamily="2" charset="-122"/>
              </a:rPr>
              <a:t>伪操作码：</a:t>
            </a:r>
            <a:r>
              <a:rPr lang="zh-CN" altLang="en-US" dirty="0">
                <a:solidFill>
                  <a:srgbClr val="000000"/>
                </a:solidFill>
                <a:latin typeface="Times New Roman" panose="02020603050405020304" pitchFamily="18" charset="0"/>
                <a:ea typeface="宋体" panose="02010600030101010101" pitchFamily="2" charset="-122"/>
              </a:rPr>
              <a:t>说明汇编程序如何完成汇编工作，它所对应的语句称为指示性语句，在汇编后没有目标代码。</a:t>
            </a:r>
          </a:p>
          <a:p>
            <a:pPr>
              <a:lnSpc>
                <a:spcPct val="130000"/>
              </a:lnSpc>
              <a:spcBef>
                <a:spcPct val="20000"/>
              </a:spcBef>
            </a:pPr>
            <a:r>
              <a:rPr lang="zh-CN" altLang="en-US" dirty="0">
                <a:solidFill>
                  <a:srgbClr val="000000"/>
                </a:solidFill>
                <a:latin typeface="Times New Roman" panose="02020603050405020304" pitchFamily="18" charset="0"/>
                <a:ea typeface="宋体" panose="02010600030101010101" pitchFamily="2" charset="-122"/>
              </a:rPr>
              <a:t>        如：</a:t>
            </a:r>
            <a:r>
              <a:rPr lang="en-US" altLang="zh-CN" dirty="0">
                <a:solidFill>
                  <a:srgbClr val="000000"/>
                </a:solidFill>
                <a:latin typeface="Times New Roman" panose="02020603050405020304" pitchFamily="18" charset="0"/>
                <a:ea typeface="宋体" panose="02010600030101010101" pitchFamily="2" charset="-122"/>
              </a:rPr>
              <a:t>ORG</a:t>
            </a:r>
            <a:r>
              <a:rPr lang="zh-CN" altLang="en-US" dirty="0">
                <a:solidFill>
                  <a:srgbClr val="000000"/>
                </a:solidFill>
                <a:latin typeface="Times New Roman" panose="02020603050405020304" pitchFamily="18" charset="0"/>
                <a:ea typeface="宋体" panose="02010600030101010101" pitchFamily="2" charset="-122"/>
              </a:rPr>
              <a:t>， </a:t>
            </a:r>
            <a:r>
              <a:rPr lang="en-US" altLang="zh-CN" dirty="0">
                <a:solidFill>
                  <a:srgbClr val="000000"/>
                </a:solidFill>
                <a:latin typeface="Times New Roman" panose="02020603050405020304" pitchFamily="18" charset="0"/>
                <a:ea typeface="宋体" panose="02010600030101010101" pitchFamily="2" charset="-122"/>
              </a:rPr>
              <a:t>END</a:t>
            </a:r>
            <a:r>
              <a:rPr lang="zh-CN" altLang="en-US" dirty="0">
                <a:solidFill>
                  <a:srgbClr val="000000"/>
                </a:solidFill>
                <a:latin typeface="Times New Roman" panose="02020603050405020304" pitchFamily="18" charset="0"/>
                <a:ea typeface="宋体" panose="02010600030101010101" pitchFamily="2" charset="-122"/>
              </a:rPr>
              <a:t>， </a:t>
            </a:r>
            <a:r>
              <a:rPr lang="en-US" altLang="zh-CN" dirty="0">
                <a:solidFill>
                  <a:srgbClr val="000000"/>
                </a:solidFill>
                <a:latin typeface="Times New Roman" panose="02020603050405020304" pitchFamily="18" charset="0"/>
                <a:ea typeface="宋体" panose="02010600030101010101" pitchFamily="2" charset="-122"/>
              </a:rPr>
              <a:t>EQU </a:t>
            </a:r>
            <a:r>
              <a:rPr lang="zh-CN" altLang="en-US" dirty="0">
                <a:solidFill>
                  <a:srgbClr val="000000"/>
                </a:solidFill>
                <a:latin typeface="Times New Roman" panose="02020603050405020304" pitchFamily="18" charset="0"/>
                <a:ea typeface="宋体" panose="02010600030101010101" pitchFamily="2" charset="-122"/>
              </a:rPr>
              <a:t>等。 </a:t>
            </a:r>
          </a:p>
          <a:p>
            <a:pPr>
              <a:lnSpc>
                <a:spcPct val="130000"/>
              </a:lnSpc>
              <a:spcBef>
                <a:spcPct val="20000"/>
              </a:spcBef>
            </a:pPr>
            <a:r>
              <a:rPr lang="zh-CN" altLang="en-US" dirty="0">
                <a:solidFill>
                  <a:srgbClr val="000000"/>
                </a:solidFill>
                <a:latin typeface="Times New Roman" panose="02020603050405020304" pitchFamily="18" charset="0"/>
                <a:ea typeface="宋体" panose="02010600030101010101" pitchFamily="2" charset="-122"/>
              </a:rPr>
              <a:t> </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6</a:t>
            </a:fld>
            <a:endParaRPr lang="en-US" altLang="zh-CN" sz="1400" b="0" dirty="0"/>
          </a:p>
        </p:txBody>
      </p:sp>
      <p:sp>
        <p:nvSpPr>
          <p:cNvPr id="167938" name="Rectangle 2"/>
          <p:cNvSpPr/>
          <p:nvPr/>
        </p:nvSpPr>
        <p:spPr>
          <a:xfrm>
            <a:off x="539750" y="765175"/>
            <a:ext cx="8305800" cy="1682750"/>
          </a:xfrm>
          <a:prstGeom prst="rect">
            <a:avLst/>
          </a:prstGeom>
          <a:noFill/>
          <a:ln w="9525">
            <a:noFill/>
          </a:ln>
        </p:spPr>
        <p:txBody>
          <a:bodyPr anchor="t" anchorCtr="0">
            <a:spAutoFit/>
          </a:bodyPr>
          <a:lstStyle/>
          <a:p>
            <a:pPr>
              <a:lnSpc>
                <a:spcPct val="145000"/>
              </a:lnSpc>
            </a:pPr>
            <a:r>
              <a:rPr lang="en-US" altLang="zh-CN" dirty="0">
                <a:solidFill>
                  <a:srgbClr val="FF0000"/>
                </a:solidFill>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宋体" panose="02010600030101010101" pitchFamily="2" charset="-122"/>
              </a:rPr>
              <a:t>标号</a:t>
            </a:r>
            <a:r>
              <a:rPr lang="en-US" altLang="zh-CN" dirty="0">
                <a:solidFill>
                  <a:srgbClr val="FF0000"/>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操作码</a:t>
            </a:r>
            <a:r>
              <a:rPr lang="en-US" altLang="zh-CN" dirty="0">
                <a:solidFill>
                  <a:srgbClr val="FF0000"/>
                </a:solidFill>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宋体" panose="02010600030101010101" pitchFamily="2" charset="-122"/>
              </a:rPr>
              <a:t>伪操作码  </a:t>
            </a:r>
            <a:r>
              <a:rPr lang="en-US" altLang="zh-CN" dirty="0">
                <a:solidFill>
                  <a:srgbClr val="FF0000"/>
                </a:solidFill>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宋体" panose="02010600030101010101" pitchFamily="2" charset="-122"/>
              </a:rPr>
              <a:t>操作数</a:t>
            </a:r>
            <a:r>
              <a:rPr lang="en-US" altLang="zh-CN" dirty="0">
                <a:solidFill>
                  <a:srgbClr val="FF0000"/>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；注释</a:t>
            </a:r>
            <a:r>
              <a:rPr lang="en-US" altLang="zh-CN" dirty="0">
                <a:solidFill>
                  <a:srgbClr val="FF0000"/>
                </a:solidFill>
                <a:latin typeface="Times New Roman" panose="02020603050405020304" pitchFamily="18" charset="0"/>
                <a:ea typeface="宋体" panose="02010600030101010101" pitchFamily="2" charset="-122"/>
              </a:rPr>
              <a:t>] </a:t>
            </a:r>
          </a:p>
          <a:p>
            <a:pPr>
              <a:lnSpc>
                <a:spcPct val="145000"/>
              </a:lnSpc>
            </a:pPr>
            <a:r>
              <a:rPr lang="zh-CN" altLang="en-US" dirty="0">
                <a:solidFill>
                  <a:srgbClr val="000099"/>
                </a:solidFill>
                <a:latin typeface="宋体" panose="02010600030101010101" pitchFamily="2" charset="-122"/>
                <a:ea typeface="宋体" panose="02010600030101010101" pitchFamily="2" charset="-122"/>
              </a:rPr>
              <a:t>操作数：</a:t>
            </a:r>
            <a:r>
              <a:rPr lang="zh-CN" altLang="en-US" dirty="0">
                <a:solidFill>
                  <a:srgbClr val="000000"/>
                </a:solidFill>
                <a:latin typeface="宋体" panose="02010600030101010101" pitchFamily="2" charset="-122"/>
                <a:ea typeface="宋体" panose="02010600030101010101" pitchFamily="2" charset="-122"/>
              </a:rPr>
              <a:t>指参加操作的数据或数据所在的地址。在</a:t>
            </a:r>
            <a:r>
              <a:rPr lang="en-US" altLang="zh-CN" dirty="0">
                <a:solidFill>
                  <a:srgbClr val="000000"/>
                </a:solidFill>
                <a:latin typeface="Times New Roman" panose="02020603050405020304" pitchFamily="18" charset="0"/>
                <a:ea typeface="宋体" panose="02010600030101010101" pitchFamily="2" charset="-122"/>
              </a:rPr>
              <a:t>MCS-51</a:t>
            </a:r>
            <a:r>
              <a:rPr lang="zh-CN" altLang="en-US" dirty="0">
                <a:solidFill>
                  <a:srgbClr val="000000"/>
                </a:solidFill>
                <a:latin typeface="宋体" panose="02010600030101010101" pitchFamily="2" charset="-122"/>
                <a:ea typeface="宋体" panose="02010600030101010101" pitchFamily="2" charset="-122"/>
              </a:rPr>
              <a:t>单片机中，操作数可以是</a:t>
            </a:r>
            <a:r>
              <a:rPr lang="en-US" altLang="zh-CN" dirty="0">
                <a:solidFill>
                  <a:srgbClr val="000000"/>
                </a:solidFill>
                <a:latin typeface="Times New Roman" panose="02020603050405020304" pitchFamily="18" charset="0"/>
                <a:ea typeface="宋体" panose="02010600030101010101" pitchFamily="2" charset="-122"/>
              </a:rPr>
              <a:t>1</a:t>
            </a:r>
            <a:r>
              <a:rPr lang="zh-CN" altLang="en-US" dirty="0">
                <a:solidFill>
                  <a:srgbClr val="000000"/>
                </a:solidFill>
                <a:latin typeface="宋体" panose="02010600030101010101" pitchFamily="2" charset="-122"/>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2</a:t>
            </a:r>
            <a:r>
              <a:rPr lang="zh-CN" altLang="en-US" dirty="0">
                <a:solidFill>
                  <a:srgbClr val="000000"/>
                </a:solidFill>
                <a:latin typeface="宋体" panose="02010600030101010101" pitchFamily="2" charset="-122"/>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3</a:t>
            </a:r>
            <a:r>
              <a:rPr lang="zh-CN" altLang="en-US" dirty="0">
                <a:solidFill>
                  <a:srgbClr val="000000"/>
                </a:solidFill>
                <a:latin typeface="宋体" panose="02010600030101010101" pitchFamily="2" charset="-122"/>
                <a:ea typeface="宋体" panose="02010600030101010101" pitchFamily="2" charset="-122"/>
              </a:rPr>
              <a:t>个，也可以没有。</a:t>
            </a:r>
          </a:p>
        </p:txBody>
      </p:sp>
      <p:sp>
        <p:nvSpPr>
          <p:cNvPr id="167939" name="Rectangle 3"/>
          <p:cNvSpPr/>
          <p:nvPr/>
        </p:nvSpPr>
        <p:spPr>
          <a:xfrm>
            <a:off x="395288" y="2565400"/>
            <a:ext cx="8305800" cy="2212975"/>
          </a:xfrm>
          <a:prstGeom prst="rect">
            <a:avLst/>
          </a:prstGeom>
          <a:noFill/>
          <a:ln w="9525">
            <a:noFill/>
          </a:ln>
        </p:spPr>
        <p:txBody>
          <a:bodyPr anchor="t" anchorCtr="0">
            <a:spAutoFit/>
          </a:bodyPr>
          <a:lstStyle/>
          <a:p>
            <a:pPr>
              <a:lnSpc>
                <a:spcPct val="145000"/>
              </a:lnSpc>
            </a:pPr>
            <a:r>
              <a:rPr lang="zh-CN" altLang="en-US" dirty="0">
                <a:solidFill>
                  <a:srgbClr val="000000"/>
                </a:solidFill>
                <a:latin typeface="Times New Roman" panose="02020603050405020304" pitchFamily="18" charset="0"/>
                <a:ea typeface="宋体" panose="02010600030101010101" pitchFamily="2" charset="-122"/>
              </a:rPr>
              <a:t>例如， </a:t>
            </a:r>
            <a:r>
              <a:rPr lang="en-US" altLang="zh-CN" dirty="0">
                <a:solidFill>
                  <a:srgbClr val="000000"/>
                </a:solidFill>
                <a:latin typeface="Times New Roman" panose="02020603050405020304" pitchFamily="18" charset="0"/>
                <a:ea typeface="宋体" panose="02010600030101010101" pitchFamily="2" charset="-122"/>
              </a:rPr>
              <a:t>MOV   	A</a:t>
            </a:r>
            <a:r>
              <a:rPr lang="zh-CN" altLang="en-US" dirty="0">
                <a:solidFill>
                  <a:srgbClr val="000000"/>
                </a:solidFill>
                <a:latin typeface="Times New Roman" panose="02020603050405020304" pitchFamily="18" charset="0"/>
                <a:ea typeface="宋体" panose="02010600030101010101" pitchFamily="2" charset="-122"/>
              </a:rPr>
              <a:t>，	</a:t>
            </a:r>
            <a:r>
              <a:rPr lang="en-US" altLang="zh-CN" dirty="0">
                <a:solidFill>
                  <a:srgbClr val="000000"/>
                </a:solidFill>
                <a:latin typeface="Times New Roman" panose="02020603050405020304" pitchFamily="18" charset="0"/>
                <a:ea typeface="宋体" panose="02010600030101010101" pitchFamily="2" charset="-122"/>
              </a:rPr>
              <a:t>#10H                  </a:t>
            </a:r>
            <a:r>
              <a:rPr lang="zh-CN" altLang="en-US" dirty="0">
                <a:solidFill>
                  <a:srgbClr val="000000"/>
                </a:solidFill>
                <a:latin typeface="Times New Roman" panose="02020603050405020304" pitchFamily="18" charset="0"/>
                <a:ea typeface="宋体" panose="02010600030101010101" pitchFamily="2" charset="-122"/>
              </a:rPr>
              <a:t>；两个操作数。</a:t>
            </a:r>
            <a:endParaRPr lang="zh-CN" altLang="en-US" dirty="0">
              <a:solidFill>
                <a:srgbClr val="000000"/>
              </a:solidFill>
              <a:latin typeface="宋体" panose="02010600030101010101" pitchFamily="2" charset="-122"/>
              <a:ea typeface="宋体" panose="02010600030101010101" pitchFamily="2" charset="-122"/>
            </a:endParaRPr>
          </a:p>
          <a:p>
            <a:pPr>
              <a:lnSpc>
                <a:spcPct val="145000"/>
              </a:lnSpc>
            </a:pPr>
            <a:r>
              <a:rPr lang="zh-CN" altLang="en-US" dirty="0">
                <a:solidFill>
                  <a:srgbClr val="000000"/>
                </a:solidFill>
                <a:latin typeface="Times New Roman" panose="02020603050405020304" pitchFamily="18" charset="0"/>
                <a:ea typeface="宋体" panose="02010600030101010101" pitchFamily="2" charset="-122"/>
              </a:rPr>
              <a:t>		目的操作数	源操作数</a:t>
            </a:r>
          </a:p>
          <a:p>
            <a:pPr>
              <a:lnSpc>
                <a:spcPct val="145000"/>
              </a:lnSpc>
            </a:pPr>
            <a:r>
              <a:rPr lang="zh-CN" altLang="en-US" dirty="0">
                <a:solidFill>
                  <a:srgbClr val="000000"/>
                </a:solidFill>
                <a:latin typeface="Times New Roman" panose="02020603050405020304" pitchFamily="18" charset="0"/>
                <a:ea typeface="宋体" panose="02010600030101010101" pitchFamily="2" charset="-122"/>
              </a:rPr>
              <a:t>	 </a:t>
            </a:r>
            <a:r>
              <a:rPr lang="en-US" altLang="zh-CN" dirty="0">
                <a:solidFill>
                  <a:srgbClr val="000000"/>
                </a:solidFill>
                <a:latin typeface="Times New Roman" panose="02020603050405020304" pitchFamily="18" charset="0"/>
                <a:ea typeface="宋体" panose="02010600030101010101" pitchFamily="2" charset="-122"/>
              </a:rPr>
              <a:t>DEC		A</a:t>
            </a:r>
          </a:p>
          <a:p>
            <a:pPr>
              <a:lnSpc>
                <a:spcPct val="145000"/>
              </a:lnSpc>
            </a:pPr>
            <a:r>
              <a:rPr lang="en-US" altLang="zh-CN" dirty="0">
                <a:solidFill>
                  <a:srgbClr val="000000"/>
                </a:solidFill>
                <a:latin typeface="Times New Roman" panose="02020603050405020304" pitchFamily="18" charset="0"/>
                <a:ea typeface="宋体" panose="02010600030101010101" pitchFamily="2" charset="-122"/>
              </a:rPr>
              <a:t>	 CJNE		A,	#10H,	DELAY </a:t>
            </a:r>
            <a:r>
              <a:rPr lang="zh-CN" altLang="en-US" dirty="0">
                <a:solidFill>
                  <a:srgbClr val="000000"/>
                </a:solidFill>
                <a:latin typeface="Times New Roman" panose="02020603050405020304" pitchFamily="18" charset="0"/>
                <a:ea typeface="宋体" panose="02010600030101010101" pitchFamily="2" charset="-122"/>
              </a:rPr>
              <a:t>；三个操作数</a:t>
            </a:r>
            <a:endParaRPr lang="zh-CN" altLang="en-US" dirty="0">
              <a:solidFill>
                <a:srgbClr val="000000"/>
              </a:solidFill>
              <a:latin typeface="Times New Roman" panose="02020603050405020304" pitchFamily="18" charset="0"/>
              <a:ea typeface="Times New Roman" panose="02020603050405020304" pitchFamily="18" charset="0"/>
            </a:endParaRPr>
          </a:p>
        </p:txBody>
      </p:sp>
      <p:sp>
        <p:nvSpPr>
          <p:cNvPr id="167940" name="Rectangle 4"/>
          <p:cNvSpPr/>
          <p:nvPr/>
        </p:nvSpPr>
        <p:spPr>
          <a:xfrm>
            <a:off x="395288" y="4941888"/>
            <a:ext cx="8305800" cy="1682750"/>
          </a:xfrm>
          <a:prstGeom prst="rect">
            <a:avLst/>
          </a:prstGeom>
          <a:noFill/>
          <a:ln w="9525">
            <a:noFill/>
          </a:ln>
        </p:spPr>
        <p:txBody>
          <a:bodyPr anchor="t" anchorCtr="0">
            <a:spAutoFit/>
          </a:bodyPr>
          <a:lstStyle/>
          <a:p>
            <a:pPr>
              <a:lnSpc>
                <a:spcPct val="145000"/>
              </a:lnSpc>
            </a:pPr>
            <a:r>
              <a:rPr lang="zh-CN" altLang="en-US" dirty="0">
                <a:solidFill>
                  <a:srgbClr val="000000"/>
                </a:solidFill>
                <a:latin typeface="宋体" panose="02010600030101010101" pitchFamily="2" charset="-122"/>
                <a:ea typeface="宋体" panose="02010600030101010101" pitchFamily="2" charset="-122"/>
              </a:rPr>
              <a:t>规定：操作码</a:t>
            </a:r>
            <a:r>
              <a:rPr lang="en-US" altLang="zh-CN" dirty="0">
                <a:solidFill>
                  <a:srgbClr val="000000"/>
                </a:solidFill>
                <a:latin typeface="Times New Roman" panose="02020603050405020304" pitchFamily="18" charset="0"/>
                <a:ea typeface="宋体" panose="02010600030101010101" pitchFamily="2" charset="-122"/>
              </a:rPr>
              <a:t>/</a:t>
            </a:r>
            <a:r>
              <a:rPr lang="zh-CN" altLang="en-US" dirty="0">
                <a:solidFill>
                  <a:srgbClr val="000000"/>
                </a:solidFill>
                <a:latin typeface="宋体" panose="02010600030101010101" pitchFamily="2" charset="-122"/>
                <a:ea typeface="宋体" panose="02010600030101010101" pitchFamily="2" charset="-122"/>
              </a:rPr>
              <a:t>伪操作码和操作数之间必须用</a:t>
            </a:r>
            <a:r>
              <a:rPr lang="zh-CN" altLang="en-US" dirty="0">
                <a:solidFill>
                  <a:srgbClr val="000099"/>
                </a:solidFill>
                <a:latin typeface="宋体" panose="02010600030101010101" pitchFamily="2" charset="-122"/>
                <a:ea typeface="宋体" panose="02010600030101010101" pitchFamily="2" charset="-122"/>
              </a:rPr>
              <a:t>空格</a:t>
            </a:r>
            <a:r>
              <a:rPr lang="zh-CN" altLang="en-US" dirty="0">
                <a:solidFill>
                  <a:srgbClr val="000000"/>
                </a:solidFill>
                <a:latin typeface="宋体" panose="02010600030101010101" pitchFamily="2" charset="-122"/>
                <a:ea typeface="宋体" panose="02010600030101010101" pitchFamily="2" charset="-122"/>
              </a:rPr>
              <a:t>分开，操作数与操作数之间必须用</a:t>
            </a:r>
            <a:r>
              <a:rPr lang="zh-CN" altLang="en-US" dirty="0">
                <a:solidFill>
                  <a:srgbClr val="000099"/>
                </a:solidFill>
                <a:latin typeface="宋体" panose="02010600030101010101" pitchFamily="2" charset="-122"/>
                <a:ea typeface="宋体" panose="02010600030101010101" pitchFamily="2" charset="-122"/>
              </a:rPr>
              <a:t>逗号</a:t>
            </a:r>
            <a:r>
              <a:rPr lang="zh-CN" altLang="en-US" dirty="0">
                <a:solidFill>
                  <a:srgbClr val="000000"/>
                </a:solidFill>
                <a:latin typeface="宋体" panose="02010600030101010101" pitchFamily="2" charset="-122"/>
                <a:ea typeface="宋体" panose="02010600030101010101" pitchFamily="2" charset="-122"/>
              </a:rPr>
              <a:t>分开。</a:t>
            </a:r>
          </a:p>
          <a:p>
            <a:pPr>
              <a:lnSpc>
                <a:spcPct val="145000"/>
              </a:lnSpc>
            </a:pPr>
            <a:r>
              <a:rPr lang="zh-CN" altLang="en-US" dirty="0">
                <a:solidFill>
                  <a:srgbClr val="000099"/>
                </a:solidFill>
                <a:latin typeface="Times New Roman" panose="02020603050405020304" pitchFamily="18" charset="0"/>
                <a:ea typeface="宋体" panose="02010600030101010101" pitchFamily="2" charset="-122"/>
              </a:rPr>
              <a:t>注释：</a:t>
            </a:r>
            <a:r>
              <a:rPr lang="zh-CN" altLang="en-US" dirty="0">
                <a:solidFill>
                  <a:srgbClr val="000000"/>
                </a:solidFill>
                <a:latin typeface="宋体" panose="02010600030101010101" pitchFamily="2" charset="-122"/>
                <a:ea typeface="宋体" panose="02010600030101010101" pitchFamily="2" charset="-122"/>
              </a:rPr>
              <a:t>增加程序的可读性，以</a:t>
            </a:r>
            <a:r>
              <a:rPr lang="zh-CN" altLang="en-US" dirty="0">
                <a:solidFill>
                  <a:srgbClr val="000000"/>
                </a:solidFill>
                <a:latin typeface="Times New Roman" panose="02020603050405020304" pitchFamily="18" charset="0"/>
                <a:ea typeface="宋体" panose="02010600030101010101" pitchFamily="2" charset="-122"/>
              </a:rPr>
              <a:t>“</a:t>
            </a:r>
            <a:r>
              <a:rPr lang="zh-CN" altLang="en-US" dirty="0">
                <a:solidFill>
                  <a:srgbClr val="000099"/>
                </a:solidFill>
                <a:latin typeface="宋体" panose="02010600030101010101" pitchFamily="2" charset="-122"/>
                <a:ea typeface="宋体" panose="02010600030101010101" pitchFamily="2" charset="-122"/>
              </a:rPr>
              <a:t>；</a:t>
            </a:r>
            <a:r>
              <a:rPr lang="zh-CN" altLang="en-US" dirty="0">
                <a:solidFill>
                  <a:srgbClr val="000000"/>
                </a:solidFill>
                <a:latin typeface="Times New Roman" panose="02020603050405020304" pitchFamily="18" charset="0"/>
                <a:ea typeface="宋体" panose="02010600030101010101" pitchFamily="2" charset="-122"/>
              </a:rPr>
              <a:t>”</a:t>
            </a:r>
            <a:r>
              <a:rPr lang="zh-CN" altLang="en-US" dirty="0">
                <a:solidFill>
                  <a:srgbClr val="000000"/>
                </a:solidFill>
                <a:latin typeface="宋体" panose="02010600030101010101" pitchFamily="2" charset="-122"/>
                <a:ea typeface="宋体" panose="02010600030101010101" pitchFamily="2" charset="-122"/>
              </a:rPr>
              <a:t>号开头。</a:t>
            </a:r>
            <a:r>
              <a:rPr lang="zh-CN" altLang="en-US" dirty="0">
                <a:solidFill>
                  <a:srgbClr val="FF0000"/>
                </a:solidFill>
                <a:latin typeface="Times New Roman" panose="02020603050405020304" pitchFamily="18" charset="0"/>
                <a:ea typeface="宋体" panose="02010600030101010101" pitchFamily="2" charset="-122"/>
              </a:rPr>
              <a:t> </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7</a:t>
            </a:fld>
            <a:endParaRPr lang="en-US" altLang="zh-CN" sz="1400" b="0" dirty="0"/>
          </a:p>
        </p:txBody>
      </p:sp>
      <p:sp>
        <p:nvSpPr>
          <p:cNvPr id="168964" name="Text Box 4"/>
          <p:cNvSpPr txBox="1"/>
          <p:nvPr/>
        </p:nvSpPr>
        <p:spPr>
          <a:xfrm>
            <a:off x="0" y="981075"/>
            <a:ext cx="4824413" cy="460375"/>
          </a:xfrm>
          <a:prstGeom prst="rect">
            <a:avLst/>
          </a:prstGeom>
          <a:noFill/>
          <a:ln w="9525">
            <a:noFill/>
          </a:ln>
        </p:spPr>
        <p:txBody>
          <a:bodyPr anchor="t" anchorCtr="0">
            <a:spAutoFit/>
          </a:bodyPr>
          <a:lstStyle/>
          <a:p>
            <a:pPr algn="just">
              <a:spcBef>
                <a:spcPct val="50000"/>
              </a:spcBef>
            </a:pPr>
            <a:r>
              <a:rPr lang="en-US" altLang="zh-CN" dirty="0">
                <a:latin typeface="Times New Roman" panose="02020603050405020304" pitchFamily="18" charset="0"/>
                <a:ea typeface="宋体" panose="02010600030101010101" pitchFamily="2" charset="-122"/>
              </a:rPr>
              <a:t>3.1.3  </a:t>
            </a:r>
            <a:r>
              <a:rPr lang="zh-CN" altLang="en-US" dirty="0">
                <a:latin typeface="Times New Roman" panose="02020603050405020304" pitchFamily="18" charset="0"/>
                <a:ea typeface="宋体" panose="02010600030101010101" pitchFamily="2" charset="-122"/>
              </a:rPr>
              <a:t>操作数的类型</a:t>
            </a:r>
          </a:p>
        </p:txBody>
      </p:sp>
      <p:sp>
        <p:nvSpPr>
          <p:cNvPr id="168966" name="Rectangle 6"/>
          <p:cNvSpPr/>
          <p:nvPr/>
        </p:nvSpPr>
        <p:spPr>
          <a:xfrm>
            <a:off x="2555875" y="2349500"/>
            <a:ext cx="2141538" cy="457200"/>
          </a:xfrm>
          <a:prstGeom prst="rect">
            <a:avLst/>
          </a:prstGeom>
          <a:noFill/>
          <a:ln w="9525">
            <a:noFill/>
          </a:ln>
        </p:spPr>
        <p:txBody>
          <a:bodyPr wrap="none" anchor="ctr" anchorCtr="0">
            <a:spAutoFit/>
          </a:bodyPr>
          <a:lstStyle/>
          <a:p>
            <a:r>
              <a:rPr lang="en-US" altLang="zh-CN" dirty="0">
                <a:latin typeface="Times New Roman" panose="02020603050405020304" pitchFamily="18" charset="0"/>
                <a:ea typeface="宋体" panose="02010600030101010101" pitchFamily="2" charset="-122"/>
              </a:rPr>
              <a:t>MOV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t>
            </a:r>
            <a:r>
              <a:rPr lang="en-US" altLang="zh-CN" dirty="0">
                <a:solidFill>
                  <a:srgbClr val="FF3300"/>
                </a:solidFill>
                <a:latin typeface="Times New Roman" panose="02020603050405020304" pitchFamily="18" charset="0"/>
                <a:ea typeface="宋体" panose="02010600030101010101" pitchFamily="2" charset="-122"/>
              </a:rPr>
              <a:t>30 </a:t>
            </a:r>
          </a:p>
        </p:txBody>
      </p:sp>
      <p:sp>
        <p:nvSpPr>
          <p:cNvPr id="168968" name="Rectangle 8"/>
          <p:cNvSpPr/>
          <p:nvPr/>
        </p:nvSpPr>
        <p:spPr>
          <a:xfrm>
            <a:off x="2484438" y="3640455"/>
            <a:ext cx="2446020" cy="1050290"/>
          </a:xfrm>
          <a:prstGeom prst="rect">
            <a:avLst/>
          </a:prstGeom>
          <a:noFill/>
          <a:ln w="9525">
            <a:noFill/>
          </a:ln>
        </p:spPr>
        <p:txBody>
          <a:bodyPr wrap="none" anchor="ctr" anchorCtr="0">
            <a:spAutoFit/>
          </a:bodyPr>
          <a:lstStyle/>
          <a:p>
            <a:pPr>
              <a:lnSpc>
                <a:spcPct val="130000"/>
              </a:lnSpc>
            </a:pPr>
            <a:r>
              <a:rPr lang="en-US" altLang="zh-CN" dirty="0">
                <a:latin typeface="Times New Roman" panose="02020603050405020304" pitchFamily="18" charset="0"/>
                <a:ea typeface="宋体" panose="02010600030101010101" pitchFamily="2" charset="-122"/>
              </a:rPr>
              <a:t>MOV  B</a:t>
            </a:r>
            <a:r>
              <a:rPr lang="zh-CN" altLang="en-US" dirty="0">
                <a:latin typeface="Times New Roman" panose="02020603050405020304" pitchFamily="18" charset="0"/>
                <a:ea typeface="宋体" panose="02010600030101010101" pitchFamily="2" charset="-122"/>
              </a:rPr>
              <a:t>，</a:t>
            </a:r>
            <a:r>
              <a:rPr lang="en-US" altLang="zh-CN" dirty="0">
                <a:solidFill>
                  <a:srgbClr val="FF3300"/>
                </a:solidFill>
                <a:latin typeface="Times New Roman" panose="02020603050405020304" pitchFamily="18" charset="0"/>
                <a:ea typeface="宋体" panose="02010600030101010101" pitchFamily="2" charset="-122"/>
              </a:rPr>
              <a:t>A  </a:t>
            </a:r>
          </a:p>
          <a:p>
            <a:pPr>
              <a:lnSpc>
                <a:spcPct val="130000"/>
              </a:lnSpc>
            </a:pPr>
            <a:r>
              <a:rPr lang="en-US" altLang="zh-CN" dirty="0">
                <a:latin typeface="Times New Roman" panose="02020603050405020304" pitchFamily="18" charset="0"/>
                <a:ea typeface="宋体" panose="02010600030101010101" pitchFamily="2" charset="-122"/>
              </a:rPr>
              <a:t>MOV </a:t>
            </a:r>
            <a:r>
              <a:rPr lang="en-US" altLang="zh-CN" dirty="0">
                <a:solidFill>
                  <a:srgbClr val="FF3300"/>
                </a:solidFill>
                <a:latin typeface="Times New Roman" panose="02020603050405020304" pitchFamily="18" charset="0"/>
                <a:ea typeface="宋体" panose="02010600030101010101" pitchFamily="2" charset="-122"/>
              </a:rPr>
              <a:t> R0</a:t>
            </a:r>
            <a:r>
              <a:rPr lang="en-US" altLang="zh-CN" dirty="0">
                <a:latin typeface="Times New Roman" panose="02020603050405020304" pitchFamily="18" charset="0"/>
                <a:ea typeface="宋体" panose="02010600030101010101" pitchFamily="2" charset="-122"/>
              </a:rPr>
              <a:t>,  #40H </a:t>
            </a:r>
          </a:p>
        </p:txBody>
      </p:sp>
      <p:grpSp>
        <p:nvGrpSpPr>
          <p:cNvPr id="2" name="Group 12"/>
          <p:cNvGrpSpPr/>
          <p:nvPr/>
        </p:nvGrpSpPr>
        <p:grpSpPr>
          <a:xfrm>
            <a:off x="468313" y="1773238"/>
            <a:ext cx="2693987" cy="3552825"/>
            <a:chOff x="295" y="1117"/>
            <a:chExt cx="1697" cy="2238"/>
          </a:xfrm>
        </p:grpSpPr>
        <p:sp>
          <p:nvSpPr>
            <p:cNvPr id="11270" name="Rectangle 5"/>
            <p:cNvSpPr/>
            <p:nvPr/>
          </p:nvSpPr>
          <p:spPr>
            <a:xfrm>
              <a:off x="385" y="1117"/>
              <a:ext cx="1073" cy="288"/>
            </a:xfrm>
            <a:prstGeom prst="rect">
              <a:avLst/>
            </a:prstGeom>
            <a:noFill/>
            <a:ln w="9525">
              <a:noFill/>
            </a:ln>
          </p:spPr>
          <p:txBody>
            <a:bodyPr wrap="none" anchor="ctr" anchorCtr="0">
              <a:spAutoFit/>
            </a:bodyPr>
            <a:lstStyle/>
            <a:p>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立即数</a:t>
              </a:r>
            </a:p>
          </p:txBody>
        </p:sp>
        <p:sp>
          <p:nvSpPr>
            <p:cNvPr id="11271" name="Rectangle 7"/>
            <p:cNvSpPr/>
            <p:nvPr/>
          </p:nvSpPr>
          <p:spPr>
            <a:xfrm>
              <a:off x="340" y="1933"/>
              <a:ext cx="1652" cy="288"/>
            </a:xfrm>
            <a:prstGeom prst="rect">
              <a:avLst/>
            </a:prstGeom>
            <a:noFill/>
            <a:ln w="9525">
              <a:noFill/>
            </a:ln>
          </p:spPr>
          <p:txBody>
            <a:bodyPr wrap="none" anchor="ctr" anchorCtr="0">
              <a:spAutoFit/>
            </a:bodyPr>
            <a:lstStyle/>
            <a:p>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寄存器操作数</a:t>
              </a:r>
            </a:p>
          </p:txBody>
        </p:sp>
        <p:sp>
          <p:nvSpPr>
            <p:cNvPr id="11272" name="Rectangle 9"/>
            <p:cNvSpPr/>
            <p:nvPr/>
          </p:nvSpPr>
          <p:spPr>
            <a:xfrm>
              <a:off x="295" y="3067"/>
              <a:ext cx="1652" cy="288"/>
            </a:xfrm>
            <a:prstGeom prst="rect">
              <a:avLst/>
            </a:prstGeom>
            <a:noFill/>
            <a:ln w="9525">
              <a:noFill/>
            </a:ln>
          </p:spPr>
          <p:txBody>
            <a:bodyPr wrap="none" anchor="ctr" anchorCtr="0">
              <a:spAutoFit/>
            </a:bodyPr>
            <a:lstStyle/>
            <a:p>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存储器操作数</a:t>
              </a:r>
            </a:p>
          </p:txBody>
        </p:sp>
      </p:grpSp>
      <p:sp>
        <p:nvSpPr>
          <p:cNvPr id="168970" name="Rectangle 10"/>
          <p:cNvSpPr/>
          <p:nvPr/>
        </p:nvSpPr>
        <p:spPr>
          <a:xfrm>
            <a:off x="2555875" y="5627688"/>
            <a:ext cx="2301875" cy="457200"/>
          </a:xfrm>
          <a:prstGeom prst="rect">
            <a:avLst/>
          </a:prstGeom>
          <a:noFill/>
          <a:ln w="9525">
            <a:noFill/>
          </a:ln>
        </p:spPr>
        <p:txBody>
          <a:bodyPr wrap="none" anchor="ctr" anchorCtr="0">
            <a:spAutoFit/>
          </a:bodyPr>
          <a:lstStyle/>
          <a:p>
            <a:r>
              <a:rPr lang="en-US" altLang="zh-CN" dirty="0">
                <a:latin typeface="Times New Roman" panose="02020603050405020304" pitchFamily="18" charset="0"/>
                <a:ea typeface="宋体" panose="02010600030101010101" pitchFamily="2" charset="-122"/>
              </a:rPr>
              <a:t>MOV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20H</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8</a:t>
            </a:fld>
            <a:endParaRPr lang="en-US" altLang="zh-CN" sz="1400" b="0" dirty="0"/>
          </a:p>
        </p:txBody>
      </p:sp>
      <p:sp>
        <p:nvSpPr>
          <p:cNvPr id="147458" name="Text Box 2"/>
          <p:cNvSpPr txBox="1"/>
          <p:nvPr/>
        </p:nvSpPr>
        <p:spPr>
          <a:xfrm>
            <a:off x="107950" y="836613"/>
            <a:ext cx="8839200" cy="1143000"/>
          </a:xfrm>
          <a:prstGeom prst="rect">
            <a:avLst/>
          </a:prstGeom>
          <a:noFill/>
          <a:ln w="9525">
            <a:noFill/>
          </a:ln>
        </p:spPr>
        <p:txBody>
          <a:bodyPr anchor="t" anchorCtr="0">
            <a:spAutoFit/>
          </a:bodyPr>
          <a:lstStyle/>
          <a:p>
            <a:pPr>
              <a:lnSpc>
                <a:spcPct val="130000"/>
              </a:lnSpc>
              <a:spcBef>
                <a:spcPct val="50000"/>
              </a:spcBef>
            </a:pPr>
            <a:r>
              <a:rPr lang="en-US" altLang="zh-CN" dirty="0">
                <a:solidFill>
                  <a:srgbClr val="FF0000"/>
                </a:solidFill>
                <a:latin typeface="Times New Roman" panose="02020603050405020304" pitchFamily="18" charset="0"/>
                <a:ea typeface="宋体" panose="02010600030101010101" pitchFamily="2" charset="-122"/>
              </a:rPr>
              <a:t>3.1.4  MCS-51</a:t>
            </a:r>
            <a:r>
              <a:rPr lang="zh-CN" altLang="en-US" dirty="0">
                <a:solidFill>
                  <a:srgbClr val="FF0000"/>
                </a:solidFill>
                <a:latin typeface="Times New Roman" panose="02020603050405020304" pitchFamily="18" charset="0"/>
                <a:ea typeface="宋体" panose="02010600030101010101" pitchFamily="2" charset="-122"/>
              </a:rPr>
              <a:t>系列单片机指令格式及分类</a:t>
            </a:r>
          </a:p>
          <a:p>
            <a:pPr>
              <a:lnSpc>
                <a:spcPct val="130000"/>
              </a:lnSpc>
              <a:spcBef>
                <a:spcPct val="25000"/>
              </a:spcBef>
            </a:pPr>
            <a:endParaRPr lang="en-US" altLang="zh-CN" dirty="0">
              <a:latin typeface="Times New Roman" panose="02020603050405020304" pitchFamily="18" charset="0"/>
              <a:ea typeface="宋体" panose="02010600030101010101" pitchFamily="2" charset="-122"/>
            </a:endParaRPr>
          </a:p>
        </p:txBody>
      </p:sp>
      <p:graphicFrame>
        <p:nvGraphicFramePr>
          <p:cNvPr id="147485" name="Group 29"/>
          <p:cNvGraphicFramePr>
            <a:graphicFrameLocks noGrp="1"/>
          </p:cNvGraphicFramePr>
          <p:nvPr/>
        </p:nvGraphicFramePr>
        <p:xfrm>
          <a:off x="2051050" y="3644900"/>
          <a:ext cx="3657600" cy="1036638"/>
        </p:xfrm>
        <a:graphic>
          <a:graphicData uri="http://schemas.openxmlformats.org/drawingml/2006/table">
            <a:tbl>
              <a:tblPr/>
              <a:tblGrid>
                <a:gridCol w="3657600"/>
              </a:tblGrid>
              <a:tr h="518319">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7   6   5   4   3   2   1    0</a:t>
                      </a:r>
                    </a:p>
                  </a:txBody>
                  <a:tcPr marT="45734" marB="4573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319">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操作码</a:t>
                      </a:r>
                    </a:p>
                  </a:txBody>
                  <a:tcPr marT="45734" marB="4573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r>
            </a:tbl>
          </a:graphicData>
        </a:graphic>
      </p:graphicFrame>
      <p:sp>
        <p:nvSpPr>
          <p:cNvPr id="147486" name="Rectangle 30"/>
          <p:cNvSpPr/>
          <p:nvPr/>
        </p:nvSpPr>
        <p:spPr>
          <a:xfrm>
            <a:off x="1403350" y="5084763"/>
            <a:ext cx="5184775" cy="1041400"/>
          </a:xfrm>
          <a:prstGeom prst="rect">
            <a:avLst/>
          </a:prstGeom>
          <a:solidFill>
            <a:schemeClr val="hlink"/>
          </a:solidFill>
          <a:ln w="9525">
            <a:noFill/>
          </a:ln>
        </p:spPr>
        <p:txBody>
          <a:bodyPr anchor="t" anchorCtr="0">
            <a:spAutoFit/>
          </a:bodyPr>
          <a:lstStyle/>
          <a:p>
            <a:pPr>
              <a:lnSpc>
                <a:spcPct val="130000"/>
              </a:lnSpc>
            </a:pPr>
            <a:r>
              <a:rPr lang="zh-CN" altLang="en-US" dirty="0">
                <a:solidFill>
                  <a:srgbClr val="000000"/>
                </a:solidFill>
                <a:latin typeface="Times New Roman" panose="02020603050405020304" pitchFamily="18" charset="0"/>
                <a:ea typeface="宋体" panose="02010600030101010101" pitchFamily="2" charset="-122"/>
              </a:rPr>
              <a:t>如： </a:t>
            </a:r>
            <a:r>
              <a:rPr lang="en-US" altLang="zh-CN" dirty="0">
                <a:solidFill>
                  <a:srgbClr val="000000"/>
                </a:solidFill>
                <a:latin typeface="Times New Roman" panose="02020603050405020304" pitchFamily="18" charset="0"/>
                <a:ea typeface="宋体" panose="02010600030101010101" pitchFamily="2" charset="-122"/>
              </a:rPr>
              <a:t>DEC  A </a:t>
            </a:r>
          </a:p>
          <a:p>
            <a:pPr>
              <a:lnSpc>
                <a:spcPct val="130000"/>
              </a:lnSpc>
            </a:pPr>
            <a:r>
              <a:rPr lang="zh-CN" altLang="en-US" dirty="0">
                <a:solidFill>
                  <a:srgbClr val="000000"/>
                </a:solidFill>
                <a:latin typeface="Times New Roman" panose="02020603050405020304" pitchFamily="18" charset="0"/>
                <a:ea typeface="宋体" panose="02010600030101010101" pitchFamily="2" charset="-122"/>
              </a:rPr>
              <a:t>机器码：</a:t>
            </a:r>
            <a:r>
              <a:rPr lang="en-US" altLang="zh-CN" dirty="0">
                <a:solidFill>
                  <a:srgbClr val="000000"/>
                </a:solidFill>
                <a:latin typeface="Times New Roman" panose="02020603050405020304" pitchFamily="18" charset="0"/>
                <a:ea typeface="宋体" panose="02010600030101010101" pitchFamily="2" charset="-122"/>
              </a:rPr>
              <a:t>0001,0100B=14H</a:t>
            </a:r>
            <a:r>
              <a:rPr lang="zh-CN" altLang="en-US" dirty="0">
                <a:solidFill>
                  <a:srgbClr val="000000"/>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p>
        </p:txBody>
      </p:sp>
      <p:sp>
        <p:nvSpPr>
          <p:cNvPr id="11278" name="Rectangle 1028"/>
          <p:cNvSpPr/>
          <p:nvPr/>
        </p:nvSpPr>
        <p:spPr>
          <a:xfrm>
            <a:off x="250825" y="1989138"/>
            <a:ext cx="7777163" cy="1114425"/>
          </a:xfrm>
          <a:prstGeom prst="rect">
            <a:avLst/>
          </a:prstGeom>
          <a:noFill/>
          <a:ln w="9525">
            <a:noFill/>
          </a:ln>
        </p:spPr>
        <p:txBody>
          <a:bodyPr anchor="t" anchorCtr="0">
            <a:spAutoFit/>
          </a:bodyPr>
          <a:lstStyle/>
          <a:p>
            <a:pPr>
              <a:lnSpc>
                <a:spcPct val="140000"/>
              </a:lnSpc>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）单字节指令：两种编码格式</a:t>
            </a:r>
          </a:p>
          <a:p>
            <a:pPr>
              <a:lnSpc>
                <a:spcPct val="140000"/>
              </a:lnSpc>
            </a:pPr>
            <a:r>
              <a:rPr lang="zh-CN" altLang="en-US" dirty="0">
                <a:solidFill>
                  <a:srgbClr val="000000"/>
                </a:solidFill>
                <a:latin typeface="Times New Roman" panose="02020603050405020304" pitchFamily="18" charset="0"/>
                <a:ea typeface="宋体" panose="02010600030101010101" pitchFamily="2" charset="-122"/>
              </a:rPr>
              <a:t>  ① </a:t>
            </a:r>
            <a:r>
              <a:rPr lang="en-US" altLang="zh-CN" dirty="0">
                <a:solidFill>
                  <a:srgbClr val="000000"/>
                </a:solidFill>
                <a:latin typeface="Times New Roman" panose="02020603050405020304" pitchFamily="18" charset="0"/>
                <a:ea typeface="宋体" panose="02010600030101010101" pitchFamily="2" charset="-122"/>
              </a:rPr>
              <a:t>8</a:t>
            </a:r>
            <a:r>
              <a:rPr lang="zh-CN" altLang="en-US" dirty="0">
                <a:solidFill>
                  <a:srgbClr val="000000"/>
                </a:solidFill>
                <a:latin typeface="Times New Roman" panose="02020603050405020304" pitchFamily="18" charset="0"/>
                <a:ea typeface="宋体" panose="02010600030101010101" pitchFamily="2" charset="-122"/>
              </a:rPr>
              <a:t>位编码全部是操作码，操作数隐含在其中。</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9</a:t>
            </a:fld>
            <a:endParaRPr lang="en-US" altLang="zh-CN" sz="1400" b="0" dirty="0"/>
          </a:p>
        </p:txBody>
      </p:sp>
      <p:sp>
        <p:nvSpPr>
          <p:cNvPr id="14338" name="Text Box 2"/>
          <p:cNvSpPr txBox="1"/>
          <p:nvPr/>
        </p:nvSpPr>
        <p:spPr>
          <a:xfrm>
            <a:off x="228600" y="914400"/>
            <a:ext cx="8686800" cy="4340225"/>
          </a:xfrm>
          <a:prstGeom prst="rect">
            <a:avLst/>
          </a:prstGeom>
          <a:noFill/>
          <a:ln w="9525">
            <a:noFill/>
          </a:ln>
        </p:spPr>
        <p:txBody>
          <a:bodyPr anchor="t" anchorCtr="0">
            <a:spAutoFit/>
          </a:bodyPr>
          <a:lstStyle/>
          <a:p>
            <a:pPr>
              <a:lnSpc>
                <a:spcPct val="125000"/>
              </a:lnSpc>
              <a:spcBef>
                <a:spcPct val="20000"/>
              </a:spcBef>
            </a:pPr>
            <a:r>
              <a:rPr lang="en-US" altLang="zh-CN" dirty="0">
                <a:solidFill>
                  <a:srgbClr val="000000"/>
                </a:solidFill>
                <a:latin typeface="宋体" panose="02010600030101010101" pitchFamily="2" charset="-122"/>
                <a:ea typeface="宋体" panose="02010600030101010101" pitchFamily="2" charset="-122"/>
              </a:rPr>
              <a:t>②</a:t>
            </a:r>
            <a:r>
              <a:rPr lang="en-US" altLang="zh-CN" dirty="0">
                <a:solidFill>
                  <a:srgbClr val="000000"/>
                </a:solidFill>
                <a:latin typeface="Times New Roman" panose="02020603050405020304" pitchFamily="18" charset="0"/>
                <a:ea typeface="宋体" panose="02010600030101010101" pitchFamily="2" charset="-122"/>
              </a:rPr>
              <a:t> 8</a:t>
            </a:r>
            <a:r>
              <a:rPr lang="zh-CN" altLang="en-US" dirty="0">
                <a:solidFill>
                  <a:srgbClr val="000000"/>
                </a:solidFill>
                <a:latin typeface="宋体" panose="02010600030101010101" pitchFamily="2" charset="-122"/>
                <a:ea typeface="宋体" panose="02010600030101010101" pitchFamily="2" charset="-122"/>
              </a:rPr>
              <a:t>位编码中含有操作码和操作数，该操作数通常是通用寄存器</a:t>
            </a:r>
            <a:r>
              <a:rPr lang="en-US" altLang="zh-CN" dirty="0">
                <a:solidFill>
                  <a:srgbClr val="000000"/>
                </a:solidFill>
                <a:latin typeface="Times New Roman" panose="02020603050405020304" pitchFamily="18" charset="0"/>
                <a:ea typeface="宋体" panose="02010600030101010101" pitchFamily="2" charset="-122"/>
              </a:rPr>
              <a:t>R0~R7</a:t>
            </a:r>
            <a:r>
              <a:rPr lang="zh-CN" altLang="en-US" dirty="0">
                <a:solidFill>
                  <a:srgbClr val="000000"/>
                </a:solidFill>
                <a:latin typeface="宋体" panose="02010600030101010101" pitchFamily="2" charset="-122"/>
                <a:ea typeface="宋体" panose="02010600030101010101" pitchFamily="2" charset="-122"/>
              </a:rPr>
              <a:t>的编码。</a:t>
            </a:r>
            <a:r>
              <a:rPr lang="zh-CN" altLang="en-US" dirty="0">
                <a:latin typeface="Times New Roman" panose="02020603050405020304" pitchFamily="18" charset="0"/>
                <a:ea typeface="宋体" panose="02010600030101010101" pitchFamily="2" charset="-122"/>
              </a:rPr>
              <a:t> </a:t>
            </a:r>
          </a:p>
          <a:p>
            <a:pPr>
              <a:spcBef>
                <a:spcPct val="50000"/>
              </a:spcBef>
            </a:pPr>
            <a:endParaRPr lang="zh-CN" altLang="en-US" dirty="0">
              <a:latin typeface="Times New Roman" panose="02020603050405020304" pitchFamily="18" charset="0"/>
              <a:ea typeface="宋体" panose="02010600030101010101" pitchFamily="2" charset="-122"/>
            </a:endParaRPr>
          </a:p>
          <a:p>
            <a:pPr>
              <a:spcBef>
                <a:spcPct val="50000"/>
              </a:spcBef>
            </a:pPr>
            <a:endParaRPr lang="zh-CN" altLang="en-US" dirty="0">
              <a:latin typeface="Times New Roman" panose="02020603050405020304" pitchFamily="18" charset="0"/>
              <a:ea typeface="宋体" panose="02010600030101010101" pitchFamily="2" charset="-122"/>
            </a:endParaRPr>
          </a:p>
          <a:p>
            <a:pPr>
              <a:spcBef>
                <a:spcPct val="50000"/>
              </a:spcBef>
            </a:pPr>
            <a:endParaRPr lang="zh-CN" altLang="en-US" dirty="0">
              <a:latin typeface="Times New Roman" panose="02020603050405020304" pitchFamily="18" charset="0"/>
              <a:ea typeface="宋体" panose="02010600030101010101" pitchFamily="2" charset="-122"/>
            </a:endParaRPr>
          </a:p>
          <a:p>
            <a:pPr>
              <a:spcBef>
                <a:spcPct val="50000"/>
              </a:spcBef>
            </a:pPr>
            <a:r>
              <a:rPr lang="en-US" altLang="zh-CN" dirty="0">
                <a:solidFill>
                  <a:srgbClr val="000000"/>
                </a:solidFill>
                <a:latin typeface="Times New Roman" panose="02020603050405020304" pitchFamily="18" charset="0"/>
                <a:ea typeface="宋体" panose="02010600030101010101" pitchFamily="2" charset="-122"/>
              </a:rPr>
              <a:t>rrr=000~111</a:t>
            </a:r>
            <a:r>
              <a:rPr lang="zh-CN" altLang="en-US" dirty="0">
                <a:solidFill>
                  <a:srgbClr val="000000"/>
                </a:solidFill>
                <a:latin typeface="宋体" panose="02010600030101010101" pitchFamily="2" charset="-122"/>
                <a:ea typeface="宋体" panose="02010600030101010101" pitchFamily="2" charset="-122"/>
              </a:rPr>
              <a:t>，分别表示</a:t>
            </a:r>
            <a:r>
              <a:rPr lang="en-US" altLang="zh-CN" dirty="0">
                <a:solidFill>
                  <a:srgbClr val="000000"/>
                </a:solidFill>
                <a:latin typeface="Times New Roman" panose="02020603050405020304" pitchFamily="18" charset="0"/>
                <a:ea typeface="宋体" panose="02010600030101010101" pitchFamily="2" charset="-122"/>
              </a:rPr>
              <a:t>R0~R7</a:t>
            </a:r>
            <a:r>
              <a:rPr lang="zh-CN" altLang="en-US" dirty="0">
                <a:solidFill>
                  <a:srgbClr val="000000"/>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p>
          <a:p>
            <a:pPr>
              <a:spcBef>
                <a:spcPct val="50000"/>
              </a:spcBef>
            </a:pPr>
            <a:r>
              <a:rPr lang="zh-CN" altLang="en-US" dirty="0">
                <a:solidFill>
                  <a:srgbClr val="000000"/>
                </a:solidFill>
                <a:latin typeface="宋体" panose="02010600030101010101" pitchFamily="2" charset="-122"/>
                <a:ea typeface="宋体" panose="02010600030101010101" pitchFamily="2" charset="-122"/>
              </a:rPr>
              <a:t>如：</a:t>
            </a:r>
            <a:r>
              <a:rPr lang="en-US" altLang="zh-CN" dirty="0">
                <a:solidFill>
                  <a:srgbClr val="000000"/>
                </a:solidFill>
                <a:latin typeface="Times New Roman" panose="02020603050405020304" pitchFamily="18" charset="0"/>
                <a:ea typeface="宋体" panose="02010600030101010101" pitchFamily="2" charset="-122"/>
              </a:rPr>
              <a:t>ADD  A</a:t>
            </a:r>
            <a:r>
              <a:rPr lang="zh-CN" altLang="en-US" dirty="0">
                <a:solidFill>
                  <a:srgbClr val="000000"/>
                </a:solidFill>
                <a:latin typeface="宋体" panose="02010600030101010101" pitchFamily="2" charset="-122"/>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R7</a:t>
            </a:r>
          </a:p>
          <a:p>
            <a:pPr>
              <a:spcBef>
                <a:spcPct val="50000"/>
              </a:spcBef>
            </a:pPr>
            <a:r>
              <a:rPr lang="zh-CN" altLang="en-US" dirty="0">
                <a:solidFill>
                  <a:srgbClr val="000000"/>
                </a:solidFill>
                <a:latin typeface="Times New Roman" panose="02020603050405020304" pitchFamily="18" charset="0"/>
                <a:ea typeface="宋体" panose="02010600030101010101" pitchFamily="2" charset="-122"/>
              </a:rPr>
              <a:t>机器码为：</a:t>
            </a:r>
            <a:r>
              <a:rPr lang="en-US" altLang="zh-CN" dirty="0">
                <a:solidFill>
                  <a:srgbClr val="000000"/>
                </a:solidFill>
                <a:latin typeface="Times New Roman" panose="02020603050405020304" pitchFamily="18" charset="0"/>
                <a:ea typeface="宋体" panose="02010600030101010101" pitchFamily="2" charset="-122"/>
              </a:rPr>
              <a:t>0010,1</a:t>
            </a:r>
            <a:r>
              <a:rPr lang="en-US" altLang="zh-CN" dirty="0">
                <a:solidFill>
                  <a:srgbClr val="FF0000"/>
                </a:solidFill>
                <a:latin typeface="Times New Roman" panose="02020603050405020304" pitchFamily="18" charset="0"/>
                <a:ea typeface="宋体" panose="02010600030101010101" pitchFamily="2" charset="-122"/>
              </a:rPr>
              <a:t>111</a:t>
            </a:r>
            <a:r>
              <a:rPr lang="en-US" altLang="zh-CN" dirty="0">
                <a:solidFill>
                  <a:srgbClr val="000000"/>
                </a:solidFill>
                <a:latin typeface="Times New Roman" panose="02020603050405020304" pitchFamily="18" charset="0"/>
                <a:ea typeface="宋体" panose="02010600030101010101" pitchFamily="2" charset="-122"/>
              </a:rPr>
              <a:t>B=2FH</a:t>
            </a:r>
            <a:r>
              <a:rPr lang="zh-CN" altLang="en-US" dirty="0">
                <a:solidFill>
                  <a:srgbClr val="000000"/>
                </a:solidFill>
                <a:latin typeface="宋体" panose="02010600030101010101" pitchFamily="2" charset="-122"/>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graphicFrame>
        <p:nvGraphicFramePr>
          <p:cNvPr id="148497" name="Group 17"/>
          <p:cNvGraphicFramePr>
            <a:graphicFrameLocks noGrp="1"/>
          </p:cNvGraphicFramePr>
          <p:nvPr/>
        </p:nvGraphicFramePr>
        <p:xfrm>
          <a:off x="2268538" y="2133600"/>
          <a:ext cx="3657600" cy="1036638"/>
        </p:xfrm>
        <a:graphic>
          <a:graphicData uri="http://schemas.openxmlformats.org/drawingml/2006/table">
            <a:tbl>
              <a:tblPr/>
              <a:tblGrid>
                <a:gridCol w="2209800"/>
                <a:gridCol w="1447800"/>
              </a:tblGrid>
              <a:tr h="518319">
                <a:tc grid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7   6   5   4   3   2   1    0</a:t>
                      </a:r>
                    </a:p>
                  </a:txBody>
                  <a:tcPr marT="45734" marB="4573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r>
              <a:tr h="518319">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操作码</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rrr</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00"/>
                    </a:solidFill>
                  </a:tcPr>
                </a:tc>
              </a:tr>
            </a:tbl>
          </a:graphicData>
        </a:graphic>
      </p:graphicFrame>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10</a:t>
            </a:fld>
            <a:endParaRPr lang="en-US" altLang="zh-CN" sz="1400" b="0" dirty="0"/>
          </a:p>
        </p:txBody>
      </p:sp>
      <p:sp>
        <p:nvSpPr>
          <p:cNvPr id="15362" name="Text Box 2"/>
          <p:cNvSpPr txBox="1"/>
          <p:nvPr/>
        </p:nvSpPr>
        <p:spPr>
          <a:xfrm>
            <a:off x="381000" y="990600"/>
            <a:ext cx="8458200" cy="5203825"/>
          </a:xfrm>
          <a:prstGeom prst="rect">
            <a:avLst/>
          </a:prstGeom>
          <a:noFill/>
          <a:ln w="9525">
            <a:noFill/>
          </a:ln>
        </p:spPr>
        <p:txBody>
          <a:bodyPr anchor="t" anchorCtr="0">
            <a:spAutoFit/>
          </a:bodyPr>
          <a:lstStyle/>
          <a:p>
            <a:pPr>
              <a:lnSpc>
                <a:spcPct val="140000"/>
              </a:lnSpc>
            </a:pPr>
            <a:r>
              <a:rPr lang="zh-CN" altLang="en-US" dirty="0">
                <a:solidFill>
                  <a:srgbClr val="000000"/>
                </a:solidFill>
                <a:latin typeface="Times New Roman" panose="02020603050405020304" pitchFamily="18" charset="0"/>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2</a:t>
            </a:r>
            <a:r>
              <a:rPr lang="zh-CN" altLang="en-US" dirty="0">
                <a:solidFill>
                  <a:srgbClr val="000000"/>
                </a:solidFill>
                <a:latin typeface="Times New Roman" panose="02020603050405020304" pitchFamily="18" charset="0"/>
                <a:ea typeface="宋体" panose="02010600030101010101" pitchFamily="2" charset="-122"/>
              </a:rPr>
              <a:t>）双字节指令：由两个字节组成，其中一个字节为操作码，另一个字节为参与操作的</a:t>
            </a:r>
            <a:r>
              <a:rPr lang="zh-CN" altLang="en-US" dirty="0">
                <a:solidFill>
                  <a:srgbClr val="000099"/>
                </a:solidFill>
                <a:latin typeface="Times New Roman" panose="02020603050405020304" pitchFamily="18" charset="0"/>
                <a:ea typeface="宋体" panose="02010600030101010101" pitchFamily="2" charset="-122"/>
              </a:rPr>
              <a:t>数据</a:t>
            </a:r>
            <a:r>
              <a:rPr lang="en-US" altLang="zh-CN" dirty="0">
                <a:solidFill>
                  <a:srgbClr val="000099"/>
                </a:solidFill>
                <a:latin typeface="Times New Roman" panose="02020603050405020304" pitchFamily="18" charset="0"/>
                <a:ea typeface="宋体" panose="02010600030101010101" pitchFamily="2" charset="-122"/>
              </a:rPr>
              <a:t>data</a:t>
            </a:r>
            <a:r>
              <a:rPr lang="zh-CN" altLang="en-US" dirty="0">
                <a:solidFill>
                  <a:srgbClr val="000000"/>
                </a:solidFill>
                <a:latin typeface="Times New Roman" panose="02020603050405020304" pitchFamily="18" charset="0"/>
                <a:ea typeface="宋体" panose="02010600030101010101" pitchFamily="2" charset="-122"/>
              </a:rPr>
              <a:t>或数据存放的</a:t>
            </a:r>
            <a:r>
              <a:rPr lang="zh-CN" altLang="en-US" dirty="0">
                <a:solidFill>
                  <a:srgbClr val="000099"/>
                </a:solidFill>
                <a:latin typeface="Times New Roman" panose="02020603050405020304" pitchFamily="18" charset="0"/>
                <a:ea typeface="宋体" panose="02010600030101010101" pitchFamily="2" charset="-122"/>
              </a:rPr>
              <a:t>地址</a:t>
            </a:r>
            <a:r>
              <a:rPr lang="en-US" altLang="zh-CN" dirty="0">
                <a:solidFill>
                  <a:srgbClr val="000099"/>
                </a:solidFill>
                <a:latin typeface="Times New Roman" panose="02020603050405020304" pitchFamily="18" charset="0"/>
                <a:ea typeface="宋体" panose="02010600030101010101" pitchFamily="2" charset="-122"/>
              </a:rPr>
              <a:t>direct</a:t>
            </a:r>
            <a:r>
              <a:rPr lang="zh-CN" altLang="en-US" dirty="0">
                <a:solidFill>
                  <a:srgbClr val="000000"/>
                </a:solidFill>
                <a:latin typeface="Times New Roman" panose="02020603050405020304" pitchFamily="18" charset="0"/>
                <a:ea typeface="宋体" panose="02010600030101010101" pitchFamily="2" charset="-122"/>
              </a:rPr>
              <a:t>。</a:t>
            </a:r>
          </a:p>
          <a:p>
            <a:pPr>
              <a:lnSpc>
                <a:spcPct val="140000"/>
              </a:lnSpc>
            </a:pPr>
            <a:endParaRPr lang="zh-CN" altLang="en-US" dirty="0">
              <a:solidFill>
                <a:srgbClr val="000000"/>
              </a:solidFill>
              <a:latin typeface="Times New Roman" panose="02020603050405020304" pitchFamily="18" charset="0"/>
              <a:ea typeface="宋体" panose="02010600030101010101" pitchFamily="2" charset="-122"/>
            </a:endParaRPr>
          </a:p>
          <a:p>
            <a:pPr>
              <a:lnSpc>
                <a:spcPct val="140000"/>
              </a:lnSpc>
            </a:pPr>
            <a:endParaRPr lang="zh-CN" altLang="en-US" dirty="0">
              <a:solidFill>
                <a:srgbClr val="000000"/>
              </a:solidFill>
              <a:latin typeface="Times New Roman" panose="02020603050405020304" pitchFamily="18" charset="0"/>
              <a:ea typeface="宋体" panose="02010600030101010101" pitchFamily="2" charset="-122"/>
            </a:endParaRPr>
          </a:p>
          <a:p>
            <a:pPr>
              <a:lnSpc>
                <a:spcPct val="140000"/>
              </a:lnSpc>
            </a:pPr>
            <a:endParaRPr lang="zh-CN" altLang="en-US" dirty="0">
              <a:solidFill>
                <a:srgbClr val="000000"/>
              </a:solidFill>
              <a:latin typeface="Times New Roman" panose="02020603050405020304" pitchFamily="18" charset="0"/>
              <a:ea typeface="宋体" panose="02010600030101010101" pitchFamily="2" charset="-122"/>
            </a:endParaRPr>
          </a:p>
          <a:p>
            <a:pPr>
              <a:lnSpc>
                <a:spcPct val="140000"/>
              </a:lnSpc>
            </a:pPr>
            <a:endParaRPr lang="zh-CN" altLang="en-US" dirty="0">
              <a:solidFill>
                <a:srgbClr val="000000"/>
              </a:solidFill>
              <a:latin typeface="Times New Roman" panose="02020603050405020304" pitchFamily="18" charset="0"/>
              <a:ea typeface="宋体" panose="02010600030101010101" pitchFamily="2" charset="-122"/>
            </a:endParaRPr>
          </a:p>
          <a:p>
            <a:pPr>
              <a:lnSpc>
                <a:spcPct val="140000"/>
              </a:lnSpc>
            </a:pPr>
            <a:r>
              <a:rPr lang="zh-CN" altLang="en-US" dirty="0">
                <a:solidFill>
                  <a:srgbClr val="000000"/>
                </a:solidFill>
                <a:latin typeface="Times New Roman" panose="02020603050405020304" pitchFamily="18" charset="0"/>
                <a:ea typeface="宋体" panose="02010600030101010101" pitchFamily="2" charset="-122"/>
              </a:rPr>
              <a:t>如：</a:t>
            </a:r>
            <a:r>
              <a:rPr lang="en-US" altLang="zh-CN" dirty="0">
                <a:solidFill>
                  <a:srgbClr val="000000"/>
                </a:solidFill>
                <a:latin typeface="Times New Roman" panose="02020603050405020304" pitchFamily="18" charset="0"/>
                <a:ea typeface="宋体" panose="02010600030101010101" pitchFamily="2" charset="-122"/>
              </a:rPr>
              <a:t>ADD  A</a:t>
            </a:r>
            <a:r>
              <a:rPr lang="zh-CN" altLang="en-US" dirty="0">
                <a:solidFill>
                  <a:srgbClr val="000000"/>
                </a:solidFill>
                <a:latin typeface="Times New Roman" panose="02020603050405020304" pitchFamily="18" charset="0"/>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#60H</a:t>
            </a:r>
          </a:p>
          <a:p>
            <a:pPr>
              <a:lnSpc>
                <a:spcPct val="140000"/>
              </a:lnSpc>
            </a:pPr>
            <a:r>
              <a:rPr lang="zh-CN" altLang="en-US" dirty="0">
                <a:solidFill>
                  <a:srgbClr val="000000"/>
                </a:solidFill>
                <a:latin typeface="Times New Roman" panose="02020603050405020304" pitchFamily="18" charset="0"/>
                <a:ea typeface="宋体" panose="02010600030101010101" pitchFamily="2" charset="-122"/>
              </a:rPr>
              <a:t>机器码：</a:t>
            </a:r>
            <a:r>
              <a:rPr lang="en-US" altLang="zh-CN" dirty="0">
                <a:solidFill>
                  <a:srgbClr val="000000"/>
                </a:solidFill>
                <a:latin typeface="Times New Roman" panose="02020603050405020304" pitchFamily="18" charset="0"/>
                <a:ea typeface="宋体" panose="02010600030101010101" pitchFamily="2" charset="-122"/>
              </a:rPr>
              <a:t>24H</a:t>
            </a:r>
            <a:r>
              <a:rPr lang="zh-CN" altLang="en-US" dirty="0">
                <a:solidFill>
                  <a:srgbClr val="000000"/>
                </a:solidFill>
                <a:latin typeface="Times New Roman" panose="02020603050405020304" pitchFamily="18" charset="0"/>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60H</a:t>
            </a:r>
            <a:r>
              <a:rPr lang="zh-CN" altLang="en-US" dirty="0">
                <a:solidFill>
                  <a:srgbClr val="000000"/>
                </a:solidFill>
                <a:latin typeface="Times New Roman" panose="02020603050405020304" pitchFamily="18" charset="0"/>
                <a:ea typeface="宋体" panose="02010600030101010101" pitchFamily="2" charset="-122"/>
              </a:rPr>
              <a:t>。</a:t>
            </a:r>
          </a:p>
          <a:p>
            <a:pPr>
              <a:lnSpc>
                <a:spcPct val="140000"/>
              </a:lnSpc>
            </a:pPr>
            <a:r>
              <a:rPr lang="zh-CN" altLang="en-US" dirty="0">
                <a:latin typeface="Times New Roman" panose="02020603050405020304" pitchFamily="18" charset="0"/>
                <a:ea typeface="宋体" panose="02010600030101010101" pitchFamily="2" charset="-122"/>
              </a:rPr>
              <a:t> </a:t>
            </a:r>
          </a:p>
        </p:txBody>
      </p:sp>
      <p:graphicFrame>
        <p:nvGraphicFramePr>
          <p:cNvPr id="149526" name="Group 22"/>
          <p:cNvGraphicFramePr>
            <a:graphicFrameLocks noGrp="1"/>
          </p:cNvGraphicFramePr>
          <p:nvPr/>
        </p:nvGraphicFramePr>
        <p:xfrm>
          <a:off x="2057400" y="2362200"/>
          <a:ext cx="3657600" cy="1554246"/>
        </p:xfrm>
        <a:graphic>
          <a:graphicData uri="http://schemas.openxmlformats.org/drawingml/2006/table">
            <a:tbl>
              <a:tblPr/>
              <a:tblGrid>
                <a:gridCol w="3657600"/>
              </a:tblGrid>
              <a:tr h="518054">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7   6   5   4   3   2   1   0</a:t>
                      </a:r>
                    </a:p>
                  </a:txBody>
                  <a:tcPr marT="45681" marB="4568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05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操作码</a:t>
                      </a:r>
                    </a:p>
                  </a:txBody>
                  <a:tcPr marT="45681" marB="4568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51805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操作数</a:t>
                      </a:r>
                    </a:p>
                  </a:txBody>
                  <a:tcPr marT="45681" marB="4568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r>
            </a:tbl>
          </a:graphicData>
        </a:graphic>
      </p:graphicFrame>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11</a:t>
            </a:fld>
            <a:endParaRPr lang="en-US" altLang="zh-CN" sz="1400" b="0" dirty="0"/>
          </a:p>
        </p:txBody>
      </p:sp>
      <p:sp>
        <p:nvSpPr>
          <p:cNvPr id="16388" name="Rectangle 2"/>
          <p:cNvSpPr>
            <a:spLocks noChangeArrowheads="1"/>
          </p:cNvSpPr>
          <p:nvPr/>
        </p:nvSpPr>
        <p:spPr bwMode="auto">
          <a:xfrm>
            <a:off x="0" y="838200"/>
            <a:ext cx="9144000" cy="830263"/>
          </a:xfrm>
          <a:prstGeom prst="rect">
            <a:avLst/>
          </a:prstGeom>
          <a:noFill/>
          <a:ln w="9525">
            <a:noFill/>
            <a:miter lim="800000"/>
          </a:ln>
        </p:spPr>
        <p:txBody>
          <a:bodyPr>
            <a:spAutoFit/>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以</a:t>
            </a:r>
            <a:r>
              <a:rPr kumimoji="1" lang="en-US" altLang="zh-CN"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Times New Roman" panose="02020603050405020304" pitchFamily="18" charset="0"/>
              </a:rPr>
              <a:t>(10H</a:t>
            </a:r>
            <a:r>
              <a:rPr kumimoji="1" lang="zh-CN" altLang="en-US"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n-cs"/>
              </a:rPr>
              <a:t>＋</a:t>
            </a:r>
            <a:r>
              <a:rPr kumimoji="1" lang="en-US" altLang="zh-CN"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n-cs"/>
              </a:rPr>
              <a:t>2</a:t>
            </a:r>
            <a:r>
              <a:rPr kumimoji="1" lang="en-US" altLang="zh-CN"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Times New Roman" panose="02020603050405020304" pitchFamily="18" charset="0"/>
              </a:rPr>
              <a:t>0H)-15</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为例说明单片机的指令格式以及汇编语言源程序的格式。</a:t>
            </a:r>
            <a:endPar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aphicFrame>
        <p:nvGraphicFramePr>
          <p:cNvPr id="152810" name="Group 234"/>
          <p:cNvGraphicFramePr>
            <a:graphicFrameLocks noGrp="1"/>
          </p:cNvGraphicFramePr>
          <p:nvPr>
            <p:custDataLst>
              <p:tags r:id="rId1"/>
            </p:custDataLst>
          </p:nvPr>
        </p:nvGraphicFramePr>
        <p:xfrm>
          <a:off x="617538" y="1828800"/>
          <a:ext cx="7010400" cy="4046855"/>
        </p:xfrm>
        <a:graphic>
          <a:graphicData uri="http://schemas.openxmlformats.org/drawingml/2006/table">
            <a:tbl>
              <a:tblPr/>
              <a:tblGrid>
                <a:gridCol w="1314450"/>
                <a:gridCol w="1887220"/>
                <a:gridCol w="1998980"/>
                <a:gridCol w="1809750"/>
              </a:tblGrid>
              <a:tr h="508000">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符号</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a:t>
                      </a:r>
                      <a:r>
                        <a:rPr kumimoji="1" lang="zh-CN" altLang="en-US"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伪</a:t>
                      </a: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a:t>
                      </a:r>
                      <a:r>
                        <a:rPr kumimoji="1" lang="zh-CN" altLang="en-US"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操作码</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操作数</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机器码</a:t>
                      </a: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(H)</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9900"/>
                    </a:solidFill>
                  </a:tcPr>
                </a:tc>
              </a:tr>
              <a:tr h="508000">
                <a:tc>
                  <a:txBody>
                    <a:bodyPr/>
                    <a:lstStyle/>
                    <a:p>
                      <a:pPr marL="0" marR="0" lvl="0" indent="0" algn="just" defTabSz="914400" rtl="0" eaLnBrk="1" fontAlgn="base" latinLnBrk="0" hangingPunct="1">
                        <a:lnSpc>
                          <a:spcPct val="100000"/>
                        </a:lnSpc>
                        <a:spcBef>
                          <a:spcPct val="20000"/>
                        </a:spcBef>
                        <a:spcAft>
                          <a:spcPct val="0"/>
                        </a:spcAft>
                        <a:buClrTx/>
                        <a:buSzTx/>
                        <a:buFontTx/>
                        <a:buNone/>
                      </a:pPr>
                      <a:endParaRPr kumimoji="1" lang="zh-CN"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ORG    </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2000H</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endParaRPr kumimoji="1" lang="zh-CN"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9900"/>
                    </a:solidFill>
                  </a:tcPr>
                </a:tc>
              </a:tr>
              <a:tr h="516255">
                <a:tc>
                  <a:txBody>
                    <a:bodyPr/>
                    <a:lstStyle/>
                    <a:p>
                      <a:pPr marL="0" marR="0" lvl="0" indent="0" algn="just" defTabSz="914400" rtl="0" eaLnBrk="1" fontAlgn="base" latinLnBrk="0" hangingPunct="1">
                        <a:lnSpc>
                          <a:spcPct val="100000"/>
                        </a:lnSpc>
                        <a:spcBef>
                          <a:spcPct val="20000"/>
                        </a:spcBef>
                        <a:spcAft>
                          <a:spcPct val="0"/>
                        </a:spcAft>
                        <a:buClrTx/>
                        <a:buSzTx/>
                        <a:buFontTx/>
                        <a:buNone/>
                      </a:pPr>
                      <a:endParaRPr kumimoji="1" lang="zh-CN"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MOV</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1" lang="zh-CN" altLang="en-US"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#10H</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E5, 10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9900"/>
                    </a:solidFill>
                  </a:tcPr>
                </a:tc>
              </a:tr>
              <a:tr h="508000">
                <a:tc>
                  <a:txBody>
                    <a:bodyPr/>
                    <a:lstStyle/>
                    <a:p>
                      <a:pPr marL="0" marR="0" lvl="0" indent="0" algn="just" defTabSz="914400" rtl="0" eaLnBrk="1" fontAlgn="base" latinLnBrk="0" hangingPunct="1">
                        <a:lnSpc>
                          <a:spcPct val="100000"/>
                        </a:lnSpc>
                        <a:spcBef>
                          <a:spcPct val="20000"/>
                        </a:spcBef>
                        <a:spcAft>
                          <a:spcPct val="0"/>
                        </a:spcAft>
                        <a:buClrTx/>
                        <a:buSzTx/>
                        <a:buFontTx/>
                        <a:buNone/>
                      </a:pPr>
                      <a:endParaRPr kumimoji="1" lang="zh-CN"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ADD</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1" lang="zh-CN" altLang="en-US"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#20H</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24, 20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9900"/>
                    </a:solidFill>
                  </a:tcPr>
                </a:tc>
              </a:tr>
              <a:tr h="482600">
                <a:tc>
                  <a:txBody>
                    <a:bodyPr/>
                    <a:lstStyle/>
                    <a:p>
                      <a:pPr marL="0" marR="0" lvl="0" indent="0" algn="just" defTabSz="914400" rtl="0" eaLnBrk="1" fontAlgn="base" latinLnBrk="0" hangingPunct="1">
                        <a:lnSpc>
                          <a:spcPct val="100000"/>
                        </a:lnSpc>
                        <a:spcBef>
                          <a:spcPct val="20000"/>
                        </a:spcBef>
                        <a:spcAft>
                          <a:spcPct val="0"/>
                        </a:spcAft>
                        <a:buClrTx/>
                        <a:buSzTx/>
                        <a:buFontTx/>
                        <a:buNone/>
                      </a:pPr>
                      <a:endParaRPr kumimoji="1" lang="zh-CN"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SUBB</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1" lang="zh-CN" altLang="en-US"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94, 0F</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9900"/>
                    </a:solidFill>
                  </a:tcPr>
                </a:tc>
              </a:tr>
              <a:tr h="508000">
                <a:tc>
                  <a:txBody>
                    <a:bodyPr/>
                    <a:lstStyle/>
                    <a:p>
                      <a:pPr marL="0" marR="0" lvl="0" indent="0" algn="just" defTabSz="914400" rtl="0" eaLnBrk="1" fontAlgn="base" latinLnBrk="0" hangingPunct="1">
                        <a:lnSpc>
                          <a:spcPct val="100000"/>
                        </a:lnSpc>
                        <a:spcBef>
                          <a:spcPct val="20000"/>
                        </a:spcBef>
                        <a:spcAft>
                          <a:spcPct val="0"/>
                        </a:spcAft>
                        <a:buClrTx/>
                        <a:buSzTx/>
                        <a:buFontTx/>
                        <a:buNone/>
                      </a:pPr>
                      <a:endParaRPr kumimoji="1" lang="zh-CN"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NOP</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9900"/>
                    </a:solidFill>
                  </a:tcPr>
                </a:tc>
              </a:tr>
              <a:tr h="508000">
                <a:tc>
                  <a:txBody>
                    <a:bodyPr/>
                    <a:lstStyle/>
                    <a:p>
                      <a:pPr marL="0" marR="0" lvl="0" indent="0" algn="just" defTabSz="914400" rtl="0" eaLnBrk="1" fontAlgn="base" latinLnBrk="0" hangingPunct="1">
                        <a:lnSpc>
                          <a:spcPct val="100000"/>
                        </a:lnSpc>
                        <a:spcBef>
                          <a:spcPct val="20000"/>
                        </a:spcBef>
                        <a:spcAft>
                          <a:spcPct val="0"/>
                        </a:spcAft>
                        <a:buClrTx/>
                        <a:buSzTx/>
                        <a:buFontTx/>
                        <a:buNone/>
                      </a:pPr>
                      <a:endParaRPr kumimoji="1" lang="zh-CN"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MOV</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40H</a:t>
                      </a:r>
                      <a:r>
                        <a:rPr kumimoji="1" lang="zh-CN" altLang="en-US"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F5, 40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9900"/>
                    </a:solidFill>
                  </a:tcPr>
                </a:tc>
              </a:tr>
              <a:tr h="508000">
                <a:tc>
                  <a:txBody>
                    <a:bodyPr/>
                    <a:lstStyle/>
                    <a:p>
                      <a:pPr marL="0" marR="0" lvl="0" indent="0" algn="just" defTabSz="914400" rtl="0" eaLnBrk="1" fontAlgn="base" latinLnBrk="0" hangingPunct="1">
                        <a:lnSpc>
                          <a:spcPct val="100000"/>
                        </a:lnSpc>
                        <a:spcBef>
                          <a:spcPct val="20000"/>
                        </a:spcBef>
                        <a:spcAft>
                          <a:spcPct val="0"/>
                        </a:spcAft>
                        <a:buClrTx/>
                        <a:buSzTx/>
                        <a:buFontTx/>
                        <a:buNone/>
                      </a:pPr>
                      <a:endParaRPr kumimoji="1" lang="zh-CN"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END</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2000H</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endParaRPr kumimoji="1" lang="zh-CN" altLang="zh-CN" sz="24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9900"/>
                    </a:solidFill>
                  </a:tcPr>
                </a:tc>
              </a:tr>
            </a:tbl>
          </a:graphicData>
        </a:graphic>
      </p:graphicFrame>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12</a:t>
            </a:fld>
            <a:endParaRPr lang="en-US" altLang="zh-CN" sz="1400" b="0" dirty="0"/>
          </a:p>
        </p:txBody>
      </p:sp>
      <p:sp>
        <p:nvSpPr>
          <p:cNvPr id="137218" name="Text Box 2"/>
          <p:cNvSpPr txBox="1"/>
          <p:nvPr/>
        </p:nvSpPr>
        <p:spPr>
          <a:xfrm>
            <a:off x="323850" y="981075"/>
            <a:ext cx="8229600" cy="1568450"/>
          </a:xfrm>
          <a:prstGeom prst="rect">
            <a:avLst/>
          </a:prstGeom>
          <a:noFill/>
          <a:ln w="9525">
            <a:noFill/>
          </a:ln>
        </p:spPr>
        <p:txBody>
          <a:bodyPr anchor="t" anchorCtr="0">
            <a:spAutoFit/>
          </a:bodyPr>
          <a:lstStyle/>
          <a:p>
            <a:pPr algn="just">
              <a:spcBef>
                <a:spcPct val="50000"/>
              </a:spcBef>
            </a:pPr>
            <a:r>
              <a:rPr lang="en-US" altLang="zh-CN" dirty="0">
                <a:solidFill>
                  <a:srgbClr val="FF3300"/>
                </a:solidFill>
                <a:latin typeface="Times New Roman" panose="02020603050405020304" pitchFamily="18" charset="0"/>
                <a:ea typeface="宋体" panose="02010600030101010101" pitchFamily="2" charset="-122"/>
              </a:rPr>
              <a:t>3.1.5  MCS-51</a:t>
            </a:r>
            <a:r>
              <a:rPr lang="zh-CN" altLang="en-US" dirty="0">
                <a:solidFill>
                  <a:srgbClr val="FF3300"/>
                </a:solidFill>
                <a:latin typeface="Times New Roman" panose="02020603050405020304" pitchFamily="18" charset="0"/>
                <a:ea typeface="宋体" panose="02010600030101010101" pitchFamily="2" charset="-122"/>
              </a:rPr>
              <a:t>汇编语言伪指令</a:t>
            </a:r>
            <a:r>
              <a:rPr lang="zh-CN" altLang="en-US" dirty="0">
                <a:latin typeface="Times New Roman" panose="02020603050405020304" pitchFamily="18" charset="0"/>
                <a:ea typeface="宋体" panose="02010600030101010101" pitchFamily="2" charset="-122"/>
              </a:rPr>
              <a:t> </a:t>
            </a:r>
          </a:p>
          <a:p>
            <a:pPr algn="just">
              <a:spcBef>
                <a:spcPct val="50000"/>
              </a:spcBef>
            </a:pPr>
            <a:r>
              <a:rPr lang="zh-CN" altLang="en-US" dirty="0">
                <a:latin typeface="Times New Roman" panose="02020603050405020304" pitchFamily="18" charset="0"/>
                <a:ea typeface="黑体" panose="02010609060101010101" pitchFamily="49" charset="-122"/>
              </a:rPr>
              <a:t> 主要的</a:t>
            </a:r>
            <a:r>
              <a:rPr lang="en-US" altLang="zh-CN" dirty="0">
                <a:latin typeface="Times New Roman" panose="02020603050405020304" pitchFamily="18" charset="0"/>
                <a:ea typeface="黑体" panose="02010609060101010101" pitchFamily="49" charset="-122"/>
              </a:rPr>
              <a:t>8</a:t>
            </a:r>
            <a:r>
              <a:rPr lang="zh-CN" altLang="en-US" dirty="0">
                <a:latin typeface="Times New Roman" panose="02020603050405020304" pitchFamily="18" charset="0"/>
                <a:ea typeface="黑体" panose="02010609060101010101" pitchFamily="49" charset="-122"/>
              </a:rPr>
              <a:t>个：</a:t>
            </a:r>
          </a:p>
          <a:p>
            <a:pPr algn="just">
              <a:spcBef>
                <a:spcPct val="50000"/>
              </a:spcBef>
            </a:pPr>
            <a:r>
              <a:rPr lang="en-US" altLang="zh-CN" dirty="0">
                <a:latin typeface="Times New Roman" panose="02020603050405020304" pitchFamily="18" charset="0"/>
                <a:ea typeface="黑体" panose="02010609060101010101" pitchFamily="49" charset="-122"/>
              </a:rPr>
              <a:t>ORG</a:t>
            </a:r>
            <a:r>
              <a:rPr lang="zh-CN" altLang="en-US"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END</a:t>
            </a:r>
            <a:r>
              <a:rPr lang="zh-CN" altLang="en-US"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DB</a:t>
            </a:r>
            <a:r>
              <a:rPr lang="zh-CN" altLang="en-US"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DW</a:t>
            </a:r>
            <a:r>
              <a:rPr lang="zh-CN" altLang="en-US"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DS</a:t>
            </a:r>
            <a:r>
              <a:rPr lang="zh-CN" altLang="en-US"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EQU</a:t>
            </a:r>
            <a:r>
              <a:rPr lang="zh-CN" altLang="en-US" dirty="0">
                <a:latin typeface="Times New Roman" panose="02020603050405020304" pitchFamily="18" charset="0"/>
                <a:ea typeface="黑体" panose="02010609060101010101" pitchFamily="49" charset="-122"/>
              </a:rPr>
              <a:t>、 </a:t>
            </a:r>
            <a:r>
              <a:rPr lang="en-US" altLang="zh-CN" dirty="0">
                <a:latin typeface="Times New Roman" panose="02020603050405020304" pitchFamily="18" charset="0"/>
                <a:ea typeface="黑体" panose="02010609060101010101" pitchFamily="49" charset="-122"/>
              </a:rPr>
              <a:t>DATA</a:t>
            </a:r>
            <a:r>
              <a:rPr lang="zh-CN" altLang="en-US"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BIT	</a:t>
            </a:r>
          </a:p>
        </p:txBody>
      </p:sp>
      <p:sp>
        <p:nvSpPr>
          <p:cNvPr id="137219" name="Text Box 3"/>
          <p:cNvSpPr txBox="1"/>
          <p:nvPr/>
        </p:nvSpPr>
        <p:spPr>
          <a:xfrm>
            <a:off x="107950" y="2708275"/>
            <a:ext cx="8675688" cy="3232150"/>
          </a:xfrm>
          <a:prstGeom prst="rect">
            <a:avLst/>
          </a:prstGeom>
          <a:noFill/>
          <a:ln w="9525">
            <a:noFill/>
          </a:ln>
        </p:spPr>
        <p:txBody>
          <a:bodyPr anchor="t" anchorCtr="0">
            <a:spAutoFit/>
          </a:bodyPr>
          <a:lstStyle/>
          <a:p>
            <a:pPr algn="just">
              <a:spcBef>
                <a:spcPct val="50000"/>
              </a:spcBef>
            </a:pPr>
            <a:r>
              <a:rPr lang="en-US" altLang="zh-CN" dirty="0">
                <a:solidFill>
                  <a:schemeClr val="accent2"/>
                </a:solidFill>
                <a:latin typeface="Times New Roman" panose="02020603050405020304" pitchFamily="18" charset="0"/>
                <a:ea typeface="黑体" panose="02010609060101010101" pitchFamily="49" charset="-122"/>
              </a:rPr>
              <a:t>(1)  ORG</a:t>
            </a:r>
            <a:r>
              <a:rPr lang="zh-CN" altLang="en-US" dirty="0">
                <a:solidFill>
                  <a:schemeClr val="accent2"/>
                </a:solidFill>
                <a:latin typeface="Times New Roman" panose="02020603050405020304" pitchFamily="18" charset="0"/>
                <a:ea typeface="黑体" panose="02010609060101010101" pitchFamily="49" charset="-122"/>
              </a:rPr>
              <a:t>（</a:t>
            </a:r>
            <a:r>
              <a:rPr lang="en-US" altLang="zh-CN" dirty="0">
                <a:solidFill>
                  <a:schemeClr val="accent2"/>
                </a:solidFill>
                <a:latin typeface="Times New Roman" panose="02020603050405020304" pitchFamily="18" charset="0"/>
                <a:ea typeface="黑体" panose="02010609060101010101" pitchFamily="49" charset="-122"/>
              </a:rPr>
              <a:t>Origin</a:t>
            </a:r>
            <a:r>
              <a:rPr lang="zh-CN" altLang="en-US" dirty="0">
                <a:solidFill>
                  <a:schemeClr val="accent2"/>
                </a:solidFill>
                <a:latin typeface="Times New Roman" panose="02020603050405020304" pitchFamily="18" charset="0"/>
                <a:ea typeface="黑体" panose="02010609060101010101" pitchFamily="49" charset="-122"/>
              </a:rPr>
              <a:t>）  汇编起始地址命令</a:t>
            </a:r>
            <a:endParaRPr lang="zh-CN" altLang="en-US" dirty="0">
              <a:solidFill>
                <a:schemeClr val="accent2"/>
              </a:solidFill>
              <a:latin typeface="Times New Roman" panose="02020603050405020304" pitchFamily="18" charset="0"/>
              <a:ea typeface="宋体" panose="02010600030101010101" pitchFamily="2" charset="-122"/>
            </a:endParaRPr>
          </a:p>
          <a:p>
            <a:pPr algn="just">
              <a:spcBef>
                <a:spcPct val="50000"/>
              </a:spcBef>
            </a:pPr>
            <a:r>
              <a:rPr lang="zh-CN" altLang="en-US" dirty="0">
                <a:latin typeface="Times New Roman" panose="02020603050405020304" pitchFamily="18" charset="0"/>
                <a:ea typeface="宋体" panose="02010600030101010101" pitchFamily="2" charset="-122"/>
              </a:rPr>
              <a:t>    功能：用于规定目标程序的起始地址。</a:t>
            </a:r>
          </a:p>
          <a:p>
            <a:pPr algn="just">
              <a:spcBef>
                <a:spcPct val="50000"/>
              </a:spcBef>
            </a:pPr>
            <a:r>
              <a:rPr lang="zh-CN" altLang="en-US" dirty="0">
                <a:latin typeface="Times New Roman" panose="02020603050405020304" pitchFamily="18" charset="0"/>
                <a:ea typeface="宋体" panose="02010600030101010101" pitchFamily="2" charset="-122"/>
              </a:rPr>
              <a:t>    格式：</a:t>
            </a:r>
          </a:p>
          <a:p>
            <a:pPr algn="just">
              <a:spcBef>
                <a:spcPct val="50000"/>
              </a:spcBef>
            </a:pPr>
            <a:r>
              <a:rPr lang="zh-CN" altLang="en-US" dirty="0">
                <a:latin typeface="Times New Roman" panose="02020603050405020304" pitchFamily="18" charset="0"/>
                <a:ea typeface="宋体" panose="02010600030101010101" pitchFamily="2" charset="-122"/>
              </a:rPr>
              <a:t>                       </a:t>
            </a:r>
            <a:r>
              <a:rPr lang="en-US" altLang="zh-CN" dirty="0">
                <a:solidFill>
                  <a:srgbClr val="FF3300"/>
                </a:solidFill>
                <a:latin typeface="Times New Roman" panose="02020603050405020304" pitchFamily="18" charset="0"/>
                <a:ea typeface="宋体" panose="02010600030101010101" pitchFamily="2" charset="-122"/>
              </a:rPr>
              <a:t>[</a:t>
            </a:r>
            <a:r>
              <a:rPr lang="zh-CN" altLang="en-US" dirty="0">
                <a:solidFill>
                  <a:srgbClr val="FF3300"/>
                </a:solidFill>
                <a:latin typeface="Times New Roman" panose="02020603050405020304" pitchFamily="18" charset="0"/>
                <a:ea typeface="宋体" panose="02010600030101010101" pitchFamily="2" charset="-122"/>
              </a:rPr>
              <a:t>标号：</a:t>
            </a:r>
            <a:r>
              <a:rPr lang="en-US" altLang="zh-CN" dirty="0">
                <a:solidFill>
                  <a:srgbClr val="FF3300"/>
                </a:solidFill>
                <a:latin typeface="Times New Roman" panose="02020603050405020304" pitchFamily="18" charset="0"/>
                <a:ea typeface="宋体" panose="02010600030101010101" pitchFamily="2" charset="-122"/>
              </a:rPr>
              <a:t>]  ORG   </a:t>
            </a:r>
            <a:r>
              <a:rPr lang="zh-CN" altLang="en-US" dirty="0">
                <a:solidFill>
                  <a:srgbClr val="FF3300"/>
                </a:solidFill>
                <a:latin typeface="Times New Roman" panose="02020603050405020304" pitchFamily="18" charset="0"/>
                <a:ea typeface="宋体" panose="02010600030101010101" pitchFamily="2" charset="-122"/>
              </a:rPr>
              <a:t>地址</a:t>
            </a:r>
          </a:p>
          <a:p>
            <a:pPr algn="just">
              <a:spcBef>
                <a:spcPct val="50000"/>
              </a:spcBef>
            </a:pPr>
            <a:r>
              <a:rPr lang="zh-CN" altLang="en-US" dirty="0">
                <a:latin typeface="Times New Roman" panose="02020603050405020304" pitchFamily="18" charset="0"/>
                <a:ea typeface="宋体" panose="02010600030101010101" pitchFamily="2" charset="-122"/>
              </a:rPr>
              <a:t>     地址项：</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位绝对地址，也可以用标号或表达式表示。</a:t>
            </a:r>
          </a:p>
          <a:p>
            <a:pPr algn="just">
              <a:spcBef>
                <a:spcPct val="50000"/>
              </a:spcBef>
            </a:pPr>
            <a:r>
              <a:rPr lang="zh-CN" altLang="en-US" dirty="0">
                <a:solidFill>
                  <a:srgbClr val="00664D"/>
                </a:solidFill>
                <a:latin typeface="Times New Roman" panose="02020603050405020304" pitchFamily="18" charset="0"/>
                <a:ea typeface="宋体" panose="02010600030101010101" pitchFamily="2" charset="-122"/>
              </a:rPr>
              <a:t>如果不用</a:t>
            </a:r>
            <a:r>
              <a:rPr lang="en-US" altLang="zh-CN" dirty="0">
                <a:solidFill>
                  <a:srgbClr val="00664D"/>
                </a:solidFill>
                <a:latin typeface="Times New Roman" panose="02020603050405020304" pitchFamily="18" charset="0"/>
                <a:ea typeface="宋体" panose="02010600030101010101" pitchFamily="2" charset="-122"/>
              </a:rPr>
              <a:t>ORG</a:t>
            </a:r>
            <a:r>
              <a:rPr lang="zh-CN" altLang="en-US" dirty="0">
                <a:solidFill>
                  <a:srgbClr val="00664D"/>
                </a:solidFill>
                <a:latin typeface="Times New Roman" panose="02020603050405020304" pitchFamily="18" charset="0"/>
                <a:ea typeface="宋体" panose="02010600030101010101" pitchFamily="2" charset="-122"/>
              </a:rPr>
              <a:t>规定，则汇编得到的目标程序将从</a:t>
            </a:r>
            <a:r>
              <a:rPr lang="en-US" altLang="zh-CN" dirty="0">
                <a:solidFill>
                  <a:srgbClr val="00664D"/>
                </a:solidFill>
                <a:latin typeface="Times New Roman" panose="02020603050405020304" pitchFamily="18" charset="0"/>
                <a:ea typeface="宋体" panose="02010600030101010101" pitchFamily="2" charset="-122"/>
              </a:rPr>
              <a:t>0000H</a:t>
            </a:r>
            <a:r>
              <a:rPr lang="zh-CN" altLang="en-US" dirty="0">
                <a:solidFill>
                  <a:srgbClr val="00664D"/>
                </a:solidFill>
                <a:latin typeface="Times New Roman" panose="02020603050405020304" pitchFamily="18" charset="0"/>
                <a:ea typeface="宋体" panose="02010600030101010101" pitchFamily="2" charset="-122"/>
              </a:rPr>
              <a:t>开始。</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7218"/>
                                        </p:tgtEl>
                                        <p:attrNameLst>
                                          <p:attrName>style.visibility</p:attrName>
                                        </p:attrNameLst>
                                      </p:cBhvr>
                                      <p:to>
                                        <p:strVal val="visible"/>
                                      </p:to>
                                    </p:set>
                                    <p:anim calcmode="lin" valueType="num">
                                      <p:cBhvr additive="base">
                                        <p:cTn id="7" dur="500" fill="hold"/>
                                        <p:tgtEl>
                                          <p:spTgt spid="137218"/>
                                        </p:tgtEl>
                                        <p:attrNameLst>
                                          <p:attrName>ppt_x</p:attrName>
                                        </p:attrNameLst>
                                      </p:cBhvr>
                                      <p:tavLst>
                                        <p:tav tm="0">
                                          <p:val>
                                            <p:strVal val="#ppt_x"/>
                                          </p:val>
                                        </p:tav>
                                        <p:tav tm="100000">
                                          <p:val>
                                            <p:strVal val="#ppt_x"/>
                                          </p:val>
                                        </p:tav>
                                      </p:tavLst>
                                    </p:anim>
                                    <p:anim calcmode="lin" valueType="num">
                                      <p:cBhvr additive="base">
                                        <p:cTn id="8" dur="500" fill="hold"/>
                                        <p:tgtEl>
                                          <p:spTgt spid="1372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137219"/>
                                        </p:tgtEl>
                                        <p:attrNameLst>
                                          <p:attrName>style.visibility</p:attrName>
                                        </p:attrNameLst>
                                      </p:cBhvr>
                                      <p:to>
                                        <p:strVal val="visible"/>
                                      </p:to>
                                    </p:set>
                                    <p:animEffect transition="in" filter="diamond(in)">
                                      <p:cBhvr>
                                        <p:cTn id="13" dur="2000"/>
                                        <p:tgtEl>
                                          <p:spTgt spid="137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8" grpId="0"/>
      <p:bldP spid="13721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13</a:t>
            </a:fld>
            <a:endParaRPr lang="en-US" altLang="zh-CN" sz="1400" b="0" dirty="0"/>
          </a:p>
        </p:txBody>
      </p:sp>
      <p:sp>
        <p:nvSpPr>
          <p:cNvPr id="16386" name="Text Box 2"/>
          <p:cNvSpPr txBox="1"/>
          <p:nvPr/>
        </p:nvSpPr>
        <p:spPr>
          <a:xfrm>
            <a:off x="381000" y="1066800"/>
            <a:ext cx="8534400" cy="4708525"/>
          </a:xfrm>
          <a:prstGeom prst="rect">
            <a:avLst/>
          </a:prstGeom>
          <a:noFill/>
          <a:ln w="9525">
            <a:noFill/>
          </a:ln>
        </p:spPr>
        <p:txBody>
          <a:bodyPr anchor="t" anchorCtr="0">
            <a:spAutoFit/>
          </a:bodyPr>
          <a:lstStyle/>
          <a:p>
            <a:pPr algn="just">
              <a:spcBef>
                <a:spcPct val="50000"/>
              </a:spcBef>
            </a:pPr>
            <a:r>
              <a:rPr lang="en-US" altLang="zh-CN" dirty="0">
                <a:solidFill>
                  <a:srgbClr val="000000"/>
                </a:solidFill>
                <a:latin typeface="Times New Roman" panose="02020603050405020304" pitchFamily="18" charset="0"/>
                <a:ea typeface="宋体" panose="02010600030101010101" pitchFamily="2" charset="-122"/>
              </a:rPr>
              <a:t>(3) </a:t>
            </a:r>
            <a:r>
              <a:rPr lang="zh-CN" altLang="en-US" dirty="0">
                <a:solidFill>
                  <a:srgbClr val="000000"/>
                </a:solidFill>
                <a:latin typeface="Times New Roman" panose="02020603050405020304" pitchFamily="18" charset="0"/>
                <a:ea typeface="宋体" panose="02010600030101010101" pitchFamily="2" charset="-122"/>
              </a:rPr>
              <a:t>三字节指令：指令由三个字节组成，其中操作码占一个字节，操作数占两个字节。操作数既可以是数据，也可以是地址。</a:t>
            </a:r>
            <a:endParaRPr lang="zh-CN" altLang="en-US" dirty="0">
              <a:latin typeface="宋体" panose="02010600030101010101" pitchFamily="2" charset="-122"/>
              <a:ea typeface="宋体" panose="02010600030101010101" pitchFamily="2" charset="-122"/>
            </a:endParaRPr>
          </a:p>
          <a:p>
            <a:pPr algn="just">
              <a:spcBef>
                <a:spcPct val="50000"/>
              </a:spcBef>
            </a:pPr>
            <a:r>
              <a:rPr lang="zh-CN" altLang="en-US" dirty="0">
                <a:solidFill>
                  <a:srgbClr val="000000"/>
                </a:solidFill>
                <a:latin typeface="Courier New" panose="02070309020205020404" pitchFamily="49" charset="0"/>
                <a:ea typeface="宋体" panose="02010600030101010101" pitchFamily="2" charset="-122"/>
              </a:rPr>
              <a:t> </a:t>
            </a:r>
            <a:endParaRPr lang="zh-CN" altLang="en-US" dirty="0">
              <a:latin typeface="宋体" panose="02010600030101010101" pitchFamily="2" charset="-122"/>
              <a:ea typeface="宋体" panose="02010600030101010101" pitchFamily="2" charset="-122"/>
            </a:endParaRPr>
          </a:p>
          <a:p>
            <a:pPr algn="just">
              <a:spcBef>
                <a:spcPct val="50000"/>
              </a:spcBef>
            </a:pPr>
            <a:r>
              <a:rPr lang="zh-CN" altLang="en-US" dirty="0">
                <a:solidFill>
                  <a:srgbClr val="000000"/>
                </a:solidFill>
                <a:latin typeface="Courier New" panose="02070309020205020404" pitchFamily="49" charset="0"/>
                <a:ea typeface="宋体" panose="02010600030101010101" pitchFamily="2" charset="-122"/>
              </a:rPr>
              <a:t> </a:t>
            </a:r>
            <a:endParaRPr lang="zh-CN" altLang="en-US" dirty="0">
              <a:latin typeface="宋体" panose="02010600030101010101" pitchFamily="2" charset="-122"/>
              <a:ea typeface="宋体" panose="02010600030101010101" pitchFamily="2" charset="-122"/>
            </a:endParaRPr>
          </a:p>
          <a:p>
            <a:pPr algn="just">
              <a:spcBef>
                <a:spcPct val="50000"/>
              </a:spcBef>
            </a:pPr>
            <a:r>
              <a:rPr lang="zh-CN" altLang="en-US" dirty="0">
                <a:solidFill>
                  <a:srgbClr val="000000"/>
                </a:solidFill>
                <a:latin typeface="Courier New" panose="02070309020205020404" pitchFamily="49" charset="0"/>
                <a:ea typeface="宋体" panose="02010600030101010101" pitchFamily="2" charset="-122"/>
              </a:rPr>
              <a:t> </a:t>
            </a:r>
            <a:endParaRPr lang="zh-CN" altLang="en-US" dirty="0">
              <a:latin typeface="宋体" panose="02010600030101010101" pitchFamily="2" charset="-122"/>
              <a:ea typeface="宋体" panose="02010600030101010101" pitchFamily="2" charset="-122"/>
            </a:endParaRPr>
          </a:p>
          <a:p>
            <a:pPr algn="just">
              <a:spcBef>
                <a:spcPct val="50000"/>
              </a:spcBef>
            </a:pPr>
            <a:r>
              <a:rPr lang="zh-CN" altLang="en-US" dirty="0">
                <a:solidFill>
                  <a:srgbClr val="000000"/>
                </a:solidFill>
                <a:latin typeface="Courier New" panose="02070309020205020404" pitchFamily="49" charset="0"/>
                <a:ea typeface="宋体" panose="02010600030101010101" pitchFamily="2" charset="-122"/>
              </a:rPr>
              <a:t> </a:t>
            </a:r>
            <a:endParaRPr lang="zh-CN" altLang="en-US" dirty="0">
              <a:latin typeface="宋体" panose="02010600030101010101" pitchFamily="2" charset="-122"/>
              <a:ea typeface="宋体" panose="02010600030101010101" pitchFamily="2" charset="-122"/>
            </a:endParaRPr>
          </a:p>
          <a:p>
            <a:pPr>
              <a:spcBef>
                <a:spcPct val="50000"/>
              </a:spcBef>
            </a:pPr>
            <a:endParaRPr lang="zh-CN" altLang="en-US" dirty="0">
              <a:solidFill>
                <a:srgbClr val="000000"/>
              </a:solidFill>
              <a:latin typeface="宋体" panose="02010600030101010101" pitchFamily="2" charset="-122"/>
              <a:ea typeface="宋体" panose="02010600030101010101" pitchFamily="2" charset="-122"/>
            </a:endParaRPr>
          </a:p>
          <a:p>
            <a:pPr>
              <a:spcBef>
                <a:spcPct val="50000"/>
              </a:spcBef>
            </a:pPr>
            <a:r>
              <a:rPr lang="zh-CN" altLang="en-US" dirty="0">
                <a:solidFill>
                  <a:srgbClr val="000000"/>
                </a:solidFill>
                <a:latin typeface="宋体" panose="02010600030101010101" pitchFamily="2" charset="-122"/>
                <a:ea typeface="宋体" panose="02010600030101010101" pitchFamily="2" charset="-122"/>
              </a:rPr>
              <a:t>如</a:t>
            </a:r>
            <a:r>
              <a:rPr lang="zh-CN" altLang="en-US" dirty="0">
                <a:solidFill>
                  <a:srgbClr val="000000"/>
                </a:solidFill>
                <a:latin typeface="Times New Roman" panose="02020603050405020304" pitchFamily="18" charset="0"/>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MOV  40H</a:t>
            </a:r>
            <a:r>
              <a:rPr lang="zh-CN" altLang="en-US" dirty="0">
                <a:solidFill>
                  <a:srgbClr val="000000"/>
                </a:solidFill>
                <a:latin typeface="Times New Roman" panose="02020603050405020304" pitchFamily="18" charset="0"/>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#20H</a:t>
            </a:r>
          </a:p>
          <a:p>
            <a:pPr>
              <a:spcBef>
                <a:spcPct val="50000"/>
              </a:spcBef>
            </a:pPr>
            <a:r>
              <a:rPr lang="zh-CN" altLang="en-US" dirty="0">
                <a:solidFill>
                  <a:srgbClr val="000000"/>
                </a:solidFill>
                <a:latin typeface="Times New Roman" panose="02020603050405020304" pitchFamily="18" charset="0"/>
                <a:ea typeface="宋体" panose="02010600030101010101" pitchFamily="2" charset="-122"/>
              </a:rPr>
              <a:t>机器码：</a:t>
            </a:r>
            <a:r>
              <a:rPr lang="en-US" altLang="zh-CN" dirty="0">
                <a:solidFill>
                  <a:srgbClr val="000000"/>
                </a:solidFill>
                <a:latin typeface="Times New Roman" panose="02020603050405020304" pitchFamily="18" charset="0"/>
                <a:ea typeface="宋体" panose="02010600030101010101" pitchFamily="2" charset="-122"/>
              </a:rPr>
              <a:t>75H</a:t>
            </a:r>
            <a:r>
              <a:rPr lang="zh-CN" altLang="en-US" dirty="0">
                <a:solidFill>
                  <a:srgbClr val="000000"/>
                </a:solidFill>
                <a:latin typeface="Times New Roman" panose="02020603050405020304" pitchFamily="18" charset="0"/>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40H</a:t>
            </a:r>
            <a:r>
              <a:rPr lang="zh-CN" altLang="en-US" dirty="0">
                <a:solidFill>
                  <a:srgbClr val="000000"/>
                </a:solidFill>
                <a:latin typeface="Times New Roman" panose="02020603050405020304" pitchFamily="18" charset="0"/>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20H</a:t>
            </a:r>
            <a:r>
              <a:rPr lang="zh-CN" altLang="en-US" dirty="0">
                <a:solidFill>
                  <a:srgbClr val="000000"/>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p>
        </p:txBody>
      </p:sp>
      <p:graphicFrame>
        <p:nvGraphicFramePr>
          <p:cNvPr id="150544" name="Group 16"/>
          <p:cNvGraphicFramePr>
            <a:graphicFrameLocks noGrp="1"/>
          </p:cNvGraphicFramePr>
          <p:nvPr/>
        </p:nvGraphicFramePr>
        <p:xfrm>
          <a:off x="2286000" y="2209800"/>
          <a:ext cx="3657600" cy="2073276"/>
        </p:xfrm>
        <a:graphic>
          <a:graphicData uri="http://schemas.openxmlformats.org/drawingml/2006/table">
            <a:tbl>
              <a:tblPr/>
              <a:tblGrid>
                <a:gridCol w="3657600"/>
              </a:tblGrid>
              <a:tr h="518319">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7   6   5   4   3   2   1   0</a:t>
                      </a:r>
                    </a:p>
                  </a:txBody>
                  <a:tcPr marT="45734" marB="4573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319">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操作码</a:t>
                      </a:r>
                    </a:p>
                  </a:txBody>
                  <a:tcPr marT="45734" marB="4573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518319">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操作数</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marT="45734" marB="4573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518319">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操作数</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p>
                  </a:txBody>
                  <a:tcPr marT="45734" marB="4573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r>
            </a:tbl>
          </a:graphicData>
        </a:graphic>
      </p:graphicFrame>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14</a:t>
            </a:fld>
            <a:endParaRPr lang="en-US" altLang="zh-CN" sz="1400" b="0" dirty="0"/>
          </a:p>
        </p:txBody>
      </p:sp>
      <p:sp>
        <p:nvSpPr>
          <p:cNvPr id="20482" name="Rectangle 2"/>
          <p:cNvSpPr/>
          <p:nvPr/>
        </p:nvSpPr>
        <p:spPr>
          <a:xfrm>
            <a:off x="762000" y="1600200"/>
            <a:ext cx="7696200" cy="4154488"/>
          </a:xfrm>
          <a:prstGeom prst="rect">
            <a:avLst/>
          </a:prstGeom>
          <a:noFill/>
          <a:ln w="9525">
            <a:noFill/>
          </a:ln>
        </p:spPr>
        <p:txBody>
          <a:bodyPr anchor="t" anchorCtr="0">
            <a:spAutoFit/>
          </a:bodyPr>
          <a:lstStyle/>
          <a:p>
            <a:pPr>
              <a:spcBef>
                <a:spcPct val="50000"/>
              </a:spcBef>
            </a:pPr>
            <a:r>
              <a:rPr lang="zh-CN" altLang="en-US" dirty="0">
                <a:latin typeface="Times New Roman" panose="02020603050405020304" pitchFamily="18" charset="0"/>
                <a:ea typeface="宋体" panose="02010600030101010101" pitchFamily="2" charset="-122"/>
              </a:rPr>
              <a:t>一个源程序中，可多次使用</a:t>
            </a:r>
            <a:r>
              <a:rPr lang="en-US" altLang="zh-CN" dirty="0">
                <a:latin typeface="Times New Roman" panose="02020603050405020304" pitchFamily="18" charset="0"/>
                <a:ea typeface="宋体" panose="02010600030101010101" pitchFamily="2" charset="-122"/>
              </a:rPr>
              <a:t>ORG</a:t>
            </a:r>
            <a:r>
              <a:rPr lang="zh-CN" altLang="en-US" dirty="0">
                <a:latin typeface="Times New Roman" panose="02020603050405020304" pitchFamily="18" charset="0"/>
                <a:ea typeface="宋体" panose="02010600030101010101" pitchFamily="2" charset="-122"/>
              </a:rPr>
              <a:t>指令以规定不同程序段的起始位置。地址应从小到大顺序排列，不允许重叠。</a:t>
            </a:r>
          </a:p>
          <a:p>
            <a:pPr>
              <a:spcBef>
                <a:spcPct val="50000"/>
              </a:spcBef>
            </a:pPr>
            <a:r>
              <a:rPr lang="zh-CN" altLang="en-US" dirty="0">
                <a:latin typeface="Times New Roman" panose="02020603050405020304" pitchFamily="18" charset="0"/>
                <a:ea typeface="宋体" panose="02010600030101010101" pitchFamily="2" charset="-122"/>
              </a:rPr>
              <a:t>例如：        </a:t>
            </a:r>
            <a:r>
              <a:rPr lang="zh-CN" altLang="en-US" dirty="0">
                <a:solidFill>
                  <a:srgbClr val="FF3300"/>
                </a:solidFill>
                <a:latin typeface="Times New Roman" panose="02020603050405020304" pitchFamily="18" charset="0"/>
                <a:ea typeface="宋体" panose="02010600030101010101" pitchFamily="2" charset="-122"/>
              </a:rPr>
              <a:t>	</a:t>
            </a:r>
            <a:r>
              <a:rPr lang="en-US" altLang="zh-CN" dirty="0">
                <a:solidFill>
                  <a:srgbClr val="FF3300"/>
                </a:solidFill>
                <a:latin typeface="Times New Roman" panose="02020603050405020304" pitchFamily="18" charset="0"/>
                <a:ea typeface="宋体" panose="02010600030101010101" pitchFamily="2" charset="-122"/>
              </a:rPr>
              <a:t>ORG     0</a:t>
            </a:r>
          </a:p>
          <a:p>
            <a:pPr>
              <a:spcBef>
                <a:spcPct val="50000"/>
              </a:spcBef>
            </a:pPr>
            <a:r>
              <a:rPr lang="en-US" altLang="zh-CN" dirty="0">
                <a:latin typeface="Times New Roman" panose="02020603050405020304" pitchFamily="18" charset="0"/>
                <a:ea typeface="宋体" panose="02010600030101010101" pitchFamily="2" charset="-122"/>
              </a:rPr>
              <a:t>		LJMP	   MAIN</a:t>
            </a:r>
          </a:p>
          <a:p>
            <a:pPr>
              <a:spcBef>
                <a:spcPct val="50000"/>
              </a:spcBef>
            </a:pPr>
            <a:r>
              <a:rPr lang="en-US" altLang="zh-CN" dirty="0">
                <a:latin typeface="Times New Roman" panose="02020603050405020304" pitchFamily="18" charset="0"/>
                <a:ea typeface="宋体" panose="02010600030101010101" pitchFamily="2" charset="-122"/>
              </a:rPr>
              <a:t>		</a:t>
            </a:r>
            <a:r>
              <a:rPr lang="en-US" altLang="zh-CN" dirty="0">
                <a:solidFill>
                  <a:srgbClr val="FF3300"/>
                </a:solidFill>
                <a:latin typeface="Times New Roman" panose="02020603050405020304" pitchFamily="18" charset="0"/>
                <a:ea typeface="宋体" panose="02010600030101010101" pitchFamily="2" charset="-122"/>
              </a:rPr>
              <a:t>ORG	  200H</a:t>
            </a:r>
          </a:p>
          <a:p>
            <a:pPr>
              <a:spcBef>
                <a:spcPct val="50000"/>
              </a:spcBef>
            </a:pPr>
            <a:r>
              <a:rPr lang="en-US" altLang="zh-CN" dirty="0">
                <a:latin typeface="Times New Roman" panose="02020603050405020304" pitchFamily="18" charset="0"/>
                <a:ea typeface="宋体" panose="02010600030101010101" pitchFamily="2" charset="-122"/>
              </a:rPr>
              <a:t>MAIN</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A</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30H</a:t>
            </a:r>
          </a:p>
          <a:p>
            <a:pPr>
              <a:spcBef>
                <a:spcPct val="50000"/>
              </a:spcBef>
            </a:pPr>
            <a:endParaRPr lang="en-US" altLang="zh-CN" dirty="0">
              <a:latin typeface="Times New Roman" panose="02020603050405020304" pitchFamily="18" charset="0"/>
              <a:ea typeface="宋体" panose="02010600030101010101" pitchFamily="2" charset="-122"/>
            </a:endParaRPr>
          </a:p>
          <a:p>
            <a:pPr>
              <a:spcBef>
                <a:spcPct val="50000"/>
              </a:spcBef>
            </a:pPr>
            <a:r>
              <a:rPr lang="en-US" altLang="zh-CN" dirty="0">
                <a:latin typeface="Times New Roman" panose="02020603050405020304" pitchFamily="18" charset="0"/>
                <a:ea typeface="宋体" panose="02010600030101010101" pitchFamily="2" charset="-122"/>
              </a:rPr>
              <a:t>         </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15</a:t>
            </a:fld>
            <a:endParaRPr lang="en-US" altLang="zh-CN" sz="1400" b="0" dirty="0"/>
          </a:p>
        </p:txBody>
      </p:sp>
      <p:sp>
        <p:nvSpPr>
          <p:cNvPr id="139266" name="Rectangle 2"/>
          <p:cNvSpPr/>
          <p:nvPr/>
        </p:nvSpPr>
        <p:spPr>
          <a:xfrm>
            <a:off x="457200" y="914400"/>
            <a:ext cx="8458200" cy="2647950"/>
          </a:xfrm>
          <a:prstGeom prst="rect">
            <a:avLst/>
          </a:prstGeom>
          <a:noFill/>
          <a:ln w="9525">
            <a:noFill/>
          </a:ln>
        </p:spPr>
        <p:txBody>
          <a:bodyPr anchor="t" anchorCtr="0">
            <a:spAutoFit/>
          </a:bodyPr>
          <a:lstStyle/>
          <a:p>
            <a:pPr algn="just">
              <a:lnSpc>
                <a:spcPct val="140000"/>
              </a:lnSpc>
            </a:pPr>
            <a:r>
              <a:rPr lang="en-US" altLang="zh-CN" dirty="0">
                <a:solidFill>
                  <a:srgbClr val="0000CC"/>
                </a:solidFill>
                <a:latin typeface="Times New Roman" panose="02020603050405020304" pitchFamily="18" charset="0"/>
                <a:ea typeface="黑体" panose="02010609060101010101" pitchFamily="49" charset="-122"/>
              </a:rPr>
              <a:t>2) END</a:t>
            </a:r>
            <a:r>
              <a:rPr lang="zh-CN" altLang="en-US" dirty="0">
                <a:solidFill>
                  <a:srgbClr val="0000CC"/>
                </a:solidFill>
                <a:latin typeface="Times New Roman" panose="02020603050405020304" pitchFamily="18" charset="0"/>
                <a:ea typeface="黑体" panose="02010609060101010101" pitchFamily="49" charset="-122"/>
              </a:rPr>
              <a:t>（</a:t>
            </a:r>
            <a:r>
              <a:rPr lang="en-US" altLang="zh-CN" dirty="0">
                <a:solidFill>
                  <a:srgbClr val="0000CC"/>
                </a:solidFill>
                <a:latin typeface="Times New Roman" panose="02020603050405020304" pitchFamily="18" charset="0"/>
                <a:ea typeface="黑体" panose="02010609060101010101" pitchFamily="49" charset="-122"/>
              </a:rPr>
              <a:t>END of assembly</a:t>
            </a:r>
            <a:r>
              <a:rPr lang="zh-CN" altLang="en-US" dirty="0">
                <a:solidFill>
                  <a:srgbClr val="0000CC"/>
                </a:solidFill>
                <a:latin typeface="Times New Roman" panose="02020603050405020304" pitchFamily="18" charset="0"/>
                <a:ea typeface="黑体" panose="02010609060101010101" pitchFamily="49" charset="-122"/>
              </a:rPr>
              <a:t>）汇编终止命令</a:t>
            </a:r>
            <a:endParaRPr lang="zh-CN" altLang="en-US" dirty="0">
              <a:solidFill>
                <a:srgbClr val="0000CC"/>
              </a:solidFill>
              <a:latin typeface="Times New Roman" panose="02020603050405020304" pitchFamily="18" charset="0"/>
              <a:ea typeface="宋体" panose="02010600030101010101" pitchFamily="2" charset="-122"/>
            </a:endParaRPr>
          </a:p>
          <a:p>
            <a:pPr eaLnBrk="0" hangingPunct="0">
              <a:lnSpc>
                <a:spcPct val="140000"/>
              </a:lnSpc>
            </a:pPr>
            <a:r>
              <a:rPr lang="zh-CN" altLang="en-US" dirty="0">
                <a:latin typeface="Times New Roman" panose="02020603050405020304" pitchFamily="18" charset="0"/>
                <a:ea typeface="宋体" panose="02010600030101010101" pitchFamily="2" charset="-122"/>
              </a:rPr>
              <a:t>    </a:t>
            </a:r>
          </a:p>
          <a:p>
            <a:pPr eaLnBrk="0" hangingPunct="0">
              <a:lnSpc>
                <a:spcPct val="140000"/>
              </a:lnSpc>
            </a:pPr>
            <a:r>
              <a:rPr lang="zh-CN" altLang="en-US" dirty="0">
                <a:latin typeface="Times New Roman" panose="02020603050405020304" pitchFamily="18" charset="0"/>
                <a:ea typeface="宋体" panose="02010600030101010101" pitchFamily="2" charset="-122"/>
              </a:rPr>
              <a:t>    功能：用于终止源程序的汇编工作。</a:t>
            </a:r>
          </a:p>
          <a:p>
            <a:pPr eaLnBrk="0" hangingPunct="0">
              <a:lnSpc>
                <a:spcPct val="140000"/>
              </a:lnSpc>
            </a:pPr>
            <a:r>
              <a:rPr lang="zh-CN" altLang="en-US" dirty="0">
                <a:latin typeface="Times New Roman" panose="02020603050405020304" pitchFamily="18" charset="0"/>
                <a:ea typeface="宋体" panose="02010600030101010101" pitchFamily="2" charset="-122"/>
              </a:rPr>
              <a:t>    格式：</a:t>
            </a:r>
          </a:p>
          <a:p>
            <a:pPr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solidFill>
                  <a:srgbClr val="FF3300"/>
                </a:solidFill>
                <a:latin typeface="Times New Roman" panose="02020603050405020304" pitchFamily="18" charset="0"/>
                <a:ea typeface="宋体" panose="02010600030101010101" pitchFamily="2" charset="-122"/>
              </a:rPr>
              <a:t>[</a:t>
            </a:r>
            <a:r>
              <a:rPr lang="zh-CN" altLang="en-US" dirty="0">
                <a:solidFill>
                  <a:srgbClr val="FF3300"/>
                </a:solidFill>
                <a:latin typeface="Times New Roman" panose="02020603050405020304" pitchFamily="18" charset="0"/>
                <a:ea typeface="宋体" panose="02010600030101010101" pitchFamily="2" charset="-122"/>
              </a:rPr>
              <a:t>标号：</a:t>
            </a:r>
            <a:r>
              <a:rPr lang="en-US" altLang="zh-CN" dirty="0">
                <a:solidFill>
                  <a:srgbClr val="FF3300"/>
                </a:solidFill>
                <a:latin typeface="Times New Roman" panose="02020603050405020304" pitchFamily="18" charset="0"/>
                <a:ea typeface="宋体" panose="02010600030101010101" pitchFamily="2" charset="-122"/>
              </a:rPr>
              <a:t>]   END   [</a:t>
            </a:r>
            <a:r>
              <a:rPr lang="zh-CN" altLang="en-US" dirty="0">
                <a:solidFill>
                  <a:srgbClr val="FF3300"/>
                </a:solidFill>
                <a:latin typeface="Times New Roman" panose="02020603050405020304" pitchFamily="18" charset="0"/>
                <a:ea typeface="宋体" panose="02010600030101010101" pitchFamily="2" charset="-122"/>
              </a:rPr>
              <a:t>表达式</a:t>
            </a:r>
            <a:r>
              <a:rPr lang="en-US" altLang="zh-CN" dirty="0">
                <a:solidFill>
                  <a:srgbClr val="FF3300"/>
                </a:solidFill>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139267" name="Text Box 3"/>
          <p:cNvSpPr txBox="1"/>
          <p:nvPr/>
        </p:nvSpPr>
        <p:spPr>
          <a:xfrm>
            <a:off x="250825" y="4210050"/>
            <a:ext cx="8066088" cy="3152775"/>
          </a:xfrm>
          <a:prstGeom prst="rect">
            <a:avLst/>
          </a:prstGeom>
          <a:noFill/>
          <a:ln w="9525">
            <a:noFill/>
          </a:ln>
        </p:spPr>
        <p:txBody>
          <a:bodyPr anchor="t" anchorCtr="0">
            <a:spAutoFit/>
          </a:bodyPr>
          <a:lstStyle/>
          <a:p>
            <a:pPr>
              <a:lnSpc>
                <a:spcPct val="130000"/>
              </a:lnSpc>
            </a:pPr>
            <a:r>
              <a:rPr lang="zh-CN" altLang="en-US" dirty="0">
                <a:latin typeface="Times New Roman" panose="02020603050405020304" pitchFamily="18" charset="0"/>
                <a:ea typeface="宋体" panose="02010600030101010101" pitchFamily="2" charset="-122"/>
              </a:rPr>
              <a:t>注意：只有主程序模块才有“表达式” 项，且“表达式”的值等于该程序模块的入口地址。而其他程序模块就没有“表达式”项。</a:t>
            </a:r>
          </a:p>
          <a:p>
            <a:pPr>
              <a:lnSpc>
                <a:spcPct val="130000"/>
              </a:lnSpc>
            </a:pPr>
            <a:r>
              <a:rPr lang="zh-CN" altLang="en-US" dirty="0">
                <a:solidFill>
                  <a:srgbClr val="FF0000"/>
                </a:solidFill>
                <a:latin typeface="Times New Roman" panose="02020603050405020304" pitchFamily="18" charset="0"/>
                <a:ea typeface="宋体" panose="02010600030101010101" pitchFamily="2" charset="-122"/>
              </a:rPr>
              <a:t>         “表达式”可以省略。</a:t>
            </a:r>
          </a:p>
          <a:p>
            <a:pPr>
              <a:lnSpc>
                <a:spcPct val="130000"/>
              </a:lnSpc>
            </a:pPr>
            <a:r>
              <a:rPr lang="zh-CN" altLang="en-US" dirty="0">
                <a:latin typeface="Times New Roman" panose="02020603050405020304" pitchFamily="18" charset="0"/>
                <a:ea typeface="宋体" panose="02010600030101010101" pitchFamily="2" charset="-122"/>
              </a:rPr>
              <a:t>            </a:t>
            </a:r>
            <a:r>
              <a:rPr lang="zh-CN" altLang="en-US" dirty="0">
                <a:solidFill>
                  <a:srgbClr val="FF3300"/>
                </a:solidFill>
                <a:latin typeface="Times New Roman" panose="02020603050405020304" pitchFamily="18" charset="0"/>
                <a:ea typeface="宋体" panose="02010600030101010101" pitchFamily="2" charset="-122"/>
              </a:rPr>
              <a:t>一个源程序只能有一个</a:t>
            </a:r>
            <a:r>
              <a:rPr lang="en-US" altLang="zh-CN" dirty="0">
                <a:solidFill>
                  <a:srgbClr val="FF3300"/>
                </a:solidFill>
                <a:latin typeface="Times New Roman" panose="02020603050405020304" pitchFamily="18" charset="0"/>
                <a:ea typeface="宋体" panose="02010600030101010101" pitchFamily="2" charset="-122"/>
              </a:rPr>
              <a:t>END</a:t>
            </a:r>
            <a:r>
              <a:rPr lang="zh-CN" altLang="en-US" dirty="0">
                <a:solidFill>
                  <a:srgbClr val="FF3300"/>
                </a:solidFill>
                <a:latin typeface="Times New Roman" panose="02020603050405020304" pitchFamily="18" charset="0"/>
                <a:ea typeface="宋体" panose="02010600030101010101" pitchFamily="2" charset="-122"/>
              </a:rPr>
              <a:t>命令。</a:t>
            </a:r>
          </a:p>
          <a:p>
            <a:pPr>
              <a:lnSpc>
                <a:spcPct val="130000"/>
              </a:lnSpc>
              <a:spcBef>
                <a:spcPct val="50000"/>
              </a:spcBef>
            </a:pPr>
            <a:endParaRPr lang="en-US" altLang="zh-CN"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Text Box 5"/>
          <p:cNvSpPr txBox="1"/>
          <p:nvPr/>
        </p:nvSpPr>
        <p:spPr>
          <a:xfrm>
            <a:off x="139700" y="501650"/>
            <a:ext cx="8208963" cy="1516063"/>
          </a:xfrm>
          <a:prstGeom prst="rect">
            <a:avLst/>
          </a:prstGeom>
          <a:noFill/>
          <a:ln w="9525">
            <a:noFill/>
          </a:ln>
        </p:spPr>
        <p:txBody>
          <a:bodyPr anchor="t" anchorCtr="0">
            <a:spAutoFit/>
          </a:bodyPr>
          <a:lstStyle/>
          <a:p>
            <a:pPr>
              <a:lnSpc>
                <a:spcPct val="130000"/>
              </a:lnSpc>
            </a:pPr>
            <a:r>
              <a:rPr lang="en-US" altLang="zh-CN"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语句</a:t>
            </a:r>
          </a:p>
          <a:p>
            <a:pPr>
              <a:lnSpc>
                <a:spcPct val="130000"/>
              </a:lnSpc>
            </a:pPr>
            <a:r>
              <a:rPr lang="en-US" altLang="zh-CN" dirty="0">
                <a:latin typeface="Times New Roman" panose="02020603050405020304" pitchFamily="18" charset="0"/>
                <a:ea typeface="宋体" panose="02010600030101010101" pitchFamily="2" charset="-122"/>
              </a:rPr>
              <a:t>char  square[ ]={</a:t>
            </a:r>
            <a:r>
              <a:rPr lang="en-US" altLang="zh-CN" dirty="0">
                <a:solidFill>
                  <a:srgbClr val="FF0000"/>
                </a:solidFill>
                <a:latin typeface="Times New Roman" panose="02020603050405020304" pitchFamily="18" charset="0"/>
                <a:ea typeface="宋体" panose="02010600030101010101" pitchFamily="2" charset="-122"/>
              </a:rPr>
              <a:t>0, 1, 4, 9, 16, 25, 36, 49, 64, 81</a:t>
            </a:r>
            <a:r>
              <a:rPr lang="en-US" altLang="zh-CN" dirty="0">
                <a:latin typeface="Times New Roman" panose="02020603050405020304" pitchFamily="18" charset="0"/>
                <a:ea typeface="宋体" panose="02010600030101010101" pitchFamily="2" charset="-122"/>
              </a:rPr>
              <a:t>} ;</a:t>
            </a:r>
          </a:p>
          <a:p>
            <a:pPr>
              <a:lnSpc>
                <a:spcPct val="130000"/>
              </a:lnSpc>
            </a:pPr>
            <a:r>
              <a:rPr lang="en-US" altLang="zh-CN" dirty="0">
                <a:latin typeface="Times New Roman" panose="02020603050405020304" pitchFamily="18" charset="0"/>
                <a:ea typeface="宋体" panose="02010600030101010101" pitchFamily="2" charset="-122"/>
              </a:rPr>
              <a:t>char  string[ ]=“</a:t>
            </a:r>
            <a:r>
              <a:rPr lang="en-US" altLang="zh-CN" dirty="0">
                <a:solidFill>
                  <a:srgbClr val="FF0000"/>
                </a:solidFill>
                <a:latin typeface="Times New Roman" panose="02020603050405020304" pitchFamily="18" charset="0"/>
                <a:ea typeface="宋体" panose="02010600030101010101" pitchFamily="2" charset="-122"/>
              </a:rPr>
              <a:t>An apple!</a:t>
            </a:r>
            <a:r>
              <a:rPr lang="en-US" altLang="zh-CN" dirty="0">
                <a:latin typeface="Times New Roman" panose="02020603050405020304" pitchFamily="18" charset="0"/>
                <a:ea typeface="宋体" panose="02010600030101010101" pitchFamily="2" charset="-122"/>
              </a:rPr>
              <a:t>”;</a:t>
            </a:r>
          </a:p>
        </p:txBody>
      </p:sp>
      <p:pic>
        <p:nvPicPr>
          <p:cNvPr id="2" name="图片 1"/>
          <p:cNvPicPr>
            <a:picLocks noChangeAspect="1"/>
          </p:cNvPicPr>
          <p:nvPr/>
        </p:nvPicPr>
        <p:blipFill>
          <a:blip r:embed="rId2"/>
          <a:stretch>
            <a:fillRect/>
          </a:stretch>
        </p:blipFill>
        <p:spPr>
          <a:xfrm>
            <a:off x="1259205" y="2204720"/>
            <a:ext cx="6293485" cy="3973830"/>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bldLst>
      <p:bldP spid="25605"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17</a:t>
            </a:fld>
            <a:endParaRPr lang="en-US" altLang="zh-CN" sz="1400" b="0" dirty="0"/>
          </a:p>
        </p:txBody>
      </p:sp>
      <p:sp>
        <p:nvSpPr>
          <p:cNvPr id="141314" name="Rectangle 2"/>
          <p:cNvSpPr/>
          <p:nvPr/>
        </p:nvSpPr>
        <p:spPr>
          <a:xfrm>
            <a:off x="107950" y="765175"/>
            <a:ext cx="8534400" cy="1529715"/>
          </a:xfrm>
          <a:prstGeom prst="rect">
            <a:avLst/>
          </a:prstGeom>
          <a:noFill/>
          <a:ln w="9525">
            <a:noFill/>
          </a:ln>
        </p:spPr>
        <p:txBody>
          <a:bodyPr anchor="t" anchorCtr="0">
            <a:spAutoFit/>
          </a:bodyPr>
          <a:lstStyle/>
          <a:p>
            <a:pPr indent="266700" algn="just">
              <a:lnSpc>
                <a:spcPct val="130000"/>
              </a:lnSpc>
            </a:pPr>
            <a:r>
              <a:rPr lang="en-US" altLang="zh-CN" dirty="0">
                <a:solidFill>
                  <a:srgbClr val="FF3300"/>
                </a:solidFill>
                <a:latin typeface="Times New Roman" panose="02020603050405020304" pitchFamily="18" charset="0"/>
                <a:ea typeface="黑体" panose="02010609060101010101" pitchFamily="49" charset="-122"/>
              </a:rPr>
              <a:t>3) DB</a:t>
            </a:r>
            <a:r>
              <a:rPr lang="zh-CN" altLang="en-US" dirty="0">
                <a:solidFill>
                  <a:srgbClr val="FF3300"/>
                </a:solidFill>
                <a:latin typeface="Times New Roman" panose="02020603050405020304" pitchFamily="18" charset="0"/>
                <a:ea typeface="黑体" panose="02010609060101010101" pitchFamily="49" charset="-122"/>
              </a:rPr>
              <a:t>（</a:t>
            </a:r>
            <a:r>
              <a:rPr lang="en-US" altLang="zh-CN" dirty="0">
                <a:solidFill>
                  <a:srgbClr val="FF3300"/>
                </a:solidFill>
                <a:latin typeface="Times New Roman" panose="02020603050405020304" pitchFamily="18" charset="0"/>
                <a:ea typeface="黑体" panose="02010609060101010101" pitchFamily="49" charset="-122"/>
              </a:rPr>
              <a:t>Define Byte</a:t>
            </a:r>
            <a:r>
              <a:rPr lang="zh-CN" altLang="en-US" dirty="0">
                <a:solidFill>
                  <a:srgbClr val="FF3300"/>
                </a:solidFill>
                <a:latin typeface="Times New Roman" panose="02020603050405020304" pitchFamily="18" charset="0"/>
                <a:ea typeface="黑体" panose="02010609060101010101" pitchFamily="49" charset="-122"/>
              </a:rPr>
              <a:t>）  定义数据字节命令</a:t>
            </a:r>
            <a:endParaRPr lang="zh-CN" altLang="en-US" dirty="0">
              <a:solidFill>
                <a:srgbClr val="FF3300"/>
              </a:solidFill>
              <a:latin typeface="Times New Roman" panose="02020603050405020304" pitchFamily="18" charset="0"/>
              <a:ea typeface="宋体" panose="02010600030101010101" pitchFamily="2" charset="-122"/>
            </a:endParaRPr>
          </a:p>
          <a:p>
            <a:pPr indent="266700" algn="just" eaLnBrk="0" hangingPunct="0">
              <a:lnSpc>
                <a:spcPct val="130000"/>
              </a:lnSpc>
            </a:pPr>
            <a:r>
              <a:rPr lang="zh-CN" altLang="en-US" dirty="0">
                <a:latin typeface="Times New Roman" panose="02020603050405020304" pitchFamily="18" charset="0"/>
                <a:ea typeface="宋体" panose="02010600030101010101" pitchFamily="2" charset="-122"/>
              </a:rPr>
              <a:t>    功能：用于从指定的地址单元开始，在</a:t>
            </a:r>
            <a:r>
              <a:rPr lang="zh-CN" altLang="en-US" dirty="0">
                <a:highlight>
                  <a:srgbClr val="FFFF00"/>
                </a:highlight>
                <a:latin typeface="Times New Roman" panose="02020603050405020304" pitchFamily="18" charset="0"/>
                <a:ea typeface="宋体" panose="02010600030101010101" pitchFamily="2" charset="-122"/>
              </a:rPr>
              <a:t>程序存储器（</a:t>
            </a:r>
            <a:r>
              <a:rPr lang="en-US" altLang="zh-CN" dirty="0">
                <a:highlight>
                  <a:srgbClr val="FFFF00"/>
                </a:highlight>
                <a:latin typeface="Times New Roman" panose="02020603050405020304" pitchFamily="18" charset="0"/>
                <a:ea typeface="宋体" panose="02010600030101010101" pitchFamily="2" charset="-122"/>
              </a:rPr>
              <a:t>ROM</a:t>
            </a:r>
            <a:r>
              <a:rPr lang="zh-CN" altLang="en-US" dirty="0">
                <a:highlight>
                  <a:srgbClr val="FFFF00"/>
                </a:highlight>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中定义</a:t>
            </a:r>
            <a:r>
              <a:rPr lang="zh-CN" altLang="en-US" dirty="0">
                <a:highlight>
                  <a:srgbClr val="FFFF00"/>
                </a:highlight>
                <a:latin typeface="Times New Roman" panose="02020603050405020304" pitchFamily="18" charset="0"/>
                <a:ea typeface="宋体" panose="02010600030101010101" pitchFamily="2" charset="-122"/>
              </a:rPr>
              <a:t>字节型</a:t>
            </a:r>
            <a:r>
              <a:rPr lang="zh-CN" altLang="en-US" dirty="0">
                <a:latin typeface="Times New Roman" panose="02020603050405020304" pitchFamily="18" charset="0"/>
                <a:ea typeface="宋体" panose="02010600030101010101" pitchFamily="2" charset="-122"/>
              </a:rPr>
              <a:t>数据。    </a:t>
            </a:r>
          </a:p>
        </p:txBody>
      </p:sp>
      <p:sp>
        <p:nvSpPr>
          <p:cNvPr id="141315" name="Rectangle 3"/>
          <p:cNvSpPr/>
          <p:nvPr/>
        </p:nvSpPr>
        <p:spPr>
          <a:xfrm>
            <a:off x="251460" y="2492693"/>
            <a:ext cx="8120063" cy="1114425"/>
          </a:xfrm>
          <a:prstGeom prst="rect">
            <a:avLst/>
          </a:prstGeom>
          <a:noFill/>
          <a:ln w="9525">
            <a:noFill/>
          </a:ln>
        </p:spPr>
        <p:txBody>
          <a:bodyPr anchor="ctr" anchorCtr="0">
            <a:spAutoFit/>
          </a:bodyPr>
          <a:lstStyle/>
          <a:p>
            <a:pPr>
              <a:lnSpc>
                <a:spcPct val="140000"/>
              </a:lnSpc>
            </a:pP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4-1  </a:t>
            </a:r>
            <a:r>
              <a:rPr lang="zh-CN" altLang="en-US" dirty="0">
                <a:latin typeface="Times New Roman" panose="02020603050405020304" pitchFamily="18" charset="0"/>
                <a:ea typeface="宋体" panose="02010600030101010101" pitchFamily="2" charset="-122"/>
              </a:rPr>
              <a:t>分别从</a:t>
            </a:r>
            <a:r>
              <a:rPr lang="en-US" altLang="zh-CN" dirty="0">
                <a:latin typeface="Times New Roman" panose="02020603050405020304" pitchFamily="18" charset="0"/>
                <a:ea typeface="宋体" panose="02010600030101010101" pitchFamily="2" charset="-122"/>
              </a:rPr>
              <a:t>ROM</a:t>
            </a:r>
            <a:r>
              <a:rPr lang="zh-CN" altLang="en-US" dirty="0">
                <a:latin typeface="Times New Roman" panose="02020603050405020304" pitchFamily="18" charset="0"/>
                <a:ea typeface="宋体" panose="02010600030101010101" pitchFamily="2" charset="-122"/>
              </a:rPr>
              <a:t>的</a:t>
            </a:r>
            <a:r>
              <a:rPr lang="en-US" altLang="zh-CN" dirty="0">
                <a:solidFill>
                  <a:srgbClr val="FF0000"/>
                </a:solidFill>
                <a:latin typeface="Times New Roman" panose="02020603050405020304" pitchFamily="18" charset="0"/>
                <a:ea typeface="宋体" panose="02010600030101010101" pitchFamily="2" charset="-122"/>
              </a:rPr>
              <a:t>1000H</a:t>
            </a:r>
            <a:r>
              <a:rPr lang="zh-CN" altLang="en-US" dirty="0">
                <a:latin typeface="Times New Roman" panose="02020603050405020304" pitchFamily="18" charset="0"/>
                <a:ea typeface="宋体" panose="02010600030101010101" pitchFamily="2" charset="-122"/>
              </a:rPr>
              <a:t>和</a:t>
            </a:r>
            <a:r>
              <a:rPr lang="en-US" altLang="zh-CN" dirty="0">
                <a:solidFill>
                  <a:srgbClr val="FF0000"/>
                </a:solidFill>
                <a:latin typeface="Times New Roman" panose="02020603050405020304" pitchFamily="18" charset="0"/>
                <a:ea typeface="宋体" panose="02010600030101010101" pitchFamily="2" charset="-122"/>
              </a:rPr>
              <a:t>1020H</a:t>
            </a:r>
            <a:r>
              <a:rPr lang="zh-CN" altLang="en-US" dirty="0">
                <a:latin typeface="Times New Roman" panose="02020603050405020304" pitchFamily="18" charset="0"/>
                <a:ea typeface="宋体" panose="02010600030101010101" pitchFamily="2" charset="-122"/>
              </a:rPr>
              <a:t>单元开始，按顺序存放</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9</a:t>
            </a:r>
            <a:r>
              <a:rPr lang="zh-CN" altLang="en-US" dirty="0">
                <a:latin typeface="Times New Roman" panose="02020603050405020304" pitchFamily="18" charset="0"/>
                <a:ea typeface="宋体" panose="02010600030101010101" pitchFamily="2" charset="-122"/>
              </a:rPr>
              <a:t>中每个整数的平方值和字符串“</a:t>
            </a:r>
            <a:r>
              <a:rPr lang="en-US" altLang="zh-CN" dirty="0">
                <a:latin typeface="Times New Roman" panose="02020603050405020304" pitchFamily="18" charset="0"/>
                <a:ea typeface="宋体" panose="02010600030101010101" pitchFamily="2" charset="-122"/>
              </a:rPr>
              <a:t>An apple!”</a:t>
            </a:r>
            <a:r>
              <a:rPr lang="zh-CN" altLang="en-US" dirty="0">
                <a:latin typeface="Times New Roman" panose="02020603050405020304" pitchFamily="18" charset="0"/>
                <a:ea typeface="宋体" panose="02010600030101010101" pitchFamily="2" charset="-122"/>
              </a:rPr>
              <a:t>。</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18</a:t>
            </a:fld>
            <a:endParaRPr lang="en-US" altLang="zh-CN" sz="1400" b="0" dirty="0"/>
          </a:p>
        </p:txBody>
      </p:sp>
      <p:sp>
        <p:nvSpPr>
          <p:cNvPr id="24577" name="页脚占位符 4"/>
          <p:cNvSpPr txBox="1">
            <a:spLocks noGrp="1"/>
          </p:cNvSpPr>
          <p:nvPr>
            <p:ph type="ftr" sz="quarter" idx="4294967295"/>
          </p:nvPr>
        </p:nvSpPr>
        <p:spPr>
          <a:xfrm>
            <a:off x="0" y="6400800"/>
            <a:ext cx="2895600" cy="457200"/>
          </a:xfrm>
          <a:prstGeom prst="rect">
            <a:avLst/>
          </a:prstGeom>
          <a:noFill/>
          <a:ln w="9525">
            <a:noFill/>
          </a:ln>
        </p:spPr>
        <p:txBody>
          <a:bodyPr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0" hangingPunct="0"/>
            <a:r>
              <a:rPr lang="en-US" altLang="zh-CN" dirty="0"/>
              <a:t>1</a:t>
            </a:r>
          </a:p>
        </p:txBody>
      </p:sp>
      <p:sp>
        <p:nvSpPr>
          <p:cNvPr id="26628" name="Text Box 4"/>
          <p:cNvSpPr txBox="1"/>
          <p:nvPr/>
        </p:nvSpPr>
        <p:spPr>
          <a:xfrm>
            <a:off x="323850" y="2205038"/>
            <a:ext cx="6985000" cy="2489200"/>
          </a:xfrm>
          <a:prstGeom prst="rect">
            <a:avLst/>
          </a:prstGeom>
          <a:noFill/>
          <a:ln w="9525">
            <a:noFill/>
          </a:ln>
        </p:spPr>
        <p:txBody>
          <a:bodyPr anchor="t" anchorCtr="0">
            <a:spAutoFit/>
          </a:bodyPr>
          <a:lstStyle/>
          <a:p>
            <a:pPr>
              <a:lnSpc>
                <a:spcPct val="130000"/>
              </a:lnSpc>
            </a:pPr>
            <a:r>
              <a:rPr lang="zh-CN" altLang="en-US"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ORG    1000H</a:t>
            </a:r>
          </a:p>
          <a:p>
            <a:pPr>
              <a:lnSpc>
                <a:spcPct val="130000"/>
              </a:lnSpc>
            </a:pPr>
            <a:r>
              <a:rPr lang="en-US" altLang="zh-CN" dirty="0">
                <a:solidFill>
                  <a:srgbClr val="FF0000"/>
                </a:solidFill>
                <a:latin typeface="Times New Roman" panose="02020603050405020304" pitchFamily="18" charset="0"/>
                <a:ea typeface="宋体" panose="02010600030101010101" pitchFamily="2" charset="-122"/>
              </a:rPr>
              <a:t>SQUARE:  	 DB	   0, 1, 4, 9, 16, 25, 36, 49, 64, 81</a:t>
            </a:r>
          </a:p>
          <a:p>
            <a:pPr>
              <a:lnSpc>
                <a:spcPct val="130000"/>
              </a:lnSpc>
            </a:pPr>
            <a:r>
              <a:rPr lang="en-US" altLang="zh-CN" dirty="0">
                <a:solidFill>
                  <a:schemeClr val="accent2"/>
                </a:solidFill>
                <a:latin typeface="Times New Roman" panose="02020603050405020304" pitchFamily="18" charset="0"/>
                <a:ea typeface="宋体" panose="02010600030101010101" pitchFamily="2" charset="-122"/>
              </a:rPr>
              <a:t>		 ORG    1020H</a:t>
            </a:r>
          </a:p>
          <a:p>
            <a:pPr>
              <a:lnSpc>
                <a:spcPct val="130000"/>
              </a:lnSpc>
            </a:pPr>
            <a:r>
              <a:rPr lang="en-US" altLang="zh-CN" dirty="0">
                <a:solidFill>
                  <a:schemeClr val="accent2"/>
                </a:solidFill>
                <a:latin typeface="Times New Roman" panose="02020603050405020304" pitchFamily="18" charset="0"/>
                <a:ea typeface="宋体" panose="02010600030101010101" pitchFamily="2" charset="-122"/>
              </a:rPr>
              <a:t>STRING:	 DB       “An apple!”</a:t>
            </a:r>
          </a:p>
          <a:p>
            <a:pPr>
              <a:lnSpc>
                <a:spcPct val="130000"/>
              </a:lnSpc>
            </a:pPr>
            <a:r>
              <a:rPr lang="en-US" altLang="zh-CN" dirty="0">
                <a:solidFill>
                  <a:schemeClr val="accent2"/>
                </a:solidFill>
                <a:latin typeface="Times New Roman" panose="02020603050405020304" pitchFamily="18" charset="0"/>
                <a:ea typeface="宋体" panose="02010600030101010101" pitchFamily="2" charset="-122"/>
              </a:rPr>
              <a:t>		 END</a:t>
            </a:r>
            <a:r>
              <a:rPr lang="en-US" altLang="zh-CN" dirty="0">
                <a:latin typeface="Times New Roman" panose="02020603050405020304" pitchFamily="18" charset="0"/>
                <a:ea typeface="宋体" panose="02010600030101010101" pitchFamily="2" charset="-122"/>
              </a:rPr>
              <a:t>		</a:t>
            </a:r>
          </a:p>
        </p:txBody>
      </p:sp>
      <p:sp>
        <p:nvSpPr>
          <p:cNvPr id="5" name="Text Box 4"/>
          <p:cNvSpPr txBox="1"/>
          <p:nvPr/>
        </p:nvSpPr>
        <p:spPr>
          <a:xfrm>
            <a:off x="323850" y="1124585"/>
            <a:ext cx="8496300" cy="1050290"/>
          </a:xfrm>
          <a:prstGeom prst="rect">
            <a:avLst/>
          </a:prstGeom>
          <a:noFill/>
          <a:ln w="9525">
            <a:noFill/>
          </a:ln>
        </p:spPr>
        <p:txBody>
          <a:bodyPr anchor="t" anchorCtr="0">
            <a:spAutoFit/>
          </a:bodyPr>
          <a:lstStyle/>
          <a:p>
            <a:pPr>
              <a:lnSpc>
                <a:spcPct val="130000"/>
              </a:lnSpc>
            </a:pPr>
            <a:r>
              <a:rPr lang="en-US" altLang="zh-CN" dirty="0">
                <a:latin typeface="Times New Roman" panose="02020603050405020304" pitchFamily="18" charset="0"/>
                <a:ea typeface="宋体" panose="02010600030101010101" pitchFamily="2" charset="-122"/>
              </a:rPr>
              <a:t>                         ORG   0</a:t>
            </a:r>
          </a:p>
          <a:p>
            <a:pPr>
              <a:lnSpc>
                <a:spcPct val="130000"/>
              </a:lnSpc>
            </a:pPr>
            <a:r>
              <a:rPr lang="en-US" altLang="zh-CN" dirty="0">
                <a:latin typeface="Times New Roman" panose="02020603050405020304" pitchFamily="18" charset="0"/>
                <a:ea typeface="宋体" panose="02010600030101010101" pitchFamily="2" charset="-122"/>
              </a:rPr>
              <a:t>START:	 NOP  				; </a:t>
            </a:r>
            <a:r>
              <a:rPr lang="zh-CN" altLang="en-US" dirty="0">
                <a:latin typeface="Times New Roman" panose="02020603050405020304" pitchFamily="18" charset="0"/>
                <a:ea typeface="宋体" panose="02010600030101010101" pitchFamily="2" charset="-122"/>
              </a:rPr>
              <a:t>空操作语句</a:t>
            </a:r>
            <a:endParaRPr lang="en-US" altLang="zh-CN"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anim calcmode="lin" valueType="num">
                                      <p:cBhvr additive="base">
                                        <p:cTn id="7" dur="500" fill="hold"/>
                                        <p:tgtEl>
                                          <p:spTgt spid="26628"/>
                                        </p:tgtEl>
                                        <p:attrNameLst>
                                          <p:attrName>ppt_x</p:attrName>
                                        </p:attrNameLst>
                                      </p:cBhvr>
                                      <p:tavLst>
                                        <p:tav tm="0">
                                          <p:val>
                                            <p:strVal val="#ppt_x"/>
                                          </p:val>
                                        </p:tav>
                                        <p:tav tm="100000">
                                          <p:val>
                                            <p:strVal val="#ppt_x"/>
                                          </p:val>
                                        </p:tav>
                                      </p:tavLst>
                                    </p:anim>
                                    <p:anim calcmode="lin" valueType="num">
                                      <p:cBhvr additive="base">
                                        <p:cTn id="8" dur="500" fill="hold"/>
                                        <p:tgtEl>
                                          <p:spTgt spid="266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p:bldP spid="26628" grpId="1"/>
      <p:bldP spid="5" grpId="0"/>
      <p:bldP spid="5"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4"/>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19</a:t>
            </a:fld>
            <a:endParaRPr lang="en-US" altLang="zh-CN" sz="1400" b="0" dirty="0"/>
          </a:p>
        </p:txBody>
      </p:sp>
      <p:pic>
        <p:nvPicPr>
          <p:cNvPr id="2" name="图片 1"/>
          <p:cNvPicPr>
            <a:picLocks noChangeAspect="1"/>
          </p:cNvPicPr>
          <p:nvPr/>
        </p:nvPicPr>
        <p:blipFill>
          <a:blip r:embed="rId2"/>
          <a:stretch>
            <a:fillRect/>
          </a:stretch>
        </p:blipFill>
        <p:spPr>
          <a:xfrm>
            <a:off x="323850" y="1125855"/>
            <a:ext cx="7985760" cy="4606290"/>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文本框 4"/>
          <p:cNvSpPr txBox="1"/>
          <p:nvPr/>
        </p:nvSpPr>
        <p:spPr>
          <a:xfrm>
            <a:off x="1808163" y="2279650"/>
            <a:ext cx="5561012" cy="1752600"/>
          </a:xfrm>
          <a:prstGeom prst="rect">
            <a:avLst/>
          </a:prstGeom>
          <a:noFill/>
          <a:ln w="9525">
            <a:noFill/>
          </a:ln>
        </p:spPr>
        <p:txBody>
          <a:bodyPr anchor="t" anchorCtr="0">
            <a:spAutoFit/>
          </a:bodyPr>
          <a:lstStyle/>
          <a:p>
            <a:pPr eaLnBrk="0" hangingPunct="0">
              <a:lnSpc>
                <a:spcPct val="150000"/>
              </a:lnSpc>
            </a:pPr>
            <a:r>
              <a:rPr lang="en-US" altLang="en-US"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语言中的实现方法：</a:t>
            </a:r>
          </a:p>
          <a:p>
            <a:pPr eaLnBrk="0" hangingPunct="0">
              <a:lnSpc>
                <a:spcPct val="150000"/>
              </a:lnSpc>
            </a:pPr>
            <a:r>
              <a:rPr lang="en-US" altLang="en-US" dirty="0">
                <a:latin typeface="Times New Roman" panose="02020603050405020304" pitchFamily="18" charset="0"/>
                <a:ea typeface="宋体" panose="02010600030101010101" pitchFamily="2" charset="-122"/>
              </a:rPr>
              <a:t>a=square[i];</a:t>
            </a:r>
          </a:p>
          <a:p>
            <a:pPr eaLnBrk="0" hangingPunct="0">
              <a:lnSpc>
                <a:spcPct val="150000"/>
              </a:lnSpc>
            </a:pPr>
            <a:r>
              <a:rPr lang="en-US" altLang="en-US" dirty="0">
                <a:latin typeface="Times New Roman" panose="02020603050405020304" pitchFamily="18" charset="0"/>
                <a:ea typeface="宋体" panose="02010600030101010101" pitchFamily="2" charset="-122"/>
              </a:rPr>
              <a:t>b=string[i];</a:t>
            </a:r>
          </a:p>
        </p:txBody>
      </p:sp>
      <p:sp>
        <p:nvSpPr>
          <p:cNvPr id="26626" name="文本框 5"/>
          <p:cNvSpPr txBox="1"/>
          <p:nvPr/>
        </p:nvSpPr>
        <p:spPr>
          <a:xfrm>
            <a:off x="1714500" y="866775"/>
            <a:ext cx="6534150" cy="1200150"/>
          </a:xfrm>
          <a:prstGeom prst="rect">
            <a:avLst/>
          </a:prstGeom>
          <a:noFill/>
          <a:ln w="9525">
            <a:noFill/>
          </a:ln>
        </p:spPr>
        <p:txBody>
          <a:bodyPr anchor="t" anchorCtr="0">
            <a:spAutoFit/>
          </a:bodyPr>
          <a:lstStyle/>
          <a:p>
            <a:pPr eaLnBrk="0" hangingPunct="0">
              <a:lnSpc>
                <a:spcPct val="150000"/>
              </a:lnSpc>
            </a:pPr>
            <a:r>
              <a:rPr lang="zh-CN" altLang="zh-CN" dirty="0">
                <a:latin typeface="Times New Roman" panose="02020603050405020304" pitchFamily="18" charset="0"/>
                <a:ea typeface="宋体" panose="02010600030101010101" pitchFamily="2" charset="-122"/>
              </a:rPr>
              <a:t>既然</a:t>
            </a:r>
            <a:r>
              <a:rPr lang="en-US" altLang="zh-CN" dirty="0">
                <a:latin typeface="Times New Roman" panose="02020603050405020304" pitchFamily="18" charset="0"/>
                <a:ea typeface="宋体" panose="02010600030101010101" pitchFamily="2" charset="-122"/>
              </a:rPr>
              <a:t>DB</a:t>
            </a:r>
            <a:r>
              <a:rPr lang="zh-CN" altLang="en-US" dirty="0">
                <a:latin typeface="Times New Roman" panose="02020603050405020304" pitchFamily="18" charset="0"/>
                <a:ea typeface="宋体" panose="02010600030101010101" pitchFamily="2" charset="-122"/>
              </a:rPr>
              <a:t>定义的是字节型数组，如何访问数组中的第</a:t>
            </a:r>
            <a:r>
              <a:rPr lang="en-US" altLang="zh-CN" i="1" dirty="0">
                <a:latin typeface="Times New Roman" panose="02020603050405020304" pitchFamily="18" charset="0"/>
                <a:ea typeface="宋体" panose="02010600030101010101" pitchFamily="2" charset="-122"/>
              </a:rPr>
              <a:t>i</a:t>
            </a:r>
            <a:r>
              <a:rPr lang="zh-CN" altLang="en-US" dirty="0">
                <a:latin typeface="Times New Roman" panose="02020603050405020304" pitchFamily="18" charset="0"/>
                <a:ea typeface="宋体" panose="02010600030101010101" pitchFamily="2" charset="-122"/>
              </a:rPr>
              <a:t>个变量？</a:t>
            </a:r>
          </a:p>
        </p:txBody>
      </p:sp>
      <p:pic>
        <p:nvPicPr>
          <p:cNvPr id="26627" name="图片 6"/>
          <p:cNvPicPr>
            <a:picLocks noChangeAspect="1"/>
          </p:cNvPicPr>
          <p:nvPr/>
        </p:nvPicPr>
        <p:blipFill>
          <a:blip r:embed="rId2"/>
          <a:stretch>
            <a:fillRect/>
          </a:stretch>
        </p:blipFill>
        <p:spPr>
          <a:xfrm>
            <a:off x="79375" y="866775"/>
            <a:ext cx="1350963" cy="135255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4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21</a:t>
            </a:fld>
            <a:endParaRPr lang="en-US" altLang="zh-CN" sz="1400" b="0" dirty="0"/>
          </a:p>
        </p:txBody>
      </p:sp>
      <p:sp>
        <p:nvSpPr>
          <p:cNvPr id="23556" name="Rectangle 2"/>
          <p:cNvSpPr/>
          <p:nvPr/>
        </p:nvSpPr>
        <p:spPr>
          <a:xfrm>
            <a:off x="395288" y="981075"/>
            <a:ext cx="8534400" cy="2124075"/>
          </a:xfrm>
          <a:prstGeom prst="rect">
            <a:avLst/>
          </a:prstGeom>
          <a:noFill/>
          <a:ln w="9525">
            <a:noFill/>
          </a:ln>
        </p:spPr>
        <p:txBody>
          <a:bodyPr anchor="t" anchorCtr="0">
            <a:spAutoFit/>
          </a:bodyPr>
          <a:lstStyle/>
          <a:p>
            <a:pPr eaLnBrk="0" hangingPunct="0">
              <a:spcBef>
                <a:spcPct val="50000"/>
              </a:spcBef>
            </a:pPr>
            <a:r>
              <a:rPr lang="zh-CN" altLang="en-US" dirty="0">
                <a:latin typeface="Times New Roman" panose="02020603050405020304" pitchFamily="18" charset="0"/>
                <a:ea typeface="宋体" panose="02010600030101010101" pitchFamily="2" charset="-122"/>
              </a:rPr>
              <a:t>查表时，为确定数据区的起始位置，可采用两种方法：</a:t>
            </a:r>
          </a:p>
          <a:p>
            <a:pPr algn="just" eaLnBrk="0" hangingPunct="0">
              <a:spcBef>
                <a:spcPct val="50000"/>
              </a:spcBef>
            </a:pP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1</a:t>
            </a:r>
            <a:r>
              <a:rPr lang="zh-CN" altLang="en-US" dirty="0">
                <a:solidFill>
                  <a:srgbClr val="FF0000"/>
                </a:solidFill>
                <a:latin typeface="Times New Roman" panose="02020603050405020304" pitchFamily="18" charset="0"/>
                <a:ea typeface="宋体" panose="02010600030101010101" pitchFamily="2" charset="-122"/>
              </a:rPr>
              <a:t>）根据</a:t>
            </a:r>
            <a:r>
              <a:rPr lang="en-US" altLang="zh-CN" dirty="0">
                <a:solidFill>
                  <a:srgbClr val="FF0000"/>
                </a:solidFill>
                <a:latin typeface="Times New Roman" panose="02020603050405020304" pitchFamily="18" charset="0"/>
                <a:ea typeface="宋体" panose="02010600030101010101" pitchFamily="2" charset="-122"/>
              </a:rPr>
              <a:t>DB</a:t>
            </a:r>
            <a:r>
              <a:rPr lang="zh-CN" altLang="en-US" dirty="0">
                <a:solidFill>
                  <a:srgbClr val="FF0000"/>
                </a:solidFill>
                <a:latin typeface="Times New Roman" panose="02020603050405020304" pitchFamily="18" charset="0"/>
                <a:ea typeface="宋体" panose="02010600030101010101" pitchFamily="2" charset="-122"/>
              </a:rPr>
              <a:t>命令前一条指令的地址确定。</a:t>
            </a:r>
          </a:p>
          <a:p>
            <a:pPr algn="just" eaLnBrk="0" hangingPunct="0">
              <a:spcBef>
                <a:spcPct val="50000"/>
              </a:spcBef>
            </a:pPr>
            <a:r>
              <a:rPr lang="zh-CN" altLang="en-US" dirty="0">
                <a:latin typeface="Times New Roman" panose="02020603050405020304" pitchFamily="18" charset="0"/>
                <a:ea typeface="宋体" panose="02010600030101010101" pitchFamily="2" charset="-122"/>
              </a:rPr>
              <a:t>例： 	</a:t>
            </a:r>
            <a:r>
              <a:rPr lang="en-US" altLang="zh-CN" dirty="0">
                <a:latin typeface="Times New Roman" panose="02020603050405020304" pitchFamily="18" charset="0"/>
                <a:ea typeface="宋体" panose="02010600030101010101" pitchFamily="2" charset="-122"/>
              </a:rPr>
              <a:t>8100H             MOV 	A, #49H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字节）</a:t>
            </a:r>
          </a:p>
          <a:p>
            <a:pPr algn="just" eaLnBrk="0" hangingPunct="0">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TAB:     DB    0C0H,  0F9H,  0A4H,  0B0H     </a:t>
            </a:r>
            <a:endParaRPr lang="zh-CN" altLang="en-US" dirty="0">
              <a:latin typeface="Times New Roman" panose="02020603050405020304" pitchFamily="18" charset="0"/>
              <a:ea typeface="宋体" panose="02010600030101010101" pitchFamily="2" charset="-122"/>
            </a:endParaRPr>
          </a:p>
        </p:txBody>
      </p:sp>
      <p:sp>
        <p:nvSpPr>
          <p:cNvPr id="23558" name="Rectangle 2"/>
          <p:cNvSpPr/>
          <p:nvPr/>
        </p:nvSpPr>
        <p:spPr>
          <a:xfrm>
            <a:off x="468313" y="3644900"/>
            <a:ext cx="8534400" cy="2122805"/>
          </a:xfrm>
          <a:prstGeom prst="rect">
            <a:avLst/>
          </a:prstGeom>
          <a:noFill/>
          <a:ln w="9525">
            <a:noFill/>
          </a:ln>
        </p:spPr>
        <p:txBody>
          <a:bodyPr anchor="t" anchorCtr="0">
            <a:spAutoFit/>
          </a:bodyPr>
          <a:lstStyle/>
          <a:p>
            <a:pPr eaLnBrk="0" hangingPunct="0">
              <a:spcBef>
                <a:spcPct val="50000"/>
              </a:spcBef>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宋体" panose="02010600030101010101" pitchFamily="2" charset="-122"/>
              </a:rPr>
              <a:t>使用</a:t>
            </a:r>
            <a:r>
              <a:rPr lang="en-US" altLang="zh-CN" dirty="0">
                <a:solidFill>
                  <a:srgbClr val="FF0000"/>
                </a:solidFill>
                <a:latin typeface="Times New Roman" panose="02020603050405020304" pitchFamily="18" charset="0"/>
                <a:ea typeface="宋体" panose="02010600030101010101" pitchFamily="2" charset="-122"/>
              </a:rPr>
              <a:t>ORG </a:t>
            </a:r>
            <a:r>
              <a:rPr lang="zh-CN" altLang="en-US" dirty="0">
                <a:solidFill>
                  <a:srgbClr val="FF0000"/>
                </a:solidFill>
                <a:latin typeface="Times New Roman" panose="02020603050405020304" pitchFamily="18" charset="0"/>
                <a:ea typeface="宋体" panose="02010600030101010101" pitchFamily="2" charset="-122"/>
              </a:rPr>
              <a:t>指令专门规定</a:t>
            </a:r>
          </a:p>
          <a:p>
            <a:pPr algn="just" eaLnBrk="0" hangingPunct="0">
              <a:spcBef>
                <a:spcPct val="50000"/>
              </a:spcBef>
            </a:pPr>
            <a:r>
              <a:rPr lang="zh-CN" altLang="en-US" dirty="0">
                <a:latin typeface="Times New Roman" panose="02020603050405020304" pitchFamily="18" charset="0"/>
                <a:ea typeface="宋体" panose="02010600030101010101" pitchFamily="2" charset="-122"/>
              </a:rPr>
              <a:t>例：     	 </a:t>
            </a:r>
            <a:r>
              <a:rPr lang="en-US" altLang="zh-CN" dirty="0">
                <a:latin typeface="Times New Roman" panose="02020603050405020304" pitchFamily="18" charset="0"/>
                <a:ea typeface="宋体" panose="02010600030101010101" pitchFamily="2" charset="-122"/>
              </a:rPr>
              <a:t>ORG	 8100H</a:t>
            </a:r>
          </a:p>
          <a:p>
            <a:pPr algn="just" eaLnBrk="0" hangingPunct="0">
              <a:spcBef>
                <a:spcPct val="50000"/>
              </a:spcBef>
            </a:pPr>
            <a:r>
              <a:rPr lang="en-US" altLang="zh-CN" dirty="0">
                <a:latin typeface="Times New Roman" panose="02020603050405020304" pitchFamily="18" charset="0"/>
                <a:ea typeface="宋体" panose="02010600030101010101" pitchFamily="2" charset="-122"/>
              </a:rPr>
              <a:t>         	 TAB</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DB  	0C0H,  0F9H,  0A4H,  0B0H</a:t>
            </a:r>
            <a:r>
              <a:rPr lang="zh-CN" altLang="en-US" dirty="0">
                <a:latin typeface="Times New Roman" panose="02020603050405020304" pitchFamily="18" charset="0"/>
                <a:ea typeface="宋体" panose="02010600030101010101" pitchFamily="2" charset="-122"/>
              </a:rPr>
              <a:t>；</a:t>
            </a:r>
            <a:r>
              <a:rPr lang="zh-CN" altLang="en-US" sz="2000" dirty="0">
                <a:sym typeface="+mn-ea"/>
              </a:rPr>
              <a:t>数码管字形码</a:t>
            </a:r>
            <a:endParaRPr lang="en-US" altLang="zh-CN" sz="2000" dirty="0">
              <a:latin typeface="Times New Roman" panose="02020603050405020304" pitchFamily="18" charset="0"/>
              <a:ea typeface="宋体" panose="02010600030101010101" pitchFamily="2" charset="-122"/>
            </a:endParaRPr>
          </a:p>
          <a:p>
            <a:pPr algn="just" eaLnBrk="0" hangingPunct="0">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定义的数码管字形码从</a:t>
            </a:r>
            <a:r>
              <a:rPr lang="en-US" altLang="zh-CN" dirty="0">
                <a:latin typeface="Times New Roman" panose="02020603050405020304" pitchFamily="18" charset="0"/>
                <a:ea typeface="宋体" panose="02010600030101010101" pitchFamily="2" charset="-122"/>
              </a:rPr>
              <a:t>8100</a:t>
            </a:r>
            <a:r>
              <a:rPr lang="zh-CN" altLang="en-US" dirty="0">
                <a:latin typeface="Times New Roman" panose="02020603050405020304" pitchFamily="18" charset="0"/>
                <a:ea typeface="宋体" panose="02010600030101010101" pitchFamily="2" charset="-122"/>
              </a:rPr>
              <a:t>地址开始存放。</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22</a:t>
            </a:fld>
            <a:endParaRPr lang="en-US" altLang="zh-CN" sz="1400" b="0" dirty="0"/>
          </a:p>
        </p:txBody>
      </p:sp>
      <p:sp>
        <p:nvSpPr>
          <p:cNvPr id="143362" name="Rectangle 2"/>
          <p:cNvSpPr/>
          <p:nvPr/>
        </p:nvSpPr>
        <p:spPr>
          <a:xfrm>
            <a:off x="152400" y="838200"/>
            <a:ext cx="8839200" cy="2465388"/>
          </a:xfrm>
          <a:prstGeom prst="rect">
            <a:avLst/>
          </a:prstGeom>
          <a:noFill/>
          <a:ln w="9525">
            <a:noFill/>
          </a:ln>
        </p:spPr>
        <p:txBody>
          <a:bodyPr anchor="t" anchorCtr="0">
            <a:spAutoFit/>
          </a:bodyPr>
          <a:lstStyle/>
          <a:p>
            <a:pPr indent="266700" algn="just">
              <a:lnSpc>
                <a:spcPct val="130000"/>
              </a:lnSpc>
            </a:pPr>
            <a:r>
              <a:rPr lang="en-US" altLang="zh-CN" dirty="0">
                <a:latin typeface="Times New Roman" panose="02020603050405020304" pitchFamily="18" charset="0"/>
                <a:ea typeface="黑体" panose="02010609060101010101" pitchFamily="49" charset="-122"/>
              </a:rPr>
              <a:t> (4) </a:t>
            </a:r>
            <a:r>
              <a:rPr lang="en-US" altLang="zh-CN" dirty="0">
                <a:solidFill>
                  <a:srgbClr val="FF3300"/>
                </a:solidFill>
                <a:latin typeface="Times New Roman" panose="02020603050405020304" pitchFamily="18" charset="0"/>
                <a:ea typeface="黑体" panose="02010609060101010101" pitchFamily="49" charset="-122"/>
              </a:rPr>
              <a:t>DW</a:t>
            </a:r>
            <a:r>
              <a:rPr lang="zh-CN" altLang="en-US" dirty="0">
                <a:solidFill>
                  <a:srgbClr val="FF3300"/>
                </a:solidFill>
                <a:latin typeface="Times New Roman" panose="02020603050405020304" pitchFamily="18" charset="0"/>
                <a:ea typeface="黑体" panose="02010609060101010101" pitchFamily="49" charset="-122"/>
              </a:rPr>
              <a:t>（</a:t>
            </a:r>
            <a:r>
              <a:rPr lang="en-US" altLang="zh-CN" dirty="0">
                <a:solidFill>
                  <a:srgbClr val="FF3300"/>
                </a:solidFill>
                <a:latin typeface="Times New Roman" panose="02020603050405020304" pitchFamily="18" charset="0"/>
                <a:ea typeface="黑体" panose="02010609060101010101" pitchFamily="49" charset="-122"/>
              </a:rPr>
              <a:t>Define Word</a:t>
            </a:r>
            <a:r>
              <a:rPr lang="zh-CN" altLang="en-US" dirty="0">
                <a:solidFill>
                  <a:srgbClr val="FF3300"/>
                </a:solidFill>
                <a:latin typeface="Times New Roman" panose="02020603050405020304" pitchFamily="18" charset="0"/>
                <a:ea typeface="黑体" panose="02010609060101010101" pitchFamily="49" charset="-122"/>
              </a:rPr>
              <a:t>）	定义数据字命令</a:t>
            </a:r>
            <a:endParaRPr lang="zh-CN" altLang="en-US" dirty="0">
              <a:solidFill>
                <a:srgbClr val="FF3300"/>
              </a:solidFill>
              <a:latin typeface="Times New Roman" panose="02020603050405020304" pitchFamily="18" charset="0"/>
              <a:ea typeface="宋体" panose="02010600030101010101" pitchFamily="2" charset="-122"/>
            </a:endParaRPr>
          </a:p>
          <a:p>
            <a:pPr indent="266700" algn="just" eaLnBrk="0" hangingPunct="0">
              <a:lnSpc>
                <a:spcPct val="130000"/>
              </a:lnSpc>
            </a:pPr>
            <a:r>
              <a:rPr lang="zh-CN" altLang="en-US" dirty="0">
                <a:latin typeface="Times New Roman" panose="02020603050405020304" pitchFamily="18" charset="0"/>
                <a:ea typeface="宋体" panose="02010600030101010101" pitchFamily="2" charset="-122"/>
              </a:rPr>
              <a:t>    功能：用于从指定地址开始，在程序存储器单元中</a:t>
            </a:r>
            <a:r>
              <a:rPr lang="zh-CN" altLang="en-US" dirty="0">
                <a:solidFill>
                  <a:srgbClr val="000099"/>
                </a:solidFill>
                <a:latin typeface="Times New Roman" panose="02020603050405020304" pitchFamily="18" charset="0"/>
                <a:ea typeface="宋体" panose="02010600030101010101" pitchFamily="2" charset="-122"/>
              </a:rPr>
              <a:t>定义</a:t>
            </a:r>
            <a:r>
              <a:rPr lang="en-US" altLang="zh-CN" dirty="0">
                <a:solidFill>
                  <a:srgbClr val="000099"/>
                </a:solidFill>
                <a:latin typeface="Times New Roman" panose="02020603050405020304" pitchFamily="18" charset="0"/>
                <a:ea typeface="宋体" panose="02010600030101010101" pitchFamily="2" charset="-122"/>
              </a:rPr>
              <a:t>16</a:t>
            </a:r>
            <a:r>
              <a:rPr lang="zh-CN" altLang="en-US" dirty="0">
                <a:solidFill>
                  <a:srgbClr val="000099"/>
                </a:solidFill>
                <a:latin typeface="Times New Roman" panose="02020603050405020304" pitchFamily="18" charset="0"/>
                <a:ea typeface="宋体" panose="02010600030101010101" pitchFamily="2" charset="-122"/>
              </a:rPr>
              <a:t>位的数据字</a:t>
            </a:r>
            <a:r>
              <a:rPr lang="zh-CN" altLang="en-US" dirty="0">
                <a:latin typeface="Times New Roman" panose="02020603050405020304" pitchFamily="18" charset="0"/>
                <a:ea typeface="宋体" panose="02010600030101010101" pitchFamily="2" charset="-122"/>
              </a:rPr>
              <a:t>。</a:t>
            </a:r>
          </a:p>
          <a:p>
            <a:pPr indent="266700" algn="just" eaLnBrk="0" hangingPunct="0">
              <a:lnSpc>
                <a:spcPct val="130000"/>
              </a:lnSpc>
            </a:pPr>
            <a:r>
              <a:rPr lang="zh-CN" altLang="en-US" dirty="0">
                <a:latin typeface="Times New Roman" panose="02020603050405020304" pitchFamily="18" charset="0"/>
                <a:ea typeface="宋体" panose="02010600030101010101" pitchFamily="2" charset="-122"/>
              </a:rPr>
              <a:t>     格式：           </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标号：</a:t>
            </a:r>
            <a:r>
              <a:rPr lang="en-US" altLang="zh-CN" dirty="0">
                <a:latin typeface="Times New Roman" panose="02020603050405020304" pitchFamily="18" charset="0"/>
                <a:ea typeface="宋体" panose="02010600030101010101" pitchFamily="2" charset="-122"/>
              </a:rPr>
              <a:t>]   DW   16</a:t>
            </a:r>
            <a:r>
              <a:rPr lang="zh-CN" altLang="en-US" dirty="0">
                <a:latin typeface="Times New Roman" panose="02020603050405020304" pitchFamily="18" charset="0"/>
                <a:ea typeface="宋体" panose="02010600030101010101" pitchFamily="2" charset="-122"/>
              </a:rPr>
              <a:t>位数表</a:t>
            </a:r>
          </a:p>
          <a:p>
            <a:pPr indent="266700" algn="just" eaLnBrk="0" hangingPunct="0">
              <a:lnSpc>
                <a:spcPct val="130000"/>
              </a:lnSpc>
            </a:pPr>
            <a:r>
              <a:rPr lang="zh-CN" altLang="en-US" dirty="0">
                <a:latin typeface="Times New Roman" panose="02020603050405020304" pitchFamily="18" charset="0"/>
                <a:ea typeface="宋体" panose="02010600030101010101" pitchFamily="2" charset="-122"/>
              </a:rPr>
              <a:t>     存放规则：高</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位在前（低地址），低</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位在后（高地址）。       </a:t>
            </a:r>
          </a:p>
        </p:txBody>
      </p:sp>
      <p:sp>
        <p:nvSpPr>
          <p:cNvPr id="143363" name="Rectangle 3"/>
          <p:cNvSpPr/>
          <p:nvPr/>
        </p:nvSpPr>
        <p:spPr>
          <a:xfrm>
            <a:off x="107950" y="3716338"/>
            <a:ext cx="4187825" cy="1041400"/>
          </a:xfrm>
          <a:prstGeom prst="rect">
            <a:avLst/>
          </a:prstGeom>
          <a:noFill/>
          <a:ln w="9525">
            <a:noFill/>
          </a:ln>
        </p:spPr>
        <p:txBody>
          <a:bodyPr wrap="none" anchor="ctr" anchorCtr="0">
            <a:spAutoFit/>
          </a:bodyPr>
          <a:lstStyle/>
          <a:p>
            <a:pPr algn="ctr">
              <a:lnSpc>
                <a:spcPct val="130000"/>
              </a:lnSpc>
            </a:pPr>
            <a:r>
              <a:rPr lang="en-US" altLang="zh-CN" dirty="0">
                <a:solidFill>
                  <a:srgbClr val="FF0000"/>
                </a:solidFill>
                <a:latin typeface="Times New Roman" panose="02020603050405020304" pitchFamily="18" charset="0"/>
                <a:ea typeface="宋体" panose="02010600030101010101" pitchFamily="2" charset="-122"/>
              </a:rPr>
              <a:t>ORG  1100H</a:t>
            </a:r>
          </a:p>
          <a:p>
            <a:pPr algn="ctr">
              <a:lnSpc>
                <a:spcPct val="130000"/>
              </a:lnSpc>
            </a:pPr>
            <a:r>
              <a:rPr lang="en-US" altLang="zh-CN" dirty="0">
                <a:solidFill>
                  <a:srgbClr val="FF0000"/>
                </a:solidFill>
                <a:latin typeface="Times New Roman" panose="02020603050405020304" pitchFamily="18" charset="0"/>
                <a:ea typeface="宋体" panose="02010600030101010101" pitchFamily="2" charset="-122"/>
              </a:rPr>
              <a:t>DATA2:  DW	   3478H, 10H, -1</a:t>
            </a:r>
          </a:p>
        </p:txBody>
      </p:sp>
      <p:pic>
        <p:nvPicPr>
          <p:cNvPr id="2" name="图片 1"/>
          <p:cNvPicPr>
            <a:picLocks noChangeAspect="1"/>
          </p:cNvPicPr>
          <p:nvPr/>
        </p:nvPicPr>
        <p:blipFill>
          <a:blip r:embed="rId2"/>
          <a:stretch>
            <a:fillRect/>
          </a:stretch>
        </p:blipFill>
        <p:spPr>
          <a:xfrm>
            <a:off x="5652135" y="3031490"/>
            <a:ext cx="3553460" cy="3826510"/>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23</a:t>
            </a:fld>
            <a:endParaRPr lang="en-US" altLang="zh-CN" sz="1400" b="0" dirty="0"/>
          </a:p>
        </p:txBody>
      </p:sp>
      <p:sp>
        <p:nvSpPr>
          <p:cNvPr id="29698" name="Rectangle 2"/>
          <p:cNvSpPr/>
          <p:nvPr/>
        </p:nvSpPr>
        <p:spPr>
          <a:xfrm>
            <a:off x="0" y="1484313"/>
            <a:ext cx="8686800" cy="2212975"/>
          </a:xfrm>
          <a:prstGeom prst="rect">
            <a:avLst/>
          </a:prstGeom>
          <a:noFill/>
          <a:ln w="9525">
            <a:noFill/>
          </a:ln>
        </p:spPr>
        <p:txBody>
          <a:bodyPr anchor="t" anchorCtr="0">
            <a:spAutoFit/>
          </a:bodyPr>
          <a:lstStyle/>
          <a:p>
            <a:pPr eaLnBrk="0" hangingPunct="0">
              <a:lnSpc>
                <a:spcPct val="145000"/>
              </a:lnSpc>
            </a:pPr>
            <a:r>
              <a:rPr lang="en-US" altLang="zh-CN" dirty="0">
                <a:solidFill>
                  <a:srgbClr val="FF3300"/>
                </a:solidFill>
                <a:latin typeface="Times New Roman" panose="02020603050405020304" pitchFamily="18" charset="0"/>
                <a:ea typeface="宋体" panose="02010600030101010101" pitchFamily="2" charset="-122"/>
              </a:rPr>
              <a:t>         </a:t>
            </a:r>
            <a:r>
              <a:rPr lang="zh-CN" altLang="en-US" dirty="0">
                <a:solidFill>
                  <a:srgbClr val="FF3300"/>
                </a:solidFill>
                <a:latin typeface="Times New Roman" panose="02020603050405020304" pitchFamily="18" charset="0"/>
                <a:ea typeface="宋体" panose="02010600030101010101" pitchFamily="2" charset="-122"/>
              </a:rPr>
              <a:t>注意：</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DB</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DW</a:t>
            </a:r>
            <a:r>
              <a:rPr lang="zh-CN" altLang="en-US" dirty="0">
                <a:latin typeface="Times New Roman" panose="02020603050405020304" pitchFamily="18" charset="0"/>
                <a:ea typeface="宋体" panose="02010600030101010101" pitchFamily="2" charset="-122"/>
              </a:rPr>
              <a:t>定义的数表，</a:t>
            </a:r>
            <a:r>
              <a:rPr lang="zh-CN" altLang="en-US" dirty="0">
                <a:solidFill>
                  <a:srgbClr val="FF0000"/>
                </a:solidFill>
                <a:latin typeface="Times New Roman" panose="02020603050405020304" pitchFamily="18" charset="0"/>
                <a:ea typeface="宋体" panose="02010600030101010101" pitchFamily="2" charset="-122"/>
              </a:rPr>
              <a:t>数的个数不得超过</a:t>
            </a:r>
            <a:r>
              <a:rPr lang="en-US" altLang="zh-CN" dirty="0">
                <a:solidFill>
                  <a:srgbClr val="FF0000"/>
                </a:solidFill>
                <a:latin typeface="Times New Roman" panose="02020603050405020304" pitchFamily="18" charset="0"/>
                <a:ea typeface="宋体" panose="02010600030101010101" pitchFamily="2" charset="-122"/>
              </a:rPr>
              <a:t>80</a:t>
            </a:r>
            <a:r>
              <a:rPr lang="zh-CN" altLang="en-US" dirty="0">
                <a:solidFill>
                  <a:srgbClr val="FF0000"/>
                </a:solidFill>
                <a:latin typeface="Times New Roman" panose="02020603050405020304" pitchFamily="18" charset="0"/>
                <a:ea typeface="宋体" panose="02010600030101010101" pitchFamily="2" charset="-122"/>
              </a:rPr>
              <a:t>个</a:t>
            </a:r>
            <a:r>
              <a:rPr lang="zh-CN" altLang="en-US" dirty="0">
                <a:latin typeface="Times New Roman" panose="02020603050405020304" pitchFamily="18" charset="0"/>
                <a:ea typeface="宋体" panose="02010600030101010101" pitchFamily="2" charset="-122"/>
              </a:rPr>
              <a:t>。		如果</a:t>
            </a:r>
            <a:r>
              <a:rPr lang="zh-CN" altLang="en-US" dirty="0">
                <a:solidFill>
                  <a:schemeClr val="accent2"/>
                </a:solidFill>
                <a:latin typeface="Times New Roman" panose="02020603050405020304" pitchFamily="18" charset="0"/>
                <a:ea typeface="宋体" panose="02010600030101010101" pitchFamily="2" charset="-122"/>
              </a:rPr>
              <a:t>数据的数目较多时，可使用多个定义命令。</a:t>
            </a:r>
          </a:p>
          <a:p>
            <a:pPr eaLnBrk="0" hangingPunct="0">
              <a:lnSpc>
                <a:spcPct val="145000"/>
              </a:lnSpc>
            </a:pPr>
            <a:r>
              <a:rPr lang="zh-CN" altLang="en-US" dirty="0">
                <a:latin typeface="Times New Roman" panose="02020603050405020304" pitchFamily="18" charset="0"/>
                <a:ea typeface="宋体" panose="02010600030101010101" pitchFamily="2" charset="-122"/>
              </a:rPr>
              <a:t>                       在 </a:t>
            </a:r>
            <a:r>
              <a:rPr lang="en-US" altLang="zh-CN" dirty="0">
                <a:latin typeface="Times New Roman" panose="02020603050405020304" pitchFamily="18" charset="0"/>
                <a:ea typeface="宋体" panose="02010600030101010101" pitchFamily="2" charset="-122"/>
              </a:rPr>
              <a:t>MCS-51</a:t>
            </a:r>
            <a:r>
              <a:rPr lang="zh-CN" altLang="en-US" dirty="0">
                <a:latin typeface="Times New Roman" panose="02020603050405020304" pitchFamily="18" charset="0"/>
                <a:ea typeface="宋体" panose="02010600030101010101" pitchFamily="2" charset="-122"/>
              </a:rPr>
              <a:t>程序设计应用中，</a:t>
            </a:r>
            <a:r>
              <a:rPr lang="zh-CN" altLang="en-US" dirty="0">
                <a:solidFill>
                  <a:schemeClr val="accent2"/>
                </a:solidFill>
                <a:latin typeface="Times New Roman" panose="02020603050405020304" pitchFamily="18" charset="0"/>
                <a:ea typeface="宋体" panose="02010600030101010101" pitchFamily="2" charset="-122"/>
              </a:rPr>
              <a:t>常以</a:t>
            </a:r>
            <a:r>
              <a:rPr lang="en-US" altLang="zh-CN" dirty="0">
                <a:solidFill>
                  <a:schemeClr val="accent2"/>
                </a:solidFill>
                <a:latin typeface="Times New Roman" panose="02020603050405020304" pitchFamily="18" charset="0"/>
                <a:ea typeface="宋体" panose="02010600030101010101" pitchFamily="2" charset="-122"/>
              </a:rPr>
              <a:t>DB</a:t>
            </a:r>
            <a:r>
              <a:rPr lang="zh-CN" altLang="en-US" dirty="0">
                <a:solidFill>
                  <a:schemeClr val="accent2"/>
                </a:solidFill>
                <a:latin typeface="Times New Roman" panose="02020603050405020304" pitchFamily="18" charset="0"/>
                <a:ea typeface="宋体" panose="02010600030101010101" pitchFamily="2" charset="-122"/>
              </a:rPr>
              <a:t>定义数据，以</a:t>
            </a:r>
            <a:r>
              <a:rPr lang="en-US" altLang="zh-CN" dirty="0">
                <a:solidFill>
                  <a:schemeClr val="accent2"/>
                </a:solidFill>
                <a:latin typeface="Times New Roman" panose="02020603050405020304" pitchFamily="18" charset="0"/>
                <a:ea typeface="宋体" panose="02010600030101010101" pitchFamily="2" charset="-122"/>
              </a:rPr>
              <a:t>DW</a:t>
            </a:r>
            <a:r>
              <a:rPr lang="zh-CN" altLang="en-US" dirty="0">
                <a:solidFill>
                  <a:schemeClr val="accent2"/>
                </a:solidFill>
                <a:latin typeface="Times New Roman" panose="02020603050405020304" pitchFamily="18" charset="0"/>
                <a:ea typeface="宋体" panose="02010600030101010101" pitchFamily="2" charset="-122"/>
              </a:rPr>
              <a:t>定义地址。</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24</a:t>
            </a:fld>
            <a:endParaRPr lang="en-US" altLang="zh-CN" sz="1400" b="0" dirty="0"/>
          </a:p>
        </p:txBody>
      </p:sp>
      <p:sp>
        <p:nvSpPr>
          <p:cNvPr id="145410" name="Rectangle 2"/>
          <p:cNvSpPr/>
          <p:nvPr/>
        </p:nvSpPr>
        <p:spPr>
          <a:xfrm>
            <a:off x="152400" y="914400"/>
            <a:ext cx="8686800" cy="2968625"/>
          </a:xfrm>
          <a:prstGeom prst="rect">
            <a:avLst/>
          </a:prstGeom>
          <a:noFill/>
          <a:ln w="9525">
            <a:noFill/>
          </a:ln>
        </p:spPr>
        <p:txBody>
          <a:bodyPr anchor="t" anchorCtr="0">
            <a:spAutoFit/>
          </a:bodyPr>
          <a:lstStyle/>
          <a:p>
            <a:pPr algn="just">
              <a:lnSpc>
                <a:spcPct val="130000"/>
              </a:lnSpc>
            </a:pPr>
            <a:r>
              <a:rPr lang="en-US" altLang="zh-CN" dirty="0">
                <a:solidFill>
                  <a:srgbClr val="FF3300"/>
                </a:solidFill>
                <a:latin typeface="Times New Roman" panose="02020603050405020304" pitchFamily="18" charset="0"/>
                <a:ea typeface="黑体" panose="02010609060101010101" pitchFamily="49" charset="-122"/>
              </a:rPr>
              <a:t>(5) DS</a:t>
            </a:r>
            <a:r>
              <a:rPr lang="zh-CN" altLang="en-US" dirty="0">
                <a:solidFill>
                  <a:srgbClr val="FF3300"/>
                </a:solidFill>
                <a:latin typeface="Times New Roman" panose="02020603050405020304" pitchFamily="18" charset="0"/>
                <a:ea typeface="黑体" panose="02010609060101010101" pitchFamily="49" charset="-122"/>
              </a:rPr>
              <a:t>（</a:t>
            </a:r>
            <a:r>
              <a:rPr lang="en-US" altLang="zh-CN" dirty="0">
                <a:solidFill>
                  <a:srgbClr val="FF3300"/>
                </a:solidFill>
                <a:latin typeface="Times New Roman" panose="02020603050405020304" pitchFamily="18" charset="0"/>
                <a:ea typeface="黑体" panose="02010609060101010101" pitchFamily="49" charset="-122"/>
              </a:rPr>
              <a:t>Define Storage</a:t>
            </a:r>
            <a:r>
              <a:rPr lang="zh-CN" altLang="en-US" dirty="0">
                <a:solidFill>
                  <a:srgbClr val="FF3300"/>
                </a:solidFill>
                <a:latin typeface="Times New Roman" panose="02020603050405020304" pitchFamily="18" charset="0"/>
                <a:ea typeface="黑体" panose="02010609060101010101" pitchFamily="49" charset="-122"/>
              </a:rPr>
              <a:t>）  定义存储区命令</a:t>
            </a:r>
            <a:endParaRPr lang="zh-CN" altLang="en-US" dirty="0">
              <a:solidFill>
                <a:srgbClr val="FF3300"/>
              </a:solidFill>
              <a:latin typeface="Times New Roman" panose="02020603050405020304" pitchFamily="18" charset="0"/>
              <a:ea typeface="宋体" panose="02010600030101010101" pitchFamily="2" charset="-122"/>
            </a:endParaRPr>
          </a:p>
          <a:p>
            <a:pPr algn="just" eaLnBrk="0" hangingPunct="0">
              <a:lnSpc>
                <a:spcPct val="130000"/>
              </a:lnSpc>
            </a:pPr>
            <a:r>
              <a:rPr lang="zh-CN" altLang="en-US" dirty="0">
                <a:latin typeface="Times New Roman" panose="02020603050405020304" pitchFamily="18" charset="0"/>
                <a:ea typeface="宋体" panose="02010600030101010101" pitchFamily="2" charset="-122"/>
              </a:rPr>
              <a:t>    功能：用于从指定地址开始，保留指定数目的字节单元为存储区，供程序运行使用。汇编时对这些单元不赋值。</a:t>
            </a:r>
          </a:p>
          <a:p>
            <a:pPr algn="just" eaLnBrk="0" hangingPunct="0">
              <a:lnSpc>
                <a:spcPct val="130000"/>
              </a:lnSpc>
            </a:pPr>
            <a:r>
              <a:rPr lang="zh-CN" altLang="en-US" dirty="0">
                <a:latin typeface="Times New Roman" panose="02020603050405020304" pitchFamily="18" charset="0"/>
                <a:ea typeface="宋体" panose="02010600030101010101" pitchFamily="2" charset="-122"/>
              </a:rPr>
              <a:t>    格式：         </a:t>
            </a:r>
            <a:r>
              <a:rPr lang="en-US" altLang="zh-CN" dirty="0">
                <a:solidFill>
                  <a:srgbClr val="0000CC"/>
                </a:solidFill>
                <a:latin typeface="Times New Roman" panose="02020603050405020304" pitchFamily="18" charset="0"/>
                <a:ea typeface="宋体" panose="02010600030101010101" pitchFamily="2" charset="-122"/>
              </a:rPr>
              <a:t>[</a:t>
            </a:r>
            <a:r>
              <a:rPr lang="zh-CN" altLang="en-US" dirty="0">
                <a:solidFill>
                  <a:srgbClr val="0000CC"/>
                </a:solidFill>
                <a:latin typeface="Times New Roman" panose="02020603050405020304" pitchFamily="18" charset="0"/>
                <a:ea typeface="宋体" panose="02010600030101010101" pitchFamily="2" charset="-122"/>
              </a:rPr>
              <a:t>标号：</a:t>
            </a:r>
            <a:r>
              <a:rPr lang="en-US" altLang="zh-CN" dirty="0">
                <a:solidFill>
                  <a:srgbClr val="0000CC"/>
                </a:solidFill>
                <a:latin typeface="Times New Roman" panose="02020603050405020304" pitchFamily="18" charset="0"/>
                <a:ea typeface="宋体" panose="02010600030101010101" pitchFamily="2" charset="-122"/>
              </a:rPr>
              <a:t>]      DS      16</a:t>
            </a:r>
            <a:r>
              <a:rPr lang="zh-CN" altLang="en-US" dirty="0">
                <a:solidFill>
                  <a:srgbClr val="0000CC"/>
                </a:solidFill>
                <a:latin typeface="Times New Roman" panose="02020603050405020304" pitchFamily="18" charset="0"/>
                <a:ea typeface="宋体" panose="02010600030101010101" pitchFamily="2" charset="-122"/>
              </a:rPr>
              <a:t>位数表</a:t>
            </a:r>
          </a:p>
          <a:p>
            <a:pPr algn="just" eaLnBrk="0" hangingPunct="0">
              <a:lnSpc>
                <a:spcPct val="130000"/>
              </a:lnSpc>
            </a:pPr>
            <a:r>
              <a:rPr lang="zh-CN" altLang="en-US" dirty="0">
                <a:latin typeface="Times New Roman" panose="02020603050405020304" pitchFamily="18" charset="0"/>
                <a:ea typeface="宋体" panose="02010600030101010101" pitchFamily="2" charset="-122"/>
              </a:rPr>
              <a:t> </a:t>
            </a:r>
            <a:endParaRPr lang="en-US" altLang="zh-CN" dirty="0">
              <a:solidFill>
                <a:srgbClr val="0000CC"/>
              </a:solidFill>
              <a:latin typeface="Times New Roman" panose="02020603050405020304" pitchFamily="18" charset="0"/>
              <a:ea typeface="宋体" panose="02010600030101010101" pitchFamily="2" charset="-122"/>
            </a:endParaRPr>
          </a:p>
          <a:p>
            <a:pPr algn="just" eaLnBrk="0" hangingPunct="0">
              <a:lnSpc>
                <a:spcPct val="130000"/>
              </a:lnSpc>
            </a:pPr>
            <a:r>
              <a:rPr lang="en-US" altLang="zh-CN" dirty="0">
                <a:solidFill>
                  <a:srgbClr val="0000CC"/>
                </a:solidFill>
                <a:latin typeface="Times New Roman" panose="02020603050405020304" pitchFamily="18" charset="0"/>
                <a:ea typeface="宋体" panose="02010600030101010101" pitchFamily="2" charset="-122"/>
              </a:rPr>
              <a:t>    </a:t>
            </a:r>
          </a:p>
        </p:txBody>
      </p:sp>
      <p:sp>
        <p:nvSpPr>
          <p:cNvPr id="145411" name="Rectangle 3"/>
          <p:cNvSpPr/>
          <p:nvPr/>
        </p:nvSpPr>
        <p:spPr>
          <a:xfrm>
            <a:off x="250825" y="3644900"/>
            <a:ext cx="8686800" cy="1990725"/>
          </a:xfrm>
          <a:prstGeom prst="rect">
            <a:avLst/>
          </a:prstGeom>
          <a:noFill/>
          <a:ln w="9525">
            <a:noFill/>
          </a:ln>
        </p:spPr>
        <p:txBody>
          <a:bodyPr anchor="t" anchorCtr="0">
            <a:spAutoFit/>
          </a:bodyPr>
          <a:lstStyle/>
          <a:p>
            <a:pPr algn="just" eaLnBrk="0" hangingPunct="0">
              <a:lnSpc>
                <a:spcPct val="130000"/>
              </a:lnSpc>
            </a:pPr>
            <a:r>
              <a:rPr lang="en-US" altLang="zh-CN" dirty="0">
                <a:solidFill>
                  <a:srgbClr val="0000CC"/>
                </a:solidFill>
                <a:latin typeface="Times New Roman" panose="02020603050405020304" pitchFamily="18" charset="0"/>
                <a:ea typeface="宋体" panose="02010600030101010101" pitchFamily="2" charset="-122"/>
              </a:rPr>
              <a:t>  </a:t>
            </a:r>
            <a:r>
              <a:rPr lang="zh-CN" altLang="en-US" dirty="0">
                <a:solidFill>
                  <a:srgbClr val="0000CC"/>
                </a:solidFill>
                <a:latin typeface="Times New Roman" panose="02020603050405020304" pitchFamily="18" charset="0"/>
                <a:ea typeface="宋体" panose="02010600030101010101" pitchFamily="2" charset="-122"/>
              </a:rPr>
              <a:t>例：    	</a:t>
            </a:r>
            <a:r>
              <a:rPr lang="en-US" altLang="zh-CN" dirty="0">
                <a:solidFill>
                  <a:srgbClr val="0000CC"/>
                </a:solidFill>
                <a:latin typeface="Times New Roman" panose="02020603050405020304" pitchFamily="18" charset="0"/>
                <a:ea typeface="宋体" panose="02010600030101010101" pitchFamily="2" charset="-122"/>
              </a:rPr>
              <a:t>ORG   8100H</a:t>
            </a:r>
          </a:p>
          <a:p>
            <a:pPr algn="just" eaLnBrk="0" hangingPunct="0">
              <a:lnSpc>
                <a:spcPct val="130000"/>
              </a:lnSpc>
            </a:pPr>
            <a:r>
              <a:rPr lang="en-US" altLang="zh-CN" dirty="0">
                <a:solidFill>
                  <a:srgbClr val="0000CC"/>
                </a:solidFill>
                <a:latin typeface="Times New Roman" panose="02020603050405020304" pitchFamily="18" charset="0"/>
                <a:ea typeface="宋体" panose="02010600030101010101" pitchFamily="2" charset="-122"/>
              </a:rPr>
              <a:t>                     	DS     	08H</a:t>
            </a:r>
          </a:p>
          <a:p>
            <a:pPr algn="just" eaLnBrk="0" hangingPunct="0">
              <a:lnSpc>
                <a:spcPct val="130000"/>
              </a:lnSpc>
            </a:pPr>
            <a:r>
              <a:rPr lang="zh-CN" altLang="en-US" dirty="0">
                <a:solidFill>
                  <a:srgbClr val="FF0000"/>
                </a:solidFill>
                <a:latin typeface="Times New Roman" panose="02020603050405020304" pitchFamily="18" charset="0"/>
                <a:ea typeface="宋体" panose="02010600030101010101" pitchFamily="2" charset="-122"/>
              </a:rPr>
              <a:t>注意：对</a:t>
            </a:r>
            <a:r>
              <a:rPr lang="en-US" altLang="zh-CN" dirty="0">
                <a:solidFill>
                  <a:srgbClr val="FF0000"/>
                </a:solidFill>
                <a:latin typeface="Times New Roman" panose="02020603050405020304" pitchFamily="18" charset="0"/>
                <a:ea typeface="宋体" panose="02010600030101010101" pitchFamily="2" charset="-122"/>
              </a:rPr>
              <a:t>MSC-51</a:t>
            </a:r>
            <a:r>
              <a:rPr lang="zh-CN" altLang="en-US" dirty="0">
                <a:solidFill>
                  <a:srgbClr val="FF0000"/>
                </a:solidFill>
                <a:latin typeface="Times New Roman" panose="02020603050405020304" pitchFamily="18" charset="0"/>
                <a:ea typeface="宋体" panose="02010600030101010101" pitchFamily="2" charset="-122"/>
              </a:rPr>
              <a:t>单片机来说，</a:t>
            </a:r>
            <a:r>
              <a:rPr lang="en-US" altLang="zh-CN" dirty="0">
                <a:solidFill>
                  <a:srgbClr val="FF0000"/>
                </a:solidFill>
                <a:latin typeface="Times New Roman" panose="02020603050405020304" pitchFamily="18" charset="0"/>
                <a:ea typeface="宋体" panose="02010600030101010101" pitchFamily="2" charset="-122"/>
              </a:rPr>
              <a:t>DB</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DW</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DS</a:t>
            </a:r>
            <a:r>
              <a:rPr lang="zh-CN" altLang="en-US" dirty="0">
                <a:solidFill>
                  <a:srgbClr val="FF0000"/>
                </a:solidFill>
                <a:latin typeface="Times New Roman" panose="02020603050405020304" pitchFamily="18" charset="0"/>
                <a:ea typeface="宋体" panose="02010600030101010101" pitchFamily="2" charset="-122"/>
              </a:rPr>
              <a:t>命令只能对程序存储器使用，不能对数据存储器使用。</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25</a:t>
            </a:fld>
            <a:endParaRPr lang="en-US" altLang="zh-CN" sz="1400" b="0" dirty="0"/>
          </a:p>
        </p:txBody>
      </p:sp>
      <p:sp>
        <p:nvSpPr>
          <p:cNvPr id="190466" name="Rectangle 2"/>
          <p:cNvSpPr/>
          <p:nvPr/>
        </p:nvSpPr>
        <p:spPr>
          <a:xfrm>
            <a:off x="179388" y="4365625"/>
            <a:ext cx="4679950" cy="1990725"/>
          </a:xfrm>
          <a:prstGeom prst="rect">
            <a:avLst/>
          </a:prstGeom>
          <a:solidFill>
            <a:schemeClr val="hlink"/>
          </a:solidFill>
          <a:ln w="9525">
            <a:noFill/>
          </a:ln>
        </p:spPr>
        <p:txBody>
          <a:bodyPr anchor="t" anchorCtr="0">
            <a:spAutoFit/>
          </a:bodyPr>
          <a:lstStyle/>
          <a:p>
            <a:pPr algn="just">
              <a:lnSpc>
                <a:spcPct val="130000"/>
              </a:lnSpc>
            </a:pPr>
            <a:r>
              <a:rPr lang="zh-CN" altLang="en-US" dirty="0">
                <a:latin typeface="Times New Roman" panose="02020603050405020304" pitchFamily="18" charset="0"/>
                <a:ea typeface="宋体" panose="02010600030101010101" pitchFamily="2" charset="-122"/>
              </a:rPr>
              <a:t>例如</a:t>
            </a:r>
            <a:r>
              <a:rPr lang="en-US" altLang="zh-CN" dirty="0">
                <a:latin typeface="Times New Roman" panose="02020603050405020304" pitchFamily="18" charset="0"/>
                <a:ea typeface="宋体" panose="02010600030101010101" pitchFamily="2" charset="-122"/>
              </a:rPr>
              <a:t>: 		</a:t>
            </a:r>
            <a:r>
              <a:rPr lang="pt-BR" altLang="zh-CN" dirty="0">
                <a:latin typeface="Times New Roman" panose="02020603050405020304" pitchFamily="18" charset="0"/>
                <a:ea typeface="宋体" panose="02010600030101010101" pitchFamily="2" charset="-122"/>
              </a:rPr>
              <a:t>X	  EQU  20</a:t>
            </a:r>
            <a:endParaRPr lang="fr-FR" altLang="zh-CN" dirty="0">
              <a:latin typeface="Times New Roman" panose="02020603050405020304" pitchFamily="18" charset="0"/>
              <a:ea typeface="宋体" panose="02010600030101010101" pitchFamily="2" charset="-122"/>
            </a:endParaRPr>
          </a:p>
          <a:p>
            <a:pPr>
              <a:lnSpc>
                <a:spcPct val="130000"/>
              </a:lnSpc>
            </a:pPr>
            <a:r>
              <a:rPr lang="fr-FR" altLang="zh-CN" dirty="0">
                <a:latin typeface="Times New Roman" panose="02020603050405020304" pitchFamily="18" charset="0"/>
                <a:ea typeface="宋体" panose="02010600030101010101" pitchFamily="2" charset="-122"/>
              </a:rPr>
              <a:t>		Y	  EQU  30</a:t>
            </a:r>
            <a:endParaRPr lang="pt-BR" altLang="zh-CN" dirty="0">
              <a:latin typeface="Times New Roman" panose="02020603050405020304" pitchFamily="18" charset="0"/>
              <a:ea typeface="宋体" panose="02010600030101010101" pitchFamily="2" charset="-122"/>
            </a:endParaRPr>
          </a:p>
          <a:p>
            <a:pPr>
              <a:lnSpc>
                <a:spcPct val="130000"/>
              </a:lnSpc>
            </a:pPr>
            <a:r>
              <a:rPr lang="pt-BR" altLang="zh-CN" dirty="0">
                <a:latin typeface="Times New Roman" panose="02020603050405020304" pitchFamily="18" charset="0"/>
                <a:ea typeface="宋体" panose="02010600030101010101" pitchFamily="2" charset="-122"/>
              </a:rPr>
              <a:t>		Z	  EQU  X+Y</a:t>
            </a:r>
          </a:p>
          <a:p>
            <a:pPr>
              <a:lnSpc>
                <a:spcPct val="130000"/>
              </a:lnSpc>
            </a:pPr>
            <a:r>
              <a:rPr lang="pt-BR" altLang="zh-CN" dirty="0">
                <a:latin typeface="Times New Roman" panose="02020603050405020304" pitchFamily="18" charset="0"/>
                <a:ea typeface="宋体" panose="02010600030101010101" pitchFamily="2" charset="-122"/>
              </a:rPr>
              <a:t>		AA  	  EQU  R1</a:t>
            </a:r>
            <a:endParaRPr lang="en-US" altLang="zh-CN" dirty="0">
              <a:latin typeface="Times New Roman" panose="02020603050405020304" pitchFamily="18" charset="0"/>
              <a:ea typeface="宋体" panose="02010600030101010101" pitchFamily="2" charset="-122"/>
            </a:endParaRPr>
          </a:p>
        </p:txBody>
      </p:sp>
      <p:sp>
        <p:nvSpPr>
          <p:cNvPr id="190467" name="Rectangle 3"/>
          <p:cNvSpPr/>
          <p:nvPr/>
        </p:nvSpPr>
        <p:spPr>
          <a:xfrm>
            <a:off x="179383" y="908050"/>
            <a:ext cx="8458200" cy="3192145"/>
          </a:xfrm>
          <a:prstGeom prst="rect">
            <a:avLst/>
          </a:prstGeom>
          <a:noFill/>
          <a:ln w="9525">
            <a:noFill/>
          </a:ln>
        </p:spPr>
        <p:txBody>
          <a:bodyPr>
            <a:spAutoFit/>
          </a:bodyPr>
          <a:lstStyle/>
          <a:p>
            <a:pPr marL="0" marR="0" lvl="0" indent="0" algn="just" defTabSz="914400" rtl="0" eaLnBrk="1" fontAlgn="base" latinLnBrk="0" hangingPunct="1">
              <a:lnSpc>
                <a:spcPct val="140000"/>
              </a:lnSpc>
              <a:spcBef>
                <a:spcPct val="0"/>
              </a:spcBef>
              <a:spcAft>
                <a:spcPct val="0"/>
              </a:spcAft>
              <a:buClrTx/>
              <a:buSzTx/>
              <a:buFontTx/>
              <a:buNone/>
              <a:defRPr/>
            </a:pPr>
            <a:r>
              <a:rPr kumimoji="0" lang="en-US" altLang="zh-CN" sz="2400" b="1" i="0" u="none" strike="noStrike" kern="1200" cap="none" spc="0" normalizeH="0" baseline="0" noProof="1">
                <a:ln>
                  <a:noFill/>
                </a:ln>
                <a:solidFill>
                  <a:srgbClr val="FF3300"/>
                </a:solidFill>
                <a:effectLst/>
                <a:uLnTx/>
                <a:uFillTx/>
                <a:latin typeface="Times New Roman" panose="02020603050405020304" pitchFamily="18" charset="0"/>
                <a:ea typeface="黑体" panose="02010609060101010101" pitchFamily="49" charset="-122"/>
                <a:cs typeface="+mn-cs"/>
              </a:rPr>
              <a:t>(6) EQU</a:t>
            </a:r>
            <a:r>
              <a:rPr kumimoji="0" lang="zh-CN" altLang="en-US" sz="2400" b="1" i="0" u="none" strike="noStrike" kern="1200" cap="none" spc="0" normalizeH="0" baseline="0" noProof="1">
                <a:ln>
                  <a:noFill/>
                </a:ln>
                <a:solidFill>
                  <a:srgbClr val="FF3300"/>
                </a:solidFill>
                <a:effectLst/>
                <a:uLnTx/>
                <a:uFillTx/>
                <a:latin typeface="Times New Roman" panose="02020603050405020304" pitchFamily="18" charset="0"/>
                <a:ea typeface="黑体" panose="02010609060101010101" pitchFamily="49" charset="-122"/>
                <a:cs typeface="+mn-cs"/>
              </a:rPr>
              <a:t>（</a:t>
            </a:r>
            <a:r>
              <a:rPr kumimoji="0" lang="en-US" altLang="zh-CN" sz="2400" b="1" i="0" u="none" strike="noStrike" kern="1200" cap="none" spc="0" normalizeH="0" baseline="0" noProof="1">
                <a:ln>
                  <a:noFill/>
                </a:ln>
                <a:solidFill>
                  <a:srgbClr val="FF3300"/>
                </a:solidFill>
                <a:effectLst/>
                <a:uLnTx/>
                <a:uFillTx/>
                <a:latin typeface="Times New Roman" panose="02020603050405020304" pitchFamily="18" charset="0"/>
                <a:ea typeface="黑体" panose="02010609060101010101" pitchFamily="49" charset="-122"/>
                <a:cs typeface="+mn-cs"/>
              </a:rPr>
              <a:t>Equate</a:t>
            </a:r>
            <a:r>
              <a:rPr kumimoji="0" lang="zh-CN" altLang="en-US" sz="2400" b="1" i="0" u="none" strike="noStrike" kern="1200" cap="none" spc="0" normalizeH="0" baseline="0" noProof="1">
                <a:ln>
                  <a:noFill/>
                </a:ln>
                <a:solidFill>
                  <a:srgbClr val="FF3300"/>
                </a:solidFill>
                <a:effectLst/>
                <a:uLnTx/>
                <a:uFillTx/>
                <a:latin typeface="Times New Roman" panose="02020603050405020304" pitchFamily="18" charset="0"/>
                <a:ea typeface="黑体" panose="02010609060101010101" pitchFamily="49" charset="-122"/>
                <a:cs typeface="+mn-cs"/>
              </a:rPr>
              <a:t>）  赋值命令</a:t>
            </a:r>
            <a:endParaRPr kumimoji="0" lang="zh-CN" altLang="en-US" sz="2400" b="1" i="0" u="none" strike="noStrike" kern="1200" cap="none" spc="0" normalizeH="0" baseline="0" noProof="1">
              <a:ln>
                <a:noFill/>
              </a:ln>
              <a:solidFill>
                <a:srgbClr val="FF33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40000"/>
              </a:lnSpc>
              <a:spcBef>
                <a:spcPct val="0"/>
              </a:spcBef>
              <a:spcAft>
                <a:spcPct val="0"/>
              </a:spcAft>
              <a:buClrTx/>
              <a:buSzTx/>
              <a:buFontTx/>
              <a:buNone/>
              <a:defRPr/>
            </a:pPr>
            <a:r>
              <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    功能：用于给字符名称赋予一个特定值。赋值以后，其值在整个过程中有效。（</a:t>
            </a:r>
            <a:r>
              <a:rPr kumimoji="0" lang="zh-CN" altLang="en-US" sz="2400" b="1" i="0" u="none" strike="noStrike" kern="1200" cap="none" spc="0" normalizeH="0" baseline="0" noProof="1">
                <a:ln>
                  <a:noFill/>
                </a:ln>
                <a:gradFill>
                  <a:gsLst>
                    <a:gs pos="0">
                      <a:srgbClr val="14CD68"/>
                    </a:gs>
                    <a:gs pos="100000">
                      <a:srgbClr val="035C7D"/>
                    </a:gs>
                  </a:gsLst>
                  <a:lin scaled="0"/>
                </a:gradFill>
                <a:effectLst/>
                <a:uLnTx/>
                <a:uFillTx/>
                <a:latin typeface="Times New Roman" panose="02020603050405020304" pitchFamily="18" charset="0"/>
                <a:ea typeface="宋体" panose="02010600030101010101" pitchFamily="2" charset="-122"/>
                <a:cs typeface="+mn-cs"/>
              </a:rPr>
              <a:t>相当于</a:t>
            </a:r>
            <a:r>
              <a:rPr kumimoji="0" lang="en-US" altLang="zh-CN" sz="2400" b="1" i="0" u="none" strike="noStrike" kern="1200" cap="none" spc="0" normalizeH="0" baseline="0" noProof="1">
                <a:ln>
                  <a:noFill/>
                </a:ln>
                <a:gradFill>
                  <a:gsLst>
                    <a:gs pos="0">
                      <a:srgbClr val="14CD68"/>
                    </a:gs>
                    <a:gs pos="100000">
                      <a:srgbClr val="035C7D"/>
                    </a:gs>
                  </a:gsLst>
                  <a:lin scaled="0"/>
                </a:gradFill>
                <a:effectLst/>
                <a:uLnTx/>
                <a:uFillTx/>
                <a:latin typeface="Times New Roman" panose="02020603050405020304" pitchFamily="18" charset="0"/>
                <a:ea typeface="宋体" panose="02010600030101010101" pitchFamily="2" charset="-122"/>
                <a:cs typeface="+mn-cs"/>
              </a:rPr>
              <a:t>C</a:t>
            </a:r>
            <a:r>
              <a:rPr kumimoji="0" lang="zh-CN" altLang="zh-CN" sz="2400" b="1" i="0" u="none" strike="noStrike" kern="1200" cap="none" spc="0" normalizeH="0" baseline="0" noProof="1">
                <a:ln>
                  <a:noFill/>
                </a:ln>
                <a:gradFill>
                  <a:gsLst>
                    <a:gs pos="0">
                      <a:srgbClr val="14CD68"/>
                    </a:gs>
                    <a:gs pos="100000">
                      <a:srgbClr val="035C7D"/>
                    </a:gs>
                  </a:gsLst>
                  <a:lin scaled="0"/>
                </a:gradFill>
                <a:effectLst/>
                <a:uLnTx/>
                <a:uFillTx/>
                <a:latin typeface="Times New Roman" panose="02020603050405020304" pitchFamily="18" charset="0"/>
                <a:ea typeface="宋体" panose="02010600030101010101" pitchFamily="2" charset="-122"/>
                <a:cs typeface="+mn-cs"/>
              </a:rPr>
              <a:t>语言中的</a:t>
            </a:r>
            <a:r>
              <a:rPr kumimoji="0" lang="en-US" altLang="zh-CN" sz="2400" b="1" i="0" u="none" strike="noStrike" kern="1200" cap="none" spc="0" normalizeH="0" baseline="0" noProof="1">
                <a:ln>
                  <a:noFill/>
                </a:ln>
                <a:gradFill>
                  <a:gsLst>
                    <a:gs pos="0">
                      <a:srgbClr val="14CD68"/>
                    </a:gs>
                    <a:gs pos="100000">
                      <a:srgbClr val="035C7D"/>
                    </a:gs>
                  </a:gsLst>
                  <a:lin scaled="0"/>
                </a:gradFill>
                <a:effectLst/>
                <a:uLnTx/>
                <a:uFillTx/>
                <a:latin typeface="Times New Roman" panose="02020603050405020304" pitchFamily="18" charset="0"/>
                <a:ea typeface="宋体" panose="02010600030101010101" pitchFamily="2" charset="-122"/>
                <a:cs typeface="+mn-cs"/>
              </a:rPr>
              <a:t>define</a:t>
            </a:r>
            <a:r>
              <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just" defTabSz="914400" rtl="0" eaLnBrk="0" fontAlgn="base" latinLnBrk="0" hangingPunct="0">
              <a:lnSpc>
                <a:spcPct val="140000"/>
              </a:lnSpc>
              <a:spcBef>
                <a:spcPct val="0"/>
              </a:spcBef>
              <a:spcAft>
                <a:spcPct val="0"/>
              </a:spcAft>
              <a:buClrTx/>
              <a:buSzTx/>
              <a:buFontTx/>
              <a:buNone/>
              <a:defRPr/>
            </a:pPr>
            <a:r>
              <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    格式：</a:t>
            </a:r>
          </a:p>
          <a:p>
            <a:pPr marL="0" marR="0" lvl="0" indent="0" algn="just" defTabSz="914400" rtl="0" eaLnBrk="0" fontAlgn="base" latinLnBrk="0" hangingPunct="0">
              <a:lnSpc>
                <a:spcPct val="140000"/>
              </a:lnSpc>
              <a:spcBef>
                <a:spcPct val="0"/>
              </a:spcBef>
              <a:spcAft>
                <a:spcPct val="0"/>
              </a:spcAft>
              <a:buClrTx/>
              <a:buSzTx/>
              <a:buFontTx/>
              <a:buNone/>
              <a:defRPr/>
            </a:pPr>
            <a:r>
              <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24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字符名称    </a:t>
            </a:r>
            <a:r>
              <a:rPr kumimoji="0" lang="en-US" altLang="zh-CN" sz="24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EQU    </a:t>
            </a:r>
            <a:r>
              <a:rPr kumimoji="0" lang="zh-CN" altLang="en-US" sz="24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赋值项</a:t>
            </a:r>
          </a:p>
          <a:p>
            <a:pPr marL="0" marR="0" lvl="0" indent="0" algn="just" defTabSz="914400" rtl="0" eaLnBrk="0" fontAlgn="base" latinLnBrk="0" hangingPunct="0">
              <a:lnSpc>
                <a:spcPct val="140000"/>
              </a:lnSpc>
              <a:spcBef>
                <a:spcPct val="0"/>
              </a:spcBef>
              <a:spcAft>
                <a:spcPct val="0"/>
              </a:spcAft>
              <a:buClrTx/>
              <a:buSzTx/>
              <a:buFontTx/>
              <a:buNone/>
              <a:defRPr/>
            </a:pPr>
            <a:r>
              <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    “赋值项”：可以是常数、地址、标号或表达式。 </a:t>
            </a:r>
          </a:p>
        </p:txBody>
      </p:sp>
      <p:sp>
        <p:nvSpPr>
          <p:cNvPr id="190468" name="Text Box 4"/>
          <p:cNvSpPr txBox="1"/>
          <p:nvPr/>
        </p:nvSpPr>
        <p:spPr>
          <a:xfrm>
            <a:off x="5651500" y="4868863"/>
            <a:ext cx="2305050" cy="1014730"/>
          </a:xfrm>
          <a:prstGeom prst="rect">
            <a:avLst/>
          </a:prstGeom>
          <a:solidFill>
            <a:srgbClr val="CCECFF"/>
          </a:solidFill>
          <a:ln w="9525">
            <a:noFill/>
          </a:ln>
        </p:spPr>
        <p:txBody>
          <a:bodyPr anchor="t" anchorCtr="0">
            <a:spAutoFit/>
          </a:bodyPr>
          <a:lstStyle/>
          <a:p>
            <a:pPr>
              <a:spcBef>
                <a:spcPct val="50000"/>
              </a:spcBef>
            </a:pPr>
            <a:r>
              <a:rPr lang="en-US" altLang="zh-CN" dirty="0">
                <a:latin typeface="Times New Roman" panose="02020603050405020304" pitchFamily="18" charset="0"/>
                <a:ea typeface="宋体" panose="02010600030101010101" pitchFamily="2" charset="-122"/>
              </a:rPr>
              <a:t>MOV    A, #X</a:t>
            </a:r>
          </a:p>
          <a:p>
            <a:pPr>
              <a:spcBef>
                <a:spcPct val="50000"/>
              </a:spcBef>
            </a:pPr>
            <a:r>
              <a:rPr lang="en-US" altLang="zh-CN" dirty="0">
                <a:latin typeface="Times New Roman" panose="02020603050405020304" pitchFamily="18" charset="0"/>
                <a:ea typeface="宋体" panose="02010600030101010101" pitchFamily="2" charset="-122"/>
              </a:rPr>
              <a:t>MOV    A, X</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26</a:t>
            </a:fld>
            <a:endParaRPr lang="en-US" altLang="zh-CN" sz="1400" b="0" dirty="0"/>
          </a:p>
        </p:txBody>
      </p:sp>
      <p:sp>
        <p:nvSpPr>
          <p:cNvPr id="32770" name="Text Box 4"/>
          <p:cNvSpPr txBox="1"/>
          <p:nvPr/>
        </p:nvSpPr>
        <p:spPr>
          <a:xfrm>
            <a:off x="323850" y="908050"/>
            <a:ext cx="7850188" cy="4364038"/>
          </a:xfrm>
          <a:prstGeom prst="rect">
            <a:avLst/>
          </a:prstGeom>
          <a:noFill/>
          <a:ln w="9525">
            <a:noFill/>
          </a:ln>
        </p:spPr>
        <p:txBody>
          <a:bodyPr anchor="t" anchorCtr="0">
            <a:spAutoFit/>
          </a:bodyPr>
          <a:lstStyle/>
          <a:p>
            <a:pPr marL="457200" indent="-457200">
              <a:lnSpc>
                <a:spcPct val="130000"/>
              </a:lnSpc>
            </a:pPr>
            <a:r>
              <a:rPr lang="pt-BR" altLang="zh-CN" dirty="0">
                <a:solidFill>
                  <a:srgbClr val="FF0000"/>
                </a:solidFill>
                <a:latin typeface="Times New Roman" panose="02020603050405020304" pitchFamily="18" charset="0"/>
                <a:ea typeface="宋体" panose="02010600030101010101" pitchFamily="2" charset="-122"/>
              </a:rPr>
              <a:t>(7) DATA  </a:t>
            </a:r>
            <a:r>
              <a:rPr lang="zh-CN" altLang="pt-BR" dirty="0">
                <a:solidFill>
                  <a:srgbClr val="FF0000"/>
                </a:solidFill>
                <a:latin typeface="Times New Roman" panose="02020603050405020304" pitchFamily="18" charset="0"/>
                <a:ea typeface="宋体" panose="02010600030101010101" pitchFamily="2" charset="-122"/>
              </a:rPr>
              <a:t>数据地址赋值命令</a:t>
            </a:r>
          </a:p>
          <a:p>
            <a:pPr marL="457200" indent="-457200">
              <a:lnSpc>
                <a:spcPct val="130000"/>
              </a:lnSpc>
            </a:pPr>
            <a:r>
              <a:rPr lang="zh-CN" altLang="pt-BR" dirty="0">
                <a:latin typeface="Times New Roman" panose="02020603050405020304" pitchFamily="18" charset="0"/>
                <a:ea typeface="宋体" panose="02010600030101010101" pitchFamily="2" charset="-122"/>
              </a:rPr>
              <a:t>格式：字符名称    </a:t>
            </a:r>
            <a:r>
              <a:rPr lang="pt-BR" altLang="zh-CN" dirty="0">
                <a:latin typeface="Times New Roman" panose="02020603050405020304" pitchFamily="18" charset="0"/>
                <a:ea typeface="宋体" panose="02010600030101010101" pitchFamily="2" charset="-122"/>
              </a:rPr>
              <a:t>DATA   </a:t>
            </a:r>
            <a:r>
              <a:rPr lang="zh-CN" altLang="pt-BR" dirty="0">
                <a:latin typeface="Times New Roman" panose="02020603050405020304" pitchFamily="18" charset="0"/>
                <a:ea typeface="宋体" panose="02010600030101010101" pitchFamily="2" charset="-122"/>
              </a:rPr>
              <a:t>项</a:t>
            </a:r>
          </a:p>
          <a:p>
            <a:pPr marL="457200" indent="-457200">
              <a:lnSpc>
                <a:spcPct val="130000"/>
              </a:lnSpc>
            </a:pPr>
            <a:r>
              <a:rPr lang="zh-CN" altLang="pt-BR" dirty="0">
                <a:latin typeface="Times New Roman" panose="02020603050405020304" pitchFamily="18" charset="0"/>
                <a:ea typeface="宋体" panose="02010600030101010101" pitchFamily="2" charset="-122"/>
              </a:rPr>
              <a:t>功能：与</a:t>
            </a:r>
            <a:r>
              <a:rPr lang="pt-BR" altLang="zh-CN" dirty="0">
                <a:latin typeface="Times New Roman" panose="02020603050405020304" pitchFamily="18" charset="0"/>
                <a:ea typeface="宋体" panose="02010600030101010101" pitchFamily="2" charset="-122"/>
              </a:rPr>
              <a:t>EQU</a:t>
            </a:r>
            <a:r>
              <a:rPr lang="zh-CN" altLang="pt-BR" dirty="0">
                <a:latin typeface="Times New Roman" panose="02020603050405020304" pitchFamily="18" charset="0"/>
                <a:ea typeface="宋体" panose="02010600030101010101" pitchFamily="2" charset="-122"/>
              </a:rPr>
              <a:t>基本类似，但有以下差别。</a:t>
            </a:r>
            <a:endParaRPr lang="zh-CN" altLang="en-US" dirty="0">
              <a:latin typeface="Times New Roman" panose="02020603050405020304" pitchFamily="18" charset="0"/>
              <a:ea typeface="宋体" panose="02010600030101010101" pitchFamily="2" charset="-122"/>
            </a:endParaRPr>
          </a:p>
          <a:p>
            <a:pPr marL="457200" indent="-457200">
              <a:lnSpc>
                <a:spcPct val="130000"/>
              </a:lnSpc>
            </a:pPr>
            <a:endParaRPr lang="zh-CN" altLang="en-US" dirty="0">
              <a:latin typeface="Times New Roman" panose="02020603050405020304" pitchFamily="18" charset="0"/>
              <a:ea typeface="宋体" panose="02010600030101010101" pitchFamily="2" charset="-122"/>
            </a:endParaRPr>
          </a:p>
          <a:p>
            <a:pPr marL="457200" indent="-457200">
              <a:lnSpc>
                <a:spcPct val="130000"/>
              </a:lnSpc>
            </a:pPr>
            <a:r>
              <a:rPr lang="zh-CN" altLang="en-US" dirty="0">
                <a:latin typeface="Times New Roman" panose="02020603050405020304" pitchFamily="18" charset="0"/>
                <a:ea typeface="宋体" panose="02010600030101010101" pitchFamily="2" charset="-122"/>
              </a:rPr>
              <a:t>*  </a:t>
            </a:r>
            <a:r>
              <a:rPr lang="en-US" altLang="zh-CN" dirty="0">
                <a:solidFill>
                  <a:schemeClr val="accent2"/>
                </a:solidFill>
                <a:latin typeface="Times New Roman" panose="02020603050405020304" pitchFamily="18" charset="0"/>
                <a:ea typeface="宋体" panose="02010600030101010101" pitchFamily="2" charset="-122"/>
              </a:rPr>
              <a:t>EQU</a:t>
            </a:r>
            <a:r>
              <a:rPr lang="zh-CN" altLang="en-US" dirty="0">
                <a:solidFill>
                  <a:schemeClr val="accent2"/>
                </a:solidFill>
                <a:latin typeface="Times New Roman" panose="02020603050405020304" pitchFamily="18" charset="0"/>
                <a:ea typeface="宋体" panose="02010600030101010101" pitchFamily="2" charset="-122"/>
              </a:rPr>
              <a:t>定义的字符名称必须先定义后使用，而</a:t>
            </a:r>
            <a:r>
              <a:rPr lang="en-US" altLang="zh-CN" dirty="0">
                <a:solidFill>
                  <a:schemeClr val="accent2"/>
                </a:solidFill>
                <a:latin typeface="Times New Roman" panose="02020603050405020304" pitchFamily="18" charset="0"/>
                <a:ea typeface="宋体" panose="02010600030101010101" pitchFamily="2" charset="-122"/>
              </a:rPr>
              <a:t>DATA</a:t>
            </a:r>
            <a:r>
              <a:rPr lang="zh-CN" altLang="en-US" dirty="0">
                <a:solidFill>
                  <a:schemeClr val="accent2"/>
                </a:solidFill>
                <a:latin typeface="Times New Roman" panose="02020603050405020304" pitchFamily="18" charset="0"/>
                <a:ea typeface="宋体" panose="02010600030101010101" pitchFamily="2" charset="-122"/>
              </a:rPr>
              <a:t>定义的字符名可以先使用后定义</a:t>
            </a:r>
            <a:r>
              <a:rPr lang="zh-CN" altLang="en-US" dirty="0">
                <a:latin typeface="Times New Roman" panose="02020603050405020304" pitchFamily="18" charset="0"/>
                <a:ea typeface="宋体" panose="02010600030101010101" pitchFamily="2" charset="-122"/>
              </a:rPr>
              <a:t>。</a:t>
            </a:r>
          </a:p>
          <a:p>
            <a:pPr marL="457200" indent="-457200">
              <a:lnSpc>
                <a:spcPct val="130000"/>
              </a:lnSpc>
            </a:pPr>
            <a:endParaRPr lang="zh-CN" altLang="en-US" dirty="0">
              <a:latin typeface="Times New Roman" panose="02020603050405020304" pitchFamily="18" charset="0"/>
              <a:ea typeface="宋体" panose="02010600030101010101" pitchFamily="2" charset="-122"/>
            </a:endParaRPr>
          </a:p>
          <a:p>
            <a:pPr marL="457200" indent="-457200">
              <a:lnSpc>
                <a:spcPct val="130000"/>
              </a:lnSpc>
            </a:pPr>
            <a:r>
              <a:rPr lang="zh-CN" altLang="en-US" dirty="0">
                <a:latin typeface="Times New Roman" panose="02020603050405020304" pitchFamily="18" charset="0"/>
                <a:ea typeface="宋体" panose="02010600030101010101" pitchFamily="2" charset="-122"/>
              </a:rPr>
              <a:t>* 用</a:t>
            </a:r>
            <a:r>
              <a:rPr lang="en-US" altLang="zh-CN" dirty="0">
                <a:latin typeface="Times New Roman" panose="02020603050405020304" pitchFamily="18" charset="0"/>
                <a:ea typeface="宋体" panose="02010600030101010101" pitchFamily="2" charset="-122"/>
              </a:rPr>
              <a:t>EQU</a:t>
            </a:r>
            <a:r>
              <a:rPr lang="zh-CN" altLang="en-US" dirty="0">
                <a:latin typeface="Times New Roman" panose="02020603050405020304" pitchFamily="18" charset="0"/>
                <a:ea typeface="宋体" panose="02010600030101010101" pitchFamily="2" charset="-122"/>
              </a:rPr>
              <a:t>可以把一个汇编符号赋给字符名称，如上例中的</a:t>
            </a:r>
            <a:r>
              <a:rPr lang="en-US" altLang="zh-CN" dirty="0">
                <a:latin typeface="Times New Roman" panose="02020603050405020304" pitchFamily="18" charset="0"/>
                <a:ea typeface="宋体" panose="02010600030101010101" pitchFamily="2" charset="-122"/>
              </a:rPr>
              <a:t>R1</a:t>
            </a:r>
            <a:r>
              <a:rPr lang="zh-CN" altLang="en-US" dirty="0">
                <a:latin typeface="Times New Roman" panose="02020603050405020304" pitchFamily="18" charset="0"/>
                <a:ea typeface="宋体" panose="02010600030101010101" pitchFamily="2" charset="-122"/>
              </a:rPr>
              <a:t>，而</a:t>
            </a:r>
            <a:r>
              <a:rPr lang="en-US" altLang="zh-CN" dirty="0">
                <a:solidFill>
                  <a:schemeClr val="accent2"/>
                </a:solidFill>
                <a:latin typeface="Times New Roman" panose="02020603050405020304" pitchFamily="18" charset="0"/>
                <a:ea typeface="宋体" panose="02010600030101010101" pitchFamily="2" charset="-122"/>
              </a:rPr>
              <a:t>DATA</a:t>
            </a:r>
            <a:r>
              <a:rPr lang="zh-CN" altLang="en-US" dirty="0">
                <a:solidFill>
                  <a:schemeClr val="accent2"/>
                </a:solidFill>
                <a:latin typeface="Times New Roman" panose="02020603050405020304" pitchFamily="18" charset="0"/>
                <a:ea typeface="宋体" panose="02010600030101010101" pitchFamily="2" charset="-122"/>
              </a:rPr>
              <a:t>只能把数据赋给字符名</a:t>
            </a:r>
            <a:r>
              <a:rPr lang="zh-CN" altLang="en-US" dirty="0">
                <a:latin typeface="Times New Roman" panose="02020603050405020304" pitchFamily="18" charset="0"/>
                <a:ea typeface="宋体" panose="02010600030101010101" pitchFamily="2" charset="-122"/>
              </a:rPr>
              <a:t>。</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27</a:t>
            </a:fld>
            <a:endParaRPr lang="en-US" altLang="zh-CN" sz="1400" b="0" dirty="0"/>
          </a:p>
        </p:txBody>
      </p:sp>
      <p:sp>
        <p:nvSpPr>
          <p:cNvPr id="33794" name="Rectangle 2"/>
          <p:cNvSpPr/>
          <p:nvPr/>
        </p:nvSpPr>
        <p:spPr>
          <a:xfrm>
            <a:off x="260350" y="987425"/>
            <a:ext cx="8305800" cy="2159000"/>
          </a:xfrm>
          <a:prstGeom prst="rect">
            <a:avLst/>
          </a:prstGeom>
          <a:noFill/>
          <a:ln w="9525">
            <a:noFill/>
          </a:ln>
        </p:spPr>
        <p:txBody>
          <a:bodyPr anchor="t" anchorCtr="0">
            <a:spAutoFit/>
          </a:bodyPr>
          <a:lstStyle/>
          <a:p>
            <a:pPr indent="338455" algn="just">
              <a:lnSpc>
                <a:spcPct val="140000"/>
              </a:lnSpc>
            </a:pPr>
            <a:r>
              <a:rPr lang="en-US" altLang="zh-CN" dirty="0">
                <a:solidFill>
                  <a:srgbClr val="FF3300"/>
                </a:solidFill>
                <a:latin typeface="Times New Roman" panose="02020603050405020304" pitchFamily="18" charset="0"/>
                <a:ea typeface="黑体" panose="02010609060101010101" pitchFamily="49" charset="-122"/>
              </a:rPr>
              <a:t>(8)</a:t>
            </a:r>
            <a:r>
              <a:rPr lang="zh-CN" altLang="en-US" dirty="0">
                <a:solidFill>
                  <a:srgbClr val="FF3300"/>
                </a:solidFill>
                <a:latin typeface="Times New Roman" panose="02020603050405020304" pitchFamily="18" charset="0"/>
                <a:ea typeface="黑体" panose="02010609060101010101" pitchFamily="49" charset="-122"/>
              </a:rPr>
              <a:t>．</a:t>
            </a:r>
            <a:r>
              <a:rPr lang="en-US" altLang="zh-CN" dirty="0">
                <a:solidFill>
                  <a:srgbClr val="FF3300"/>
                </a:solidFill>
                <a:latin typeface="Times New Roman" panose="02020603050405020304" pitchFamily="18" charset="0"/>
                <a:ea typeface="黑体" panose="02010609060101010101" pitchFamily="49" charset="-122"/>
              </a:rPr>
              <a:t>BIT   </a:t>
            </a:r>
            <a:r>
              <a:rPr lang="zh-CN" altLang="en-US" dirty="0">
                <a:solidFill>
                  <a:srgbClr val="FF3300"/>
                </a:solidFill>
                <a:latin typeface="Times New Roman" panose="02020603050405020304" pitchFamily="18" charset="0"/>
                <a:ea typeface="黑体" panose="02010609060101010101" pitchFamily="49" charset="-122"/>
              </a:rPr>
              <a:t>位定义命令</a:t>
            </a:r>
            <a:endParaRPr lang="zh-CN" altLang="en-US" dirty="0">
              <a:solidFill>
                <a:srgbClr val="FF3300"/>
              </a:solidFill>
              <a:latin typeface="Times New Roman" panose="02020603050405020304" pitchFamily="18" charset="0"/>
              <a:ea typeface="宋体" panose="02010600030101010101" pitchFamily="2" charset="-122"/>
            </a:endParaRPr>
          </a:p>
          <a:p>
            <a:pPr indent="338455" algn="just" eaLnBrk="0" hangingPunct="0">
              <a:lnSpc>
                <a:spcPct val="140000"/>
              </a:lnSpc>
            </a:pPr>
            <a:r>
              <a:rPr lang="zh-CN" altLang="en-US" dirty="0">
                <a:latin typeface="Times New Roman" panose="02020603050405020304" pitchFamily="18" charset="0"/>
                <a:ea typeface="宋体" panose="02010600030101010101" pitchFamily="2" charset="-122"/>
              </a:rPr>
              <a:t>    功能：    用于给字符名称赋以位地址。</a:t>
            </a:r>
          </a:p>
          <a:p>
            <a:pPr indent="338455" algn="just" eaLnBrk="0" hangingPunct="0">
              <a:lnSpc>
                <a:spcPct val="140000"/>
              </a:lnSpc>
            </a:pPr>
            <a:r>
              <a:rPr lang="zh-CN" altLang="en-US" dirty="0">
                <a:latin typeface="Times New Roman" panose="02020603050405020304" pitchFamily="18" charset="0"/>
                <a:ea typeface="宋体" panose="02010600030101010101" pitchFamily="2" charset="-122"/>
              </a:rPr>
              <a:t>    格式：    </a:t>
            </a:r>
            <a:r>
              <a:rPr lang="zh-CN" altLang="en-US" dirty="0">
                <a:solidFill>
                  <a:srgbClr val="4646D2"/>
                </a:solidFill>
                <a:latin typeface="Times New Roman" panose="02020603050405020304" pitchFamily="18" charset="0"/>
                <a:ea typeface="宋体" panose="02010600030101010101" pitchFamily="2" charset="-122"/>
              </a:rPr>
              <a:t>字符名称    </a:t>
            </a:r>
            <a:r>
              <a:rPr lang="en-US" altLang="zh-CN" dirty="0">
                <a:solidFill>
                  <a:srgbClr val="4646D2"/>
                </a:solidFill>
                <a:latin typeface="Times New Roman" panose="02020603050405020304" pitchFamily="18" charset="0"/>
                <a:ea typeface="宋体" panose="02010600030101010101" pitchFamily="2" charset="-122"/>
              </a:rPr>
              <a:t>BIT    </a:t>
            </a:r>
            <a:r>
              <a:rPr lang="zh-CN" altLang="en-US" dirty="0">
                <a:solidFill>
                  <a:srgbClr val="4646D2"/>
                </a:solidFill>
                <a:latin typeface="Times New Roman" panose="02020603050405020304" pitchFamily="18" charset="0"/>
                <a:ea typeface="宋体" panose="02010600030101010101" pitchFamily="2" charset="-122"/>
              </a:rPr>
              <a:t>位地址</a:t>
            </a:r>
          </a:p>
          <a:p>
            <a:pPr indent="338455" algn="just" eaLnBrk="0" hangingPunct="0">
              <a:lnSpc>
                <a:spcPct val="140000"/>
              </a:lnSpc>
            </a:pPr>
            <a:endParaRPr lang="zh-CN" altLang="en-US" dirty="0">
              <a:latin typeface="Times New Roman" panose="02020603050405020304" pitchFamily="18" charset="0"/>
              <a:ea typeface="宋体" panose="02010600030101010101" pitchFamily="2" charset="-122"/>
            </a:endParaRPr>
          </a:p>
        </p:txBody>
      </p:sp>
      <p:sp>
        <p:nvSpPr>
          <p:cNvPr id="33795" name="Text Box 3"/>
          <p:cNvSpPr txBox="1"/>
          <p:nvPr/>
        </p:nvSpPr>
        <p:spPr>
          <a:xfrm>
            <a:off x="1419225" y="5084763"/>
            <a:ext cx="4824413" cy="457200"/>
          </a:xfrm>
          <a:prstGeom prst="rect">
            <a:avLst/>
          </a:prstGeom>
          <a:noFill/>
          <a:ln w="9525">
            <a:noFill/>
          </a:ln>
        </p:spPr>
        <p:txBody>
          <a:bodyPr anchor="t" anchorCtr="0">
            <a:spAutoFit/>
          </a:bodyPr>
          <a:lstStyle/>
          <a:p>
            <a:pPr>
              <a:spcBef>
                <a:spcPct val="50000"/>
              </a:spcBef>
            </a:pPr>
            <a:r>
              <a:rPr lang="zh-CN" altLang="en-US" dirty="0">
                <a:latin typeface="Times New Roman" panose="02020603050405020304" pitchFamily="18" charset="0"/>
                <a:ea typeface="宋体" panose="02010600030101010101" pitchFamily="2" charset="-122"/>
              </a:rPr>
              <a:t>例如</a:t>
            </a:r>
            <a:r>
              <a:rPr lang="en-US" altLang="zh-CN" dirty="0">
                <a:latin typeface="Times New Roman" panose="02020603050405020304" pitchFamily="18" charset="0"/>
                <a:ea typeface="宋体" panose="02010600030101010101" pitchFamily="2" charset="-122"/>
              </a:rPr>
              <a:t>:   MOV    Cy,   AAA</a:t>
            </a:r>
          </a:p>
        </p:txBody>
      </p:sp>
      <p:sp>
        <p:nvSpPr>
          <p:cNvPr id="33796" name="文本框 1"/>
          <p:cNvSpPr txBox="1"/>
          <p:nvPr/>
        </p:nvSpPr>
        <p:spPr>
          <a:xfrm>
            <a:off x="406400" y="2625725"/>
            <a:ext cx="8313738" cy="2157413"/>
          </a:xfrm>
          <a:prstGeom prst="rect">
            <a:avLst/>
          </a:prstGeom>
          <a:noFill/>
          <a:ln w="9525">
            <a:noFill/>
          </a:ln>
        </p:spPr>
        <p:txBody>
          <a:bodyPr anchor="t" anchorCtr="0">
            <a:spAutoFit/>
          </a:bodyPr>
          <a:lstStyle/>
          <a:p>
            <a:pPr indent="338455" algn="just" eaLnBrk="0" hangingPunct="0">
              <a:lnSpc>
                <a:spcPct val="140000"/>
              </a:lnSpc>
            </a:pPr>
            <a:r>
              <a:rPr lang="zh-CN" altLang="en-US" dirty="0">
                <a:latin typeface="Times New Roman" panose="02020603050405020304" pitchFamily="18" charset="0"/>
                <a:ea typeface="宋体" panose="02010600030101010101" pitchFamily="2" charset="-122"/>
              </a:rPr>
              <a:t>    例如：</a:t>
            </a:r>
          </a:p>
          <a:p>
            <a:pPr indent="338455"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AAA      BIT    40H</a:t>
            </a:r>
          </a:p>
          <a:p>
            <a:pPr indent="338455" algn="just" eaLnBrk="0" hangingPunct="0">
              <a:lnSpc>
                <a:spcPct val="140000"/>
              </a:lnSpc>
            </a:pPr>
            <a:r>
              <a:rPr lang="en-US" altLang="zh-CN" dirty="0">
                <a:latin typeface="Times New Roman" panose="02020603050405020304" pitchFamily="18" charset="0"/>
                <a:ea typeface="宋体" panose="02010600030101010101" pitchFamily="2" charset="-122"/>
              </a:rPr>
              <a:t>		 BBB      BIT 	  50H</a:t>
            </a:r>
          </a:p>
          <a:p>
            <a:pPr indent="338455" algn="just" eaLnBrk="0" hangingPunct="0">
              <a:lnSpc>
                <a:spcPct val="14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其中“位地址”可以是绝对地址，也可以是符号地址。</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3"/>
          <p:cNvSpPr/>
          <p:nvPr/>
        </p:nvSpPr>
        <p:spPr>
          <a:xfrm>
            <a:off x="1652588" y="1428750"/>
            <a:ext cx="9144000" cy="0"/>
          </a:xfrm>
          <a:prstGeom prst="rect">
            <a:avLst/>
          </a:prstGeom>
          <a:noFill/>
          <a:ln w="9525">
            <a:noFill/>
          </a:ln>
        </p:spPr>
        <p:txBody>
          <a:bodyPr anchor="t" anchorCtr="0">
            <a:spAutoFit/>
          </a:bodyPr>
          <a:lstStyle/>
          <a:p>
            <a:endParaRPr lang="zh-CN" altLang="en-US" dirty="0">
              <a:latin typeface="Times New Roman" panose="02020603050405020304" pitchFamily="18" charset="0"/>
              <a:ea typeface="宋体" panose="02010600030101010101" pitchFamily="2" charset="-122"/>
            </a:endParaRPr>
          </a:p>
        </p:txBody>
      </p:sp>
      <p:sp>
        <p:nvSpPr>
          <p:cNvPr id="34818" name="Rectangle 4"/>
          <p:cNvSpPr/>
          <p:nvPr/>
        </p:nvSpPr>
        <p:spPr>
          <a:xfrm>
            <a:off x="0" y="-2540"/>
            <a:ext cx="9144000" cy="706755"/>
          </a:xfrm>
          <a:prstGeom prst="rect">
            <a:avLst/>
          </a:prstGeom>
          <a:solidFill>
            <a:srgbClr val="CCFF33"/>
          </a:solidFill>
          <a:ln w="9525">
            <a:noFill/>
          </a:ln>
        </p:spPr>
        <p:txBody>
          <a:bodyPr anchor="ctr" anchorCtr="0">
            <a:spAutoFit/>
          </a:bodyPr>
          <a:lstStyle/>
          <a:p>
            <a:endParaRPr lang="en-US" altLang="zh-CN" sz="2000" b="0" dirty="0">
              <a:latin typeface="Arial" panose="020B0604020202020204" pitchFamily="34" charset="0"/>
              <a:ea typeface="黑体" panose="02010609060101010101" pitchFamily="49" charset="-122"/>
            </a:endParaRPr>
          </a:p>
          <a:p>
            <a:pPr algn="ctr"/>
            <a:r>
              <a:rPr lang="zh-CN" altLang="en-US" sz="2000" b="0" dirty="0">
                <a:latin typeface="Arial" panose="020B0604020202020204" pitchFamily="34" charset="0"/>
                <a:ea typeface="黑体" panose="02010609060101010101" pitchFamily="49" charset="-122"/>
              </a:rPr>
              <a:t>表</a:t>
            </a:r>
            <a:r>
              <a:rPr lang="en-US" altLang="zh-CN" sz="2000" b="0" dirty="0">
                <a:latin typeface="Arial" panose="020B0604020202020204" pitchFamily="34" charset="0"/>
                <a:ea typeface="黑体" panose="02010609060101010101" pitchFamily="49" charset="-122"/>
              </a:rPr>
              <a:t>2-4  </a:t>
            </a:r>
            <a:r>
              <a:rPr lang="zh-CN" altLang="en-US" sz="2000" b="0" dirty="0">
                <a:latin typeface="Arial" panose="020B0604020202020204" pitchFamily="34" charset="0"/>
                <a:ea typeface="黑体" panose="02010609060101010101" pitchFamily="49" charset="-122"/>
              </a:rPr>
              <a:t>片内</a:t>
            </a:r>
            <a:r>
              <a:rPr lang="en-US" altLang="zh-CN" sz="2000" b="0" dirty="0">
                <a:latin typeface="Arial" panose="020B0604020202020204" pitchFamily="34" charset="0"/>
                <a:ea typeface="黑体" panose="02010609060101010101" pitchFamily="49" charset="-122"/>
              </a:rPr>
              <a:t>RAM</a:t>
            </a:r>
            <a:r>
              <a:rPr lang="zh-CN" altLang="en-US" sz="2000" b="0" dirty="0">
                <a:latin typeface="Arial" panose="020B0604020202020204" pitchFamily="34" charset="0"/>
                <a:ea typeface="黑体" panose="02010609060101010101" pitchFamily="49" charset="-122"/>
              </a:rPr>
              <a:t>中的位寻址区地址分配</a:t>
            </a:r>
            <a:endParaRPr lang="zh-CN" altLang="en-US" sz="2000" b="0" dirty="0">
              <a:latin typeface="Times New Roman" panose="02020603050405020304" pitchFamily="18" charset="0"/>
              <a:ea typeface="黑体" panose="02010609060101010101" pitchFamily="49" charset="-122"/>
            </a:endParaRPr>
          </a:p>
        </p:txBody>
      </p:sp>
      <p:grpSp>
        <p:nvGrpSpPr>
          <p:cNvPr id="34819" name="Group 1078"/>
          <p:cNvGrpSpPr/>
          <p:nvPr/>
        </p:nvGrpSpPr>
        <p:grpSpPr>
          <a:xfrm>
            <a:off x="179388" y="692150"/>
            <a:ext cx="8785225" cy="6121400"/>
            <a:chOff x="113" y="436"/>
            <a:chExt cx="5534" cy="3856"/>
          </a:xfrm>
        </p:grpSpPr>
        <p:pic>
          <p:nvPicPr>
            <p:cNvPr id="34820" name="Picture 1074"/>
            <p:cNvPicPr>
              <a:picLocks noChangeAspect="1"/>
            </p:cNvPicPr>
            <p:nvPr/>
          </p:nvPicPr>
          <p:blipFill>
            <a:blip r:embed="rId2"/>
            <a:stretch>
              <a:fillRect/>
            </a:stretch>
          </p:blipFill>
          <p:spPr>
            <a:xfrm>
              <a:off x="113" y="436"/>
              <a:ext cx="5534" cy="3856"/>
            </a:xfrm>
            <a:prstGeom prst="rect">
              <a:avLst/>
            </a:prstGeom>
            <a:noFill/>
            <a:ln w="9525">
              <a:noFill/>
            </a:ln>
          </p:spPr>
        </p:pic>
        <p:sp>
          <p:nvSpPr>
            <p:cNvPr id="34821" name="Line 1077"/>
            <p:cNvSpPr/>
            <p:nvPr/>
          </p:nvSpPr>
          <p:spPr>
            <a:xfrm>
              <a:off x="113" y="436"/>
              <a:ext cx="5534" cy="0"/>
            </a:xfrm>
            <a:prstGeom prst="line">
              <a:avLst/>
            </a:prstGeom>
            <a:ln w="9525" cap="flat" cmpd="sng">
              <a:solidFill>
                <a:schemeClr val="tx1"/>
              </a:solidFill>
              <a:prstDash val="solid"/>
              <a:round/>
              <a:headEnd type="none" w="med" len="med"/>
              <a:tailEnd type="none" w="med" len="med"/>
            </a:ln>
          </p:spPr>
        </p:sp>
      </p:grpSp>
      <p:pic>
        <p:nvPicPr>
          <p:cNvPr id="34822" name="Ink 1075"/>
          <p:cNvPicPr>
            <a:picLocks noRot="1" noChangeAspect="1" noEditPoints="1"/>
          </p:cNvPicPr>
          <p:nvPr/>
        </p:nvPicPr>
        <p:blipFill>
          <a:blip r:embed="rId3"/>
          <a:stretch>
            <a:fillRect/>
          </a:stretch>
        </p:blipFill>
        <p:spPr>
          <a:xfrm>
            <a:off x="555625" y="1347788"/>
            <a:ext cx="747713" cy="304800"/>
          </a:xfrm>
          <a:prstGeom prst="rect">
            <a:avLst/>
          </a:prstGeom>
          <a:noFill/>
          <a:ln w="9525">
            <a:noFill/>
          </a:ln>
        </p:spPr>
      </p:pic>
      <p:pic>
        <p:nvPicPr>
          <p:cNvPr id="34823" name="Ink 1076"/>
          <p:cNvPicPr>
            <a:picLocks noRot="1" noChangeAspect="1" noEditPoints="1"/>
          </p:cNvPicPr>
          <p:nvPr/>
        </p:nvPicPr>
        <p:blipFill>
          <a:blip r:embed="rId4"/>
          <a:stretch>
            <a:fillRect/>
          </a:stretch>
        </p:blipFill>
        <p:spPr>
          <a:xfrm>
            <a:off x="8340725" y="2719388"/>
            <a:ext cx="549275" cy="32702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ext Box 2"/>
          <p:cNvSpPr txBox="1"/>
          <p:nvPr/>
        </p:nvSpPr>
        <p:spPr>
          <a:xfrm>
            <a:off x="2268538" y="1125538"/>
            <a:ext cx="4760595" cy="460375"/>
          </a:xfrm>
          <a:prstGeom prst="rect">
            <a:avLst/>
          </a:prstGeom>
          <a:noFill/>
          <a:ln w="9525">
            <a:noFill/>
          </a:ln>
        </p:spPr>
        <p:txBody>
          <a:bodyPr wrap="none" anchor="t" anchorCtr="0">
            <a:spAutoFit/>
          </a:bodyPr>
          <a:lstStyle/>
          <a:p>
            <a:r>
              <a:rPr lang="zh-CN" altLang="en-US" dirty="0">
                <a:latin typeface="Times New Roman" panose="02020603050405020304" pitchFamily="18" charset="0"/>
                <a:ea typeface="宋体" panose="02010600030101010101" pitchFamily="2" charset="-122"/>
              </a:rPr>
              <a:t>表</a:t>
            </a:r>
            <a:r>
              <a:rPr lang="en-US" altLang="zh-CN" dirty="0">
                <a:latin typeface="Times New Roman" panose="02020603050405020304" pitchFamily="18" charset="0"/>
                <a:ea typeface="宋体" panose="02010600030101010101" pitchFamily="2" charset="-122"/>
              </a:rPr>
              <a:t>2-5  SFR</a:t>
            </a:r>
            <a:r>
              <a:rPr lang="zh-CN" altLang="en-US" dirty="0">
                <a:latin typeface="Times New Roman" panose="02020603050405020304" pitchFamily="18" charset="0"/>
                <a:ea typeface="宋体" panose="02010600030101010101" pitchFamily="2" charset="-122"/>
              </a:rPr>
              <a:t>特殊功能寄存器地址表 </a:t>
            </a:r>
          </a:p>
        </p:txBody>
      </p:sp>
      <p:pic>
        <p:nvPicPr>
          <p:cNvPr id="35842" name="Picture 3" descr="未标题-1拷贝"/>
          <p:cNvPicPr>
            <a:picLocks noChangeAspect="1"/>
          </p:cNvPicPr>
          <p:nvPr/>
        </p:nvPicPr>
        <p:blipFill>
          <a:blip r:embed="rId2"/>
          <a:stretch>
            <a:fillRect/>
          </a:stretch>
        </p:blipFill>
        <p:spPr>
          <a:xfrm>
            <a:off x="0" y="1981200"/>
            <a:ext cx="9144000" cy="432117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30</a:t>
            </a:fld>
            <a:endParaRPr lang="en-US" altLang="zh-CN" sz="1400" b="0" dirty="0"/>
          </a:p>
        </p:txBody>
      </p:sp>
      <p:sp>
        <p:nvSpPr>
          <p:cNvPr id="37890" name="Rectangle 4"/>
          <p:cNvSpPr/>
          <p:nvPr/>
        </p:nvSpPr>
        <p:spPr>
          <a:xfrm>
            <a:off x="914400" y="685800"/>
            <a:ext cx="7391400" cy="6185535"/>
          </a:xfrm>
          <a:prstGeom prst="rect">
            <a:avLst/>
          </a:prstGeom>
          <a:noFill/>
          <a:ln w="9525">
            <a:noFill/>
          </a:ln>
        </p:spPr>
        <p:txBody>
          <a:bodyPr anchor="t" anchorCtr="0">
            <a:spAutoFit/>
          </a:bodyPr>
          <a:lstStyle/>
          <a:p>
            <a:pPr indent="306705" algn="ctr" eaLnBrk="0" hangingPunct="0">
              <a:lnSpc>
                <a:spcPct val="150000"/>
              </a:lnSpc>
            </a:pPr>
            <a:r>
              <a:rPr lang="en-US" altLang="zh-CN" dirty="0">
                <a:solidFill>
                  <a:srgbClr val="FF0000"/>
                </a:solidFill>
                <a:sym typeface="+mn-ea"/>
              </a:rPr>
              <a:t>3.2   </a:t>
            </a:r>
            <a:r>
              <a:rPr lang="zh-CN" altLang="en-US" dirty="0">
                <a:solidFill>
                  <a:srgbClr val="FF0000"/>
                </a:solidFill>
                <a:sym typeface="+mn-ea"/>
              </a:rPr>
              <a:t>寻址方式</a:t>
            </a:r>
            <a:endParaRPr lang="zh-CN" altLang="en-US" dirty="0">
              <a:solidFill>
                <a:srgbClr val="FF0000"/>
              </a:solidFill>
              <a:latin typeface="Times New Roman" panose="02020603050405020304" pitchFamily="18" charset="0"/>
              <a:ea typeface="宋体" panose="02010600030101010101" pitchFamily="2" charset="-122"/>
            </a:endParaRPr>
          </a:p>
          <a:p>
            <a:pPr indent="306705" algn="just" eaLnBrk="0" hangingPunct="0">
              <a:lnSpc>
                <a:spcPct val="150000"/>
              </a:lnSpc>
            </a:pPr>
            <a:endParaRPr lang="en-US" altLang="zh-CN" dirty="0">
              <a:solidFill>
                <a:srgbClr val="0000FF"/>
              </a:solidFill>
              <a:latin typeface="Times New Roman" panose="02020603050405020304" pitchFamily="18" charset="0"/>
              <a:ea typeface="宋体" panose="02010600030101010101" pitchFamily="2" charset="-122"/>
            </a:endParaRPr>
          </a:p>
          <a:p>
            <a:pPr indent="306705" algn="just" eaLnBrk="0" hangingPunct="0">
              <a:lnSpc>
                <a:spcPct val="150000"/>
              </a:lnSpc>
            </a:pPr>
            <a:r>
              <a:rPr lang="zh-CN" altLang="en-US" dirty="0">
                <a:solidFill>
                  <a:srgbClr val="0000FF"/>
                </a:solidFill>
                <a:latin typeface="Times New Roman" panose="02020603050405020304" pitchFamily="18" charset="0"/>
                <a:ea typeface="宋体" panose="02010600030101010101" pitchFamily="2" charset="-122"/>
              </a:rPr>
              <a:t>寻址：获得（寻找）操作数所在的地址的方法。</a:t>
            </a:r>
            <a:endParaRPr lang="zh-CN" altLang="en-US" b="0" dirty="0">
              <a:latin typeface="Times New Roman" panose="02020603050405020304" pitchFamily="18" charset="0"/>
              <a:ea typeface="宋体" panose="02010600030101010101" pitchFamily="2" charset="-122"/>
            </a:endParaRPr>
          </a:p>
          <a:p>
            <a:pPr indent="306705" algn="just" eaLnBrk="0" hangingPunct="0">
              <a:lnSpc>
                <a:spcPct val="150000"/>
              </a:lnSpc>
            </a:pPr>
            <a:r>
              <a:rPr lang="en-US" altLang="zh-CN" dirty="0">
                <a:latin typeface="Times New Roman" panose="02020603050405020304" pitchFamily="18" charset="0"/>
                <a:ea typeface="宋体" panose="02010600030101010101" pitchFamily="2" charset="-122"/>
              </a:rPr>
              <a:t>7</a:t>
            </a:r>
            <a:r>
              <a:rPr lang="zh-CN" altLang="en-US" dirty="0">
                <a:latin typeface="Times New Roman" panose="02020603050405020304" pitchFamily="18" charset="0"/>
                <a:ea typeface="宋体" panose="02010600030101010101" pitchFamily="2" charset="-122"/>
              </a:rPr>
              <a:t>种寻址方式：</a:t>
            </a:r>
            <a:endParaRPr lang="zh-CN" altLang="en-US" b="0" dirty="0">
              <a:latin typeface="Times New Roman" panose="02020603050405020304" pitchFamily="18" charset="0"/>
              <a:ea typeface="宋体" panose="02010600030101010101" pitchFamily="2" charset="-122"/>
            </a:endParaRPr>
          </a:p>
          <a:p>
            <a:pPr indent="306705" algn="just" eaLnBrk="0" hangingPunct="0">
              <a:lnSpc>
                <a:spcPct val="150000"/>
              </a:lnSpc>
            </a:pPr>
            <a:r>
              <a:rPr lang="zh-CN" altLang="en-US" dirty="0">
                <a:solidFill>
                  <a:srgbClr val="800080"/>
                </a:solidFill>
                <a:latin typeface="Times New Roman" panose="02020603050405020304" pitchFamily="18" charset="0"/>
                <a:ea typeface="宋体" panose="02010600030101010101" pitchFamily="2" charset="-122"/>
              </a:rPr>
              <a:t>			立即寻址</a:t>
            </a:r>
            <a:endParaRPr lang="zh-CN" altLang="en-US" b="0" dirty="0">
              <a:latin typeface="Times New Roman" panose="02020603050405020304" pitchFamily="18" charset="0"/>
              <a:ea typeface="宋体" panose="02010600030101010101" pitchFamily="2" charset="-122"/>
            </a:endParaRPr>
          </a:p>
          <a:p>
            <a:pPr indent="306705" algn="just" eaLnBrk="0" hangingPunct="0">
              <a:lnSpc>
                <a:spcPct val="150000"/>
              </a:lnSpc>
            </a:pPr>
            <a:r>
              <a:rPr lang="zh-CN" altLang="en-US" dirty="0">
                <a:solidFill>
                  <a:srgbClr val="800080"/>
                </a:solidFill>
                <a:latin typeface="Times New Roman" panose="02020603050405020304" pitchFamily="18" charset="0"/>
                <a:ea typeface="宋体" panose="02010600030101010101" pitchFamily="2" charset="-122"/>
              </a:rPr>
              <a:t>			寄存器寻址</a:t>
            </a:r>
            <a:endParaRPr lang="zh-CN" altLang="en-US" b="0" dirty="0">
              <a:latin typeface="Times New Roman" panose="02020603050405020304" pitchFamily="18" charset="0"/>
              <a:ea typeface="宋体" panose="02010600030101010101" pitchFamily="2" charset="-122"/>
            </a:endParaRPr>
          </a:p>
          <a:p>
            <a:pPr indent="306705" algn="just" eaLnBrk="0" hangingPunct="0">
              <a:lnSpc>
                <a:spcPct val="150000"/>
              </a:lnSpc>
            </a:pPr>
            <a:r>
              <a:rPr lang="zh-CN" altLang="en-US" dirty="0">
                <a:solidFill>
                  <a:srgbClr val="800080"/>
                </a:solidFill>
                <a:latin typeface="Times New Roman" panose="02020603050405020304" pitchFamily="18" charset="0"/>
                <a:ea typeface="宋体" panose="02010600030101010101" pitchFamily="2" charset="-122"/>
              </a:rPr>
              <a:t>			直接寻址</a:t>
            </a:r>
            <a:endParaRPr lang="zh-CN" altLang="en-US" b="0" dirty="0">
              <a:latin typeface="Times New Roman" panose="02020603050405020304" pitchFamily="18" charset="0"/>
              <a:ea typeface="宋体" panose="02010600030101010101" pitchFamily="2" charset="-122"/>
            </a:endParaRPr>
          </a:p>
          <a:p>
            <a:pPr indent="306705" algn="just" eaLnBrk="0" hangingPunct="0">
              <a:lnSpc>
                <a:spcPct val="150000"/>
              </a:lnSpc>
            </a:pPr>
            <a:r>
              <a:rPr lang="zh-CN" altLang="en-US" dirty="0">
                <a:solidFill>
                  <a:srgbClr val="800080"/>
                </a:solidFill>
                <a:latin typeface="Times New Roman" panose="02020603050405020304" pitchFamily="18" charset="0"/>
                <a:ea typeface="宋体" panose="02010600030101010101" pitchFamily="2" charset="-122"/>
              </a:rPr>
              <a:t>			寄存器间接寻址</a:t>
            </a:r>
            <a:endParaRPr lang="zh-CN" altLang="en-US" b="0" dirty="0">
              <a:latin typeface="Times New Roman" panose="02020603050405020304" pitchFamily="18" charset="0"/>
              <a:ea typeface="宋体" panose="02010600030101010101" pitchFamily="2" charset="-122"/>
            </a:endParaRPr>
          </a:p>
          <a:p>
            <a:pPr indent="306705" algn="just" eaLnBrk="0" hangingPunct="0">
              <a:lnSpc>
                <a:spcPct val="150000"/>
              </a:lnSpc>
            </a:pPr>
            <a:r>
              <a:rPr lang="zh-CN" altLang="en-US" dirty="0">
                <a:solidFill>
                  <a:srgbClr val="800080"/>
                </a:solidFill>
                <a:latin typeface="Times New Roman" panose="02020603050405020304" pitchFamily="18" charset="0"/>
                <a:ea typeface="宋体" panose="02010600030101010101" pitchFamily="2" charset="-122"/>
              </a:rPr>
              <a:t>			基址加变址寻址</a:t>
            </a:r>
            <a:endParaRPr lang="zh-CN" altLang="en-US" b="0" dirty="0">
              <a:latin typeface="Times New Roman" panose="02020603050405020304" pitchFamily="18" charset="0"/>
              <a:ea typeface="宋体" panose="02010600030101010101" pitchFamily="2" charset="-122"/>
            </a:endParaRPr>
          </a:p>
          <a:p>
            <a:pPr indent="306705" eaLnBrk="0" hangingPunct="0">
              <a:lnSpc>
                <a:spcPct val="150000"/>
              </a:lnSpc>
            </a:pPr>
            <a:r>
              <a:rPr lang="zh-CN" altLang="en-US" dirty="0">
                <a:solidFill>
                  <a:srgbClr val="800080"/>
                </a:solidFill>
                <a:latin typeface="宋体" panose="02010600030101010101" pitchFamily="2" charset="-122"/>
                <a:ea typeface="宋体" panose="02010600030101010101" pitchFamily="2" charset="-122"/>
              </a:rPr>
              <a:t>			相对寻址</a:t>
            </a:r>
          </a:p>
          <a:p>
            <a:pPr indent="306705" eaLnBrk="0" hangingPunct="0">
              <a:lnSpc>
                <a:spcPct val="150000"/>
              </a:lnSpc>
            </a:pPr>
            <a:r>
              <a:rPr lang="zh-CN" altLang="en-US" dirty="0">
                <a:solidFill>
                  <a:srgbClr val="800080"/>
                </a:solidFill>
                <a:latin typeface="宋体" panose="02010600030101010101" pitchFamily="2" charset="-122"/>
                <a:ea typeface="宋体" panose="02010600030101010101" pitchFamily="2" charset="-122"/>
              </a:rPr>
              <a:t>			位寻址。</a:t>
            </a:r>
            <a:endParaRPr lang="zh-CN" altLang="en-US"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31</a:t>
            </a:fld>
            <a:endParaRPr lang="en-US" altLang="zh-CN" sz="1400" b="0" dirty="0"/>
          </a:p>
        </p:txBody>
      </p:sp>
      <p:sp>
        <p:nvSpPr>
          <p:cNvPr id="38914" name="Text Box 4"/>
          <p:cNvSpPr txBox="1"/>
          <p:nvPr/>
        </p:nvSpPr>
        <p:spPr>
          <a:xfrm>
            <a:off x="395288" y="981075"/>
            <a:ext cx="8496300" cy="4594860"/>
          </a:xfrm>
          <a:prstGeom prst="rect">
            <a:avLst/>
          </a:prstGeom>
          <a:noFill/>
          <a:ln w="9525">
            <a:noFill/>
          </a:ln>
        </p:spPr>
        <p:txBody>
          <a:bodyPr anchor="t" anchorCtr="0">
            <a:spAutoFit/>
          </a:bodyPr>
          <a:lstStyle/>
          <a:p>
            <a:r>
              <a:rPr lang="en-US" altLang="zh-CN" dirty="0">
                <a:solidFill>
                  <a:srgbClr val="FF0000"/>
                </a:solidFill>
                <a:latin typeface="Times New Roman" panose="02020603050405020304" pitchFamily="18" charset="0"/>
                <a:ea typeface="宋体" panose="02010600030101010101" pitchFamily="2" charset="-122"/>
              </a:rPr>
              <a:t>3.2.1  </a:t>
            </a:r>
            <a:r>
              <a:rPr lang="zh-CN" altLang="en-US" dirty="0">
                <a:solidFill>
                  <a:srgbClr val="FF0000"/>
                </a:solidFill>
                <a:latin typeface="Times New Roman" panose="02020603050405020304" pitchFamily="18" charset="0"/>
                <a:ea typeface="宋体" panose="02010600030101010101" pitchFamily="2" charset="-122"/>
              </a:rPr>
              <a:t>符号注释</a:t>
            </a:r>
          </a:p>
          <a:p>
            <a:pPr>
              <a:lnSpc>
                <a:spcPct val="140000"/>
              </a:lnSpc>
              <a:buFont typeface="Wingdings" panose="05000000000000000000" pitchFamily="2" charset="2"/>
              <a:buChar char="l"/>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Rn (n = 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7)</a:t>
            </a:r>
          </a:p>
          <a:p>
            <a:pPr>
              <a:lnSpc>
                <a:spcPct val="140000"/>
              </a:lnSpc>
              <a:buFont typeface="Wingdings" panose="05000000000000000000" pitchFamily="2" charset="2"/>
              <a:buChar char="l"/>
            </a:pPr>
            <a:r>
              <a:rPr lang="en-US" altLang="zh-CN" dirty="0">
                <a:latin typeface="Times New Roman" panose="02020603050405020304" pitchFamily="18" charset="0"/>
                <a:ea typeface="宋体" panose="02010600030101010101" pitchFamily="2" charset="-122"/>
              </a:rPr>
              <a:t>  Ri (i = 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endParaRPr lang="en-US" altLang="zh-CN" dirty="0">
              <a:latin typeface="Times New Roman" panose="02020603050405020304" pitchFamily="18" charset="0"/>
              <a:ea typeface="宋体" panose="02010600030101010101" pitchFamily="2" charset="-122"/>
              <a:sym typeface="Wingdings" panose="05000000000000000000" pitchFamily="2" charset="2"/>
            </a:endParaRPr>
          </a:p>
          <a:p>
            <a:pPr>
              <a:lnSpc>
                <a:spcPct val="140000"/>
              </a:lnSpc>
            </a:pPr>
            <a:r>
              <a:rPr lang="en-US" altLang="zh-CN" dirty="0">
                <a:latin typeface="Times New Roman" panose="02020603050405020304" pitchFamily="18" charset="0"/>
                <a:ea typeface="宋体" panose="02010600030101010101" pitchFamily="2" charset="-122"/>
                <a:sym typeface="Wingdings" panose="05000000000000000000" pitchFamily="2" charset="2"/>
              </a:rPr>
              <a:t></a:t>
            </a:r>
            <a:r>
              <a:rPr lang="en-US" altLang="zh-CN" dirty="0">
                <a:latin typeface="Times New Roman" panose="02020603050405020304" pitchFamily="18" charset="0"/>
                <a:ea typeface="宋体" panose="02010600030101010101" pitchFamily="2" charset="-122"/>
              </a:rPr>
              <a:t>  #data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位立即数。</a:t>
            </a:r>
            <a:endParaRPr lang="zh-CN" altLang="en-US" dirty="0">
              <a:latin typeface="Times New Roman" panose="02020603050405020304" pitchFamily="18" charset="0"/>
              <a:ea typeface="宋体" panose="02010600030101010101" pitchFamily="2" charset="-122"/>
              <a:sym typeface="Wingdings" panose="05000000000000000000" pitchFamily="2" charset="2"/>
            </a:endParaRPr>
          </a:p>
          <a:p>
            <a:pPr>
              <a:lnSpc>
                <a:spcPct val="140000"/>
              </a:lnSpc>
            </a:pPr>
            <a:r>
              <a:rPr lang="zh-CN" altLang="en-US" dirty="0">
                <a:latin typeface="Times New Roman" panose="02020603050405020304" pitchFamily="18" charset="0"/>
                <a:ea typeface="宋体" panose="02010600030101010101" pitchFamily="2" charset="-122"/>
                <a:sym typeface="Wingdings" panose="05000000000000000000" pitchFamily="2" charset="2"/>
              </a:rPr>
              <a:t></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#datal6</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位立即数。</a:t>
            </a:r>
            <a:endParaRPr lang="zh-CN" altLang="en-US" dirty="0">
              <a:latin typeface="Times New Roman" panose="02020603050405020304" pitchFamily="18" charset="0"/>
              <a:ea typeface="宋体" panose="02010600030101010101" pitchFamily="2" charset="-122"/>
              <a:sym typeface="Wingdings" panose="05000000000000000000" pitchFamily="2" charset="2"/>
            </a:endParaRPr>
          </a:p>
          <a:p>
            <a:pPr>
              <a:lnSpc>
                <a:spcPct val="140000"/>
              </a:lnSpc>
            </a:pPr>
            <a:r>
              <a:rPr lang="zh-CN" altLang="en-US" dirty="0">
                <a:latin typeface="Times New Roman" panose="02020603050405020304" pitchFamily="18" charset="0"/>
                <a:ea typeface="宋体" panose="02010600030101010101" pitchFamily="2" charset="-122"/>
                <a:sym typeface="Wingdings" panose="05000000000000000000" pitchFamily="2" charset="2"/>
              </a:rPr>
              <a:t></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位片内</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单元</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包括</a:t>
            </a:r>
            <a:r>
              <a:rPr lang="en-US" altLang="zh-CN" dirty="0">
                <a:latin typeface="Times New Roman" panose="02020603050405020304" pitchFamily="18" charset="0"/>
                <a:ea typeface="宋体" panose="02010600030101010101" pitchFamily="2" charset="-122"/>
              </a:rPr>
              <a:t>SFR)</a:t>
            </a:r>
            <a:r>
              <a:rPr lang="zh-CN" altLang="en-US" dirty="0">
                <a:latin typeface="Times New Roman" panose="02020603050405020304" pitchFamily="18" charset="0"/>
                <a:ea typeface="宋体" panose="02010600030101010101" pitchFamily="2" charset="-122"/>
              </a:rPr>
              <a:t>的直接地址。</a:t>
            </a:r>
            <a:endParaRPr lang="zh-CN" altLang="en-US" dirty="0">
              <a:latin typeface="Times New Roman" panose="02020603050405020304" pitchFamily="18" charset="0"/>
              <a:ea typeface="宋体" panose="02010600030101010101" pitchFamily="2" charset="-122"/>
              <a:sym typeface="Wingdings" panose="05000000000000000000" pitchFamily="2" charset="2"/>
            </a:endParaRPr>
          </a:p>
          <a:p>
            <a:pPr>
              <a:lnSpc>
                <a:spcPct val="140000"/>
              </a:lnSpc>
            </a:pPr>
            <a:r>
              <a:rPr lang="zh-CN" altLang="en-US" dirty="0">
                <a:latin typeface="Times New Roman" panose="02020603050405020304" pitchFamily="18" charset="0"/>
                <a:ea typeface="宋体" panose="02010600030101010101" pitchFamily="2" charset="-122"/>
                <a:sym typeface="Wingdings" panose="05000000000000000000" pitchFamily="2" charset="2"/>
              </a:rPr>
              <a:t></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addr11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11</a:t>
            </a:r>
            <a:r>
              <a:rPr lang="zh-CN" altLang="en-US" dirty="0">
                <a:latin typeface="Times New Roman" panose="02020603050405020304" pitchFamily="18" charset="0"/>
                <a:ea typeface="宋体" panose="02010600030101010101" pitchFamily="2" charset="-122"/>
              </a:rPr>
              <a:t>位目的地址。</a:t>
            </a:r>
            <a:endParaRPr lang="zh-CN" altLang="en-US" dirty="0">
              <a:latin typeface="Times New Roman" panose="02020603050405020304" pitchFamily="18" charset="0"/>
              <a:ea typeface="宋体" panose="02010600030101010101" pitchFamily="2" charset="-122"/>
              <a:sym typeface="Wingdings" panose="05000000000000000000" pitchFamily="2" charset="2"/>
            </a:endParaRPr>
          </a:p>
          <a:p>
            <a:pPr>
              <a:lnSpc>
                <a:spcPct val="140000"/>
              </a:lnSpc>
            </a:pPr>
            <a:r>
              <a:rPr lang="zh-CN" altLang="en-US" dirty="0">
                <a:latin typeface="Times New Roman" panose="02020603050405020304" pitchFamily="18" charset="0"/>
                <a:ea typeface="宋体" panose="02010600030101010101" pitchFamily="2" charset="-122"/>
                <a:sym typeface="Wingdings" panose="05000000000000000000" pitchFamily="2" charset="2"/>
              </a:rPr>
              <a:t></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addr16</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位目的地址。</a:t>
            </a:r>
            <a:endParaRPr lang="zh-CN" altLang="en-US" dirty="0">
              <a:latin typeface="Times New Roman" panose="02020603050405020304" pitchFamily="18" charset="0"/>
              <a:ea typeface="宋体" panose="02010600030101010101" pitchFamily="2" charset="-122"/>
              <a:sym typeface="Wingdings" panose="05000000000000000000" pitchFamily="2" charset="2"/>
            </a:endParaRPr>
          </a:p>
          <a:p>
            <a:pPr>
              <a:lnSpc>
                <a:spcPct val="140000"/>
              </a:lnSpc>
            </a:pPr>
            <a:r>
              <a:rPr lang="zh-CN" altLang="en-US" dirty="0">
                <a:latin typeface="Times New Roman" panose="02020603050405020304" pitchFamily="18" charset="0"/>
                <a:ea typeface="宋体" panose="02010600030101010101" pitchFamily="2" charset="-122"/>
                <a:sym typeface="Wingdings" panose="05000000000000000000" pitchFamily="2" charset="2"/>
              </a:rPr>
              <a:t></a:t>
            </a:r>
            <a:r>
              <a:rPr lang="zh-CN" altLang="en-US" dirty="0">
                <a:latin typeface="Times New Roman" panose="02020603050405020304" pitchFamily="18" charset="0"/>
                <a:ea typeface="宋体" panose="02010600030101010101" pitchFamily="2" charset="-122"/>
              </a:rPr>
              <a:t>  ←→：将箭头两边的数据进行交换。</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32</a:t>
            </a:fld>
            <a:endParaRPr lang="en-US" altLang="zh-CN" sz="1400" b="0" dirty="0"/>
          </a:p>
        </p:txBody>
      </p:sp>
      <p:sp>
        <p:nvSpPr>
          <p:cNvPr id="38915" name="Text Box 4"/>
          <p:cNvSpPr txBox="1"/>
          <p:nvPr/>
        </p:nvSpPr>
        <p:spPr>
          <a:xfrm>
            <a:off x="306702" y="1062032"/>
            <a:ext cx="8351841" cy="5259070"/>
          </a:xfrm>
          <a:prstGeom prst="rect">
            <a:avLst/>
          </a:prstGeom>
          <a:noFill/>
          <a:ln w="9525">
            <a:noFill/>
          </a:ln>
        </p:spPr>
        <p:txBody>
          <a:bodyPr>
            <a:spAutoFit/>
          </a:bodyPr>
          <a:lstStyle/>
          <a:p>
            <a:pPr marR="0" defTabSz="914400">
              <a:lnSpc>
                <a:spcPct val="140000"/>
              </a:lnSpc>
              <a:buClrTx/>
              <a:buSzTx/>
              <a:buFontTx/>
              <a:defRPr/>
            </a:pPr>
            <a:r>
              <a:rPr kumimoji="0" lang="en-US" altLang="zh-CN" kern="1200" cap="none" spc="0" normalizeH="0" baseline="0" noProof="1">
                <a:latin typeface="Times New Roman" panose="02020603050405020304" pitchFamily="18" charset="0"/>
                <a:ea typeface="宋体" panose="02010600030101010101" pitchFamily="2" charset="-122"/>
                <a:cs typeface="+mn-cs"/>
                <a:sym typeface="Wingdings" panose="05000000000000000000" pitchFamily="2" charset="2"/>
              </a:rPr>
              <a:t></a:t>
            </a:r>
            <a:r>
              <a:rPr kumimoji="0" lang="en-US" altLang="zh-CN" kern="1200" cap="none" spc="0" normalizeH="0" baseline="0" noProof="1">
                <a:latin typeface="Times New Roman" panose="02020603050405020304" pitchFamily="18" charset="0"/>
                <a:ea typeface="宋体" panose="02010600030101010101" pitchFamily="2" charset="-122"/>
                <a:cs typeface="+mn-cs"/>
              </a:rPr>
              <a:t>  rel</a:t>
            </a:r>
            <a:r>
              <a:rPr kumimoji="0" lang="zh-CN" altLang="en-US" kern="1200" cap="none" spc="0" normalizeH="0" baseline="0" noProof="1">
                <a:latin typeface="Times New Roman" panose="02020603050405020304" pitchFamily="18" charset="0"/>
                <a:ea typeface="宋体" panose="02010600030101010101" pitchFamily="2" charset="-122"/>
                <a:cs typeface="+mn-cs"/>
              </a:rPr>
              <a:t>：以补码形式出现的</a:t>
            </a:r>
            <a:r>
              <a:rPr kumimoji="0" lang="en-US" altLang="zh-CN" kern="1200" cap="none" spc="0" normalizeH="0" baseline="0" noProof="1">
                <a:latin typeface="Times New Roman" panose="02020603050405020304" pitchFamily="18" charset="0"/>
                <a:ea typeface="宋体" panose="02010600030101010101" pitchFamily="2" charset="-122"/>
                <a:cs typeface="+mn-cs"/>
              </a:rPr>
              <a:t>8</a:t>
            </a:r>
            <a:r>
              <a:rPr kumimoji="0" lang="zh-CN" altLang="en-US" kern="1200" cap="none" spc="0" normalizeH="0" baseline="0" noProof="1">
                <a:latin typeface="Times New Roman" panose="02020603050405020304" pitchFamily="18" charset="0"/>
                <a:ea typeface="宋体" panose="02010600030101010101" pitchFamily="2" charset="-122"/>
                <a:cs typeface="+mn-cs"/>
              </a:rPr>
              <a:t>位相对地址偏移量，</a:t>
            </a:r>
            <a:r>
              <a:rPr kumimoji="0" lang="en-US" altLang="zh-CN" kern="1200" cap="none" spc="0" normalizeH="0" baseline="0" noProof="1">
                <a:solidFill>
                  <a:srgbClr val="0070C0"/>
                </a:solidFill>
                <a:latin typeface="Times New Roman" panose="02020603050405020304" pitchFamily="18" charset="0"/>
                <a:ea typeface="宋体" panose="02010600030101010101" pitchFamily="2" charset="-122"/>
                <a:cs typeface="+mn-cs"/>
              </a:rPr>
              <a:t>-128</a:t>
            </a:r>
            <a:r>
              <a:rPr kumimoji="0" lang="zh-CN" altLang="en-US" kern="1200" cap="none" spc="0" normalizeH="0" baseline="0" noProof="1">
                <a:solidFill>
                  <a:srgbClr val="0070C0"/>
                </a:solidFill>
                <a:latin typeface="Times New Roman" panose="02020603050405020304" pitchFamily="18" charset="0"/>
                <a:ea typeface="宋体" panose="02010600030101010101" pitchFamily="2" charset="-122"/>
                <a:cs typeface="+mn-cs"/>
              </a:rPr>
              <a:t>～</a:t>
            </a:r>
            <a:r>
              <a:rPr kumimoji="0" lang="en-US" altLang="zh-CN" kern="1200" cap="none" spc="0" normalizeH="0" baseline="0" noProof="1">
                <a:solidFill>
                  <a:srgbClr val="0070C0"/>
                </a:solidFill>
                <a:latin typeface="Times New Roman" panose="02020603050405020304" pitchFamily="18" charset="0"/>
                <a:ea typeface="宋体" panose="02010600030101010101" pitchFamily="2" charset="-122"/>
                <a:cs typeface="+mn-cs"/>
              </a:rPr>
              <a:t>+127</a:t>
            </a:r>
            <a:r>
              <a:rPr kumimoji="0" lang="en-US" altLang="zh-CN" kern="1200" cap="none" spc="0" normalizeH="0" baseline="0" noProof="1">
                <a:latin typeface="Times New Roman" panose="02020603050405020304" pitchFamily="18" charset="0"/>
                <a:ea typeface="宋体" panose="02010600030101010101" pitchFamily="2" charset="-122"/>
                <a:cs typeface="+mn-cs"/>
              </a:rPr>
              <a:t>.</a:t>
            </a:r>
            <a:endParaRPr kumimoji="0" lang="en-US" altLang="zh-CN" kern="1200" cap="none" spc="0" normalizeH="0" baseline="0" noProof="1">
              <a:latin typeface="Times New Roman" panose="02020603050405020304" pitchFamily="18" charset="0"/>
              <a:ea typeface="宋体" panose="02010600030101010101" pitchFamily="2" charset="-122"/>
              <a:cs typeface="+mn-cs"/>
              <a:sym typeface="Wingdings" panose="05000000000000000000" pitchFamily="2" charset="2"/>
            </a:endParaRPr>
          </a:p>
          <a:p>
            <a:pPr marR="0" defTabSz="914400">
              <a:lnSpc>
                <a:spcPct val="140000"/>
              </a:lnSpc>
              <a:buClrTx/>
              <a:buSzTx/>
              <a:buFontTx/>
              <a:defRPr/>
            </a:pPr>
            <a:r>
              <a:rPr kumimoji="0" lang="en-US" altLang="zh-CN" kern="1200" cap="none" spc="0" normalizeH="0" baseline="0" noProof="1">
                <a:latin typeface="Times New Roman" panose="02020603050405020304" pitchFamily="18" charset="0"/>
                <a:ea typeface="宋体" panose="02010600030101010101" pitchFamily="2" charset="-122"/>
                <a:cs typeface="+mn-cs"/>
                <a:sym typeface="Wingdings" panose="05000000000000000000" pitchFamily="2" charset="2"/>
              </a:rPr>
              <a:t></a:t>
            </a:r>
            <a:r>
              <a:rPr kumimoji="0" lang="en-US" altLang="zh-CN" kern="1200" cap="none" spc="0" normalizeH="0" baseline="0" noProof="1">
                <a:latin typeface="Times New Roman" panose="02020603050405020304" pitchFamily="18" charset="0"/>
                <a:ea typeface="宋体" panose="02010600030101010101" pitchFamily="2" charset="-122"/>
                <a:cs typeface="+mn-cs"/>
              </a:rPr>
              <a:t>  bit</a:t>
            </a:r>
            <a:r>
              <a:rPr kumimoji="0" lang="zh-CN" altLang="en-US" kern="1200" cap="none" spc="0" normalizeH="0" baseline="0" noProof="1">
                <a:latin typeface="Times New Roman" panose="02020603050405020304" pitchFamily="18" charset="0"/>
                <a:ea typeface="宋体" panose="02010600030101010101" pitchFamily="2" charset="-122"/>
                <a:cs typeface="+mn-cs"/>
              </a:rPr>
              <a:t>：直接寻址位的地址。</a:t>
            </a:r>
            <a:endParaRPr kumimoji="0" lang="zh-CN" altLang="en-US" kern="1200" cap="none" spc="0" normalizeH="0" baseline="0" noProof="1">
              <a:latin typeface="Times New Roman" panose="02020603050405020304" pitchFamily="18" charset="0"/>
              <a:ea typeface="宋体" panose="02010600030101010101" pitchFamily="2" charset="-122"/>
              <a:cs typeface="+mn-cs"/>
              <a:sym typeface="Wingdings" panose="05000000000000000000" pitchFamily="2" charset="2"/>
            </a:endParaRPr>
          </a:p>
          <a:p>
            <a:pPr marR="0" defTabSz="914400">
              <a:lnSpc>
                <a:spcPct val="140000"/>
              </a:lnSpc>
              <a:buClrTx/>
              <a:buSzTx/>
              <a:buFontTx/>
              <a:defRPr/>
            </a:pPr>
            <a:r>
              <a:rPr kumimoji="0" lang="zh-CN" altLang="en-US" kern="1200" cap="none" spc="0" normalizeH="0" baseline="0" noProof="1">
                <a:latin typeface="Times New Roman" panose="02020603050405020304" pitchFamily="18" charset="0"/>
                <a:ea typeface="宋体" panose="02010600030101010101" pitchFamily="2" charset="-122"/>
                <a:cs typeface="+mn-cs"/>
                <a:sym typeface="Wingdings" panose="05000000000000000000" pitchFamily="2" charset="2"/>
              </a:rPr>
              <a:t></a:t>
            </a:r>
            <a:r>
              <a:rPr kumimoji="0" lang="zh-CN" altLang="en-US" kern="1200" cap="none" spc="0" normalizeH="0" baseline="0" noProof="1">
                <a:latin typeface="Times New Roman" panose="02020603050405020304" pitchFamily="18" charset="0"/>
                <a:ea typeface="宋体" panose="02010600030101010101" pitchFamily="2" charset="-122"/>
                <a:cs typeface="+mn-cs"/>
              </a:rPr>
              <a:t>  ＠：间接寻址方式中，表示</a:t>
            </a:r>
            <a:r>
              <a:rPr kumimoji="0" lang="zh-CN" altLang="en-US" kern="1200" cap="none" spc="0" normalizeH="0" baseline="0" noProof="1">
                <a:solidFill>
                  <a:srgbClr val="FF0000"/>
                </a:solidFill>
                <a:latin typeface="Times New Roman" panose="02020603050405020304" pitchFamily="18" charset="0"/>
                <a:ea typeface="宋体" panose="02010600030101010101" pitchFamily="2" charset="-122"/>
                <a:cs typeface="+mn-cs"/>
              </a:rPr>
              <a:t>间址寄存器</a:t>
            </a:r>
            <a:r>
              <a:rPr kumimoji="0" lang="zh-CN" altLang="en-US" kern="1200" cap="none" spc="0" normalizeH="0" baseline="0" noProof="1">
                <a:latin typeface="Times New Roman" panose="02020603050405020304" pitchFamily="18" charset="0"/>
                <a:ea typeface="宋体" panose="02010600030101010101" pitchFamily="2" charset="-122"/>
                <a:cs typeface="+mn-cs"/>
              </a:rPr>
              <a:t>的前缀标志。</a:t>
            </a:r>
            <a:endParaRPr kumimoji="0" lang="zh-CN" altLang="en-US" kern="1200" cap="none" spc="0" normalizeH="0" baseline="0" noProof="1">
              <a:latin typeface="Times New Roman" panose="02020603050405020304" pitchFamily="18" charset="0"/>
              <a:ea typeface="宋体" panose="02010600030101010101" pitchFamily="2" charset="-122"/>
              <a:cs typeface="+mn-cs"/>
              <a:sym typeface="Wingdings" panose="05000000000000000000" pitchFamily="2" charset="2"/>
            </a:endParaRPr>
          </a:p>
          <a:p>
            <a:pPr marR="0" defTabSz="914400">
              <a:lnSpc>
                <a:spcPct val="140000"/>
              </a:lnSpc>
              <a:buClrTx/>
              <a:buSzTx/>
              <a:buFontTx/>
              <a:defRPr/>
            </a:pPr>
            <a:r>
              <a:rPr kumimoji="0" lang="zh-CN" altLang="en-US" kern="1200" cap="none" spc="0" normalizeH="0" baseline="0" noProof="1">
                <a:latin typeface="Times New Roman" panose="02020603050405020304" pitchFamily="18" charset="0"/>
                <a:ea typeface="宋体" panose="02010600030101010101" pitchFamily="2" charset="-122"/>
                <a:cs typeface="+mn-cs"/>
                <a:sym typeface="Wingdings" panose="05000000000000000000" pitchFamily="2" charset="2"/>
              </a:rPr>
              <a:t></a:t>
            </a:r>
            <a:r>
              <a:rPr kumimoji="0" lang="zh-CN" altLang="en-US" kern="1200" cap="none" spc="0" normalizeH="0" baseline="0" noProof="1">
                <a:latin typeface="Times New Roman" panose="02020603050405020304" pitchFamily="18" charset="0"/>
                <a:ea typeface="宋体" panose="02010600030101010101" pitchFamily="2" charset="-122"/>
                <a:cs typeface="+mn-cs"/>
              </a:rPr>
              <a:t>  </a:t>
            </a:r>
            <a:r>
              <a:rPr kumimoji="0" lang="en-US" altLang="zh-CN" kern="1200" cap="none" spc="0" normalizeH="0" baseline="0" noProof="1">
                <a:latin typeface="Times New Roman" panose="02020603050405020304" pitchFamily="18" charset="0"/>
                <a:ea typeface="宋体" panose="02010600030101010101" pitchFamily="2" charset="-122"/>
                <a:cs typeface="+mn-cs"/>
              </a:rPr>
              <a:t>/</a:t>
            </a:r>
            <a:r>
              <a:rPr kumimoji="0" lang="zh-CN" altLang="en-US" kern="1200" cap="none" spc="0" normalizeH="0" baseline="0" noProof="1">
                <a:latin typeface="Times New Roman" panose="02020603050405020304" pitchFamily="18" charset="0"/>
                <a:ea typeface="宋体" panose="02010600030101010101" pitchFamily="2" charset="-122"/>
                <a:cs typeface="+mn-cs"/>
              </a:rPr>
              <a:t>：表示对该位状态</a:t>
            </a:r>
            <a:r>
              <a:rPr kumimoji="0" lang="zh-CN" altLang="en-US" kern="1200" cap="none" spc="0" normalizeH="0" baseline="0" noProof="1">
                <a:solidFill>
                  <a:srgbClr val="0070C0"/>
                </a:solidFill>
                <a:latin typeface="Times New Roman" panose="02020603050405020304" pitchFamily="18" charset="0"/>
                <a:ea typeface="宋体" panose="02010600030101010101" pitchFamily="2" charset="-122"/>
                <a:cs typeface="+mn-cs"/>
              </a:rPr>
              <a:t>取反</a:t>
            </a:r>
            <a:r>
              <a:rPr kumimoji="0" lang="zh-CN" altLang="en-US" kern="1200" cap="none" spc="0" normalizeH="0" baseline="0" noProof="1">
                <a:latin typeface="Times New Roman" panose="02020603050405020304" pitchFamily="18" charset="0"/>
                <a:ea typeface="宋体" panose="02010600030101010101" pitchFamily="2" charset="-122"/>
                <a:cs typeface="+mn-cs"/>
              </a:rPr>
              <a:t>。</a:t>
            </a:r>
            <a:endParaRPr kumimoji="0" lang="zh-CN" altLang="en-US" kern="1200" cap="none" spc="0" normalizeH="0" baseline="0" noProof="1">
              <a:latin typeface="Times New Roman" panose="02020603050405020304" pitchFamily="18" charset="0"/>
              <a:ea typeface="宋体" panose="02010600030101010101" pitchFamily="2" charset="-122"/>
              <a:cs typeface="+mn-cs"/>
              <a:sym typeface="Wingdings" panose="05000000000000000000" pitchFamily="2" charset="2"/>
            </a:endParaRPr>
          </a:p>
          <a:p>
            <a:pPr marR="0" defTabSz="914400">
              <a:lnSpc>
                <a:spcPct val="140000"/>
              </a:lnSpc>
              <a:buClrTx/>
              <a:buSzTx/>
              <a:buFontTx/>
              <a:defRPr/>
            </a:pPr>
            <a:r>
              <a:rPr kumimoji="0" lang="zh-CN" altLang="en-US" kern="1200" cap="none" spc="0" normalizeH="0" baseline="0" noProof="1">
                <a:latin typeface="Times New Roman" panose="02020603050405020304" pitchFamily="18" charset="0"/>
                <a:ea typeface="宋体" panose="02010600030101010101" pitchFamily="2" charset="-122"/>
                <a:cs typeface="+mn-cs"/>
                <a:sym typeface="Wingdings" panose="05000000000000000000" pitchFamily="2" charset="2"/>
              </a:rPr>
              <a:t></a:t>
            </a:r>
            <a:r>
              <a:rPr kumimoji="0" lang="zh-CN" altLang="en-US" kern="1200" cap="none" spc="0" normalizeH="0" baseline="0" noProof="1">
                <a:latin typeface="Times New Roman" panose="02020603050405020304" pitchFamily="18" charset="0"/>
                <a:ea typeface="宋体" panose="02010600030101010101" pitchFamily="2" charset="-122"/>
                <a:cs typeface="+mn-cs"/>
              </a:rPr>
              <a:t>  </a:t>
            </a:r>
            <a:r>
              <a:rPr kumimoji="0" lang="en-US" altLang="zh-CN" kern="1200" cap="none" spc="0" normalizeH="0" baseline="0" noProof="1">
                <a:latin typeface="Times New Roman" panose="02020603050405020304" pitchFamily="18" charset="0"/>
                <a:ea typeface="宋体" panose="02010600030101010101" pitchFamily="2" charset="-122"/>
                <a:cs typeface="+mn-cs"/>
              </a:rPr>
              <a:t>(X)</a:t>
            </a:r>
            <a:r>
              <a:rPr kumimoji="0" lang="zh-CN" altLang="en-US" kern="1200" cap="none" spc="0" normalizeH="0" baseline="0" noProof="1">
                <a:latin typeface="Times New Roman" panose="02020603050405020304" pitchFamily="18" charset="0"/>
                <a:ea typeface="宋体" panose="02010600030101010101" pitchFamily="2" charset="-122"/>
                <a:cs typeface="+mn-cs"/>
              </a:rPr>
              <a:t>：表示直接地址</a:t>
            </a:r>
            <a:r>
              <a:rPr kumimoji="0" lang="en-US" altLang="zh-CN" kern="1200" cap="none" spc="0" normalizeH="0" baseline="0" noProof="1">
                <a:latin typeface="Times New Roman" panose="02020603050405020304" pitchFamily="18" charset="0"/>
                <a:ea typeface="宋体" panose="02010600030101010101" pitchFamily="2" charset="-122"/>
                <a:cs typeface="+mn-cs"/>
              </a:rPr>
              <a:t>X</a:t>
            </a:r>
            <a:r>
              <a:rPr kumimoji="0" lang="zh-CN" altLang="en-US" kern="1200" cap="none" spc="0" normalizeH="0" baseline="0" noProof="1">
                <a:latin typeface="Times New Roman" panose="02020603050405020304" pitchFamily="18" charset="0"/>
                <a:ea typeface="宋体" panose="02010600030101010101" pitchFamily="2" charset="-122"/>
                <a:cs typeface="+mn-cs"/>
              </a:rPr>
              <a:t>或寄存器</a:t>
            </a:r>
            <a:r>
              <a:rPr kumimoji="0" lang="en-US" altLang="zh-CN" kern="1200" cap="none" spc="0" normalizeH="0" baseline="0" noProof="1">
                <a:latin typeface="Times New Roman" panose="02020603050405020304" pitchFamily="18" charset="0"/>
                <a:ea typeface="宋体" panose="02010600030101010101" pitchFamily="2" charset="-122"/>
                <a:cs typeface="+mn-cs"/>
              </a:rPr>
              <a:t>X</a:t>
            </a:r>
            <a:r>
              <a:rPr kumimoji="0" lang="zh-CN" altLang="en-US" kern="1200" cap="none" spc="0" normalizeH="0" baseline="0" noProof="1">
                <a:latin typeface="Times New Roman" panose="02020603050405020304" pitchFamily="18" charset="0"/>
                <a:ea typeface="宋体" panose="02010600030101010101" pitchFamily="2" charset="-122"/>
                <a:cs typeface="+mn-cs"/>
              </a:rPr>
              <a:t>中的内容。</a:t>
            </a:r>
          </a:p>
          <a:p>
            <a:pPr marR="0" defTabSz="914400">
              <a:lnSpc>
                <a:spcPct val="140000"/>
              </a:lnSpc>
              <a:buClrTx/>
              <a:buSzTx/>
              <a:buFontTx/>
              <a:defRPr/>
            </a:pPr>
            <a:r>
              <a:rPr kumimoji="0" lang="zh-CN" altLang="en-US" kern="1200" cap="none" spc="0" normalizeH="0" baseline="0" noProof="1">
                <a:latin typeface="Times New Roman" panose="02020603050405020304" pitchFamily="18" charset="0"/>
                <a:ea typeface="宋体" panose="02010600030101010101" pitchFamily="2" charset="-122"/>
                <a:cs typeface="+mn-cs"/>
              </a:rPr>
              <a:t>            </a:t>
            </a:r>
            <a:r>
              <a:rPr kumimoji="0" lang="zh-CN" altLang="en-US" kern="1200" cap="none" spc="0" normalizeH="0" baseline="0" noProof="1">
                <a:gradFill>
                  <a:gsLst>
                    <a:gs pos="0">
                      <a:srgbClr val="012D86"/>
                    </a:gs>
                    <a:gs pos="100000">
                      <a:srgbClr val="0E2557"/>
                    </a:gs>
                  </a:gsLst>
                  <a:lin scaled="0"/>
                </a:gradFill>
                <a:latin typeface="Times New Roman" panose="02020603050405020304" pitchFamily="18" charset="0"/>
                <a:ea typeface="宋体" panose="02010600030101010101" pitchFamily="2" charset="-122"/>
                <a:cs typeface="+mn-cs"/>
              </a:rPr>
              <a:t> </a:t>
            </a:r>
            <a:r>
              <a:rPr kumimoji="0" lang="zh-CN" altLang="en-US" kern="1200" cap="none" spc="0" normalizeH="0" baseline="0" noProof="1">
                <a:solidFill>
                  <a:srgbClr val="0070C0"/>
                </a:solidFill>
                <a:latin typeface="Times New Roman" panose="02020603050405020304" pitchFamily="18" charset="0"/>
                <a:ea typeface="宋体" panose="02010600030101010101" pitchFamily="2" charset="-122"/>
                <a:cs typeface="+mn-cs"/>
              </a:rPr>
              <a:t> 如：</a:t>
            </a:r>
            <a:r>
              <a:rPr kumimoji="0" lang="en-US" altLang="zh-CN" kern="1200" cap="none" spc="0" normalizeH="0" baseline="0" noProof="1">
                <a:solidFill>
                  <a:srgbClr val="0070C0"/>
                </a:solidFill>
                <a:latin typeface="Times New Roman" panose="02020603050405020304" pitchFamily="18" charset="0"/>
                <a:ea typeface="宋体" panose="02010600030101010101" pitchFamily="2" charset="-122"/>
                <a:cs typeface="+mn-cs"/>
              </a:rPr>
              <a:t>MOV    B,  A            B←（A）</a:t>
            </a:r>
            <a:endParaRPr kumimoji="0" lang="zh-CN" altLang="en-US" kern="1200" cap="none" spc="0" normalizeH="0" baseline="0" noProof="1">
              <a:gradFill>
                <a:gsLst>
                  <a:gs pos="0">
                    <a:srgbClr val="012D86"/>
                  </a:gs>
                  <a:gs pos="100000">
                    <a:srgbClr val="0E2557"/>
                  </a:gs>
                </a:gsLst>
                <a:lin scaled="0"/>
              </a:gradFill>
              <a:latin typeface="Times New Roman" panose="02020603050405020304" pitchFamily="18" charset="0"/>
              <a:ea typeface="宋体" panose="02010600030101010101" pitchFamily="2" charset="-122"/>
              <a:cs typeface="+mn-cs"/>
              <a:sym typeface="Wingdings" panose="05000000000000000000" pitchFamily="2" charset="2"/>
            </a:endParaRPr>
          </a:p>
          <a:p>
            <a:pPr marR="0" defTabSz="914400">
              <a:lnSpc>
                <a:spcPct val="140000"/>
              </a:lnSpc>
              <a:buClrTx/>
              <a:buSzTx/>
              <a:buFontTx/>
              <a:defRPr/>
            </a:pPr>
            <a:r>
              <a:rPr kumimoji="0" lang="zh-CN" altLang="en-US" kern="1200" cap="none" spc="0" normalizeH="0" baseline="0" noProof="1">
                <a:latin typeface="Times New Roman" panose="02020603050405020304" pitchFamily="18" charset="0"/>
                <a:ea typeface="宋体" panose="02010600030101010101" pitchFamily="2" charset="-122"/>
                <a:cs typeface="+mn-cs"/>
                <a:sym typeface="Wingdings" panose="05000000000000000000" pitchFamily="2" charset="2"/>
              </a:rPr>
              <a:t></a:t>
            </a:r>
            <a:r>
              <a:rPr kumimoji="0" lang="zh-CN" altLang="en-US" kern="1200" cap="none" spc="0" normalizeH="0" baseline="0" noProof="1">
                <a:latin typeface="Times New Roman" panose="02020603050405020304" pitchFamily="18" charset="0"/>
                <a:ea typeface="宋体" panose="02010600030101010101" pitchFamily="2" charset="-122"/>
                <a:cs typeface="+mn-cs"/>
              </a:rPr>
              <a:t>  </a:t>
            </a:r>
            <a:r>
              <a:rPr kumimoji="0" lang="en-US" altLang="zh-CN" kern="1200" cap="none" spc="0" normalizeH="0" baseline="0" noProof="1">
                <a:latin typeface="Times New Roman" panose="02020603050405020304" pitchFamily="18" charset="0"/>
                <a:ea typeface="宋体" panose="02010600030101010101" pitchFamily="2" charset="-122"/>
                <a:cs typeface="+mn-cs"/>
              </a:rPr>
              <a:t>((X))</a:t>
            </a:r>
            <a:r>
              <a:rPr kumimoji="0" lang="zh-CN" altLang="en-US" kern="1200" cap="none" spc="0" normalizeH="0" baseline="0" noProof="1">
                <a:latin typeface="Times New Roman" panose="02020603050405020304" pitchFamily="18" charset="0"/>
                <a:ea typeface="宋体" panose="02010600030101010101" pitchFamily="2" charset="-122"/>
                <a:cs typeface="+mn-cs"/>
              </a:rPr>
              <a:t>：表示寄存器</a:t>
            </a:r>
            <a:r>
              <a:rPr kumimoji="0" lang="en-US" altLang="zh-CN" kern="1200" cap="none" spc="0" normalizeH="0" baseline="0" noProof="1">
                <a:latin typeface="Times New Roman" panose="02020603050405020304" pitchFamily="18" charset="0"/>
                <a:ea typeface="宋体" panose="02010600030101010101" pitchFamily="2" charset="-122"/>
                <a:cs typeface="+mn-cs"/>
              </a:rPr>
              <a:t>X</a:t>
            </a:r>
            <a:r>
              <a:rPr kumimoji="0" lang="zh-CN" altLang="en-US" kern="1200" cap="none" spc="0" normalizeH="0" baseline="0" noProof="1">
                <a:latin typeface="Times New Roman" panose="02020603050405020304" pitchFamily="18" charset="0"/>
                <a:ea typeface="宋体" panose="02010600030101010101" pitchFamily="2" charset="-122"/>
                <a:cs typeface="+mn-cs"/>
              </a:rPr>
              <a:t>中的内容为单元地址，以该单元的值为操作数。</a:t>
            </a:r>
            <a:endParaRPr kumimoji="0" lang="zh-CN" altLang="en-US" kern="1200" cap="none" spc="0" normalizeH="0" baseline="0" noProof="1">
              <a:latin typeface="Times New Roman" panose="02020603050405020304" pitchFamily="18" charset="0"/>
              <a:ea typeface="宋体" panose="02010600030101010101" pitchFamily="2" charset="-122"/>
              <a:cs typeface="+mn-cs"/>
              <a:sym typeface="Wingdings" panose="05000000000000000000" pitchFamily="2" charset="2"/>
            </a:endParaRPr>
          </a:p>
          <a:p>
            <a:pPr marR="0" defTabSz="914400">
              <a:lnSpc>
                <a:spcPct val="140000"/>
              </a:lnSpc>
              <a:buClrTx/>
              <a:buSzTx/>
              <a:buFontTx/>
              <a:defRPr/>
            </a:pPr>
            <a:r>
              <a:rPr kumimoji="0" lang="zh-CN" altLang="en-US" kern="1200" cap="none" spc="0" normalizeH="0" baseline="0" noProof="1">
                <a:latin typeface="Times New Roman" panose="02020603050405020304" pitchFamily="18" charset="0"/>
                <a:ea typeface="宋体" panose="02010600030101010101" pitchFamily="2" charset="-122"/>
                <a:cs typeface="+mn-cs"/>
                <a:sym typeface="Wingdings" panose="05000000000000000000" pitchFamily="2" charset="2"/>
              </a:rPr>
              <a:t></a:t>
            </a:r>
            <a:r>
              <a:rPr kumimoji="0" lang="zh-CN" altLang="en-US" kern="1200" cap="none" spc="0" normalizeH="0" baseline="0" noProof="1">
                <a:latin typeface="Times New Roman" panose="02020603050405020304" pitchFamily="18" charset="0"/>
                <a:ea typeface="宋体" panose="02010600030101010101" pitchFamily="2" charset="-122"/>
                <a:cs typeface="+mn-cs"/>
              </a:rPr>
              <a:t>  ←： 指令操作流程，将箭头</a:t>
            </a:r>
            <a:r>
              <a:rPr kumimoji="0" lang="zh-CN" altLang="en-US" kern="1200" cap="none" spc="0" normalizeH="0" baseline="0" noProof="1">
                <a:solidFill>
                  <a:srgbClr val="0070C0"/>
                </a:solidFill>
                <a:latin typeface="Times New Roman" panose="02020603050405020304" pitchFamily="18" charset="0"/>
                <a:ea typeface="宋体" panose="02010600030101010101" pitchFamily="2" charset="-122"/>
                <a:cs typeface="+mn-cs"/>
              </a:rPr>
              <a:t>右边的内容送给箭头左边</a:t>
            </a:r>
            <a:r>
              <a:rPr kumimoji="0" lang="zh-CN" altLang="en-US" kern="1200" cap="none" spc="0" normalizeH="0" baseline="0" noProof="1">
                <a:latin typeface="Times New Roman" panose="02020603050405020304" pitchFamily="18" charset="0"/>
                <a:ea typeface="宋体" panose="02010600030101010101" pitchFamily="2" charset="-122"/>
                <a:cs typeface="+mn-cs"/>
              </a:rPr>
              <a:t>的单元或寄存器。</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33</a:t>
            </a:fld>
            <a:endParaRPr lang="en-US" altLang="zh-CN" sz="1400" b="0" dirty="0"/>
          </a:p>
        </p:txBody>
      </p:sp>
      <p:sp>
        <p:nvSpPr>
          <p:cNvPr id="40962" name="Rectangle 2"/>
          <p:cNvSpPr/>
          <p:nvPr/>
        </p:nvSpPr>
        <p:spPr>
          <a:xfrm>
            <a:off x="168275" y="1030288"/>
            <a:ext cx="8534400" cy="4631055"/>
          </a:xfrm>
          <a:prstGeom prst="rect">
            <a:avLst/>
          </a:prstGeom>
          <a:noFill/>
          <a:ln w="9525">
            <a:noFill/>
          </a:ln>
        </p:spPr>
        <p:txBody>
          <a:bodyPr anchor="t" anchorCtr="0">
            <a:spAutoFit/>
          </a:bodyPr>
          <a:lstStyle/>
          <a:p>
            <a:pPr indent="266700" algn="just">
              <a:lnSpc>
                <a:spcPct val="130000"/>
              </a:lnSpc>
            </a:pPr>
            <a:r>
              <a:rPr lang="en-US" altLang="zh-CN" dirty="0">
                <a:solidFill>
                  <a:srgbClr val="FF6600"/>
                </a:solidFill>
                <a:latin typeface="Times New Roman" panose="02020603050405020304" pitchFamily="18" charset="0"/>
                <a:ea typeface="宋体" panose="02010600030101010101" pitchFamily="2" charset="-122"/>
              </a:rPr>
              <a:t>3.2.2 </a:t>
            </a:r>
            <a:r>
              <a:rPr lang="zh-CN" altLang="en-US" dirty="0">
                <a:solidFill>
                  <a:srgbClr val="FF6600"/>
                </a:solidFill>
                <a:latin typeface="Times New Roman" panose="02020603050405020304" pitchFamily="18" charset="0"/>
                <a:ea typeface="宋体" panose="02010600030101010101" pitchFamily="2" charset="-122"/>
              </a:rPr>
              <a:t>寻址方式</a:t>
            </a:r>
          </a:p>
          <a:p>
            <a:pPr indent="266700" algn="just">
              <a:lnSpc>
                <a:spcPct val="130000"/>
              </a:lnSpc>
            </a:pPr>
            <a:endParaRPr lang="zh-CN" altLang="en-US" b="0" dirty="0">
              <a:latin typeface="宋体" panose="02010600030101010101" pitchFamily="2" charset="-122"/>
              <a:ea typeface="宋体" panose="02010600030101010101" pitchFamily="2" charset="-122"/>
            </a:endParaRPr>
          </a:p>
          <a:p>
            <a:pPr indent="266700" algn="just" eaLnBrk="0" hangingPunct="0">
              <a:lnSpc>
                <a:spcPct val="130000"/>
              </a:lnSpc>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）立即寻址</a:t>
            </a:r>
          </a:p>
          <a:p>
            <a:pPr indent="266700" algn="just" eaLnBrk="0" hangingPunct="0">
              <a:lnSpc>
                <a:spcPct val="130000"/>
              </a:lnSpc>
            </a:pPr>
            <a:r>
              <a:rPr lang="zh-CN" altLang="en-US" dirty="0">
                <a:latin typeface="Times New Roman" panose="02020603050405020304" pitchFamily="18" charset="0"/>
                <a:ea typeface="宋体" panose="02010600030101010101" pitchFamily="2" charset="-122"/>
              </a:rPr>
              <a:t>                 指令中直接给出操作数的寻址方式。</a:t>
            </a:r>
          </a:p>
          <a:p>
            <a:pPr indent="266700" algn="just" eaLnBrk="0" hangingPunct="0">
              <a:lnSpc>
                <a:spcPct val="130000"/>
              </a:lnSpc>
            </a:pPr>
            <a:r>
              <a:rPr lang="zh-CN" altLang="en-US" dirty="0">
                <a:latin typeface="Times New Roman" panose="02020603050405020304" pitchFamily="18" charset="0"/>
                <a:ea typeface="宋体" panose="02010600030101010101" pitchFamily="2" charset="-122"/>
              </a:rPr>
              <a:t>                 立即数：</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位或</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位。</a:t>
            </a:r>
          </a:p>
          <a:p>
            <a:pPr indent="266700" algn="just" eaLnBrk="0" hangingPunct="0">
              <a:lnSpc>
                <a:spcPct val="130000"/>
              </a:lnSpc>
            </a:pPr>
            <a:endParaRPr lang="zh-CN" altLang="en-US" dirty="0">
              <a:solidFill>
                <a:srgbClr val="FF6600"/>
              </a:solidFill>
              <a:latin typeface="Times New Roman" panose="02020603050405020304" pitchFamily="18" charset="0"/>
              <a:ea typeface="宋体" panose="02010600030101010101" pitchFamily="2" charset="-122"/>
            </a:endParaRPr>
          </a:p>
          <a:p>
            <a:pPr indent="266700" algn="just" eaLnBrk="0" hangingPunct="0">
              <a:lnSpc>
                <a:spcPct val="150000"/>
              </a:lnSpc>
            </a:pPr>
            <a:r>
              <a:rPr lang="zh-CN" altLang="en-US" dirty="0">
                <a:solidFill>
                  <a:srgbClr val="FF6600"/>
                </a:solidFill>
                <a:latin typeface="Times New Roman" panose="02020603050405020304" pitchFamily="18" charset="0"/>
                <a:ea typeface="宋体" panose="02010600030101010101" pitchFamily="2" charset="-122"/>
              </a:rPr>
              <a:t>例如：</a:t>
            </a:r>
            <a:r>
              <a:rPr lang="en-US" altLang="zh-CN" dirty="0">
                <a:solidFill>
                  <a:srgbClr val="FF6600"/>
                </a:solidFill>
                <a:latin typeface="Times New Roman" panose="02020603050405020304" pitchFamily="18" charset="0"/>
                <a:ea typeface="宋体" panose="02010600030101010101" pitchFamily="2" charset="-122"/>
              </a:rPr>
              <a:t>MOV  A</a:t>
            </a:r>
            <a:r>
              <a:rPr lang="zh-CN" altLang="en-US" dirty="0">
                <a:solidFill>
                  <a:srgbClr val="FF6600"/>
                </a:solidFill>
                <a:latin typeface="Times New Roman" panose="02020603050405020304" pitchFamily="18" charset="0"/>
                <a:ea typeface="宋体" panose="02010600030101010101" pitchFamily="2" charset="-122"/>
              </a:rPr>
              <a:t>，</a:t>
            </a:r>
            <a:r>
              <a:rPr lang="en-US" altLang="zh-CN" dirty="0">
                <a:solidFill>
                  <a:srgbClr val="FF6600"/>
                </a:solidFill>
                <a:latin typeface="Times New Roman" panose="02020603050405020304" pitchFamily="18" charset="0"/>
                <a:ea typeface="宋体" panose="02010600030101010101" pitchFamily="2" charset="-122"/>
              </a:rPr>
              <a:t>#20H 		</a:t>
            </a:r>
            <a:r>
              <a:rPr lang="zh-CN" altLang="en-US" dirty="0">
                <a:solidFill>
                  <a:srgbClr val="FF6600"/>
                </a:solidFill>
                <a:latin typeface="Times New Roman" panose="02020603050405020304" pitchFamily="18" charset="0"/>
                <a:ea typeface="宋体" panose="02010600030101010101" pitchFamily="2" charset="-122"/>
              </a:rPr>
              <a:t>；</a:t>
            </a:r>
            <a:r>
              <a:rPr lang="en-US" altLang="zh-CN" dirty="0">
                <a:solidFill>
                  <a:srgbClr val="FF6600"/>
                </a:solidFill>
                <a:latin typeface="Times New Roman" panose="02020603050405020304" pitchFamily="18" charset="0"/>
                <a:ea typeface="宋体" panose="02010600030101010101" pitchFamily="2" charset="-122"/>
              </a:rPr>
              <a:t>A←20H</a:t>
            </a:r>
          </a:p>
          <a:p>
            <a:pPr indent="266700" algn="just" eaLnBrk="0" hangingPunct="0">
              <a:lnSpc>
                <a:spcPct val="150000"/>
              </a:lnSpc>
            </a:pPr>
            <a:r>
              <a:rPr lang="en-US" altLang="zh-CN" dirty="0">
                <a:solidFill>
                  <a:srgbClr val="FF6600"/>
                </a:solidFill>
                <a:latin typeface="Times New Roman" panose="02020603050405020304" pitchFamily="18" charset="0"/>
                <a:ea typeface="宋体" panose="02010600030101010101" pitchFamily="2" charset="-122"/>
              </a:rPr>
              <a:t>	    MOV  20H</a:t>
            </a:r>
            <a:r>
              <a:rPr lang="zh-CN" altLang="en-US" dirty="0">
                <a:solidFill>
                  <a:srgbClr val="FF6600"/>
                </a:solidFill>
                <a:latin typeface="Times New Roman" panose="02020603050405020304" pitchFamily="18" charset="0"/>
                <a:ea typeface="宋体" panose="02010600030101010101" pitchFamily="2" charset="-122"/>
              </a:rPr>
              <a:t>，</a:t>
            </a:r>
            <a:r>
              <a:rPr lang="en-US" altLang="zh-CN" dirty="0">
                <a:solidFill>
                  <a:srgbClr val="FF6600"/>
                </a:solidFill>
                <a:latin typeface="Times New Roman" panose="02020603050405020304" pitchFamily="18" charset="0"/>
                <a:ea typeface="宋体" panose="02010600030101010101" pitchFamily="2" charset="-122"/>
              </a:rPr>
              <a:t>#20H 	</a:t>
            </a:r>
            <a:r>
              <a:rPr lang="zh-CN" altLang="en-US" dirty="0">
                <a:solidFill>
                  <a:srgbClr val="FF6600"/>
                </a:solidFill>
                <a:latin typeface="Times New Roman" panose="02020603050405020304" pitchFamily="18" charset="0"/>
                <a:ea typeface="宋体" panose="02010600030101010101" pitchFamily="2" charset="-122"/>
              </a:rPr>
              <a:t>；</a:t>
            </a:r>
            <a:r>
              <a:rPr lang="en-US" altLang="zh-CN" dirty="0">
                <a:solidFill>
                  <a:srgbClr val="FF6600"/>
                </a:solidFill>
                <a:latin typeface="Times New Roman" panose="02020603050405020304" pitchFamily="18" charset="0"/>
                <a:ea typeface="宋体" panose="02010600030101010101" pitchFamily="2" charset="-122"/>
              </a:rPr>
              <a:t>20H←20H</a:t>
            </a:r>
          </a:p>
          <a:p>
            <a:pPr indent="266700" algn="just" eaLnBrk="0" hangingPunct="0">
              <a:lnSpc>
                <a:spcPct val="150000"/>
              </a:lnSpc>
            </a:pPr>
            <a:r>
              <a:rPr lang="en-US" altLang="zh-CN" dirty="0">
                <a:solidFill>
                  <a:srgbClr val="FF6600"/>
                </a:solidFill>
                <a:latin typeface="Times New Roman" panose="02020603050405020304" pitchFamily="18" charset="0"/>
                <a:ea typeface="宋体" panose="02010600030101010101" pitchFamily="2" charset="-122"/>
              </a:rPr>
              <a:t>	    MOV  DPTR, #2000H      </a:t>
            </a:r>
            <a:r>
              <a:rPr lang="zh-CN" altLang="en-US" dirty="0">
                <a:solidFill>
                  <a:srgbClr val="FF6600"/>
                </a:solidFill>
                <a:latin typeface="Times New Roman" panose="02020603050405020304" pitchFamily="18" charset="0"/>
                <a:ea typeface="宋体" panose="02010600030101010101" pitchFamily="2" charset="-122"/>
              </a:rPr>
              <a:t>； </a:t>
            </a:r>
            <a:r>
              <a:rPr lang="en-US" altLang="zh-CN" dirty="0">
                <a:solidFill>
                  <a:srgbClr val="FF6600"/>
                </a:solidFill>
                <a:latin typeface="Times New Roman" panose="02020603050405020304" pitchFamily="18" charset="0"/>
                <a:ea typeface="宋体" panose="02010600030101010101" pitchFamily="2" charset="-122"/>
              </a:rPr>
              <a:t>DPTR ← 2000H </a:t>
            </a:r>
            <a:endParaRPr lang="en-US" altLang="zh-CN"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34</a:t>
            </a:fld>
            <a:endParaRPr lang="en-US" altLang="zh-CN" sz="1400" b="0" dirty="0"/>
          </a:p>
        </p:txBody>
      </p:sp>
      <p:sp>
        <p:nvSpPr>
          <p:cNvPr id="41986" name="Rectangle 2"/>
          <p:cNvSpPr/>
          <p:nvPr/>
        </p:nvSpPr>
        <p:spPr>
          <a:xfrm>
            <a:off x="1006475" y="836613"/>
            <a:ext cx="4479925" cy="1114425"/>
          </a:xfrm>
          <a:prstGeom prst="rect">
            <a:avLst/>
          </a:prstGeom>
          <a:noFill/>
          <a:ln w="9525">
            <a:noFill/>
          </a:ln>
        </p:spPr>
        <p:txBody>
          <a:bodyPr wrap="none" anchor="ctr" anchorCtr="0">
            <a:spAutoFit/>
          </a:bodyPr>
          <a:lstStyle/>
          <a:p>
            <a:pPr indent="133350">
              <a:lnSpc>
                <a:spcPct val="140000"/>
              </a:lnSpc>
            </a:pPr>
            <a:r>
              <a:rPr lang="pt-BR" altLang="zh-CN" dirty="0">
                <a:latin typeface="Times New Roman" panose="02020603050405020304" pitchFamily="18" charset="0"/>
                <a:ea typeface="宋体" panose="02010600030101010101" pitchFamily="2" charset="-122"/>
              </a:rPr>
              <a:t>ORG  100H</a:t>
            </a:r>
          </a:p>
          <a:p>
            <a:pPr indent="133350">
              <a:lnSpc>
                <a:spcPct val="140000"/>
              </a:lnSpc>
            </a:pPr>
            <a:r>
              <a:rPr lang="pt-BR" altLang="zh-CN" dirty="0">
                <a:latin typeface="Times New Roman" panose="02020603050405020304" pitchFamily="18" charset="0"/>
                <a:ea typeface="宋体" panose="02010600030101010101" pitchFamily="2" charset="-122"/>
              </a:rPr>
              <a:t>MOV  A, #30H 	; A←30H</a:t>
            </a:r>
            <a:r>
              <a:rPr lang="zh-CN" altLang="pt-BR" dirty="0">
                <a:latin typeface="Times New Roman" panose="02020603050405020304" pitchFamily="18" charset="0"/>
                <a:ea typeface="宋体" panose="02010600030101010101" pitchFamily="2" charset="-122"/>
              </a:rPr>
              <a:t>。</a:t>
            </a:r>
          </a:p>
        </p:txBody>
      </p:sp>
      <p:sp>
        <p:nvSpPr>
          <p:cNvPr id="41987" name="Rectangle 3"/>
          <p:cNvSpPr/>
          <p:nvPr/>
        </p:nvSpPr>
        <p:spPr>
          <a:xfrm>
            <a:off x="741363" y="2492375"/>
            <a:ext cx="2874962" cy="457200"/>
          </a:xfrm>
          <a:prstGeom prst="rect">
            <a:avLst/>
          </a:prstGeom>
          <a:noFill/>
          <a:ln w="9525">
            <a:noFill/>
          </a:ln>
        </p:spPr>
        <p:txBody>
          <a:bodyPr wrap="none" anchor="ctr" anchorCtr="0">
            <a:spAutoFit/>
          </a:bodyPr>
          <a:lstStyle/>
          <a:p>
            <a:r>
              <a:rPr lang="zh-CN" altLang="en-US" dirty="0">
                <a:solidFill>
                  <a:srgbClr val="FF0000"/>
                </a:solidFill>
                <a:latin typeface="Times New Roman" panose="02020603050405020304" pitchFamily="18" charset="0"/>
                <a:ea typeface="宋体" panose="02010600030101010101" pitchFamily="2" charset="-122"/>
              </a:rPr>
              <a:t>机器码为</a:t>
            </a:r>
            <a:r>
              <a:rPr lang="en-US" altLang="zh-CN" dirty="0">
                <a:solidFill>
                  <a:srgbClr val="FF0000"/>
                </a:solidFill>
                <a:latin typeface="Times New Roman" panose="02020603050405020304" pitchFamily="18" charset="0"/>
                <a:ea typeface="宋体" panose="02010600030101010101" pitchFamily="2" charset="-122"/>
              </a:rPr>
              <a:t>74H</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30H </a:t>
            </a:r>
          </a:p>
        </p:txBody>
      </p:sp>
      <p:sp>
        <p:nvSpPr>
          <p:cNvPr id="41988" name="Text Box 4"/>
          <p:cNvSpPr txBox="1"/>
          <p:nvPr/>
        </p:nvSpPr>
        <p:spPr>
          <a:xfrm>
            <a:off x="3276600" y="5516563"/>
            <a:ext cx="5545138" cy="504825"/>
          </a:xfrm>
          <a:prstGeom prst="rect">
            <a:avLst/>
          </a:prstGeom>
          <a:noFill/>
          <a:ln w="9525">
            <a:noFill/>
          </a:ln>
        </p:spPr>
        <p:txBody>
          <a:bodyPr lIns="0" tIns="0" rIns="0" bIns="0" anchor="t" anchorCtr="0"/>
          <a:lstStyle/>
          <a:p>
            <a:pPr algn="ctr">
              <a:spcBef>
                <a:spcPts val="700"/>
              </a:spcBef>
            </a:pPr>
            <a:r>
              <a:rPr lang="zh-CN" altLang="en-US" sz="2000" dirty="0">
                <a:latin typeface="Times New Roman" panose="02020603050405020304" pitchFamily="18" charset="0"/>
                <a:ea typeface="宋体" panose="02010600030101010101" pitchFamily="2" charset="-122"/>
              </a:rPr>
              <a:t>图</a:t>
            </a:r>
            <a:r>
              <a:rPr lang="en-US" altLang="zh-CN" sz="2000" dirty="0">
                <a:latin typeface="Times New Roman" panose="02020603050405020304" pitchFamily="18" charset="0"/>
                <a:ea typeface="宋体" panose="02010600030101010101" pitchFamily="2" charset="-122"/>
              </a:rPr>
              <a:t>4-6  </a:t>
            </a:r>
            <a:r>
              <a:rPr lang="zh-CN" altLang="en-US" sz="2000" dirty="0">
                <a:latin typeface="Times New Roman" panose="02020603050405020304" pitchFamily="18" charset="0"/>
                <a:ea typeface="宋体" panose="02010600030101010101" pitchFamily="2" charset="-122"/>
              </a:rPr>
              <a:t>指令</a:t>
            </a:r>
            <a:r>
              <a:rPr lang="en-US" altLang="zh-CN" sz="2000" dirty="0">
                <a:latin typeface="Times New Roman" panose="02020603050405020304" pitchFamily="18" charset="0"/>
                <a:ea typeface="宋体" panose="02010600030101010101" pitchFamily="2" charset="-122"/>
              </a:rPr>
              <a:t>MOV A,#30H</a:t>
            </a:r>
            <a:r>
              <a:rPr lang="zh-CN" altLang="en-US" sz="2000" dirty="0">
                <a:latin typeface="Times New Roman" panose="02020603050405020304" pitchFamily="18" charset="0"/>
                <a:ea typeface="宋体" panose="02010600030101010101" pitchFamily="2" charset="-122"/>
              </a:rPr>
              <a:t>的执行示意图</a:t>
            </a:r>
          </a:p>
        </p:txBody>
      </p:sp>
      <p:pic>
        <p:nvPicPr>
          <p:cNvPr id="41989" name="Picture 5" descr="4T6"/>
          <p:cNvPicPr>
            <a:picLocks noChangeAspect="1"/>
          </p:cNvPicPr>
          <p:nvPr/>
        </p:nvPicPr>
        <p:blipFill>
          <a:blip r:embed="rId2"/>
          <a:stretch>
            <a:fillRect/>
          </a:stretch>
        </p:blipFill>
        <p:spPr>
          <a:xfrm>
            <a:off x="3995738" y="2492375"/>
            <a:ext cx="4681537" cy="254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35</a:t>
            </a:fld>
            <a:endParaRPr lang="en-US" altLang="zh-CN" sz="1400" b="0" dirty="0"/>
          </a:p>
        </p:txBody>
      </p:sp>
      <p:sp>
        <p:nvSpPr>
          <p:cNvPr id="121858" name="Rectangle 2"/>
          <p:cNvSpPr/>
          <p:nvPr/>
        </p:nvSpPr>
        <p:spPr>
          <a:xfrm>
            <a:off x="228600" y="1219200"/>
            <a:ext cx="8534400" cy="2940050"/>
          </a:xfrm>
          <a:prstGeom prst="rect">
            <a:avLst/>
          </a:prstGeom>
          <a:noFill/>
          <a:ln w="9525">
            <a:noFill/>
          </a:ln>
        </p:spPr>
        <p:txBody>
          <a:bodyPr anchor="t" anchorCtr="0">
            <a:spAutoFit/>
          </a:bodyPr>
          <a:lstStyle/>
          <a:p>
            <a:pPr indent="266700" algn="just">
              <a:lnSpc>
                <a:spcPct val="130000"/>
              </a:lnSpc>
            </a:pPr>
            <a:r>
              <a:rPr lang="zh-CN" altLang="en-US" dirty="0">
                <a:solidFill>
                  <a:srgbClr val="FF6600"/>
                </a:solidFill>
                <a:latin typeface="Times New Roman" panose="02020603050405020304" pitchFamily="18" charset="0"/>
                <a:ea typeface="宋体" panose="02010600030101010101" pitchFamily="2" charset="-122"/>
              </a:rPr>
              <a:t>（</a:t>
            </a:r>
            <a:r>
              <a:rPr lang="en-US" altLang="zh-CN" dirty="0">
                <a:solidFill>
                  <a:srgbClr val="FF6600"/>
                </a:solidFill>
                <a:latin typeface="Times New Roman" panose="02020603050405020304" pitchFamily="18" charset="0"/>
                <a:ea typeface="宋体" panose="02010600030101010101" pitchFamily="2" charset="-122"/>
              </a:rPr>
              <a:t>2</a:t>
            </a:r>
            <a:r>
              <a:rPr lang="zh-CN" altLang="en-US" dirty="0">
                <a:solidFill>
                  <a:srgbClr val="FF6600"/>
                </a:solidFill>
                <a:latin typeface="Times New Roman" panose="02020603050405020304" pitchFamily="18" charset="0"/>
                <a:ea typeface="宋体" panose="02010600030101010101" pitchFamily="2" charset="-122"/>
              </a:rPr>
              <a:t>） 直接寻址</a:t>
            </a:r>
            <a:endParaRPr lang="zh-CN" altLang="en-US" b="0" dirty="0">
              <a:latin typeface="宋体" panose="02010600030101010101" pitchFamily="2" charset="-122"/>
              <a:ea typeface="宋体" panose="02010600030101010101" pitchFamily="2" charset="-122"/>
            </a:endParaRPr>
          </a:p>
          <a:p>
            <a:pPr indent="266700" algn="just" eaLnBrk="0" hangingPunct="0">
              <a:lnSpc>
                <a:spcPct val="130000"/>
              </a:lnSpc>
            </a:pPr>
            <a:r>
              <a:rPr lang="zh-CN" altLang="en-US" dirty="0">
                <a:latin typeface="Times New Roman" panose="02020603050405020304" pitchFamily="18" charset="0"/>
                <a:ea typeface="宋体" panose="02010600030101010101" pitchFamily="2" charset="-122"/>
              </a:rPr>
              <a:t>指令中直接给出操作数所在地址的寻址方式。</a:t>
            </a:r>
          </a:p>
          <a:p>
            <a:pPr indent="266700" algn="just" eaLnBrk="0" hangingPunct="0">
              <a:lnSpc>
                <a:spcPct val="130000"/>
              </a:lnSpc>
            </a:pPr>
            <a:r>
              <a:rPr lang="zh-CN" altLang="en-US" dirty="0">
                <a:latin typeface="Times New Roman" panose="02020603050405020304" pitchFamily="18" charset="0"/>
                <a:ea typeface="宋体" panose="02010600030101010101" pitchFamily="2" charset="-122"/>
              </a:rPr>
              <a:t>操所数所在区域：</a:t>
            </a:r>
          </a:p>
          <a:p>
            <a:pPr indent="266700" algn="just" eaLnBrk="0" hangingPunct="0">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）内部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的低</a:t>
            </a:r>
            <a:r>
              <a:rPr lang="en-US" altLang="zh-CN" dirty="0">
                <a:latin typeface="Times New Roman" panose="02020603050405020304" pitchFamily="18" charset="0"/>
                <a:ea typeface="宋体" panose="02010600030101010101" pitchFamily="2" charset="-122"/>
              </a:rPr>
              <a:t>128</a:t>
            </a:r>
            <a:r>
              <a:rPr lang="zh-CN" altLang="en-US" dirty="0">
                <a:latin typeface="Times New Roman" panose="02020603050405020304" pitchFamily="18" charset="0"/>
                <a:ea typeface="宋体" panose="02010600030101010101" pitchFamily="2" charset="-122"/>
              </a:rPr>
              <a:t>单元；</a:t>
            </a:r>
          </a:p>
          <a:p>
            <a:pPr indent="266700" algn="just" eaLnBrk="0" hangingPunct="0">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）特殊功能寄存器。</a:t>
            </a:r>
            <a:endParaRPr lang="zh-CN" altLang="en-US" dirty="0">
              <a:solidFill>
                <a:srgbClr val="FF6600"/>
              </a:solidFill>
              <a:latin typeface="Times New Roman" panose="02020603050405020304" pitchFamily="18" charset="0"/>
              <a:ea typeface="宋体" panose="02010600030101010101" pitchFamily="2" charset="-122"/>
            </a:endParaRPr>
          </a:p>
          <a:p>
            <a:pPr indent="266700" algn="just" eaLnBrk="0" hangingPunct="0">
              <a:lnSpc>
                <a:spcPct val="130000"/>
              </a:lnSpc>
            </a:pPr>
            <a:r>
              <a:rPr lang="zh-CN" altLang="en-US" dirty="0">
                <a:solidFill>
                  <a:srgbClr val="FF6600"/>
                </a:solidFill>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121859" name="Rectangle 3"/>
          <p:cNvSpPr/>
          <p:nvPr/>
        </p:nvSpPr>
        <p:spPr>
          <a:xfrm>
            <a:off x="395288" y="3860800"/>
            <a:ext cx="7993062" cy="1735138"/>
          </a:xfrm>
          <a:prstGeom prst="rect">
            <a:avLst/>
          </a:prstGeom>
          <a:noFill/>
          <a:ln w="9525">
            <a:noFill/>
          </a:ln>
        </p:spPr>
        <p:txBody>
          <a:bodyPr anchor="t" anchorCtr="0">
            <a:spAutoFit/>
          </a:bodyPr>
          <a:lstStyle/>
          <a:p>
            <a:pPr>
              <a:lnSpc>
                <a:spcPct val="150000"/>
              </a:lnSpc>
            </a:pPr>
            <a:endParaRPr lang="en-US" altLang="zh-CN" dirty="0">
              <a:solidFill>
                <a:srgbClr val="FF0000"/>
              </a:solidFill>
              <a:latin typeface="Times New Roman" panose="02020603050405020304" pitchFamily="18" charset="0"/>
              <a:ea typeface="宋体" panose="02010600030101010101" pitchFamily="2" charset="-122"/>
            </a:endParaRPr>
          </a:p>
          <a:p>
            <a:pPr>
              <a:lnSpc>
                <a:spcPct val="150000"/>
              </a:lnSpc>
            </a:pPr>
            <a:r>
              <a:rPr lang="zh-CN" altLang="en-US" dirty="0">
                <a:solidFill>
                  <a:srgbClr val="FF0000"/>
                </a:solidFill>
                <a:latin typeface="Times New Roman" panose="02020603050405020304" pitchFamily="18" charset="0"/>
                <a:ea typeface="宋体" panose="02010600030101010101" pitchFamily="2" charset="-122"/>
              </a:rPr>
              <a:t>例如：    </a:t>
            </a:r>
            <a:r>
              <a:rPr lang="en-US" altLang="zh-CN" dirty="0">
                <a:solidFill>
                  <a:srgbClr val="FF0000"/>
                </a:solidFill>
                <a:latin typeface="Times New Roman" panose="02020603050405020304" pitchFamily="18" charset="0"/>
                <a:ea typeface="宋体" panose="02010600030101010101" pitchFamily="2" charset="-122"/>
              </a:rPr>
              <a:t>MOV  A</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20H 		</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A←</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20H</a:t>
            </a:r>
            <a:r>
              <a:rPr lang="zh-CN" altLang="en-US" dirty="0">
                <a:solidFill>
                  <a:srgbClr val="FF0000"/>
                </a:solidFill>
                <a:latin typeface="Times New Roman" panose="02020603050405020304" pitchFamily="18" charset="0"/>
                <a:ea typeface="宋体" panose="02010600030101010101" pitchFamily="2" charset="-122"/>
              </a:rPr>
              <a:t>）</a:t>
            </a:r>
          </a:p>
          <a:p>
            <a:pPr>
              <a:lnSpc>
                <a:spcPct val="150000"/>
              </a:lnSpc>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MOV  30H</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20H 		</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30H←</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20H</a:t>
            </a:r>
            <a:r>
              <a:rPr lang="zh-CN" altLang="en-US" dirty="0">
                <a:solidFill>
                  <a:srgbClr val="FF0000"/>
                </a:solidFill>
                <a:latin typeface="Times New Roman" panose="02020603050405020304" pitchFamily="18" charset="0"/>
                <a:ea typeface="宋体" panose="02010600030101010101" pitchFamily="2" charset="-122"/>
              </a:rPr>
              <a:t>）</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3"/>
          <p:cNvSpPr/>
          <p:nvPr/>
        </p:nvSpPr>
        <p:spPr>
          <a:xfrm>
            <a:off x="1971675" y="776288"/>
            <a:ext cx="9144000" cy="0"/>
          </a:xfrm>
          <a:prstGeom prst="rect">
            <a:avLst/>
          </a:prstGeom>
          <a:noFill/>
          <a:ln w="9525">
            <a:noFill/>
          </a:ln>
        </p:spPr>
        <p:txBody>
          <a:bodyPr anchor="t" anchorCtr="0">
            <a:spAutoFit/>
          </a:bodyPr>
          <a:lstStyle/>
          <a:p>
            <a:endParaRPr lang="zh-CN" altLang="en-US" dirty="0">
              <a:latin typeface="Times New Roman" panose="02020603050405020304" pitchFamily="18" charset="0"/>
              <a:ea typeface="宋体" panose="02010600030101010101" pitchFamily="2" charset="-122"/>
            </a:endParaRPr>
          </a:p>
        </p:txBody>
      </p:sp>
      <p:grpSp>
        <p:nvGrpSpPr>
          <p:cNvPr id="43010" name="Group 1035"/>
          <p:cNvGrpSpPr/>
          <p:nvPr/>
        </p:nvGrpSpPr>
        <p:grpSpPr>
          <a:xfrm>
            <a:off x="1187450" y="836613"/>
            <a:ext cx="6553200" cy="6021387"/>
            <a:chOff x="793" y="527"/>
            <a:chExt cx="3765" cy="3447"/>
          </a:xfrm>
        </p:grpSpPr>
        <p:pic>
          <p:nvPicPr>
            <p:cNvPr id="43011" name="Picture 1027" descr="3t7"/>
            <p:cNvPicPr>
              <a:picLocks noChangeAspect="1"/>
            </p:cNvPicPr>
            <p:nvPr/>
          </p:nvPicPr>
          <p:blipFill>
            <a:blip r:embed="rId2"/>
            <a:stretch>
              <a:fillRect/>
            </a:stretch>
          </p:blipFill>
          <p:spPr>
            <a:xfrm>
              <a:off x="793" y="527"/>
              <a:ext cx="3765" cy="3447"/>
            </a:xfrm>
            <a:prstGeom prst="rect">
              <a:avLst/>
            </a:prstGeom>
            <a:noFill/>
            <a:ln w="9525">
              <a:noFill/>
            </a:ln>
          </p:spPr>
        </p:pic>
        <p:sp>
          <p:nvSpPr>
            <p:cNvPr id="43012" name="Text Box 1032"/>
            <p:cNvSpPr txBox="1"/>
            <p:nvPr/>
          </p:nvSpPr>
          <p:spPr>
            <a:xfrm>
              <a:off x="4014" y="2523"/>
              <a:ext cx="499" cy="227"/>
            </a:xfrm>
            <a:prstGeom prst="rect">
              <a:avLst/>
            </a:prstGeom>
            <a:solidFill>
              <a:srgbClr val="CCFF33"/>
            </a:solidFill>
            <a:ln w="9525">
              <a:noFill/>
            </a:ln>
          </p:spPr>
          <p:txBody>
            <a:bodyPr anchor="t" anchorCtr="0">
              <a:spAutoFit/>
            </a:bodyPr>
            <a:lstStyle/>
            <a:p>
              <a:pPr>
                <a:spcBef>
                  <a:spcPct val="50000"/>
                </a:spcBef>
              </a:pPr>
              <a:r>
                <a:rPr lang="en-US" altLang="zh-CN" sz="2000" dirty="0">
                  <a:latin typeface="Times New Roman" panose="02020603050405020304" pitchFamily="18" charset="0"/>
                  <a:ea typeface="宋体" panose="02010600030101010101" pitchFamily="2" charset="-122"/>
                </a:rPr>
                <a:t>SFR</a:t>
              </a:r>
            </a:p>
          </p:txBody>
        </p:sp>
      </p:grpSp>
      <p:grpSp>
        <p:nvGrpSpPr>
          <p:cNvPr id="3" name="Group 1033"/>
          <p:cNvGrpSpPr/>
          <p:nvPr/>
        </p:nvGrpSpPr>
        <p:grpSpPr>
          <a:xfrm>
            <a:off x="4356100" y="836613"/>
            <a:ext cx="360363" cy="5545137"/>
            <a:chOff x="2607" y="527"/>
            <a:chExt cx="137" cy="3175"/>
          </a:xfrm>
        </p:grpSpPr>
        <p:sp>
          <p:nvSpPr>
            <p:cNvPr id="43014" name="AutoShape 1028"/>
            <p:cNvSpPr/>
            <p:nvPr/>
          </p:nvSpPr>
          <p:spPr>
            <a:xfrm>
              <a:off x="2608" y="2387"/>
              <a:ext cx="136" cy="1315"/>
            </a:xfrm>
            <a:prstGeom prst="rightBrace">
              <a:avLst>
                <a:gd name="adj1" fmla="val 80262"/>
                <a:gd name="adj2" fmla="val 50000"/>
              </a:avLst>
            </a:prstGeom>
            <a:solidFill>
              <a:srgbClr val="CCFFFF"/>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3015" name="AutoShape 1029"/>
            <p:cNvSpPr/>
            <p:nvPr/>
          </p:nvSpPr>
          <p:spPr>
            <a:xfrm>
              <a:off x="2607" y="1752"/>
              <a:ext cx="137" cy="635"/>
            </a:xfrm>
            <a:prstGeom prst="rightBrace">
              <a:avLst>
                <a:gd name="adj1" fmla="val 38475"/>
                <a:gd name="adj2" fmla="val 50000"/>
              </a:avLst>
            </a:prstGeom>
            <a:solidFill>
              <a:srgbClr val="CCCCFF"/>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3016" name="AutoShape 1030"/>
            <p:cNvSpPr/>
            <p:nvPr/>
          </p:nvSpPr>
          <p:spPr>
            <a:xfrm>
              <a:off x="2608" y="527"/>
              <a:ext cx="136" cy="1225"/>
            </a:xfrm>
            <a:prstGeom prst="rightBrace">
              <a:avLst>
                <a:gd name="adj1" fmla="val 74769"/>
                <a:gd name="adj2" fmla="val 50000"/>
              </a:avLst>
            </a:prstGeom>
            <a:solidFill>
              <a:srgbClr val="CCFF33"/>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37</a:t>
            </a:fld>
            <a:endParaRPr lang="en-US" altLang="zh-CN" sz="1400" b="0" dirty="0"/>
          </a:p>
        </p:txBody>
      </p:sp>
      <p:sp>
        <p:nvSpPr>
          <p:cNvPr id="122882" name="Rectangle 2"/>
          <p:cNvSpPr/>
          <p:nvPr/>
        </p:nvSpPr>
        <p:spPr>
          <a:xfrm>
            <a:off x="250825" y="1052513"/>
            <a:ext cx="8534400" cy="2465387"/>
          </a:xfrm>
          <a:prstGeom prst="rect">
            <a:avLst/>
          </a:prstGeom>
          <a:noFill/>
          <a:ln w="9525">
            <a:noFill/>
          </a:ln>
        </p:spPr>
        <p:txBody>
          <a:bodyPr anchor="t" anchorCtr="0">
            <a:spAutoFit/>
          </a:bodyPr>
          <a:lstStyle/>
          <a:p>
            <a:pPr indent="266700" algn="just">
              <a:lnSpc>
                <a:spcPct val="130000"/>
              </a:lnSpc>
            </a:pPr>
            <a:r>
              <a:rPr lang="zh-CN" altLang="en-US" dirty="0">
                <a:solidFill>
                  <a:srgbClr val="FF6600"/>
                </a:solidFill>
                <a:latin typeface="Times New Roman" panose="02020603050405020304" pitchFamily="18" charset="0"/>
                <a:ea typeface="宋体" panose="02010600030101010101" pitchFamily="2" charset="-122"/>
              </a:rPr>
              <a:t>（</a:t>
            </a:r>
            <a:r>
              <a:rPr lang="en-US" altLang="zh-CN" dirty="0">
                <a:solidFill>
                  <a:srgbClr val="FF6600"/>
                </a:solidFill>
                <a:latin typeface="Times New Roman" panose="02020603050405020304" pitchFamily="18" charset="0"/>
                <a:ea typeface="宋体" panose="02010600030101010101" pitchFamily="2" charset="-122"/>
              </a:rPr>
              <a:t>3</a:t>
            </a:r>
            <a:r>
              <a:rPr lang="zh-CN" altLang="en-US" dirty="0">
                <a:solidFill>
                  <a:srgbClr val="FF6600"/>
                </a:solidFill>
                <a:latin typeface="Times New Roman" panose="02020603050405020304" pitchFamily="18" charset="0"/>
                <a:ea typeface="宋体" panose="02010600030101010101" pitchFamily="2" charset="-122"/>
              </a:rPr>
              <a:t>）  寄存器寻址</a:t>
            </a:r>
            <a:endParaRPr lang="zh-CN" altLang="en-US" b="0" dirty="0">
              <a:latin typeface="宋体" panose="02010600030101010101" pitchFamily="2" charset="-122"/>
              <a:ea typeface="宋体" panose="02010600030101010101" pitchFamily="2" charset="-122"/>
            </a:endParaRPr>
          </a:p>
          <a:p>
            <a:pPr indent="266700" algn="just" eaLnBrk="0" hangingPunct="0">
              <a:lnSpc>
                <a:spcPct val="130000"/>
              </a:lnSpc>
            </a:pPr>
            <a:r>
              <a:rPr lang="zh-CN" altLang="en-US" dirty="0">
                <a:latin typeface="Times New Roman" panose="02020603050405020304" pitchFamily="18" charset="0"/>
                <a:ea typeface="宋体" panose="02010600030101010101" pitchFamily="2" charset="-122"/>
              </a:rPr>
              <a:t>以通用寄存器的内容为操作数的寻址方式。</a:t>
            </a:r>
          </a:p>
          <a:p>
            <a:pPr indent="266700" algn="just" eaLnBrk="0" hangingPunct="0">
              <a:lnSpc>
                <a:spcPct val="130000"/>
              </a:lnSpc>
            </a:pPr>
            <a:r>
              <a:rPr lang="zh-CN" altLang="en-US" dirty="0">
                <a:solidFill>
                  <a:srgbClr val="FF6600"/>
                </a:solidFill>
                <a:latin typeface="Times New Roman" panose="02020603050405020304" pitchFamily="18" charset="0"/>
                <a:ea typeface="宋体" panose="02010600030101010101" pitchFamily="2" charset="-122"/>
              </a:rPr>
              <a:t>例如：</a:t>
            </a:r>
            <a:r>
              <a:rPr lang="en-US" altLang="zh-CN" dirty="0">
                <a:solidFill>
                  <a:srgbClr val="FF6600"/>
                </a:solidFill>
                <a:latin typeface="Times New Roman" panose="02020603050405020304" pitchFamily="18" charset="0"/>
                <a:ea typeface="宋体" panose="02010600030101010101" pitchFamily="2" charset="-122"/>
              </a:rPr>
              <a:t>MOV  20H</a:t>
            </a:r>
            <a:r>
              <a:rPr lang="zh-CN" altLang="en-US" dirty="0">
                <a:solidFill>
                  <a:srgbClr val="FF6600"/>
                </a:solidFill>
                <a:latin typeface="Times New Roman" panose="02020603050405020304" pitchFamily="18" charset="0"/>
                <a:ea typeface="宋体" panose="02010600030101010101" pitchFamily="2" charset="-122"/>
              </a:rPr>
              <a:t>，</a:t>
            </a:r>
            <a:r>
              <a:rPr lang="en-US" altLang="zh-CN" dirty="0">
                <a:solidFill>
                  <a:srgbClr val="FF6600"/>
                </a:solidFill>
                <a:latin typeface="Times New Roman" panose="02020603050405020304" pitchFamily="18" charset="0"/>
                <a:ea typeface="宋体" panose="02010600030101010101" pitchFamily="2" charset="-122"/>
              </a:rPr>
              <a:t>A 		</a:t>
            </a:r>
            <a:r>
              <a:rPr lang="zh-CN" altLang="en-US" dirty="0">
                <a:solidFill>
                  <a:srgbClr val="FF6600"/>
                </a:solidFill>
                <a:latin typeface="Times New Roman" panose="02020603050405020304" pitchFamily="18" charset="0"/>
                <a:ea typeface="宋体" panose="02010600030101010101" pitchFamily="2" charset="-122"/>
              </a:rPr>
              <a:t>； </a:t>
            </a:r>
            <a:r>
              <a:rPr lang="en-US" altLang="zh-CN" dirty="0">
                <a:solidFill>
                  <a:srgbClr val="FF6600"/>
                </a:solidFill>
                <a:latin typeface="Times New Roman" panose="02020603050405020304" pitchFamily="18" charset="0"/>
                <a:ea typeface="宋体" panose="02010600030101010101" pitchFamily="2" charset="-122"/>
              </a:rPr>
              <a:t>20H ←</a:t>
            </a:r>
            <a:r>
              <a:rPr lang="zh-CN" altLang="en-US" dirty="0">
                <a:solidFill>
                  <a:srgbClr val="FF6600"/>
                </a:solidFill>
                <a:latin typeface="Times New Roman" panose="02020603050405020304" pitchFamily="18" charset="0"/>
                <a:ea typeface="宋体" panose="02010600030101010101" pitchFamily="2" charset="-122"/>
              </a:rPr>
              <a:t>（ </a:t>
            </a:r>
            <a:r>
              <a:rPr lang="en-US" altLang="zh-CN" dirty="0">
                <a:solidFill>
                  <a:srgbClr val="FF6600"/>
                </a:solidFill>
                <a:latin typeface="Times New Roman" panose="02020603050405020304" pitchFamily="18" charset="0"/>
                <a:ea typeface="宋体" panose="02010600030101010101" pitchFamily="2" charset="-122"/>
              </a:rPr>
              <a:t>A </a:t>
            </a:r>
            <a:r>
              <a:rPr lang="zh-CN" altLang="en-US" dirty="0">
                <a:solidFill>
                  <a:srgbClr val="FF6600"/>
                </a:solidFill>
                <a:latin typeface="Times New Roman" panose="02020603050405020304" pitchFamily="18" charset="0"/>
                <a:ea typeface="宋体" panose="02010600030101010101" pitchFamily="2" charset="-122"/>
              </a:rPr>
              <a:t>）</a:t>
            </a:r>
          </a:p>
          <a:p>
            <a:pPr indent="266700" algn="just" eaLnBrk="0" hangingPunct="0">
              <a:lnSpc>
                <a:spcPct val="130000"/>
              </a:lnSpc>
            </a:pPr>
            <a:r>
              <a:rPr lang="zh-CN" altLang="en-US" dirty="0">
                <a:solidFill>
                  <a:srgbClr val="FF6600"/>
                </a:solidFill>
                <a:latin typeface="Times New Roman" panose="02020603050405020304" pitchFamily="18" charset="0"/>
                <a:ea typeface="宋体" panose="02010600030101010101" pitchFamily="2" charset="-122"/>
              </a:rPr>
              <a:t>	    </a:t>
            </a:r>
            <a:r>
              <a:rPr lang="en-US" altLang="zh-CN" dirty="0">
                <a:solidFill>
                  <a:srgbClr val="000000"/>
                </a:solidFill>
                <a:latin typeface="Times New Roman" panose="02020603050405020304" pitchFamily="18" charset="0"/>
                <a:ea typeface="宋体" panose="02010600030101010101" pitchFamily="2" charset="-122"/>
              </a:rPr>
              <a:t>MUL  AB			</a:t>
            </a:r>
            <a:r>
              <a:rPr lang="zh-CN" altLang="en-US" dirty="0">
                <a:solidFill>
                  <a:srgbClr val="000000"/>
                </a:solidFill>
                <a:latin typeface="Times New Roman" panose="02020603050405020304" pitchFamily="18" charset="0"/>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BA←(A)×(B)</a:t>
            </a:r>
            <a:r>
              <a:rPr lang="en-US" altLang="zh-CN" dirty="0">
                <a:solidFill>
                  <a:srgbClr val="FF6600"/>
                </a:solidFill>
                <a:latin typeface="Times New Roman" panose="02020603050405020304" pitchFamily="18" charset="0"/>
                <a:ea typeface="宋体" panose="02010600030101010101" pitchFamily="2" charset="-122"/>
              </a:rPr>
              <a:t> </a:t>
            </a:r>
          </a:p>
          <a:p>
            <a:pPr indent="266700" algn="just" eaLnBrk="0" hangingPunct="0">
              <a:lnSpc>
                <a:spcPct val="130000"/>
              </a:lnSpc>
            </a:pPr>
            <a:r>
              <a:rPr lang="en-US" altLang="zh-CN" dirty="0">
                <a:solidFill>
                  <a:srgbClr val="FF6600"/>
                </a:solidFill>
                <a:latin typeface="Times New Roman" panose="02020603050405020304" pitchFamily="18" charset="0"/>
                <a:ea typeface="宋体" panose="02010600030101010101" pitchFamily="2" charset="-122"/>
              </a:rPr>
              <a:t>	    </a:t>
            </a:r>
            <a:r>
              <a:rPr lang="en-US" altLang="zh-CN" dirty="0">
                <a:solidFill>
                  <a:srgbClr val="000000"/>
                </a:solidFill>
                <a:latin typeface="Times New Roman" panose="02020603050405020304" pitchFamily="18" charset="0"/>
                <a:ea typeface="宋体" panose="02010600030101010101" pitchFamily="2" charset="-122"/>
              </a:rPr>
              <a:t>MOV  B</a:t>
            </a:r>
            <a:r>
              <a:rPr lang="zh-CN" altLang="en-US" dirty="0">
                <a:solidFill>
                  <a:srgbClr val="000000"/>
                </a:solidFill>
                <a:latin typeface="Times New Roman" panose="02020603050405020304" pitchFamily="18" charset="0"/>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R0</a:t>
            </a:r>
            <a:r>
              <a:rPr lang="en-US" altLang="zh-CN" dirty="0">
                <a:solidFill>
                  <a:srgbClr val="FF6600"/>
                </a:solidFill>
                <a:latin typeface="Times New Roman" panose="02020603050405020304" pitchFamily="18" charset="0"/>
                <a:ea typeface="宋体" panose="02010600030101010101" pitchFamily="2" charset="-122"/>
              </a:rPr>
              <a:t> 		</a:t>
            </a:r>
            <a:r>
              <a:rPr lang="zh-CN" altLang="en-US" dirty="0">
                <a:solidFill>
                  <a:srgbClr val="000000"/>
                </a:solidFill>
                <a:latin typeface="Times New Roman" panose="02020603050405020304" pitchFamily="18" charset="0"/>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B←(R0)</a:t>
            </a:r>
            <a:r>
              <a:rPr lang="en-US" altLang="zh-CN" dirty="0">
                <a:solidFill>
                  <a:srgbClr val="FF6600"/>
                </a:solidFill>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122883" name="Rectangle 3"/>
          <p:cNvSpPr/>
          <p:nvPr/>
        </p:nvSpPr>
        <p:spPr>
          <a:xfrm>
            <a:off x="285750" y="3643313"/>
            <a:ext cx="8064500" cy="2678112"/>
          </a:xfrm>
          <a:prstGeom prst="rect">
            <a:avLst/>
          </a:prstGeom>
          <a:noFill/>
          <a:ln w="9525">
            <a:noFill/>
          </a:ln>
        </p:spPr>
        <p:txBody>
          <a:bodyPr anchor="t" anchorCtr="0">
            <a:spAutoFit/>
          </a:bodyPr>
          <a:lstStyle/>
          <a:p>
            <a:pPr>
              <a:lnSpc>
                <a:spcPct val="140000"/>
              </a:lnSpc>
            </a:pPr>
            <a:r>
              <a:rPr lang="zh-CN" altLang="en-US" dirty="0">
                <a:latin typeface="Times New Roman" panose="02020603050405020304" pitchFamily="18" charset="0"/>
                <a:ea typeface="宋体" panose="02010600030101010101" pitchFamily="2" charset="-122"/>
              </a:rPr>
              <a:t>可用的寄存器：通用寄存器</a:t>
            </a:r>
            <a:r>
              <a:rPr lang="en-US" altLang="zh-CN" dirty="0">
                <a:solidFill>
                  <a:srgbClr val="000000"/>
                </a:solidFill>
                <a:latin typeface="Times New Roman" panose="02020603050405020304" pitchFamily="18" charset="0"/>
                <a:ea typeface="宋体" panose="02010600030101010101" pitchFamily="2" charset="-122"/>
              </a:rPr>
              <a:t>R0~R7</a:t>
            </a:r>
            <a:r>
              <a:rPr lang="zh-CN" altLang="en-US" dirty="0">
                <a:solidFill>
                  <a:srgbClr val="000000"/>
                </a:solidFill>
                <a:latin typeface="Times New Roman" panose="02020603050405020304" pitchFamily="18" charset="0"/>
                <a:ea typeface="宋体" panose="02010600030101010101" pitchFamily="2" charset="-122"/>
              </a:rPr>
              <a:t>和若干</a:t>
            </a:r>
            <a:r>
              <a:rPr lang="en-US" altLang="zh-CN" dirty="0">
                <a:solidFill>
                  <a:srgbClr val="000000"/>
                </a:solidFill>
                <a:latin typeface="Times New Roman" panose="02020603050405020304" pitchFamily="18" charset="0"/>
                <a:ea typeface="宋体" panose="02010600030101010101" pitchFamily="2" charset="-122"/>
              </a:rPr>
              <a:t>SFR</a:t>
            </a:r>
            <a:r>
              <a:rPr lang="zh-CN" altLang="en-US" dirty="0">
                <a:solidFill>
                  <a:srgbClr val="000000"/>
                </a:solidFill>
                <a:latin typeface="Times New Roman" panose="02020603050405020304" pitchFamily="18" charset="0"/>
                <a:ea typeface="宋体" panose="02010600030101010101" pitchFamily="2" charset="-122"/>
              </a:rPr>
              <a:t>，例如，</a:t>
            </a:r>
            <a:r>
              <a:rPr lang="en-US" altLang="zh-CN" dirty="0">
                <a:solidFill>
                  <a:srgbClr val="000000"/>
                </a:solidFill>
                <a:latin typeface="Times New Roman" panose="02020603050405020304" pitchFamily="18" charset="0"/>
                <a:ea typeface="宋体" panose="02010600030101010101" pitchFamily="2" charset="-122"/>
              </a:rPr>
              <a:t>A</a:t>
            </a:r>
            <a:r>
              <a:rPr lang="zh-CN" altLang="en-US" dirty="0">
                <a:solidFill>
                  <a:srgbClr val="000000"/>
                </a:solidFill>
                <a:latin typeface="Times New Roman" panose="02020603050405020304" pitchFamily="18" charset="0"/>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B</a:t>
            </a:r>
            <a:r>
              <a:rPr lang="zh-CN" altLang="en-US" dirty="0">
                <a:solidFill>
                  <a:srgbClr val="000000"/>
                </a:solidFill>
                <a:latin typeface="Times New Roman" panose="02020603050405020304" pitchFamily="18" charset="0"/>
                <a:ea typeface="宋体" panose="02010600030101010101" pitchFamily="2" charset="-122"/>
              </a:rPr>
              <a:t>和</a:t>
            </a:r>
            <a:r>
              <a:rPr lang="en-US" altLang="zh-CN" dirty="0">
                <a:solidFill>
                  <a:srgbClr val="000000"/>
                </a:solidFill>
                <a:latin typeface="Times New Roman" panose="02020603050405020304" pitchFamily="18" charset="0"/>
                <a:ea typeface="宋体" panose="02010600030101010101" pitchFamily="2" charset="-122"/>
              </a:rPr>
              <a:t>DPTR</a:t>
            </a:r>
            <a:r>
              <a:rPr lang="zh-CN" altLang="en-US" dirty="0">
                <a:solidFill>
                  <a:srgbClr val="000000"/>
                </a:solidFill>
                <a:latin typeface="Times New Roman" panose="02020603050405020304" pitchFamily="18" charset="0"/>
                <a:ea typeface="宋体" panose="02010600030101010101" pitchFamily="2" charset="-122"/>
              </a:rPr>
              <a:t>。</a:t>
            </a:r>
          </a:p>
          <a:p>
            <a:pPr>
              <a:lnSpc>
                <a:spcPct val="140000"/>
              </a:lnSpc>
            </a:pPr>
            <a:r>
              <a:rPr lang="zh-CN" altLang="en-US" dirty="0">
                <a:solidFill>
                  <a:srgbClr val="000000"/>
                </a:solidFill>
                <a:latin typeface="Times New Roman" panose="02020603050405020304" pitchFamily="18" charset="0"/>
                <a:ea typeface="宋体" panose="02010600030101010101" pitchFamily="2" charset="-122"/>
              </a:rPr>
              <a:t>其中</a:t>
            </a:r>
            <a:r>
              <a:rPr lang="en-US" altLang="zh-CN" dirty="0">
                <a:solidFill>
                  <a:srgbClr val="000000"/>
                </a:solidFill>
                <a:latin typeface="Times New Roman" panose="02020603050405020304" pitchFamily="18" charset="0"/>
                <a:ea typeface="宋体" panose="02010600030101010101" pitchFamily="2" charset="-122"/>
              </a:rPr>
              <a:t>B</a:t>
            </a:r>
            <a:r>
              <a:rPr lang="zh-CN" altLang="en-US" dirty="0">
                <a:solidFill>
                  <a:srgbClr val="000000"/>
                </a:solidFill>
                <a:latin typeface="Times New Roman" panose="02020603050405020304" pitchFamily="18" charset="0"/>
                <a:ea typeface="宋体" panose="02010600030101010101" pitchFamily="2" charset="-122"/>
              </a:rPr>
              <a:t>仅在乘除法指令中为寄存器寻址，在其他指令中为直接寻址。</a:t>
            </a:r>
            <a:endParaRPr lang="en-US" altLang="zh-CN" dirty="0">
              <a:solidFill>
                <a:srgbClr val="000000"/>
              </a:solidFill>
              <a:latin typeface="Times New Roman" panose="02020603050405020304" pitchFamily="18" charset="0"/>
              <a:ea typeface="宋体" panose="02010600030101010101" pitchFamily="2" charset="-122"/>
            </a:endParaRPr>
          </a:p>
          <a:p>
            <a:pPr algn="ctr">
              <a:lnSpc>
                <a:spcPct val="140000"/>
              </a:lnSpc>
            </a:pPr>
            <a:r>
              <a:rPr lang="en-US" altLang="zh-CN" dirty="0">
                <a:solidFill>
                  <a:srgbClr val="4646D2"/>
                </a:solidFill>
                <a:latin typeface="Times New Roman" panose="02020603050405020304" pitchFamily="18" charset="0"/>
                <a:ea typeface="宋体" panose="02010600030101010101" pitchFamily="2" charset="-122"/>
              </a:rPr>
              <a:t>ACC</a:t>
            </a:r>
            <a:r>
              <a:rPr lang="zh-CN" altLang="en-US" dirty="0">
                <a:solidFill>
                  <a:srgbClr val="4646D2"/>
                </a:solidFill>
                <a:latin typeface="Times New Roman" panose="02020603050405020304" pitchFamily="18" charset="0"/>
                <a:ea typeface="宋体" panose="02010600030101010101" pitchFamily="2" charset="-122"/>
              </a:rPr>
              <a:t>为直接寻址，</a:t>
            </a:r>
            <a:r>
              <a:rPr lang="en-US" altLang="zh-CN" dirty="0">
                <a:solidFill>
                  <a:srgbClr val="4646D2"/>
                </a:solidFill>
                <a:latin typeface="Times New Roman" panose="02020603050405020304" pitchFamily="18" charset="0"/>
                <a:ea typeface="宋体" panose="02010600030101010101" pitchFamily="2" charset="-122"/>
              </a:rPr>
              <a:t>A</a:t>
            </a:r>
            <a:r>
              <a:rPr lang="zh-CN" altLang="en-US" dirty="0">
                <a:solidFill>
                  <a:srgbClr val="4646D2"/>
                </a:solidFill>
                <a:latin typeface="Times New Roman" panose="02020603050405020304" pitchFamily="18" charset="0"/>
                <a:ea typeface="宋体" panose="02010600030101010101" pitchFamily="2" charset="-122"/>
              </a:rPr>
              <a:t>为寄存器寻址。 </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38</a:t>
            </a:fld>
            <a:endParaRPr lang="en-US" altLang="zh-CN" sz="1400" b="0" dirty="0"/>
          </a:p>
        </p:txBody>
      </p:sp>
      <p:sp>
        <p:nvSpPr>
          <p:cNvPr id="122883" name="Rectangle 3"/>
          <p:cNvSpPr/>
          <p:nvPr/>
        </p:nvSpPr>
        <p:spPr>
          <a:xfrm>
            <a:off x="118110" y="1397635"/>
            <a:ext cx="3235960" cy="3709035"/>
          </a:xfrm>
          <a:prstGeom prst="rect">
            <a:avLst/>
          </a:prstGeom>
          <a:noFill/>
          <a:ln w="9525">
            <a:noFill/>
          </a:ln>
        </p:spPr>
        <p:txBody>
          <a:bodyPr>
            <a:spAutoFit/>
          </a:bodyPr>
          <a:lstStyle/>
          <a:p>
            <a:pPr marL="0" marR="0" lvl="0" indent="0" algn="l" defTabSz="914400" rtl="0" eaLnBrk="1" fontAlgn="base" latinLnBrk="0" hangingPunct="1">
              <a:lnSpc>
                <a:spcPct val="140000"/>
              </a:lnSpc>
              <a:spcBef>
                <a:spcPct val="0"/>
              </a:spcBef>
              <a:spcAft>
                <a:spcPct val="0"/>
              </a:spcAft>
              <a:buClrTx/>
              <a:buSzTx/>
              <a:buFontTx/>
              <a:buNone/>
              <a:defRPr/>
            </a:pPr>
            <a:r>
              <a:rPr kumimoji="0" lang="en-US" altLang="zh-CN" sz="2400" b="1" i="0" u="none" strike="noStrike" kern="1200" cap="none" spc="0" normalizeH="0" baseline="0" noProof="1">
                <a:ln>
                  <a:noFill/>
                </a:ln>
                <a:solidFill>
                  <a:srgbClr val="4646D2"/>
                </a:solidFill>
                <a:effectLst/>
                <a:uLnTx/>
                <a:uFillTx/>
                <a:latin typeface="Times New Roman" panose="02020603050405020304" pitchFamily="18" charset="0"/>
                <a:ea typeface="宋体" panose="02010600030101010101" pitchFamily="2" charset="-122"/>
                <a:cs typeface="+mn-cs"/>
              </a:rPr>
              <a:t>ORG  	0</a:t>
            </a:r>
          </a:p>
          <a:p>
            <a:pPr marL="0" marR="0" lvl="0" indent="0" algn="l" defTabSz="914400" rtl="0" eaLnBrk="1" fontAlgn="base" latinLnBrk="0" hangingPunct="1">
              <a:lnSpc>
                <a:spcPct val="140000"/>
              </a:lnSpc>
              <a:spcBef>
                <a:spcPct val="0"/>
              </a:spcBef>
              <a:spcAft>
                <a:spcPct val="0"/>
              </a:spcAft>
              <a:buClrTx/>
              <a:buSzTx/>
              <a:buFontTx/>
              <a:buNone/>
              <a:defRPr/>
            </a:pPr>
            <a:r>
              <a:rPr kumimoji="0" lang="en-US" altLang="zh-CN" sz="2400" b="1" i="0" u="none" strike="noStrike" kern="1200" cap="none" spc="0" normalizeH="0" baseline="0" noProof="1">
                <a:ln>
                  <a:noFill/>
                </a:ln>
                <a:gradFill>
                  <a:gsLst>
                    <a:gs pos="0">
                      <a:srgbClr val="E30000"/>
                    </a:gs>
                    <a:gs pos="100000">
                      <a:srgbClr val="760303"/>
                    </a:gs>
                  </a:gsLst>
                  <a:lin scaled="0"/>
                </a:gradFill>
                <a:effectLst/>
                <a:uLnTx/>
                <a:uFillTx/>
                <a:latin typeface="Times New Roman" panose="02020603050405020304" pitchFamily="18" charset="0"/>
                <a:ea typeface="宋体" panose="02010600030101010101" pitchFamily="2" charset="-122"/>
                <a:cs typeface="+mn-cs"/>
              </a:rPr>
              <a:t>MOV	  A,  #20H </a:t>
            </a:r>
            <a:r>
              <a:rPr kumimoji="0" lang="en-US" altLang="zh-CN" sz="2400" b="1" i="0" u="none" strike="noStrike" kern="1200" cap="none" spc="0" normalizeH="0" baseline="0" noProof="1">
                <a:ln>
                  <a:noFill/>
                </a:ln>
                <a:solidFill>
                  <a:srgbClr val="4646D2"/>
                </a:solidFill>
                <a:effectLst/>
                <a:uLnTx/>
                <a:uFillTx/>
                <a:latin typeface="Times New Roman" panose="02020603050405020304" pitchFamily="18" charset="0"/>
                <a:ea typeface="宋体" panose="02010600030101010101" pitchFamily="2" charset="-122"/>
                <a:cs typeface="+mn-cs"/>
              </a:rPr>
              <a:t>  </a:t>
            </a:r>
          </a:p>
          <a:p>
            <a:pPr marL="0" marR="0" lvl="0" indent="0" algn="l" defTabSz="914400" rtl="0" eaLnBrk="1" fontAlgn="base" latinLnBrk="0" hangingPunct="1">
              <a:lnSpc>
                <a:spcPct val="140000"/>
              </a:lnSpc>
              <a:spcBef>
                <a:spcPct val="0"/>
              </a:spcBef>
              <a:spcAft>
                <a:spcPct val="0"/>
              </a:spcAft>
              <a:buClrTx/>
              <a:buSzTx/>
              <a:buFontTx/>
              <a:buNone/>
              <a:defRPr/>
            </a:pPr>
            <a:r>
              <a:rPr kumimoji="0" lang="en-US" altLang="zh-CN" sz="2400" b="1" i="0" u="none" strike="noStrike" kern="1200" cap="none" spc="0" normalizeH="0" baseline="0" noProof="1">
                <a:ln>
                  <a:noFill/>
                </a:ln>
                <a:solidFill>
                  <a:srgbClr val="4646D2"/>
                </a:solidFill>
                <a:effectLst/>
                <a:uLnTx/>
                <a:uFillTx/>
                <a:latin typeface="Times New Roman" panose="02020603050405020304" pitchFamily="18" charset="0"/>
                <a:ea typeface="宋体" panose="02010600030101010101" pitchFamily="2" charset="-122"/>
                <a:cs typeface="+mn-cs"/>
              </a:rPr>
              <a:t>NOP</a:t>
            </a:r>
          </a:p>
          <a:p>
            <a:pPr marL="0" marR="0" lvl="0" indent="0" algn="l" defTabSz="914400" rtl="0" eaLnBrk="1" fontAlgn="base" latinLnBrk="0" hangingPunct="1">
              <a:lnSpc>
                <a:spcPct val="140000"/>
              </a:lnSpc>
              <a:spcBef>
                <a:spcPct val="0"/>
              </a:spcBef>
              <a:spcAft>
                <a:spcPct val="0"/>
              </a:spcAft>
              <a:buClrTx/>
              <a:buSzTx/>
              <a:buFontTx/>
              <a:buNone/>
              <a:defRPr/>
            </a:pPr>
            <a:endParaRPr kumimoji="0" lang="en-US" altLang="zh-CN" sz="2400" b="1" i="0" u="none" strike="noStrike" kern="1200" cap="none" spc="0" normalizeH="0" baseline="0" noProof="1">
              <a:ln>
                <a:noFill/>
              </a:ln>
              <a:gradFill>
                <a:gsLst>
                  <a:gs pos="0">
                    <a:srgbClr val="E30000"/>
                  </a:gs>
                  <a:gs pos="100000">
                    <a:srgbClr val="760303"/>
                  </a:gs>
                </a:gsLst>
                <a:lin scaled="0"/>
              </a:gra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40000"/>
              </a:lnSpc>
              <a:spcBef>
                <a:spcPct val="0"/>
              </a:spcBef>
              <a:spcAft>
                <a:spcPct val="0"/>
              </a:spcAft>
              <a:buClrTx/>
              <a:buSzTx/>
              <a:buFontTx/>
              <a:buNone/>
              <a:defRPr/>
            </a:pPr>
            <a:r>
              <a:rPr kumimoji="0" lang="en-US" altLang="zh-CN" sz="2400" b="1" i="0" u="none" strike="noStrike" kern="1200" cap="none" spc="0" normalizeH="0" baseline="0" noProof="1">
                <a:ln>
                  <a:noFill/>
                </a:ln>
                <a:gradFill>
                  <a:gsLst>
                    <a:gs pos="0">
                      <a:srgbClr val="E30000"/>
                    </a:gs>
                    <a:gs pos="100000">
                      <a:srgbClr val="760303"/>
                    </a:gs>
                  </a:gsLst>
                  <a:lin scaled="0"/>
                </a:gradFill>
                <a:effectLst/>
                <a:uLnTx/>
                <a:uFillTx/>
                <a:latin typeface="Times New Roman" panose="02020603050405020304" pitchFamily="18" charset="0"/>
                <a:ea typeface="宋体" panose="02010600030101010101" pitchFamily="2" charset="-122"/>
                <a:cs typeface="+mn-cs"/>
              </a:rPr>
              <a:t>MOV    ACC</a:t>
            </a:r>
            <a:r>
              <a:rPr kumimoji="0" lang="zh-CN" altLang="en-US" sz="2400" b="1" i="0" u="none" strike="noStrike" kern="1200" cap="none" spc="0" normalizeH="0" baseline="0" noProof="1">
                <a:ln>
                  <a:noFill/>
                </a:ln>
                <a:gradFill>
                  <a:gsLst>
                    <a:gs pos="0">
                      <a:srgbClr val="E30000"/>
                    </a:gs>
                    <a:gs pos="100000">
                      <a:srgbClr val="760303"/>
                    </a:gs>
                  </a:gsLst>
                  <a:lin scaled="0"/>
                </a:gradFill>
                <a:effectLst/>
                <a:uLnTx/>
                <a:uFillTx/>
                <a:latin typeface="Times New Roman" panose="02020603050405020304" pitchFamily="18" charset="0"/>
                <a:ea typeface="宋体" panose="02010600030101010101" pitchFamily="2" charset="-122"/>
                <a:cs typeface="+mn-cs"/>
              </a:rPr>
              <a:t>，</a:t>
            </a:r>
            <a:r>
              <a:rPr kumimoji="0" lang="en-US" altLang="zh-CN" sz="2400" b="1" i="0" u="none" strike="noStrike" kern="1200" cap="none" spc="0" normalizeH="0" baseline="0" noProof="1">
                <a:ln>
                  <a:noFill/>
                </a:ln>
                <a:gradFill>
                  <a:gsLst>
                    <a:gs pos="0">
                      <a:srgbClr val="E30000"/>
                    </a:gs>
                    <a:gs pos="100000">
                      <a:srgbClr val="760303"/>
                    </a:gs>
                  </a:gsLst>
                  <a:lin scaled="0"/>
                </a:gradFill>
                <a:effectLst/>
                <a:uLnTx/>
                <a:uFillTx/>
                <a:latin typeface="Times New Roman" panose="02020603050405020304" pitchFamily="18" charset="0"/>
                <a:ea typeface="宋体" panose="02010600030101010101" pitchFamily="2" charset="-122"/>
                <a:cs typeface="+mn-cs"/>
              </a:rPr>
              <a:t>#20H</a:t>
            </a:r>
          </a:p>
          <a:p>
            <a:pPr marL="0" marR="0" lvl="0" indent="0" algn="l" defTabSz="914400" rtl="0" eaLnBrk="1" fontAlgn="base" latinLnBrk="0" hangingPunct="1">
              <a:lnSpc>
                <a:spcPct val="140000"/>
              </a:lnSpc>
              <a:spcBef>
                <a:spcPct val="0"/>
              </a:spcBef>
              <a:spcAft>
                <a:spcPct val="0"/>
              </a:spcAft>
              <a:buClrTx/>
              <a:buSzTx/>
              <a:buFontTx/>
              <a:buNone/>
              <a:defRPr/>
            </a:pPr>
            <a:r>
              <a:rPr kumimoji="0" lang="en-US" altLang="zh-CN" sz="2400" b="1" i="0" u="none" strike="noStrike" kern="1200" cap="none" spc="0" normalizeH="0" baseline="0" noProof="1">
                <a:ln>
                  <a:noFill/>
                </a:ln>
                <a:solidFill>
                  <a:srgbClr val="4646D2"/>
                </a:solidFill>
                <a:effectLst/>
                <a:uLnTx/>
                <a:uFillTx/>
                <a:latin typeface="Times New Roman" panose="02020603050405020304" pitchFamily="18" charset="0"/>
                <a:ea typeface="宋体" panose="02010600030101010101" pitchFamily="2" charset="-122"/>
                <a:cs typeface="+mn-cs"/>
              </a:rPr>
              <a:t>NOP</a:t>
            </a:r>
          </a:p>
          <a:p>
            <a:pPr marL="0" marR="0" lvl="0" indent="0" algn="l" defTabSz="914400" rtl="0" eaLnBrk="1" fontAlgn="base" latinLnBrk="0" hangingPunct="1">
              <a:lnSpc>
                <a:spcPct val="140000"/>
              </a:lnSpc>
              <a:spcBef>
                <a:spcPct val="0"/>
              </a:spcBef>
              <a:spcAft>
                <a:spcPct val="0"/>
              </a:spcAft>
              <a:buClrTx/>
              <a:buSzTx/>
              <a:buFontTx/>
              <a:buNone/>
              <a:defRPr/>
            </a:pPr>
            <a:r>
              <a:rPr kumimoji="0" lang="en-US" altLang="zh-CN" sz="2400" b="1" i="0" u="none" strike="noStrike" kern="1200" cap="none" spc="0" normalizeH="0" baseline="0" noProof="1">
                <a:ln>
                  <a:noFill/>
                </a:ln>
                <a:solidFill>
                  <a:srgbClr val="4646D2"/>
                </a:solidFill>
                <a:effectLst/>
                <a:uLnTx/>
                <a:uFillTx/>
                <a:latin typeface="Times New Roman" panose="02020603050405020304" pitchFamily="18" charset="0"/>
                <a:ea typeface="宋体" panose="02010600030101010101" pitchFamily="2" charset="-122"/>
                <a:cs typeface="+mn-cs"/>
              </a:rPr>
              <a:t>END	</a:t>
            </a:r>
            <a:endParaRPr kumimoji="0" lang="zh-CN" altLang="en-US" sz="2400" b="1" i="0" u="none" strike="noStrike" kern="1200" cap="none" spc="0" normalizeH="0" baseline="0" noProof="1">
              <a:ln>
                <a:noFill/>
              </a:ln>
              <a:solidFill>
                <a:srgbClr val="4646D2"/>
              </a:solidFill>
              <a:effectLst/>
              <a:uLnTx/>
              <a:uFillTx/>
              <a:latin typeface="Times New Roman" panose="02020603050405020304" pitchFamily="18" charset="0"/>
              <a:ea typeface="宋体" panose="02010600030101010101" pitchFamily="2" charset="-122"/>
              <a:cs typeface="+mn-cs"/>
            </a:endParaRPr>
          </a:p>
        </p:txBody>
      </p:sp>
      <p:sp>
        <p:nvSpPr>
          <p:cNvPr id="3" name="文本框 2"/>
          <p:cNvSpPr txBox="1"/>
          <p:nvPr/>
        </p:nvSpPr>
        <p:spPr>
          <a:xfrm>
            <a:off x="3090863" y="2093913"/>
            <a:ext cx="2763838" cy="1938020"/>
          </a:xfrm>
          <a:prstGeom prst="rect">
            <a:avLst/>
          </a:prstGeom>
          <a:solidFill>
            <a:schemeClr val="accent3">
              <a:lumMod val="95000"/>
            </a:schemeClr>
          </a:solidFill>
        </p:spPr>
        <p:txBody>
          <a:bodyPr>
            <a:spAutoFit/>
          </a:bodyPr>
          <a:lstStyle/>
          <a:p>
            <a:pPr marR="0" defTabSz="914400" eaLnBrk="0" hangingPunct="0">
              <a:buClrTx/>
              <a:buSzTx/>
              <a:buFontTx/>
              <a:defRPr/>
            </a:pPr>
            <a:r>
              <a:rPr kumimoji="0" lang="en-US" altLang="zh-CN" kern="1200" cap="none" spc="0" normalizeH="0" baseline="0" noProof="1">
                <a:latin typeface="Times New Roman" panose="02020603050405020304" pitchFamily="18" charset="0"/>
                <a:ea typeface="宋体" panose="02010600030101010101" pitchFamily="2" charset="-122"/>
                <a:cs typeface="+mn-cs"/>
              </a:rPr>
              <a:t>MOV </a:t>
            </a:r>
            <a:r>
              <a:rPr kumimoji="0" lang="zh-CN" altLang="en-US" kern="1200" cap="none" spc="0" normalizeH="0" baseline="0" noProof="1">
                <a:latin typeface="Times New Roman" panose="02020603050405020304" pitchFamily="18" charset="0"/>
                <a:ea typeface="宋体" panose="02010600030101010101" pitchFamily="2" charset="-122"/>
                <a:cs typeface="+mn-cs"/>
              </a:rPr>
              <a:t> </a:t>
            </a:r>
            <a:r>
              <a:rPr kumimoji="0" lang="en-US" altLang="zh-CN" kern="1200" cap="none" spc="0" normalizeH="0" baseline="0" noProof="1">
                <a:latin typeface="Times New Roman" panose="02020603050405020304" pitchFamily="18" charset="0"/>
                <a:ea typeface="宋体" panose="02010600030101010101" pitchFamily="2" charset="-122"/>
                <a:cs typeface="+mn-cs"/>
              </a:rPr>
              <a:t>A, #data</a:t>
            </a:r>
          </a:p>
          <a:p>
            <a:pPr marR="0" defTabSz="914400" eaLnBrk="0" hangingPunct="0">
              <a:buClrTx/>
              <a:buSzTx/>
              <a:buFontTx/>
              <a:defRPr/>
            </a:pPr>
            <a:endParaRPr kumimoji="0" lang="en-US" altLang="zh-CN" kern="1200" cap="none" spc="0" normalizeH="0" baseline="0" noProof="1">
              <a:latin typeface="Times New Roman" panose="02020603050405020304" pitchFamily="18" charset="0"/>
              <a:ea typeface="宋体" panose="02010600030101010101" pitchFamily="2" charset="-122"/>
              <a:cs typeface="+mn-cs"/>
            </a:endParaRPr>
          </a:p>
          <a:p>
            <a:pPr marR="0" defTabSz="914400" eaLnBrk="0" hangingPunct="0">
              <a:buClrTx/>
              <a:buSzTx/>
              <a:buFontTx/>
              <a:defRPr/>
            </a:pPr>
            <a:endParaRPr kumimoji="0" lang="en-US" altLang="zh-CN" kern="1200" cap="none" spc="0" normalizeH="0" baseline="0" noProof="1">
              <a:latin typeface="Times New Roman" panose="02020603050405020304" pitchFamily="18" charset="0"/>
              <a:ea typeface="宋体" panose="02010600030101010101" pitchFamily="2" charset="-122"/>
              <a:cs typeface="+mn-cs"/>
            </a:endParaRPr>
          </a:p>
          <a:p>
            <a:pPr marR="0" defTabSz="914400" eaLnBrk="0" hangingPunct="0">
              <a:buClrTx/>
              <a:buSzTx/>
              <a:buFontTx/>
              <a:defRPr/>
            </a:pPr>
            <a:endParaRPr kumimoji="0" lang="en-US" altLang="zh-CN" kern="1200" cap="none" spc="0" normalizeH="0" baseline="0" noProof="1">
              <a:latin typeface="Times New Roman" panose="02020603050405020304" pitchFamily="18" charset="0"/>
              <a:ea typeface="宋体" panose="02010600030101010101" pitchFamily="2" charset="-122"/>
              <a:cs typeface="+mn-cs"/>
            </a:endParaRPr>
          </a:p>
          <a:p>
            <a:pPr marR="0" defTabSz="914400" eaLnBrk="0" hangingPunct="0">
              <a:buClrTx/>
              <a:buSzTx/>
              <a:buFontTx/>
              <a:defRPr/>
            </a:pPr>
            <a:r>
              <a:rPr kumimoji="0" lang="en-US" altLang="zh-CN" kern="1200" cap="none" spc="0" normalizeH="0" baseline="0" noProof="1">
                <a:latin typeface="Times New Roman" panose="02020603050405020304" pitchFamily="18" charset="0"/>
                <a:ea typeface="宋体" panose="02010600030101010101" pitchFamily="2" charset="-122"/>
                <a:cs typeface="+mn-cs"/>
              </a:rPr>
              <a:t>MOV  direct, #data</a:t>
            </a:r>
          </a:p>
        </p:txBody>
      </p:sp>
      <p:sp>
        <p:nvSpPr>
          <p:cNvPr id="4" name="文本框 3"/>
          <p:cNvSpPr txBox="1"/>
          <p:nvPr/>
        </p:nvSpPr>
        <p:spPr>
          <a:xfrm>
            <a:off x="6127115" y="2094230"/>
            <a:ext cx="2757170" cy="1938020"/>
          </a:xfrm>
          <a:prstGeom prst="rect">
            <a:avLst/>
          </a:prstGeom>
          <a:solidFill>
            <a:schemeClr val="accent5">
              <a:lumMod val="20000"/>
              <a:lumOff val="80000"/>
            </a:schemeClr>
          </a:solidFill>
        </p:spPr>
        <p:txBody>
          <a:bodyPr wrap="square">
            <a:spAutoFit/>
          </a:bodyPr>
          <a:lstStyle/>
          <a:p>
            <a:pPr marR="0" defTabSz="914400" eaLnBrk="0" hangingPunct="0">
              <a:buClrTx/>
              <a:buSzTx/>
              <a:buFontTx/>
              <a:defRPr/>
            </a:pPr>
            <a:r>
              <a:rPr kumimoji="0" lang="en-US" altLang="zh-CN" kern="1200" cap="none" spc="0" normalizeH="0" baseline="0" noProof="1">
                <a:latin typeface="Times New Roman" panose="02020603050405020304" pitchFamily="18" charset="0"/>
                <a:ea typeface="宋体" panose="02010600030101010101" pitchFamily="2" charset="-122"/>
                <a:cs typeface="+mn-cs"/>
              </a:rPr>
              <a:t>74,20</a:t>
            </a:r>
          </a:p>
          <a:p>
            <a:pPr marR="0" defTabSz="914400" eaLnBrk="0" hangingPunct="0">
              <a:buClrTx/>
              <a:buSzTx/>
              <a:buFontTx/>
              <a:defRPr/>
            </a:pPr>
            <a:endParaRPr kumimoji="0" lang="en-US" altLang="zh-CN" kern="1200" cap="none" spc="0" normalizeH="0" baseline="0" noProof="1">
              <a:latin typeface="Times New Roman" panose="02020603050405020304" pitchFamily="18" charset="0"/>
              <a:ea typeface="宋体" panose="02010600030101010101" pitchFamily="2" charset="-122"/>
              <a:cs typeface="+mn-cs"/>
            </a:endParaRPr>
          </a:p>
          <a:p>
            <a:pPr marR="0" defTabSz="914400" eaLnBrk="0" hangingPunct="0">
              <a:buClrTx/>
              <a:buSzTx/>
              <a:buFontTx/>
              <a:defRPr/>
            </a:pPr>
            <a:endParaRPr kumimoji="0" lang="en-US" altLang="zh-CN" kern="1200" cap="none" spc="0" normalizeH="0" baseline="0" noProof="1">
              <a:latin typeface="Times New Roman" panose="02020603050405020304" pitchFamily="18" charset="0"/>
              <a:ea typeface="宋体" panose="02010600030101010101" pitchFamily="2" charset="-122"/>
              <a:cs typeface="+mn-cs"/>
            </a:endParaRPr>
          </a:p>
          <a:p>
            <a:pPr marR="0" defTabSz="914400" eaLnBrk="0" hangingPunct="0">
              <a:buClrTx/>
              <a:buSzTx/>
              <a:buFontTx/>
              <a:defRPr/>
            </a:pPr>
            <a:endParaRPr kumimoji="0" lang="en-US" altLang="zh-CN" kern="1200" cap="none" spc="0" normalizeH="0" baseline="0" noProof="1">
              <a:latin typeface="Times New Roman" panose="02020603050405020304" pitchFamily="18" charset="0"/>
              <a:ea typeface="宋体" panose="02010600030101010101" pitchFamily="2" charset="-122"/>
              <a:cs typeface="+mn-cs"/>
            </a:endParaRPr>
          </a:p>
          <a:p>
            <a:pPr marR="0" defTabSz="914400" eaLnBrk="0" hangingPunct="0">
              <a:buClrTx/>
              <a:buSzTx/>
              <a:buFontTx/>
              <a:defRPr/>
            </a:pPr>
            <a:r>
              <a:rPr kumimoji="0" lang="en-US" altLang="zh-CN" kern="1200" cap="none" spc="0" normalizeH="0" baseline="0" noProof="1">
                <a:latin typeface="Times New Roman" panose="02020603050405020304" pitchFamily="18" charset="0"/>
                <a:ea typeface="宋体" panose="02010600030101010101" pitchFamily="2" charset="-122"/>
                <a:cs typeface="+mn-cs"/>
              </a:rPr>
              <a:t>75,  0E0</a:t>
            </a:r>
            <a:r>
              <a:rPr kumimoji="0" lang="zh-CN" altLang="en-US" kern="1200" cap="none" spc="0" normalizeH="0" baseline="0" noProof="1">
                <a:latin typeface="Times New Roman" panose="02020603050405020304" pitchFamily="18" charset="0"/>
                <a:ea typeface="宋体" panose="02010600030101010101" pitchFamily="2" charset="-122"/>
                <a:cs typeface="+mn-cs"/>
              </a:rPr>
              <a:t>，</a:t>
            </a:r>
            <a:r>
              <a:rPr kumimoji="0" lang="en-US" altLang="zh-CN" kern="1200" cap="none" spc="0" normalizeH="0" baseline="0" noProof="1">
                <a:latin typeface="Times New Roman" panose="02020603050405020304" pitchFamily="18" charset="0"/>
                <a:ea typeface="宋体" panose="02010600030101010101" pitchFamily="2" charset="-122"/>
                <a:cs typeface="+mn-cs"/>
              </a:rPr>
              <a:t>20</a:t>
            </a:r>
          </a:p>
        </p:txBody>
      </p:sp>
      <p:sp>
        <p:nvSpPr>
          <p:cNvPr id="5" name="文本框 4"/>
          <p:cNvSpPr txBox="1"/>
          <p:nvPr/>
        </p:nvSpPr>
        <p:spPr>
          <a:xfrm>
            <a:off x="6012180" y="620395"/>
            <a:ext cx="3289300" cy="1198563"/>
          </a:xfrm>
          <a:prstGeom prst="rect">
            <a:avLst/>
          </a:prstGeom>
          <a:solidFill>
            <a:schemeClr val="bg1"/>
          </a:solidFill>
          <a:ln w="9525">
            <a:noFill/>
          </a:ln>
        </p:spPr>
        <p:txBody>
          <a:bodyPr anchor="t" anchorCtr="0">
            <a:spAutoFit/>
          </a:bodyPr>
          <a:lstStyle/>
          <a:p>
            <a:pPr eaLnBrk="0" hangingPunct="0"/>
            <a:r>
              <a:rPr lang="zh-CN" altLang="zh-CN" dirty="0">
                <a:latin typeface="Times New Roman" panose="02020603050405020304" pitchFamily="18" charset="0"/>
                <a:ea typeface="宋体" panose="02010600030101010101" pitchFamily="2" charset="-122"/>
              </a:rPr>
              <a:t>附录</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 指令表</a:t>
            </a:r>
          </a:p>
          <a:p>
            <a:pPr eaLnBrk="0" hangingPunct="0"/>
            <a:endParaRPr lang="zh-CN" altLang="zh-CN" dirty="0">
              <a:latin typeface="Times New Roman" panose="02020603050405020304" pitchFamily="18" charset="0"/>
              <a:ea typeface="宋体" panose="02010600030101010101" pitchFamily="2" charset="-122"/>
            </a:endParaRPr>
          </a:p>
          <a:p>
            <a:pPr eaLnBrk="0" hangingPunct="0"/>
            <a:r>
              <a:rPr lang="zh-CN" altLang="zh-CN" dirty="0">
                <a:latin typeface="Times New Roman" panose="02020603050405020304" pitchFamily="18" charset="0"/>
                <a:ea typeface="宋体" panose="02010600030101010101" pitchFamily="2" charset="-122"/>
              </a:rPr>
              <a:t>机器代码</a:t>
            </a:r>
            <a:r>
              <a:rPr lang="en-US" altLang="zh-CN" dirty="0">
                <a:latin typeface="Times New Roman" panose="02020603050405020304" pitchFamily="18" charset="0"/>
                <a:ea typeface="宋体" panose="02010600030101010101" pitchFamily="2" charset="-122"/>
              </a:rPr>
              <a:t>(</a:t>
            </a:r>
            <a:r>
              <a:rPr lang="zh-CN" altLang="zh-CN" dirty="0">
                <a:latin typeface="Times New Roman" panose="02020603050405020304" pitchFamily="18" charset="0"/>
                <a:ea typeface="宋体" panose="02010600030101010101" pitchFamily="2" charset="-122"/>
              </a:rPr>
              <a:t>十六进制</a:t>
            </a:r>
            <a:r>
              <a:rPr lang="en-US" altLang="zh-CN" dirty="0">
                <a:latin typeface="Times New Roman" panose="02020603050405020304" pitchFamily="18" charset="0"/>
                <a:ea typeface="宋体" panose="02010600030101010101" pitchFamily="2" charset="-122"/>
              </a:rPr>
              <a:t>)</a:t>
            </a:r>
            <a:r>
              <a:rPr lang="zh-CN"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39</a:t>
            </a:fld>
            <a:endParaRPr lang="en-US" altLang="zh-CN" sz="1400" b="0" dirty="0"/>
          </a:p>
        </p:txBody>
      </p:sp>
      <p:sp>
        <p:nvSpPr>
          <p:cNvPr id="47106" name="Rectangle 2"/>
          <p:cNvSpPr/>
          <p:nvPr/>
        </p:nvSpPr>
        <p:spPr>
          <a:xfrm>
            <a:off x="228600" y="838200"/>
            <a:ext cx="8763000" cy="5522913"/>
          </a:xfrm>
          <a:prstGeom prst="rect">
            <a:avLst/>
          </a:prstGeom>
          <a:noFill/>
          <a:ln w="9525">
            <a:noFill/>
          </a:ln>
        </p:spPr>
        <p:txBody>
          <a:bodyPr anchor="t" anchorCtr="0">
            <a:spAutoFit/>
          </a:bodyPr>
          <a:lstStyle/>
          <a:p>
            <a:pPr>
              <a:lnSpc>
                <a:spcPct val="135000"/>
              </a:lnSpc>
            </a:pPr>
            <a:r>
              <a:rPr lang="zh-CN" altLang="en-US" dirty="0">
                <a:solidFill>
                  <a:srgbClr val="000000"/>
                </a:solidFill>
                <a:latin typeface="Times New Roman" panose="02020603050405020304" pitchFamily="18" charset="0"/>
                <a:ea typeface="宋体" panose="02010600030101010101" pitchFamily="2" charset="-122"/>
              </a:rPr>
              <a:t>其中：</a:t>
            </a:r>
          </a:p>
          <a:p>
            <a:pPr>
              <a:lnSpc>
                <a:spcPct val="135000"/>
              </a:lnSpc>
            </a:pPr>
            <a:r>
              <a:rPr lang="en-US" altLang="zh-CN" dirty="0">
                <a:solidFill>
                  <a:srgbClr val="FF0000"/>
                </a:solidFill>
                <a:latin typeface="Times New Roman" panose="02020603050405020304" pitchFamily="18" charset="0"/>
                <a:ea typeface="宋体" panose="02010600030101010101" pitchFamily="2" charset="-122"/>
              </a:rPr>
              <a:t>         B</a:t>
            </a:r>
            <a:r>
              <a:rPr lang="zh-CN" altLang="en-US" dirty="0">
                <a:solidFill>
                  <a:srgbClr val="FF0000"/>
                </a:solidFill>
                <a:latin typeface="Times New Roman" panose="02020603050405020304" pitchFamily="18" charset="0"/>
                <a:ea typeface="宋体" panose="02010600030101010101" pitchFamily="2" charset="-122"/>
              </a:rPr>
              <a:t>仅在乘除法指令中为寄存器寻址，在其他指令中为直接寻址。</a:t>
            </a:r>
            <a:r>
              <a:rPr lang="en-US" altLang="zh-CN" dirty="0">
                <a:solidFill>
                  <a:srgbClr val="4646D2"/>
                </a:solidFill>
                <a:latin typeface="Times New Roman" panose="02020603050405020304" pitchFamily="18" charset="0"/>
                <a:ea typeface="宋体" panose="02010600030101010101" pitchFamily="2" charset="-122"/>
              </a:rPr>
              <a:t>A</a:t>
            </a:r>
            <a:r>
              <a:rPr lang="zh-CN" altLang="en-US" dirty="0">
                <a:solidFill>
                  <a:srgbClr val="4646D2"/>
                </a:solidFill>
                <a:latin typeface="Times New Roman" panose="02020603050405020304" pitchFamily="18" charset="0"/>
                <a:ea typeface="宋体" panose="02010600030101010101" pitchFamily="2" charset="-122"/>
              </a:rPr>
              <a:t>既可以是直接寻址，也可以是寄存器寻址。</a:t>
            </a:r>
          </a:p>
          <a:p>
            <a:pPr>
              <a:lnSpc>
                <a:spcPct val="135000"/>
              </a:lnSpc>
            </a:pPr>
            <a:r>
              <a:rPr lang="zh-CN" altLang="en-US" dirty="0">
                <a:solidFill>
                  <a:srgbClr val="000000"/>
                </a:solidFill>
                <a:latin typeface="Times New Roman" panose="02020603050405020304" pitchFamily="18" charset="0"/>
                <a:ea typeface="宋体" panose="02010600030101010101" pitchFamily="2" charset="-122"/>
              </a:rPr>
              <a:t>直接寻址和寄存器寻址的差别在于</a:t>
            </a:r>
            <a:r>
              <a:rPr lang="en-US" altLang="zh-CN" dirty="0">
                <a:solidFill>
                  <a:srgbClr val="000000"/>
                </a:solidFill>
                <a:latin typeface="Times New Roman" panose="02020603050405020304" pitchFamily="18" charset="0"/>
                <a:ea typeface="宋体" panose="02010600030101010101" pitchFamily="2" charset="-122"/>
              </a:rPr>
              <a:t>:</a:t>
            </a:r>
          </a:p>
          <a:p>
            <a:pPr>
              <a:lnSpc>
                <a:spcPct val="135000"/>
              </a:lnSpc>
            </a:pPr>
            <a:r>
              <a:rPr lang="zh-CN" altLang="en-US" dirty="0">
                <a:solidFill>
                  <a:srgbClr val="000000"/>
                </a:solidFill>
                <a:latin typeface="Times New Roman" panose="02020603050405020304" pitchFamily="18" charset="0"/>
                <a:ea typeface="宋体" panose="02010600030101010101" pitchFamily="2" charset="-122"/>
              </a:rPr>
              <a:t>        直接寻址是以操作数所在的单元地址</a:t>
            </a:r>
            <a:r>
              <a:rPr lang="en-US" altLang="zh-CN" dirty="0">
                <a:solidFill>
                  <a:srgbClr val="000000"/>
                </a:solidFill>
                <a:latin typeface="Times New Roman" panose="02020603050405020304" pitchFamily="18" charset="0"/>
                <a:ea typeface="宋体" panose="02010600030101010101" pitchFamily="2" charset="-122"/>
              </a:rPr>
              <a:t>(</a:t>
            </a:r>
            <a:r>
              <a:rPr lang="zh-CN" altLang="en-US" dirty="0">
                <a:solidFill>
                  <a:srgbClr val="000000"/>
                </a:solidFill>
                <a:latin typeface="Times New Roman" panose="02020603050405020304" pitchFamily="18" charset="0"/>
                <a:ea typeface="宋体" panose="02010600030101010101" pitchFamily="2" charset="-122"/>
              </a:rPr>
              <a:t>占一个字节</a:t>
            </a:r>
            <a:r>
              <a:rPr lang="en-US" altLang="zh-CN" dirty="0">
                <a:solidFill>
                  <a:srgbClr val="000000"/>
                </a:solidFill>
                <a:latin typeface="Times New Roman" panose="02020603050405020304" pitchFamily="18" charset="0"/>
                <a:ea typeface="宋体" panose="02010600030101010101" pitchFamily="2" charset="-122"/>
              </a:rPr>
              <a:t>)</a:t>
            </a:r>
            <a:r>
              <a:rPr lang="zh-CN" altLang="en-US" dirty="0">
                <a:solidFill>
                  <a:srgbClr val="000000"/>
                </a:solidFill>
                <a:latin typeface="Times New Roman" panose="02020603050405020304" pitchFamily="18" charset="0"/>
                <a:ea typeface="宋体" panose="02010600030101010101" pitchFamily="2" charset="-122"/>
              </a:rPr>
              <a:t>出现在指令码中，而寄存器寻址是寄存器编码出现在指令码中。</a:t>
            </a:r>
          </a:p>
          <a:p>
            <a:pPr>
              <a:lnSpc>
                <a:spcPct val="135000"/>
              </a:lnSpc>
            </a:pPr>
            <a:r>
              <a:rPr lang="zh-CN" altLang="en-US" dirty="0">
                <a:solidFill>
                  <a:srgbClr val="000000"/>
                </a:solidFill>
                <a:latin typeface="Times New Roman" panose="02020603050405020304" pitchFamily="18" charset="0"/>
                <a:ea typeface="宋体" panose="02010600030101010101" pitchFamily="2" charset="-122"/>
              </a:rPr>
              <a:t>        由于可用作寄存器寻址的寄存器少、编码位数少</a:t>
            </a:r>
            <a:r>
              <a:rPr lang="en-US" altLang="zh-CN" dirty="0">
                <a:solidFill>
                  <a:srgbClr val="000000"/>
                </a:solidFill>
                <a:latin typeface="Times New Roman" panose="02020603050405020304" pitchFamily="18" charset="0"/>
                <a:ea typeface="宋体" panose="02010600030101010101" pitchFamily="2" charset="-122"/>
              </a:rPr>
              <a:t>(</a:t>
            </a:r>
            <a:r>
              <a:rPr lang="zh-CN" altLang="en-US" dirty="0">
                <a:solidFill>
                  <a:srgbClr val="000000"/>
                </a:solidFill>
                <a:latin typeface="Times New Roman" panose="02020603050405020304" pitchFamily="18" charset="0"/>
                <a:ea typeface="宋体" panose="02010600030101010101" pitchFamily="2" charset="-122"/>
              </a:rPr>
              <a:t>少于三位二进制数</a:t>
            </a:r>
            <a:r>
              <a:rPr lang="en-US" altLang="zh-CN" dirty="0">
                <a:solidFill>
                  <a:srgbClr val="000000"/>
                </a:solidFill>
                <a:latin typeface="Times New Roman" panose="02020603050405020304" pitchFamily="18" charset="0"/>
                <a:ea typeface="宋体" panose="02010600030101010101" pitchFamily="2" charset="-122"/>
              </a:rPr>
              <a:t>)</a:t>
            </a:r>
            <a:r>
              <a:rPr lang="zh-CN" altLang="en-US" dirty="0">
                <a:solidFill>
                  <a:srgbClr val="000000"/>
                </a:solidFill>
                <a:latin typeface="Times New Roman" panose="02020603050405020304" pitchFamily="18" charset="0"/>
                <a:ea typeface="宋体" panose="02010600030101010101" pitchFamily="2" charset="-122"/>
              </a:rPr>
              <a:t>，通常操作码和寄存器编码合用一个字节，因此寄存器寻址的指令机器码短，执行快。</a:t>
            </a:r>
          </a:p>
          <a:p>
            <a:pPr>
              <a:lnSpc>
                <a:spcPct val="135000"/>
              </a:lnSpc>
            </a:pPr>
            <a:r>
              <a:rPr lang="zh-CN" altLang="en-US" dirty="0">
                <a:solidFill>
                  <a:srgbClr val="000000"/>
                </a:solidFill>
                <a:latin typeface="Times New Roman" panose="02020603050405020304" pitchFamily="18" charset="0"/>
                <a:ea typeface="宋体" panose="02010600030101010101" pitchFamily="2" charset="-122"/>
              </a:rPr>
              <a:t>        除了上面所指的几个寄存器外的特殊功能寄存器一律属于直接寻址。</a:t>
            </a:r>
            <a:r>
              <a:rPr lang="zh-CN" altLang="en-US" dirty="0">
                <a:latin typeface="Times New Roman" panose="02020603050405020304" pitchFamily="18" charset="0"/>
                <a:ea typeface="宋体" panose="02010600030101010101" pitchFamily="2" charset="-122"/>
              </a:rPr>
              <a:t> </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40</a:t>
            </a:fld>
            <a:endParaRPr lang="en-US" altLang="zh-CN" sz="1400" b="0" dirty="0"/>
          </a:p>
        </p:txBody>
      </p:sp>
      <p:sp>
        <p:nvSpPr>
          <p:cNvPr id="124931" name="Rectangle 3"/>
          <p:cNvSpPr/>
          <p:nvPr/>
        </p:nvSpPr>
        <p:spPr>
          <a:xfrm>
            <a:off x="0" y="908050"/>
            <a:ext cx="8534400" cy="1041400"/>
          </a:xfrm>
          <a:prstGeom prst="rect">
            <a:avLst/>
          </a:prstGeom>
          <a:noFill/>
          <a:ln w="9525">
            <a:noFill/>
          </a:ln>
        </p:spPr>
        <p:txBody>
          <a:bodyPr anchor="t" anchorCtr="0">
            <a:spAutoFit/>
          </a:bodyPr>
          <a:lstStyle/>
          <a:p>
            <a:pPr indent="266700" algn="just">
              <a:lnSpc>
                <a:spcPct val="130000"/>
              </a:lnSpc>
            </a:pP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4</a:t>
            </a:r>
            <a:r>
              <a:rPr lang="zh-CN" altLang="en-US" dirty="0">
                <a:solidFill>
                  <a:srgbClr val="FF0000"/>
                </a:solidFill>
                <a:latin typeface="Times New Roman" panose="02020603050405020304" pitchFamily="18" charset="0"/>
                <a:ea typeface="宋体" panose="02010600030101010101" pitchFamily="2" charset="-122"/>
              </a:rPr>
              <a:t>） 寄存器间接寻址</a:t>
            </a:r>
          </a:p>
          <a:p>
            <a:pPr indent="266700" algn="just">
              <a:lnSpc>
                <a:spcPct val="130000"/>
              </a:lnSpc>
            </a:pPr>
            <a:endParaRPr lang="en-US" altLang="zh-CN" dirty="0">
              <a:solidFill>
                <a:srgbClr val="FF0000"/>
              </a:solidFill>
              <a:latin typeface="宋体" panose="02010600030101010101" pitchFamily="2" charset="-122"/>
              <a:ea typeface="宋体" panose="02010600030101010101" pitchFamily="2" charset="-122"/>
            </a:endParaRPr>
          </a:p>
        </p:txBody>
      </p:sp>
      <p:pic>
        <p:nvPicPr>
          <p:cNvPr id="124933" name="Picture 5" descr="4T7"/>
          <p:cNvPicPr>
            <a:picLocks noChangeAspect="1"/>
          </p:cNvPicPr>
          <p:nvPr/>
        </p:nvPicPr>
        <p:blipFill>
          <a:blip r:embed="rId2"/>
          <a:stretch>
            <a:fillRect/>
          </a:stretch>
        </p:blipFill>
        <p:spPr>
          <a:xfrm>
            <a:off x="5291138" y="1628775"/>
            <a:ext cx="2905125" cy="3382963"/>
          </a:xfrm>
          <a:prstGeom prst="rect">
            <a:avLst/>
          </a:prstGeom>
          <a:noFill/>
          <a:ln w="9525">
            <a:noFill/>
          </a:ln>
        </p:spPr>
      </p:pic>
      <p:sp>
        <p:nvSpPr>
          <p:cNvPr id="124934" name="Rectangle 6"/>
          <p:cNvSpPr/>
          <p:nvPr/>
        </p:nvSpPr>
        <p:spPr>
          <a:xfrm>
            <a:off x="4572000" y="5589588"/>
            <a:ext cx="3513138" cy="822325"/>
          </a:xfrm>
          <a:prstGeom prst="rect">
            <a:avLst/>
          </a:prstGeom>
          <a:noFill/>
          <a:ln w="9525">
            <a:noFill/>
          </a:ln>
        </p:spPr>
        <p:txBody>
          <a:bodyPr wrap="none" anchor="ctr" anchorCtr="0">
            <a:spAutoFit/>
          </a:bodyPr>
          <a:lstStyle/>
          <a:p>
            <a:pPr algn="ctr"/>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4-7  </a:t>
            </a:r>
            <a:r>
              <a:rPr lang="zh-CN" altLang="en-US" dirty="0">
                <a:latin typeface="Times New Roman" panose="02020603050405020304" pitchFamily="18" charset="0"/>
                <a:ea typeface="宋体" panose="02010600030101010101" pitchFamily="2" charset="-122"/>
              </a:rPr>
              <a:t>指令</a:t>
            </a:r>
            <a:r>
              <a:rPr lang="en-US" altLang="zh-CN" dirty="0">
                <a:latin typeface="Times New Roman" panose="02020603050405020304" pitchFamily="18" charset="0"/>
                <a:ea typeface="宋体" panose="02010600030101010101" pitchFamily="2" charset="-122"/>
              </a:rPr>
              <a:t>MOV A, @R0</a:t>
            </a:r>
          </a:p>
          <a:p>
            <a:pPr algn="ct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的操作示意图</a:t>
            </a:r>
          </a:p>
        </p:txBody>
      </p:sp>
      <p:sp>
        <p:nvSpPr>
          <p:cNvPr id="124935" name="Rectangle 7"/>
          <p:cNvSpPr/>
          <p:nvPr/>
        </p:nvSpPr>
        <p:spPr>
          <a:xfrm>
            <a:off x="179388" y="1916113"/>
            <a:ext cx="4540250" cy="566737"/>
          </a:xfrm>
          <a:prstGeom prst="rect">
            <a:avLst/>
          </a:prstGeom>
          <a:noFill/>
          <a:ln w="9525">
            <a:noFill/>
          </a:ln>
        </p:spPr>
        <p:txBody>
          <a:bodyPr wrap="none" anchor="t" anchorCtr="0">
            <a:spAutoFit/>
          </a:bodyPr>
          <a:lstStyle/>
          <a:p>
            <a:pPr eaLnBrk="0" hangingPunct="0">
              <a:lnSpc>
                <a:spcPct val="130000"/>
              </a:lnSpc>
            </a:pPr>
            <a:r>
              <a:rPr lang="en-US" altLang="zh-CN" dirty="0">
                <a:solidFill>
                  <a:srgbClr val="FF0000"/>
                </a:solidFill>
                <a:latin typeface="Times New Roman" panose="02020603050405020304" pitchFamily="18" charset="0"/>
                <a:ea typeface="宋体" panose="02010600030101010101" pitchFamily="2" charset="-122"/>
              </a:rPr>
              <a:t> MOV	A</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R0	</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A←((R0))</a:t>
            </a:r>
          </a:p>
        </p:txBody>
      </p:sp>
      <p:sp>
        <p:nvSpPr>
          <p:cNvPr id="124936" name="Rectangle 8"/>
          <p:cNvSpPr/>
          <p:nvPr/>
        </p:nvSpPr>
        <p:spPr>
          <a:xfrm>
            <a:off x="250825" y="3500438"/>
            <a:ext cx="3927475" cy="457200"/>
          </a:xfrm>
          <a:prstGeom prst="rect">
            <a:avLst/>
          </a:prstGeom>
          <a:noFill/>
          <a:ln w="9525">
            <a:noFill/>
          </a:ln>
        </p:spPr>
        <p:txBody>
          <a:bodyPr wrap="none" anchor="ctr" anchorCtr="0">
            <a:spAutoFit/>
          </a:bodyPr>
          <a:lstStyle/>
          <a:p>
            <a:r>
              <a:rPr lang="zh-CN" altLang="en-US" dirty="0">
                <a:latin typeface="Times New Roman" panose="02020603050405020304" pitchFamily="18" charset="0"/>
                <a:ea typeface="宋体" panose="02010600030101010101" pitchFamily="2" charset="-122"/>
              </a:rPr>
              <a:t>若</a:t>
            </a:r>
            <a:r>
              <a:rPr lang="en-US" altLang="zh-CN" dirty="0">
                <a:latin typeface="Times New Roman" panose="02020603050405020304" pitchFamily="18" charset="0"/>
                <a:ea typeface="宋体" panose="02010600030101010101" pitchFamily="2" charset="-122"/>
              </a:rPr>
              <a:t>(R0) = 34H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(34H) = 56H </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41</a:t>
            </a:fld>
            <a:endParaRPr lang="en-US" altLang="zh-CN" sz="1400" b="0" dirty="0"/>
          </a:p>
        </p:txBody>
      </p:sp>
      <p:sp>
        <p:nvSpPr>
          <p:cNvPr id="214020" name="Rectangle 4"/>
          <p:cNvSpPr/>
          <p:nvPr/>
        </p:nvSpPr>
        <p:spPr>
          <a:xfrm>
            <a:off x="179388" y="981075"/>
            <a:ext cx="8534400" cy="1735138"/>
          </a:xfrm>
          <a:prstGeom prst="rect">
            <a:avLst/>
          </a:prstGeom>
          <a:noFill/>
          <a:ln w="9525">
            <a:noFill/>
          </a:ln>
        </p:spPr>
        <p:txBody>
          <a:bodyPr anchor="t" anchorCtr="0">
            <a:spAutoFit/>
          </a:bodyPr>
          <a:lstStyle/>
          <a:p>
            <a:pPr indent="266700" algn="just">
              <a:lnSpc>
                <a:spcPct val="150000"/>
              </a:lnSpc>
            </a:pPr>
            <a:r>
              <a:rPr lang="zh-CN" altLang="en-US" dirty="0">
                <a:solidFill>
                  <a:srgbClr val="4646D2"/>
                </a:solidFill>
                <a:latin typeface="Times New Roman" panose="02020603050405020304" pitchFamily="18" charset="0"/>
                <a:ea typeface="宋体" panose="02010600030101010101" pitchFamily="2" charset="-122"/>
              </a:rPr>
              <a:t>以寄存器中的内容为地址，以该地址中的内容为操作数的寻址方式称为寄存器间接寻址。</a:t>
            </a:r>
          </a:p>
          <a:p>
            <a:pPr indent="266700" algn="just">
              <a:lnSpc>
                <a:spcPct val="150000"/>
              </a:lnSpc>
            </a:pPr>
            <a:r>
              <a:rPr lang="zh-CN" altLang="en-US" dirty="0">
                <a:solidFill>
                  <a:srgbClr val="4646D2"/>
                </a:solidFill>
                <a:latin typeface="Times New Roman" panose="02020603050405020304" pitchFamily="18" charset="0"/>
                <a:ea typeface="宋体" panose="02010600030101010101" pitchFamily="2" charset="-122"/>
              </a:rPr>
              <a:t>可用的寄存器：</a:t>
            </a:r>
            <a:r>
              <a:rPr lang="en-US" altLang="zh-CN" dirty="0">
                <a:solidFill>
                  <a:srgbClr val="4646D2"/>
                </a:solidFill>
                <a:latin typeface="Times New Roman" panose="02020603050405020304" pitchFamily="18" charset="0"/>
                <a:ea typeface="宋体" panose="02010600030101010101" pitchFamily="2" charset="-122"/>
              </a:rPr>
              <a:t>R0</a:t>
            </a:r>
            <a:r>
              <a:rPr lang="zh-CN" altLang="en-US" dirty="0">
                <a:solidFill>
                  <a:srgbClr val="4646D2"/>
                </a:solidFill>
                <a:latin typeface="Times New Roman" panose="02020603050405020304" pitchFamily="18" charset="0"/>
                <a:ea typeface="宋体" panose="02010600030101010101" pitchFamily="2" charset="-122"/>
              </a:rPr>
              <a:t>、</a:t>
            </a:r>
            <a:r>
              <a:rPr lang="en-US" altLang="zh-CN" dirty="0">
                <a:solidFill>
                  <a:srgbClr val="4646D2"/>
                </a:solidFill>
                <a:latin typeface="Times New Roman" panose="02020603050405020304" pitchFamily="18" charset="0"/>
                <a:ea typeface="宋体" panose="02010600030101010101" pitchFamily="2" charset="-122"/>
              </a:rPr>
              <a:t>R1</a:t>
            </a:r>
            <a:r>
              <a:rPr lang="zh-CN" altLang="en-US" dirty="0">
                <a:solidFill>
                  <a:srgbClr val="4646D2"/>
                </a:solidFill>
                <a:latin typeface="Times New Roman" panose="02020603050405020304" pitchFamily="18" charset="0"/>
                <a:ea typeface="宋体" panose="02010600030101010101" pitchFamily="2" charset="-122"/>
              </a:rPr>
              <a:t>和</a:t>
            </a:r>
            <a:r>
              <a:rPr lang="en-US" altLang="zh-CN" dirty="0">
                <a:solidFill>
                  <a:srgbClr val="4646D2"/>
                </a:solidFill>
                <a:latin typeface="Times New Roman" panose="02020603050405020304" pitchFamily="18" charset="0"/>
                <a:ea typeface="宋体" panose="02010600030101010101" pitchFamily="2" charset="-122"/>
              </a:rPr>
              <a:t>DPTR</a:t>
            </a:r>
            <a:r>
              <a:rPr lang="zh-CN" altLang="en-US" dirty="0">
                <a:solidFill>
                  <a:srgbClr val="4646D2"/>
                </a:solidFill>
                <a:latin typeface="Times New Roman" panose="02020603050405020304" pitchFamily="18" charset="0"/>
                <a:ea typeface="宋体" panose="02010600030101010101" pitchFamily="2" charset="-122"/>
              </a:rPr>
              <a:t>。</a:t>
            </a:r>
            <a:endParaRPr lang="zh-CN" altLang="en-US" dirty="0">
              <a:solidFill>
                <a:srgbClr val="4646D2"/>
              </a:solidFill>
              <a:latin typeface="宋体" panose="02010600030101010101" pitchFamily="2" charset="-122"/>
              <a:ea typeface="宋体" panose="02010600030101010101" pitchFamily="2" charset="-122"/>
            </a:endParaRPr>
          </a:p>
        </p:txBody>
      </p:sp>
      <p:sp>
        <p:nvSpPr>
          <p:cNvPr id="214021" name="Text Box 5"/>
          <p:cNvSpPr txBox="1"/>
          <p:nvPr/>
        </p:nvSpPr>
        <p:spPr>
          <a:xfrm>
            <a:off x="179388" y="2924175"/>
            <a:ext cx="8280400" cy="1552575"/>
          </a:xfrm>
          <a:prstGeom prst="rect">
            <a:avLst/>
          </a:prstGeom>
          <a:noFill/>
          <a:ln w="9525">
            <a:noFill/>
          </a:ln>
        </p:spPr>
        <p:txBody>
          <a:bodyPr anchor="t" anchorCtr="0">
            <a:spAutoFit/>
          </a:bodyPr>
          <a:lstStyle/>
          <a:p>
            <a:pPr>
              <a:spcBef>
                <a:spcPct val="50000"/>
              </a:spcBef>
            </a:pPr>
            <a:r>
              <a:rPr lang="zh-CN" altLang="en-US" dirty="0">
                <a:latin typeface="Times New Roman" panose="02020603050405020304" pitchFamily="18" charset="0"/>
                <a:ea typeface="宋体" panose="02010600030101010101" pitchFamily="2" charset="-122"/>
              </a:rPr>
              <a:t>寄存器间接寻址的寻址范围为</a:t>
            </a:r>
            <a:r>
              <a:rPr lang="zh-CN" altLang="en-US" dirty="0">
                <a:solidFill>
                  <a:srgbClr val="FF0000"/>
                </a:solidFill>
                <a:latin typeface="Times New Roman" panose="02020603050405020304" pitchFamily="18" charset="0"/>
                <a:ea typeface="宋体" panose="02010600030101010101" pitchFamily="2" charset="-122"/>
              </a:rPr>
              <a:t>片内</a:t>
            </a:r>
            <a:r>
              <a:rPr lang="en-US" altLang="zh-CN" dirty="0">
                <a:solidFill>
                  <a:srgbClr val="FF0000"/>
                </a:solidFill>
                <a:latin typeface="Times New Roman" panose="02020603050405020304" pitchFamily="18" charset="0"/>
                <a:ea typeface="宋体" panose="02010600030101010101" pitchFamily="2" charset="-122"/>
              </a:rPr>
              <a:t>RAM</a:t>
            </a:r>
            <a:r>
              <a:rPr lang="zh-CN" altLang="en-US" dirty="0">
                <a:solidFill>
                  <a:srgbClr val="FF0000"/>
                </a:solidFill>
                <a:latin typeface="Times New Roman" panose="02020603050405020304" pitchFamily="18" charset="0"/>
                <a:ea typeface="宋体" panose="02010600030101010101" pitchFamily="2" charset="-122"/>
              </a:rPr>
              <a:t>和片外</a:t>
            </a:r>
            <a:r>
              <a:rPr lang="en-US" altLang="zh-CN" dirty="0">
                <a:solidFill>
                  <a:srgbClr val="FF0000"/>
                </a:solidFill>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a:t>
            </a:r>
          </a:p>
          <a:p>
            <a:pPr>
              <a:spcBef>
                <a:spcPct val="50000"/>
              </a:spcBef>
            </a:pPr>
            <a:r>
              <a:rPr lang="zh-CN" altLang="en-US" dirty="0">
                <a:latin typeface="Times New Roman" panose="02020603050405020304" pitchFamily="18" charset="0"/>
                <a:ea typeface="宋体" panose="02010600030101010101" pitchFamily="2" charset="-122"/>
              </a:rPr>
              <a:t>               若</a:t>
            </a:r>
            <a:r>
              <a:rPr lang="en-US" altLang="zh-CN" dirty="0">
                <a:latin typeface="Times New Roman" panose="02020603050405020304" pitchFamily="18" charset="0"/>
                <a:ea typeface="宋体" panose="02010600030101010101" pitchFamily="2" charset="-122"/>
              </a:rPr>
              <a:t>(R0)= 34H ,     </a:t>
            </a:r>
          </a:p>
          <a:p>
            <a:pPr>
              <a:spcBef>
                <a:spcPct val="50000"/>
              </a:spcBef>
            </a:pPr>
            <a:r>
              <a:rPr lang="en-US" altLang="zh-CN" dirty="0">
                <a:latin typeface="Times New Roman" panose="02020603050405020304" pitchFamily="18" charset="0"/>
                <a:ea typeface="宋体" panose="02010600030101010101" pitchFamily="2" charset="-122"/>
              </a:rPr>
              <a:t>                                 MOVX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@R0 ;  </a:t>
            </a:r>
          </a:p>
        </p:txBody>
      </p:sp>
      <p:sp>
        <p:nvSpPr>
          <p:cNvPr id="214022" name="Rectangle 6"/>
          <p:cNvSpPr/>
          <p:nvPr/>
        </p:nvSpPr>
        <p:spPr>
          <a:xfrm>
            <a:off x="1258888" y="5178425"/>
            <a:ext cx="5400675" cy="461963"/>
          </a:xfrm>
          <a:prstGeom prst="rect">
            <a:avLst/>
          </a:prstGeom>
          <a:noFill/>
          <a:ln w="9525">
            <a:noFill/>
          </a:ln>
        </p:spPr>
        <p:txBody>
          <a:bodyPr anchor="ctr" anchorCtr="0">
            <a:spAutoFit/>
          </a:bodyPr>
          <a:lstStyle/>
          <a:p>
            <a:r>
              <a:rPr lang="zh-CN" altLang="en-US" dirty="0">
                <a:latin typeface="Times New Roman" panose="02020603050405020304" pitchFamily="18" charset="0"/>
                <a:ea typeface="宋体" panose="02010600030101010101" pitchFamily="2" charset="-122"/>
              </a:rPr>
              <a:t>将外部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中</a:t>
            </a:r>
            <a:r>
              <a:rPr lang="en-US" altLang="zh-CN" dirty="0">
                <a:latin typeface="Times New Roman" panose="02020603050405020304" pitchFamily="18" charset="0"/>
                <a:ea typeface="宋体" panose="02010600030101010101" pitchFamily="2" charset="-122"/>
              </a:rPr>
              <a:t>34H</a:t>
            </a:r>
            <a:r>
              <a:rPr lang="zh-CN" altLang="en-US" dirty="0">
                <a:latin typeface="Times New Roman" panose="02020603050405020304" pitchFamily="18" charset="0"/>
                <a:ea typeface="宋体" panose="02010600030101010101" pitchFamily="2" charset="-122"/>
              </a:rPr>
              <a:t>单元的内容送给</a:t>
            </a:r>
            <a:r>
              <a:rPr lang="en-US" altLang="zh-CN" dirty="0">
                <a:latin typeface="Times New Roman" panose="02020603050405020304" pitchFamily="18" charset="0"/>
                <a:ea typeface="宋体" panose="02010600030101010101" pitchFamily="2" charset="-122"/>
              </a:rPr>
              <a:t>A </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42</a:t>
            </a:fld>
            <a:endParaRPr lang="en-US" altLang="zh-CN" sz="1400" b="0" dirty="0"/>
          </a:p>
        </p:txBody>
      </p:sp>
      <p:sp>
        <p:nvSpPr>
          <p:cNvPr id="47107" name="Rectangle 2"/>
          <p:cNvSpPr>
            <a:spLocks noChangeArrowheads="1"/>
          </p:cNvSpPr>
          <p:nvPr/>
        </p:nvSpPr>
        <p:spPr bwMode="auto">
          <a:xfrm>
            <a:off x="214306" y="714374"/>
            <a:ext cx="8929694" cy="3448685"/>
          </a:xfrm>
          <a:prstGeom prst="rect">
            <a:avLst/>
          </a:prstGeom>
          <a:solidFill>
            <a:schemeClr val="accent5">
              <a:lumMod val="20000"/>
              <a:lumOff val="80000"/>
            </a:schemeClr>
          </a:solidFill>
          <a:ln w="9525">
            <a:noFill/>
            <a:miter lim="800000"/>
          </a:ln>
        </p:spPr>
        <p:txBody>
          <a:bodyPr>
            <a:spAutoFit/>
          </a:bodyPr>
          <a:lstStyle/>
          <a:p>
            <a:pPr marL="0" marR="0" lvl="0" indent="0" algn="l" defTabSz="914400" rtl="0" eaLnBrk="1" fontAlgn="base" latinLnBrk="0" hangingPunct="1">
              <a:lnSpc>
                <a:spcPct val="13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寄存器间接寻址的寻址范围：</a:t>
            </a:r>
            <a:r>
              <a:rPr kumimoji="1" lang="zh-CN" altLang="en-US" sz="2400" b="1" i="0" u="none" strike="noStrike" kern="1200" cap="none" spc="0" normalizeH="0" baseline="0" noProof="0" dirty="0">
                <a:ln>
                  <a:noFill/>
                </a:ln>
                <a:gradFill>
                  <a:gsLst>
                    <a:gs pos="0">
                      <a:srgbClr val="E30000"/>
                    </a:gs>
                    <a:gs pos="100000">
                      <a:srgbClr val="760303"/>
                    </a:gs>
                  </a:gsLst>
                  <a:lin scaled="0"/>
                </a:gradFill>
                <a:effectLst/>
                <a:uLnTx/>
                <a:uFillTx/>
                <a:latin typeface="宋体" panose="02010600030101010101" pitchFamily="2" charset="-122"/>
                <a:ea typeface="宋体" panose="02010600030101010101" pitchFamily="2" charset="-122"/>
                <a:cs typeface="+mn-cs"/>
              </a:rPr>
              <a:t>片内</a:t>
            </a:r>
            <a:r>
              <a:rPr kumimoji="1" lang="en-US" altLang="zh-CN" sz="2400" b="1" i="0" u="none" strike="noStrike" kern="1200" cap="none" spc="0" normalizeH="0" baseline="0" noProof="0" dirty="0">
                <a:ln>
                  <a:noFill/>
                </a:ln>
                <a:gradFill>
                  <a:gsLst>
                    <a:gs pos="0">
                      <a:srgbClr val="E30000"/>
                    </a:gs>
                    <a:gs pos="100000">
                      <a:srgbClr val="760303"/>
                    </a:gs>
                  </a:gsLst>
                  <a:lin scaled="0"/>
                </a:gradFill>
                <a:effectLst/>
                <a:uLnTx/>
                <a:uFillTx/>
                <a:latin typeface="Times New Roman" panose="02020603050405020304" pitchFamily="18" charset="0"/>
                <a:ea typeface="宋体" panose="02010600030101010101" pitchFamily="2" charset="-122"/>
                <a:cs typeface="+mn-cs"/>
              </a:rPr>
              <a:t>RAM</a:t>
            </a:r>
            <a:r>
              <a:rPr kumimoji="1" lang="zh-CN" altLang="en-US" sz="2400" b="1" i="0" u="none" strike="noStrike" kern="1200" cap="none" spc="0" normalizeH="0" baseline="0" noProof="0" dirty="0">
                <a:ln>
                  <a:noFill/>
                </a:ln>
                <a:gradFill>
                  <a:gsLst>
                    <a:gs pos="0">
                      <a:srgbClr val="E30000"/>
                    </a:gs>
                    <a:gs pos="100000">
                      <a:srgbClr val="760303"/>
                    </a:gs>
                  </a:gsLst>
                  <a:lin scaled="0"/>
                </a:gradFill>
                <a:effectLst/>
                <a:uLnTx/>
                <a:uFillTx/>
                <a:latin typeface="宋体" panose="02010600030101010101" pitchFamily="2" charset="-122"/>
                <a:ea typeface="宋体" panose="02010600030101010101" pitchFamily="2" charset="-122"/>
                <a:cs typeface="+mn-cs"/>
              </a:rPr>
              <a:t>和片外</a:t>
            </a:r>
            <a:r>
              <a:rPr kumimoji="1" lang="en-US" altLang="zh-CN" sz="2400" b="1" i="0" u="none" strike="noStrike" kern="1200" cap="none" spc="0" normalizeH="0" baseline="0" noProof="0" dirty="0">
                <a:ln>
                  <a:noFill/>
                </a:ln>
                <a:gradFill>
                  <a:gsLst>
                    <a:gs pos="0">
                      <a:srgbClr val="E30000"/>
                    </a:gs>
                    <a:gs pos="100000">
                      <a:srgbClr val="760303"/>
                    </a:gs>
                  </a:gsLst>
                  <a:lin scaled="0"/>
                </a:gradFill>
                <a:effectLst/>
                <a:uLnTx/>
                <a:uFillTx/>
                <a:latin typeface="Times New Roman" panose="02020603050405020304" pitchFamily="18" charset="0"/>
                <a:ea typeface="宋体" panose="02010600030101010101" pitchFamily="2" charset="-122"/>
                <a:cs typeface="+mn-cs"/>
              </a:rPr>
              <a:t>RAM</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1" fontAlgn="base" latinLnBrk="0" hangingPunct="1">
              <a:lnSpc>
                <a:spcPct val="13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chemeClr val="accent2"/>
                </a:solidFill>
                <a:effectLst/>
                <a:uLnTx/>
                <a:uFillTx/>
                <a:latin typeface="宋体" panose="02010600030101010101" pitchFamily="2" charset="-122"/>
                <a:ea typeface="宋体" panose="02010600030101010101" pitchFamily="2" charset="-122"/>
                <a:cs typeface="+mn-cs"/>
              </a:rPr>
              <a:t>当寻址片内</a:t>
            </a:r>
            <a:r>
              <a:rPr kumimoji="1" lang="en-US" altLang="zh-CN" sz="2400" b="1" i="0" u="none" strike="noStrike" kern="1200" cap="none" spc="0" normalizeH="0" baseline="0" noProof="0" dirty="0">
                <a:ln>
                  <a:noFill/>
                </a:ln>
                <a:solidFill>
                  <a:schemeClr val="accent2"/>
                </a:solidFill>
                <a:effectLst/>
                <a:uLnTx/>
                <a:uFillTx/>
                <a:latin typeface="Times New Roman" panose="02020603050405020304" pitchFamily="18" charset="0"/>
                <a:ea typeface="宋体" panose="02010600030101010101" pitchFamily="2" charset="-122"/>
                <a:cs typeface="+mn-cs"/>
              </a:rPr>
              <a:t>RAM</a:t>
            </a:r>
            <a:r>
              <a:rPr kumimoji="1" lang="zh-CN" altLang="en-US" sz="2400" b="1" i="0" u="none" strike="noStrike" kern="1200" cap="none" spc="0" normalizeH="0" baseline="0" noProof="0" dirty="0">
                <a:ln>
                  <a:noFill/>
                </a:ln>
                <a:solidFill>
                  <a:schemeClr val="accent2"/>
                </a:solidFill>
                <a:effectLst/>
                <a:uLnTx/>
                <a:uFillTx/>
                <a:latin typeface="宋体" panose="02010600030101010101" pitchFamily="2" charset="-122"/>
                <a:ea typeface="宋体" panose="02010600030101010101" pitchFamily="2" charset="-122"/>
                <a:cs typeface="+mn-cs"/>
              </a:rPr>
              <a:t>时，使用</a:t>
            </a:r>
            <a:r>
              <a:rPr kumimoji="1" lang="en-US" altLang="zh-CN" sz="2400" b="1" i="0" u="none" strike="noStrike" kern="1200" cap="none" spc="0" normalizeH="0" baseline="0" noProof="0" dirty="0">
                <a:ln>
                  <a:noFill/>
                </a:ln>
                <a:solidFill>
                  <a:schemeClr val="accent2"/>
                </a:solidFill>
                <a:effectLst/>
                <a:uLnTx/>
                <a:uFillTx/>
                <a:latin typeface="Times New Roman" panose="02020603050405020304" pitchFamily="18" charset="0"/>
                <a:ea typeface="宋体" panose="02010600030101010101" pitchFamily="2" charset="-122"/>
                <a:cs typeface="+mn-cs"/>
              </a:rPr>
              <a:t>R0</a:t>
            </a:r>
            <a:r>
              <a:rPr kumimoji="1" lang="zh-CN" altLang="en-US" sz="2400" b="1" i="0" u="none" strike="noStrike" kern="1200" cap="none" spc="0" normalizeH="0" baseline="0" noProof="0" dirty="0">
                <a:ln>
                  <a:noFill/>
                </a:ln>
                <a:solidFill>
                  <a:schemeClr val="accent2"/>
                </a:solidFill>
                <a:effectLst/>
                <a:uLnTx/>
                <a:uFillTx/>
                <a:latin typeface="宋体" panose="02010600030101010101" pitchFamily="2" charset="-122"/>
                <a:ea typeface="宋体" panose="02010600030101010101" pitchFamily="2" charset="-122"/>
                <a:cs typeface="+mn-cs"/>
              </a:rPr>
              <a:t>或</a:t>
            </a:r>
            <a:r>
              <a:rPr kumimoji="1" lang="en-US" altLang="zh-CN" sz="2400" b="1" i="0" u="none" strike="noStrike" kern="1200" cap="none" spc="0" normalizeH="0" baseline="0" noProof="0" dirty="0">
                <a:ln>
                  <a:noFill/>
                </a:ln>
                <a:solidFill>
                  <a:schemeClr val="accent2"/>
                </a:solidFill>
                <a:effectLst/>
                <a:uLnTx/>
                <a:uFillTx/>
                <a:latin typeface="Times New Roman" panose="02020603050405020304" pitchFamily="18" charset="0"/>
                <a:ea typeface="宋体" panose="02010600030101010101" pitchFamily="2" charset="-122"/>
                <a:cs typeface="+mn-cs"/>
              </a:rPr>
              <a:t>R1</a:t>
            </a:r>
            <a:r>
              <a:rPr kumimoji="1" lang="zh-CN" altLang="en-US" sz="2400" b="1" i="0" u="none" strike="noStrike" kern="1200" cap="none" spc="0" normalizeH="0" baseline="0" noProof="0" dirty="0">
                <a:ln>
                  <a:noFill/>
                </a:ln>
                <a:solidFill>
                  <a:schemeClr val="accent2"/>
                </a:solidFill>
                <a:effectLst/>
                <a:uLnTx/>
                <a:uFillTx/>
                <a:latin typeface="宋体" panose="02010600030101010101" pitchFamily="2" charset="-122"/>
                <a:ea typeface="宋体" panose="02010600030101010101" pitchFamily="2" charset="-122"/>
                <a:cs typeface="+mn-cs"/>
              </a:rPr>
              <a:t>作间址寄存器，其通用形式为</a:t>
            </a:r>
            <a:r>
              <a:rPr kumimoji="1" lang="zh-CN" altLang="en-US" sz="2400" b="1" i="0" u="none" strike="noStrike" kern="1200" cap="none" spc="0" normalizeH="0" baseline="0" noProof="0" dirty="0">
                <a:ln>
                  <a:noFill/>
                </a:ln>
                <a:solidFill>
                  <a:schemeClr val="accent2"/>
                </a:solidFill>
                <a:effectLst/>
                <a:uLnTx/>
                <a:uFillTx/>
                <a:latin typeface="Times New Roman" panose="02020603050405020304" pitchFamily="18" charset="0"/>
                <a:ea typeface="宋体" panose="02010600030101010101" pitchFamily="2" charset="-122"/>
                <a:cs typeface="+mn-cs"/>
              </a:rPr>
              <a:t> </a:t>
            </a:r>
            <a:r>
              <a:rPr kumimoji="1" lang="en-US" altLang="zh-CN" sz="2400" b="1" i="0" u="none" strike="noStrike" kern="1200" cap="none" spc="0" normalizeH="0" baseline="0" noProof="0" dirty="0">
                <a:ln>
                  <a:noFill/>
                </a:ln>
                <a:solidFill>
                  <a:schemeClr val="accent2"/>
                </a:solidFill>
                <a:effectLst/>
                <a:uLnTx/>
                <a:uFillTx/>
                <a:latin typeface="Times New Roman" panose="02020603050405020304" pitchFamily="18" charset="0"/>
                <a:ea typeface="宋体" panose="02010600030101010101" pitchFamily="2" charset="-122"/>
                <a:cs typeface="+mn-cs"/>
              </a:rPr>
              <a:t>@</a:t>
            </a:r>
            <a:r>
              <a:rPr kumimoji="1" lang="en-US" altLang="zh-CN" sz="2400" b="1" i="0" u="none" strike="noStrike" kern="1200" cap="none" spc="0" normalizeH="0" baseline="0" noProof="0" dirty="0" err="1">
                <a:ln>
                  <a:noFill/>
                </a:ln>
                <a:solidFill>
                  <a:schemeClr val="accent2"/>
                </a:solidFill>
                <a:effectLst/>
                <a:uLnTx/>
                <a:uFillTx/>
                <a:latin typeface="Times New Roman" panose="02020603050405020304" pitchFamily="18" charset="0"/>
                <a:ea typeface="宋体" panose="02010600030101010101" pitchFamily="2" charset="-122"/>
                <a:cs typeface="+mn-cs"/>
              </a:rPr>
              <a:t>Ri</a:t>
            </a:r>
            <a:r>
              <a:rPr kumimoji="1" lang="zh-CN" altLang="en-US" sz="2400" b="1" i="0" u="none" strike="noStrike" kern="1200" cap="none" spc="0" normalizeH="0" baseline="0" noProof="0" dirty="0">
                <a:ln>
                  <a:noFill/>
                </a:ln>
                <a:solidFill>
                  <a:schemeClr val="accent2"/>
                </a:solidFill>
                <a:effectLst/>
                <a:uLnTx/>
                <a:uFillTx/>
                <a:latin typeface="Times New Roman" panose="02020603050405020304" pitchFamily="18" charset="0"/>
                <a:ea typeface="宋体" panose="02010600030101010101" pitchFamily="2" charset="-122"/>
                <a:cs typeface="+mn-cs"/>
              </a:rPr>
              <a:t>（</a:t>
            </a:r>
            <a:r>
              <a:rPr kumimoji="1" lang="en-US" altLang="zh-CN" sz="2400" b="1" i="0" u="none" strike="noStrike" kern="1200" cap="none" spc="0" normalizeH="0" baseline="0" noProof="0" dirty="0" err="1">
                <a:ln>
                  <a:noFill/>
                </a:ln>
                <a:solidFill>
                  <a:schemeClr val="accent2"/>
                </a:solidFill>
                <a:effectLst/>
                <a:uLnTx/>
                <a:uFillTx/>
                <a:latin typeface="Times New Roman" panose="02020603050405020304" pitchFamily="18" charset="0"/>
                <a:ea typeface="宋体" panose="02010600030101010101" pitchFamily="2" charset="-122"/>
                <a:cs typeface="+mn-cs"/>
              </a:rPr>
              <a:t>i</a:t>
            </a:r>
            <a:r>
              <a:rPr kumimoji="1" lang="en-US" altLang="zh-CN" sz="2400" b="1" i="0" u="none" strike="noStrike" kern="1200" cap="none" spc="0" normalizeH="0" baseline="0" noProof="0" dirty="0">
                <a:ln>
                  <a:noFill/>
                </a:ln>
                <a:solidFill>
                  <a:schemeClr val="accent2"/>
                </a:solidFill>
                <a:effectLst/>
                <a:uLnTx/>
                <a:uFillTx/>
                <a:latin typeface="Times New Roman" panose="02020603050405020304" pitchFamily="18" charset="0"/>
                <a:ea typeface="宋体" panose="02010600030101010101" pitchFamily="2" charset="-122"/>
                <a:cs typeface="+mn-cs"/>
              </a:rPr>
              <a:t>=0</a:t>
            </a:r>
            <a:r>
              <a:rPr kumimoji="1" lang="zh-CN" altLang="en-US" sz="2400" b="1" i="0" u="none" strike="noStrike" kern="1200" cap="none" spc="0" normalizeH="0" baseline="0" noProof="0" dirty="0">
                <a:ln>
                  <a:noFill/>
                </a:ln>
                <a:solidFill>
                  <a:schemeClr val="accent2"/>
                </a:solidFill>
                <a:effectLst/>
                <a:uLnTx/>
                <a:uFillTx/>
                <a:latin typeface="宋体" panose="02010600030101010101" pitchFamily="2" charset="-122"/>
                <a:ea typeface="宋体" panose="02010600030101010101" pitchFamily="2" charset="-122"/>
                <a:cs typeface="+mn-cs"/>
              </a:rPr>
              <a:t>或</a:t>
            </a:r>
            <a:r>
              <a:rPr kumimoji="1" lang="en-US" altLang="zh-CN" sz="2400" b="1" i="0" u="none" strike="noStrike" kern="1200" cap="none" spc="0" normalizeH="0" baseline="0" noProof="0" dirty="0">
                <a:ln>
                  <a:noFill/>
                </a:ln>
                <a:solidFill>
                  <a:schemeClr val="accent2"/>
                </a:solidFill>
                <a:effectLst/>
                <a:uLnTx/>
                <a:uFillTx/>
                <a:latin typeface="Times New Roman" panose="02020603050405020304" pitchFamily="18" charset="0"/>
                <a:ea typeface="宋体" panose="02010600030101010101" pitchFamily="2" charset="-122"/>
                <a:cs typeface="+mn-cs"/>
              </a:rPr>
              <a:t>1</a:t>
            </a:r>
            <a:r>
              <a:rPr kumimoji="1" lang="zh-CN" altLang="en-US" sz="2400" b="1" i="0" u="none" strike="noStrike" kern="1200" cap="none" spc="0" normalizeH="0" baseline="0" noProof="0" dirty="0">
                <a:ln>
                  <a:noFill/>
                </a:ln>
                <a:solidFill>
                  <a:schemeClr val="accent2"/>
                </a:solidFill>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dirty="0">
                <a:ln>
                  <a:noFill/>
                </a:ln>
                <a:solidFill>
                  <a:schemeClr val="accent2"/>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1" fontAlgn="base" latinLnBrk="0" hangingPunct="1">
              <a:lnSpc>
                <a:spcPct val="13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当寻址片外</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RAM</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时，使用</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DPTR</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作间址寄存器，其通用形式为</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@DPTR</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endParaRPr kumimoji="1" lang="en-US" altLang="zh-CN"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当寻址片外</a:t>
            </a:r>
            <a:r>
              <a:rPr kumimoji="1" lang="zh-CN" altLang="en-US"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n-cs"/>
              </a:rPr>
              <a:t>时若使用</a:t>
            </a:r>
            <a:r>
              <a:rPr kumimoji="1" lang="en-US" altLang="zh-CN"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n-cs"/>
              </a:rPr>
              <a:t>R0</a:t>
            </a:r>
            <a:r>
              <a:rPr kumimoji="1" lang="zh-CN" altLang="en-US"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n-cs"/>
              </a:rPr>
              <a:t>和</a:t>
            </a:r>
            <a:r>
              <a:rPr kumimoji="1" lang="en-US" altLang="zh-CN"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n-cs"/>
              </a:rPr>
              <a:t>R1</a:t>
            </a:r>
            <a:r>
              <a:rPr kumimoji="1" lang="zh-CN" altLang="en-US"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n-cs"/>
              </a:rPr>
              <a:t>作间址寄存器，则该地址对应低</a:t>
            </a:r>
            <a:r>
              <a:rPr kumimoji="1" lang="en-US" altLang="zh-CN"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n-cs"/>
              </a:rPr>
              <a:t>8</a:t>
            </a:r>
            <a:r>
              <a:rPr kumimoji="1" lang="zh-CN" altLang="en-US"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n-cs"/>
              </a:rPr>
              <a:t>位地址。</a:t>
            </a:r>
          </a:p>
        </p:txBody>
      </p:sp>
      <p:sp>
        <p:nvSpPr>
          <p:cNvPr id="2" name="文本框 1"/>
          <p:cNvSpPr txBox="1"/>
          <p:nvPr/>
        </p:nvSpPr>
        <p:spPr>
          <a:xfrm>
            <a:off x="287338" y="4260850"/>
            <a:ext cx="8661400" cy="1754188"/>
          </a:xfrm>
          <a:prstGeom prst="rect">
            <a:avLst/>
          </a:prstGeom>
          <a:solidFill>
            <a:schemeClr val="accent3">
              <a:lumMod val="95000"/>
            </a:schemeClr>
          </a:solidFill>
        </p:spPr>
        <p:txBody>
          <a:bodyPr>
            <a:spAutoFit/>
          </a:bodyPr>
          <a:lstStyle/>
          <a:p>
            <a:pPr marR="0" defTabSz="914400" eaLnBrk="0" hangingPunct="0">
              <a:lnSpc>
                <a:spcPct val="150000"/>
              </a:lnSpc>
              <a:buClrTx/>
              <a:buSzTx/>
              <a:buFontTx/>
              <a:defRPr/>
            </a:pPr>
            <a:r>
              <a:rPr kumimoji="0" lang="zh-CN" altLang="en-US" kern="1200" cap="none" spc="0" normalizeH="0" baseline="0" noProof="1">
                <a:latin typeface="Times New Roman" panose="02020603050405020304" pitchFamily="18" charset="0"/>
                <a:ea typeface="宋体" panose="02010600030101010101" pitchFamily="2" charset="-122"/>
                <a:cs typeface="+mn-cs"/>
              </a:rPr>
              <a:t>若</a:t>
            </a:r>
            <a:r>
              <a:rPr kumimoji="1" lang="en-US" altLang="zh-CN" kern="1200" cap="none" spc="0" normalizeH="0" baseline="0" noProof="0" dirty="0">
                <a:solidFill>
                  <a:srgbClr val="000000"/>
                </a:solidFill>
                <a:latin typeface="+mj-lt"/>
                <a:ea typeface="宋体" panose="02010600030101010101" pitchFamily="2" charset="-122"/>
                <a:cs typeface="+mn-cs"/>
                <a:sym typeface="+mn-ea"/>
              </a:rPr>
              <a:t>R0</a:t>
            </a:r>
            <a:r>
              <a:rPr kumimoji="1" lang="zh-CN" altLang="en-US" kern="1200" cap="none" spc="0" normalizeH="0" baseline="0" noProof="0" dirty="0">
                <a:solidFill>
                  <a:srgbClr val="000000"/>
                </a:solidFill>
                <a:latin typeface="+mj-lt"/>
                <a:ea typeface="宋体" panose="02010600030101010101" pitchFamily="2" charset="-122"/>
                <a:cs typeface="+mn-cs"/>
                <a:sym typeface="+mn-ea"/>
              </a:rPr>
              <a:t>和</a:t>
            </a:r>
            <a:r>
              <a:rPr kumimoji="1" lang="en-US" altLang="zh-CN" kern="1200" cap="none" spc="0" normalizeH="0" baseline="0" noProof="0" dirty="0">
                <a:solidFill>
                  <a:srgbClr val="000000"/>
                </a:solidFill>
                <a:latin typeface="+mj-lt"/>
                <a:ea typeface="宋体" panose="02010600030101010101" pitchFamily="2" charset="-122"/>
                <a:cs typeface="+mn-cs"/>
                <a:sym typeface="+mn-ea"/>
              </a:rPr>
              <a:t>R1</a:t>
            </a:r>
            <a:r>
              <a:rPr kumimoji="1" lang="zh-CN" altLang="en-US" kern="1200" cap="none" spc="0" normalizeH="0" baseline="0" noProof="0" dirty="0">
                <a:solidFill>
                  <a:srgbClr val="000000"/>
                </a:solidFill>
                <a:latin typeface="+mj-lt"/>
                <a:ea typeface="宋体" panose="02010600030101010101" pitchFamily="2" charset="-122"/>
                <a:cs typeface="+mn-cs"/>
                <a:sym typeface="+mn-ea"/>
              </a:rPr>
              <a:t>作间址寄存器，则（</a:t>
            </a:r>
            <a:r>
              <a:rPr kumimoji="1" lang="en-US" altLang="zh-CN" kern="1200" cap="none" spc="0" normalizeH="0" baseline="0" noProof="0" dirty="0">
                <a:solidFill>
                  <a:srgbClr val="000000"/>
                </a:solidFill>
                <a:latin typeface="+mj-lt"/>
                <a:ea typeface="宋体" panose="02010600030101010101" pitchFamily="2" charset="-122"/>
                <a:cs typeface="+mn-cs"/>
                <a:sym typeface="+mn-ea"/>
              </a:rPr>
              <a:t>P0</a:t>
            </a:r>
            <a:r>
              <a:rPr kumimoji="1" lang="zh-CN" altLang="en-US" kern="1200" cap="none" spc="0" normalizeH="0" baseline="0" noProof="0" dirty="0">
                <a:solidFill>
                  <a:srgbClr val="000000"/>
                </a:solidFill>
                <a:latin typeface="+mj-lt"/>
                <a:ea typeface="宋体" panose="02010600030101010101" pitchFamily="2" charset="-122"/>
                <a:cs typeface="+mn-cs"/>
                <a:sym typeface="+mn-ea"/>
              </a:rPr>
              <a:t>）</a:t>
            </a:r>
            <a:r>
              <a:rPr kumimoji="1" lang="en-US" altLang="zh-CN" kern="1200" cap="none" spc="0" normalizeH="0" baseline="0" noProof="0" dirty="0">
                <a:solidFill>
                  <a:srgbClr val="000000"/>
                </a:solidFill>
                <a:latin typeface="+mj-lt"/>
                <a:ea typeface="宋体" panose="02010600030101010101" pitchFamily="2" charset="-122"/>
                <a:cs typeface="+mn-cs"/>
                <a:sym typeface="+mn-ea"/>
              </a:rPr>
              <a:t>=</a:t>
            </a:r>
            <a:r>
              <a:rPr kumimoji="1" lang="zh-CN" altLang="en-US" kern="1200" cap="none" spc="0" normalizeH="0" baseline="0" noProof="0" dirty="0">
                <a:solidFill>
                  <a:srgbClr val="000000"/>
                </a:solidFill>
                <a:latin typeface="+mj-lt"/>
                <a:ea typeface="宋体" panose="02010600030101010101" pitchFamily="2" charset="-122"/>
                <a:cs typeface="+mn-cs"/>
                <a:sym typeface="+mn-ea"/>
              </a:rPr>
              <a:t>（</a:t>
            </a:r>
            <a:r>
              <a:rPr kumimoji="1" lang="en-US" altLang="zh-CN" kern="1200" cap="none" spc="0" normalizeH="0" baseline="0" noProof="0" dirty="0">
                <a:solidFill>
                  <a:srgbClr val="000000"/>
                </a:solidFill>
                <a:latin typeface="+mj-lt"/>
                <a:ea typeface="宋体" panose="02010600030101010101" pitchFamily="2" charset="-122"/>
                <a:cs typeface="+mn-cs"/>
                <a:sym typeface="+mn-ea"/>
              </a:rPr>
              <a:t>R0</a:t>
            </a:r>
            <a:r>
              <a:rPr kumimoji="1" lang="zh-CN" altLang="en-US" kern="1200" cap="none" spc="0" normalizeH="0" baseline="0" noProof="0" dirty="0">
                <a:solidFill>
                  <a:srgbClr val="000000"/>
                </a:solidFill>
                <a:latin typeface="+mj-lt"/>
                <a:ea typeface="宋体" panose="02010600030101010101" pitchFamily="2" charset="-122"/>
                <a:cs typeface="+mn-cs"/>
                <a:sym typeface="+mn-ea"/>
              </a:rPr>
              <a:t>）或（</a:t>
            </a:r>
            <a:r>
              <a:rPr kumimoji="1" lang="en-US" altLang="zh-CN" kern="1200" cap="none" spc="0" normalizeH="0" baseline="0" noProof="0" dirty="0">
                <a:solidFill>
                  <a:srgbClr val="000000"/>
                </a:solidFill>
                <a:latin typeface="+mj-lt"/>
                <a:ea typeface="宋体" panose="02010600030101010101" pitchFamily="2" charset="-122"/>
                <a:cs typeface="+mn-cs"/>
                <a:sym typeface="+mn-ea"/>
              </a:rPr>
              <a:t>R1</a:t>
            </a:r>
            <a:r>
              <a:rPr kumimoji="1" lang="zh-CN" altLang="en-US" kern="1200" cap="none" spc="0" normalizeH="0" baseline="0" noProof="0" dirty="0">
                <a:solidFill>
                  <a:srgbClr val="000000"/>
                </a:solidFill>
                <a:latin typeface="+mj-lt"/>
                <a:ea typeface="宋体" panose="02010600030101010101" pitchFamily="2" charset="-122"/>
                <a:cs typeface="+mn-cs"/>
                <a:sym typeface="+mn-ea"/>
              </a:rPr>
              <a:t>）</a:t>
            </a:r>
          </a:p>
          <a:p>
            <a:pPr marR="0" defTabSz="914400" eaLnBrk="0" hangingPunct="0">
              <a:lnSpc>
                <a:spcPct val="150000"/>
              </a:lnSpc>
              <a:buClrTx/>
              <a:buSzTx/>
              <a:buFontTx/>
              <a:defRPr/>
            </a:pPr>
            <a:r>
              <a:rPr kumimoji="0" lang="zh-CN" altLang="en-US" kern="1200" cap="none" spc="0" normalizeH="0" baseline="0" noProof="1">
                <a:latin typeface="Times New Roman" panose="02020603050405020304" pitchFamily="18" charset="0"/>
                <a:ea typeface="宋体" panose="02010600030101010101" pitchFamily="2" charset="-122"/>
                <a:cs typeface="+mn-cs"/>
              </a:rPr>
              <a:t>若</a:t>
            </a:r>
            <a:r>
              <a:rPr kumimoji="0" lang="en-US" altLang="zh-CN" kern="1200" cap="none" spc="0" normalizeH="0" baseline="0" noProof="1">
                <a:latin typeface="Times New Roman" panose="02020603050405020304" pitchFamily="18" charset="0"/>
                <a:ea typeface="宋体" panose="02010600030101010101" pitchFamily="2" charset="-122"/>
                <a:cs typeface="+mn-cs"/>
              </a:rPr>
              <a:t>DPTR</a:t>
            </a:r>
            <a:r>
              <a:rPr kumimoji="1" lang="zh-CN" altLang="en-US" kern="1200" cap="none" spc="0" normalizeH="0" baseline="0" noProof="0" dirty="0">
                <a:solidFill>
                  <a:srgbClr val="000000"/>
                </a:solidFill>
                <a:latin typeface="+mj-lt"/>
                <a:ea typeface="宋体" panose="02010600030101010101" pitchFamily="2" charset="-122"/>
                <a:cs typeface="+mn-cs"/>
                <a:sym typeface="+mn-ea"/>
              </a:rPr>
              <a:t>作间址寄存器，则（</a:t>
            </a:r>
            <a:r>
              <a:rPr kumimoji="1" lang="en-US" altLang="zh-CN" kern="1200" cap="none" spc="0" normalizeH="0" baseline="0" noProof="0" dirty="0">
                <a:solidFill>
                  <a:srgbClr val="000000"/>
                </a:solidFill>
                <a:latin typeface="+mj-lt"/>
                <a:ea typeface="宋体" panose="02010600030101010101" pitchFamily="2" charset="-122"/>
                <a:cs typeface="+mn-cs"/>
                <a:sym typeface="+mn-ea"/>
              </a:rPr>
              <a:t>P0</a:t>
            </a:r>
            <a:r>
              <a:rPr kumimoji="1" lang="zh-CN" altLang="en-US" kern="1200" cap="none" spc="0" normalizeH="0" baseline="0" noProof="0" dirty="0">
                <a:solidFill>
                  <a:srgbClr val="000000"/>
                </a:solidFill>
                <a:latin typeface="+mj-lt"/>
                <a:ea typeface="宋体" panose="02010600030101010101" pitchFamily="2" charset="-122"/>
                <a:cs typeface="+mn-cs"/>
                <a:sym typeface="+mn-ea"/>
              </a:rPr>
              <a:t>）</a:t>
            </a:r>
            <a:r>
              <a:rPr kumimoji="1" lang="en-US" altLang="zh-CN" kern="1200" cap="none" spc="0" normalizeH="0" baseline="0" noProof="0" dirty="0">
                <a:solidFill>
                  <a:srgbClr val="000000"/>
                </a:solidFill>
                <a:latin typeface="+mj-lt"/>
                <a:ea typeface="宋体" panose="02010600030101010101" pitchFamily="2" charset="-122"/>
                <a:cs typeface="+mn-cs"/>
                <a:sym typeface="+mn-ea"/>
              </a:rPr>
              <a:t>=</a:t>
            </a:r>
            <a:r>
              <a:rPr kumimoji="1" lang="zh-CN" altLang="en-US" kern="1200" cap="none" spc="0" normalizeH="0" baseline="0" noProof="0" dirty="0">
                <a:solidFill>
                  <a:srgbClr val="000000"/>
                </a:solidFill>
                <a:latin typeface="+mj-lt"/>
                <a:ea typeface="宋体" panose="02010600030101010101" pitchFamily="2" charset="-122"/>
                <a:cs typeface="+mn-cs"/>
                <a:sym typeface="+mn-ea"/>
              </a:rPr>
              <a:t>（</a:t>
            </a:r>
            <a:r>
              <a:rPr kumimoji="1" lang="en-US" altLang="zh-CN" kern="1200" cap="none" spc="0" normalizeH="0" baseline="0" noProof="0" dirty="0">
                <a:solidFill>
                  <a:srgbClr val="000000"/>
                </a:solidFill>
                <a:latin typeface="+mj-lt"/>
                <a:ea typeface="宋体" panose="02010600030101010101" pitchFamily="2" charset="-122"/>
                <a:cs typeface="+mn-cs"/>
                <a:sym typeface="+mn-ea"/>
              </a:rPr>
              <a:t>DPL</a:t>
            </a:r>
            <a:r>
              <a:rPr kumimoji="1" lang="zh-CN" altLang="en-US" kern="1200" cap="none" spc="0" normalizeH="0" baseline="0" noProof="0" dirty="0">
                <a:solidFill>
                  <a:srgbClr val="000000"/>
                </a:solidFill>
                <a:latin typeface="+mj-lt"/>
                <a:ea typeface="宋体" panose="02010600030101010101" pitchFamily="2" charset="-122"/>
                <a:cs typeface="+mn-cs"/>
                <a:sym typeface="+mn-ea"/>
              </a:rPr>
              <a:t>）</a:t>
            </a:r>
          </a:p>
          <a:p>
            <a:pPr marR="0" defTabSz="914400" eaLnBrk="0" hangingPunct="0">
              <a:lnSpc>
                <a:spcPct val="150000"/>
              </a:lnSpc>
              <a:buClrTx/>
              <a:buSzTx/>
              <a:buFontTx/>
              <a:defRPr/>
            </a:pPr>
            <a:r>
              <a:rPr kumimoji="1" lang="zh-CN" altLang="en-US" kern="1200" cap="none" spc="0" normalizeH="0" baseline="0" noProof="0" dirty="0">
                <a:solidFill>
                  <a:srgbClr val="000000"/>
                </a:solidFill>
                <a:latin typeface="+mj-lt"/>
                <a:ea typeface="宋体" panose="02010600030101010101" pitchFamily="2" charset="-122"/>
                <a:cs typeface="+mn-cs"/>
                <a:sym typeface="+mn-ea"/>
              </a:rPr>
              <a:t>                                               （</a:t>
            </a:r>
            <a:r>
              <a:rPr kumimoji="1" lang="en-US" altLang="zh-CN" kern="1200" cap="none" spc="0" normalizeH="0" baseline="0" noProof="0" dirty="0">
                <a:solidFill>
                  <a:srgbClr val="000000"/>
                </a:solidFill>
                <a:latin typeface="+mj-lt"/>
                <a:ea typeface="宋体" panose="02010600030101010101" pitchFamily="2" charset="-122"/>
                <a:cs typeface="+mn-cs"/>
                <a:sym typeface="+mn-ea"/>
              </a:rPr>
              <a:t>P2</a:t>
            </a:r>
            <a:r>
              <a:rPr kumimoji="1" lang="zh-CN" altLang="en-US" kern="1200" cap="none" spc="0" normalizeH="0" baseline="0" noProof="0" dirty="0">
                <a:solidFill>
                  <a:srgbClr val="000000"/>
                </a:solidFill>
                <a:latin typeface="+mj-lt"/>
                <a:ea typeface="宋体" panose="02010600030101010101" pitchFamily="2" charset="-122"/>
                <a:cs typeface="+mn-cs"/>
                <a:sym typeface="+mn-ea"/>
              </a:rPr>
              <a:t>）</a:t>
            </a:r>
            <a:r>
              <a:rPr kumimoji="1" lang="en-US" altLang="zh-CN" kern="1200" cap="none" spc="0" normalizeH="0" baseline="0" noProof="0" dirty="0">
                <a:solidFill>
                  <a:srgbClr val="000000"/>
                </a:solidFill>
                <a:latin typeface="+mj-lt"/>
                <a:ea typeface="宋体" panose="02010600030101010101" pitchFamily="2" charset="-122"/>
                <a:cs typeface="+mn-cs"/>
                <a:sym typeface="+mn-ea"/>
              </a:rPr>
              <a:t>=</a:t>
            </a:r>
            <a:r>
              <a:rPr kumimoji="1" lang="zh-CN" altLang="en-US" kern="1200" cap="none" spc="0" normalizeH="0" baseline="0" noProof="0" dirty="0">
                <a:solidFill>
                  <a:srgbClr val="000000"/>
                </a:solidFill>
                <a:latin typeface="+mj-lt"/>
                <a:ea typeface="宋体" panose="02010600030101010101" pitchFamily="2" charset="-122"/>
                <a:cs typeface="+mn-cs"/>
                <a:sym typeface="+mn-ea"/>
              </a:rPr>
              <a:t>（</a:t>
            </a:r>
            <a:r>
              <a:rPr kumimoji="1" lang="en-US" altLang="zh-CN" kern="1200" cap="none" spc="0" normalizeH="0" baseline="0" noProof="0" dirty="0">
                <a:solidFill>
                  <a:srgbClr val="000000"/>
                </a:solidFill>
                <a:latin typeface="+mj-lt"/>
                <a:ea typeface="宋体" panose="02010600030101010101" pitchFamily="2" charset="-122"/>
                <a:cs typeface="+mn-cs"/>
                <a:sym typeface="+mn-ea"/>
              </a:rPr>
              <a:t>DPH</a:t>
            </a:r>
            <a:r>
              <a:rPr kumimoji="1" lang="zh-CN" altLang="en-US" kern="1200" cap="none" spc="0" normalizeH="0" baseline="0" noProof="0" dirty="0">
                <a:solidFill>
                  <a:srgbClr val="000000"/>
                </a:solidFill>
                <a:latin typeface="+mj-lt"/>
                <a:ea typeface="宋体" panose="02010600030101010101" pitchFamily="2" charset="-122"/>
                <a:cs typeface="+mn-cs"/>
                <a:sym typeface="+mn-ea"/>
              </a:rPr>
              <a:t>）</a:t>
            </a:r>
            <a:endParaRPr kumimoji="0" lang="zh-CN" altLang="en-US" kern="1200" cap="none" spc="0" normalizeH="0" baseline="0" noProof="1">
              <a:latin typeface="Times New Roman" panose="02020603050405020304" pitchFamily="18" charset="0"/>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43</a:t>
            </a:fld>
            <a:endParaRPr lang="en-US" altLang="zh-CN" sz="1400" b="0" dirty="0"/>
          </a:p>
        </p:txBody>
      </p:sp>
      <p:sp>
        <p:nvSpPr>
          <p:cNvPr id="48131" name="Rectangle 2"/>
          <p:cNvSpPr>
            <a:spLocks noChangeArrowheads="1"/>
          </p:cNvSpPr>
          <p:nvPr/>
        </p:nvSpPr>
        <p:spPr bwMode="auto">
          <a:xfrm>
            <a:off x="228600" y="817563"/>
            <a:ext cx="8534400" cy="4887913"/>
          </a:xfrm>
          <a:prstGeom prst="rect">
            <a:avLst/>
          </a:prstGeom>
          <a:noFill/>
          <a:ln w="9525">
            <a:noFill/>
            <a:miter lim="800000"/>
          </a:ln>
        </p:spPr>
        <p:txBody>
          <a:bodyPr>
            <a:spAutoFit/>
          </a:bodyPr>
          <a:lstStyle/>
          <a:p>
            <a:pPr marL="0" marR="0" lvl="0" indent="266700" algn="just" defTabSz="914400" rtl="0" eaLnBrk="1" fontAlgn="base" latinLnBrk="0" hangingPunct="1">
              <a:lnSpc>
                <a:spcPct val="13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6600"/>
                </a:solidFill>
                <a:effectLst/>
                <a:uLnTx/>
                <a:uFillTx/>
                <a:latin typeface="+mj-lt"/>
                <a:ea typeface="宋体" panose="02010600030101010101" pitchFamily="2" charset="-122"/>
                <a:cs typeface="+mj-lt"/>
              </a:rPr>
              <a:t>(5)  </a:t>
            </a:r>
            <a:r>
              <a:rPr kumimoji="1" lang="zh-CN" altLang="en-US" sz="2400" b="1" i="0" u="none" strike="noStrike" kern="1200" cap="none" spc="0" normalizeH="0" baseline="0" noProof="0" dirty="0">
                <a:ln>
                  <a:noFill/>
                </a:ln>
                <a:solidFill>
                  <a:srgbClr val="FF6600"/>
                </a:solidFill>
                <a:effectLst/>
                <a:uLnTx/>
                <a:uFillTx/>
                <a:latin typeface="+mj-lt"/>
                <a:ea typeface="宋体" panose="02010600030101010101" pitchFamily="2" charset="-122"/>
                <a:cs typeface="+mj-lt"/>
              </a:rPr>
              <a:t>变址寻址</a:t>
            </a:r>
            <a:r>
              <a:rPr kumimoji="1" lang="en-US" altLang="zh-CN" sz="2400" b="0" i="0" u="none" strike="noStrike" kern="1200" cap="none" spc="0" normalizeH="0" baseline="0" noProof="0" dirty="0">
                <a:ln>
                  <a:noFill/>
                </a:ln>
                <a:solidFill>
                  <a:srgbClr val="000000"/>
                </a:solidFill>
                <a:effectLst/>
                <a:uLnTx/>
                <a:uFillTx/>
                <a:latin typeface="+mj-lt"/>
                <a:ea typeface="黑体" panose="02010609060101010101" pitchFamily="49" charset="-122"/>
                <a:cs typeface="+mj-lt"/>
              </a:rPr>
              <a:t>(</a:t>
            </a:r>
            <a:r>
              <a:rPr kumimoji="1" lang="zh-CN" altLang="en-US" sz="2400" b="0" i="0" u="none" strike="noStrike" kern="1200" cap="none" spc="0" normalizeH="0" baseline="0" noProof="0" dirty="0">
                <a:ln>
                  <a:noFill/>
                </a:ln>
                <a:solidFill>
                  <a:srgbClr val="000000"/>
                </a:solidFill>
                <a:effectLst/>
                <a:uLnTx/>
                <a:uFillTx/>
                <a:latin typeface="+mj-lt"/>
                <a:ea typeface="黑体" panose="02010609060101010101" pitchFamily="49" charset="-122"/>
                <a:cs typeface="+mj-lt"/>
              </a:rPr>
              <a:t>或基址加变址寻址</a:t>
            </a:r>
            <a:r>
              <a:rPr kumimoji="1" lang="en-US" altLang="zh-CN" sz="2400" b="0" i="0" u="none" strike="noStrike" kern="1200" cap="none" spc="0" normalizeH="0" baseline="0" noProof="0" dirty="0">
                <a:ln>
                  <a:noFill/>
                </a:ln>
                <a:solidFill>
                  <a:srgbClr val="000000"/>
                </a:solidFill>
                <a:effectLst/>
                <a:uLnTx/>
                <a:uFillTx/>
                <a:latin typeface="+mj-lt"/>
                <a:ea typeface="黑体" panose="02010609060101010101" pitchFamily="49" charset="-122"/>
                <a:cs typeface="+mj-lt"/>
              </a:rPr>
              <a:t>)</a:t>
            </a:r>
            <a:endParaRPr kumimoji="1" lang="en-US" altLang="zh-CN" sz="2400" b="1" i="0" u="none" strike="noStrike" kern="1200" cap="none" spc="0" normalizeH="0" baseline="0" noProof="0" dirty="0">
              <a:ln>
                <a:noFill/>
              </a:ln>
              <a:solidFill>
                <a:srgbClr val="FF6600"/>
              </a:solidFill>
              <a:effectLst/>
              <a:uLnTx/>
              <a:uFillTx/>
              <a:latin typeface="+mj-lt"/>
              <a:ea typeface="宋体" panose="02010600030101010101" pitchFamily="2" charset="-122"/>
              <a:cs typeface="+mj-lt"/>
            </a:endParaRPr>
          </a:p>
          <a:p>
            <a:pPr marL="0" marR="0" lvl="0" indent="266700" algn="just" defTabSz="914400" rtl="0" eaLnBrk="1" fontAlgn="base" latinLnBrk="0" hangingPunct="1">
              <a:lnSpc>
                <a:spcPct val="13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j-lt"/>
              </a:rPr>
              <a:t>     </a:t>
            </a:r>
            <a:r>
              <a:rPr kumimoji="1" lang="zh-CN" altLang="en-US" sz="2400" b="1" i="0" u="none" strike="noStrike" kern="1200" cap="none" spc="0" normalizeH="0" baseline="0" noProof="0" dirty="0">
                <a:ln>
                  <a:noFill/>
                </a:ln>
                <a:solidFill>
                  <a:srgbClr val="FF0000"/>
                </a:solidFill>
                <a:effectLst/>
                <a:uLnTx/>
                <a:uFillTx/>
                <a:latin typeface="+mj-lt"/>
                <a:ea typeface="宋体" panose="02010600030101010101" pitchFamily="2" charset="-122"/>
                <a:cs typeface="+mj-lt"/>
              </a:rPr>
              <a:t>以</a:t>
            </a:r>
            <a:r>
              <a:rPr kumimoji="1" lang="en-US" altLang="zh-CN" sz="2400" b="1" i="0" u="none" strike="noStrike" kern="1200" cap="none" spc="0" normalizeH="0" baseline="0" noProof="0" dirty="0">
                <a:ln>
                  <a:noFill/>
                </a:ln>
                <a:solidFill>
                  <a:srgbClr val="FF0000"/>
                </a:solidFill>
                <a:effectLst/>
                <a:uLnTx/>
                <a:uFillTx/>
                <a:latin typeface="+mj-lt"/>
                <a:ea typeface="宋体" panose="02010600030101010101" pitchFamily="2" charset="-122"/>
                <a:cs typeface="+mj-lt"/>
              </a:rPr>
              <a:t>DPTR</a:t>
            </a:r>
            <a:r>
              <a:rPr kumimoji="1" lang="zh-CN" altLang="en-US" sz="2400" b="1" i="0" u="none" strike="noStrike" kern="1200" cap="none" spc="0" normalizeH="0" baseline="0" noProof="0" dirty="0">
                <a:ln>
                  <a:noFill/>
                </a:ln>
                <a:solidFill>
                  <a:srgbClr val="FF0000"/>
                </a:solidFill>
                <a:effectLst/>
                <a:uLnTx/>
                <a:uFillTx/>
                <a:latin typeface="+mj-lt"/>
                <a:ea typeface="宋体" panose="02010600030101010101" pitchFamily="2" charset="-122"/>
                <a:cs typeface="+mj-lt"/>
              </a:rPr>
              <a:t>或</a:t>
            </a:r>
            <a:r>
              <a:rPr kumimoji="1" lang="en-US" altLang="zh-CN" sz="2400" b="1" i="0" u="none" strike="noStrike" kern="1200" cap="none" spc="0" normalizeH="0" baseline="0" noProof="0" dirty="0">
                <a:ln>
                  <a:noFill/>
                </a:ln>
                <a:solidFill>
                  <a:srgbClr val="FF0000"/>
                </a:solidFill>
                <a:effectLst/>
                <a:uLnTx/>
                <a:uFillTx/>
                <a:latin typeface="+mj-lt"/>
                <a:ea typeface="宋体" panose="02010600030101010101" pitchFamily="2" charset="-122"/>
                <a:cs typeface="+mj-lt"/>
              </a:rPr>
              <a:t>PC</a:t>
            </a:r>
            <a:r>
              <a:rPr kumimoji="1" lang="zh-CN" altLang="en-US" sz="2400" b="1" i="0" u="none" strike="noStrike" kern="1200" cap="none" spc="0" normalizeH="0" baseline="0" noProof="0" dirty="0">
                <a:ln>
                  <a:noFill/>
                </a:ln>
                <a:solidFill>
                  <a:srgbClr val="FF0000"/>
                </a:solidFill>
                <a:effectLst/>
                <a:uLnTx/>
                <a:uFillTx/>
                <a:latin typeface="+mj-lt"/>
                <a:ea typeface="宋体" panose="02010600030101010101" pitchFamily="2" charset="-122"/>
                <a:cs typeface="+mj-lt"/>
              </a:rPr>
              <a:t>作基址寄存器，累加器</a:t>
            </a:r>
            <a:r>
              <a:rPr kumimoji="1" lang="en-US" altLang="zh-CN" sz="2400" b="1" i="0" u="none" strike="noStrike" kern="1200" cap="none" spc="0" normalizeH="0" baseline="0" noProof="0" dirty="0">
                <a:ln>
                  <a:noFill/>
                </a:ln>
                <a:solidFill>
                  <a:srgbClr val="FF0000"/>
                </a:solidFill>
                <a:effectLst/>
                <a:uLnTx/>
                <a:uFillTx/>
                <a:latin typeface="+mj-lt"/>
                <a:ea typeface="宋体" panose="02010600030101010101" pitchFamily="2" charset="-122"/>
                <a:cs typeface="+mj-lt"/>
              </a:rPr>
              <a:t>A</a:t>
            </a:r>
            <a:r>
              <a:rPr kumimoji="1" lang="zh-CN" altLang="en-US" sz="2400" b="1" i="0" u="none" strike="noStrike" kern="1200" cap="none" spc="0" normalizeH="0" baseline="0" noProof="0" dirty="0">
                <a:ln>
                  <a:noFill/>
                </a:ln>
                <a:solidFill>
                  <a:srgbClr val="FF0000"/>
                </a:solidFill>
                <a:effectLst/>
                <a:uLnTx/>
                <a:uFillTx/>
                <a:latin typeface="+mj-lt"/>
                <a:ea typeface="宋体" panose="02010600030101010101" pitchFamily="2" charset="-122"/>
                <a:cs typeface="+mj-lt"/>
              </a:rPr>
              <a:t>作变址寄存器</a:t>
            </a:r>
            <a:r>
              <a:rPr kumimoji="1" lang="zh-CN" altLang="en-US"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j-lt"/>
              </a:rPr>
              <a:t>，并以两者内容相加形成的</a:t>
            </a:r>
            <a:r>
              <a:rPr kumimoji="1" lang="en-US" altLang="zh-CN"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j-lt"/>
              </a:rPr>
              <a:t>16</a:t>
            </a:r>
            <a:r>
              <a:rPr kumimoji="1" lang="zh-CN" altLang="en-US"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j-lt"/>
              </a:rPr>
              <a:t>位地址作为操作数地址的寻址方式称为变址寻址，或基址加变址寻址方式。</a:t>
            </a:r>
          </a:p>
          <a:p>
            <a:pPr marL="0" marR="0" lvl="0" indent="266700" algn="just" defTabSz="914400" rtl="0" eaLnBrk="1" fontAlgn="base" latinLnBrk="0" hangingPunct="1">
              <a:lnSpc>
                <a:spcPct val="13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FF0000"/>
                </a:solidFill>
                <a:effectLst/>
                <a:uLnTx/>
                <a:uFillTx/>
                <a:latin typeface="+mj-lt"/>
                <a:ea typeface="宋体" panose="02010600030101010101" pitchFamily="2" charset="-122"/>
                <a:cs typeface="+mj-lt"/>
              </a:rPr>
              <a:t>  </a:t>
            </a:r>
            <a:r>
              <a:rPr kumimoji="1" lang="zh-CN" altLang="en-US" sz="2400" b="1" i="0" u="none" strike="noStrike" kern="1200" cap="none" spc="0" normalizeH="0" baseline="0" noProof="0" dirty="0">
                <a:ln>
                  <a:noFill/>
                </a:ln>
                <a:solidFill>
                  <a:schemeClr val="accent1">
                    <a:lumMod val="50000"/>
                  </a:schemeClr>
                </a:solidFill>
                <a:effectLst/>
                <a:uLnTx/>
                <a:uFillTx/>
                <a:latin typeface="+mj-lt"/>
                <a:ea typeface="宋体" panose="02010600030101010101" pitchFamily="2" charset="-122"/>
                <a:cs typeface="+mj-lt"/>
              </a:rPr>
              <a:t>寻址空间：程序存储器</a:t>
            </a:r>
            <a:r>
              <a:rPr kumimoji="1" lang="en-US" altLang="zh-CN" sz="2400" b="1" i="0" u="none" strike="noStrike" kern="1200" cap="none" spc="0" normalizeH="0" baseline="0" noProof="0" dirty="0">
                <a:ln>
                  <a:noFill/>
                </a:ln>
                <a:solidFill>
                  <a:schemeClr val="accent1">
                    <a:lumMod val="50000"/>
                  </a:schemeClr>
                </a:solidFill>
                <a:effectLst/>
                <a:uLnTx/>
                <a:uFillTx/>
                <a:latin typeface="+mj-lt"/>
                <a:ea typeface="宋体" panose="02010600030101010101" pitchFamily="2" charset="-122"/>
                <a:cs typeface="+mj-lt"/>
              </a:rPr>
              <a:t>ROM</a:t>
            </a:r>
            <a:r>
              <a:rPr kumimoji="1" lang="zh-CN" altLang="en-US" sz="2400" b="1" i="0" u="none" strike="noStrike" kern="1200" cap="none" spc="0" normalizeH="0" baseline="0" noProof="0" dirty="0">
                <a:ln>
                  <a:noFill/>
                </a:ln>
                <a:solidFill>
                  <a:schemeClr val="accent1">
                    <a:lumMod val="50000"/>
                  </a:schemeClr>
                </a:solidFill>
                <a:effectLst/>
                <a:uLnTx/>
                <a:uFillTx/>
                <a:latin typeface="+mj-lt"/>
                <a:ea typeface="宋体" panose="02010600030101010101" pitchFamily="2" charset="-122"/>
                <a:cs typeface="+mj-lt"/>
              </a:rPr>
              <a:t>。 </a:t>
            </a:r>
            <a:endParaRPr kumimoji="1" lang="zh-CN" altLang="en-US"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j-lt"/>
            </a:endParaRPr>
          </a:p>
          <a:p>
            <a:pPr marL="0" marR="0" lvl="0" indent="266700" algn="just" defTabSz="914400" rtl="0" eaLnBrk="1" fontAlgn="base" latinLnBrk="0" hangingPunct="1">
              <a:lnSpc>
                <a:spcPct val="13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j-lt"/>
              </a:rPr>
              <a:t>  指令：</a:t>
            </a:r>
            <a:r>
              <a:rPr kumimoji="1" lang="en-US" altLang="zh-CN"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j-lt"/>
              </a:rPr>
              <a:t>MOVC</a:t>
            </a:r>
          </a:p>
          <a:p>
            <a:pPr marL="0" marR="0" lvl="0" indent="266700" algn="just" defTabSz="914400" rtl="0" eaLnBrk="1" fontAlgn="base" latinLnBrk="0" hangingPunct="1">
              <a:lnSpc>
                <a:spcPct val="130000"/>
              </a:lnSpc>
              <a:spcBef>
                <a:spcPct val="0"/>
              </a:spcBef>
              <a:spcAft>
                <a:spcPct val="0"/>
              </a:spcAft>
              <a:buClrTx/>
              <a:buSzTx/>
              <a:buFontTx/>
              <a:buNone/>
              <a:defRPr/>
            </a:pPr>
            <a:endParaRPr kumimoji="1" lang="en-US" altLang="zh-CN"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j-lt"/>
            </a:endParaRPr>
          </a:p>
          <a:p>
            <a:pPr marL="0" marR="0" lvl="0" indent="266700" algn="just" defTabSz="914400" rtl="0" eaLnBrk="1" fontAlgn="base" latinLnBrk="0" hangingPunct="1">
              <a:lnSpc>
                <a:spcPct val="13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j-lt"/>
              </a:rPr>
              <a:t>ORG     0200H</a:t>
            </a:r>
          </a:p>
          <a:p>
            <a:pPr marL="0" marR="0" lvl="0" indent="266700" algn="just" defTabSz="914400" rtl="0" eaLnBrk="1" fontAlgn="base" latinLnBrk="0" hangingPunct="1">
              <a:lnSpc>
                <a:spcPct val="13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j-lt"/>
              </a:rPr>
              <a:t>MOVC   A</a:t>
            </a:r>
            <a:r>
              <a:rPr kumimoji="1" lang="zh-CN" altLang="en-US"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j-lt"/>
              </a:rPr>
              <a:t>，＠</a:t>
            </a:r>
            <a:r>
              <a:rPr kumimoji="1" lang="en-US" altLang="zh-CN"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j-lt"/>
              </a:rPr>
              <a:t>A+DPTR</a:t>
            </a:r>
            <a:r>
              <a:rPr kumimoji="1" lang="zh-CN" altLang="en-US"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j-lt"/>
              </a:rPr>
              <a:t>；</a:t>
            </a:r>
            <a:r>
              <a:rPr kumimoji="1" lang="en-US" altLang="zh-CN"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j-lt"/>
              </a:rPr>
              <a:t>A←((A)+(DPTR))</a:t>
            </a:r>
            <a:r>
              <a:rPr kumimoji="1" lang="zh-CN" altLang="en-US"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j-lt"/>
              </a:rPr>
              <a:t>，机器码为</a:t>
            </a:r>
            <a:r>
              <a:rPr kumimoji="1" lang="en-US" altLang="zh-CN" sz="2400" b="1" i="0" u="none" strike="noStrike" kern="1200" cap="none" spc="0" normalizeH="0" baseline="0" noProof="0" dirty="0">
                <a:ln>
                  <a:noFill/>
                </a:ln>
                <a:solidFill>
                  <a:srgbClr val="000000"/>
                </a:solidFill>
                <a:effectLst/>
                <a:uLnTx/>
                <a:uFillTx/>
                <a:latin typeface="+mj-lt"/>
                <a:ea typeface="宋体" panose="02010600030101010101" pitchFamily="2" charset="-122"/>
                <a:cs typeface="+mj-lt"/>
              </a:rPr>
              <a:t>93H </a:t>
            </a:r>
          </a:p>
          <a:p>
            <a:pPr marL="0" marR="0" lvl="0" indent="266700" algn="just" defTabSz="914400" rtl="0" eaLnBrk="1" fontAlgn="base" latinLnBrk="0" hangingPunct="1">
              <a:lnSpc>
                <a:spcPct val="13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6600"/>
                </a:solidFill>
                <a:effectLst/>
                <a:uLnTx/>
                <a:uFillTx/>
                <a:latin typeface="+mj-lt"/>
                <a:ea typeface="宋体" panose="02010600030101010101" pitchFamily="2" charset="-122"/>
                <a:cs typeface="+mj-lt"/>
              </a:rPr>
              <a:t> </a:t>
            </a:r>
          </a:p>
        </p:txBody>
      </p:sp>
      <p:sp>
        <p:nvSpPr>
          <p:cNvPr id="2" name="文本框 1"/>
          <p:cNvSpPr txBox="1"/>
          <p:nvPr/>
        </p:nvSpPr>
        <p:spPr>
          <a:xfrm>
            <a:off x="385763" y="5368925"/>
            <a:ext cx="6167437" cy="571500"/>
          </a:xfrm>
          <a:prstGeom prst="rect">
            <a:avLst/>
          </a:prstGeom>
          <a:noFill/>
          <a:ln w="9525">
            <a:noFill/>
          </a:ln>
        </p:spPr>
        <p:txBody>
          <a:bodyPr anchor="t" anchorCtr="0">
            <a:spAutoFit/>
          </a:bodyPr>
          <a:lstStyle/>
          <a:p>
            <a:pPr indent="266700" algn="just">
              <a:lnSpc>
                <a:spcPct val="130000"/>
              </a:lnSpc>
            </a:pPr>
            <a:r>
              <a:rPr lang="zh-CN" altLang="en-US" dirty="0">
                <a:solidFill>
                  <a:schemeClr val="accent2"/>
                </a:solidFill>
                <a:latin typeface="Times New Roman" panose="02020603050405020304" pitchFamily="18" charset="0"/>
                <a:ea typeface="宋体" panose="02010600030101010101" pitchFamily="2" charset="-122"/>
                <a:sym typeface="宋体" panose="02010600030101010101" pitchFamily="2" charset="-122"/>
              </a:rPr>
              <a:t>若（</a:t>
            </a:r>
            <a:r>
              <a:rPr lang="en-US" altLang="zh-CN" dirty="0">
                <a:solidFill>
                  <a:schemeClr val="accent2"/>
                </a:solidFill>
                <a:latin typeface="Times New Roman" panose="02020603050405020304" pitchFamily="18" charset="0"/>
                <a:ea typeface="宋体" panose="02010600030101010101" pitchFamily="2" charset="-122"/>
                <a:sym typeface="宋体" panose="02010600030101010101" pitchFamily="2" charset="-122"/>
              </a:rPr>
              <a:t>DPTR</a:t>
            </a:r>
            <a:r>
              <a:rPr lang="zh-CN" altLang="en-US" dirty="0">
                <a:solidFill>
                  <a:schemeClr val="accent2"/>
                </a:solidFill>
                <a:latin typeface="Times New Roman" panose="02020603050405020304" pitchFamily="18" charset="0"/>
                <a:ea typeface="宋体" panose="02010600030101010101" pitchFamily="2" charset="-122"/>
                <a:sym typeface="宋体" panose="02010600030101010101" pitchFamily="2" charset="-122"/>
              </a:rPr>
              <a:t>）</a:t>
            </a:r>
            <a:r>
              <a:rPr lang="en-US" altLang="zh-CN" dirty="0">
                <a:solidFill>
                  <a:schemeClr val="accent2"/>
                </a:solidFill>
                <a:latin typeface="Times New Roman" panose="02020603050405020304" pitchFamily="18" charset="0"/>
                <a:ea typeface="宋体" panose="02010600030101010101" pitchFamily="2" charset="-122"/>
                <a:sym typeface="宋体" panose="02010600030101010101" pitchFamily="2" charset="-122"/>
              </a:rPr>
              <a:t>=1234H</a:t>
            </a:r>
            <a:r>
              <a:rPr lang="zh-CN" altLang="en-US" dirty="0">
                <a:solidFill>
                  <a:schemeClr val="accent2"/>
                </a:solidFill>
                <a:latin typeface="Times New Roman" panose="02020603050405020304" pitchFamily="18" charset="0"/>
                <a:ea typeface="宋体" panose="02010600030101010101" pitchFamily="2" charset="-122"/>
                <a:sym typeface="宋体" panose="02010600030101010101" pitchFamily="2" charset="-122"/>
              </a:rPr>
              <a:t>，（</a:t>
            </a:r>
            <a:r>
              <a:rPr lang="en-US" altLang="zh-CN" dirty="0">
                <a:solidFill>
                  <a:schemeClr val="accent2"/>
                </a:solidFill>
                <a:latin typeface="Times New Roman" panose="02020603050405020304" pitchFamily="18" charset="0"/>
                <a:ea typeface="宋体" panose="02010600030101010101" pitchFamily="2" charset="-122"/>
                <a:sym typeface="宋体" panose="02010600030101010101" pitchFamily="2" charset="-122"/>
              </a:rPr>
              <a:t>A</a:t>
            </a:r>
            <a:r>
              <a:rPr lang="zh-CN" altLang="en-US" dirty="0">
                <a:solidFill>
                  <a:schemeClr val="accent2"/>
                </a:solidFill>
                <a:latin typeface="Times New Roman" panose="02020603050405020304" pitchFamily="18" charset="0"/>
                <a:ea typeface="宋体" panose="02010600030101010101" pitchFamily="2" charset="-122"/>
                <a:sym typeface="宋体" panose="02010600030101010101" pitchFamily="2" charset="-122"/>
              </a:rPr>
              <a:t>）</a:t>
            </a:r>
            <a:r>
              <a:rPr lang="en-US" altLang="zh-CN" dirty="0">
                <a:solidFill>
                  <a:schemeClr val="accent2"/>
                </a:solidFill>
                <a:latin typeface="Times New Roman" panose="02020603050405020304" pitchFamily="18" charset="0"/>
                <a:ea typeface="宋体" panose="02010600030101010101" pitchFamily="2" charset="-122"/>
                <a:sym typeface="宋体" panose="02010600030101010101" pitchFamily="2" charset="-122"/>
              </a:rPr>
              <a:t>=10H</a:t>
            </a:r>
            <a:endParaRPr lang="zh-CN" altLang="en-US"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44</a:t>
            </a:fld>
            <a:endParaRPr lang="en-US" altLang="zh-CN" sz="1400" b="0" dirty="0"/>
          </a:p>
        </p:txBody>
      </p:sp>
      <p:sp>
        <p:nvSpPr>
          <p:cNvPr id="50179" name="Text Box 1027"/>
          <p:cNvSpPr txBox="1"/>
          <p:nvPr/>
        </p:nvSpPr>
        <p:spPr>
          <a:xfrm>
            <a:off x="862013" y="4602163"/>
            <a:ext cx="6769100" cy="603250"/>
          </a:xfrm>
          <a:prstGeom prst="rect">
            <a:avLst/>
          </a:prstGeom>
          <a:solidFill>
            <a:srgbClr val="FFFFFF"/>
          </a:solidFill>
          <a:ln w="9525">
            <a:noFill/>
          </a:ln>
        </p:spPr>
        <p:txBody>
          <a:bodyPr lIns="0" tIns="0" rIns="0" bIns="0" anchor="t" anchorCtr="0"/>
          <a:lstStyle/>
          <a:p>
            <a:pPr algn="just" eaLnBrk="0" hangingPunct="0"/>
            <a:r>
              <a:rPr lang="zh-CN" altLang="en-US" dirty="0">
                <a:latin typeface="Times New Roman" panose="02020603050405020304" pitchFamily="18" charset="0"/>
                <a:ea typeface="黑体" panose="02010609060101010101" pitchFamily="49" charset="-122"/>
              </a:rPr>
              <a:t>图</a:t>
            </a:r>
            <a:r>
              <a:rPr lang="en-US" altLang="zh-CN" dirty="0">
                <a:latin typeface="Times New Roman" panose="02020603050405020304" pitchFamily="18" charset="0"/>
                <a:ea typeface="黑体" panose="02010609060101010101" pitchFamily="49" charset="-122"/>
              </a:rPr>
              <a:t>4-8 </a:t>
            </a:r>
            <a:r>
              <a:rPr lang="zh-CN" altLang="en-US" dirty="0">
                <a:latin typeface="Times New Roman" panose="02020603050405020304" pitchFamily="18" charset="0"/>
                <a:ea typeface="黑体" panose="02010609060101010101" pitchFamily="49" charset="-122"/>
              </a:rPr>
              <a:t>指令</a:t>
            </a:r>
            <a:r>
              <a:rPr lang="en-US" altLang="zh-CN" dirty="0">
                <a:latin typeface="Times New Roman" panose="02020603050405020304" pitchFamily="18" charset="0"/>
                <a:ea typeface="黑体" panose="02010609060101010101" pitchFamily="49" charset="-122"/>
              </a:rPr>
              <a:t>MOVC  A,</a:t>
            </a:r>
            <a:r>
              <a:rPr lang="zh-CN" altLang="en-US"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A+DPTR</a:t>
            </a:r>
            <a:r>
              <a:rPr lang="zh-CN" altLang="en-US" dirty="0">
                <a:latin typeface="Times New Roman" panose="02020603050405020304" pitchFamily="18" charset="0"/>
                <a:ea typeface="黑体" panose="02010609060101010101" pitchFamily="49" charset="-122"/>
              </a:rPr>
              <a:t>的操作示意图</a:t>
            </a:r>
          </a:p>
        </p:txBody>
      </p:sp>
      <p:sp>
        <p:nvSpPr>
          <p:cNvPr id="49156" name="Rectangle 1036"/>
          <p:cNvSpPr>
            <a:spLocks noChangeArrowheads="1"/>
          </p:cNvSpPr>
          <p:nvPr/>
        </p:nvSpPr>
        <p:spPr bwMode="auto">
          <a:xfrm>
            <a:off x="152400" y="914400"/>
            <a:ext cx="4995863" cy="520700"/>
          </a:xfrm>
          <a:prstGeom prst="rect">
            <a:avLst/>
          </a:prstGeom>
          <a:noFill/>
          <a:ln w="9525">
            <a:noFill/>
            <a:miter lim="800000"/>
          </a:ln>
        </p:spPr>
        <p:txBody>
          <a:bodyPr>
            <a:spAutoFit/>
          </a:bodyPr>
          <a:lstStyle/>
          <a:p>
            <a:pPr marL="0" marR="0" lvl="0" indent="0" algn="l" defTabSz="914400" rtl="0" eaLnBrk="1" fontAlgn="base" latinLnBrk="0" hangingPunct="1">
              <a:lnSpc>
                <a:spcPct val="13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chemeClr val="accent2"/>
                </a:solidFill>
                <a:effectLst/>
                <a:uLnTx/>
                <a:uFillTx/>
                <a:latin typeface="+mj-lt"/>
                <a:ea typeface="宋体" panose="02010600030101010101" pitchFamily="2" charset="-122"/>
                <a:cs typeface="+mn-cs"/>
              </a:rPr>
              <a:t>若（</a:t>
            </a:r>
            <a:r>
              <a:rPr kumimoji="1" lang="en-US" altLang="zh-CN" sz="2400" b="1" i="0" u="none" strike="noStrike" kern="1200" cap="none" spc="0" normalizeH="0" baseline="0" noProof="0" dirty="0">
                <a:ln>
                  <a:noFill/>
                </a:ln>
                <a:solidFill>
                  <a:schemeClr val="accent2"/>
                </a:solidFill>
                <a:effectLst/>
                <a:uLnTx/>
                <a:uFillTx/>
                <a:latin typeface="+mj-lt"/>
                <a:ea typeface="宋体" panose="02010600030101010101" pitchFamily="2" charset="-122"/>
                <a:cs typeface="+mn-cs"/>
              </a:rPr>
              <a:t>DPTR</a:t>
            </a:r>
            <a:r>
              <a:rPr kumimoji="1" lang="zh-CN" altLang="en-US" sz="2400" b="1" i="0" u="none" strike="noStrike" kern="1200" cap="none" spc="0" normalizeH="0" baseline="0" noProof="0" dirty="0">
                <a:ln>
                  <a:noFill/>
                </a:ln>
                <a:solidFill>
                  <a:schemeClr val="accent2"/>
                </a:solidFill>
                <a:effectLst/>
                <a:uLnTx/>
                <a:uFillTx/>
                <a:latin typeface="+mj-lt"/>
                <a:ea typeface="宋体" panose="02010600030101010101" pitchFamily="2" charset="-122"/>
                <a:cs typeface="+mn-cs"/>
              </a:rPr>
              <a:t>）</a:t>
            </a:r>
            <a:r>
              <a:rPr kumimoji="1" lang="en-US" altLang="zh-CN" sz="2400" b="1" i="0" u="none" strike="noStrike" kern="1200" cap="none" spc="0" normalizeH="0" baseline="0" noProof="0" dirty="0">
                <a:ln>
                  <a:noFill/>
                </a:ln>
                <a:solidFill>
                  <a:schemeClr val="accent2"/>
                </a:solidFill>
                <a:effectLst/>
                <a:uLnTx/>
                <a:uFillTx/>
                <a:latin typeface="+mj-lt"/>
                <a:ea typeface="宋体" panose="02010600030101010101" pitchFamily="2" charset="-122"/>
                <a:cs typeface="+mn-cs"/>
              </a:rPr>
              <a:t>=1234H</a:t>
            </a:r>
            <a:r>
              <a:rPr kumimoji="1" lang="zh-CN" altLang="en-US" sz="2400" b="1" i="0" u="none" strike="noStrike" kern="1200" cap="none" spc="0" normalizeH="0" baseline="0" noProof="0" dirty="0">
                <a:ln>
                  <a:noFill/>
                </a:ln>
                <a:solidFill>
                  <a:schemeClr val="accent2"/>
                </a:solidFill>
                <a:effectLst/>
                <a:uLnTx/>
                <a:uFillTx/>
                <a:latin typeface="+mj-lt"/>
                <a:ea typeface="宋体" panose="02010600030101010101" pitchFamily="2" charset="-122"/>
                <a:cs typeface="+mn-cs"/>
              </a:rPr>
              <a:t>，（</a:t>
            </a:r>
            <a:r>
              <a:rPr kumimoji="1" lang="en-US" altLang="zh-CN" sz="2400" b="1" i="0" u="none" strike="noStrike" kern="1200" cap="none" spc="0" normalizeH="0" baseline="0" noProof="0" dirty="0">
                <a:ln>
                  <a:noFill/>
                </a:ln>
                <a:solidFill>
                  <a:schemeClr val="accent2"/>
                </a:solidFill>
                <a:effectLst/>
                <a:uLnTx/>
                <a:uFillTx/>
                <a:latin typeface="+mj-lt"/>
                <a:ea typeface="宋体" panose="02010600030101010101" pitchFamily="2" charset="-122"/>
                <a:cs typeface="+mn-cs"/>
              </a:rPr>
              <a:t>A</a:t>
            </a:r>
            <a:r>
              <a:rPr kumimoji="1" lang="zh-CN" altLang="en-US" sz="2400" b="1" i="0" u="none" strike="noStrike" kern="1200" cap="none" spc="0" normalizeH="0" baseline="0" noProof="0" dirty="0">
                <a:ln>
                  <a:noFill/>
                </a:ln>
                <a:solidFill>
                  <a:schemeClr val="accent2"/>
                </a:solidFill>
                <a:effectLst/>
                <a:uLnTx/>
                <a:uFillTx/>
                <a:latin typeface="+mj-lt"/>
                <a:ea typeface="宋体" panose="02010600030101010101" pitchFamily="2" charset="-122"/>
                <a:cs typeface="+mn-cs"/>
              </a:rPr>
              <a:t>）</a:t>
            </a:r>
            <a:r>
              <a:rPr kumimoji="1" lang="en-US" altLang="zh-CN" sz="2400" b="1" i="0" u="none" strike="noStrike" kern="1200" cap="none" spc="0" normalizeH="0" baseline="0" noProof="0" dirty="0">
                <a:ln>
                  <a:noFill/>
                </a:ln>
                <a:solidFill>
                  <a:schemeClr val="accent2"/>
                </a:solidFill>
                <a:effectLst/>
                <a:uLnTx/>
                <a:uFillTx/>
                <a:latin typeface="+mj-lt"/>
                <a:ea typeface="宋体" panose="02010600030101010101" pitchFamily="2" charset="-122"/>
                <a:cs typeface="+mn-cs"/>
              </a:rPr>
              <a:t>=10H</a:t>
            </a:r>
          </a:p>
        </p:txBody>
      </p:sp>
      <p:pic>
        <p:nvPicPr>
          <p:cNvPr id="50181" name="Picture 1037" descr="4t8"/>
          <p:cNvPicPr>
            <a:picLocks noChangeAspect="1"/>
          </p:cNvPicPr>
          <p:nvPr/>
        </p:nvPicPr>
        <p:blipFill>
          <a:blip r:embed="rId3"/>
          <a:stretch>
            <a:fillRect/>
          </a:stretch>
        </p:blipFill>
        <p:spPr>
          <a:xfrm>
            <a:off x="1581150" y="1749425"/>
            <a:ext cx="4679950" cy="2463800"/>
          </a:xfrm>
          <a:prstGeom prst="rect">
            <a:avLst/>
          </a:prstGeom>
          <a:noFill/>
          <a:ln w="9525">
            <a:noFill/>
          </a:ln>
        </p:spPr>
      </p:pic>
      <p:sp>
        <p:nvSpPr>
          <p:cNvPr id="2" name="文本框 1"/>
          <p:cNvSpPr txBox="1"/>
          <p:nvPr/>
        </p:nvSpPr>
        <p:spPr>
          <a:xfrm>
            <a:off x="304800" y="5164138"/>
            <a:ext cx="8372475" cy="1198562"/>
          </a:xfrm>
          <a:prstGeom prst="rect">
            <a:avLst/>
          </a:prstGeom>
          <a:solidFill>
            <a:srgbClr val="D6D6F5"/>
          </a:solidFill>
          <a:ln w="9525">
            <a:noFill/>
          </a:ln>
        </p:spPr>
        <p:txBody>
          <a:bodyPr anchor="t" anchorCtr="0">
            <a:spAutoFit/>
          </a:bodyPr>
          <a:lstStyle/>
          <a:p>
            <a:pPr eaLnBrk="0" hangingPunct="0">
              <a:lnSpc>
                <a:spcPct val="150000"/>
              </a:lnSpc>
            </a:pPr>
            <a:r>
              <a:rPr lang="zh-CN" altLang="en-US" dirty="0">
                <a:latin typeface="Times New Roman" panose="02020603050405020304" pitchFamily="18" charset="0"/>
                <a:ea typeface="宋体" panose="02010600030101010101" pitchFamily="2" charset="-122"/>
              </a:rPr>
              <a:t>该指令实现的功能相当于</a:t>
            </a:r>
            <a:r>
              <a:rPr lang="en-US" altLang="zh-CN"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语言中求数组（对应</a:t>
            </a:r>
            <a:r>
              <a:rPr lang="en-US" altLang="zh-CN" dirty="0">
                <a:latin typeface="Times New Roman" panose="02020603050405020304" pitchFamily="18" charset="0"/>
                <a:ea typeface="宋体" panose="02010600030101010101" pitchFamily="2" charset="-122"/>
              </a:rPr>
              <a:t>DPTR</a:t>
            </a:r>
            <a:r>
              <a:rPr lang="zh-CN" altLang="en-US" dirty="0">
                <a:latin typeface="Times New Roman" panose="02020603050405020304" pitchFamily="18" charset="0"/>
                <a:ea typeface="宋体" panose="02010600030101010101" pitchFamily="2" charset="-122"/>
              </a:rPr>
              <a:t>）中的第</a:t>
            </a:r>
            <a:r>
              <a:rPr lang="en-US" altLang="zh-CN" dirty="0">
                <a:latin typeface="Times New Roman" panose="02020603050405020304" pitchFamily="18" charset="0"/>
                <a:ea typeface="宋体" panose="02010600030101010101" pitchFamily="2" charset="-122"/>
              </a:rPr>
              <a:t>10H</a:t>
            </a:r>
            <a:r>
              <a:rPr lang="zh-CN" altLang="en-US" dirty="0">
                <a:latin typeface="Times New Roman" panose="02020603050405020304" pitchFamily="18" charset="0"/>
                <a:ea typeface="宋体" panose="02010600030101010101" pitchFamily="2" charset="-122"/>
              </a:rPr>
              <a:t>（对应</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）的数。</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45</a:t>
            </a:fld>
            <a:endParaRPr lang="en-US" altLang="zh-CN" sz="1400" b="0" dirty="0"/>
          </a:p>
        </p:txBody>
      </p:sp>
      <p:sp>
        <p:nvSpPr>
          <p:cNvPr id="56322" name="Rectangle 2"/>
          <p:cNvSpPr/>
          <p:nvPr/>
        </p:nvSpPr>
        <p:spPr>
          <a:xfrm>
            <a:off x="228600" y="1066800"/>
            <a:ext cx="8534400" cy="3378200"/>
          </a:xfrm>
          <a:prstGeom prst="rect">
            <a:avLst/>
          </a:prstGeom>
          <a:noFill/>
          <a:ln w="9525">
            <a:noFill/>
          </a:ln>
        </p:spPr>
        <p:txBody>
          <a:bodyPr anchor="t" anchorCtr="0">
            <a:spAutoFit/>
          </a:bodyPr>
          <a:lstStyle/>
          <a:p>
            <a:pPr indent="266700" algn="just">
              <a:lnSpc>
                <a:spcPct val="150000"/>
              </a:lnSpc>
            </a:pPr>
            <a:r>
              <a:rPr lang="en-US" altLang="zh-CN" dirty="0">
                <a:solidFill>
                  <a:srgbClr val="FF6600"/>
                </a:solidFill>
                <a:latin typeface="Times New Roman" panose="02020603050405020304" pitchFamily="18" charset="0"/>
                <a:ea typeface="宋体" panose="02010600030101010101" pitchFamily="2" charset="-122"/>
              </a:rPr>
              <a:t>(6)  </a:t>
            </a:r>
            <a:r>
              <a:rPr lang="zh-CN" altLang="en-US" dirty="0">
                <a:solidFill>
                  <a:srgbClr val="000000"/>
                </a:solidFill>
                <a:latin typeface="Times New Roman" panose="02020603050405020304" pitchFamily="18" charset="0"/>
                <a:ea typeface="黑体" panose="02010609060101010101" pitchFamily="49" charset="-122"/>
              </a:rPr>
              <a:t>相对寻址</a:t>
            </a:r>
            <a:r>
              <a:rPr lang="zh-CN" altLang="en-US" dirty="0">
                <a:solidFill>
                  <a:srgbClr val="FF6600"/>
                </a:solidFill>
                <a:latin typeface="Times New Roman" panose="02020603050405020304" pitchFamily="18" charset="0"/>
                <a:ea typeface="宋体" panose="02010600030101010101" pitchFamily="2" charset="-122"/>
              </a:rPr>
              <a:t> </a:t>
            </a:r>
          </a:p>
          <a:p>
            <a:pPr indent="266700" algn="just">
              <a:lnSpc>
                <a:spcPct val="150000"/>
              </a:lnSpc>
            </a:pPr>
            <a:r>
              <a:rPr lang="zh-CN" altLang="en-US" dirty="0">
                <a:solidFill>
                  <a:srgbClr val="000000"/>
                </a:solidFill>
                <a:latin typeface="Times New Roman" panose="02020603050405020304" pitchFamily="18" charset="0"/>
                <a:ea typeface="宋体" panose="02010600030101010101" pitchFamily="2" charset="-122"/>
              </a:rPr>
              <a:t>寻址方式主要用于通过修改</a:t>
            </a:r>
            <a:r>
              <a:rPr lang="en-US" altLang="zh-CN" dirty="0">
                <a:solidFill>
                  <a:srgbClr val="000000"/>
                </a:solidFill>
                <a:latin typeface="Times New Roman" panose="02020603050405020304" pitchFamily="18" charset="0"/>
                <a:ea typeface="宋体" panose="02010600030101010101" pitchFamily="2" charset="-122"/>
              </a:rPr>
              <a:t>PC</a:t>
            </a:r>
            <a:r>
              <a:rPr lang="zh-CN" altLang="en-US" dirty="0">
                <a:solidFill>
                  <a:srgbClr val="000000"/>
                </a:solidFill>
                <a:latin typeface="Times New Roman" panose="02020603050405020304" pitchFamily="18" charset="0"/>
                <a:ea typeface="宋体" panose="02010600030101010101" pitchFamily="2" charset="-122"/>
              </a:rPr>
              <a:t>值而实现程序的分支转移。 </a:t>
            </a:r>
          </a:p>
          <a:p>
            <a:pPr indent="266700" algn="just">
              <a:lnSpc>
                <a:spcPct val="150000"/>
              </a:lnSpc>
            </a:pPr>
            <a:r>
              <a:rPr lang="zh-CN" altLang="en-US" dirty="0">
                <a:solidFill>
                  <a:schemeClr val="accent2"/>
                </a:solidFill>
                <a:latin typeface="Times New Roman" panose="02020603050405020304" pitchFamily="18" charset="0"/>
                <a:ea typeface="宋体" panose="02010600030101010101" pitchFamily="2" charset="-122"/>
              </a:rPr>
              <a:t>例如：</a:t>
            </a:r>
          </a:p>
          <a:p>
            <a:pPr indent="266700" algn="just">
              <a:lnSpc>
                <a:spcPct val="150000"/>
              </a:lnSpc>
            </a:pPr>
            <a:r>
              <a:rPr lang="zh-CN" altLang="en-US" dirty="0">
                <a:solidFill>
                  <a:schemeClr val="accent2"/>
                </a:solidFill>
                <a:latin typeface="Times New Roman" panose="02020603050405020304" pitchFamily="18" charset="0"/>
                <a:ea typeface="宋体" panose="02010600030101010101" pitchFamily="2" charset="-122"/>
              </a:rPr>
              <a:t>      	            </a:t>
            </a:r>
            <a:r>
              <a:rPr lang="en-US" altLang="zh-CN" dirty="0">
                <a:solidFill>
                  <a:schemeClr val="accent2"/>
                </a:solidFill>
                <a:latin typeface="Times New Roman" panose="02020603050405020304" pitchFamily="18" charset="0"/>
                <a:ea typeface="宋体" panose="02010600030101010101" pitchFamily="2" charset="-122"/>
              </a:rPr>
              <a:t>ORG    2000H			</a:t>
            </a:r>
          </a:p>
          <a:p>
            <a:pPr indent="266700" algn="just">
              <a:lnSpc>
                <a:spcPct val="150000"/>
              </a:lnSpc>
            </a:pPr>
            <a:r>
              <a:rPr lang="en-US" altLang="zh-CN" dirty="0">
                <a:solidFill>
                  <a:schemeClr val="accent2"/>
                </a:solidFill>
                <a:latin typeface="Times New Roman" panose="02020603050405020304" pitchFamily="18" charset="0"/>
                <a:ea typeface="宋体" panose="02010600030101010101" pitchFamily="2" charset="-122"/>
              </a:rPr>
              <a:t>		JC  	 rel      		  </a:t>
            </a:r>
            <a:r>
              <a:rPr lang="zh-CN" altLang="en-US" dirty="0">
                <a:solidFill>
                  <a:schemeClr val="accent2"/>
                </a:solidFill>
                <a:latin typeface="Times New Roman" panose="02020603050405020304" pitchFamily="18" charset="0"/>
                <a:ea typeface="宋体" panose="02010600030101010101" pitchFamily="2" charset="-122"/>
              </a:rPr>
              <a:t>；双字节指令</a:t>
            </a:r>
            <a:r>
              <a:rPr lang="zh-CN" altLang="en-US" dirty="0">
                <a:solidFill>
                  <a:srgbClr val="000000"/>
                </a:solidFill>
                <a:latin typeface="Times New Roman" panose="02020603050405020304" pitchFamily="18" charset="0"/>
                <a:ea typeface="宋体" panose="02010600030101010101" pitchFamily="2" charset="-122"/>
              </a:rPr>
              <a:t> </a:t>
            </a:r>
          </a:p>
          <a:p>
            <a:pPr indent="266700" algn="just">
              <a:lnSpc>
                <a:spcPct val="150000"/>
              </a:lnSpc>
            </a:pPr>
            <a:r>
              <a:rPr lang="zh-CN" altLang="en-US" dirty="0">
                <a:solidFill>
                  <a:srgbClr val="00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rel</a:t>
            </a:r>
            <a:r>
              <a:rPr lang="zh-CN" altLang="en-US" dirty="0">
                <a:solidFill>
                  <a:srgbClr val="FF0000"/>
                </a:solidFill>
                <a:latin typeface="Times New Roman" panose="02020603050405020304" pitchFamily="18" charset="0"/>
                <a:ea typeface="宋体" panose="02010600030101010101" pitchFamily="2" charset="-122"/>
              </a:rPr>
              <a:t>为一字节补码数</a:t>
            </a:r>
            <a:r>
              <a:rPr lang="zh-CN" altLang="en-US" dirty="0">
                <a:solidFill>
                  <a:srgbClr val="000000"/>
                </a:solidFill>
                <a:latin typeface="Times New Roman" panose="02020603050405020304" pitchFamily="18" charset="0"/>
                <a:ea typeface="宋体" panose="02010600030101010101" pitchFamily="2" charset="-122"/>
              </a:rPr>
              <a:t>，范围为－</a:t>
            </a:r>
            <a:r>
              <a:rPr lang="en-US" altLang="zh-CN" dirty="0">
                <a:solidFill>
                  <a:srgbClr val="000000"/>
                </a:solidFill>
                <a:latin typeface="Times New Roman" panose="02020603050405020304" pitchFamily="18" charset="0"/>
                <a:ea typeface="宋体" panose="02010600030101010101" pitchFamily="2" charset="-122"/>
              </a:rPr>
              <a:t>128</a:t>
            </a:r>
            <a:r>
              <a:rPr lang="zh-CN" altLang="en-US" dirty="0">
                <a:solidFill>
                  <a:srgbClr val="000000"/>
                </a:solidFill>
                <a:latin typeface="Times New Roman" panose="02020603050405020304" pitchFamily="18" charset="0"/>
                <a:ea typeface="宋体" panose="02010600030101010101" pitchFamily="2" charset="-122"/>
              </a:rPr>
              <a:t>～</a:t>
            </a:r>
            <a:r>
              <a:rPr lang="en-US" altLang="zh-CN" dirty="0">
                <a:solidFill>
                  <a:srgbClr val="000000"/>
                </a:solidFill>
                <a:latin typeface="Times New Roman" panose="02020603050405020304" pitchFamily="18" charset="0"/>
                <a:ea typeface="宋体" panose="02010600030101010101" pitchFamily="2" charset="-122"/>
              </a:rPr>
              <a:t>127</a:t>
            </a:r>
            <a:r>
              <a:rPr lang="zh-CN" altLang="en-US" dirty="0">
                <a:solidFill>
                  <a:srgbClr val="000000"/>
                </a:solidFill>
                <a:latin typeface="Times New Roman" panose="02020603050405020304" pitchFamily="18" charset="0"/>
                <a:ea typeface="宋体" panose="02010600030101010101" pitchFamily="2" charset="-122"/>
              </a:rPr>
              <a:t>。</a:t>
            </a:r>
            <a:endParaRPr lang="zh-CN" altLang="en-US" dirty="0">
              <a:solidFill>
                <a:srgbClr val="FF6600"/>
              </a:solidFill>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46</a:t>
            </a:fld>
            <a:endParaRPr lang="en-US" altLang="zh-CN" sz="1400" b="0" dirty="0"/>
          </a:p>
        </p:txBody>
      </p:sp>
      <p:pic>
        <p:nvPicPr>
          <p:cNvPr id="2" name="图片 1"/>
          <p:cNvPicPr>
            <a:picLocks noChangeAspect="1"/>
          </p:cNvPicPr>
          <p:nvPr/>
        </p:nvPicPr>
        <p:blipFill>
          <a:blip r:embed="rId2"/>
          <a:stretch>
            <a:fillRect/>
          </a:stretch>
        </p:blipFill>
        <p:spPr>
          <a:xfrm>
            <a:off x="323215" y="1124585"/>
            <a:ext cx="8290560" cy="4485640"/>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47</a:t>
            </a:fld>
            <a:endParaRPr lang="en-US" altLang="zh-CN" sz="1400" b="0" dirty="0"/>
          </a:p>
        </p:txBody>
      </p:sp>
      <p:sp>
        <p:nvSpPr>
          <p:cNvPr id="58370" name="Text Box 4"/>
          <p:cNvSpPr txBox="1"/>
          <p:nvPr/>
        </p:nvSpPr>
        <p:spPr>
          <a:xfrm>
            <a:off x="395288" y="1341438"/>
            <a:ext cx="8137525" cy="2136775"/>
          </a:xfrm>
          <a:prstGeom prst="rect">
            <a:avLst/>
          </a:prstGeom>
          <a:noFill/>
          <a:ln w="9525">
            <a:noFill/>
          </a:ln>
        </p:spPr>
        <p:txBody>
          <a:bodyPr anchor="t" anchorCtr="0">
            <a:spAutoFit/>
          </a:bodyPr>
          <a:lstStyle/>
          <a:p>
            <a:pPr>
              <a:lnSpc>
                <a:spcPct val="140000"/>
              </a:lnSpc>
              <a:spcBef>
                <a:spcPct val="50000"/>
              </a:spcBef>
            </a:pPr>
            <a:r>
              <a:rPr lang="zh-CN" altLang="en-US" dirty="0">
                <a:latin typeface="Times New Roman" panose="02020603050405020304" pitchFamily="18" charset="0"/>
                <a:ea typeface="宋体" panose="02010600030101010101" pitchFamily="2" charset="-122"/>
              </a:rPr>
              <a:t>注意</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在机器语言中相对转移指令指令代码后跟的</a:t>
            </a:r>
            <a:r>
              <a:rPr lang="zh-CN" altLang="en-US" dirty="0">
                <a:solidFill>
                  <a:srgbClr val="FF0000"/>
                </a:solidFill>
                <a:latin typeface="Times New Roman" panose="02020603050405020304" pitchFamily="18" charset="0"/>
                <a:ea typeface="宋体" panose="02010600030101010101" pitchFamily="2" charset="-122"/>
              </a:rPr>
              <a:t>不是汇编语言中给出的目标地址</a:t>
            </a:r>
            <a:r>
              <a:rPr lang="zh-CN" altLang="en-US" dirty="0">
                <a:latin typeface="Times New Roman" panose="02020603050405020304" pitchFamily="18" charset="0"/>
                <a:ea typeface="宋体" panose="02010600030101010101" pitchFamily="2" charset="-122"/>
              </a:rPr>
              <a:t>，而是</a:t>
            </a:r>
            <a:r>
              <a:rPr lang="zh-CN" altLang="en-US" dirty="0">
                <a:solidFill>
                  <a:srgbClr val="FF0000"/>
                </a:solidFill>
                <a:latin typeface="Times New Roman" panose="02020603050405020304" pitchFamily="18" charset="0"/>
                <a:ea typeface="宋体" panose="02010600030101010101" pitchFamily="2" charset="-122"/>
              </a:rPr>
              <a:t>该目标地址和程序计数器</a:t>
            </a:r>
            <a:r>
              <a:rPr lang="en-US" altLang="zh-CN" dirty="0">
                <a:solidFill>
                  <a:srgbClr val="FF0000"/>
                </a:solidFill>
                <a:latin typeface="Times New Roman" panose="02020603050405020304" pitchFamily="18" charset="0"/>
                <a:ea typeface="宋体" panose="02010600030101010101" pitchFamily="2" charset="-122"/>
              </a:rPr>
              <a:t>PC</a:t>
            </a:r>
            <a:r>
              <a:rPr lang="zh-CN" altLang="en-US" dirty="0">
                <a:solidFill>
                  <a:srgbClr val="FF0000"/>
                </a:solidFill>
                <a:latin typeface="Times New Roman" panose="02020603050405020304" pitchFamily="18" charset="0"/>
                <a:ea typeface="宋体" panose="02010600030101010101" pitchFamily="2" charset="-122"/>
              </a:rPr>
              <a:t>的当前值（指跳转指令的下条指令的地址）之间的相对偏差</a:t>
            </a:r>
            <a:r>
              <a:rPr lang="en-US" altLang="zh-CN" dirty="0">
                <a:solidFill>
                  <a:srgbClr val="FF0000"/>
                </a:solidFill>
                <a:latin typeface="Times New Roman" panose="02020603050405020304" pitchFamily="18" charset="0"/>
                <a:ea typeface="宋体" panose="02010600030101010101" pitchFamily="2" charset="-122"/>
              </a:rPr>
              <a:t>rel</a:t>
            </a:r>
            <a:r>
              <a:rPr lang="zh-CN" altLang="en-US" dirty="0">
                <a:solidFill>
                  <a:srgbClr val="FF0000"/>
                </a:solidFill>
                <a:latin typeface="Times New Roman" panose="02020603050405020304" pitchFamily="18" charset="0"/>
                <a:ea typeface="宋体" panose="02010600030101010101" pitchFamily="2" charset="-122"/>
              </a:rPr>
              <a:t>。 </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48</a:t>
            </a:fld>
            <a:endParaRPr lang="en-US" altLang="zh-CN" sz="1400" b="0" dirty="0"/>
          </a:p>
        </p:txBody>
      </p:sp>
      <p:sp>
        <p:nvSpPr>
          <p:cNvPr id="59394" name="Rectangle 4"/>
          <p:cNvSpPr/>
          <p:nvPr/>
        </p:nvSpPr>
        <p:spPr>
          <a:xfrm>
            <a:off x="2411413" y="5805488"/>
            <a:ext cx="4465637" cy="457200"/>
          </a:xfrm>
          <a:prstGeom prst="rect">
            <a:avLst/>
          </a:prstGeom>
          <a:noFill/>
          <a:ln w="9525">
            <a:noFill/>
          </a:ln>
        </p:spPr>
        <p:txBody>
          <a:bodyPr anchor="ctr" anchorCtr="0">
            <a:spAutoFit/>
          </a:bodyPr>
          <a:lstStyle/>
          <a:p>
            <a:pPr algn="ctr"/>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4-9  </a:t>
            </a:r>
            <a:r>
              <a:rPr lang="zh-CN" altLang="en-US" dirty="0">
                <a:latin typeface="Times New Roman" panose="02020603050405020304" pitchFamily="18" charset="0"/>
                <a:ea typeface="宋体" panose="02010600030101010101" pitchFamily="2" charset="-122"/>
              </a:rPr>
              <a:t>相对寻址操作示意图</a:t>
            </a:r>
          </a:p>
        </p:txBody>
      </p:sp>
      <p:sp>
        <p:nvSpPr>
          <p:cNvPr id="59395" name="Rectangle 6"/>
          <p:cNvSpPr/>
          <p:nvPr/>
        </p:nvSpPr>
        <p:spPr>
          <a:xfrm>
            <a:off x="0" y="2157413"/>
            <a:ext cx="9144000" cy="0"/>
          </a:xfrm>
          <a:prstGeom prst="rect">
            <a:avLst/>
          </a:prstGeom>
          <a:noFill/>
          <a:ln w="9525">
            <a:noFill/>
          </a:ln>
        </p:spPr>
        <p:txBody>
          <a:bodyPr wrap="none" anchor="ctr" anchorCtr="0">
            <a:spAutoFit/>
          </a:bodyPr>
          <a:lstStyle/>
          <a:p>
            <a:pPr algn="ctr"/>
            <a:endParaRPr lang="zh-CN" altLang="en-US" dirty="0">
              <a:latin typeface="Times New Roman" panose="02020603050405020304" pitchFamily="18" charset="0"/>
              <a:ea typeface="宋体" panose="02010600030101010101" pitchFamily="2" charset="-122"/>
            </a:endParaRPr>
          </a:p>
        </p:txBody>
      </p:sp>
      <p:pic>
        <p:nvPicPr>
          <p:cNvPr id="2" name="图片 1"/>
          <p:cNvPicPr>
            <a:picLocks noChangeAspect="1"/>
          </p:cNvPicPr>
          <p:nvPr/>
        </p:nvPicPr>
        <p:blipFill>
          <a:blip r:embed="rId2"/>
          <a:stretch>
            <a:fillRect/>
          </a:stretch>
        </p:blipFill>
        <p:spPr>
          <a:xfrm>
            <a:off x="2076450" y="876300"/>
            <a:ext cx="4445635" cy="4547235"/>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49</a:t>
            </a:fld>
            <a:endParaRPr lang="en-US" altLang="zh-CN" sz="1400" b="0" dirty="0"/>
          </a:p>
        </p:txBody>
      </p:sp>
      <p:sp>
        <p:nvSpPr>
          <p:cNvPr id="60418" name="Text Box 4"/>
          <p:cNvSpPr txBox="1"/>
          <p:nvPr/>
        </p:nvSpPr>
        <p:spPr>
          <a:xfrm>
            <a:off x="179388" y="741363"/>
            <a:ext cx="8424862" cy="5568950"/>
          </a:xfrm>
          <a:prstGeom prst="rect">
            <a:avLst/>
          </a:prstGeom>
          <a:noFill/>
          <a:ln w="9525">
            <a:noFill/>
          </a:ln>
        </p:spPr>
        <p:txBody>
          <a:bodyPr anchor="t" anchorCtr="0">
            <a:spAutoFit/>
          </a:bodyPr>
          <a:lstStyle/>
          <a:p>
            <a:pPr algn="ctr">
              <a:lnSpc>
                <a:spcPct val="150000"/>
              </a:lnSpc>
            </a:pPr>
            <a:r>
              <a:rPr lang="zh-CN" altLang="en-US" dirty="0">
                <a:latin typeface="Times New Roman" panose="02020603050405020304" pitchFamily="18" charset="0"/>
                <a:ea typeface="宋体" panose="02010600030101010101" pitchFamily="2" charset="-122"/>
              </a:rPr>
              <a:t>在编程中，经常用标号代替目标地址。</a:t>
            </a:r>
            <a:r>
              <a:rPr lang="zh-CN" altLang="pt-BR" dirty="0">
                <a:latin typeface="Times New Roman" panose="02020603050405020304" pitchFamily="18" charset="0"/>
                <a:ea typeface="宋体" panose="02010600030101010101" pitchFamily="2" charset="-122"/>
              </a:rPr>
              <a:t>		  		</a:t>
            </a:r>
            <a:endParaRPr lang="pt-BR" altLang="zh-CN" dirty="0">
              <a:latin typeface="Times New Roman" panose="02020603050405020304" pitchFamily="18" charset="0"/>
              <a:ea typeface="宋体" panose="02010600030101010101" pitchFamily="2" charset="-122"/>
            </a:endParaRPr>
          </a:p>
          <a:p>
            <a:pPr>
              <a:lnSpc>
                <a:spcPct val="150000"/>
              </a:lnSpc>
            </a:pPr>
            <a:r>
              <a:rPr lang="pt-BR" altLang="zh-CN" dirty="0">
                <a:latin typeface="Times New Roman" panose="02020603050405020304" pitchFamily="18" charset="0"/>
                <a:ea typeface="宋体" panose="02010600030101010101" pitchFamily="2" charset="-122"/>
              </a:rPr>
              <a:t>		  		 ORG   0000H </a:t>
            </a:r>
          </a:p>
          <a:p>
            <a:pPr>
              <a:lnSpc>
                <a:spcPct val="150000"/>
              </a:lnSpc>
            </a:pPr>
            <a:r>
              <a:rPr lang="pt-BR" altLang="zh-CN" dirty="0">
                <a:latin typeface="Times New Roman" panose="02020603050405020304" pitchFamily="18" charset="0"/>
                <a:ea typeface="宋体" panose="02010600030101010101" pitchFamily="2" charset="-122"/>
              </a:rPr>
              <a:t>                                                 MOV	  A, #89H	</a:t>
            </a:r>
          </a:p>
          <a:p>
            <a:pPr>
              <a:lnSpc>
                <a:spcPct val="150000"/>
              </a:lnSpc>
            </a:pPr>
            <a:r>
              <a:rPr lang="pt-BR" altLang="zh-CN" dirty="0">
                <a:latin typeface="Times New Roman" panose="02020603050405020304" pitchFamily="18" charset="0"/>
                <a:ea typeface="宋体" panose="02010600030101010101" pitchFamily="2" charset="-122"/>
              </a:rPr>
              <a:t>		  		ADD	  A, #78H	</a:t>
            </a:r>
          </a:p>
          <a:p>
            <a:pPr>
              <a:lnSpc>
                <a:spcPct val="150000"/>
              </a:lnSpc>
            </a:pPr>
            <a:r>
              <a:rPr lang="pt-BR" altLang="zh-CN" dirty="0">
                <a:latin typeface="Times New Roman" panose="02020603050405020304" pitchFamily="18" charset="0"/>
                <a:ea typeface="宋体" panose="02010600030101010101" pitchFamily="2" charset="-122"/>
              </a:rPr>
              <a:t>		  		</a:t>
            </a:r>
            <a:r>
              <a:rPr lang="pt-BR" altLang="zh-CN" dirty="0">
                <a:solidFill>
                  <a:srgbClr val="FF0000"/>
                </a:solidFill>
                <a:latin typeface="Times New Roman" panose="02020603050405020304" pitchFamily="18" charset="0"/>
                <a:ea typeface="宋体" panose="02010600030101010101" pitchFamily="2" charset="-122"/>
              </a:rPr>
              <a:t>JC  	   LOOP</a:t>
            </a:r>
          </a:p>
          <a:p>
            <a:pPr>
              <a:lnSpc>
                <a:spcPct val="150000"/>
              </a:lnSpc>
            </a:pPr>
            <a:r>
              <a:rPr lang="pt-BR" altLang="zh-CN" dirty="0">
                <a:latin typeface="Times New Roman" panose="02020603050405020304" pitchFamily="18" charset="0"/>
                <a:ea typeface="宋体" panose="02010600030101010101" pitchFamily="2" charset="-122"/>
              </a:rPr>
              <a:t>		  		NOP</a:t>
            </a:r>
          </a:p>
          <a:p>
            <a:pPr>
              <a:lnSpc>
                <a:spcPct val="150000"/>
              </a:lnSpc>
            </a:pPr>
            <a:r>
              <a:rPr lang="pt-BR" altLang="zh-CN" dirty="0">
                <a:latin typeface="Times New Roman" panose="02020603050405020304" pitchFamily="18" charset="0"/>
                <a:ea typeface="宋体" panose="02010600030101010101" pitchFamily="2" charset="-122"/>
              </a:rPr>
              <a:t>		  		ORG	   30H</a:t>
            </a:r>
          </a:p>
          <a:p>
            <a:pPr>
              <a:lnSpc>
                <a:spcPct val="150000"/>
              </a:lnSpc>
            </a:pPr>
            <a:r>
              <a:rPr lang="pt-BR" altLang="zh-CN" dirty="0">
                <a:latin typeface="Times New Roman" panose="02020603050405020304" pitchFamily="18" charset="0"/>
                <a:ea typeface="宋体" panose="02010600030101010101" pitchFamily="2" charset="-122"/>
              </a:rPr>
              <a:t>		</a:t>
            </a:r>
            <a:r>
              <a:rPr lang="pt-BR" altLang="zh-CN" dirty="0">
                <a:solidFill>
                  <a:srgbClr val="FF0000"/>
                </a:solidFill>
                <a:latin typeface="Times New Roman" panose="02020603050405020304" pitchFamily="18" charset="0"/>
                <a:ea typeface="宋体" panose="02010600030101010101" pitchFamily="2" charset="-122"/>
              </a:rPr>
              <a:t>LOOP</a:t>
            </a:r>
            <a:r>
              <a:rPr lang="zh-CN" altLang="pt-BR" dirty="0">
                <a:solidFill>
                  <a:srgbClr val="FF0000"/>
                </a:solidFill>
                <a:latin typeface="Times New Roman" panose="02020603050405020304" pitchFamily="18" charset="0"/>
                <a:ea typeface="宋体" panose="02010600030101010101" pitchFamily="2" charset="-122"/>
              </a:rPr>
              <a:t>：</a:t>
            </a:r>
            <a:r>
              <a:rPr lang="zh-CN" altLang="pt-BR" dirty="0">
                <a:latin typeface="Times New Roman" panose="02020603050405020304" pitchFamily="18" charset="0"/>
                <a:ea typeface="宋体" panose="02010600030101010101" pitchFamily="2" charset="-122"/>
              </a:rPr>
              <a:t>	</a:t>
            </a:r>
            <a:r>
              <a:rPr lang="pt-BR" altLang="zh-CN" dirty="0">
                <a:latin typeface="Times New Roman" panose="02020603050405020304" pitchFamily="18" charset="0"/>
                <a:ea typeface="宋体" panose="02010600030101010101" pitchFamily="2" charset="-122"/>
              </a:rPr>
              <a:t>ADD	  A, #30H</a:t>
            </a:r>
          </a:p>
          <a:p>
            <a:pPr>
              <a:lnSpc>
                <a:spcPct val="150000"/>
              </a:lnSpc>
            </a:pPr>
            <a:r>
              <a:rPr lang="pt-BR" altLang="zh-CN" dirty="0">
                <a:latin typeface="Times New Roman" panose="02020603050405020304" pitchFamily="18" charset="0"/>
                <a:ea typeface="宋体" panose="02010600030101010101" pitchFamily="2" charset="-122"/>
              </a:rPr>
              <a:t>		  		NOP</a:t>
            </a:r>
          </a:p>
          <a:p>
            <a:pPr>
              <a:lnSpc>
                <a:spcPct val="150000"/>
              </a:lnSpc>
            </a:pPr>
            <a:r>
              <a:rPr lang="pt-BR" altLang="zh-CN" dirty="0">
                <a:latin typeface="Times New Roman" panose="02020603050405020304" pitchFamily="18" charset="0"/>
                <a:ea typeface="宋体" panose="02010600030101010101" pitchFamily="2" charset="-122"/>
              </a:rPr>
              <a:t>		  		END</a:t>
            </a:r>
            <a:endParaRPr lang="en-US" altLang="zh-CN"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50</a:t>
            </a:fld>
            <a:endParaRPr lang="en-US" altLang="zh-CN" sz="1400" b="0" dirty="0"/>
          </a:p>
        </p:txBody>
      </p:sp>
      <p:sp>
        <p:nvSpPr>
          <p:cNvPr id="61442" name="Rectangle 2"/>
          <p:cNvSpPr/>
          <p:nvPr/>
        </p:nvSpPr>
        <p:spPr>
          <a:xfrm>
            <a:off x="0" y="1052513"/>
            <a:ext cx="8534400" cy="3266440"/>
          </a:xfrm>
          <a:prstGeom prst="rect">
            <a:avLst/>
          </a:prstGeom>
          <a:noFill/>
          <a:ln w="9525">
            <a:noFill/>
          </a:ln>
        </p:spPr>
        <p:txBody>
          <a:bodyPr anchor="t" anchorCtr="0">
            <a:spAutoFit/>
          </a:bodyPr>
          <a:lstStyle/>
          <a:p>
            <a:pPr indent="266700" algn="just">
              <a:lnSpc>
                <a:spcPct val="130000"/>
              </a:lnSpc>
            </a:pPr>
            <a:r>
              <a:rPr lang="en-US" altLang="zh-CN" dirty="0">
                <a:solidFill>
                  <a:srgbClr val="FF6600"/>
                </a:solidFill>
                <a:latin typeface="Times New Roman" panose="02020603050405020304" pitchFamily="18" charset="0"/>
                <a:ea typeface="宋体" panose="02010600030101010101" pitchFamily="2" charset="-122"/>
              </a:rPr>
              <a:t>(7)  </a:t>
            </a:r>
            <a:r>
              <a:rPr lang="zh-CN" altLang="en-US" dirty="0">
                <a:solidFill>
                  <a:srgbClr val="FF6600"/>
                </a:solidFill>
                <a:latin typeface="Times New Roman" panose="02020603050405020304" pitchFamily="18" charset="0"/>
                <a:ea typeface="黑体" panose="02010609060101010101" pitchFamily="49" charset="-122"/>
              </a:rPr>
              <a:t>位寻址方式</a:t>
            </a:r>
            <a:endParaRPr lang="zh-CN" altLang="en-US" b="0" dirty="0">
              <a:latin typeface="宋体" panose="02010600030101010101" pitchFamily="2" charset="-122"/>
              <a:ea typeface="宋体" panose="02010600030101010101" pitchFamily="2" charset="-122"/>
            </a:endParaRPr>
          </a:p>
          <a:p>
            <a:pPr indent="266700" algn="just" eaLnBrk="0" hangingPunct="0">
              <a:lnSpc>
                <a:spcPct val="130000"/>
              </a:lnSpc>
            </a:pPr>
            <a:r>
              <a:rPr lang="zh-CN" altLang="en-US" dirty="0">
                <a:latin typeface="Times New Roman" panose="02020603050405020304" pitchFamily="18" charset="0"/>
                <a:ea typeface="宋体" panose="02010600030101010101" pitchFamily="2" charset="-122"/>
              </a:rPr>
              <a:t>在进行位操作时，借助于进位位</a:t>
            </a:r>
            <a:r>
              <a:rPr lang="en-US" altLang="zh-CN"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作为操作累加器。</a:t>
            </a:r>
            <a:endParaRPr lang="zh-CN" altLang="en-US" b="0" dirty="0">
              <a:latin typeface="宋体" panose="02010600030101010101" pitchFamily="2" charset="-122"/>
              <a:ea typeface="宋体" panose="02010600030101010101" pitchFamily="2" charset="-122"/>
            </a:endParaRPr>
          </a:p>
          <a:p>
            <a:pPr indent="266700" algn="just" eaLnBrk="0" hangingPunct="0">
              <a:lnSpc>
                <a:spcPct val="150000"/>
              </a:lnSpc>
            </a:pPr>
            <a:r>
              <a:rPr lang="zh-CN" altLang="en-US" dirty="0">
                <a:solidFill>
                  <a:srgbClr val="000099"/>
                </a:solidFill>
                <a:latin typeface="Times New Roman" panose="02020603050405020304" pitchFamily="18" charset="0"/>
                <a:ea typeface="宋体" panose="02010600030101010101" pitchFamily="2" charset="-122"/>
              </a:rPr>
              <a:t>例如：  </a:t>
            </a:r>
            <a:r>
              <a:rPr lang="en-US" altLang="zh-CN" dirty="0">
                <a:solidFill>
                  <a:srgbClr val="000099"/>
                </a:solidFill>
                <a:latin typeface="Times New Roman" panose="02020603050405020304" pitchFamily="18" charset="0"/>
                <a:ea typeface="宋体" panose="02010600030101010101" pitchFamily="2" charset="-122"/>
              </a:rPr>
              <a:t>CLR    C;</a:t>
            </a:r>
          </a:p>
          <a:p>
            <a:pPr indent="266700" algn="just" eaLnBrk="0" hangingPunct="0">
              <a:lnSpc>
                <a:spcPct val="150000"/>
              </a:lnSpc>
            </a:pPr>
            <a:r>
              <a:rPr lang="en-US" altLang="zh-CN" dirty="0">
                <a:solidFill>
                  <a:srgbClr val="000099"/>
                </a:solidFill>
                <a:latin typeface="Times New Roman" panose="02020603050405020304" pitchFamily="18" charset="0"/>
                <a:ea typeface="宋体" panose="02010600030101010101" pitchFamily="2" charset="-122"/>
              </a:rPr>
              <a:t>              MOV  20H</a:t>
            </a:r>
            <a:r>
              <a:rPr lang="zh-CN" altLang="en-US" dirty="0">
                <a:solidFill>
                  <a:srgbClr val="000099"/>
                </a:solidFill>
                <a:latin typeface="Times New Roman" panose="02020603050405020304" pitchFamily="18" charset="0"/>
                <a:ea typeface="宋体" panose="02010600030101010101" pitchFamily="2" charset="-122"/>
              </a:rPr>
              <a:t>，</a:t>
            </a:r>
            <a:r>
              <a:rPr lang="en-US" altLang="zh-CN" dirty="0">
                <a:solidFill>
                  <a:srgbClr val="000099"/>
                </a:solidFill>
                <a:latin typeface="Times New Roman" panose="02020603050405020304" pitchFamily="18" charset="0"/>
                <a:ea typeface="宋体" panose="02010600030101010101" pitchFamily="2" charset="-122"/>
              </a:rPr>
              <a:t>C      </a:t>
            </a:r>
            <a:r>
              <a:rPr lang="zh-CN" altLang="en-US" dirty="0">
                <a:solidFill>
                  <a:srgbClr val="000099"/>
                </a:solidFill>
                <a:latin typeface="Times New Roman" panose="02020603050405020304" pitchFamily="18" charset="0"/>
                <a:ea typeface="宋体" panose="02010600030101010101" pitchFamily="2" charset="-122"/>
              </a:rPr>
              <a:t>；</a:t>
            </a:r>
            <a:r>
              <a:rPr lang="en-US" altLang="zh-CN" dirty="0">
                <a:solidFill>
                  <a:srgbClr val="000099"/>
                </a:solidFill>
                <a:latin typeface="Times New Roman" panose="02020603050405020304" pitchFamily="18" charset="0"/>
                <a:ea typeface="宋体" panose="02010600030101010101" pitchFamily="2" charset="-122"/>
              </a:rPr>
              <a:t>20H←</a:t>
            </a:r>
            <a:r>
              <a:rPr lang="zh-CN" altLang="en-US" dirty="0">
                <a:solidFill>
                  <a:srgbClr val="000099"/>
                </a:solidFill>
                <a:latin typeface="Times New Roman" panose="02020603050405020304" pitchFamily="18" charset="0"/>
                <a:ea typeface="宋体" panose="02010600030101010101" pitchFamily="2" charset="-122"/>
              </a:rPr>
              <a:t>（</a:t>
            </a:r>
            <a:r>
              <a:rPr lang="en-US" altLang="zh-CN" dirty="0">
                <a:solidFill>
                  <a:srgbClr val="000099"/>
                </a:solidFill>
                <a:latin typeface="Times New Roman" panose="02020603050405020304" pitchFamily="18" charset="0"/>
                <a:ea typeface="宋体" panose="02010600030101010101" pitchFamily="2" charset="-122"/>
              </a:rPr>
              <a:t>CY</a:t>
            </a:r>
            <a:r>
              <a:rPr lang="zh-CN" altLang="en-US" dirty="0">
                <a:solidFill>
                  <a:srgbClr val="000099"/>
                </a:solidFill>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20H</a:t>
            </a:r>
            <a:r>
              <a:rPr lang="zh-CN" altLang="en-US" dirty="0">
                <a:latin typeface="Times New Roman" panose="02020603050405020304" pitchFamily="18" charset="0"/>
                <a:ea typeface="宋体" panose="02010600030101010101" pitchFamily="2" charset="-122"/>
              </a:rPr>
              <a:t>是位地址</a:t>
            </a:r>
            <a:endParaRPr lang="zh-CN" altLang="en-US" b="0" dirty="0">
              <a:latin typeface="宋体" panose="02010600030101010101" pitchFamily="2" charset="-122"/>
              <a:ea typeface="宋体" panose="02010600030101010101" pitchFamily="2" charset="-122"/>
            </a:endParaRPr>
          </a:p>
          <a:p>
            <a:pPr indent="266700" algn="just" eaLnBrk="0" hangingPunct="0">
              <a:lnSpc>
                <a:spcPct val="150000"/>
              </a:lnSpc>
            </a:pPr>
            <a:r>
              <a:rPr lang="zh-CN" altLang="en-US" dirty="0">
                <a:solidFill>
                  <a:srgbClr val="FF6600"/>
                </a:solidFill>
                <a:latin typeface="Times New Roman" panose="02020603050405020304" pitchFamily="18" charset="0"/>
                <a:ea typeface="宋体" panose="02010600030101010101" pitchFamily="2" charset="-122"/>
              </a:rPr>
              <a:t>    </a:t>
            </a:r>
            <a:r>
              <a:rPr lang="zh-CN" altLang="en-US" dirty="0">
                <a:solidFill>
                  <a:srgbClr val="000099"/>
                </a:solidFill>
                <a:latin typeface="Times New Roman" panose="02020603050405020304" pitchFamily="18" charset="0"/>
                <a:ea typeface="宋体" panose="02010600030101010101" pitchFamily="2" charset="-122"/>
              </a:rPr>
              <a:t>	</a:t>
            </a:r>
            <a:endParaRPr lang="en-US" altLang="zh-CN" dirty="0">
              <a:solidFill>
                <a:srgbClr val="000099"/>
              </a:solidFill>
              <a:latin typeface="Times New Roman" panose="02020603050405020304" pitchFamily="18" charset="0"/>
              <a:ea typeface="宋体" panose="02010600030101010101" pitchFamily="2" charset="-122"/>
            </a:endParaRPr>
          </a:p>
          <a:p>
            <a:pPr indent="266700" algn="just" eaLnBrk="0" hangingPunct="0">
              <a:lnSpc>
                <a:spcPct val="150000"/>
              </a:lnSpc>
            </a:pPr>
            <a:r>
              <a:rPr lang="en-US" altLang="zh-CN" dirty="0">
                <a:solidFill>
                  <a:srgbClr val="FF6600"/>
                </a:solidFill>
                <a:latin typeface="Times New Roman" panose="02020603050405020304" pitchFamily="18" charset="0"/>
                <a:ea typeface="宋体" panose="02010600030101010101" pitchFamily="2" charset="-122"/>
              </a:rPr>
              <a:t>               </a:t>
            </a:r>
            <a:endParaRPr lang="en-US" altLang="zh-CN" b="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323215" y="1412875"/>
            <a:ext cx="8705215" cy="4639310"/>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52</a:t>
            </a:fld>
            <a:endParaRPr lang="en-US" altLang="zh-CN" sz="1400" b="0" dirty="0"/>
          </a:p>
        </p:txBody>
      </p:sp>
      <p:sp>
        <p:nvSpPr>
          <p:cNvPr id="67586" name="Rectangle 5"/>
          <p:cNvSpPr/>
          <p:nvPr/>
        </p:nvSpPr>
        <p:spPr>
          <a:xfrm>
            <a:off x="0" y="1371600"/>
            <a:ext cx="8534400" cy="3925888"/>
          </a:xfrm>
          <a:prstGeom prst="rect">
            <a:avLst/>
          </a:prstGeom>
          <a:noFill/>
          <a:ln w="9525">
            <a:noFill/>
          </a:ln>
        </p:spPr>
        <p:txBody>
          <a:bodyPr anchor="t" anchorCtr="0">
            <a:spAutoFit/>
          </a:bodyPr>
          <a:lstStyle/>
          <a:p>
            <a:pPr indent="268605" algn="just">
              <a:lnSpc>
                <a:spcPct val="150000"/>
              </a:lnSpc>
            </a:pPr>
            <a:r>
              <a:rPr lang="en-US" altLang="zh-CN" dirty="0">
                <a:solidFill>
                  <a:srgbClr val="FF0000"/>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说明</a:t>
            </a:r>
            <a:r>
              <a:rPr lang="en-US" altLang="zh-CN" dirty="0">
                <a:solidFill>
                  <a:srgbClr val="FF0000"/>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源操作数和目的操作数各有自己的寻址方式。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50H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R1</a:t>
            </a:r>
            <a:endParaRPr lang="en-US" altLang="zh-CN" b="0" dirty="0">
              <a:latin typeface="Times New Roman" panose="02020603050405020304" pitchFamily="18" charset="0"/>
              <a:ea typeface="宋体" panose="02010600030101010101" pitchFamily="2" charset="-122"/>
            </a:endParaRPr>
          </a:p>
          <a:p>
            <a:pPr indent="268605" algn="just" eaLnBrk="0" hangingPunct="0">
              <a:lnSpc>
                <a:spcPct val="15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源操作数：寄存器寻址方式，</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50000"/>
              </a:lnSpc>
            </a:pPr>
            <a:r>
              <a:rPr lang="zh-CN" altLang="en-US" dirty="0">
                <a:latin typeface="Times New Roman" panose="02020603050405020304" pitchFamily="18" charset="0"/>
                <a:ea typeface="宋体" panose="02010600030101010101" pitchFamily="2" charset="-122"/>
              </a:rPr>
              <a:t>	目的操作数：直接寻址方式，</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50000"/>
              </a:lnSpc>
            </a:pPr>
            <a:r>
              <a:rPr lang="zh-CN" altLang="en-US" dirty="0">
                <a:latin typeface="Times New Roman" panose="02020603050405020304" pitchFamily="18" charset="0"/>
                <a:ea typeface="宋体" panose="02010600030101010101" pitchFamily="2" charset="-122"/>
              </a:rPr>
              <a:t>	指令的功能：把按寄存器寻址取出的</a:t>
            </a:r>
            <a:r>
              <a:rPr lang="en-US" altLang="zh-CN" dirty="0">
                <a:latin typeface="Times New Roman" panose="02020603050405020304" pitchFamily="18" charset="0"/>
                <a:ea typeface="宋体" panose="02010600030101010101" pitchFamily="2" charset="-122"/>
              </a:rPr>
              <a:t>R1</a:t>
            </a:r>
            <a:r>
              <a:rPr lang="zh-CN" altLang="en-US" dirty="0">
                <a:latin typeface="Times New Roman" panose="02020603050405020304" pitchFamily="18" charset="0"/>
                <a:ea typeface="宋体" panose="02010600030101010101" pitchFamily="2" charset="-122"/>
              </a:rPr>
              <a:t>内容再以直接寻址方式存放于内部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50H</a:t>
            </a:r>
            <a:r>
              <a:rPr lang="zh-CN" altLang="en-US" dirty="0">
                <a:latin typeface="Times New Roman" panose="02020603050405020304" pitchFamily="18" charset="0"/>
                <a:ea typeface="宋体" panose="02010600030101010101" pitchFamily="2" charset="-122"/>
              </a:rPr>
              <a:t>单元中。</a:t>
            </a:r>
            <a:endParaRPr lang="zh-CN" altLang="en-US" b="0" dirty="0">
              <a:latin typeface="Times New Roman" panose="02020603050405020304" pitchFamily="18" charset="0"/>
              <a:ea typeface="宋体" panose="02010600030101010101" pitchFamily="2" charset="-122"/>
            </a:endParaRPr>
          </a:p>
          <a:p>
            <a:pPr indent="268605" eaLnBrk="0" hangingPunct="0">
              <a:lnSpc>
                <a:spcPct val="150000"/>
              </a:lnSpc>
            </a:pPr>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53</a:t>
            </a:fld>
            <a:endParaRPr lang="en-US" altLang="zh-CN" sz="1400" b="0" dirty="0"/>
          </a:p>
        </p:txBody>
      </p:sp>
      <p:sp>
        <p:nvSpPr>
          <p:cNvPr id="71682" name="Rectangle 54"/>
          <p:cNvSpPr/>
          <p:nvPr/>
        </p:nvSpPr>
        <p:spPr>
          <a:xfrm>
            <a:off x="3175" y="5867400"/>
            <a:ext cx="9144000" cy="609600"/>
          </a:xfrm>
          <a:prstGeom prst="rect">
            <a:avLst/>
          </a:prstGeom>
          <a:noFill/>
          <a:ln w="9525">
            <a:noFill/>
          </a:ln>
        </p:spPr>
        <p:txBody>
          <a:bodyPr anchor="t" anchorCtr="0">
            <a:spAutoFit/>
          </a:bodyPr>
          <a:lstStyle/>
          <a:p>
            <a:pPr algn="ctr"/>
            <a:r>
              <a:rPr lang="en-US" altLang="zh-CN" sz="1000" dirty="0">
                <a:latin typeface="Times New Roman" panose="02020603050405020304" pitchFamily="18" charset="0"/>
                <a:ea typeface="宋体" panose="02010600030101010101" pitchFamily="2" charset="-122"/>
              </a:rPr>
              <a:t> </a:t>
            </a:r>
            <a:endParaRPr lang="en-US" altLang="zh-CN" sz="1000" b="0" dirty="0">
              <a:latin typeface="Times New Roman" panose="02020603050405020304" pitchFamily="18" charset="0"/>
              <a:ea typeface="宋体" panose="02010600030101010101" pitchFamily="2" charset="-122"/>
            </a:endParaRPr>
          </a:p>
          <a:p>
            <a:pPr eaLnBrk="0" hangingPunct="0"/>
            <a:endParaRPr lang="en-US" altLang="zh-CN" b="0" dirty="0">
              <a:latin typeface="Times New Roman" panose="02020603050405020304" pitchFamily="18" charset="0"/>
              <a:ea typeface="宋体" panose="02010600030101010101" pitchFamily="2" charset="-122"/>
            </a:endParaRPr>
          </a:p>
        </p:txBody>
      </p:sp>
      <p:sp>
        <p:nvSpPr>
          <p:cNvPr id="71683" name="Rectangle 55"/>
          <p:cNvSpPr/>
          <p:nvPr/>
        </p:nvSpPr>
        <p:spPr>
          <a:xfrm>
            <a:off x="684213" y="908050"/>
            <a:ext cx="6400800" cy="5159375"/>
          </a:xfrm>
          <a:prstGeom prst="rect">
            <a:avLst/>
          </a:prstGeom>
          <a:noFill/>
          <a:ln w="9525">
            <a:noFill/>
          </a:ln>
        </p:spPr>
        <p:txBody>
          <a:bodyPr anchor="t" anchorCtr="0">
            <a:spAutoFit/>
          </a:bodyPr>
          <a:lstStyle/>
          <a:p>
            <a:pPr indent="306705" algn="ctr"/>
            <a:r>
              <a:rPr lang="en-US" altLang="zh-CN" sz="2800" dirty="0">
                <a:solidFill>
                  <a:srgbClr val="FF0000"/>
                </a:solidFill>
                <a:latin typeface="Times New Roman" panose="02020603050405020304" pitchFamily="18" charset="0"/>
                <a:ea typeface="宋体" panose="02010600030101010101" pitchFamily="2" charset="-122"/>
              </a:rPr>
              <a:t>3.3 </a:t>
            </a:r>
            <a:r>
              <a:rPr lang="zh-CN" altLang="en-US" sz="2800" dirty="0">
                <a:solidFill>
                  <a:srgbClr val="FF0000"/>
                </a:solidFill>
                <a:latin typeface="Times New Roman" panose="02020603050405020304" pitchFamily="18" charset="0"/>
                <a:ea typeface="宋体" panose="02010600030101010101" pitchFamily="2" charset="-122"/>
              </a:rPr>
              <a:t>指令系统</a:t>
            </a:r>
            <a:endParaRPr lang="zh-CN" altLang="en-US" sz="2800" b="0" dirty="0">
              <a:latin typeface="Times New Roman" panose="02020603050405020304" pitchFamily="18" charset="0"/>
              <a:ea typeface="宋体" panose="02010600030101010101" pitchFamily="2" charset="-122"/>
            </a:endParaRPr>
          </a:p>
          <a:p>
            <a:pPr indent="306705" algn="just" eaLnBrk="0" hangingPunct="0"/>
            <a:endParaRPr lang="zh-CN" altLang="en-US" sz="2800" dirty="0">
              <a:latin typeface="Times New Roman" panose="02020603050405020304" pitchFamily="18" charset="0"/>
              <a:ea typeface="宋体" panose="02010600030101010101" pitchFamily="2" charset="-122"/>
            </a:endParaRPr>
          </a:p>
          <a:p>
            <a:pPr indent="306705" algn="just" eaLnBrk="0" hangingPunct="0">
              <a:lnSpc>
                <a:spcPct val="130000"/>
              </a:lnSpc>
            </a:pPr>
            <a:r>
              <a:rPr lang="zh-CN" altLang="en-US" dirty="0">
                <a:latin typeface="Times New Roman" panose="02020603050405020304" pitchFamily="18" charset="0"/>
                <a:ea typeface="宋体" panose="02010600030101010101" pitchFamily="2" charset="-122"/>
              </a:rPr>
              <a:t>五大类：</a:t>
            </a:r>
          </a:p>
          <a:p>
            <a:pPr indent="306705" algn="just" eaLnBrk="0" hangingPunct="0">
              <a:lnSpc>
                <a:spcPct val="130000"/>
              </a:lnSpc>
            </a:pPr>
            <a:r>
              <a:rPr lang="zh-CN" altLang="en-US" dirty="0">
                <a:solidFill>
                  <a:schemeClr val="accent2"/>
                </a:solidFill>
                <a:latin typeface="Times New Roman" panose="02020603050405020304" pitchFamily="18" charset="0"/>
                <a:ea typeface="宋体" panose="02010600030101010101" pitchFamily="2" charset="-122"/>
              </a:rPr>
              <a:t>		数据传送类指令、</a:t>
            </a:r>
          </a:p>
          <a:p>
            <a:pPr indent="306705" algn="just" eaLnBrk="0" hangingPunct="0">
              <a:lnSpc>
                <a:spcPct val="130000"/>
              </a:lnSpc>
            </a:pPr>
            <a:r>
              <a:rPr lang="zh-CN" altLang="en-US" dirty="0">
                <a:solidFill>
                  <a:schemeClr val="accent2"/>
                </a:solidFill>
                <a:latin typeface="Times New Roman" panose="02020603050405020304" pitchFamily="18" charset="0"/>
                <a:ea typeface="宋体" panose="02010600030101010101" pitchFamily="2" charset="-122"/>
              </a:rPr>
              <a:t>		算术运算类指令、</a:t>
            </a:r>
          </a:p>
          <a:p>
            <a:pPr indent="306705" algn="just" eaLnBrk="0" hangingPunct="0">
              <a:lnSpc>
                <a:spcPct val="130000"/>
              </a:lnSpc>
            </a:pPr>
            <a:r>
              <a:rPr lang="zh-CN" altLang="en-US" dirty="0">
                <a:solidFill>
                  <a:schemeClr val="accent2"/>
                </a:solidFill>
                <a:latin typeface="Times New Roman" panose="02020603050405020304" pitchFamily="18" charset="0"/>
                <a:ea typeface="宋体" panose="02010600030101010101" pitchFamily="2" charset="-122"/>
              </a:rPr>
              <a:t>		逻辑运算及移位类指令、</a:t>
            </a:r>
          </a:p>
          <a:p>
            <a:pPr indent="306705" algn="just" eaLnBrk="0" hangingPunct="0">
              <a:lnSpc>
                <a:spcPct val="130000"/>
              </a:lnSpc>
            </a:pPr>
            <a:r>
              <a:rPr lang="zh-CN" altLang="en-US" dirty="0">
                <a:solidFill>
                  <a:schemeClr val="accent2"/>
                </a:solidFill>
                <a:latin typeface="Times New Roman" panose="02020603050405020304" pitchFamily="18" charset="0"/>
                <a:ea typeface="宋体" panose="02010600030101010101" pitchFamily="2" charset="-122"/>
              </a:rPr>
              <a:t>		控制转移类指令</a:t>
            </a:r>
          </a:p>
          <a:p>
            <a:pPr indent="306705" algn="just" eaLnBrk="0" hangingPunct="0">
              <a:lnSpc>
                <a:spcPct val="130000"/>
              </a:lnSpc>
            </a:pPr>
            <a:r>
              <a:rPr lang="zh-CN" altLang="en-US" dirty="0">
                <a:solidFill>
                  <a:schemeClr val="accent2"/>
                </a:solidFill>
                <a:latin typeface="Times New Roman" panose="02020603050405020304" pitchFamily="18" charset="0"/>
                <a:ea typeface="宋体" panose="02010600030101010101" pitchFamily="2" charset="-122"/>
              </a:rPr>
              <a:t>		位操作类指令</a:t>
            </a:r>
            <a:r>
              <a:rPr lang="zh-CN" altLang="en-US" dirty="0">
                <a:latin typeface="Times New Roman" panose="02020603050405020304" pitchFamily="18" charset="0"/>
                <a:ea typeface="宋体" panose="02010600030101010101" pitchFamily="2" charset="-122"/>
              </a:rPr>
              <a:t>。</a:t>
            </a:r>
          </a:p>
          <a:p>
            <a:pPr indent="306705" algn="just" eaLnBrk="0" hangingPunct="0">
              <a:lnSpc>
                <a:spcPct val="130000"/>
              </a:lnSpc>
            </a:pPr>
            <a:r>
              <a:rPr lang="zh-CN" altLang="en-US" dirty="0">
                <a:latin typeface="Times New Roman" panose="02020603050405020304" pitchFamily="18" charset="0"/>
                <a:ea typeface="宋体" panose="02010600030101010101" pitchFamily="2" charset="-122"/>
              </a:rPr>
              <a:t>                                                  共计</a:t>
            </a:r>
            <a:r>
              <a:rPr lang="en-US" altLang="zh-CN" dirty="0">
                <a:latin typeface="Times New Roman" panose="02020603050405020304" pitchFamily="18" charset="0"/>
                <a:ea typeface="宋体" panose="02010600030101010101" pitchFamily="2" charset="-122"/>
              </a:rPr>
              <a:t>111</a:t>
            </a:r>
            <a:r>
              <a:rPr lang="zh-CN" altLang="en-US" dirty="0">
                <a:latin typeface="Times New Roman" panose="02020603050405020304" pitchFamily="18" charset="0"/>
                <a:ea typeface="宋体" panose="02010600030101010101" pitchFamily="2" charset="-122"/>
              </a:rPr>
              <a:t>条指令。</a:t>
            </a:r>
            <a:endParaRPr lang="zh-CN" altLang="en-US" b="0" dirty="0">
              <a:latin typeface="Times New Roman" panose="02020603050405020304" pitchFamily="18" charset="0"/>
              <a:ea typeface="宋体" panose="02010600030101010101" pitchFamily="2" charset="-122"/>
            </a:endParaRPr>
          </a:p>
          <a:p>
            <a:pPr indent="306705" eaLnBrk="0" hangingPunct="0"/>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54</a:t>
            </a:fld>
            <a:endParaRPr lang="en-US" altLang="zh-CN" sz="1400" b="0" dirty="0"/>
          </a:p>
        </p:txBody>
      </p:sp>
      <p:sp>
        <p:nvSpPr>
          <p:cNvPr id="72706" name="Rectangle 54"/>
          <p:cNvSpPr/>
          <p:nvPr/>
        </p:nvSpPr>
        <p:spPr>
          <a:xfrm>
            <a:off x="179388" y="1268413"/>
            <a:ext cx="8077200" cy="2085340"/>
          </a:xfrm>
          <a:prstGeom prst="rect">
            <a:avLst/>
          </a:prstGeom>
          <a:noFill/>
          <a:ln w="9525">
            <a:noFill/>
          </a:ln>
        </p:spPr>
        <p:txBody>
          <a:bodyPr anchor="t" anchorCtr="0">
            <a:spAutoFit/>
          </a:bodyPr>
          <a:lstStyle/>
          <a:p>
            <a:pPr indent="266700" algn="just" defTabSz="914400">
              <a:lnSpc>
                <a:spcPct val="120000"/>
              </a:lnSpc>
              <a:tabLst>
                <a:tab pos="136525" algn="l"/>
              </a:tabLst>
            </a:pPr>
            <a:r>
              <a:rPr lang="en-US" altLang="zh-CN" dirty="0">
                <a:solidFill>
                  <a:srgbClr val="FF0000"/>
                </a:solidFill>
                <a:latin typeface="Times New Roman" panose="02020603050405020304" pitchFamily="18" charset="0"/>
                <a:ea typeface="黑体" panose="02010609060101010101" pitchFamily="49" charset="-122"/>
              </a:rPr>
              <a:t>                            3.3.1  </a:t>
            </a:r>
            <a:r>
              <a:rPr lang="zh-CN" altLang="en-US" dirty="0">
                <a:solidFill>
                  <a:srgbClr val="FF0000"/>
                </a:solidFill>
                <a:latin typeface="Times New Roman" panose="02020603050405020304" pitchFamily="18" charset="0"/>
                <a:ea typeface="黑体" panose="02010609060101010101" pitchFamily="49" charset="-122"/>
              </a:rPr>
              <a:t>数据传送类指令</a:t>
            </a:r>
          </a:p>
          <a:p>
            <a:pPr indent="266700" algn="just" defTabSz="914400">
              <a:lnSpc>
                <a:spcPct val="120000"/>
              </a:lnSpc>
              <a:tabLst>
                <a:tab pos="136525" algn="l"/>
              </a:tabLst>
            </a:pPr>
            <a:endParaRPr lang="zh-CN" altLang="en-US" b="0" dirty="0">
              <a:solidFill>
                <a:srgbClr val="FF0000"/>
              </a:solidFill>
              <a:latin typeface="Times New Roman" panose="02020603050405020304" pitchFamily="18" charset="0"/>
              <a:ea typeface="宋体" panose="02010600030101010101" pitchFamily="2" charset="-122"/>
            </a:endParaRPr>
          </a:p>
          <a:p>
            <a:pPr indent="266700" algn="just" defTabSz="914400" eaLnBrk="0" hangingPunct="0">
              <a:lnSpc>
                <a:spcPct val="150000"/>
              </a:lnSpc>
              <a:tabLst>
                <a:tab pos="136525" algn="l"/>
              </a:tabLst>
            </a:pPr>
            <a:r>
              <a:rPr lang="zh-CN" altLang="en-US" dirty="0">
                <a:solidFill>
                  <a:srgbClr val="0000FF"/>
                </a:solidFill>
                <a:latin typeface="Times New Roman" panose="02020603050405020304" pitchFamily="18" charset="0"/>
                <a:ea typeface="宋体" panose="02010600030101010101" pitchFamily="2" charset="-122"/>
              </a:rPr>
              <a:t>指令功能：</a:t>
            </a:r>
            <a:r>
              <a:rPr lang="zh-CN" altLang="en-US" dirty="0">
                <a:latin typeface="Times New Roman" panose="02020603050405020304" pitchFamily="18" charset="0"/>
                <a:ea typeface="宋体" panose="02010600030101010101" pitchFamily="2" charset="-122"/>
              </a:rPr>
              <a:t>一般是把源操作数传输到目的操作数，指令执行后，源操作数不变，而目的操作数修改为源操作数。</a:t>
            </a:r>
            <a:r>
              <a:rPr lang="zh-CN" altLang="en-US" dirty="0">
                <a:solidFill>
                  <a:srgbClr val="FF0000"/>
                </a:solidFill>
                <a:latin typeface="Times New Roman" panose="02020603050405020304" pitchFamily="18" charset="0"/>
                <a:ea typeface="宋体" panose="02010600030101010101" pitchFamily="2" charset="-122"/>
              </a:rPr>
              <a:t> </a:t>
            </a:r>
            <a:endParaRPr lang="zh-CN" altLang="en-US"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55</a:t>
            </a:fld>
            <a:endParaRPr lang="en-US" altLang="zh-CN" sz="1400" b="0" dirty="0"/>
          </a:p>
        </p:txBody>
      </p:sp>
      <p:sp>
        <p:nvSpPr>
          <p:cNvPr id="220164" name="Rectangle 4"/>
          <p:cNvSpPr/>
          <p:nvPr/>
        </p:nvSpPr>
        <p:spPr>
          <a:xfrm>
            <a:off x="250825" y="692150"/>
            <a:ext cx="8486775" cy="1641475"/>
          </a:xfrm>
          <a:prstGeom prst="rect">
            <a:avLst/>
          </a:prstGeom>
          <a:noFill/>
          <a:ln w="9525">
            <a:noFill/>
          </a:ln>
        </p:spPr>
        <p:txBody>
          <a:bodyPr wrap="square" anchor="t" anchorCtr="0">
            <a:spAutoFit/>
          </a:bodyPr>
          <a:lstStyle/>
          <a:p>
            <a:pPr indent="266700" algn="just" defTabSz="914400">
              <a:lnSpc>
                <a:spcPct val="140000"/>
              </a:lnSpc>
              <a:tabLst>
                <a:tab pos="136525" algn="l"/>
              </a:tabLst>
            </a:pPr>
            <a:r>
              <a:rPr lang="en-US" altLang="zh-CN" dirty="0">
                <a:solidFill>
                  <a:srgbClr val="FF0000"/>
                </a:solidFill>
                <a:latin typeface="Times New Roman" panose="02020603050405020304" pitchFamily="18" charset="0"/>
                <a:ea typeface="宋体" panose="02010600030101010101" pitchFamily="2" charset="-122"/>
              </a:rPr>
              <a:t>1)  </a:t>
            </a:r>
            <a:r>
              <a:rPr lang="zh-CN" altLang="en-US" dirty="0">
                <a:solidFill>
                  <a:srgbClr val="FF0000"/>
                </a:solidFill>
                <a:latin typeface="Times New Roman" panose="02020603050405020304" pitchFamily="18" charset="0"/>
                <a:ea typeface="宋体" panose="02010600030101010101" pitchFamily="2" charset="-122"/>
              </a:rPr>
              <a:t>内部 </a:t>
            </a:r>
            <a:r>
              <a:rPr lang="en-US" altLang="zh-CN" dirty="0">
                <a:solidFill>
                  <a:srgbClr val="FF0000"/>
                </a:solidFill>
                <a:latin typeface="Times New Roman" panose="02020603050405020304" pitchFamily="18" charset="0"/>
                <a:ea typeface="宋体" panose="02010600030101010101" pitchFamily="2" charset="-122"/>
              </a:rPr>
              <a:t>RAM</a:t>
            </a:r>
            <a:r>
              <a:rPr lang="zh-CN" altLang="en-US" dirty="0">
                <a:solidFill>
                  <a:srgbClr val="FF0000"/>
                </a:solidFill>
                <a:latin typeface="Times New Roman" panose="02020603050405020304" pitchFamily="18" charset="0"/>
                <a:ea typeface="宋体" panose="02010600030101010101" pitchFamily="2" charset="-122"/>
              </a:rPr>
              <a:t>数据传送指令组</a:t>
            </a:r>
            <a:endParaRPr lang="zh-CN" altLang="en-US" b="0" dirty="0">
              <a:latin typeface="宋体" panose="02010600030101010101" pitchFamily="2" charset="-122"/>
              <a:ea typeface="宋体" panose="02010600030101010101" pitchFamily="2" charset="-122"/>
            </a:endParaRPr>
          </a:p>
          <a:p>
            <a:pPr indent="266700" algn="just" defTabSz="914400" eaLnBrk="0" hangingPunct="0">
              <a:lnSpc>
                <a:spcPct val="140000"/>
              </a:lnSpc>
              <a:tabLst>
                <a:tab pos="136525" algn="l"/>
              </a:tabLst>
            </a:pPr>
            <a:r>
              <a:rPr lang="zh-CN" altLang="en-US" dirty="0">
                <a:latin typeface="Times New Roman" panose="02020603050405020304" pitchFamily="18" charset="0"/>
                <a:ea typeface="宋体" panose="02010600030101010101" pitchFamily="2" charset="-122"/>
              </a:rPr>
              <a:t>    单片机芯片内部数据传送范围：</a:t>
            </a:r>
            <a:r>
              <a:rPr lang="zh-CN" altLang="en-US" dirty="0">
                <a:solidFill>
                  <a:schemeClr val="accent2"/>
                </a:solidFill>
                <a:latin typeface="Times New Roman" panose="02020603050405020304" pitchFamily="18" charset="0"/>
                <a:ea typeface="宋体" panose="02010600030101010101" pitchFamily="2" charset="-122"/>
              </a:rPr>
              <a:t>寄存器、累加器、专用寄存器以及</a:t>
            </a:r>
            <a:r>
              <a:rPr lang="en-US" altLang="zh-CN" dirty="0">
                <a:solidFill>
                  <a:schemeClr val="accent2"/>
                </a:solidFill>
                <a:latin typeface="Times New Roman" panose="02020603050405020304" pitchFamily="18" charset="0"/>
                <a:ea typeface="宋体" panose="02010600030101010101" pitchFamily="2" charset="-122"/>
              </a:rPr>
              <a:t>RAM</a:t>
            </a:r>
            <a:r>
              <a:rPr lang="zh-CN" altLang="en-US" dirty="0">
                <a:solidFill>
                  <a:schemeClr val="accent2"/>
                </a:solidFill>
                <a:latin typeface="Times New Roman" panose="02020603050405020304" pitchFamily="18" charset="0"/>
                <a:ea typeface="宋体" panose="02010600030101010101" pitchFamily="2" charset="-122"/>
              </a:rPr>
              <a:t>单元。</a:t>
            </a:r>
            <a:r>
              <a:rPr lang="zh-CN" altLang="en-US" dirty="0">
                <a:latin typeface="Times New Roman" panose="02020603050405020304" pitchFamily="18" charset="0"/>
                <a:ea typeface="宋体" panose="02010600030101010101" pitchFamily="2" charset="-122"/>
              </a:rPr>
              <a:t>分类介绍：</a:t>
            </a:r>
            <a:endParaRPr lang="zh-CN" altLang="en-US" b="0" dirty="0">
              <a:latin typeface="宋体" panose="02010600030101010101" pitchFamily="2" charset="-122"/>
              <a:ea typeface="宋体" panose="02010600030101010101" pitchFamily="2" charset="-122"/>
            </a:endParaRPr>
          </a:p>
        </p:txBody>
      </p:sp>
      <p:sp>
        <p:nvSpPr>
          <p:cNvPr id="220165" name="Rectangle 5"/>
          <p:cNvSpPr/>
          <p:nvPr/>
        </p:nvSpPr>
        <p:spPr>
          <a:xfrm>
            <a:off x="323850" y="2492375"/>
            <a:ext cx="8353425" cy="3159125"/>
          </a:xfrm>
          <a:prstGeom prst="rect">
            <a:avLst/>
          </a:prstGeom>
          <a:noFill/>
          <a:ln w="9525">
            <a:noFill/>
          </a:ln>
        </p:spPr>
        <p:txBody>
          <a:bodyPr anchor="t" anchorCtr="0">
            <a:spAutoFit/>
          </a:bodyPr>
          <a:lstStyle/>
          <a:p>
            <a:pPr indent="266700" algn="just" defTabSz="914400" eaLnBrk="0" hangingPunct="0">
              <a:lnSpc>
                <a:spcPct val="140000"/>
              </a:lnSpc>
              <a:tabLst>
                <a:tab pos="136525" algn="l"/>
              </a:tabLst>
            </a:pP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1</a:t>
            </a:r>
            <a:r>
              <a:rPr lang="zh-CN" altLang="en-US" dirty="0">
                <a:solidFill>
                  <a:srgbClr val="0000FF"/>
                </a:solidFill>
                <a:latin typeface="Times New Roman" panose="02020603050405020304" pitchFamily="18" charset="0"/>
                <a:ea typeface="宋体" panose="02010600030101010101" pitchFamily="2" charset="-122"/>
              </a:rPr>
              <a:t>） 以累加器</a:t>
            </a:r>
            <a:r>
              <a:rPr lang="en-US" altLang="zh-CN" dirty="0">
                <a:solidFill>
                  <a:srgbClr val="0000FF"/>
                </a:solidFill>
                <a:latin typeface="Times New Roman" panose="02020603050405020304" pitchFamily="18" charset="0"/>
                <a:ea typeface="宋体" panose="02010600030101010101" pitchFamily="2" charset="-122"/>
              </a:rPr>
              <a:t>A</a:t>
            </a:r>
            <a:r>
              <a:rPr lang="zh-CN" altLang="en-US" dirty="0">
                <a:solidFill>
                  <a:srgbClr val="0000FF"/>
                </a:solidFill>
                <a:latin typeface="Times New Roman" panose="02020603050405020304" pitchFamily="18" charset="0"/>
                <a:ea typeface="宋体" panose="02010600030101010101" pitchFamily="2" charset="-122"/>
              </a:rPr>
              <a:t>为目的操作数的指令：</a:t>
            </a:r>
            <a:endParaRPr lang="zh-CN" altLang="en-US" b="0" dirty="0">
              <a:latin typeface="宋体" panose="02010600030101010101" pitchFamily="2" charset="-122"/>
              <a:ea typeface="宋体" panose="02010600030101010101" pitchFamily="2" charset="-122"/>
            </a:endParaRPr>
          </a:p>
          <a:p>
            <a:pPr indent="266700" algn="just" defTabSz="914400" eaLnBrk="0" hangingPunct="0">
              <a:lnSpc>
                <a:spcPct val="140000"/>
              </a:lnSpc>
              <a:tabLst>
                <a:tab pos="136525" algn="l"/>
              </a:tabLst>
            </a:pPr>
            <a:r>
              <a:rPr lang="en-US" altLang="zh-CN" dirty="0">
                <a:latin typeface="Times New Roman" panose="02020603050405020304" pitchFamily="18" charset="0"/>
                <a:ea typeface="宋体" panose="02010600030101010101" pitchFamily="2" charset="-122"/>
              </a:rPr>
              <a:t>MOV    A</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Rn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Rn</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Rn</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R7</a:t>
            </a:r>
            <a:endParaRPr lang="en-US" altLang="zh-CN" b="0" dirty="0">
              <a:latin typeface="宋体" panose="02010600030101010101" pitchFamily="2" charset="-122"/>
              <a:ea typeface="宋体" panose="02010600030101010101" pitchFamily="2" charset="-122"/>
            </a:endParaRPr>
          </a:p>
          <a:p>
            <a:pPr indent="266700" algn="just" defTabSz="914400" eaLnBrk="0" hangingPunct="0">
              <a:lnSpc>
                <a:spcPct val="140000"/>
              </a:lnSpc>
              <a:tabLst>
                <a:tab pos="136525" algn="l"/>
              </a:tabLst>
            </a:pPr>
            <a:r>
              <a:rPr lang="en-US" altLang="zh-CN" dirty="0">
                <a:latin typeface="Times New Roman" panose="02020603050405020304" pitchFamily="18" charset="0"/>
                <a:ea typeface="宋体" panose="02010600030101010101" pitchFamily="2" charset="-122"/>
              </a:rPr>
              <a:t>MOV    A</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direct</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endParaRPr lang="zh-CN" altLang="en-US" b="0" dirty="0">
              <a:latin typeface="宋体" panose="02010600030101010101" pitchFamily="2" charset="-122"/>
              <a:ea typeface="宋体" panose="02010600030101010101" pitchFamily="2" charset="-122"/>
            </a:endParaRPr>
          </a:p>
          <a:p>
            <a:pPr indent="266700" algn="just" defTabSz="914400" eaLnBrk="0" hangingPunct="0">
              <a:lnSpc>
                <a:spcPct val="140000"/>
              </a:lnSpc>
              <a:tabLst>
                <a:tab pos="136525" algn="l"/>
              </a:tabLst>
            </a:pPr>
            <a:r>
              <a:rPr lang="en-US" altLang="zh-CN" dirty="0">
                <a:latin typeface="Times New Roman" panose="02020603050405020304" pitchFamily="18" charset="0"/>
                <a:ea typeface="宋体" panose="02010600030101010101" pitchFamily="2" charset="-122"/>
              </a:rPr>
              <a:t>MOV    A</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@Ri</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Ri</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Ri</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R1</a:t>
            </a:r>
            <a:endParaRPr lang="en-US" altLang="zh-CN" b="0" dirty="0">
              <a:latin typeface="宋体" panose="02010600030101010101" pitchFamily="2" charset="-122"/>
              <a:ea typeface="宋体" panose="02010600030101010101" pitchFamily="2" charset="-122"/>
            </a:endParaRPr>
          </a:p>
          <a:p>
            <a:pPr indent="266700" algn="just" defTabSz="914400" eaLnBrk="0" hangingPunct="0">
              <a:lnSpc>
                <a:spcPct val="140000"/>
              </a:lnSpc>
              <a:tabLst>
                <a:tab pos="136525" algn="l"/>
              </a:tabLst>
            </a:pPr>
            <a:r>
              <a:rPr lang="en-US" altLang="zh-CN" dirty="0">
                <a:latin typeface="Times New Roman" panose="02020603050405020304" pitchFamily="18" charset="0"/>
                <a:ea typeface="宋体" panose="02010600030101010101" pitchFamily="2" charset="-122"/>
              </a:rPr>
              <a:t>MOV    A</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#data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data</a:t>
            </a:r>
            <a:endParaRPr lang="en-US" altLang="zh-CN" b="0" dirty="0">
              <a:latin typeface="宋体" panose="02010600030101010101" pitchFamily="2" charset="-122"/>
              <a:ea typeface="宋体" panose="02010600030101010101" pitchFamily="2" charset="-122"/>
            </a:endParaRPr>
          </a:p>
          <a:p>
            <a:pPr indent="266700" algn="just" defTabSz="914400" eaLnBrk="0" hangingPunct="0">
              <a:lnSpc>
                <a:spcPct val="140000"/>
              </a:lnSpc>
              <a:tabLst>
                <a:tab pos="136525" algn="l"/>
              </a:tabLst>
            </a:pPr>
            <a:r>
              <a:rPr lang="zh-CN" altLang="en-US" dirty="0">
                <a:latin typeface="Times New Roman" panose="02020603050405020304" pitchFamily="18" charset="0"/>
                <a:ea typeface="宋体" panose="02010600030101010101" pitchFamily="2" charset="-122"/>
              </a:rPr>
              <a:t>功能：将源操作数所指定的内容送入累加器</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56</a:t>
            </a:fld>
            <a:endParaRPr lang="en-US" altLang="zh-CN" sz="1400" b="0" dirty="0"/>
          </a:p>
        </p:txBody>
      </p:sp>
      <p:sp>
        <p:nvSpPr>
          <p:cNvPr id="74754" name="Rectangle 2"/>
          <p:cNvSpPr/>
          <p:nvPr/>
        </p:nvSpPr>
        <p:spPr>
          <a:xfrm>
            <a:off x="381000" y="1295400"/>
            <a:ext cx="8229600" cy="4692650"/>
          </a:xfrm>
          <a:prstGeom prst="rect">
            <a:avLst/>
          </a:prstGeom>
          <a:noFill/>
          <a:ln w="9525">
            <a:noFill/>
          </a:ln>
        </p:spPr>
        <p:txBody>
          <a:bodyPr anchor="t" anchorCtr="0">
            <a:spAutoFit/>
          </a:bodyPr>
          <a:lstStyle/>
          <a:p>
            <a:pPr indent="306705" algn="just">
              <a:lnSpc>
                <a:spcPct val="140000"/>
              </a:lnSpc>
            </a:pP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2</a:t>
            </a:r>
            <a:r>
              <a:rPr lang="zh-CN" altLang="en-US" dirty="0">
                <a:solidFill>
                  <a:srgbClr val="0000FF"/>
                </a:solidFill>
                <a:latin typeface="Times New Roman" panose="02020603050405020304" pitchFamily="18" charset="0"/>
                <a:ea typeface="宋体" panose="02010600030101010101" pitchFamily="2" charset="-122"/>
              </a:rPr>
              <a:t>） 以通用寄存器</a:t>
            </a:r>
            <a:r>
              <a:rPr lang="en-US" altLang="zh-CN" dirty="0">
                <a:solidFill>
                  <a:srgbClr val="0000FF"/>
                </a:solidFill>
                <a:latin typeface="Times New Roman" panose="02020603050405020304" pitchFamily="18" charset="0"/>
                <a:ea typeface="宋体" panose="02010600030101010101" pitchFamily="2" charset="-122"/>
              </a:rPr>
              <a:t>Rn</a:t>
            </a:r>
            <a:r>
              <a:rPr lang="zh-CN" altLang="en-US" dirty="0">
                <a:solidFill>
                  <a:srgbClr val="0000FF"/>
                </a:solidFill>
                <a:latin typeface="Times New Roman" panose="02020603050405020304" pitchFamily="18" charset="0"/>
                <a:ea typeface="宋体" panose="02010600030101010101" pitchFamily="2" charset="-122"/>
              </a:rPr>
              <a:t>为目的操作数的指令：</a:t>
            </a:r>
            <a:endParaRPr lang="zh-CN" altLang="en-US" b="0" dirty="0">
              <a:latin typeface="宋体" panose="02010600030101010101" pitchFamily="2" charset="-122"/>
              <a:ea typeface="宋体" panose="02010600030101010101" pitchFamily="2" charset="-122"/>
            </a:endParaRPr>
          </a:p>
          <a:p>
            <a:pPr indent="306705" algn="just" eaLnBrk="0" hangingPunct="0">
              <a:lnSpc>
                <a:spcPct val="140000"/>
              </a:lnSpc>
            </a:pPr>
            <a:r>
              <a:rPr lang="zh-CN" altLang="en-US" dirty="0">
                <a:latin typeface="Times New Roman" panose="02020603050405020304" pitchFamily="18" charset="0"/>
                <a:ea typeface="宋体" panose="02010600030101010101" pitchFamily="2" charset="-122"/>
              </a:rPr>
              <a:t>	</a:t>
            </a:r>
          </a:p>
          <a:p>
            <a:pPr indent="306705"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Rn</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A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Rn←</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Rn</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R7</a:t>
            </a:r>
            <a:endParaRPr lang="en-US" altLang="zh-CN" b="0" dirty="0">
              <a:latin typeface="宋体" panose="02010600030101010101" pitchFamily="2" charset="-122"/>
              <a:ea typeface="宋体" panose="02010600030101010101" pitchFamily="2" charset="-122"/>
            </a:endParaRPr>
          </a:p>
          <a:p>
            <a:pPr indent="306705" algn="just" eaLnBrk="0" hangingPunct="0">
              <a:lnSpc>
                <a:spcPct val="140000"/>
              </a:lnSpc>
            </a:pPr>
            <a:r>
              <a:rPr lang="en-US" altLang="zh-CN" dirty="0">
                <a:latin typeface="Times New Roman" panose="02020603050405020304" pitchFamily="18" charset="0"/>
                <a:ea typeface="宋体" panose="02010600030101010101" pitchFamily="2" charset="-122"/>
              </a:rPr>
              <a:t>	MOV    Rn</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direct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Rn←</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endParaRPr lang="zh-CN" altLang="en-US" b="0" dirty="0">
              <a:latin typeface="宋体" panose="02010600030101010101" pitchFamily="2" charset="-122"/>
              <a:ea typeface="宋体" panose="02010600030101010101" pitchFamily="2" charset="-122"/>
            </a:endParaRPr>
          </a:p>
          <a:p>
            <a:pPr indent="306705"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Rn</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#data</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Rn←data</a:t>
            </a:r>
            <a:endParaRPr lang="en-US" altLang="zh-CN" b="0" dirty="0">
              <a:latin typeface="宋体" panose="02010600030101010101" pitchFamily="2" charset="-122"/>
              <a:ea typeface="宋体" panose="02010600030101010101" pitchFamily="2" charset="-122"/>
            </a:endParaRPr>
          </a:p>
          <a:p>
            <a:pPr indent="306705" algn="just" eaLnBrk="0" hangingPunct="0">
              <a:lnSpc>
                <a:spcPct val="140000"/>
              </a:lnSpc>
            </a:pPr>
            <a:endParaRPr lang="en-US" altLang="zh-CN" dirty="0">
              <a:latin typeface="Times New Roman" panose="02020603050405020304" pitchFamily="18" charset="0"/>
              <a:ea typeface="宋体" panose="02010600030101010101" pitchFamily="2" charset="-122"/>
            </a:endParaRPr>
          </a:p>
          <a:p>
            <a:pPr indent="306705" algn="just" eaLnBrk="0" hangingPunct="0">
              <a:lnSpc>
                <a:spcPct val="140000"/>
              </a:lnSpc>
            </a:pPr>
            <a:r>
              <a:rPr lang="zh-CN" altLang="en-US" dirty="0">
                <a:latin typeface="Times New Roman" panose="02020603050405020304" pitchFamily="18" charset="0"/>
                <a:ea typeface="宋体" panose="02010600030101010101" pitchFamily="2" charset="-122"/>
              </a:rPr>
              <a:t>功能：将源操作数所指定的内容送到当前工作寄存器组</a:t>
            </a:r>
            <a:r>
              <a:rPr lang="en-US" altLang="zh-CN" dirty="0">
                <a:latin typeface="Times New Roman" panose="02020603050405020304" pitchFamily="18" charset="0"/>
                <a:ea typeface="宋体" panose="02010600030101010101" pitchFamily="2" charset="-122"/>
              </a:rPr>
              <a:t>R0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R7</a:t>
            </a:r>
            <a:r>
              <a:rPr lang="zh-CN" altLang="en-US" dirty="0">
                <a:latin typeface="Times New Roman" panose="02020603050405020304" pitchFamily="18" charset="0"/>
                <a:ea typeface="宋体" panose="02010600030101010101" pitchFamily="2" charset="-122"/>
              </a:rPr>
              <a:t>中的某个寄存器中。</a:t>
            </a:r>
            <a:endParaRPr lang="zh-CN" altLang="en-US" b="0" dirty="0">
              <a:latin typeface="宋体" panose="02010600030101010101" pitchFamily="2" charset="-122"/>
              <a:ea typeface="宋体" panose="02010600030101010101" pitchFamily="2" charset="-122"/>
            </a:endParaRPr>
          </a:p>
          <a:p>
            <a:pPr indent="306705" eaLnBrk="0" hangingPunct="0">
              <a:lnSpc>
                <a:spcPct val="140000"/>
              </a:lnSpc>
            </a:pPr>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57</a:t>
            </a:fld>
            <a:endParaRPr lang="en-US" altLang="zh-CN" sz="1400" b="0" dirty="0"/>
          </a:p>
        </p:txBody>
      </p:sp>
      <p:sp>
        <p:nvSpPr>
          <p:cNvPr id="75778" name="Rectangle 2"/>
          <p:cNvSpPr/>
          <p:nvPr/>
        </p:nvSpPr>
        <p:spPr>
          <a:xfrm>
            <a:off x="457200" y="1066800"/>
            <a:ext cx="8382000" cy="4692650"/>
          </a:xfrm>
          <a:prstGeom prst="rect">
            <a:avLst/>
          </a:prstGeom>
          <a:noFill/>
          <a:ln w="9525">
            <a:noFill/>
          </a:ln>
        </p:spPr>
        <p:txBody>
          <a:bodyPr anchor="t" anchorCtr="0">
            <a:spAutoFit/>
          </a:bodyPr>
          <a:lstStyle/>
          <a:p>
            <a:pPr indent="133350" algn="just">
              <a:lnSpc>
                <a:spcPct val="140000"/>
              </a:lnSpc>
            </a:pPr>
            <a:r>
              <a:rPr lang="zh-CN" altLang="en-US" dirty="0">
                <a:solidFill>
                  <a:srgbClr val="FF0000"/>
                </a:solidFill>
                <a:latin typeface="Times New Roman" panose="02020603050405020304" pitchFamily="18" charset="0"/>
                <a:ea typeface="宋体" panose="02010600030101010101" pitchFamily="2" charset="-122"/>
              </a:rPr>
              <a:t>例如： </a:t>
            </a:r>
          </a:p>
          <a:p>
            <a:pPr indent="133350" algn="just">
              <a:lnSpc>
                <a:spcPct val="140000"/>
              </a:lnSpc>
            </a:pP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A</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78H</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R5</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47H</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70H</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0F2H</a:t>
            </a:r>
            <a:r>
              <a:rPr lang="zh-CN" altLang="en-US" dirty="0">
                <a:solidFill>
                  <a:srgbClr val="FF0000"/>
                </a:solidFill>
                <a:latin typeface="Times New Roman" panose="02020603050405020304" pitchFamily="18" charset="0"/>
                <a:ea typeface="宋体" panose="02010600030101010101" pitchFamily="2" charset="-122"/>
              </a:rPr>
              <a:t>，    </a:t>
            </a:r>
            <a:endParaRPr lang="zh-CN" altLang="en-US" b="0" dirty="0">
              <a:latin typeface="宋体" panose="02010600030101010101" pitchFamily="2" charset="-122"/>
              <a:ea typeface="宋体" panose="02010600030101010101" pitchFamily="2" charset="-122"/>
            </a:endParaRPr>
          </a:p>
          <a:p>
            <a:pPr indent="133350" algn="just" eaLnBrk="0" hangingPunct="0">
              <a:lnSpc>
                <a:spcPct val="140000"/>
              </a:lnSpc>
            </a:pPr>
            <a:r>
              <a:rPr lang="zh-CN" altLang="en-US" dirty="0">
                <a:latin typeface="Times New Roman" panose="02020603050405020304" pitchFamily="18" charset="0"/>
                <a:ea typeface="宋体" panose="02010600030101010101" pitchFamily="2" charset="-122"/>
              </a:rPr>
              <a:t>执行指令：</a:t>
            </a:r>
            <a:endParaRPr lang="zh-CN" altLang="en-US" b="0" dirty="0">
              <a:latin typeface="Times New Roman" panose="02020603050405020304" pitchFamily="18" charset="0"/>
              <a:ea typeface="宋体" panose="02010600030101010101" pitchFamily="2" charset="-122"/>
            </a:endParaRPr>
          </a:p>
          <a:p>
            <a:pPr indent="133350" algn="just" eaLnBrk="0" hangingPunct="0">
              <a:lnSpc>
                <a:spcPct val="140000"/>
              </a:lnSpc>
            </a:pPr>
            <a:r>
              <a:rPr lang="zh-CN" altLang="en-US" dirty="0">
                <a:latin typeface="Times New Roman" panose="02020603050405020304" pitchFamily="18" charset="0"/>
                <a:ea typeface="宋体" panose="02010600030101010101" pitchFamily="2" charset="-122"/>
              </a:rPr>
              <a:t>	</a:t>
            </a:r>
          </a:p>
          <a:p>
            <a:pPr indent="133350"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R5</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R5←</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R5</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78H</a:t>
            </a:r>
            <a:endParaRPr lang="en-US" altLang="zh-CN" b="0" dirty="0">
              <a:latin typeface="宋体" panose="02010600030101010101" pitchFamily="2" charset="-122"/>
              <a:ea typeface="宋体" panose="02010600030101010101" pitchFamily="2" charset="-122"/>
            </a:endParaRPr>
          </a:p>
          <a:p>
            <a:pPr indent="133350" algn="just" eaLnBrk="0" hangingPunct="0">
              <a:lnSpc>
                <a:spcPct val="140000"/>
              </a:lnSpc>
            </a:pPr>
            <a:r>
              <a:rPr lang="en-US" altLang="zh-CN" dirty="0">
                <a:latin typeface="Times New Roman" panose="02020603050405020304" pitchFamily="18" charset="0"/>
                <a:ea typeface="宋体" panose="02010600030101010101" pitchFamily="2" charset="-122"/>
              </a:rPr>
              <a:t>	MOV    R5</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70H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R5←</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70H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R5</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0F2H</a:t>
            </a:r>
            <a:endParaRPr lang="en-US" altLang="zh-CN" b="0" dirty="0">
              <a:latin typeface="宋体" panose="02010600030101010101" pitchFamily="2" charset="-122"/>
              <a:ea typeface="宋体" panose="02010600030101010101" pitchFamily="2" charset="-122"/>
            </a:endParaRPr>
          </a:p>
          <a:p>
            <a:pPr indent="133350" algn="just" eaLnBrk="0" hangingPunct="0">
              <a:lnSpc>
                <a:spcPct val="140000"/>
              </a:lnSpc>
            </a:pPr>
            <a:r>
              <a:rPr lang="en-US" altLang="zh-CN" dirty="0">
                <a:latin typeface="Times New Roman" panose="02020603050405020304" pitchFamily="18" charset="0"/>
                <a:ea typeface="宋体" panose="02010600030101010101" pitchFamily="2" charset="-122"/>
              </a:rPr>
              <a:t>	MOV    R5</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#0A3H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R5←0A3H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R5</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0A3H</a:t>
            </a:r>
            <a:endParaRPr lang="en-US" altLang="zh-CN" b="0" dirty="0">
              <a:latin typeface="宋体" panose="02010600030101010101" pitchFamily="2" charset="-122"/>
              <a:ea typeface="宋体" panose="02010600030101010101" pitchFamily="2" charset="-122"/>
            </a:endParaRPr>
          </a:p>
          <a:p>
            <a:pPr indent="133350" eaLnBrk="0" hangingPunct="0">
              <a:lnSpc>
                <a:spcPct val="140000"/>
              </a:lnSpc>
            </a:pPr>
            <a:r>
              <a:rPr lang="en-US" altLang="zh-CN" dirty="0">
                <a:latin typeface="Times New Roman" panose="02020603050405020304" pitchFamily="18" charset="0"/>
                <a:ea typeface="宋体" panose="02010600030101010101" pitchFamily="2" charset="-122"/>
              </a:rPr>
              <a:t>	</a:t>
            </a:r>
          </a:p>
          <a:p>
            <a:pPr indent="133350" eaLnBrk="0" hangingPunct="0">
              <a:lnSpc>
                <a:spcPct val="140000"/>
              </a:lnSpc>
            </a:pPr>
            <a:r>
              <a:rPr lang="zh-CN" altLang="en-US" dirty="0">
                <a:solidFill>
                  <a:srgbClr val="FF0000"/>
                </a:solidFill>
                <a:latin typeface="宋体" panose="02010600030101010101" pitchFamily="2" charset="-122"/>
                <a:ea typeface="宋体" panose="02010600030101010101" pitchFamily="2" charset="-122"/>
              </a:rPr>
              <a:t>注意：</a:t>
            </a: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8051</a:t>
            </a:r>
            <a:r>
              <a:rPr lang="zh-CN" altLang="en-US" dirty="0">
                <a:solidFill>
                  <a:srgbClr val="FF0000"/>
                </a:solidFill>
                <a:latin typeface="宋体" panose="02010600030101010101" pitchFamily="2" charset="-122"/>
                <a:ea typeface="宋体" panose="02010600030101010101" pitchFamily="2" charset="-122"/>
              </a:rPr>
              <a:t>指令系统中无</a:t>
            </a: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MOV	 Rn</a:t>
            </a:r>
            <a:r>
              <a:rPr lang="zh-CN" altLang="en-US" dirty="0">
                <a:solidFill>
                  <a:srgbClr val="FF0000"/>
                </a:solidFill>
                <a:latin typeface="宋体" panose="02010600030101010101" pitchFamily="2" charset="-122"/>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Rn	</a:t>
            </a:r>
            <a:r>
              <a:rPr lang="en-US" altLang="zh-CN" b="0" dirty="0">
                <a:latin typeface="Times New Roman" panose="02020603050405020304" pitchFamily="18" charset="0"/>
                <a:ea typeface="宋体" panose="02010600030101010101" pitchFamily="2" charset="-122"/>
              </a:rPr>
              <a:t> </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58</a:t>
            </a:fld>
            <a:endParaRPr lang="en-US" altLang="zh-CN" sz="1400" b="0" dirty="0"/>
          </a:p>
        </p:txBody>
      </p:sp>
      <p:sp>
        <p:nvSpPr>
          <p:cNvPr id="76802" name="Rectangle 2"/>
          <p:cNvSpPr/>
          <p:nvPr/>
        </p:nvSpPr>
        <p:spPr>
          <a:xfrm>
            <a:off x="0" y="1000125"/>
            <a:ext cx="8839200" cy="5262563"/>
          </a:xfrm>
          <a:prstGeom prst="rect">
            <a:avLst/>
          </a:prstGeom>
          <a:noFill/>
          <a:ln w="9525">
            <a:noFill/>
          </a:ln>
        </p:spPr>
        <p:txBody>
          <a:bodyPr anchor="t" anchorCtr="0">
            <a:spAutoFit/>
          </a:bodyPr>
          <a:lstStyle/>
          <a:p>
            <a:pPr indent="306705" algn="just">
              <a:lnSpc>
                <a:spcPct val="140000"/>
              </a:lnSpc>
            </a:pP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3</a:t>
            </a:r>
            <a:r>
              <a:rPr lang="zh-CN" altLang="en-US" dirty="0">
                <a:solidFill>
                  <a:srgbClr val="0000FF"/>
                </a:solidFill>
                <a:latin typeface="Times New Roman" panose="02020603050405020304" pitchFamily="18" charset="0"/>
                <a:ea typeface="宋体" panose="02010600030101010101" pitchFamily="2" charset="-122"/>
              </a:rPr>
              <a:t>） 以直接地址为目的操作数的指令：			</a:t>
            </a:r>
            <a:endParaRPr lang="zh-CN" altLang="en-US" b="0" dirty="0">
              <a:latin typeface="宋体" panose="02010600030101010101" pitchFamily="2" charset="-122"/>
              <a:ea typeface="宋体" panose="02010600030101010101" pitchFamily="2" charset="-122"/>
            </a:endParaRPr>
          </a:p>
          <a:p>
            <a:pPr indent="306705" algn="just" eaLnBrk="0" hangingPunct="0">
              <a:lnSpc>
                <a:spcPct val="140000"/>
              </a:lnSpc>
            </a:pPr>
            <a:r>
              <a:rPr lang="zh-CN" altLang="en-US" dirty="0">
                <a:latin typeface="Times New Roman" panose="02020603050405020304" pitchFamily="18" charset="0"/>
                <a:ea typeface="宋体" panose="02010600030101010101" pitchFamily="2" charset="-122"/>
              </a:rPr>
              <a:t>	</a:t>
            </a:r>
          </a:p>
          <a:p>
            <a:pPr indent="306705"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direct</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A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endParaRPr lang="zh-CN" altLang="en-US" b="0" dirty="0">
              <a:latin typeface="宋体" panose="02010600030101010101" pitchFamily="2" charset="-122"/>
              <a:ea typeface="宋体" panose="02010600030101010101" pitchFamily="2" charset="-122"/>
            </a:endParaRPr>
          </a:p>
          <a:p>
            <a:pPr indent="306705"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direct</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Rn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Rn</a:t>
            </a:r>
            <a:r>
              <a:rPr lang="zh-CN" altLang="en-US" dirty="0">
                <a:latin typeface="Times New Roman" panose="02020603050405020304" pitchFamily="18" charset="0"/>
                <a:ea typeface="宋体" panose="02010600030101010101" pitchFamily="2" charset="-122"/>
              </a:rPr>
              <a:t>）</a:t>
            </a:r>
            <a:endParaRPr lang="zh-CN" altLang="en-US" b="0" dirty="0">
              <a:latin typeface="宋体" panose="02010600030101010101" pitchFamily="2" charset="-122"/>
              <a:ea typeface="宋体" panose="02010600030101010101" pitchFamily="2" charset="-122"/>
            </a:endParaRPr>
          </a:p>
          <a:p>
            <a:pPr indent="306705"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direct</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direct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endParaRPr lang="zh-CN" altLang="en-US" b="0" dirty="0">
              <a:latin typeface="宋体" panose="02010600030101010101" pitchFamily="2" charset="-122"/>
              <a:ea typeface="宋体" panose="02010600030101010101" pitchFamily="2" charset="-122"/>
            </a:endParaRPr>
          </a:p>
          <a:p>
            <a:pPr indent="306705"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direct</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@Ri	</a:t>
            </a:r>
            <a:r>
              <a:rPr lang="en-US" altLang="zh-CN" dirty="0">
                <a:latin typeface="Times New Roman" panose="02020603050405020304" pitchFamily="18" charset="0"/>
                <a:ea typeface="宋体" panose="02010600030101010101" pitchFamily="2" charset="-122"/>
              </a:rPr>
              <a:t>		 ;direct←((Ri))</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direct</a:t>
            </a:r>
            <a:r>
              <a:rPr lang="zh-CN" altLang="en-US" dirty="0">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#data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 data</a:t>
            </a:r>
            <a:endParaRPr lang="en-US" altLang="zh-CN" b="0" dirty="0">
              <a:latin typeface="宋体" panose="02010600030101010101" pitchFamily="2" charset="-122"/>
              <a:ea typeface="宋体" panose="02010600030101010101" pitchFamily="2" charset="-122"/>
            </a:endParaRPr>
          </a:p>
          <a:p>
            <a:pPr indent="306705" algn="just" eaLnBrk="0" hangingPunct="0">
              <a:lnSpc>
                <a:spcPct val="140000"/>
              </a:lnSpc>
            </a:pPr>
            <a:endParaRPr lang="en-US" altLang="zh-CN" dirty="0">
              <a:latin typeface="Times New Roman" panose="02020603050405020304" pitchFamily="18" charset="0"/>
              <a:ea typeface="宋体" panose="02010600030101010101" pitchFamily="2" charset="-122"/>
            </a:endParaRPr>
          </a:p>
          <a:p>
            <a:pPr indent="306705" algn="just" eaLnBrk="0" hangingPunct="0">
              <a:lnSpc>
                <a:spcPct val="140000"/>
              </a:lnSpc>
            </a:pPr>
            <a:r>
              <a:rPr lang="zh-CN" altLang="en-US" dirty="0">
                <a:latin typeface="Times New Roman" panose="02020603050405020304" pitchFamily="18" charset="0"/>
                <a:ea typeface="宋体" panose="02010600030101010101" pitchFamily="2" charset="-122"/>
              </a:rPr>
              <a:t>功能：将源操作数所指定的内容送入由直接地址</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所指定的片内存储器中。</a:t>
            </a:r>
            <a:endParaRPr lang="zh-CN" altLang="en-US"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59</a:t>
            </a:fld>
            <a:endParaRPr lang="en-US" altLang="zh-CN" sz="1400" b="0" dirty="0"/>
          </a:p>
        </p:txBody>
      </p:sp>
      <p:sp>
        <p:nvSpPr>
          <p:cNvPr id="77826" name="Rectangle 2"/>
          <p:cNvSpPr/>
          <p:nvPr/>
        </p:nvSpPr>
        <p:spPr>
          <a:xfrm>
            <a:off x="0" y="1066800"/>
            <a:ext cx="8534400" cy="4692650"/>
          </a:xfrm>
          <a:prstGeom prst="rect">
            <a:avLst/>
          </a:prstGeom>
          <a:noFill/>
          <a:ln w="9525">
            <a:noFill/>
          </a:ln>
        </p:spPr>
        <p:txBody>
          <a:bodyPr anchor="t" anchorCtr="0">
            <a:spAutoFit/>
          </a:bodyPr>
          <a:lstStyle/>
          <a:p>
            <a:pPr indent="306705" algn="just">
              <a:lnSpc>
                <a:spcPct val="140000"/>
              </a:lnSpc>
            </a:pP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4</a:t>
            </a:r>
            <a:r>
              <a:rPr lang="zh-CN" altLang="en-US" dirty="0">
                <a:solidFill>
                  <a:srgbClr val="0000FF"/>
                </a:solidFill>
                <a:latin typeface="Times New Roman" panose="02020603050405020304" pitchFamily="18" charset="0"/>
                <a:ea typeface="宋体" panose="02010600030101010101" pitchFamily="2" charset="-122"/>
              </a:rPr>
              <a:t>） 以间接地址为目的地址操作数的指令：</a:t>
            </a:r>
            <a:endParaRPr lang="zh-CN" altLang="en-US" b="0" dirty="0">
              <a:latin typeface="宋体" panose="02010600030101010101" pitchFamily="2" charset="-122"/>
              <a:ea typeface="宋体" panose="02010600030101010101" pitchFamily="2" charset="-122"/>
            </a:endParaRPr>
          </a:p>
          <a:p>
            <a:pPr indent="306705" algn="just" eaLnBrk="0" hangingPunct="0">
              <a:lnSpc>
                <a:spcPct val="140000"/>
              </a:lnSpc>
            </a:pPr>
            <a:r>
              <a:rPr lang="zh-CN" altLang="en-US" dirty="0">
                <a:latin typeface="Times New Roman" panose="02020603050405020304" pitchFamily="18" charset="0"/>
                <a:ea typeface="宋体" panose="02010600030101010101" pitchFamily="2" charset="-122"/>
              </a:rPr>
              <a:t>	</a:t>
            </a:r>
          </a:p>
          <a:p>
            <a:pPr indent="306705"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@Ri</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A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Ri</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endParaRPr lang="zh-CN" altLang="en-US" b="0" dirty="0">
              <a:latin typeface="宋体" panose="02010600030101010101" pitchFamily="2" charset="-122"/>
              <a:ea typeface="宋体" panose="02010600030101010101" pitchFamily="2" charset="-122"/>
            </a:endParaRPr>
          </a:p>
          <a:p>
            <a:pPr indent="306705"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@Ri</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direct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Ri</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endParaRPr lang="zh-CN" altLang="en-US" b="0" dirty="0">
              <a:latin typeface="宋体" panose="02010600030101010101" pitchFamily="2" charset="-122"/>
              <a:ea typeface="宋体" panose="02010600030101010101" pitchFamily="2" charset="-122"/>
            </a:endParaRPr>
          </a:p>
          <a:p>
            <a:pPr indent="306705"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@Ri</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#data</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Ri</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data</a:t>
            </a:r>
            <a:endParaRPr lang="en-US" altLang="zh-CN" b="0" dirty="0">
              <a:latin typeface="宋体" panose="02010600030101010101" pitchFamily="2" charset="-122"/>
              <a:ea typeface="宋体" panose="02010600030101010101" pitchFamily="2" charset="-122"/>
            </a:endParaRPr>
          </a:p>
          <a:p>
            <a:pPr indent="306705" algn="just" eaLnBrk="0" hangingPunct="0">
              <a:lnSpc>
                <a:spcPct val="140000"/>
              </a:lnSpc>
            </a:pPr>
            <a:endParaRPr lang="en-US" altLang="zh-CN" dirty="0">
              <a:latin typeface="Times New Roman" panose="02020603050405020304" pitchFamily="18" charset="0"/>
              <a:ea typeface="宋体" panose="02010600030101010101" pitchFamily="2" charset="-122"/>
            </a:endParaRPr>
          </a:p>
          <a:p>
            <a:pPr indent="306705" algn="just" eaLnBrk="0" hangingPunct="0">
              <a:lnSpc>
                <a:spcPct val="140000"/>
              </a:lnSpc>
            </a:pPr>
            <a:r>
              <a:rPr lang="zh-CN" altLang="en-US" dirty="0">
                <a:latin typeface="Times New Roman" panose="02020603050405020304" pitchFamily="18" charset="0"/>
                <a:ea typeface="宋体" panose="02010600030101010101" pitchFamily="2" charset="-122"/>
              </a:rPr>
              <a:t>功能：将源操作数所指定的内容送入以</a:t>
            </a:r>
            <a:r>
              <a:rPr lang="en-US" altLang="zh-CN" dirty="0">
                <a:latin typeface="Times New Roman" panose="02020603050405020304" pitchFamily="18" charset="0"/>
                <a:ea typeface="宋体" panose="02010600030101010101" pitchFamily="2" charset="-122"/>
              </a:rPr>
              <a:t>R0</a:t>
            </a:r>
            <a:r>
              <a:rPr lang="zh-CN" altLang="en-US" dirty="0">
                <a:latin typeface="Times New Roman" panose="02020603050405020304" pitchFamily="18" charset="0"/>
                <a:ea typeface="宋体" panose="02010600030101010101" pitchFamily="2" charset="-122"/>
              </a:rPr>
              <a:t>或</a:t>
            </a:r>
            <a:r>
              <a:rPr lang="en-US" altLang="zh-CN" dirty="0">
                <a:latin typeface="Times New Roman" panose="02020603050405020304" pitchFamily="18" charset="0"/>
                <a:ea typeface="宋体" panose="02010600030101010101" pitchFamily="2" charset="-122"/>
              </a:rPr>
              <a:t>R1</a:t>
            </a:r>
            <a:r>
              <a:rPr lang="zh-CN" altLang="en-US" dirty="0">
                <a:latin typeface="Times New Roman" panose="02020603050405020304" pitchFamily="18" charset="0"/>
                <a:ea typeface="宋体" panose="02010600030101010101" pitchFamily="2" charset="-122"/>
              </a:rPr>
              <a:t>为地址指针的片内存储器单元中。</a:t>
            </a:r>
            <a:endParaRPr lang="zh-CN" altLang="en-US" b="0" dirty="0">
              <a:latin typeface="宋体" panose="02010600030101010101" pitchFamily="2" charset="-122"/>
              <a:ea typeface="宋体" panose="02010600030101010101" pitchFamily="2" charset="-122"/>
            </a:endParaRPr>
          </a:p>
          <a:p>
            <a:pPr indent="306705" eaLnBrk="0" hangingPunct="0">
              <a:lnSpc>
                <a:spcPct val="140000"/>
              </a:lnSpc>
            </a:pPr>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60</a:t>
            </a:fld>
            <a:endParaRPr lang="en-US" altLang="zh-CN" sz="1400" b="0" dirty="0"/>
          </a:p>
        </p:txBody>
      </p:sp>
      <p:sp>
        <p:nvSpPr>
          <p:cNvPr id="78850" name="Rectangle 2"/>
          <p:cNvSpPr/>
          <p:nvPr/>
        </p:nvSpPr>
        <p:spPr>
          <a:xfrm>
            <a:off x="533400" y="1371600"/>
            <a:ext cx="8077200" cy="3524250"/>
          </a:xfrm>
          <a:prstGeom prst="rect">
            <a:avLst/>
          </a:prstGeom>
          <a:noFill/>
          <a:ln w="9525">
            <a:noFill/>
          </a:ln>
        </p:spPr>
        <p:txBody>
          <a:bodyPr anchor="t" anchorCtr="0">
            <a:spAutoFit/>
          </a:bodyPr>
          <a:lstStyle/>
          <a:p>
            <a:pPr algn="just">
              <a:lnSpc>
                <a:spcPct val="140000"/>
              </a:lnSpc>
            </a:pP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5</a:t>
            </a:r>
            <a:r>
              <a:rPr lang="zh-CN" altLang="en-US" dirty="0">
                <a:solidFill>
                  <a:srgbClr val="0000FF"/>
                </a:solidFill>
                <a:latin typeface="Times New Roman" panose="02020603050405020304" pitchFamily="18" charset="0"/>
                <a:ea typeface="宋体" panose="02010600030101010101" pitchFamily="2" charset="-122"/>
              </a:rPr>
              <a:t>）十六位数据传送指令：</a:t>
            </a:r>
            <a:endParaRPr lang="zh-CN" altLang="en-US" b="0" dirty="0">
              <a:latin typeface="Times New Roman" panose="02020603050405020304" pitchFamily="18" charset="0"/>
              <a:ea typeface="宋体" panose="02010600030101010101" pitchFamily="2" charset="-122"/>
            </a:endParaRPr>
          </a:p>
          <a:p>
            <a:pPr algn="just" eaLnBrk="0" hangingPunct="0">
              <a:lnSpc>
                <a:spcPct val="140000"/>
              </a:lnSpc>
            </a:pPr>
            <a:r>
              <a:rPr lang="zh-CN" altLang="en-US" dirty="0">
                <a:latin typeface="Times New Roman" panose="02020603050405020304" pitchFamily="18" charset="0"/>
                <a:ea typeface="宋体" panose="02010600030101010101" pitchFamily="2" charset="-122"/>
              </a:rPr>
              <a:t>	</a:t>
            </a:r>
          </a:p>
          <a:p>
            <a:pPr algn="just" eaLnBrk="0" hangingPunct="0">
              <a:lnSpc>
                <a:spcPct val="140000"/>
              </a:lnSpc>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MOV  DPTR</a:t>
            </a: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#data16   </a:t>
            </a:r>
          </a:p>
          <a:p>
            <a:pPr algn="just" eaLnBrk="0" hangingPunct="0">
              <a:lnSpc>
                <a:spcPct val="140000"/>
              </a:lnSpc>
            </a:pPr>
            <a:r>
              <a:rPr lang="en-US" altLang="zh-CN" dirty="0">
                <a:solidFill>
                  <a:srgbClr val="FF0000"/>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DPH←dataH</a:t>
            </a: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DPL←dataL</a:t>
            </a:r>
            <a:endParaRPr lang="en-US" altLang="zh-CN" b="0" dirty="0">
              <a:latin typeface="Times New Roman" panose="02020603050405020304" pitchFamily="18" charset="0"/>
              <a:ea typeface="宋体" panose="02010600030101010101" pitchFamily="2" charset="-122"/>
            </a:endParaRPr>
          </a:p>
          <a:p>
            <a:pPr algn="just" eaLnBrk="0" hangingPunct="0">
              <a:lnSpc>
                <a:spcPct val="140000"/>
              </a:lnSpc>
            </a:pPr>
            <a:r>
              <a:rPr lang="en-US" altLang="zh-CN" dirty="0">
                <a:latin typeface="Times New Roman" panose="02020603050405020304" pitchFamily="18" charset="0"/>
                <a:ea typeface="宋体" panose="02010600030101010101" pitchFamily="2" charset="-122"/>
              </a:rPr>
              <a:t>	</a:t>
            </a:r>
          </a:p>
          <a:p>
            <a:pPr algn="just" eaLnBrk="0" hangingPunct="0">
              <a:lnSpc>
                <a:spcPct val="14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唯一的</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位立即数传送指令。</a:t>
            </a:r>
            <a:endParaRPr lang="zh-CN" altLang="en-US" b="0" dirty="0">
              <a:latin typeface="Times New Roman" panose="02020603050405020304" pitchFamily="18" charset="0"/>
              <a:ea typeface="宋体" panose="02010600030101010101" pitchFamily="2" charset="-122"/>
            </a:endParaRPr>
          </a:p>
          <a:p>
            <a:pPr eaLnBrk="0" hangingPunct="0"/>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61</a:t>
            </a:fld>
            <a:endParaRPr lang="en-US" altLang="zh-CN" sz="1400" b="0" dirty="0"/>
          </a:p>
        </p:txBody>
      </p:sp>
      <p:sp>
        <p:nvSpPr>
          <p:cNvPr id="79874" name="Text Box 4"/>
          <p:cNvSpPr txBox="1"/>
          <p:nvPr/>
        </p:nvSpPr>
        <p:spPr>
          <a:xfrm>
            <a:off x="1447800" y="2146300"/>
            <a:ext cx="1325563" cy="546100"/>
          </a:xfrm>
          <a:prstGeom prst="rect">
            <a:avLst/>
          </a:prstGeom>
          <a:solidFill>
            <a:srgbClr val="66FF33"/>
          </a:solidFill>
          <a:ln w="9525" cap="flat" cmpd="sng">
            <a:solidFill>
              <a:srgbClr val="000000"/>
            </a:solidFill>
            <a:prstDash val="solid"/>
            <a:miter/>
            <a:headEnd type="none" w="med" len="med"/>
            <a:tailEnd type="none" w="med" len="med"/>
          </a:ln>
        </p:spPr>
        <p:txBody>
          <a:bodyPr lIns="0" tIns="0" rIns="0" bIns="0" anchor="t" anchorCtr="0"/>
          <a:lstStyle/>
          <a:p>
            <a:pPr algn="ctr" eaLnBrk="0" hangingPunct="0"/>
            <a:r>
              <a:rPr lang="en-US" altLang="zh-CN" b="0" dirty="0">
                <a:latin typeface="Times New Roman" panose="02020603050405020304" pitchFamily="18" charset="0"/>
                <a:ea typeface="宋体" panose="02010600030101010101" pitchFamily="2" charset="-122"/>
              </a:rPr>
              <a:t>@Ri</a:t>
            </a:r>
          </a:p>
        </p:txBody>
      </p:sp>
      <p:sp>
        <p:nvSpPr>
          <p:cNvPr id="79875" name="Text Box 5"/>
          <p:cNvSpPr txBox="1"/>
          <p:nvPr/>
        </p:nvSpPr>
        <p:spPr>
          <a:xfrm>
            <a:off x="3849688" y="2146300"/>
            <a:ext cx="1325562" cy="546100"/>
          </a:xfrm>
          <a:prstGeom prst="rect">
            <a:avLst/>
          </a:prstGeom>
          <a:solidFill>
            <a:srgbClr val="66FF33"/>
          </a:solidFill>
          <a:ln w="9525" cap="flat" cmpd="sng">
            <a:solidFill>
              <a:srgbClr val="000000"/>
            </a:solidFill>
            <a:prstDash val="solid"/>
            <a:miter/>
            <a:headEnd type="none" w="med" len="med"/>
            <a:tailEnd type="none" w="med" len="med"/>
          </a:ln>
        </p:spPr>
        <p:txBody>
          <a:bodyPr lIns="0" tIns="0" rIns="0" bIns="0" anchor="t" anchorCtr="0"/>
          <a:lstStyle/>
          <a:p>
            <a:pPr algn="ctr" eaLnBrk="0" hangingPunct="0"/>
            <a:r>
              <a:rPr lang="en-US" altLang="zh-CN" b="0" dirty="0">
                <a:latin typeface="Times New Roman" panose="02020603050405020304" pitchFamily="18" charset="0"/>
                <a:ea typeface="宋体" panose="02010600030101010101" pitchFamily="2" charset="-122"/>
              </a:rPr>
              <a:t>direct</a:t>
            </a:r>
          </a:p>
        </p:txBody>
      </p:sp>
      <p:sp>
        <p:nvSpPr>
          <p:cNvPr id="79876" name="Text Box 6"/>
          <p:cNvSpPr txBox="1"/>
          <p:nvPr/>
        </p:nvSpPr>
        <p:spPr>
          <a:xfrm>
            <a:off x="6218238" y="2146300"/>
            <a:ext cx="1325562" cy="546100"/>
          </a:xfrm>
          <a:prstGeom prst="rect">
            <a:avLst/>
          </a:prstGeom>
          <a:solidFill>
            <a:srgbClr val="66FF33"/>
          </a:solidFill>
          <a:ln w="9525" cap="flat" cmpd="sng">
            <a:solidFill>
              <a:srgbClr val="000000"/>
            </a:solidFill>
            <a:prstDash val="solid"/>
            <a:miter/>
            <a:headEnd type="none" w="med" len="med"/>
            <a:tailEnd type="none" w="med" len="med"/>
          </a:ln>
        </p:spPr>
        <p:txBody>
          <a:bodyPr lIns="0" tIns="0" rIns="0" bIns="0" anchor="t" anchorCtr="0"/>
          <a:lstStyle/>
          <a:p>
            <a:pPr algn="ctr" eaLnBrk="0" hangingPunct="0"/>
            <a:r>
              <a:rPr lang="en-US" altLang="zh-CN" b="0" dirty="0">
                <a:latin typeface="Times New Roman" panose="02020603050405020304" pitchFamily="18" charset="0"/>
                <a:ea typeface="宋体" panose="02010600030101010101" pitchFamily="2" charset="-122"/>
              </a:rPr>
              <a:t>Rn</a:t>
            </a:r>
          </a:p>
        </p:txBody>
      </p:sp>
      <p:sp>
        <p:nvSpPr>
          <p:cNvPr id="79877" name="Text Box 7"/>
          <p:cNvSpPr txBox="1"/>
          <p:nvPr/>
        </p:nvSpPr>
        <p:spPr>
          <a:xfrm>
            <a:off x="5157788" y="4056063"/>
            <a:ext cx="1325562" cy="546100"/>
          </a:xfrm>
          <a:prstGeom prst="rect">
            <a:avLst/>
          </a:prstGeom>
          <a:solidFill>
            <a:srgbClr val="66FF33"/>
          </a:solidFill>
          <a:ln w="9525" cap="flat" cmpd="sng">
            <a:solidFill>
              <a:srgbClr val="000000"/>
            </a:solidFill>
            <a:prstDash val="solid"/>
            <a:miter/>
            <a:headEnd type="none" w="med" len="med"/>
            <a:tailEnd type="none" w="med" len="med"/>
          </a:ln>
        </p:spPr>
        <p:txBody>
          <a:bodyPr lIns="0" tIns="0" rIns="0" bIns="0" anchor="t" anchorCtr="0"/>
          <a:lstStyle/>
          <a:p>
            <a:pPr algn="ctr" eaLnBrk="0" hangingPunct="0"/>
            <a:r>
              <a:rPr lang="en-US" altLang="zh-CN" b="0" dirty="0">
                <a:latin typeface="Times New Roman" panose="02020603050405020304" pitchFamily="18" charset="0"/>
                <a:ea typeface="宋体" panose="02010600030101010101" pitchFamily="2" charset="-122"/>
              </a:rPr>
              <a:t>ACC</a:t>
            </a:r>
          </a:p>
        </p:txBody>
      </p:sp>
      <p:sp>
        <p:nvSpPr>
          <p:cNvPr id="79878" name="Text Box 8"/>
          <p:cNvSpPr txBox="1"/>
          <p:nvPr/>
        </p:nvSpPr>
        <p:spPr>
          <a:xfrm>
            <a:off x="2773363" y="4056063"/>
            <a:ext cx="1325562" cy="546100"/>
          </a:xfrm>
          <a:prstGeom prst="rect">
            <a:avLst/>
          </a:prstGeom>
          <a:solidFill>
            <a:srgbClr val="66FF33"/>
          </a:solidFill>
          <a:ln w="9525" cap="flat" cmpd="sng">
            <a:solidFill>
              <a:srgbClr val="000000"/>
            </a:solidFill>
            <a:prstDash val="solid"/>
            <a:miter/>
            <a:headEnd type="none" w="med" len="med"/>
            <a:tailEnd type="none" w="med" len="med"/>
          </a:ln>
        </p:spPr>
        <p:txBody>
          <a:bodyPr lIns="0" tIns="0" rIns="0" bIns="0" anchor="t" anchorCtr="0"/>
          <a:lstStyle/>
          <a:p>
            <a:pPr algn="ctr" eaLnBrk="0" hangingPunct="0"/>
            <a:r>
              <a:rPr lang="en-US" altLang="zh-CN" b="0" dirty="0">
                <a:latin typeface="Times New Roman" panose="02020603050405020304" pitchFamily="18" charset="0"/>
                <a:ea typeface="宋体" panose="02010600030101010101" pitchFamily="2" charset="-122"/>
              </a:rPr>
              <a:t>#data</a:t>
            </a:r>
          </a:p>
        </p:txBody>
      </p:sp>
      <p:grpSp>
        <p:nvGrpSpPr>
          <p:cNvPr id="79879" name="Group 9"/>
          <p:cNvGrpSpPr/>
          <p:nvPr/>
        </p:nvGrpSpPr>
        <p:grpSpPr>
          <a:xfrm>
            <a:off x="4098925" y="1600200"/>
            <a:ext cx="793750" cy="546100"/>
            <a:chOff x="4144" y="4086"/>
            <a:chExt cx="645" cy="328"/>
          </a:xfrm>
        </p:grpSpPr>
        <p:sp>
          <p:nvSpPr>
            <p:cNvPr id="79880" name="Line 10"/>
            <p:cNvSpPr/>
            <p:nvPr/>
          </p:nvSpPr>
          <p:spPr>
            <a:xfrm flipV="1">
              <a:off x="4144" y="4086"/>
              <a:ext cx="0" cy="328"/>
            </a:xfrm>
            <a:prstGeom prst="line">
              <a:avLst/>
            </a:prstGeom>
            <a:ln w="28575" cap="flat" cmpd="sng">
              <a:solidFill>
                <a:schemeClr val="accent2"/>
              </a:solidFill>
              <a:prstDash val="solid"/>
              <a:round/>
              <a:headEnd type="none" w="med" len="med"/>
              <a:tailEnd type="none" w="med" len="med"/>
            </a:ln>
          </p:spPr>
        </p:sp>
        <p:sp>
          <p:nvSpPr>
            <p:cNvPr id="79881" name="Line 11"/>
            <p:cNvSpPr/>
            <p:nvPr/>
          </p:nvSpPr>
          <p:spPr>
            <a:xfrm>
              <a:off x="4144" y="4086"/>
              <a:ext cx="645" cy="0"/>
            </a:xfrm>
            <a:prstGeom prst="line">
              <a:avLst/>
            </a:prstGeom>
            <a:ln w="28575" cap="flat" cmpd="sng">
              <a:solidFill>
                <a:schemeClr val="accent2"/>
              </a:solidFill>
              <a:prstDash val="solid"/>
              <a:round/>
              <a:headEnd type="none" w="med" len="med"/>
              <a:tailEnd type="none" w="med" len="med"/>
            </a:ln>
          </p:spPr>
        </p:sp>
        <p:sp>
          <p:nvSpPr>
            <p:cNvPr id="79882" name="Line 12"/>
            <p:cNvSpPr/>
            <p:nvPr/>
          </p:nvSpPr>
          <p:spPr>
            <a:xfrm>
              <a:off x="4789" y="4086"/>
              <a:ext cx="0" cy="328"/>
            </a:xfrm>
            <a:prstGeom prst="line">
              <a:avLst/>
            </a:prstGeom>
            <a:ln w="28575" cap="flat" cmpd="sng">
              <a:solidFill>
                <a:schemeClr val="accent2"/>
              </a:solidFill>
              <a:prstDash val="solid"/>
              <a:round/>
              <a:headEnd type="none" w="med" len="med"/>
              <a:tailEnd type="triangle" w="lg" len="lg"/>
            </a:ln>
          </p:spPr>
        </p:sp>
      </p:grpSp>
      <p:sp>
        <p:nvSpPr>
          <p:cNvPr id="79883" name="Line 13"/>
          <p:cNvSpPr/>
          <p:nvPr/>
        </p:nvSpPr>
        <p:spPr>
          <a:xfrm flipH="1" flipV="1">
            <a:off x="1981200" y="2692400"/>
            <a:ext cx="795338" cy="1363663"/>
          </a:xfrm>
          <a:prstGeom prst="line">
            <a:avLst/>
          </a:prstGeom>
          <a:ln w="28575" cap="flat" cmpd="sng">
            <a:solidFill>
              <a:schemeClr val="accent2"/>
            </a:solidFill>
            <a:prstDash val="solid"/>
            <a:round/>
            <a:headEnd type="none" w="med" len="med"/>
            <a:tailEnd type="triangle" w="lg" len="lg"/>
          </a:ln>
        </p:spPr>
      </p:sp>
      <p:sp>
        <p:nvSpPr>
          <p:cNvPr id="79884" name="Line 14"/>
          <p:cNvSpPr/>
          <p:nvPr/>
        </p:nvSpPr>
        <p:spPr>
          <a:xfrm flipV="1">
            <a:off x="3303588" y="2692400"/>
            <a:ext cx="795337" cy="1363663"/>
          </a:xfrm>
          <a:prstGeom prst="line">
            <a:avLst/>
          </a:prstGeom>
          <a:ln w="28575" cap="flat" cmpd="sng">
            <a:solidFill>
              <a:schemeClr val="accent2"/>
            </a:solidFill>
            <a:prstDash val="solid"/>
            <a:round/>
            <a:headEnd type="none" w="med" len="med"/>
            <a:tailEnd type="triangle" w="lg" len="lg"/>
          </a:ln>
        </p:spPr>
      </p:sp>
      <p:sp>
        <p:nvSpPr>
          <p:cNvPr id="79885" name="Line 15"/>
          <p:cNvSpPr/>
          <p:nvPr/>
        </p:nvSpPr>
        <p:spPr>
          <a:xfrm flipV="1">
            <a:off x="3833813" y="2692400"/>
            <a:ext cx="2384425" cy="1363663"/>
          </a:xfrm>
          <a:prstGeom prst="line">
            <a:avLst/>
          </a:prstGeom>
          <a:ln w="28575" cap="flat" cmpd="sng">
            <a:solidFill>
              <a:schemeClr val="accent2"/>
            </a:solidFill>
            <a:prstDash val="solid"/>
            <a:round/>
            <a:headEnd type="none" w="med" len="med"/>
            <a:tailEnd type="triangle" w="lg" len="lg"/>
          </a:ln>
        </p:spPr>
      </p:sp>
      <p:sp>
        <p:nvSpPr>
          <p:cNvPr id="79886" name="Line 16"/>
          <p:cNvSpPr/>
          <p:nvPr/>
        </p:nvSpPr>
        <p:spPr>
          <a:xfrm>
            <a:off x="4098925" y="4329113"/>
            <a:ext cx="1058863" cy="0"/>
          </a:xfrm>
          <a:prstGeom prst="line">
            <a:avLst/>
          </a:prstGeom>
          <a:ln w="28575" cap="flat" cmpd="sng">
            <a:solidFill>
              <a:schemeClr val="accent2"/>
            </a:solidFill>
            <a:prstDash val="solid"/>
            <a:round/>
            <a:headEnd type="none" w="med" len="med"/>
            <a:tailEnd type="triangle" w="lg" len="lg"/>
          </a:ln>
        </p:spPr>
      </p:sp>
      <p:sp>
        <p:nvSpPr>
          <p:cNvPr id="79887" name="Line 17"/>
          <p:cNvSpPr/>
          <p:nvPr/>
        </p:nvSpPr>
        <p:spPr>
          <a:xfrm>
            <a:off x="4892675" y="2692400"/>
            <a:ext cx="795338" cy="1363663"/>
          </a:xfrm>
          <a:prstGeom prst="line">
            <a:avLst/>
          </a:prstGeom>
          <a:ln w="28575" cap="flat" cmpd="sng">
            <a:solidFill>
              <a:schemeClr val="accent2"/>
            </a:solidFill>
            <a:prstDash val="solid"/>
            <a:round/>
            <a:headEnd type="triangle" w="lg" len="lg"/>
            <a:tailEnd type="triangle" w="lg" len="lg"/>
          </a:ln>
        </p:spPr>
      </p:sp>
      <p:sp>
        <p:nvSpPr>
          <p:cNvPr id="79888" name="Line 18"/>
          <p:cNvSpPr/>
          <p:nvPr/>
        </p:nvSpPr>
        <p:spPr>
          <a:xfrm>
            <a:off x="2773363" y="2692400"/>
            <a:ext cx="2649537" cy="1363663"/>
          </a:xfrm>
          <a:prstGeom prst="line">
            <a:avLst/>
          </a:prstGeom>
          <a:ln w="28575" cap="flat" cmpd="sng">
            <a:solidFill>
              <a:schemeClr val="accent2"/>
            </a:solidFill>
            <a:prstDash val="solid"/>
            <a:round/>
            <a:headEnd type="triangle" w="sm" len="sm"/>
            <a:tailEnd type="triangle" w="lg" len="lg"/>
          </a:ln>
        </p:spPr>
      </p:sp>
      <p:sp>
        <p:nvSpPr>
          <p:cNvPr id="79889" name="Line 19"/>
          <p:cNvSpPr/>
          <p:nvPr/>
        </p:nvSpPr>
        <p:spPr>
          <a:xfrm flipH="1">
            <a:off x="6218238" y="2692400"/>
            <a:ext cx="530225" cy="1363663"/>
          </a:xfrm>
          <a:prstGeom prst="line">
            <a:avLst/>
          </a:prstGeom>
          <a:ln w="28575" cap="flat" cmpd="sng">
            <a:solidFill>
              <a:schemeClr val="accent2"/>
            </a:solidFill>
            <a:prstDash val="solid"/>
            <a:round/>
            <a:headEnd type="triangle" w="lg" len="lg"/>
            <a:tailEnd type="triangle" w="lg" len="lg"/>
          </a:ln>
        </p:spPr>
      </p:sp>
      <p:sp>
        <p:nvSpPr>
          <p:cNvPr id="79890" name="Line 20"/>
          <p:cNvSpPr/>
          <p:nvPr/>
        </p:nvSpPr>
        <p:spPr>
          <a:xfrm>
            <a:off x="2773363" y="2419350"/>
            <a:ext cx="1060450" cy="0"/>
          </a:xfrm>
          <a:prstGeom prst="line">
            <a:avLst/>
          </a:prstGeom>
          <a:ln w="28575" cap="flat" cmpd="sng">
            <a:solidFill>
              <a:schemeClr val="accent2"/>
            </a:solidFill>
            <a:prstDash val="solid"/>
            <a:round/>
            <a:headEnd type="triangle" w="lg" len="lg"/>
            <a:tailEnd type="triangle" w="lg" len="lg"/>
          </a:ln>
        </p:spPr>
      </p:sp>
      <p:sp>
        <p:nvSpPr>
          <p:cNvPr id="79891" name="Line 21"/>
          <p:cNvSpPr/>
          <p:nvPr/>
        </p:nvSpPr>
        <p:spPr>
          <a:xfrm>
            <a:off x="5157788" y="2419350"/>
            <a:ext cx="1060450" cy="0"/>
          </a:xfrm>
          <a:prstGeom prst="line">
            <a:avLst/>
          </a:prstGeom>
          <a:ln w="28575" cap="flat" cmpd="sng">
            <a:solidFill>
              <a:schemeClr val="accent2"/>
            </a:solidFill>
            <a:prstDash val="solid"/>
            <a:round/>
            <a:headEnd type="triangle" w="sm" len="sm"/>
            <a:tailEnd type="triangle" w="lg" len="lg"/>
          </a:ln>
        </p:spPr>
      </p:sp>
      <p:sp>
        <p:nvSpPr>
          <p:cNvPr id="79892" name="Text Box 22"/>
          <p:cNvSpPr txBox="1"/>
          <p:nvPr/>
        </p:nvSpPr>
        <p:spPr>
          <a:xfrm>
            <a:off x="1600200" y="5029200"/>
            <a:ext cx="5724525" cy="519113"/>
          </a:xfrm>
          <a:prstGeom prst="rect">
            <a:avLst/>
          </a:prstGeom>
          <a:solidFill>
            <a:srgbClr val="66FF33"/>
          </a:solidFill>
          <a:ln w="9525">
            <a:noFill/>
          </a:ln>
        </p:spPr>
        <p:txBody>
          <a:bodyPr lIns="0" tIns="0" rIns="0" bIns="0" anchor="t" anchorCtr="0"/>
          <a:lstStyle/>
          <a:p>
            <a:pPr algn="ctr" eaLnBrk="0" hangingPunct="0"/>
            <a:r>
              <a:rPr lang="zh-CN" altLang="en-US" b="0" dirty="0">
                <a:solidFill>
                  <a:srgbClr val="000000"/>
                </a:solidFill>
                <a:latin typeface="黑体" panose="02010609060101010101" pitchFamily="49" charset="-122"/>
                <a:ea typeface="黑体" panose="02010609060101010101" pitchFamily="49" charset="-122"/>
              </a:rPr>
              <a:t>传送指令在片内的操作功能</a:t>
            </a:r>
          </a:p>
          <a:p>
            <a:pPr algn="just" eaLnBrk="0" hangingPunct="0"/>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62</a:t>
            </a:fld>
            <a:endParaRPr lang="en-US" altLang="zh-CN" sz="1400" b="0" dirty="0"/>
          </a:p>
        </p:txBody>
      </p:sp>
      <p:sp>
        <p:nvSpPr>
          <p:cNvPr id="17410" name="Rectangle 2"/>
          <p:cNvSpPr/>
          <p:nvPr/>
        </p:nvSpPr>
        <p:spPr>
          <a:xfrm>
            <a:off x="0" y="908050"/>
            <a:ext cx="8604250" cy="1625600"/>
          </a:xfrm>
          <a:prstGeom prst="rect">
            <a:avLst/>
          </a:prstGeom>
          <a:noFill/>
          <a:ln w="9525">
            <a:noFill/>
          </a:ln>
        </p:spPr>
        <p:txBody>
          <a:bodyPr anchor="t" anchorCtr="0">
            <a:spAutoFit/>
          </a:bodyPr>
          <a:lstStyle/>
          <a:p>
            <a:pPr indent="303530" algn="just">
              <a:lnSpc>
                <a:spcPct val="130000"/>
              </a:lnSpc>
            </a:pPr>
            <a:r>
              <a:rPr lang="en-US" altLang="zh-CN" dirty="0">
                <a:solidFill>
                  <a:srgbClr val="FF0000"/>
                </a:solidFill>
                <a:latin typeface="Times New Roman" panose="02020603050405020304" pitchFamily="18" charset="0"/>
                <a:ea typeface="黑体" panose="02010609060101010101" pitchFamily="49" charset="-122"/>
              </a:rPr>
              <a:t>2) </a:t>
            </a:r>
            <a:r>
              <a:rPr lang="zh-CN" altLang="en-US" dirty="0">
                <a:solidFill>
                  <a:srgbClr val="FF0000"/>
                </a:solidFill>
                <a:latin typeface="Times New Roman" panose="02020603050405020304" pitchFamily="18" charset="0"/>
                <a:ea typeface="黑体" panose="02010609060101010101" pitchFamily="49" charset="-122"/>
              </a:rPr>
              <a:t>外部</a:t>
            </a:r>
            <a:r>
              <a:rPr lang="en-US" altLang="zh-CN" dirty="0">
                <a:solidFill>
                  <a:srgbClr val="FF0000"/>
                </a:solidFill>
                <a:latin typeface="Times New Roman" panose="02020603050405020304" pitchFamily="18" charset="0"/>
                <a:ea typeface="黑体" panose="02010609060101010101" pitchFamily="49" charset="-122"/>
              </a:rPr>
              <a:t>RAM</a:t>
            </a:r>
            <a:r>
              <a:rPr lang="zh-CN" altLang="en-US" dirty="0">
                <a:solidFill>
                  <a:srgbClr val="FF0000"/>
                </a:solidFill>
                <a:latin typeface="Times New Roman" panose="02020603050405020304" pitchFamily="18" charset="0"/>
                <a:ea typeface="黑体" panose="02010609060101010101" pitchFamily="49" charset="-122"/>
              </a:rPr>
              <a:t>数据传送指令组</a:t>
            </a:r>
            <a:endParaRPr lang="zh-CN" altLang="en-US" b="0" dirty="0">
              <a:solidFill>
                <a:srgbClr val="FF0000"/>
              </a:solidFill>
              <a:latin typeface="Times New Roman" panose="02020603050405020304" pitchFamily="18" charset="0"/>
              <a:ea typeface="宋体" panose="02010600030101010101" pitchFamily="2" charset="-122"/>
            </a:endParaRPr>
          </a:p>
          <a:p>
            <a:pPr indent="303530" algn="just" eaLnBrk="0" hangingPunct="0">
              <a:lnSpc>
                <a:spcPct val="130000"/>
              </a:lnSpc>
              <a:spcBef>
                <a:spcPct val="30000"/>
              </a:spcBef>
            </a:pPr>
            <a:r>
              <a:rPr lang="zh-CN" altLang="en-US" dirty="0">
                <a:latin typeface="Times New Roman" panose="02020603050405020304" pitchFamily="18" charset="0"/>
                <a:ea typeface="宋体" panose="02010600030101010101" pitchFamily="2" charset="-122"/>
              </a:rPr>
              <a:t>寻址方式：</a:t>
            </a:r>
            <a:r>
              <a:rPr lang="zh-CN" altLang="en-US" dirty="0">
                <a:solidFill>
                  <a:srgbClr val="0000FF"/>
                </a:solidFill>
                <a:latin typeface="Times New Roman" panose="02020603050405020304" pitchFamily="18" charset="0"/>
                <a:ea typeface="宋体" panose="02010600030101010101" pitchFamily="2" charset="-122"/>
              </a:rPr>
              <a:t>寄存器间接寻址方式</a:t>
            </a:r>
            <a:r>
              <a:rPr lang="zh-CN" altLang="en-US" dirty="0">
                <a:latin typeface="Times New Roman" panose="02020603050405020304" pitchFamily="18" charset="0"/>
                <a:ea typeface="宋体" panose="02010600030101010101" pitchFamily="2" charset="-122"/>
              </a:rPr>
              <a:t>，</a:t>
            </a:r>
            <a:r>
              <a:rPr lang="zh-CN" altLang="en-US" dirty="0">
                <a:solidFill>
                  <a:srgbClr val="0000FF"/>
                </a:solidFill>
                <a:latin typeface="Times New Roman" panose="02020603050405020304" pitchFamily="18" charset="0"/>
                <a:ea typeface="宋体" panose="02010600030101010101" pitchFamily="2" charset="-122"/>
              </a:rPr>
              <a:t>使用</a:t>
            </a:r>
            <a:r>
              <a:rPr lang="en-US" altLang="zh-CN" dirty="0">
                <a:solidFill>
                  <a:srgbClr val="0000FF"/>
                </a:solidFill>
                <a:latin typeface="Times New Roman" panose="02020603050405020304" pitchFamily="18" charset="0"/>
                <a:ea typeface="宋体" panose="02010600030101010101" pitchFamily="2" charset="-122"/>
              </a:rPr>
              <a:t>DPTR</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Ri</a:t>
            </a:r>
            <a:r>
              <a:rPr lang="zh-CN" altLang="en-US" dirty="0">
                <a:solidFill>
                  <a:srgbClr val="0000FF"/>
                </a:solidFill>
                <a:latin typeface="Times New Roman" panose="02020603050405020304" pitchFamily="18" charset="0"/>
                <a:ea typeface="宋体" panose="02010600030101010101" pitchFamily="2" charset="-122"/>
              </a:rPr>
              <a:t>作间址寄存器。</a:t>
            </a:r>
            <a:endParaRPr lang="zh-CN" altLang="en-US" b="0" dirty="0">
              <a:latin typeface="Times New Roman" panose="02020603050405020304" pitchFamily="18" charset="0"/>
              <a:ea typeface="宋体" panose="02010600030101010101" pitchFamily="2" charset="-122"/>
            </a:endParaRPr>
          </a:p>
        </p:txBody>
      </p:sp>
      <p:sp>
        <p:nvSpPr>
          <p:cNvPr id="17412" name="Rectangle 4"/>
          <p:cNvSpPr/>
          <p:nvPr/>
        </p:nvSpPr>
        <p:spPr>
          <a:xfrm>
            <a:off x="323850" y="2708275"/>
            <a:ext cx="8604250" cy="2282825"/>
          </a:xfrm>
          <a:prstGeom prst="rect">
            <a:avLst/>
          </a:prstGeom>
          <a:noFill/>
          <a:ln w="9525">
            <a:noFill/>
          </a:ln>
        </p:spPr>
        <p:txBody>
          <a:bodyPr anchor="t" anchorCtr="0">
            <a:spAutoFit/>
          </a:bodyPr>
          <a:lstStyle/>
          <a:p>
            <a:pPr indent="303530" algn="just" eaLnBrk="0" hangingPunct="0">
              <a:lnSpc>
                <a:spcPct val="150000"/>
              </a:lnSpc>
              <a:spcBef>
                <a:spcPct val="30000"/>
              </a:spcBef>
            </a:pP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1</a:t>
            </a:r>
            <a:r>
              <a:rPr lang="zh-CN" altLang="en-US" dirty="0">
                <a:solidFill>
                  <a:srgbClr val="FF0000"/>
                </a:solidFill>
                <a:latin typeface="Times New Roman" panose="02020603050405020304" pitchFamily="18" charset="0"/>
                <a:ea typeface="宋体" panose="02010600030101010101" pitchFamily="2" charset="-122"/>
              </a:rPr>
              <a:t>） 使用</a:t>
            </a:r>
            <a:r>
              <a:rPr lang="en-US" altLang="zh-CN" dirty="0">
                <a:solidFill>
                  <a:srgbClr val="FF0000"/>
                </a:solidFill>
                <a:latin typeface="Times New Roman" panose="02020603050405020304" pitchFamily="18" charset="0"/>
                <a:ea typeface="宋体" panose="02010600030101010101" pitchFamily="2" charset="-122"/>
              </a:rPr>
              <a:t>DPTR</a:t>
            </a:r>
            <a:r>
              <a:rPr lang="zh-CN" altLang="en-US" dirty="0">
                <a:solidFill>
                  <a:srgbClr val="FF0000"/>
                </a:solidFill>
                <a:latin typeface="Times New Roman" panose="02020603050405020304" pitchFamily="18" charset="0"/>
                <a:ea typeface="宋体" panose="02010600030101010101" pitchFamily="2" charset="-122"/>
              </a:rPr>
              <a:t>进行间接寻址</a:t>
            </a:r>
            <a:endParaRPr lang="zh-CN" altLang="en-US" b="0" dirty="0">
              <a:latin typeface="Times New Roman" panose="02020603050405020304" pitchFamily="18" charset="0"/>
              <a:ea typeface="宋体" panose="02010600030101010101" pitchFamily="2" charset="-122"/>
            </a:endParaRPr>
          </a:p>
          <a:p>
            <a:pPr indent="303530" algn="just" eaLnBrk="0" hangingPunct="0">
              <a:lnSpc>
                <a:spcPct val="150000"/>
              </a:lnSpc>
            </a:pPr>
            <a:r>
              <a:rPr lang="zh-CN" altLang="en-US" dirty="0">
                <a:solidFill>
                  <a:srgbClr val="0000FF"/>
                </a:solidFill>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MOVX   A</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@DPTR</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DPTR</a:t>
            </a:r>
            <a:r>
              <a:rPr lang="zh-CN" altLang="en-US" dirty="0">
                <a:latin typeface="Times New Roman" panose="02020603050405020304" pitchFamily="18" charset="0"/>
                <a:ea typeface="宋体" panose="02010600030101010101" pitchFamily="2" charset="-122"/>
              </a:rPr>
              <a:t>））</a:t>
            </a:r>
            <a:endParaRPr lang="zh-CN" altLang="en-US" b="0" dirty="0">
              <a:latin typeface="宋体" panose="02010600030101010101" pitchFamily="2" charset="-122"/>
              <a:ea typeface="宋体" panose="02010600030101010101" pitchFamily="2" charset="-122"/>
            </a:endParaRPr>
          </a:p>
          <a:p>
            <a:pPr indent="303530" algn="just" eaLnBrk="0" hangingPunct="0">
              <a:lnSpc>
                <a:spcPct val="150000"/>
              </a:lnSpc>
            </a:pPr>
            <a:r>
              <a:rPr lang="zh-CN" altLang="en-US" dirty="0">
                <a:solidFill>
                  <a:srgbClr val="0000FF"/>
                </a:solidFill>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MOVX  @DPTR</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DPTR</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303530" algn="just" eaLnBrk="0" hangingPunct="0">
              <a:lnSpc>
                <a:spcPct val="150000"/>
              </a:lnSpc>
            </a:pPr>
            <a:r>
              <a:rPr lang="zh-CN" altLang="en-US" dirty="0">
                <a:latin typeface="Times New Roman" panose="02020603050405020304" pitchFamily="18" charset="0"/>
                <a:ea typeface="宋体" panose="02010600030101010101" pitchFamily="2" charset="-122"/>
              </a:rPr>
              <a:t>	指令的寻址范围：</a:t>
            </a:r>
            <a:r>
              <a:rPr lang="en-US" altLang="zh-CN" dirty="0">
                <a:solidFill>
                  <a:srgbClr val="FF0000"/>
                </a:solidFill>
                <a:latin typeface="Times New Roman" panose="02020603050405020304" pitchFamily="18" charset="0"/>
                <a:ea typeface="宋体" panose="02010600030101010101" pitchFamily="2" charset="-122"/>
              </a:rPr>
              <a:t>64KB</a:t>
            </a:r>
            <a:r>
              <a:rPr lang="zh-CN" altLang="en-US" dirty="0">
                <a:solidFill>
                  <a:srgbClr val="FF0000"/>
                </a:solidFill>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p:txBody>
      </p:sp>
      <p:sp>
        <p:nvSpPr>
          <p:cNvPr id="17414" name="Text Box 6"/>
          <p:cNvSpPr txBox="1"/>
          <p:nvPr/>
        </p:nvSpPr>
        <p:spPr>
          <a:xfrm>
            <a:off x="684213" y="5157788"/>
            <a:ext cx="7705725" cy="1187450"/>
          </a:xfrm>
          <a:prstGeom prst="rect">
            <a:avLst/>
          </a:prstGeom>
          <a:solidFill>
            <a:schemeClr val="hlink"/>
          </a:solidFill>
          <a:ln w="9525">
            <a:noFill/>
          </a:ln>
        </p:spPr>
        <p:txBody>
          <a:bodyPr anchor="t" anchorCtr="0">
            <a:spAutoFit/>
          </a:bodyPr>
          <a:lstStyle/>
          <a:p>
            <a:pPr>
              <a:lnSpc>
                <a:spcPct val="150000"/>
              </a:lnSpc>
              <a:spcBef>
                <a:spcPct val="50000"/>
              </a:spcBef>
            </a:pPr>
            <a:r>
              <a:rPr lang="zh-CN" altLang="en-US" dirty="0">
                <a:latin typeface="Times New Roman" panose="02020603050405020304" pitchFamily="18" charset="0"/>
                <a:ea typeface="宋体" panose="02010600030101010101" pitchFamily="2" charset="-122"/>
              </a:rPr>
              <a:t>指令执行时，</a:t>
            </a:r>
            <a:r>
              <a:rPr lang="en-US" altLang="zh-CN" dirty="0">
                <a:latin typeface="Times New Roman" panose="02020603050405020304" pitchFamily="18" charset="0"/>
                <a:ea typeface="宋体" panose="02010600030101010101" pitchFamily="2" charset="-122"/>
              </a:rPr>
              <a:t>DPH</a:t>
            </a:r>
            <a:r>
              <a:rPr lang="zh-CN" altLang="en-US" dirty="0">
                <a:latin typeface="Times New Roman" panose="02020603050405020304" pitchFamily="18" charset="0"/>
                <a:ea typeface="宋体" panose="02010600030101010101" pitchFamily="2" charset="-122"/>
              </a:rPr>
              <a:t>中存放的高</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位地址送</a:t>
            </a:r>
            <a:r>
              <a:rPr lang="en-US" altLang="zh-CN" dirty="0">
                <a:latin typeface="Times New Roman" panose="02020603050405020304" pitchFamily="18" charset="0"/>
                <a:ea typeface="宋体" panose="02010600030101010101" pitchFamily="2" charset="-122"/>
              </a:rPr>
              <a:t>P2</a:t>
            </a:r>
            <a:r>
              <a:rPr lang="zh-CN" altLang="en-US" dirty="0">
                <a:latin typeface="Times New Roman" panose="02020603050405020304" pitchFamily="18" charset="0"/>
                <a:ea typeface="宋体" panose="02010600030101010101" pitchFamily="2" charset="-122"/>
              </a:rPr>
              <a:t>口输出，</a:t>
            </a:r>
            <a:r>
              <a:rPr lang="en-US" altLang="zh-CN" dirty="0">
                <a:latin typeface="Times New Roman" panose="02020603050405020304" pitchFamily="18" charset="0"/>
                <a:ea typeface="宋体" panose="02010600030101010101" pitchFamily="2" charset="-122"/>
              </a:rPr>
              <a:t>DPL</a:t>
            </a:r>
            <a:r>
              <a:rPr lang="zh-CN" altLang="en-US" dirty="0">
                <a:latin typeface="Times New Roman" panose="02020603050405020304" pitchFamily="18" charset="0"/>
                <a:ea typeface="宋体" panose="02010600030101010101" pitchFamily="2" charset="-122"/>
              </a:rPr>
              <a:t>中存放的低</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位地址由</a:t>
            </a:r>
            <a:r>
              <a:rPr lang="en-US" altLang="zh-CN" dirty="0">
                <a:latin typeface="Times New Roman" panose="02020603050405020304" pitchFamily="18" charset="0"/>
                <a:ea typeface="宋体" panose="02010600030101010101" pitchFamily="2" charset="-122"/>
              </a:rPr>
              <a:t>P0</a:t>
            </a:r>
            <a:r>
              <a:rPr lang="zh-CN" altLang="en-US" dirty="0">
                <a:latin typeface="Times New Roman" panose="02020603050405020304" pitchFamily="18" charset="0"/>
                <a:ea typeface="宋体" panose="02010600030101010101" pitchFamily="2" charset="-122"/>
              </a:rPr>
              <a:t>口分时输出。</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63</a:t>
            </a:fld>
            <a:endParaRPr lang="en-US" altLang="zh-CN" sz="1400" b="0" dirty="0"/>
          </a:p>
        </p:txBody>
      </p:sp>
      <p:sp>
        <p:nvSpPr>
          <p:cNvPr id="224260" name="Rectangle 4"/>
          <p:cNvSpPr/>
          <p:nvPr/>
        </p:nvSpPr>
        <p:spPr>
          <a:xfrm>
            <a:off x="179388" y="765175"/>
            <a:ext cx="8748712" cy="1187450"/>
          </a:xfrm>
          <a:prstGeom prst="rect">
            <a:avLst/>
          </a:prstGeom>
          <a:noFill/>
          <a:ln w="9525">
            <a:noFill/>
          </a:ln>
        </p:spPr>
        <p:txBody>
          <a:bodyPr anchor="ctr" anchorCtr="0">
            <a:spAutoFit/>
          </a:bodyPr>
          <a:lstStyle/>
          <a:p>
            <a:pPr indent="266700">
              <a:lnSpc>
                <a:spcPct val="150000"/>
              </a:lnSpc>
            </a:pP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4-2 </a:t>
            </a:r>
            <a:r>
              <a:rPr lang="zh-CN" altLang="en-US" dirty="0">
                <a:latin typeface="Times New Roman" panose="02020603050405020304" pitchFamily="18" charset="0"/>
                <a:ea typeface="宋体" panose="02010600030101010101" pitchFamily="2" charset="-122"/>
              </a:rPr>
              <a:t>编写汇编语言源程序，将外部</a:t>
            </a:r>
            <a:r>
              <a:rPr lang="en-US" altLang="zh-CN" dirty="0">
                <a:latin typeface="Times New Roman" panose="02020603050405020304" pitchFamily="18" charset="0"/>
                <a:ea typeface="宋体" panose="02010600030101010101" pitchFamily="2" charset="-122"/>
              </a:rPr>
              <a:t>RAM 1000H</a:t>
            </a:r>
            <a:r>
              <a:rPr lang="zh-CN" altLang="en-US" dirty="0">
                <a:latin typeface="Times New Roman" panose="02020603050405020304" pitchFamily="18" charset="0"/>
                <a:ea typeface="宋体" panose="02010600030101010101" pitchFamily="2" charset="-122"/>
              </a:rPr>
              <a:t>单元的内容置为</a:t>
            </a:r>
            <a:r>
              <a:rPr lang="en-US" altLang="zh-CN" dirty="0">
                <a:solidFill>
                  <a:srgbClr val="FF0000"/>
                </a:solidFill>
                <a:latin typeface="Times New Roman" panose="02020603050405020304" pitchFamily="18" charset="0"/>
                <a:ea typeface="宋体" panose="02010600030101010101" pitchFamily="2" charset="-122"/>
              </a:rPr>
              <a:t>10H</a:t>
            </a:r>
            <a:r>
              <a:rPr lang="zh-CN" altLang="en-US" dirty="0">
                <a:latin typeface="Times New Roman" panose="02020603050405020304" pitchFamily="18" charset="0"/>
                <a:ea typeface="宋体" panose="02010600030101010101" pitchFamily="2" charset="-122"/>
              </a:rPr>
              <a:t>。</a:t>
            </a:r>
          </a:p>
        </p:txBody>
      </p:sp>
      <p:sp>
        <p:nvSpPr>
          <p:cNvPr id="224261" name="Rectangle 5"/>
          <p:cNvSpPr/>
          <p:nvPr/>
        </p:nvSpPr>
        <p:spPr>
          <a:xfrm>
            <a:off x="0" y="1557338"/>
            <a:ext cx="8748713" cy="3378200"/>
          </a:xfrm>
          <a:prstGeom prst="rect">
            <a:avLst/>
          </a:prstGeom>
          <a:noFill/>
          <a:ln w="9525">
            <a:noFill/>
          </a:ln>
        </p:spPr>
        <p:txBody>
          <a:bodyPr anchor="ctr" anchorCtr="0">
            <a:spAutoFit/>
          </a:bodyPr>
          <a:lstStyle/>
          <a:p>
            <a:pPr indent="266700">
              <a:lnSpc>
                <a:spcPct val="150000"/>
              </a:lnSpc>
              <a:spcBef>
                <a:spcPct val="50000"/>
              </a:spcBef>
            </a:pPr>
            <a:r>
              <a:rPr lang="en-US" altLang="zh-CN" dirty="0">
                <a:latin typeface="Times New Roman" panose="02020603050405020304" pitchFamily="18" charset="0"/>
                <a:ea typeface="宋体" panose="02010600030101010101" pitchFamily="2" charset="-122"/>
              </a:rPr>
              <a:t>		   ORG   0</a:t>
            </a:r>
          </a:p>
          <a:p>
            <a:pPr indent="266700">
              <a:lnSpc>
                <a:spcPct val="150000"/>
              </a:lnSpc>
            </a:pPr>
            <a:endParaRPr lang="en-US" altLang="zh-CN" dirty="0">
              <a:latin typeface="Times New Roman" panose="02020603050405020304" pitchFamily="18" charset="0"/>
              <a:ea typeface="宋体" panose="02010600030101010101" pitchFamily="2" charset="-122"/>
            </a:endParaRPr>
          </a:p>
          <a:p>
            <a:pPr indent="266700">
              <a:lnSpc>
                <a:spcPct val="150000"/>
              </a:lnSpc>
            </a:pPr>
            <a:endParaRPr lang="en-US" altLang="zh-CN" dirty="0">
              <a:latin typeface="Times New Roman" panose="02020603050405020304" pitchFamily="18" charset="0"/>
              <a:ea typeface="宋体" panose="02010600030101010101" pitchFamily="2" charset="-122"/>
            </a:endParaRPr>
          </a:p>
          <a:p>
            <a:pPr indent="266700">
              <a:lnSpc>
                <a:spcPct val="150000"/>
              </a:lnSpc>
            </a:pPr>
            <a:r>
              <a:rPr lang="en-US" altLang="zh-CN" dirty="0">
                <a:latin typeface="Times New Roman" panose="02020603050405020304" pitchFamily="18" charset="0"/>
                <a:ea typeface="宋体" panose="02010600030101010101" pitchFamily="2" charset="-122"/>
              </a:rPr>
              <a:t>	</a:t>
            </a:r>
            <a:r>
              <a:rPr lang="pt-BR" altLang="zh-CN" dirty="0">
                <a:latin typeface="Times New Roman" panose="02020603050405020304" pitchFamily="18" charset="0"/>
                <a:ea typeface="宋体" panose="02010600030101010101" pitchFamily="2" charset="-122"/>
              </a:rPr>
              <a:t>			</a:t>
            </a:r>
            <a:endParaRPr lang="zh-CN" altLang="pt-BR" dirty="0">
              <a:latin typeface="Times New Roman" panose="02020603050405020304" pitchFamily="18" charset="0"/>
              <a:ea typeface="宋体" panose="02010600030101010101" pitchFamily="2" charset="-122"/>
            </a:endParaRPr>
          </a:p>
          <a:p>
            <a:pPr indent="266700">
              <a:lnSpc>
                <a:spcPct val="150000"/>
              </a:lnSpc>
            </a:pPr>
            <a:r>
              <a:rPr lang="zh-CN" altLang="pt-BR" dirty="0">
                <a:latin typeface="Times New Roman" panose="02020603050405020304" pitchFamily="18" charset="0"/>
                <a:ea typeface="宋体" panose="02010600030101010101" pitchFamily="2" charset="-122"/>
              </a:rPr>
              <a:t>		  </a:t>
            </a:r>
          </a:p>
          <a:p>
            <a:pPr indent="266700">
              <a:lnSpc>
                <a:spcPct val="150000"/>
              </a:lnSpc>
            </a:pPr>
            <a:r>
              <a:rPr lang="zh-CN" altLang="pt-BR"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END</a:t>
            </a:r>
          </a:p>
        </p:txBody>
      </p:sp>
      <p:sp>
        <p:nvSpPr>
          <p:cNvPr id="224262" name="Rectangle 6"/>
          <p:cNvSpPr/>
          <p:nvPr/>
        </p:nvSpPr>
        <p:spPr>
          <a:xfrm>
            <a:off x="1908175" y="3716338"/>
            <a:ext cx="6927850" cy="461962"/>
          </a:xfrm>
          <a:prstGeom prst="rect">
            <a:avLst/>
          </a:prstGeom>
          <a:solidFill>
            <a:schemeClr val="hlink"/>
          </a:solidFill>
          <a:ln w="9525">
            <a:noFill/>
          </a:ln>
        </p:spPr>
        <p:txBody>
          <a:bodyPr wrap="none" anchor="t" anchorCtr="0">
            <a:spAutoFit/>
          </a:bodyPr>
          <a:lstStyle/>
          <a:p>
            <a:r>
              <a:rPr lang="pt-BR" altLang="zh-CN" dirty="0">
                <a:latin typeface="Times New Roman" panose="02020603050405020304" pitchFamily="18" charset="0"/>
                <a:ea typeface="宋体" panose="02010600030101010101" pitchFamily="2" charset="-122"/>
              </a:rPr>
              <a:t>MOVX   @DPTR</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A	;</a:t>
            </a:r>
            <a:r>
              <a:rPr lang="zh-CN" altLang="pt-BR" dirty="0">
                <a:latin typeface="Times New Roman" panose="02020603050405020304" pitchFamily="18" charset="0"/>
                <a:ea typeface="宋体" panose="02010600030101010101" pitchFamily="2" charset="-122"/>
              </a:rPr>
              <a:t>写入</a:t>
            </a:r>
            <a:r>
              <a:rPr lang="en-US" altLang="zh-CN" dirty="0">
                <a:latin typeface="Times New Roman" panose="02020603050405020304" pitchFamily="18" charset="0"/>
                <a:ea typeface="宋体" panose="02010600030101010101" pitchFamily="2" charset="-122"/>
              </a:rPr>
              <a:t>1</a:t>
            </a:r>
            <a:r>
              <a:rPr lang="pt-BR" altLang="zh-CN"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H</a:t>
            </a:r>
            <a:r>
              <a:rPr lang="zh-CN" altLang="pt-BR" dirty="0">
                <a:latin typeface="Times New Roman" panose="02020603050405020304" pitchFamily="18" charset="0"/>
                <a:ea typeface="宋体" panose="02010600030101010101" pitchFamily="2" charset="-122"/>
              </a:rPr>
              <a:t>给</a:t>
            </a:r>
            <a:r>
              <a:rPr lang="pt-BR" altLang="zh-CN" dirty="0">
                <a:latin typeface="Times New Roman" panose="02020603050405020304" pitchFamily="18" charset="0"/>
                <a:ea typeface="宋体" panose="02010600030101010101" pitchFamily="2" charset="-122"/>
              </a:rPr>
              <a:t>1000H</a:t>
            </a:r>
            <a:r>
              <a:rPr lang="zh-CN" altLang="pt-BR" dirty="0">
                <a:latin typeface="Times New Roman" panose="02020603050405020304" pitchFamily="18" charset="0"/>
                <a:ea typeface="宋体" panose="02010600030101010101" pitchFamily="2" charset="-122"/>
              </a:rPr>
              <a:t>单元</a:t>
            </a:r>
            <a:endParaRPr lang="zh-CN" altLang="en-US" dirty="0">
              <a:latin typeface="Times New Roman" panose="02020603050405020304" pitchFamily="18" charset="0"/>
              <a:ea typeface="宋体" panose="02010600030101010101" pitchFamily="2" charset="-122"/>
            </a:endParaRPr>
          </a:p>
        </p:txBody>
      </p:sp>
      <p:sp>
        <p:nvSpPr>
          <p:cNvPr id="224263" name="Rectangle 7"/>
          <p:cNvSpPr/>
          <p:nvPr/>
        </p:nvSpPr>
        <p:spPr>
          <a:xfrm>
            <a:off x="1719263" y="2901950"/>
            <a:ext cx="3500437" cy="646113"/>
          </a:xfrm>
          <a:prstGeom prst="rect">
            <a:avLst/>
          </a:prstGeom>
          <a:noFill/>
          <a:ln w="9525">
            <a:noFill/>
          </a:ln>
        </p:spPr>
        <p:txBody>
          <a:bodyPr anchor="t" anchorCtr="0">
            <a:spAutoFit/>
          </a:bodyPr>
          <a:lstStyle/>
          <a:p>
            <a:pPr>
              <a:lnSpc>
                <a:spcPct val="150000"/>
              </a:lnSpc>
            </a:pPr>
            <a:r>
              <a:rPr lang="pt-BR" altLang="zh-CN" dirty="0">
                <a:latin typeface="Times New Roman" panose="02020603050405020304" pitchFamily="18" charset="0"/>
                <a:ea typeface="宋体" panose="02010600030101010101" pitchFamily="2" charset="-122"/>
              </a:rPr>
              <a:t>   MOV    A</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#10H</a:t>
            </a:r>
          </a:p>
        </p:txBody>
      </p:sp>
      <p:sp>
        <p:nvSpPr>
          <p:cNvPr id="224264" name="Rectangle 8"/>
          <p:cNvSpPr/>
          <p:nvPr/>
        </p:nvSpPr>
        <p:spPr>
          <a:xfrm>
            <a:off x="684213" y="2133600"/>
            <a:ext cx="7621587" cy="646113"/>
          </a:xfrm>
          <a:prstGeom prst="rect">
            <a:avLst/>
          </a:prstGeom>
          <a:noFill/>
          <a:ln w="9525">
            <a:noFill/>
          </a:ln>
        </p:spPr>
        <p:txBody>
          <a:bodyPr wrap="none" anchor="t" anchorCtr="0">
            <a:spAutoFit/>
          </a:bodyPr>
          <a:lstStyle/>
          <a:p>
            <a:pPr>
              <a:lnSpc>
                <a:spcPct val="150000"/>
              </a:lnSpc>
            </a:pPr>
            <a:r>
              <a:rPr lang="pt-BR" altLang="zh-CN" dirty="0">
                <a:latin typeface="Times New Roman" panose="02020603050405020304" pitchFamily="18" charset="0"/>
                <a:ea typeface="宋体" panose="02010600030101010101" pitchFamily="2" charset="-122"/>
              </a:rPr>
              <a:t>START:  MOV    DPTR,  #1000H	   ;</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DPTR</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=1000H</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64</a:t>
            </a:fld>
            <a:endParaRPr lang="en-US" altLang="zh-CN" sz="1400" b="0" dirty="0"/>
          </a:p>
        </p:txBody>
      </p:sp>
      <p:sp>
        <p:nvSpPr>
          <p:cNvPr id="223236" name="Rectangle 4"/>
          <p:cNvSpPr/>
          <p:nvPr/>
        </p:nvSpPr>
        <p:spPr>
          <a:xfrm>
            <a:off x="539750" y="908050"/>
            <a:ext cx="7993063" cy="2238375"/>
          </a:xfrm>
          <a:prstGeom prst="rect">
            <a:avLst/>
          </a:prstGeom>
          <a:noFill/>
          <a:ln w="9525">
            <a:noFill/>
          </a:ln>
        </p:spPr>
        <p:txBody>
          <a:bodyPr anchor="t" anchorCtr="0">
            <a:spAutoFit/>
          </a:bodyPr>
          <a:lstStyle/>
          <a:p>
            <a:pPr indent="303530" algn="just" eaLnBrk="0" hangingPunct="0">
              <a:lnSpc>
                <a:spcPct val="150000"/>
              </a:lnSpc>
              <a:spcBef>
                <a:spcPct val="30000"/>
              </a:spcBef>
            </a:pP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2</a:t>
            </a:r>
            <a:r>
              <a:rPr lang="zh-CN" altLang="en-US" dirty="0">
                <a:solidFill>
                  <a:srgbClr val="FF0000"/>
                </a:solidFill>
                <a:latin typeface="Times New Roman" panose="02020603050405020304" pitchFamily="18" charset="0"/>
                <a:ea typeface="宋体" panose="02010600030101010101" pitchFamily="2" charset="-122"/>
              </a:rPr>
              <a:t>） 使用</a:t>
            </a:r>
            <a:r>
              <a:rPr lang="en-US" altLang="zh-CN" dirty="0">
                <a:solidFill>
                  <a:srgbClr val="FF0000"/>
                </a:solidFill>
                <a:latin typeface="Times New Roman" panose="02020603050405020304" pitchFamily="18" charset="0"/>
                <a:ea typeface="宋体" panose="02010600030101010101" pitchFamily="2" charset="-122"/>
              </a:rPr>
              <a:t>Ri</a:t>
            </a:r>
            <a:r>
              <a:rPr lang="zh-CN" altLang="en-US" dirty="0">
                <a:solidFill>
                  <a:srgbClr val="FF0000"/>
                </a:solidFill>
                <a:latin typeface="Times New Roman" panose="02020603050405020304" pitchFamily="18" charset="0"/>
                <a:ea typeface="宋体" panose="02010600030101010101" pitchFamily="2" charset="-122"/>
              </a:rPr>
              <a:t>进行间接寻址 </a:t>
            </a:r>
            <a:endParaRPr lang="zh-CN" altLang="en-US" b="0" dirty="0">
              <a:latin typeface="Times New Roman" panose="02020603050405020304" pitchFamily="18" charset="0"/>
              <a:ea typeface="宋体" panose="02010600030101010101" pitchFamily="2" charset="-122"/>
            </a:endParaRPr>
          </a:p>
          <a:p>
            <a:pPr indent="303530" algn="just" eaLnBrk="0" hangingPunct="0">
              <a:lnSpc>
                <a:spcPct val="150000"/>
              </a:lnSpc>
            </a:pPr>
            <a:r>
              <a:rPr lang="zh-CN" altLang="en-US" dirty="0">
                <a:solidFill>
                  <a:srgbClr val="0000FF"/>
                </a:solidFill>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MOVX  	A</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@Ri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Ri</a:t>
            </a:r>
            <a:r>
              <a:rPr lang="zh-CN" altLang="en-US" dirty="0">
                <a:latin typeface="Times New Roman" panose="02020603050405020304" pitchFamily="18" charset="0"/>
                <a:ea typeface="宋体" panose="02010600030101010101" pitchFamily="2" charset="-122"/>
              </a:rPr>
              <a:t>））</a:t>
            </a:r>
            <a:endParaRPr lang="zh-CN" altLang="en-US" b="0" dirty="0">
              <a:latin typeface="宋体" panose="02010600030101010101" pitchFamily="2" charset="-122"/>
              <a:ea typeface="宋体" panose="02010600030101010101" pitchFamily="2" charset="-122"/>
            </a:endParaRPr>
          </a:p>
          <a:p>
            <a:pPr indent="303530" algn="just" eaLnBrk="0" hangingPunct="0">
              <a:lnSpc>
                <a:spcPct val="150000"/>
              </a:lnSpc>
            </a:pPr>
            <a:r>
              <a:rPr lang="zh-CN" altLang="en-US" dirty="0">
                <a:solidFill>
                  <a:srgbClr val="0000FF"/>
                </a:solidFill>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MOVX  	@Ri</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Ri</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303530" algn="just" eaLnBrk="0" hangingPunct="0">
              <a:lnSpc>
                <a:spcPct val="150000"/>
              </a:lnSpc>
            </a:pPr>
            <a:r>
              <a:rPr lang="zh-CN" altLang="en-US" dirty="0">
                <a:solidFill>
                  <a:srgbClr val="0000FF"/>
                </a:solidFill>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i=0</a:t>
            </a:r>
            <a:r>
              <a:rPr lang="zh-CN" altLang="en-US" dirty="0">
                <a:solidFill>
                  <a:srgbClr val="0000FF"/>
                </a:solidFill>
                <a:latin typeface="Times New Roman" panose="02020603050405020304" pitchFamily="18" charset="0"/>
                <a:ea typeface="宋体" panose="02010600030101010101" pitchFamily="2" charset="-122"/>
              </a:rPr>
              <a:t>或</a:t>
            </a:r>
            <a:r>
              <a:rPr lang="en-US" altLang="zh-CN" dirty="0">
                <a:solidFill>
                  <a:srgbClr val="0000FF"/>
                </a:solidFill>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p>
        </p:txBody>
      </p:sp>
      <p:sp>
        <p:nvSpPr>
          <p:cNvPr id="223237" name="Text Box 5"/>
          <p:cNvSpPr txBox="1"/>
          <p:nvPr/>
        </p:nvSpPr>
        <p:spPr>
          <a:xfrm>
            <a:off x="900113" y="3429000"/>
            <a:ext cx="7775575" cy="1016000"/>
          </a:xfrm>
          <a:prstGeom prst="rect">
            <a:avLst/>
          </a:prstGeom>
          <a:solidFill>
            <a:schemeClr val="hlink"/>
          </a:solidFill>
          <a:ln w="9525">
            <a:noFill/>
          </a:ln>
        </p:spPr>
        <p:txBody>
          <a:bodyPr anchor="t" anchorCtr="0">
            <a:spAutoFit/>
          </a:bodyPr>
          <a:lstStyle/>
          <a:p>
            <a:pPr>
              <a:spcBef>
                <a:spcPct val="50000"/>
              </a:spcBef>
            </a:pPr>
            <a:r>
              <a:rPr lang="zh-CN" altLang="en-US" dirty="0">
                <a:latin typeface="Times New Roman" panose="02020603050405020304" pitchFamily="18" charset="0"/>
                <a:ea typeface="宋体" panose="02010600030101010101" pitchFamily="2" charset="-122"/>
              </a:rPr>
              <a:t>此时：（</a:t>
            </a:r>
            <a:r>
              <a:rPr lang="en-US" altLang="zh-CN" dirty="0">
                <a:latin typeface="Times New Roman" panose="02020603050405020304" pitchFamily="18" charset="0"/>
                <a:ea typeface="宋体" panose="02010600030101010101" pitchFamily="2" charset="-122"/>
              </a:rPr>
              <a:t>Ri</a:t>
            </a:r>
            <a:r>
              <a:rPr lang="zh-CN" altLang="en-US" dirty="0">
                <a:latin typeface="Times New Roman" panose="02020603050405020304" pitchFamily="18" charset="0"/>
                <a:ea typeface="宋体" panose="02010600030101010101" pitchFamily="2" charset="-122"/>
              </a:rPr>
              <a:t>）的值送</a:t>
            </a:r>
            <a:r>
              <a:rPr lang="en-US" altLang="zh-CN" dirty="0">
                <a:latin typeface="Times New Roman" panose="02020603050405020304" pitchFamily="18" charset="0"/>
                <a:ea typeface="宋体" panose="02010600030101010101" pitchFamily="2" charset="-122"/>
              </a:rPr>
              <a:t>P0</a:t>
            </a:r>
            <a:r>
              <a:rPr lang="zh-CN" altLang="en-US" dirty="0">
                <a:latin typeface="Times New Roman" panose="02020603050405020304" pitchFamily="18" charset="0"/>
                <a:ea typeface="宋体" panose="02010600030101010101" pitchFamily="2" charset="-122"/>
              </a:rPr>
              <a:t>做低</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位地址线。</a:t>
            </a:r>
            <a:endParaRPr lang="en-US" altLang="zh-CN" dirty="0">
              <a:latin typeface="Times New Roman" panose="02020603050405020304" pitchFamily="18" charset="0"/>
              <a:ea typeface="宋体" panose="02010600030101010101" pitchFamily="2" charset="-122"/>
            </a:endParaRPr>
          </a:p>
          <a:p>
            <a:pPr>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高</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位地址的值由</a:t>
            </a:r>
            <a:r>
              <a:rPr lang="en-US" altLang="zh-CN" dirty="0">
                <a:latin typeface="Times New Roman" panose="02020603050405020304" pitchFamily="18" charset="0"/>
                <a:ea typeface="宋体" panose="02010600030101010101" pitchFamily="2" charset="-122"/>
              </a:rPr>
              <a:t>P2</a:t>
            </a:r>
            <a:r>
              <a:rPr lang="zh-CN" altLang="en-US" dirty="0">
                <a:latin typeface="Times New Roman" panose="02020603050405020304" pitchFamily="18" charset="0"/>
                <a:ea typeface="宋体" panose="02010600030101010101" pitchFamily="2" charset="-122"/>
              </a:rPr>
              <a:t>决定。（复位时</a:t>
            </a:r>
            <a:r>
              <a:rPr lang="en-US" altLang="zh-CN" dirty="0">
                <a:latin typeface="Times New Roman" panose="02020603050405020304" pitchFamily="18" charset="0"/>
                <a:ea typeface="宋体" panose="02010600030101010101" pitchFamily="2" charset="-122"/>
              </a:rPr>
              <a:t>P2</a:t>
            </a:r>
            <a:r>
              <a:rPr lang="zh-CN" altLang="en-US" dirty="0">
                <a:latin typeface="Times New Roman" panose="02020603050405020304" pitchFamily="18" charset="0"/>
                <a:ea typeface="宋体" panose="02010600030101010101" pitchFamily="2" charset="-122"/>
              </a:rPr>
              <a:t>为</a:t>
            </a:r>
            <a:r>
              <a:rPr lang="en-US" altLang="zh-CN" dirty="0">
                <a:latin typeface="Times New Roman" panose="02020603050405020304" pitchFamily="18" charset="0"/>
                <a:ea typeface="宋体" panose="02010600030101010101" pitchFamily="2" charset="-122"/>
              </a:rPr>
              <a:t>0FFH</a:t>
            </a:r>
            <a:r>
              <a:rPr lang="zh-CN" altLang="en-US" dirty="0">
                <a:latin typeface="Times New Roman" panose="02020603050405020304" pitchFamily="18" charset="0"/>
                <a:ea typeface="宋体" panose="02010600030101010101" pitchFamily="2" charset="-122"/>
              </a:rPr>
              <a:t>）</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灯片编号占位符 3"/>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65</a:t>
            </a:fld>
            <a:endParaRPr lang="en-US" altLang="zh-CN" sz="1400" b="0" dirty="0"/>
          </a:p>
        </p:txBody>
      </p:sp>
      <p:sp>
        <p:nvSpPr>
          <p:cNvPr id="83970" name="矩形 4"/>
          <p:cNvSpPr/>
          <p:nvPr/>
        </p:nvSpPr>
        <p:spPr>
          <a:xfrm>
            <a:off x="395288" y="692150"/>
            <a:ext cx="5472112" cy="3416300"/>
          </a:xfrm>
          <a:prstGeom prst="rect">
            <a:avLst/>
          </a:prstGeom>
          <a:noFill/>
          <a:ln w="9525">
            <a:noFill/>
          </a:ln>
        </p:spPr>
        <p:txBody>
          <a:bodyPr anchor="t" anchorCtr="0">
            <a:spAutoFit/>
          </a:bodyPr>
          <a:lstStyle/>
          <a:p>
            <a:pPr eaLnBrk="0" hangingPunct="0">
              <a:lnSpc>
                <a:spcPct val="150000"/>
              </a:lnSpc>
            </a:pPr>
            <a:r>
              <a:rPr lang="pt-BR" altLang="zh-CN" dirty="0">
                <a:latin typeface="Times New Roman" panose="02020603050405020304" pitchFamily="18" charset="0"/>
                <a:ea typeface="宋体" panose="02010600030101010101" pitchFamily="2" charset="-122"/>
              </a:rPr>
              <a:t>	ORG 0</a:t>
            </a:r>
          </a:p>
          <a:p>
            <a:pPr eaLnBrk="0" hangingPunct="0">
              <a:lnSpc>
                <a:spcPct val="150000"/>
              </a:lnSpc>
            </a:pPr>
            <a:r>
              <a:rPr lang="pt-BR" altLang="zh-CN" dirty="0">
                <a:latin typeface="Times New Roman" panose="02020603050405020304" pitchFamily="18" charset="0"/>
                <a:ea typeface="宋体" panose="02010600030101010101" pitchFamily="2" charset="-122"/>
              </a:rPr>
              <a:t>	</a:t>
            </a:r>
            <a:r>
              <a:rPr lang="pt-BR" altLang="zh-CN" dirty="0">
                <a:solidFill>
                  <a:srgbClr val="C00000"/>
                </a:solidFill>
                <a:latin typeface="Times New Roman" panose="02020603050405020304" pitchFamily="18" charset="0"/>
                <a:ea typeface="宋体" panose="02010600030101010101" pitchFamily="2" charset="-122"/>
              </a:rPr>
              <a:t>MOV	     R0,     #30H</a:t>
            </a:r>
          </a:p>
          <a:p>
            <a:pPr eaLnBrk="0" hangingPunct="0">
              <a:lnSpc>
                <a:spcPct val="150000"/>
              </a:lnSpc>
            </a:pPr>
            <a:r>
              <a:rPr lang="pt-BR" altLang="zh-CN" dirty="0">
                <a:latin typeface="Times New Roman" panose="02020603050405020304" pitchFamily="18" charset="0"/>
                <a:ea typeface="宋体" panose="02010600030101010101" pitchFamily="2" charset="-122"/>
              </a:rPr>
              <a:t>	MOV	     A,       #12H</a:t>
            </a:r>
          </a:p>
          <a:p>
            <a:pPr eaLnBrk="0" hangingPunct="0">
              <a:lnSpc>
                <a:spcPct val="150000"/>
              </a:lnSpc>
            </a:pPr>
            <a:r>
              <a:rPr lang="pt-BR" altLang="zh-CN" dirty="0">
                <a:solidFill>
                  <a:srgbClr val="C00000"/>
                </a:solidFill>
                <a:latin typeface="Times New Roman" panose="02020603050405020304" pitchFamily="18" charset="0"/>
                <a:ea typeface="宋体" panose="02010600030101010101" pitchFamily="2" charset="-122"/>
              </a:rPr>
              <a:t>	MOVX    @R0,  A</a:t>
            </a:r>
          </a:p>
          <a:p>
            <a:pPr eaLnBrk="0" hangingPunct="0">
              <a:lnSpc>
                <a:spcPct val="150000"/>
              </a:lnSpc>
            </a:pPr>
            <a:r>
              <a:rPr lang="pt-BR" altLang="zh-CN" dirty="0">
                <a:latin typeface="Times New Roman" panose="02020603050405020304" pitchFamily="18" charset="0"/>
                <a:ea typeface="宋体" panose="02010600030101010101" pitchFamily="2" charset="-122"/>
              </a:rPr>
              <a:t>	NOP</a:t>
            </a:r>
          </a:p>
          <a:p>
            <a:pPr eaLnBrk="0" hangingPunct="0">
              <a:lnSpc>
                <a:spcPct val="150000"/>
              </a:lnSpc>
            </a:pPr>
            <a:r>
              <a:rPr lang="pt-BR" altLang="zh-CN" dirty="0">
                <a:latin typeface="Times New Roman" panose="02020603050405020304" pitchFamily="18" charset="0"/>
                <a:ea typeface="宋体" panose="02010600030101010101" pitchFamily="2" charset="-122"/>
              </a:rPr>
              <a:t>	END</a:t>
            </a:r>
            <a:endParaRPr lang="zh-CN" altLang="en-US" dirty="0">
              <a:latin typeface="Times New Roman" panose="02020603050405020304" pitchFamily="18" charset="0"/>
              <a:ea typeface="宋体" panose="02010600030101010101" pitchFamily="2" charset="-122"/>
            </a:endParaRPr>
          </a:p>
        </p:txBody>
      </p:sp>
      <p:pic>
        <p:nvPicPr>
          <p:cNvPr id="83971" name="Picture 2"/>
          <p:cNvPicPr>
            <a:picLocks noChangeAspect="1"/>
          </p:cNvPicPr>
          <p:nvPr/>
        </p:nvPicPr>
        <p:blipFill>
          <a:blip r:embed="rId2"/>
          <a:stretch>
            <a:fillRect/>
          </a:stretch>
        </p:blipFill>
        <p:spPr>
          <a:xfrm>
            <a:off x="1187450" y="4437063"/>
            <a:ext cx="6624638" cy="1779587"/>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66</a:t>
            </a:fld>
            <a:endParaRPr lang="en-US" altLang="zh-CN" sz="1400" b="0" dirty="0"/>
          </a:p>
        </p:txBody>
      </p:sp>
      <p:sp>
        <p:nvSpPr>
          <p:cNvPr id="84994" name="Rectangle 2"/>
          <p:cNvSpPr/>
          <p:nvPr/>
        </p:nvSpPr>
        <p:spPr>
          <a:xfrm>
            <a:off x="152400" y="1295400"/>
            <a:ext cx="8763000" cy="3670300"/>
          </a:xfrm>
          <a:prstGeom prst="rect">
            <a:avLst/>
          </a:prstGeom>
          <a:noFill/>
          <a:ln w="9525">
            <a:noFill/>
          </a:ln>
        </p:spPr>
        <p:txBody>
          <a:bodyPr anchor="t" anchorCtr="0">
            <a:spAutoFit/>
          </a:bodyPr>
          <a:lstStyle/>
          <a:p>
            <a:pPr indent="303530" algn="just">
              <a:lnSpc>
                <a:spcPct val="140000"/>
              </a:lnSpc>
            </a:pPr>
            <a:r>
              <a:rPr lang="zh-CN" altLang="en-US" dirty="0">
                <a:latin typeface="Times New Roman" panose="02020603050405020304" pitchFamily="18" charset="0"/>
                <a:ea typeface="宋体" panose="02010600030101010101" pitchFamily="2" charset="-122"/>
              </a:rPr>
              <a:t>对外部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数据传送指令作如下</a:t>
            </a:r>
            <a:r>
              <a:rPr lang="zh-CN" altLang="en-US" dirty="0">
                <a:solidFill>
                  <a:srgbClr val="FF0000"/>
                </a:solidFill>
                <a:latin typeface="Times New Roman" panose="02020603050405020304" pitchFamily="18" charset="0"/>
                <a:ea typeface="宋体" panose="02010600030101010101" pitchFamily="2" charset="-122"/>
              </a:rPr>
              <a:t>说明</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303530" algn="just" eaLnBrk="0" hangingPunct="0">
              <a:lnSpc>
                <a:spcPct val="140000"/>
              </a:lnSpc>
            </a:pPr>
            <a:r>
              <a:rPr lang="zh-CN" altLang="en-US" dirty="0">
                <a:latin typeface="Times New Roman" panose="02020603050405020304" pitchFamily="18" charset="0"/>
                <a:ea typeface="宋体" panose="02010600030101010101" pitchFamily="2" charset="-122"/>
              </a:rPr>
              <a:t>①  </a:t>
            </a:r>
            <a:r>
              <a:rPr lang="zh-CN" altLang="en-US" dirty="0">
                <a:solidFill>
                  <a:srgbClr val="0000FF"/>
                </a:solidFill>
                <a:latin typeface="Times New Roman" panose="02020603050405020304" pitchFamily="18" charset="0"/>
                <a:ea typeface="宋体" panose="02010600030101010101" pitchFamily="2" charset="-122"/>
              </a:rPr>
              <a:t>外部数据存储器数据传送指令就是外部</a:t>
            </a:r>
            <a:r>
              <a:rPr lang="en-US" altLang="zh-CN" dirty="0">
                <a:solidFill>
                  <a:srgbClr val="0000FF"/>
                </a:solidFill>
                <a:latin typeface="Times New Roman" panose="02020603050405020304" pitchFamily="18" charset="0"/>
                <a:ea typeface="宋体" panose="02010600030101010101" pitchFamily="2" charset="-122"/>
              </a:rPr>
              <a:t>RAM</a:t>
            </a:r>
            <a:r>
              <a:rPr lang="zh-CN" altLang="en-US" dirty="0">
                <a:solidFill>
                  <a:srgbClr val="0000FF"/>
                </a:solidFill>
                <a:latin typeface="Times New Roman" panose="02020603050405020304" pitchFamily="18" charset="0"/>
                <a:ea typeface="宋体" panose="02010600030101010101" pitchFamily="2" charset="-122"/>
              </a:rPr>
              <a:t>的读写指令。</a:t>
            </a:r>
            <a:endParaRPr lang="zh-CN" altLang="en-US" b="0" dirty="0">
              <a:latin typeface="Times New Roman" panose="02020603050405020304" pitchFamily="18" charset="0"/>
              <a:ea typeface="宋体" panose="02010600030101010101" pitchFamily="2" charset="-122"/>
            </a:endParaRPr>
          </a:p>
          <a:p>
            <a:pPr indent="303530" algn="just" eaLnBrk="0" hangingPunct="0">
              <a:lnSpc>
                <a:spcPct val="140000"/>
              </a:lnSpc>
            </a:pPr>
            <a:r>
              <a:rPr lang="zh-CN" altLang="en-US" dirty="0">
                <a:latin typeface="Times New Roman" panose="02020603050405020304" pitchFamily="18" charset="0"/>
                <a:ea typeface="宋体" panose="02010600030101010101" pitchFamily="2" charset="-122"/>
              </a:rPr>
              <a:t>②  外部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数据传送指令与内部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数据传送指令的助记符不同。</a:t>
            </a:r>
            <a:endParaRPr lang="zh-CN" altLang="en-US" b="0" dirty="0">
              <a:latin typeface="Times New Roman" panose="02020603050405020304" pitchFamily="18" charset="0"/>
              <a:ea typeface="宋体" panose="02010600030101010101" pitchFamily="2" charset="-122"/>
            </a:endParaRPr>
          </a:p>
          <a:p>
            <a:pPr indent="303530" algn="just" eaLnBrk="0" hangingPunct="0">
              <a:lnSpc>
                <a:spcPct val="140000"/>
              </a:lnSpc>
            </a:pPr>
            <a:r>
              <a:rPr lang="zh-CN" altLang="en-US" dirty="0">
                <a:solidFill>
                  <a:srgbClr val="FF0000"/>
                </a:solidFill>
                <a:latin typeface="Times New Roman" panose="02020603050405020304" pitchFamily="18" charset="0"/>
                <a:ea typeface="宋体" panose="02010600030101010101" pitchFamily="2" charset="-122"/>
              </a:rPr>
              <a:t>	内部</a:t>
            </a:r>
            <a:r>
              <a:rPr lang="en-US" altLang="zh-CN" dirty="0">
                <a:solidFill>
                  <a:srgbClr val="FF0000"/>
                </a:solidFill>
                <a:latin typeface="Times New Roman" panose="02020603050405020304" pitchFamily="18" charset="0"/>
                <a:ea typeface="宋体" panose="02010600030101010101" pitchFamily="2" charset="-122"/>
              </a:rPr>
              <a:t>RAM</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MOV</a:t>
            </a:r>
            <a:r>
              <a:rPr lang="zh-CN" altLang="en-US" dirty="0">
                <a:solidFill>
                  <a:srgbClr val="FF0000"/>
                </a:solidFill>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303530" algn="just" eaLnBrk="0" hangingPunct="0">
              <a:lnSpc>
                <a:spcPct val="140000"/>
              </a:lnSpc>
            </a:pPr>
            <a:r>
              <a:rPr lang="zh-CN" altLang="en-US" dirty="0">
                <a:solidFill>
                  <a:srgbClr val="FF0000"/>
                </a:solidFill>
                <a:latin typeface="Times New Roman" panose="02020603050405020304" pitchFamily="18" charset="0"/>
                <a:ea typeface="宋体" panose="02010600030101010101" pitchFamily="2" charset="-122"/>
              </a:rPr>
              <a:t>	外部</a:t>
            </a:r>
            <a:r>
              <a:rPr lang="en-US" altLang="zh-CN" dirty="0">
                <a:solidFill>
                  <a:srgbClr val="FF0000"/>
                </a:solidFill>
                <a:latin typeface="Times New Roman" panose="02020603050405020304" pitchFamily="18" charset="0"/>
                <a:ea typeface="宋体" panose="02010600030101010101" pitchFamily="2" charset="-122"/>
              </a:rPr>
              <a:t>RAM</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MOVX</a:t>
            </a:r>
            <a:r>
              <a:rPr lang="zh-CN" altLang="en-US" dirty="0">
                <a:solidFill>
                  <a:srgbClr val="FF0000"/>
                </a:solidFill>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增加的“</a:t>
            </a:r>
            <a:r>
              <a:rPr lang="en-US" altLang="zh-CN" dirty="0">
                <a:latin typeface="Times New Roman" panose="02020603050405020304" pitchFamily="18" charset="0"/>
                <a:ea typeface="宋体" panose="02010600030101010101" pitchFamily="2" charset="-122"/>
              </a:rPr>
              <a:t>X”</a:t>
            </a:r>
            <a:r>
              <a:rPr lang="zh-CN" altLang="en-US" dirty="0">
                <a:latin typeface="Times New Roman" panose="02020603050405020304" pitchFamily="18" charset="0"/>
                <a:ea typeface="宋体" panose="02010600030101010101" pitchFamily="2" charset="-122"/>
              </a:rPr>
              <a:t>表示外部之意。</a:t>
            </a:r>
            <a:endParaRPr lang="zh-CN" altLang="en-US" b="0" dirty="0">
              <a:latin typeface="Times New Roman" panose="02020603050405020304" pitchFamily="18" charset="0"/>
              <a:ea typeface="宋体" panose="02010600030101010101" pitchFamily="2" charset="-122"/>
            </a:endParaRPr>
          </a:p>
          <a:p>
            <a:pPr indent="303530" eaLnBrk="0" hangingPunct="0">
              <a:lnSpc>
                <a:spcPct val="140000"/>
              </a:lnSpc>
            </a:pPr>
            <a:r>
              <a:rPr lang="zh-CN" altLang="en-US" dirty="0">
                <a:solidFill>
                  <a:srgbClr val="FF0000"/>
                </a:solidFill>
                <a:latin typeface="宋体" panose="02010600030101010101" pitchFamily="2" charset="-122"/>
                <a:ea typeface="宋体" panose="02010600030101010101" pitchFamily="2" charset="-122"/>
              </a:rPr>
              <a:t>③ 外部</a:t>
            </a:r>
            <a:r>
              <a:rPr lang="en-US" altLang="zh-CN" dirty="0">
                <a:solidFill>
                  <a:srgbClr val="FF0000"/>
                </a:solidFill>
                <a:latin typeface="Times New Roman" panose="02020603050405020304" pitchFamily="18" charset="0"/>
                <a:ea typeface="宋体" panose="02010600030101010101" pitchFamily="2" charset="-122"/>
              </a:rPr>
              <a:t>RAM</a:t>
            </a:r>
            <a:r>
              <a:rPr lang="zh-CN" altLang="en-US" dirty="0">
                <a:solidFill>
                  <a:srgbClr val="FF0000"/>
                </a:solidFill>
                <a:latin typeface="宋体" panose="02010600030101010101" pitchFamily="2" charset="-122"/>
                <a:ea typeface="宋体" panose="02010600030101010101" pitchFamily="2" charset="-122"/>
              </a:rPr>
              <a:t>传送，只能通过累加器</a:t>
            </a:r>
            <a:r>
              <a:rPr lang="en-US" altLang="zh-CN" dirty="0">
                <a:solidFill>
                  <a:srgbClr val="FF0000"/>
                </a:solidFill>
                <a:latin typeface="Times New Roman" panose="02020603050405020304" pitchFamily="18" charset="0"/>
                <a:ea typeface="宋体" panose="02010600030101010101" pitchFamily="2" charset="-122"/>
              </a:rPr>
              <a:t>A</a:t>
            </a:r>
            <a:r>
              <a:rPr lang="zh-CN" altLang="en-US" dirty="0">
                <a:solidFill>
                  <a:srgbClr val="FF0000"/>
                </a:solidFill>
                <a:latin typeface="宋体" panose="02010600030101010101" pitchFamily="2" charset="-122"/>
                <a:ea typeface="宋体" panose="02010600030101010101" pitchFamily="2" charset="-122"/>
              </a:rPr>
              <a:t>进行。</a:t>
            </a:r>
            <a:r>
              <a:rPr lang="zh-CN" altLang="en-US" b="0" dirty="0">
                <a:latin typeface="Times New Roman" panose="02020603050405020304" pitchFamily="18" charset="0"/>
                <a:ea typeface="宋体" panose="02010600030101010101" pitchFamily="2" charset="-122"/>
              </a:rPr>
              <a:t> </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67</a:t>
            </a:fld>
            <a:endParaRPr lang="en-US" altLang="zh-CN" sz="1400" b="0" dirty="0"/>
          </a:p>
        </p:txBody>
      </p:sp>
      <p:grpSp>
        <p:nvGrpSpPr>
          <p:cNvPr id="86018" name="Group 12"/>
          <p:cNvGrpSpPr/>
          <p:nvPr/>
        </p:nvGrpSpPr>
        <p:grpSpPr>
          <a:xfrm>
            <a:off x="762000" y="1524000"/>
            <a:ext cx="6850063" cy="2971800"/>
            <a:chOff x="480" y="960"/>
            <a:chExt cx="4315" cy="1872"/>
          </a:xfrm>
        </p:grpSpPr>
        <p:sp>
          <p:nvSpPr>
            <p:cNvPr id="86019" name="Text Box 3"/>
            <p:cNvSpPr txBox="1"/>
            <p:nvPr/>
          </p:nvSpPr>
          <p:spPr>
            <a:xfrm>
              <a:off x="1920" y="960"/>
              <a:ext cx="1695" cy="326"/>
            </a:xfrm>
            <a:prstGeom prst="rect">
              <a:avLst/>
            </a:prstGeom>
            <a:solidFill>
              <a:schemeClr val="hlink"/>
            </a:solidFill>
            <a:ln w="9525" cap="flat" cmpd="sng">
              <a:solidFill>
                <a:srgbClr val="000000"/>
              </a:solidFill>
              <a:prstDash val="solid"/>
              <a:miter/>
              <a:headEnd type="none" w="med" len="med"/>
              <a:tailEnd type="none" w="med" len="med"/>
            </a:ln>
          </p:spPr>
          <p:txBody>
            <a:bodyPr lIns="144000" tIns="0" rIns="144000" bIns="0" anchor="t" anchorCtr="0"/>
            <a:lstStyle/>
            <a:p>
              <a:pPr algn="ctr" eaLnBrk="0" hangingPunct="0"/>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寄存器</a:t>
              </a:r>
            </a:p>
          </p:txBody>
        </p:sp>
        <p:sp>
          <p:nvSpPr>
            <p:cNvPr id="86020" name="Text Box 4"/>
            <p:cNvSpPr txBox="1"/>
            <p:nvPr/>
          </p:nvSpPr>
          <p:spPr>
            <a:xfrm>
              <a:off x="480" y="1973"/>
              <a:ext cx="1963" cy="859"/>
            </a:xfrm>
            <a:prstGeom prst="rect">
              <a:avLst/>
            </a:prstGeom>
            <a:solidFill>
              <a:schemeClr val="hlink"/>
            </a:solidFill>
            <a:ln w="9525" cap="flat" cmpd="sng">
              <a:solidFill>
                <a:srgbClr val="000000"/>
              </a:solidFill>
              <a:prstDash val="solid"/>
              <a:miter/>
              <a:headEnd type="none" w="med" len="med"/>
              <a:tailEnd type="none" w="med" len="med"/>
            </a:ln>
          </p:spPr>
          <p:txBody>
            <a:bodyPr lIns="0" tIns="0" rIns="0" bIns="0" anchor="t" anchorCtr="0"/>
            <a:lstStyle/>
            <a:p>
              <a:pPr algn="ctr" eaLnBrk="0" hangingPunct="0"/>
              <a:r>
                <a:rPr lang="zh-CN" altLang="en-US" dirty="0">
                  <a:latin typeface="Times New Roman" panose="02020603050405020304" pitchFamily="18" charset="0"/>
                  <a:ea typeface="宋体" panose="02010600030101010101" pitchFamily="2" charset="-122"/>
                </a:rPr>
                <a:t>寄存器间接寻址</a:t>
              </a:r>
            </a:p>
            <a:p>
              <a:pPr algn="ctr" eaLnBrk="0" hangingPunct="0"/>
              <a:r>
                <a:rPr lang="en-US" altLang="zh-CN" dirty="0">
                  <a:latin typeface="Times New Roman" panose="02020603050405020304" pitchFamily="18" charset="0"/>
                  <a:ea typeface="宋体" panose="02010600030101010101" pitchFamily="2" charset="-122"/>
                </a:rPr>
                <a:t>@R1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@R0</a:t>
              </a:r>
            </a:p>
            <a:p>
              <a:pPr algn="ctr" eaLnBrk="0" hangingPunct="0"/>
              <a:r>
                <a:rPr lang="zh-CN" altLang="en-US" dirty="0">
                  <a:latin typeface="Times New Roman" panose="02020603050405020304" pitchFamily="18" charset="0"/>
                  <a:ea typeface="宋体" panose="02010600030101010101" pitchFamily="2" charset="-122"/>
                </a:rPr>
                <a:t>（外部</a:t>
              </a:r>
              <a:r>
                <a:rPr lang="en-US" altLang="zh-CN" dirty="0">
                  <a:latin typeface="Times New Roman" panose="02020603050405020304" pitchFamily="18" charset="0"/>
                  <a:ea typeface="宋体" panose="02010600030101010101" pitchFamily="2" charset="-122"/>
                </a:rPr>
                <a:t>RAM </a:t>
              </a:r>
              <a:r>
                <a:rPr lang="zh-CN" altLang="en-US" dirty="0">
                  <a:latin typeface="Times New Roman" panose="02020603050405020304" pitchFamily="18" charset="0"/>
                  <a:ea typeface="宋体" panose="02010600030101010101" pitchFamily="2" charset="-122"/>
                </a:rPr>
                <a:t>低</a:t>
              </a:r>
              <a:r>
                <a:rPr lang="en-US" altLang="zh-CN" dirty="0">
                  <a:latin typeface="Times New Roman" panose="02020603050405020304" pitchFamily="18" charset="0"/>
                  <a:ea typeface="宋体" panose="02010600030101010101" pitchFamily="2" charset="-122"/>
                </a:rPr>
                <a:t>256B</a:t>
              </a:r>
              <a:r>
                <a:rPr lang="zh-CN" altLang="en-US" dirty="0">
                  <a:latin typeface="Times New Roman" panose="02020603050405020304" pitchFamily="18" charset="0"/>
                  <a:ea typeface="宋体" panose="02010600030101010101" pitchFamily="2" charset="-122"/>
                </a:rPr>
                <a:t>）</a:t>
              </a:r>
            </a:p>
          </p:txBody>
        </p:sp>
        <p:sp>
          <p:nvSpPr>
            <p:cNvPr id="86021" name="Text Box 5"/>
            <p:cNvSpPr txBox="1"/>
            <p:nvPr/>
          </p:nvSpPr>
          <p:spPr>
            <a:xfrm>
              <a:off x="2832" y="1968"/>
              <a:ext cx="1963" cy="864"/>
            </a:xfrm>
            <a:prstGeom prst="rect">
              <a:avLst/>
            </a:prstGeom>
            <a:solidFill>
              <a:schemeClr val="hlink"/>
            </a:solidFill>
            <a:ln w="9525" cap="flat" cmpd="sng">
              <a:solidFill>
                <a:srgbClr val="000000"/>
              </a:solidFill>
              <a:prstDash val="solid"/>
              <a:miter/>
              <a:headEnd type="none" w="med" len="med"/>
              <a:tailEnd type="none" w="med" len="med"/>
            </a:ln>
          </p:spPr>
          <p:txBody>
            <a:bodyPr lIns="0" tIns="0" rIns="0" bIns="0" anchor="t" anchorCtr="0"/>
            <a:lstStyle/>
            <a:p>
              <a:pPr algn="ctr" eaLnBrk="0" hangingPunct="0"/>
              <a:r>
                <a:rPr lang="zh-CN" altLang="en-US" dirty="0">
                  <a:latin typeface="Times New Roman" panose="02020603050405020304" pitchFamily="18" charset="0"/>
                  <a:ea typeface="宋体" panose="02010600030101010101" pitchFamily="2" charset="-122"/>
                </a:rPr>
                <a:t>寄存器间接寻址</a:t>
              </a:r>
            </a:p>
            <a:p>
              <a:pPr algn="ctr" eaLnBrk="0" hangingPunct="0"/>
              <a:r>
                <a:rPr lang="en-US" altLang="zh-CN" dirty="0">
                  <a:latin typeface="Times New Roman" panose="02020603050405020304" pitchFamily="18" charset="0"/>
                  <a:ea typeface="宋体" panose="02010600030101010101" pitchFamily="2" charset="-122"/>
                </a:rPr>
                <a:t>@DPTR</a:t>
              </a:r>
            </a:p>
            <a:p>
              <a:pPr algn="ctr" eaLnBrk="0" hangingPunct="0"/>
              <a:r>
                <a:rPr lang="zh-CN" altLang="en-US" dirty="0">
                  <a:latin typeface="Times New Roman" panose="02020603050405020304" pitchFamily="18" charset="0"/>
                  <a:ea typeface="宋体" panose="02010600030101010101" pitchFamily="2" charset="-122"/>
                </a:rPr>
                <a:t>（外部</a:t>
              </a:r>
              <a:r>
                <a:rPr lang="en-US" altLang="zh-CN" dirty="0">
                  <a:latin typeface="Times New Roman" panose="02020603050405020304" pitchFamily="18" charset="0"/>
                  <a:ea typeface="宋体" panose="02010600030101010101" pitchFamily="2" charset="-122"/>
                </a:rPr>
                <a:t>RAM 64KB</a:t>
              </a:r>
              <a:r>
                <a:rPr lang="zh-CN" altLang="en-US" b="0" dirty="0">
                  <a:latin typeface="Times New Roman" panose="02020603050405020304" pitchFamily="18" charset="0"/>
                  <a:ea typeface="宋体" panose="02010600030101010101" pitchFamily="2" charset="-122"/>
                </a:rPr>
                <a:t>）</a:t>
              </a:r>
            </a:p>
          </p:txBody>
        </p:sp>
        <p:sp>
          <p:nvSpPr>
            <p:cNvPr id="86022" name="Line 6"/>
            <p:cNvSpPr/>
            <p:nvPr/>
          </p:nvSpPr>
          <p:spPr>
            <a:xfrm flipV="1">
              <a:off x="1315" y="1300"/>
              <a:ext cx="685" cy="676"/>
            </a:xfrm>
            <a:prstGeom prst="line">
              <a:avLst/>
            </a:prstGeom>
            <a:ln w="38100" cap="flat" cmpd="sng">
              <a:solidFill>
                <a:schemeClr val="accent2"/>
              </a:solidFill>
              <a:prstDash val="solid"/>
              <a:round/>
              <a:headEnd type="none" w="med" len="med"/>
              <a:tailEnd type="triangle" w="sm" len="sm"/>
            </a:ln>
          </p:spPr>
        </p:sp>
        <p:sp>
          <p:nvSpPr>
            <p:cNvPr id="86023" name="Line 7"/>
            <p:cNvSpPr/>
            <p:nvPr/>
          </p:nvSpPr>
          <p:spPr>
            <a:xfrm flipH="1">
              <a:off x="1624" y="1300"/>
              <a:ext cx="672" cy="676"/>
            </a:xfrm>
            <a:prstGeom prst="line">
              <a:avLst/>
            </a:prstGeom>
            <a:ln w="38100" cap="flat" cmpd="sng">
              <a:solidFill>
                <a:schemeClr val="accent2"/>
              </a:solidFill>
              <a:prstDash val="solid"/>
              <a:round/>
              <a:headEnd type="none" w="med" len="med"/>
              <a:tailEnd type="triangle" w="sm" len="sm"/>
            </a:ln>
          </p:spPr>
        </p:sp>
        <p:sp>
          <p:nvSpPr>
            <p:cNvPr id="86024" name="Line 8"/>
            <p:cNvSpPr/>
            <p:nvPr/>
          </p:nvSpPr>
          <p:spPr>
            <a:xfrm flipH="1" flipV="1">
              <a:off x="3008" y="1300"/>
              <a:ext cx="606" cy="676"/>
            </a:xfrm>
            <a:prstGeom prst="line">
              <a:avLst/>
            </a:prstGeom>
            <a:ln w="38100" cap="flat" cmpd="sng">
              <a:solidFill>
                <a:schemeClr val="accent2"/>
              </a:solidFill>
              <a:prstDash val="solid"/>
              <a:round/>
              <a:headEnd type="none" w="med" len="med"/>
              <a:tailEnd type="triangle" w="sm" len="sm"/>
            </a:ln>
          </p:spPr>
        </p:sp>
        <p:sp>
          <p:nvSpPr>
            <p:cNvPr id="86025" name="Line 9"/>
            <p:cNvSpPr/>
            <p:nvPr/>
          </p:nvSpPr>
          <p:spPr>
            <a:xfrm>
              <a:off x="3345" y="1300"/>
              <a:ext cx="591" cy="676"/>
            </a:xfrm>
            <a:prstGeom prst="line">
              <a:avLst/>
            </a:prstGeom>
            <a:ln w="38100" cap="flat" cmpd="sng">
              <a:solidFill>
                <a:schemeClr val="accent2"/>
              </a:solidFill>
              <a:prstDash val="solid"/>
              <a:round/>
              <a:headEnd type="none" w="med" len="med"/>
              <a:tailEnd type="triangle" w="sm" len="sm"/>
            </a:ln>
          </p:spPr>
        </p:sp>
      </p:grpSp>
      <p:sp>
        <p:nvSpPr>
          <p:cNvPr id="86026" name="Rectangle 11"/>
          <p:cNvSpPr/>
          <p:nvPr/>
        </p:nvSpPr>
        <p:spPr>
          <a:xfrm>
            <a:off x="685800" y="5334000"/>
            <a:ext cx="7620000" cy="457200"/>
          </a:xfrm>
          <a:prstGeom prst="rect">
            <a:avLst/>
          </a:prstGeom>
          <a:noFill/>
          <a:ln w="9525">
            <a:noFill/>
          </a:ln>
        </p:spPr>
        <p:txBody>
          <a:bodyPr anchor="t" anchorCtr="0">
            <a:spAutoFit/>
          </a:bodyPr>
          <a:lstStyle/>
          <a:p>
            <a:pPr algn="ctr"/>
            <a:r>
              <a:rPr lang="zh-CN" altLang="en-US" dirty="0">
                <a:latin typeface="Times New Roman" panose="02020603050405020304" pitchFamily="18" charset="0"/>
                <a:ea typeface="黑体" panose="02010609060101010101" pitchFamily="49" charset="-122"/>
              </a:rPr>
              <a:t>外部数据存储器传送操作示意图</a:t>
            </a:r>
            <a:endParaRPr lang="zh-CN" altLang="en-US"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68</a:t>
            </a:fld>
            <a:endParaRPr lang="en-US" altLang="zh-CN" sz="1400" b="0" dirty="0"/>
          </a:p>
        </p:txBody>
      </p:sp>
      <p:sp>
        <p:nvSpPr>
          <p:cNvPr id="21506" name="Rectangle 2"/>
          <p:cNvSpPr/>
          <p:nvPr/>
        </p:nvSpPr>
        <p:spPr>
          <a:xfrm>
            <a:off x="250825" y="620713"/>
            <a:ext cx="8382000" cy="1625600"/>
          </a:xfrm>
          <a:prstGeom prst="rect">
            <a:avLst/>
          </a:prstGeom>
          <a:noFill/>
          <a:ln w="9525">
            <a:noFill/>
          </a:ln>
        </p:spPr>
        <p:txBody>
          <a:bodyPr anchor="t" anchorCtr="0">
            <a:spAutoFit/>
          </a:bodyPr>
          <a:lstStyle/>
          <a:p>
            <a:pPr algn="just">
              <a:lnSpc>
                <a:spcPct val="140000"/>
              </a:lnSpc>
            </a:pPr>
            <a:r>
              <a:rPr lang="en-US" altLang="zh-CN" dirty="0">
                <a:solidFill>
                  <a:srgbClr val="FF0000"/>
                </a:solidFill>
                <a:latin typeface="Times New Roman" panose="02020603050405020304" pitchFamily="18" charset="0"/>
                <a:ea typeface="黑体" panose="02010609060101010101" pitchFamily="49" charset="-122"/>
              </a:rPr>
              <a:t>3) </a:t>
            </a:r>
            <a:r>
              <a:rPr lang="zh-CN" altLang="en-US" dirty="0">
                <a:solidFill>
                  <a:srgbClr val="FF0000"/>
                </a:solidFill>
                <a:latin typeface="Times New Roman" panose="02020603050405020304" pitchFamily="18" charset="0"/>
                <a:ea typeface="黑体" panose="02010609060101010101" pitchFamily="49" charset="-122"/>
              </a:rPr>
              <a:t>程序存储器数据传送指令组（查表指令）：</a:t>
            </a:r>
            <a:endParaRPr lang="zh-CN" altLang="en-US" b="0" dirty="0">
              <a:solidFill>
                <a:srgbClr val="FF0000"/>
              </a:solidFill>
              <a:latin typeface="Times New Roman" panose="02020603050405020304" pitchFamily="18" charset="0"/>
              <a:ea typeface="宋体" panose="02010600030101010101" pitchFamily="2" charset="-122"/>
            </a:endParaRPr>
          </a:p>
          <a:p>
            <a:pPr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ROM</a:t>
            </a:r>
            <a:r>
              <a:rPr lang="zh-CN" altLang="en-US" dirty="0">
                <a:latin typeface="Times New Roman" panose="02020603050405020304" pitchFamily="18" charset="0"/>
                <a:ea typeface="宋体" panose="02010600030101010101" pitchFamily="2" charset="-122"/>
              </a:rPr>
              <a:t>： 内部</a:t>
            </a:r>
            <a:r>
              <a:rPr lang="en-US" altLang="zh-CN" dirty="0">
                <a:latin typeface="Times New Roman" panose="02020603050405020304" pitchFamily="18" charset="0"/>
                <a:ea typeface="宋体" panose="02010600030101010101" pitchFamily="2" charset="-122"/>
              </a:rPr>
              <a:t>ROM</a:t>
            </a:r>
            <a:r>
              <a:rPr lang="zh-CN" altLang="en-US" dirty="0">
                <a:latin typeface="Times New Roman" panose="02020603050405020304" pitchFamily="18" charset="0"/>
                <a:ea typeface="宋体" panose="02010600030101010101" pitchFamily="2" charset="-122"/>
              </a:rPr>
              <a:t>， 外部</a:t>
            </a:r>
            <a:r>
              <a:rPr lang="en-US" altLang="zh-CN" dirty="0">
                <a:latin typeface="Times New Roman" panose="02020603050405020304" pitchFamily="18" charset="0"/>
                <a:ea typeface="宋体" panose="02010600030101010101" pitchFamily="2" charset="-122"/>
              </a:rPr>
              <a:t>ROM</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algn="just" eaLnBrk="0" hangingPunct="0">
              <a:lnSpc>
                <a:spcPct val="140000"/>
              </a:lnSpc>
            </a:pPr>
            <a:r>
              <a:rPr lang="zh-CN" altLang="en-US" dirty="0">
                <a:latin typeface="Times New Roman" panose="02020603050405020304" pitchFamily="18" charset="0"/>
                <a:ea typeface="宋体" panose="02010600030101010101" pitchFamily="2" charset="-122"/>
              </a:rPr>
              <a:t>           对</a:t>
            </a:r>
            <a:r>
              <a:rPr lang="en-US" altLang="zh-CN" dirty="0">
                <a:latin typeface="Times New Roman" panose="02020603050405020304" pitchFamily="18" charset="0"/>
                <a:ea typeface="宋体" panose="02010600030101010101" pitchFamily="2" charset="-122"/>
              </a:rPr>
              <a:t>ROM</a:t>
            </a:r>
            <a:r>
              <a:rPr lang="zh-CN" altLang="en-US" dirty="0">
                <a:latin typeface="Times New Roman" panose="02020603050405020304" pitchFamily="18" charset="0"/>
                <a:ea typeface="宋体" panose="02010600030101010101" pitchFamily="2" charset="-122"/>
              </a:rPr>
              <a:t>的操作：只能读，不能写。  </a:t>
            </a:r>
            <a:endParaRPr lang="zh-CN" altLang="en-US" b="0" dirty="0">
              <a:latin typeface="Times New Roman" panose="02020603050405020304" pitchFamily="18" charset="0"/>
              <a:ea typeface="宋体" panose="02010600030101010101" pitchFamily="2" charset="-122"/>
            </a:endParaRPr>
          </a:p>
        </p:txBody>
      </p:sp>
      <p:sp>
        <p:nvSpPr>
          <p:cNvPr id="21507" name="Rectangle 3"/>
          <p:cNvSpPr/>
          <p:nvPr/>
        </p:nvSpPr>
        <p:spPr>
          <a:xfrm>
            <a:off x="4140200" y="5084763"/>
            <a:ext cx="4752975" cy="1041400"/>
          </a:xfrm>
          <a:prstGeom prst="rect">
            <a:avLst/>
          </a:prstGeom>
          <a:solidFill>
            <a:schemeClr val="hlink"/>
          </a:solidFill>
          <a:ln w="9525">
            <a:noFill/>
          </a:ln>
        </p:spPr>
        <p:txBody>
          <a:bodyPr anchor="t" anchorCtr="0">
            <a:spAutoFit/>
          </a:bodyPr>
          <a:lstStyle/>
          <a:p>
            <a:pPr>
              <a:lnSpc>
                <a:spcPct val="130000"/>
              </a:lnSpc>
            </a:pPr>
            <a:r>
              <a:rPr lang="zh-CN" altLang="en-US" dirty="0">
                <a:latin typeface="Times New Roman" panose="02020603050405020304" pitchFamily="18" charset="0"/>
                <a:ea typeface="宋体" panose="02010600030101010101" pitchFamily="2" charset="-122"/>
              </a:rPr>
              <a:t>说明</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累加器</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内</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位无符号数。</a:t>
            </a:r>
            <a:endParaRPr lang="zh-CN" altLang="en-US" b="0"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字节指令。</a:t>
            </a:r>
          </a:p>
        </p:txBody>
      </p:sp>
      <p:sp>
        <p:nvSpPr>
          <p:cNvPr id="21508" name="Rectangle 4"/>
          <p:cNvSpPr/>
          <p:nvPr/>
        </p:nvSpPr>
        <p:spPr>
          <a:xfrm>
            <a:off x="395288" y="2200275"/>
            <a:ext cx="8382000" cy="2647950"/>
          </a:xfrm>
          <a:prstGeom prst="rect">
            <a:avLst/>
          </a:prstGeom>
          <a:solidFill>
            <a:srgbClr val="CCECFF"/>
          </a:solidFill>
          <a:ln w="9525">
            <a:noFill/>
          </a:ln>
        </p:spPr>
        <p:txBody>
          <a:bodyPr anchor="t" anchorCtr="0">
            <a:spAutoFit/>
          </a:bodyPr>
          <a:lstStyle/>
          <a:p>
            <a:pPr algn="just">
              <a:lnSpc>
                <a:spcPct val="140000"/>
              </a:lnSpc>
            </a:pPr>
            <a:r>
              <a:rPr lang="zh-CN" altLang="en-US" dirty="0">
                <a:latin typeface="Times New Roman" panose="02020603050405020304" pitchFamily="18" charset="0"/>
                <a:ea typeface="宋体" panose="02010600030101010101" pitchFamily="2" charset="-122"/>
              </a:rPr>
              <a:t>仅有两条 ：</a:t>
            </a:r>
            <a:endParaRPr lang="zh-CN" altLang="en-US" b="0" dirty="0">
              <a:latin typeface="Times New Roman" panose="02020603050405020304" pitchFamily="18" charset="0"/>
              <a:ea typeface="宋体" panose="02010600030101010101" pitchFamily="2" charset="-122"/>
            </a:endParaRPr>
          </a:p>
          <a:p>
            <a:pPr algn="just" eaLnBrk="0" hangingPunct="0">
              <a:lnSpc>
                <a:spcPct val="140000"/>
              </a:lnSpc>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MOVC  A</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@A+PC		</a:t>
            </a:r>
          </a:p>
          <a:p>
            <a:pPr algn="just" eaLnBrk="0" hangingPunct="0">
              <a:lnSpc>
                <a:spcPct val="140000"/>
              </a:lnSpc>
            </a:pPr>
            <a:r>
              <a:rPr lang="en-US" altLang="zh-CN" dirty="0">
                <a:solidFill>
                  <a:srgbClr val="FF0000"/>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PC←</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PC</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+1</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A←</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A</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PC</a:t>
            </a:r>
            <a:r>
              <a:rPr lang="zh-CN" altLang="en-US" dirty="0">
                <a:solidFill>
                  <a:srgbClr val="FF0000"/>
                </a:solidFill>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algn="just" eaLnBrk="0" hangingPunct="0">
              <a:lnSpc>
                <a:spcPct val="140000"/>
              </a:lnSpc>
            </a:pPr>
            <a:r>
              <a:rPr lang="zh-CN" altLang="en-US" dirty="0">
                <a:solidFill>
                  <a:srgbClr val="0000FF"/>
                </a:solidFill>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MOVC  A</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@A+DPTR	</a:t>
            </a:r>
          </a:p>
          <a:p>
            <a:pPr algn="just" eaLnBrk="0" hangingPunct="0">
              <a:lnSpc>
                <a:spcPct val="140000"/>
              </a:lnSpc>
            </a:pPr>
            <a:r>
              <a:rPr lang="en-US" altLang="zh-CN" dirty="0">
                <a:solidFill>
                  <a:srgbClr val="0000FF"/>
                </a:solidFill>
                <a:latin typeface="Times New Roman" panose="02020603050405020304" pitchFamily="18" charset="0"/>
                <a:ea typeface="宋体" panose="02010600030101010101" pitchFamily="2" charset="-122"/>
              </a:rPr>
              <a:t>                            </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DPTR</a:t>
            </a:r>
            <a:r>
              <a:rPr lang="zh-CN" altLang="en-US" dirty="0">
                <a:solidFill>
                  <a:srgbClr val="0000FF"/>
                </a:solidFill>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69</a:t>
            </a:fld>
            <a:endParaRPr lang="en-US" altLang="zh-CN" sz="1400" b="0" dirty="0"/>
          </a:p>
        </p:txBody>
      </p:sp>
      <p:sp>
        <p:nvSpPr>
          <p:cNvPr id="88066" name="Rectangle 2"/>
          <p:cNvSpPr/>
          <p:nvPr/>
        </p:nvSpPr>
        <p:spPr>
          <a:xfrm>
            <a:off x="0" y="765175"/>
            <a:ext cx="8839200" cy="3925888"/>
          </a:xfrm>
          <a:prstGeom prst="rect">
            <a:avLst/>
          </a:prstGeom>
          <a:noFill/>
          <a:ln w="9525">
            <a:noFill/>
          </a:ln>
        </p:spPr>
        <p:txBody>
          <a:bodyPr anchor="t" anchorCtr="0">
            <a:spAutoFit/>
          </a:bodyPr>
          <a:lstStyle/>
          <a:p>
            <a:pPr indent="1233805" algn="just">
              <a:lnSpc>
                <a:spcPct val="150000"/>
              </a:lnSpc>
            </a:pPr>
            <a:r>
              <a:rPr lang="zh-CN" altLang="en-US" dirty="0">
                <a:latin typeface="Times New Roman" panose="02020603050405020304" pitchFamily="18" charset="0"/>
                <a:ea typeface="宋体" panose="02010600030101010101" pitchFamily="2" charset="-122"/>
              </a:rPr>
              <a:t>作用：常用于查表操作，又称</a:t>
            </a:r>
            <a:r>
              <a:rPr lang="zh-CN" altLang="en-US" dirty="0">
                <a:solidFill>
                  <a:srgbClr val="0000FF"/>
                </a:solidFill>
                <a:latin typeface="Times New Roman" panose="02020603050405020304" pitchFamily="18" charset="0"/>
                <a:ea typeface="宋体" panose="02010600030101010101" pitchFamily="2" charset="-122"/>
              </a:rPr>
              <a:t>查表专用指令</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1233805" algn="just" eaLnBrk="0" hangingPunct="0">
              <a:lnSpc>
                <a:spcPct val="150000"/>
              </a:lnSpc>
            </a:pPr>
            <a:r>
              <a:rPr lang="zh-CN" altLang="en-US" dirty="0">
                <a:latin typeface="Times New Roman" panose="02020603050405020304" pitchFamily="18" charset="0"/>
                <a:ea typeface="宋体" panose="02010600030101010101" pitchFamily="2" charset="-122"/>
              </a:rPr>
              <a:t>二者的区别：</a:t>
            </a:r>
          </a:p>
          <a:p>
            <a:pPr indent="1233805" algn="just" eaLnBrk="0" hangingPunct="0">
              <a:lnSpc>
                <a:spcPct val="150000"/>
              </a:lnSpc>
            </a:pPr>
            <a:r>
              <a:rPr lang="en-US" altLang="zh-CN" dirty="0">
                <a:solidFill>
                  <a:srgbClr val="FF0000"/>
                </a:solidFill>
                <a:latin typeface="Times New Roman" panose="02020603050405020304" pitchFamily="18" charset="0"/>
                <a:ea typeface="宋体" panose="02010600030101010101" pitchFamily="2" charset="-122"/>
              </a:rPr>
              <a:t>MOVC  A</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@A+PC</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的查表范围在</a:t>
            </a:r>
            <a:r>
              <a:rPr lang="en-US" altLang="zh-CN" dirty="0">
                <a:latin typeface="Times New Roman" panose="02020603050405020304" pitchFamily="18" charset="0"/>
                <a:ea typeface="宋体" panose="02010600030101010101" pitchFamily="2" charset="-122"/>
              </a:rPr>
              <a:t>256B</a:t>
            </a:r>
            <a:r>
              <a:rPr lang="zh-CN" altLang="en-US" dirty="0">
                <a:latin typeface="Times New Roman" panose="02020603050405020304" pitchFamily="18" charset="0"/>
                <a:ea typeface="宋体" panose="02010600030101010101" pitchFamily="2" charset="-122"/>
              </a:rPr>
              <a:t>内，</a:t>
            </a:r>
          </a:p>
          <a:p>
            <a:pPr indent="1233805" algn="just" eaLnBrk="0" hangingPunct="0">
              <a:lnSpc>
                <a:spcPct val="150000"/>
              </a:lnSpc>
            </a:pPr>
            <a:r>
              <a:rPr lang="zh-CN" altLang="en-US"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称近程查表。</a:t>
            </a:r>
            <a:endParaRPr lang="zh-CN" altLang="en-US" b="0" dirty="0">
              <a:latin typeface="Times New Roman" panose="02020603050405020304" pitchFamily="18" charset="0"/>
              <a:ea typeface="宋体" panose="02010600030101010101" pitchFamily="2" charset="-122"/>
            </a:endParaRPr>
          </a:p>
          <a:p>
            <a:pPr indent="1233805" algn="just" eaLnBrk="0" hangingPunct="0">
              <a:lnSpc>
                <a:spcPct val="150000"/>
              </a:lnSpc>
            </a:pPr>
            <a:r>
              <a:rPr lang="en-US" altLang="zh-CN" dirty="0">
                <a:solidFill>
                  <a:srgbClr val="0000FF"/>
                </a:solidFill>
                <a:latin typeface="Times New Roman" panose="02020603050405020304" pitchFamily="18" charset="0"/>
                <a:ea typeface="宋体" panose="02010600030101010101" pitchFamily="2" charset="-122"/>
              </a:rPr>
              <a:t>MOVC  A</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@A+DPTR	</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DPTR</a:t>
            </a:r>
            <a:r>
              <a:rPr lang="zh-CN" altLang="en-US" dirty="0">
                <a:latin typeface="Times New Roman" panose="02020603050405020304" pitchFamily="18" charset="0"/>
                <a:ea typeface="宋体" panose="02010600030101010101" pitchFamily="2" charset="-122"/>
              </a:rPr>
              <a:t>可指向</a:t>
            </a:r>
            <a:r>
              <a:rPr lang="en-US" altLang="zh-CN" dirty="0">
                <a:latin typeface="Times New Roman" panose="02020603050405020304" pitchFamily="18" charset="0"/>
                <a:ea typeface="宋体" panose="02010600030101010101" pitchFamily="2" charset="-122"/>
              </a:rPr>
              <a:t>64KB</a:t>
            </a:r>
            <a:r>
              <a:rPr lang="zh-CN" altLang="en-US" dirty="0">
                <a:latin typeface="Times New Roman" panose="02020603050405020304" pitchFamily="18" charset="0"/>
                <a:ea typeface="宋体" panose="02010600030101010101" pitchFamily="2" charset="-122"/>
              </a:rPr>
              <a:t>空间，</a:t>
            </a:r>
          </a:p>
          <a:p>
            <a:pPr indent="1233805" algn="just" eaLnBrk="0" hangingPunct="0">
              <a:lnSpc>
                <a:spcPct val="150000"/>
              </a:lnSpc>
            </a:pPr>
            <a:r>
              <a:rPr lang="zh-CN" altLang="en-US"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称远程查表</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1233805" eaLnBrk="0" hangingPunct="0">
              <a:lnSpc>
                <a:spcPct val="150000"/>
              </a:lnSpc>
            </a:pPr>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70</a:t>
            </a:fld>
            <a:endParaRPr lang="en-US" altLang="zh-CN" sz="1400" b="0" dirty="0"/>
          </a:p>
        </p:txBody>
      </p:sp>
      <p:sp>
        <p:nvSpPr>
          <p:cNvPr id="89090" name="Rectangle 16"/>
          <p:cNvSpPr/>
          <p:nvPr/>
        </p:nvSpPr>
        <p:spPr>
          <a:xfrm>
            <a:off x="0" y="1885950"/>
            <a:ext cx="9144000" cy="0"/>
          </a:xfrm>
          <a:prstGeom prst="rect">
            <a:avLst/>
          </a:prstGeom>
          <a:noFill/>
          <a:ln w="9525">
            <a:noFill/>
          </a:ln>
        </p:spPr>
        <p:txBody>
          <a:bodyPr anchor="t" anchorCtr="0">
            <a:spAutoFit/>
          </a:bodyPr>
          <a:lstStyle/>
          <a:p>
            <a:pPr algn="ctr"/>
            <a:endParaRPr lang="zh-CN" altLang="en-US" dirty="0">
              <a:latin typeface="Times New Roman" panose="02020603050405020304" pitchFamily="18" charset="0"/>
              <a:ea typeface="宋体" panose="02010600030101010101" pitchFamily="2" charset="-122"/>
            </a:endParaRPr>
          </a:p>
        </p:txBody>
      </p:sp>
      <p:sp>
        <p:nvSpPr>
          <p:cNvPr id="8212" name="Rectangle 20"/>
          <p:cNvSpPr/>
          <p:nvPr/>
        </p:nvSpPr>
        <p:spPr>
          <a:xfrm>
            <a:off x="179388" y="476250"/>
            <a:ext cx="8686800" cy="1198880"/>
          </a:xfrm>
          <a:prstGeom prst="rect">
            <a:avLst/>
          </a:prstGeom>
          <a:noFill/>
          <a:ln w="9525">
            <a:noFill/>
          </a:ln>
        </p:spPr>
        <p:txBody>
          <a:bodyPr anchor="t" anchorCtr="0">
            <a:spAutoFit/>
          </a:bodyPr>
          <a:lstStyle/>
          <a:p>
            <a:pPr algn="just"/>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4-3 </a:t>
            </a:r>
            <a:r>
              <a:rPr lang="zh-CN" altLang="en-US" dirty="0">
                <a:latin typeface="Times New Roman" panose="02020603050405020304" pitchFamily="18" charset="0"/>
                <a:ea typeface="宋体" panose="02010600030101010101" pitchFamily="2" charset="-122"/>
              </a:rPr>
              <a:t>在外部</a:t>
            </a:r>
            <a:r>
              <a:rPr lang="en-US" altLang="zh-CN" dirty="0">
                <a:latin typeface="Times New Roman" panose="02020603050405020304" pitchFamily="18" charset="0"/>
                <a:ea typeface="宋体" panose="02010600030101010101" pitchFamily="2" charset="-122"/>
              </a:rPr>
              <a:t>ROM</a:t>
            </a:r>
            <a:r>
              <a:rPr lang="zh-CN" altLang="en-US" dirty="0">
                <a:latin typeface="Times New Roman" panose="02020603050405020304" pitchFamily="18" charset="0"/>
                <a:ea typeface="宋体" panose="02010600030101010101" pitchFamily="2" charset="-122"/>
              </a:rPr>
              <a:t>从</a:t>
            </a:r>
            <a:r>
              <a:rPr lang="en-US" altLang="zh-CN" dirty="0">
                <a:latin typeface="Times New Roman" panose="02020603050405020304" pitchFamily="18" charset="0"/>
                <a:ea typeface="宋体" panose="02010600030101010101" pitchFamily="2" charset="-122"/>
              </a:rPr>
              <a:t>3000H</a:t>
            </a:r>
            <a:r>
              <a:rPr lang="zh-CN" altLang="en-US" dirty="0">
                <a:latin typeface="Times New Roman" panose="02020603050405020304" pitchFamily="18" charset="0"/>
                <a:ea typeface="宋体" panose="02010600030101010101" pitchFamily="2" charset="-122"/>
              </a:rPr>
              <a:t>单元开始存放了一个字节型数组，该数组中的数据依次是</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9</a:t>
            </a:r>
            <a:r>
              <a:rPr lang="zh-CN" altLang="en-US" dirty="0">
                <a:latin typeface="Times New Roman" panose="02020603050405020304" pitchFamily="18" charset="0"/>
                <a:ea typeface="宋体" panose="02010600030101010101" pitchFamily="2" charset="-122"/>
              </a:rPr>
              <a:t>之间整数的平方，编程采用查表的方法求出</a:t>
            </a:r>
            <a:r>
              <a:rPr lang="en-US" altLang="zh-CN" dirty="0">
                <a:solidFill>
                  <a:schemeClr val="accent2"/>
                </a:solidFill>
                <a:latin typeface="Times New Roman" panose="02020603050405020304" pitchFamily="18" charset="0"/>
                <a:ea typeface="宋体" panose="02010600030101010101" pitchFamily="2" charset="-122"/>
              </a:rPr>
              <a:t>5</a:t>
            </a:r>
            <a:r>
              <a:rPr lang="zh-CN" altLang="en-US" dirty="0">
                <a:solidFill>
                  <a:schemeClr val="accent2"/>
                </a:solidFill>
                <a:latin typeface="Times New Roman" panose="02020603050405020304" pitchFamily="18" charset="0"/>
                <a:ea typeface="宋体" panose="02010600030101010101" pitchFamily="2" charset="-122"/>
              </a:rPr>
              <a:t>的平方，存于内部</a:t>
            </a:r>
            <a:r>
              <a:rPr lang="en-US" altLang="zh-CN" dirty="0">
                <a:solidFill>
                  <a:schemeClr val="accent2"/>
                </a:solidFill>
                <a:latin typeface="Times New Roman" panose="02020603050405020304" pitchFamily="18" charset="0"/>
                <a:ea typeface="宋体" panose="02010600030101010101" pitchFamily="2" charset="-122"/>
              </a:rPr>
              <a:t>RAM50H</a:t>
            </a:r>
            <a:r>
              <a:rPr lang="zh-CN" altLang="en-US" dirty="0">
                <a:solidFill>
                  <a:schemeClr val="accent2"/>
                </a:solidFill>
                <a:latin typeface="Times New Roman" panose="02020603050405020304" pitchFamily="18" charset="0"/>
                <a:ea typeface="宋体" panose="02010600030101010101" pitchFamily="2" charset="-122"/>
              </a:rPr>
              <a:t>单元</a:t>
            </a:r>
            <a:r>
              <a:rPr lang="zh-CN" altLang="en-US" dirty="0">
                <a:latin typeface="Times New Roman" panose="02020603050405020304" pitchFamily="18" charset="0"/>
                <a:ea typeface="宋体" panose="02010600030101010101" pitchFamily="2" charset="-122"/>
              </a:rPr>
              <a:t>。 </a:t>
            </a:r>
          </a:p>
        </p:txBody>
      </p:sp>
      <p:sp>
        <p:nvSpPr>
          <p:cNvPr id="89092" name="Line 71"/>
          <p:cNvSpPr/>
          <p:nvPr/>
        </p:nvSpPr>
        <p:spPr>
          <a:xfrm>
            <a:off x="457200" y="6156325"/>
            <a:ext cx="8229600" cy="0"/>
          </a:xfrm>
          <a:prstGeom prst="line">
            <a:avLst/>
          </a:prstGeom>
          <a:ln w="9525">
            <a:noFill/>
          </a:ln>
        </p:spPr>
      </p:sp>
      <p:sp>
        <p:nvSpPr>
          <p:cNvPr id="89093" name="Line 76"/>
          <p:cNvSpPr/>
          <p:nvPr/>
        </p:nvSpPr>
        <p:spPr>
          <a:xfrm>
            <a:off x="4475163" y="1412875"/>
            <a:ext cx="4211637" cy="0"/>
          </a:xfrm>
          <a:prstGeom prst="line">
            <a:avLst/>
          </a:prstGeom>
          <a:ln w="9525">
            <a:noFill/>
          </a:ln>
        </p:spPr>
      </p:sp>
      <p:grpSp>
        <p:nvGrpSpPr>
          <p:cNvPr id="2" name="Group 103"/>
          <p:cNvGrpSpPr/>
          <p:nvPr/>
        </p:nvGrpSpPr>
        <p:grpSpPr>
          <a:xfrm>
            <a:off x="4067175" y="1700213"/>
            <a:ext cx="4248150" cy="4814887"/>
            <a:chOff x="2336" y="845"/>
            <a:chExt cx="2676" cy="3033"/>
          </a:xfrm>
        </p:grpSpPr>
        <p:sp>
          <p:nvSpPr>
            <p:cNvPr id="89095" name="Rectangle 23"/>
            <p:cNvSpPr/>
            <p:nvPr/>
          </p:nvSpPr>
          <p:spPr>
            <a:xfrm>
              <a:off x="2819" y="3629"/>
              <a:ext cx="1213" cy="249"/>
            </a:xfrm>
            <a:prstGeom prst="rect">
              <a:avLst/>
            </a:prstGeom>
            <a:noFill/>
            <a:ln w="9525">
              <a:noFill/>
            </a:ln>
          </p:spPr>
          <p:txBody>
            <a:bodyPr anchor="ctr" anchorCtr="0"/>
            <a:lstStyle/>
            <a:p>
              <a:pPr marL="342900" indent="-342900" algn="ctr"/>
              <a:endParaRPr lang="zh-CN" altLang="zh-CN" sz="2000" dirty="0">
                <a:latin typeface="Times New Roman" panose="02020603050405020304" pitchFamily="18" charset="0"/>
                <a:ea typeface="宋体" panose="02010600030101010101" pitchFamily="2" charset="-122"/>
              </a:endParaRPr>
            </a:p>
          </p:txBody>
        </p:sp>
        <p:sp>
          <p:nvSpPr>
            <p:cNvPr id="89096" name="Rectangle 24"/>
            <p:cNvSpPr/>
            <p:nvPr/>
          </p:nvSpPr>
          <p:spPr>
            <a:xfrm>
              <a:off x="3712" y="3584"/>
              <a:ext cx="1300" cy="249"/>
            </a:xfrm>
            <a:prstGeom prst="rect">
              <a:avLst/>
            </a:prstGeom>
            <a:noFill/>
            <a:ln w="9525">
              <a:noFill/>
            </a:ln>
          </p:spPr>
          <p:txBody>
            <a:bodyPr anchor="ctr" anchorCtr="0"/>
            <a:lstStyle/>
            <a:p>
              <a:pPr marL="342900" indent="-342900" algn="ctr"/>
              <a:r>
                <a:rPr lang="en-US" altLang="zh-CN" sz="2000" dirty="0">
                  <a:latin typeface="Times New Roman" panose="02020603050405020304" pitchFamily="18" charset="0"/>
                  <a:ea typeface="宋体" panose="02010600030101010101" pitchFamily="2" charset="-122"/>
                </a:rPr>
                <a:t>…</a:t>
              </a:r>
            </a:p>
          </p:txBody>
        </p:sp>
        <p:sp>
          <p:nvSpPr>
            <p:cNvPr id="89097" name="Rectangle 25"/>
            <p:cNvSpPr/>
            <p:nvPr/>
          </p:nvSpPr>
          <p:spPr>
            <a:xfrm>
              <a:off x="2336" y="3611"/>
              <a:ext cx="1231" cy="249"/>
            </a:xfrm>
            <a:prstGeom prst="rect">
              <a:avLst/>
            </a:prstGeom>
            <a:noFill/>
            <a:ln w="9525">
              <a:noFill/>
            </a:ln>
          </p:spPr>
          <p:txBody>
            <a:bodyPr anchor="ctr" anchorCtr="0"/>
            <a:lstStyle/>
            <a:p>
              <a:pPr marL="342900" indent="-342900" algn="ctr"/>
              <a:r>
                <a:rPr lang="en-US" altLang="zh-CN" sz="2000" dirty="0">
                  <a:latin typeface="Times New Roman" panose="02020603050405020304" pitchFamily="18" charset="0"/>
                  <a:ea typeface="宋体" panose="02010600030101010101" pitchFamily="2" charset="-122"/>
                </a:rPr>
                <a:t>3009H</a:t>
              </a:r>
            </a:p>
          </p:txBody>
        </p:sp>
        <p:sp>
          <p:nvSpPr>
            <p:cNvPr id="89098" name="Rectangle 27"/>
            <p:cNvSpPr/>
            <p:nvPr/>
          </p:nvSpPr>
          <p:spPr>
            <a:xfrm>
              <a:off x="2819" y="3380"/>
              <a:ext cx="1213" cy="249"/>
            </a:xfrm>
            <a:prstGeom prst="rect">
              <a:avLst/>
            </a:prstGeom>
            <a:noFill/>
            <a:ln w="9525">
              <a:noFill/>
            </a:ln>
          </p:spPr>
          <p:txBody>
            <a:bodyPr anchor="ctr" anchorCtr="0"/>
            <a:lstStyle/>
            <a:p>
              <a:pPr marL="342900" indent="-342900" algn="ctr"/>
              <a:endParaRPr lang="zh-CN" altLang="zh-CN" sz="2000" dirty="0">
                <a:latin typeface="Times New Roman" panose="02020603050405020304" pitchFamily="18" charset="0"/>
                <a:ea typeface="宋体" panose="02010600030101010101" pitchFamily="2" charset="-122"/>
              </a:endParaRPr>
            </a:p>
          </p:txBody>
        </p:sp>
        <p:sp>
          <p:nvSpPr>
            <p:cNvPr id="89099" name="Rectangle 28"/>
            <p:cNvSpPr/>
            <p:nvPr/>
          </p:nvSpPr>
          <p:spPr>
            <a:xfrm>
              <a:off x="3712" y="3335"/>
              <a:ext cx="1300" cy="249"/>
            </a:xfrm>
            <a:prstGeom prst="rect">
              <a:avLst/>
            </a:prstGeom>
            <a:noFill/>
            <a:ln w="9525">
              <a:noFill/>
            </a:ln>
          </p:spPr>
          <p:txBody>
            <a:bodyPr anchor="ctr" anchorCtr="0"/>
            <a:lstStyle/>
            <a:p>
              <a:pPr marL="342900" indent="-342900" algn="ctr"/>
              <a:r>
                <a:rPr lang="en-US" altLang="zh-CN" sz="2000" dirty="0">
                  <a:solidFill>
                    <a:srgbClr val="FF0000"/>
                  </a:solidFill>
                  <a:latin typeface="Times New Roman" panose="02020603050405020304" pitchFamily="18" charset="0"/>
                  <a:ea typeface="宋体" panose="02010600030101010101" pitchFamily="2" charset="-122"/>
                </a:rPr>
                <a:t>40H</a:t>
              </a:r>
            </a:p>
          </p:txBody>
        </p:sp>
        <p:sp>
          <p:nvSpPr>
            <p:cNvPr id="89100" name="Rectangle 29"/>
            <p:cNvSpPr/>
            <p:nvPr/>
          </p:nvSpPr>
          <p:spPr>
            <a:xfrm>
              <a:off x="2336" y="3362"/>
              <a:ext cx="1231" cy="249"/>
            </a:xfrm>
            <a:prstGeom prst="rect">
              <a:avLst/>
            </a:prstGeom>
            <a:noFill/>
            <a:ln w="9525">
              <a:noFill/>
            </a:ln>
          </p:spPr>
          <p:txBody>
            <a:bodyPr anchor="ctr" anchorCtr="0"/>
            <a:lstStyle/>
            <a:p>
              <a:pPr marL="342900" indent="-342900" algn="ctr"/>
              <a:r>
                <a:rPr lang="en-US" altLang="zh-CN" sz="2000" dirty="0">
                  <a:latin typeface="Times New Roman" panose="02020603050405020304" pitchFamily="18" charset="0"/>
                  <a:ea typeface="宋体" panose="02010600030101010101" pitchFamily="2" charset="-122"/>
                </a:rPr>
                <a:t>3008H</a:t>
              </a:r>
            </a:p>
          </p:txBody>
        </p:sp>
        <p:sp>
          <p:nvSpPr>
            <p:cNvPr id="89101" name="Rectangle 32"/>
            <p:cNvSpPr/>
            <p:nvPr/>
          </p:nvSpPr>
          <p:spPr>
            <a:xfrm>
              <a:off x="3712" y="3086"/>
              <a:ext cx="1300" cy="249"/>
            </a:xfrm>
            <a:prstGeom prst="rect">
              <a:avLst/>
            </a:prstGeom>
            <a:noFill/>
            <a:ln w="9525">
              <a:noFill/>
            </a:ln>
          </p:spPr>
          <p:txBody>
            <a:bodyPr anchor="ctr" anchorCtr="0"/>
            <a:lstStyle/>
            <a:p>
              <a:pPr marL="342900" indent="-342900" algn="ctr"/>
              <a:r>
                <a:rPr lang="en-US" altLang="zh-CN" sz="2000" dirty="0">
                  <a:solidFill>
                    <a:srgbClr val="FF0000"/>
                  </a:solidFill>
                  <a:latin typeface="Times New Roman" panose="02020603050405020304" pitchFamily="18" charset="0"/>
                  <a:ea typeface="宋体" panose="02010600030101010101" pitchFamily="2" charset="-122"/>
                </a:rPr>
                <a:t>31H</a:t>
              </a:r>
            </a:p>
          </p:txBody>
        </p:sp>
        <p:sp>
          <p:nvSpPr>
            <p:cNvPr id="89102" name="Rectangle 33"/>
            <p:cNvSpPr/>
            <p:nvPr/>
          </p:nvSpPr>
          <p:spPr>
            <a:xfrm>
              <a:off x="2336" y="3113"/>
              <a:ext cx="1231" cy="249"/>
            </a:xfrm>
            <a:prstGeom prst="rect">
              <a:avLst/>
            </a:prstGeom>
            <a:noFill/>
            <a:ln w="9525">
              <a:noFill/>
            </a:ln>
          </p:spPr>
          <p:txBody>
            <a:bodyPr anchor="ctr" anchorCtr="0"/>
            <a:lstStyle/>
            <a:p>
              <a:pPr marL="342900" indent="-342900" algn="ctr"/>
              <a:r>
                <a:rPr lang="en-US" altLang="zh-CN" sz="2000" dirty="0">
                  <a:latin typeface="Times New Roman" panose="02020603050405020304" pitchFamily="18" charset="0"/>
                  <a:ea typeface="宋体" panose="02010600030101010101" pitchFamily="2" charset="-122"/>
                </a:rPr>
                <a:t>3007H</a:t>
              </a:r>
            </a:p>
          </p:txBody>
        </p:sp>
        <p:sp>
          <p:nvSpPr>
            <p:cNvPr id="89103" name="Rectangle 35"/>
            <p:cNvSpPr/>
            <p:nvPr/>
          </p:nvSpPr>
          <p:spPr>
            <a:xfrm>
              <a:off x="2819" y="2882"/>
              <a:ext cx="1213" cy="249"/>
            </a:xfrm>
            <a:prstGeom prst="rect">
              <a:avLst/>
            </a:prstGeom>
            <a:noFill/>
            <a:ln w="9525">
              <a:noFill/>
            </a:ln>
          </p:spPr>
          <p:txBody>
            <a:bodyPr anchor="ctr" anchorCtr="0"/>
            <a:lstStyle/>
            <a:p>
              <a:pPr marL="342900" indent="-342900" algn="ctr"/>
              <a:endParaRPr lang="zh-CN" altLang="zh-CN" sz="2000" dirty="0">
                <a:latin typeface="Times New Roman" panose="02020603050405020304" pitchFamily="18" charset="0"/>
                <a:ea typeface="宋体" panose="02010600030101010101" pitchFamily="2" charset="-122"/>
              </a:endParaRPr>
            </a:p>
          </p:txBody>
        </p:sp>
        <p:sp>
          <p:nvSpPr>
            <p:cNvPr id="89104" name="Rectangle 36"/>
            <p:cNvSpPr/>
            <p:nvPr/>
          </p:nvSpPr>
          <p:spPr>
            <a:xfrm>
              <a:off x="3712" y="2837"/>
              <a:ext cx="1300" cy="249"/>
            </a:xfrm>
            <a:prstGeom prst="rect">
              <a:avLst/>
            </a:prstGeom>
            <a:noFill/>
            <a:ln w="9525">
              <a:noFill/>
            </a:ln>
          </p:spPr>
          <p:txBody>
            <a:bodyPr anchor="ctr" anchorCtr="0"/>
            <a:lstStyle/>
            <a:p>
              <a:pPr marL="342900" indent="-342900" algn="ctr"/>
              <a:r>
                <a:rPr lang="en-US" altLang="zh-CN" sz="2000" dirty="0">
                  <a:solidFill>
                    <a:srgbClr val="FF0000"/>
                  </a:solidFill>
                  <a:latin typeface="Times New Roman" panose="02020603050405020304" pitchFamily="18" charset="0"/>
                  <a:ea typeface="宋体" panose="02010600030101010101" pitchFamily="2" charset="-122"/>
                </a:rPr>
                <a:t>24H</a:t>
              </a:r>
            </a:p>
          </p:txBody>
        </p:sp>
        <p:sp>
          <p:nvSpPr>
            <p:cNvPr id="89105" name="Rectangle 37"/>
            <p:cNvSpPr/>
            <p:nvPr/>
          </p:nvSpPr>
          <p:spPr>
            <a:xfrm>
              <a:off x="2336" y="2864"/>
              <a:ext cx="1231" cy="249"/>
            </a:xfrm>
            <a:prstGeom prst="rect">
              <a:avLst/>
            </a:prstGeom>
            <a:noFill/>
            <a:ln w="9525">
              <a:noFill/>
            </a:ln>
          </p:spPr>
          <p:txBody>
            <a:bodyPr anchor="ctr" anchorCtr="0"/>
            <a:lstStyle/>
            <a:p>
              <a:pPr marL="342900" indent="-342900" algn="ctr"/>
              <a:r>
                <a:rPr lang="en-US" altLang="zh-CN" sz="2000" dirty="0">
                  <a:latin typeface="Times New Roman" panose="02020603050405020304" pitchFamily="18" charset="0"/>
                  <a:ea typeface="宋体" panose="02010600030101010101" pitchFamily="2" charset="-122"/>
                </a:rPr>
                <a:t>3006H</a:t>
              </a:r>
            </a:p>
          </p:txBody>
        </p:sp>
        <p:sp>
          <p:nvSpPr>
            <p:cNvPr id="89106" name="Rectangle 39"/>
            <p:cNvSpPr/>
            <p:nvPr/>
          </p:nvSpPr>
          <p:spPr>
            <a:xfrm>
              <a:off x="2819" y="2633"/>
              <a:ext cx="1213" cy="249"/>
            </a:xfrm>
            <a:prstGeom prst="rect">
              <a:avLst/>
            </a:prstGeom>
            <a:noFill/>
            <a:ln w="9525">
              <a:noFill/>
            </a:ln>
          </p:spPr>
          <p:txBody>
            <a:bodyPr anchor="ctr" anchorCtr="0"/>
            <a:lstStyle/>
            <a:p>
              <a:pPr marL="342900" indent="-342900" algn="ctr"/>
              <a:endParaRPr lang="zh-CN" altLang="zh-CN" sz="2000" dirty="0">
                <a:latin typeface="Times New Roman" panose="02020603050405020304" pitchFamily="18" charset="0"/>
                <a:ea typeface="宋体" panose="02010600030101010101" pitchFamily="2" charset="-122"/>
              </a:endParaRPr>
            </a:p>
          </p:txBody>
        </p:sp>
        <p:sp>
          <p:nvSpPr>
            <p:cNvPr id="89107" name="Rectangle 40"/>
            <p:cNvSpPr/>
            <p:nvPr/>
          </p:nvSpPr>
          <p:spPr>
            <a:xfrm>
              <a:off x="3712" y="2588"/>
              <a:ext cx="1300" cy="249"/>
            </a:xfrm>
            <a:prstGeom prst="rect">
              <a:avLst/>
            </a:prstGeom>
            <a:noFill/>
            <a:ln w="9525">
              <a:noFill/>
            </a:ln>
          </p:spPr>
          <p:txBody>
            <a:bodyPr anchor="ctr" anchorCtr="0"/>
            <a:lstStyle/>
            <a:p>
              <a:pPr marL="342900" indent="-342900" algn="ctr"/>
              <a:r>
                <a:rPr lang="en-US" altLang="zh-CN" sz="2000" dirty="0">
                  <a:solidFill>
                    <a:srgbClr val="FF0000"/>
                  </a:solidFill>
                  <a:latin typeface="Times New Roman" panose="02020603050405020304" pitchFamily="18" charset="0"/>
                  <a:ea typeface="宋体" panose="02010600030101010101" pitchFamily="2" charset="-122"/>
                </a:rPr>
                <a:t>19H</a:t>
              </a:r>
            </a:p>
          </p:txBody>
        </p:sp>
        <p:sp>
          <p:nvSpPr>
            <p:cNvPr id="89108" name="Rectangle 41"/>
            <p:cNvSpPr/>
            <p:nvPr/>
          </p:nvSpPr>
          <p:spPr>
            <a:xfrm>
              <a:off x="2336" y="2615"/>
              <a:ext cx="1231" cy="249"/>
            </a:xfrm>
            <a:prstGeom prst="rect">
              <a:avLst/>
            </a:prstGeom>
            <a:noFill/>
            <a:ln w="9525">
              <a:noFill/>
            </a:ln>
          </p:spPr>
          <p:txBody>
            <a:bodyPr anchor="ctr" anchorCtr="0"/>
            <a:lstStyle/>
            <a:p>
              <a:pPr marL="342900" indent="-342900" algn="ctr"/>
              <a:r>
                <a:rPr lang="en-US" altLang="zh-CN" sz="2000" dirty="0">
                  <a:latin typeface="Times New Roman" panose="02020603050405020304" pitchFamily="18" charset="0"/>
                  <a:ea typeface="宋体" panose="02010600030101010101" pitchFamily="2" charset="-122"/>
                </a:rPr>
                <a:t>3005H</a:t>
              </a:r>
            </a:p>
          </p:txBody>
        </p:sp>
        <p:sp>
          <p:nvSpPr>
            <p:cNvPr id="89109" name="Rectangle 43"/>
            <p:cNvSpPr/>
            <p:nvPr/>
          </p:nvSpPr>
          <p:spPr>
            <a:xfrm>
              <a:off x="2819" y="2384"/>
              <a:ext cx="1213" cy="249"/>
            </a:xfrm>
            <a:prstGeom prst="rect">
              <a:avLst/>
            </a:prstGeom>
            <a:noFill/>
            <a:ln w="9525">
              <a:noFill/>
            </a:ln>
          </p:spPr>
          <p:txBody>
            <a:bodyPr anchor="ctr" anchorCtr="0"/>
            <a:lstStyle/>
            <a:p>
              <a:pPr marL="342900" indent="-342900" algn="ctr"/>
              <a:endParaRPr lang="zh-CN" altLang="zh-CN" sz="2000" dirty="0">
                <a:latin typeface="Times New Roman" panose="02020603050405020304" pitchFamily="18" charset="0"/>
                <a:ea typeface="宋体" panose="02010600030101010101" pitchFamily="2" charset="-122"/>
              </a:endParaRPr>
            </a:p>
          </p:txBody>
        </p:sp>
        <p:sp>
          <p:nvSpPr>
            <p:cNvPr id="89110" name="Rectangle 44"/>
            <p:cNvSpPr/>
            <p:nvPr/>
          </p:nvSpPr>
          <p:spPr>
            <a:xfrm>
              <a:off x="3712" y="2339"/>
              <a:ext cx="1300" cy="249"/>
            </a:xfrm>
            <a:prstGeom prst="rect">
              <a:avLst/>
            </a:prstGeom>
            <a:noFill/>
            <a:ln w="9525">
              <a:noFill/>
            </a:ln>
          </p:spPr>
          <p:txBody>
            <a:bodyPr anchor="ctr" anchorCtr="0"/>
            <a:lstStyle/>
            <a:p>
              <a:pPr marL="342900" indent="-342900" algn="ctr"/>
              <a:r>
                <a:rPr lang="en-US" altLang="zh-CN" sz="2000" dirty="0">
                  <a:solidFill>
                    <a:srgbClr val="FF0000"/>
                  </a:solidFill>
                  <a:latin typeface="Times New Roman" panose="02020603050405020304" pitchFamily="18" charset="0"/>
                  <a:ea typeface="宋体" panose="02010600030101010101" pitchFamily="2" charset="-122"/>
                </a:rPr>
                <a:t>10H</a:t>
              </a:r>
            </a:p>
          </p:txBody>
        </p:sp>
        <p:sp>
          <p:nvSpPr>
            <p:cNvPr id="89111" name="Rectangle 45"/>
            <p:cNvSpPr/>
            <p:nvPr/>
          </p:nvSpPr>
          <p:spPr>
            <a:xfrm>
              <a:off x="2336" y="2366"/>
              <a:ext cx="1231" cy="249"/>
            </a:xfrm>
            <a:prstGeom prst="rect">
              <a:avLst/>
            </a:prstGeom>
            <a:noFill/>
            <a:ln w="9525">
              <a:noFill/>
            </a:ln>
          </p:spPr>
          <p:txBody>
            <a:bodyPr anchor="ctr" anchorCtr="0"/>
            <a:lstStyle/>
            <a:p>
              <a:pPr marL="342900" indent="-342900" algn="ctr"/>
              <a:r>
                <a:rPr lang="en-US" altLang="zh-CN" sz="2000" dirty="0">
                  <a:latin typeface="Times New Roman" panose="02020603050405020304" pitchFamily="18" charset="0"/>
                  <a:ea typeface="宋体" panose="02010600030101010101" pitchFamily="2" charset="-122"/>
                </a:rPr>
                <a:t>3004H</a:t>
              </a:r>
            </a:p>
          </p:txBody>
        </p:sp>
        <p:sp>
          <p:nvSpPr>
            <p:cNvPr id="89112" name="Rectangle 48"/>
            <p:cNvSpPr/>
            <p:nvPr/>
          </p:nvSpPr>
          <p:spPr>
            <a:xfrm>
              <a:off x="3712" y="2090"/>
              <a:ext cx="1300" cy="249"/>
            </a:xfrm>
            <a:prstGeom prst="rect">
              <a:avLst/>
            </a:prstGeom>
            <a:noFill/>
            <a:ln w="9525">
              <a:noFill/>
            </a:ln>
          </p:spPr>
          <p:txBody>
            <a:bodyPr anchor="ctr" anchorCtr="0"/>
            <a:lstStyle/>
            <a:p>
              <a:pPr marL="342900" indent="-342900" algn="ctr"/>
              <a:r>
                <a:rPr lang="en-US" altLang="zh-CN" sz="2000" dirty="0">
                  <a:solidFill>
                    <a:srgbClr val="FF0000"/>
                  </a:solidFill>
                  <a:latin typeface="Times New Roman" panose="02020603050405020304" pitchFamily="18" charset="0"/>
                  <a:ea typeface="宋体" panose="02010600030101010101" pitchFamily="2" charset="-122"/>
                </a:rPr>
                <a:t>09H</a:t>
              </a:r>
            </a:p>
          </p:txBody>
        </p:sp>
        <p:sp>
          <p:nvSpPr>
            <p:cNvPr id="89113" name="Rectangle 49"/>
            <p:cNvSpPr/>
            <p:nvPr/>
          </p:nvSpPr>
          <p:spPr>
            <a:xfrm>
              <a:off x="2336" y="2117"/>
              <a:ext cx="1231" cy="249"/>
            </a:xfrm>
            <a:prstGeom prst="rect">
              <a:avLst/>
            </a:prstGeom>
            <a:noFill/>
            <a:ln w="9525">
              <a:noFill/>
            </a:ln>
          </p:spPr>
          <p:txBody>
            <a:bodyPr anchor="ctr" anchorCtr="0"/>
            <a:lstStyle/>
            <a:p>
              <a:pPr marL="342900" indent="-342900" algn="ctr"/>
              <a:r>
                <a:rPr lang="en-US" altLang="zh-CN" sz="2000" dirty="0">
                  <a:latin typeface="Times New Roman" panose="02020603050405020304" pitchFamily="18" charset="0"/>
                  <a:ea typeface="宋体" panose="02010600030101010101" pitchFamily="2" charset="-122"/>
                </a:rPr>
                <a:t>3003H</a:t>
              </a:r>
            </a:p>
          </p:txBody>
        </p:sp>
        <p:sp>
          <p:nvSpPr>
            <p:cNvPr id="89114" name="Rectangle 52"/>
            <p:cNvSpPr/>
            <p:nvPr/>
          </p:nvSpPr>
          <p:spPr>
            <a:xfrm>
              <a:off x="3712" y="1841"/>
              <a:ext cx="1300" cy="249"/>
            </a:xfrm>
            <a:prstGeom prst="rect">
              <a:avLst/>
            </a:prstGeom>
            <a:noFill/>
            <a:ln w="9525">
              <a:noFill/>
            </a:ln>
          </p:spPr>
          <p:txBody>
            <a:bodyPr anchor="ctr" anchorCtr="0"/>
            <a:lstStyle/>
            <a:p>
              <a:pPr marL="342900" indent="-342900" algn="ctr"/>
              <a:r>
                <a:rPr lang="en-US" altLang="zh-CN" sz="2000" dirty="0">
                  <a:solidFill>
                    <a:srgbClr val="FF0000"/>
                  </a:solidFill>
                  <a:latin typeface="Times New Roman" panose="02020603050405020304" pitchFamily="18" charset="0"/>
                  <a:ea typeface="宋体" panose="02010600030101010101" pitchFamily="2" charset="-122"/>
                </a:rPr>
                <a:t>04H</a:t>
              </a:r>
            </a:p>
          </p:txBody>
        </p:sp>
        <p:sp>
          <p:nvSpPr>
            <p:cNvPr id="89115" name="Rectangle 53"/>
            <p:cNvSpPr/>
            <p:nvPr/>
          </p:nvSpPr>
          <p:spPr>
            <a:xfrm>
              <a:off x="2336" y="1868"/>
              <a:ext cx="1231" cy="249"/>
            </a:xfrm>
            <a:prstGeom prst="rect">
              <a:avLst/>
            </a:prstGeom>
            <a:noFill/>
            <a:ln w="9525">
              <a:noFill/>
            </a:ln>
          </p:spPr>
          <p:txBody>
            <a:bodyPr anchor="ctr" anchorCtr="0"/>
            <a:lstStyle/>
            <a:p>
              <a:pPr marL="342900" indent="-342900" algn="ctr"/>
              <a:r>
                <a:rPr lang="en-US" altLang="zh-CN" sz="2000" dirty="0">
                  <a:latin typeface="Times New Roman" panose="02020603050405020304" pitchFamily="18" charset="0"/>
                  <a:ea typeface="宋体" panose="02010600030101010101" pitchFamily="2" charset="-122"/>
                </a:rPr>
                <a:t>3002H</a:t>
              </a:r>
            </a:p>
          </p:txBody>
        </p:sp>
        <p:sp>
          <p:nvSpPr>
            <p:cNvPr id="89116" name="Rectangle 55"/>
            <p:cNvSpPr/>
            <p:nvPr/>
          </p:nvSpPr>
          <p:spPr>
            <a:xfrm>
              <a:off x="2819" y="1637"/>
              <a:ext cx="1213" cy="249"/>
            </a:xfrm>
            <a:prstGeom prst="rect">
              <a:avLst/>
            </a:prstGeom>
            <a:noFill/>
            <a:ln w="9525">
              <a:noFill/>
            </a:ln>
          </p:spPr>
          <p:txBody>
            <a:bodyPr anchor="ctr" anchorCtr="0"/>
            <a:lstStyle/>
            <a:p>
              <a:pPr marL="342900" indent="-342900" algn="ctr"/>
              <a:endParaRPr lang="zh-CN" altLang="zh-CN" sz="2000" dirty="0">
                <a:latin typeface="Times New Roman" panose="02020603050405020304" pitchFamily="18" charset="0"/>
                <a:ea typeface="宋体" panose="02010600030101010101" pitchFamily="2" charset="-122"/>
              </a:endParaRPr>
            </a:p>
          </p:txBody>
        </p:sp>
        <p:sp>
          <p:nvSpPr>
            <p:cNvPr id="89117" name="Rectangle 56"/>
            <p:cNvSpPr/>
            <p:nvPr/>
          </p:nvSpPr>
          <p:spPr>
            <a:xfrm>
              <a:off x="3712" y="1592"/>
              <a:ext cx="1300" cy="249"/>
            </a:xfrm>
            <a:prstGeom prst="rect">
              <a:avLst/>
            </a:prstGeom>
            <a:noFill/>
            <a:ln w="9525">
              <a:noFill/>
            </a:ln>
          </p:spPr>
          <p:txBody>
            <a:bodyPr anchor="ctr" anchorCtr="0"/>
            <a:lstStyle/>
            <a:p>
              <a:pPr marL="342900" indent="-342900" algn="ctr"/>
              <a:r>
                <a:rPr lang="en-US" altLang="zh-CN" sz="2000" dirty="0">
                  <a:solidFill>
                    <a:srgbClr val="FF0000"/>
                  </a:solidFill>
                  <a:latin typeface="Times New Roman" panose="02020603050405020304" pitchFamily="18" charset="0"/>
                  <a:ea typeface="宋体" panose="02010600030101010101" pitchFamily="2" charset="-122"/>
                </a:rPr>
                <a:t>01H</a:t>
              </a:r>
            </a:p>
          </p:txBody>
        </p:sp>
        <p:sp>
          <p:nvSpPr>
            <p:cNvPr id="89118" name="Rectangle 57"/>
            <p:cNvSpPr/>
            <p:nvPr/>
          </p:nvSpPr>
          <p:spPr>
            <a:xfrm>
              <a:off x="2336" y="1619"/>
              <a:ext cx="1231" cy="249"/>
            </a:xfrm>
            <a:prstGeom prst="rect">
              <a:avLst/>
            </a:prstGeom>
            <a:noFill/>
            <a:ln w="9525">
              <a:noFill/>
            </a:ln>
          </p:spPr>
          <p:txBody>
            <a:bodyPr anchor="ctr" anchorCtr="0"/>
            <a:lstStyle/>
            <a:p>
              <a:pPr marL="342900" indent="-342900" algn="ctr"/>
              <a:r>
                <a:rPr lang="en-US" altLang="zh-CN" sz="2000" dirty="0">
                  <a:latin typeface="Times New Roman" panose="02020603050405020304" pitchFamily="18" charset="0"/>
                  <a:ea typeface="宋体" panose="02010600030101010101" pitchFamily="2" charset="-122"/>
                </a:rPr>
                <a:t>3001H</a:t>
              </a:r>
            </a:p>
          </p:txBody>
        </p:sp>
        <p:sp>
          <p:nvSpPr>
            <p:cNvPr id="89119" name="Rectangle 59"/>
            <p:cNvSpPr/>
            <p:nvPr/>
          </p:nvSpPr>
          <p:spPr>
            <a:xfrm>
              <a:off x="2819" y="1388"/>
              <a:ext cx="1213" cy="249"/>
            </a:xfrm>
            <a:prstGeom prst="rect">
              <a:avLst/>
            </a:prstGeom>
            <a:noFill/>
            <a:ln w="9525">
              <a:noFill/>
            </a:ln>
          </p:spPr>
          <p:txBody>
            <a:bodyPr anchor="ctr" anchorCtr="0"/>
            <a:lstStyle/>
            <a:p>
              <a:pPr marL="342900" indent="-342900" algn="ctr"/>
              <a:endParaRPr lang="zh-CN" altLang="zh-CN" sz="2000" dirty="0">
                <a:latin typeface="Times New Roman" panose="02020603050405020304" pitchFamily="18" charset="0"/>
                <a:ea typeface="宋体" panose="02010600030101010101" pitchFamily="2" charset="-122"/>
              </a:endParaRPr>
            </a:p>
          </p:txBody>
        </p:sp>
        <p:sp>
          <p:nvSpPr>
            <p:cNvPr id="89120" name="Rectangle 60"/>
            <p:cNvSpPr/>
            <p:nvPr/>
          </p:nvSpPr>
          <p:spPr>
            <a:xfrm>
              <a:off x="3712" y="1343"/>
              <a:ext cx="1300" cy="249"/>
            </a:xfrm>
            <a:prstGeom prst="rect">
              <a:avLst/>
            </a:prstGeom>
            <a:noFill/>
            <a:ln w="9525">
              <a:noFill/>
            </a:ln>
          </p:spPr>
          <p:txBody>
            <a:bodyPr anchor="ctr" anchorCtr="0"/>
            <a:lstStyle/>
            <a:p>
              <a:pPr marL="342900" indent="-342900" algn="ctr"/>
              <a:r>
                <a:rPr lang="en-US" altLang="zh-CN" sz="2000" dirty="0">
                  <a:solidFill>
                    <a:srgbClr val="FF0000"/>
                  </a:solidFill>
                  <a:latin typeface="Times New Roman" panose="02020603050405020304" pitchFamily="18" charset="0"/>
                  <a:ea typeface="宋体" panose="02010600030101010101" pitchFamily="2" charset="-122"/>
                </a:rPr>
                <a:t>00H</a:t>
              </a:r>
            </a:p>
          </p:txBody>
        </p:sp>
        <p:sp>
          <p:nvSpPr>
            <p:cNvPr id="89121" name="Rectangle 61"/>
            <p:cNvSpPr/>
            <p:nvPr/>
          </p:nvSpPr>
          <p:spPr>
            <a:xfrm>
              <a:off x="2336" y="1370"/>
              <a:ext cx="1231" cy="249"/>
            </a:xfrm>
            <a:prstGeom prst="rect">
              <a:avLst/>
            </a:prstGeom>
            <a:noFill/>
            <a:ln w="9525">
              <a:noFill/>
            </a:ln>
          </p:spPr>
          <p:txBody>
            <a:bodyPr anchor="ctr" anchorCtr="0"/>
            <a:lstStyle/>
            <a:p>
              <a:pPr marL="342900" indent="-342900" algn="ctr"/>
              <a:r>
                <a:rPr lang="en-US" altLang="zh-CN" sz="2000" dirty="0">
                  <a:latin typeface="Times New Roman" panose="02020603050405020304" pitchFamily="18" charset="0"/>
                  <a:ea typeface="宋体" panose="02010600030101010101" pitchFamily="2" charset="-122"/>
                </a:rPr>
                <a:t>3000H</a:t>
              </a:r>
            </a:p>
          </p:txBody>
        </p:sp>
        <p:sp>
          <p:nvSpPr>
            <p:cNvPr id="89122" name="Rectangle 63"/>
            <p:cNvSpPr/>
            <p:nvPr/>
          </p:nvSpPr>
          <p:spPr>
            <a:xfrm>
              <a:off x="2819" y="1139"/>
              <a:ext cx="1213" cy="249"/>
            </a:xfrm>
            <a:prstGeom prst="rect">
              <a:avLst/>
            </a:prstGeom>
            <a:noFill/>
            <a:ln w="9525">
              <a:noFill/>
            </a:ln>
          </p:spPr>
          <p:txBody>
            <a:bodyPr anchor="ctr" anchorCtr="0"/>
            <a:lstStyle/>
            <a:p>
              <a:pPr marL="342900" indent="-342900" algn="ctr"/>
              <a:endParaRPr lang="zh-CN" altLang="zh-CN" sz="2000" dirty="0">
                <a:latin typeface="Times New Roman" panose="02020603050405020304" pitchFamily="18" charset="0"/>
                <a:ea typeface="宋体" panose="02010600030101010101" pitchFamily="2" charset="-122"/>
              </a:endParaRPr>
            </a:p>
          </p:txBody>
        </p:sp>
        <p:sp>
          <p:nvSpPr>
            <p:cNvPr id="89123" name="Rectangle 64"/>
            <p:cNvSpPr/>
            <p:nvPr/>
          </p:nvSpPr>
          <p:spPr>
            <a:xfrm>
              <a:off x="3712" y="1094"/>
              <a:ext cx="1300" cy="249"/>
            </a:xfrm>
            <a:prstGeom prst="rect">
              <a:avLst/>
            </a:prstGeom>
            <a:noFill/>
            <a:ln w="9525">
              <a:noFill/>
            </a:ln>
          </p:spPr>
          <p:txBody>
            <a:bodyPr anchor="ctr" anchorCtr="0"/>
            <a:lstStyle/>
            <a:p>
              <a:pPr marL="342900" indent="-342900" algn="ctr"/>
              <a:r>
                <a:rPr lang="en-US" altLang="zh-CN" sz="2000" dirty="0">
                  <a:latin typeface="Times New Roman" panose="02020603050405020304" pitchFamily="18" charset="0"/>
                  <a:ea typeface="宋体" panose="02010600030101010101" pitchFamily="2" charset="-122"/>
                </a:rPr>
                <a:t>…</a:t>
              </a:r>
            </a:p>
          </p:txBody>
        </p:sp>
        <p:sp>
          <p:nvSpPr>
            <p:cNvPr id="89124" name="Rectangle 65"/>
            <p:cNvSpPr/>
            <p:nvPr/>
          </p:nvSpPr>
          <p:spPr>
            <a:xfrm>
              <a:off x="2336" y="1121"/>
              <a:ext cx="1231" cy="249"/>
            </a:xfrm>
            <a:prstGeom prst="rect">
              <a:avLst/>
            </a:prstGeom>
            <a:noFill/>
            <a:ln w="9525">
              <a:noFill/>
            </a:ln>
          </p:spPr>
          <p:txBody>
            <a:bodyPr anchor="ctr" anchorCtr="0"/>
            <a:lstStyle/>
            <a:p>
              <a:pPr marL="342900" indent="-342900" algn="ctr"/>
              <a:r>
                <a:rPr lang="en-US" altLang="zh-CN" sz="2000" dirty="0">
                  <a:latin typeface="Times New Roman" panose="02020603050405020304" pitchFamily="18" charset="0"/>
                  <a:ea typeface="宋体" panose="02010600030101010101" pitchFamily="2" charset="-122"/>
                </a:rPr>
                <a:t>2FFFH</a:t>
              </a:r>
            </a:p>
          </p:txBody>
        </p:sp>
        <p:sp>
          <p:nvSpPr>
            <p:cNvPr id="89125" name="Rectangle 67"/>
            <p:cNvSpPr/>
            <p:nvPr/>
          </p:nvSpPr>
          <p:spPr>
            <a:xfrm>
              <a:off x="2819" y="890"/>
              <a:ext cx="1213" cy="249"/>
            </a:xfrm>
            <a:prstGeom prst="rect">
              <a:avLst/>
            </a:prstGeom>
            <a:noFill/>
            <a:ln w="9525">
              <a:noFill/>
            </a:ln>
          </p:spPr>
          <p:txBody>
            <a:bodyPr anchor="ctr" anchorCtr="0"/>
            <a:lstStyle/>
            <a:p>
              <a:pPr marL="342900" indent="-342900" algn="ctr"/>
              <a:endParaRPr lang="zh-CN" altLang="zh-CN" sz="2000" dirty="0">
                <a:latin typeface="Times New Roman" panose="02020603050405020304" pitchFamily="18" charset="0"/>
                <a:ea typeface="宋体" panose="02010600030101010101" pitchFamily="2" charset="-122"/>
              </a:endParaRPr>
            </a:p>
          </p:txBody>
        </p:sp>
        <p:sp>
          <p:nvSpPr>
            <p:cNvPr id="89126" name="Rectangle 68"/>
            <p:cNvSpPr/>
            <p:nvPr/>
          </p:nvSpPr>
          <p:spPr>
            <a:xfrm>
              <a:off x="3712" y="845"/>
              <a:ext cx="1300" cy="249"/>
            </a:xfrm>
            <a:prstGeom prst="rect">
              <a:avLst/>
            </a:prstGeom>
            <a:noFill/>
            <a:ln w="9525">
              <a:noFill/>
            </a:ln>
          </p:spPr>
          <p:txBody>
            <a:bodyPr anchor="ctr" anchorCtr="0"/>
            <a:lstStyle/>
            <a:p>
              <a:pPr marL="342900" indent="-342900" algn="ctr"/>
              <a:r>
                <a:rPr lang="en-US" altLang="zh-CN" sz="2000" dirty="0">
                  <a:latin typeface="Times New Roman" panose="02020603050405020304" pitchFamily="18" charset="0"/>
                  <a:ea typeface="宋体" panose="02010600030101010101" pitchFamily="2" charset="-122"/>
                </a:rPr>
                <a:t>ROM</a:t>
              </a:r>
              <a:r>
                <a:rPr lang="zh-CN" altLang="en-US" sz="2000" dirty="0">
                  <a:latin typeface="Times New Roman" panose="02020603050405020304" pitchFamily="18" charset="0"/>
                  <a:ea typeface="宋体" panose="02010600030101010101" pitchFamily="2" charset="-122"/>
                </a:rPr>
                <a:t>中的内容</a:t>
              </a:r>
            </a:p>
          </p:txBody>
        </p:sp>
        <p:sp>
          <p:nvSpPr>
            <p:cNvPr id="89127" name="Rectangle 69"/>
            <p:cNvSpPr/>
            <p:nvPr/>
          </p:nvSpPr>
          <p:spPr>
            <a:xfrm>
              <a:off x="2336" y="872"/>
              <a:ext cx="1231" cy="249"/>
            </a:xfrm>
            <a:prstGeom prst="rect">
              <a:avLst/>
            </a:prstGeom>
            <a:noFill/>
            <a:ln w="9525">
              <a:noFill/>
            </a:ln>
          </p:spPr>
          <p:txBody>
            <a:bodyPr anchor="ctr" anchorCtr="0"/>
            <a:lstStyle/>
            <a:p>
              <a:pPr marL="342900" indent="-342900" algn="ctr"/>
              <a:r>
                <a:rPr lang="zh-CN" altLang="en-US" sz="2000" dirty="0">
                  <a:latin typeface="Times New Roman" panose="02020603050405020304" pitchFamily="18" charset="0"/>
                  <a:ea typeface="宋体" panose="02010600030101010101" pitchFamily="2" charset="-122"/>
                </a:rPr>
                <a:t>单元地址</a:t>
              </a:r>
            </a:p>
          </p:txBody>
        </p:sp>
        <p:sp>
          <p:nvSpPr>
            <p:cNvPr id="89128" name="Line 70"/>
            <p:cNvSpPr/>
            <p:nvPr/>
          </p:nvSpPr>
          <p:spPr>
            <a:xfrm>
              <a:off x="2336" y="872"/>
              <a:ext cx="1231" cy="0"/>
            </a:xfrm>
            <a:prstGeom prst="line">
              <a:avLst/>
            </a:prstGeom>
            <a:ln w="9525">
              <a:noFill/>
            </a:ln>
          </p:spPr>
        </p:sp>
        <p:sp>
          <p:nvSpPr>
            <p:cNvPr id="89129" name="Line 72"/>
            <p:cNvSpPr/>
            <p:nvPr/>
          </p:nvSpPr>
          <p:spPr>
            <a:xfrm>
              <a:off x="2336" y="872"/>
              <a:ext cx="0" cy="2988"/>
            </a:xfrm>
            <a:prstGeom prst="line">
              <a:avLst/>
            </a:prstGeom>
            <a:ln w="9525">
              <a:noFill/>
            </a:ln>
          </p:spPr>
        </p:sp>
        <p:sp>
          <p:nvSpPr>
            <p:cNvPr id="89130" name="Line 74"/>
            <p:cNvSpPr/>
            <p:nvPr/>
          </p:nvSpPr>
          <p:spPr>
            <a:xfrm>
              <a:off x="3712" y="845"/>
              <a:ext cx="0" cy="2988"/>
            </a:xfrm>
            <a:prstGeom prst="line">
              <a:avLst/>
            </a:prstGeom>
            <a:ln w="12700" cap="rnd" cmpd="sng">
              <a:solidFill>
                <a:srgbClr val="000000"/>
              </a:solidFill>
              <a:prstDash val="solid"/>
              <a:round/>
              <a:headEnd type="none" w="med" len="med"/>
              <a:tailEnd type="none" w="med" len="med"/>
            </a:ln>
          </p:spPr>
        </p:sp>
        <p:sp>
          <p:nvSpPr>
            <p:cNvPr id="89131" name="Line 75"/>
            <p:cNvSpPr/>
            <p:nvPr/>
          </p:nvSpPr>
          <p:spPr>
            <a:xfrm>
              <a:off x="3712" y="845"/>
              <a:ext cx="1300" cy="0"/>
            </a:xfrm>
            <a:prstGeom prst="line">
              <a:avLst/>
            </a:prstGeom>
            <a:ln w="12700" cap="rnd" cmpd="sng">
              <a:solidFill>
                <a:srgbClr val="FFFFFF"/>
              </a:solidFill>
              <a:prstDash val="solid"/>
              <a:round/>
              <a:headEnd type="none" w="med" len="med"/>
              <a:tailEnd type="none" w="med" len="med"/>
            </a:ln>
          </p:spPr>
        </p:sp>
        <p:sp>
          <p:nvSpPr>
            <p:cNvPr id="89132" name="Line 77"/>
            <p:cNvSpPr/>
            <p:nvPr/>
          </p:nvSpPr>
          <p:spPr>
            <a:xfrm>
              <a:off x="3712" y="1094"/>
              <a:ext cx="1300" cy="0"/>
            </a:xfrm>
            <a:prstGeom prst="line">
              <a:avLst/>
            </a:prstGeom>
            <a:ln w="12700" cap="rnd" cmpd="sng">
              <a:solidFill>
                <a:srgbClr val="000000"/>
              </a:solidFill>
              <a:prstDash val="solid"/>
              <a:round/>
              <a:headEnd type="none" w="med" len="med"/>
              <a:tailEnd type="none" w="med" len="med"/>
            </a:ln>
          </p:spPr>
        </p:sp>
        <p:sp>
          <p:nvSpPr>
            <p:cNvPr id="89133" name="Line 78"/>
            <p:cNvSpPr/>
            <p:nvPr/>
          </p:nvSpPr>
          <p:spPr>
            <a:xfrm>
              <a:off x="5012" y="845"/>
              <a:ext cx="0" cy="2988"/>
            </a:xfrm>
            <a:prstGeom prst="line">
              <a:avLst/>
            </a:prstGeom>
            <a:ln w="12700" cap="rnd" cmpd="sng">
              <a:solidFill>
                <a:srgbClr val="000000"/>
              </a:solidFill>
              <a:prstDash val="solid"/>
              <a:round/>
              <a:headEnd type="none" w="med" len="med"/>
              <a:tailEnd type="none" w="med" len="med"/>
            </a:ln>
          </p:spPr>
        </p:sp>
        <p:sp>
          <p:nvSpPr>
            <p:cNvPr id="89134" name="Line 81"/>
            <p:cNvSpPr/>
            <p:nvPr/>
          </p:nvSpPr>
          <p:spPr>
            <a:xfrm>
              <a:off x="3712" y="1343"/>
              <a:ext cx="1300" cy="0"/>
            </a:xfrm>
            <a:prstGeom prst="line">
              <a:avLst/>
            </a:prstGeom>
            <a:ln w="12700" cap="rnd" cmpd="sng">
              <a:solidFill>
                <a:srgbClr val="000000"/>
              </a:solidFill>
              <a:prstDash val="solid"/>
              <a:round/>
              <a:headEnd type="none" w="med" len="med"/>
              <a:tailEnd type="none" w="med" len="med"/>
            </a:ln>
          </p:spPr>
        </p:sp>
        <p:sp>
          <p:nvSpPr>
            <p:cNvPr id="89135" name="Line 83"/>
            <p:cNvSpPr/>
            <p:nvPr/>
          </p:nvSpPr>
          <p:spPr>
            <a:xfrm>
              <a:off x="3712" y="1592"/>
              <a:ext cx="1300" cy="0"/>
            </a:xfrm>
            <a:prstGeom prst="line">
              <a:avLst/>
            </a:prstGeom>
            <a:ln w="12700" cap="rnd" cmpd="sng">
              <a:solidFill>
                <a:srgbClr val="000000"/>
              </a:solidFill>
              <a:prstDash val="solid"/>
              <a:round/>
              <a:headEnd type="none" w="med" len="med"/>
              <a:tailEnd type="none" w="med" len="med"/>
            </a:ln>
          </p:spPr>
        </p:sp>
        <p:sp>
          <p:nvSpPr>
            <p:cNvPr id="89136" name="Line 85"/>
            <p:cNvSpPr/>
            <p:nvPr/>
          </p:nvSpPr>
          <p:spPr>
            <a:xfrm>
              <a:off x="3712" y="1841"/>
              <a:ext cx="1300" cy="0"/>
            </a:xfrm>
            <a:prstGeom prst="line">
              <a:avLst/>
            </a:prstGeom>
            <a:ln w="12700" cap="rnd" cmpd="sng">
              <a:solidFill>
                <a:srgbClr val="000000"/>
              </a:solidFill>
              <a:prstDash val="solid"/>
              <a:round/>
              <a:headEnd type="none" w="med" len="med"/>
              <a:tailEnd type="none" w="med" len="med"/>
            </a:ln>
          </p:spPr>
        </p:sp>
        <p:sp>
          <p:nvSpPr>
            <p:cNvPr id="89137" name="Line 87"/>
            <p:cNvSpPr/>
            <p:nvPr/>
          </p:nvSpPr>
          <p:spPr>
            <a:xfrm>
              <a:off x="3712" y="2090"/>
              <a:ext cx="1300" cy="0"/>
            </a:xfrm>
            <a:prstGeom prst="line">
              <a:avLst/>
            </a:prstGeom>
            <a:ln w="12700" cap="rnd" cmpd="sng">
              <a:solidFill>
                <a:srgbClr val="000000"/>
              </a:solidFill>
              <a:prstDash val="solid"/>
              <a:round/>
              <a:headEnd type="none" w="med" len="med"/>
              <a:tailEnd type="none" w="med" len="med"/>
            </a:ln>
          </p:spPr>
        </p:sp>
        <p:sp>
          <p:nvSpPr>
            <p:cNvPr id="89138" name="Line 89"/>
            <p:cNvSpPr/>
            <p:nvPr/>
          </p:nvSpPr>
          <p:spPr>
            <a:xfrm>
              <a:off x="3712" y="2339"/>
              <a:ext cx="1300" cy="0"/>
            </a:xfrm>
            <a:prstGeom prst="line">
              <a:avLst/>
            </a:prstGeom>
            <a:ln w="12700" cap="rnd" cmpd="sng">
              <a:solidFill>
                <a:srgbClr val="000000"/>
              </a:solidFill>
              <a:prstDash val="solid"/>
              <a:round/>
              <a:headEnd type="none" w="med" len="med"/>
              <a:tailEnd type="none" w="med" len="med"/>
            </a:ln>
          </p:spPr>
        </p:sp>
        <p:sp>
          <p:nvSpPr>
            <p:cNvPr id="89139" name="Line 91"/>
            <p:cNvSpPr/>
            <p:nvPr/>
          </p:nvSpPr>
          <p:spPr>
            <a:xfrm>
              <a:off x="3712" y="2588"/>
              <a:ext cx="1300" cy="0"/>
            </a:xfrm>
            <a:prstGeom prst="line">
              <a:avLst/>
            </a:prstGeom>
            <a:ln w="12700" cap="rnd" cmpd="sng">
              <a:solidFill>
                <a:srgbClr val="000000"/>
              </a:solidFill>
              <a:prstDash val="solid"/>
              <a:round/>
              <a:headEnd type="none" w="med" len="med"/>
              <a:tailEnd type="none" w="med" len="med"/>
            </a:ln>
          </p:spPr>
        </p:sp>
        <p:sp>
          <p:nvSpPr>
            <p:cNvPr id="89140" name="Line 93"/>
            <p:cNvSpPr/>
            <p:nvPr/>
          </p:nvSpPr>
          <p:spPr>
            <a:xfrm>
              <a:off x="3712" y="2837"/>
              <a:ext cx="1300" cy="0"/>
            </a:xfrm>
            <a:prstGeom prst="line">
              <a:avLst/>
            </a:prstGeom>
            <a:ln w="12700" cap="rnd" cmpd="sng">
              <a:solidFill>
                <a:srgbClr val="000000"/>
              </a:solidFill>
              <a:prstDash val="solid"/>
              <a:round/>
              <a:headEnd type="none" w="med" len="med"/>
              <a:tailEnd type="none" w="med" len="med"/>
            </a:ln>
          </p:spPr>
        </p:sp>
        <p:sp>
          <p:nvSpPr>
            <p:cNvPr id="89141" name="Line 95"/>
            <p:cNvSpPr/>
            <p:nvPr/>
          </p:nvSpPr>
          <p:spPr>
            <a:xfrm>
              <a:off x="3712" y="3086"/>
              <a:ext cx="1300" cy="0"/>
            </a:xfrm>
            <a:prstGeom prst="line">
              <a:avLst/>
            </a:prstGeom>
            <a:ln w="12700" cap="rnd" cmpd="sng">
              <a:solidFill>
                <a:srgbClr val="000000"/>
              </a:solidFill>
              <a:prstDash val="solid"/>
              <a:round/>
              <a:headEnd type="none" w="med" len="med"/>
              <a:tailEnd type="none" w="med" len="med"/>
            </a:ln>
          </p:spPr>
        </p:sp>
        <p:sp>
          <p:nvSpPr>
            <p:cNvPr id="89142" name="Line 97"/>
            <p:cNvSpPr/>
            <p:nvPr/>
          </p:nvSpPr>
          <p:spPr>
            <a:xfrm>
              <a:off x="3712" y="3335"/>
              <a:ext cx="1300" cy="0"/>
            </a:xfrm>
            <a:prstGeom prst="line">
              <a:avLst/>
            </a:prstGeom>
            <a:ln w="12700" cap="rnd" cmpd="sng">
              <a:solidFill>
                <a:srgbClr val="000000"/>
              </a:solidFill>
              <a:prstDash val="solid"/>
              <a:round/>
              <a:headEnd type="none" w="med" len="med"/>
              <a:tailEnd type="none" w="med" len="med"/>
            </a:ln>
          </p:spPr>
        </p:sp>
        <p:sp>
          <p:nvSpPr>
            <p:cNvPr id="89143" name="Line 99"/>
            <p:cNvSpPr/>
            <p:nvPr/>
          </p:nvSpPr>
          <p:spPr>
            <a:xfrm>
              <a:off x="3712" y="3584"/>
              <a:ext cx="1300" cy="0"/>
            </a:xfrm>
            <a:prstGeom prst="line">
              <a:avLst/>
            </a:prstGeom>
            <a:ln w="12700" cap="rnd" cmpd="sng">
              <a:solidFill>
                <a:srgbClr val="000000"/>
              </a:solidFill>
              <a:prstDash val="solid"/>
              <a:round/>
              <a:headEnd type="none" w="med" len="med"/>
              <a:tailEnd type="none" w="med" len="med"/>
            </a:ln>
          </p:spPr>
        </p:sp>
        <p:sp>
          <p:nvSpPr>
            <p:cNvPr id="89144" name="Rectangle 102"/>
            <p:cNvSpPr/>
            <p:nvPr/>
          </p:nvSpPr>
          <p:spPr>
            <a:xfrm>
              <a:off x="3696" y="3566"/>
              <a:ext cx="1300" cy="249"/>
            </a:xfrm>
            <a:prstGeom prst="rect">
              <a:avLst/>
            </a:prstGeom>
            <a:noFill/>
            <a:ln w="9525">
              <a:noFill/>
            </a:ln>
          </p:spPr>
          <p:txBody>
            <a:bodyPr anchor="ctr" anchorCtr="0"/>
            <a:lstStyle/>
            <a:p>
              <a:pPr marL="342900" indent="-342900" algn="ctr"/>
              <a:r>
                <a:rPr lang="en-US" altLang="zh-CN" sz="2000" dirty="0">
                  <a:solidFill>
                    <a:srgbClr val="FF0000"/>
                  </a:solidFill>
                  <a:latin typeface="Times New Roman" panose="02020603050405020304" pitchFamily="18" charset="0"/>
                  <a:ea typeface="宋体" panose="02010600030101010101" pitchFamily="2" charset="-122"/>
                </a:rPr>
                <a:t>51H</a:t>
              </a:r>
            </a:p>
          </p:txBody>
        </p:sp>
      </p:gr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71</a:t>
            </a:fld>
            <a:endParaRPr lang="en-US" altLang="zh-CN" sz="1400" b="0" dirty="0"/>
          </a:p>
        </p:txBody>
      </p:sp>
      <p:sp>
        <p:nvSpPr>
          <p:cNvPr id="25602" name="Rectangle 2"/>
          <p:cNvSpPr/>
          <p:nvPr/>
        </p:nvSpPr>
        <p:spPr>
          <a:xfrm>
            <a:off x="838200" y="2565400"/>
            <a:ext cx="8305800" cy="609600"/>
          </a:xfrm>
          <a:prstGeom prst="rect">
            <a:avLst/>
          </a:prstGeom>
          <a:solidFill>
            <a:srgbClr val="CCECFF"/>
          </a:solidFill>
          <a:ln w="9525">
            <a:noFill/>
          </a:ln>
        </p:spPr>
        <p:txBody>
          <a:bodyPr anchor="t" anchorCtr="0">
            <a:spAutoFit/>
          </a:bodyPr>
          <a:lstStyle/>
          <a:p>
            <a:pPr indent="530225" algn="just">
              <a:lnSpc>
                <a:spcPct val="140000"/>
              </a:lnSpc>
            </a:pPr>
            <a:r>
              <a:rPr lang="en-US" altLang="zh-CN" dirty="0">
                <a:solidFill>
                  <a:srgbClr val="FF6600"/>
                </a:solidFill>
                <a:latin typeface="Times New Roman" panose="02020603050405020304" pitchFamily="18" charset="0"/>
                <a:ea typeface="宋体" panose="02010600030101010101" pitchFamily="2" charset="-122"/>
              </a:rPr>
              <a:t>MOVC  A, @A+DPTR</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查表并将结果存于</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中</a:t>
            </a:r>
            <a:endParaRPr lang="zh-CN" altLang="en-US" b="0" dirty="0">
              <a:latin typeface="Times New Roman" panose="02020603050405020304" pitchFamily="18" charset="0"/>
              <a:ea typeface="宋体" panose="02010600030101010101" pitchFamily="2" charset="-122"/>
            </a:endParaRPr>
          </a:p>
        </p:txBody>
      </p:sp>
      <p:sp>
        <p:nvSpPr>
          <p:cNvPr id="25603" name="Rectangle 3"/>
          <p:cNvSpPr/>
          <p:nvPr/>
        </p:nvSpPr>
        <p:spPr>
          <a:xfrm>
            <a:off x="838200" y="908050"/>
            <a:ext cx="8305800" cy="1643063"/>
          </a:xfrm>
          <a:prstGeom prst="rect">
            <a:avLst/>
          </a:prstGeom>
          <a:noFill/>
          <a:ln w="9525">
            <a:noFill/>
          </a:ln>
        </p:spPr>
        <p:txBody>
          <a:bodyPr anchor="t" anchorCtr="0">
            <a:spAutoFit/>
          </a:bodyPr>
          <a:lstStyle/>
          <a:p>
            <a:pPr indent="530225" algn="just">
              <a:lnSpc>
                <a:spcPct val="140000"/>
              </a:lnSpc>
            </a:pPr>
            <a:r>
              <a:rPr lang="en-US" altLang="zh-CN" dirty="0">
                <a:solidFill>
                  <a:schemeClr val="accent2"/>
                </a:solidFill>
                <a:latin typeface="Times New Roman" panose="02020603050405020304" pitchFamily="18" charset="0"/>
                <a:ea typeface="宋体" panose="02010600030101010101" pitchFamily="2" charset="-122"/>
              </a:rPr>
              <a:t>ORG    0000H</a:t>
            </a:r>
            <a:endParaRPr lang="en-US" altLang="zh-CN" b="0" dirty="0">
              <a:solidFill>
                <a:schemeClr val="accent2"/>
              </a:solidFill>
              <a:latin typeface="Times New Roman" panose="02020603050405020304" pitchFamily="18" charset="0"/>
              <a:ea typeface="宋体" panose="02010600030101010101" pitchFamily="2" charset="-122"/>
            </a:endParaRPr>
          </a:p>
          <a:p>
            <a:pPr indent="530225" algn="just" eaLnBrk="0" hangingPunct="0">
              <a:lnSpc>
                <a:spcPct val="140000"/>
              </a:lnSpc>
            </a:pPr>
            <a:r>
              <a:rPr lang="en-US" altLang="zh-CN" dirty="0">
                <a:latin typeface="Times New Roman" panose="02020603050405020304" pitchFamily="18" charset="0"/>
                <a:ea typeface="宋体" panose="02010600030101010101" pitchFamily="2" charset="-122"/>
              </a:rPr>
              <a:t>MOV   DPTR, </a:t>
            </a:r>
            <a:r>
              <a:rPr lang="en-US" altLang="zh-CN" dirty="0">
                <a:solidFill>
                  <a:srgbClr val="FF6600"/>
                </a:solidFill>
                <a:latin typeface="Times New Roman" panose="02020603050405020304" pitchFamily="18" charset="0"/>
                <a:ea typeface="宋体" panose="02010600030101010101" pitchFamily="2" charset="-122"/>
              </a:rPr>
              <a:t>#3000H</a:t>
            </a:r>
            <a:r>
              <a:rPr lang="en-US" altLang="zh-CN" dirty="0">
                <a:latin typeface="Times New Roman" panose="02020603050405020304" pitchFamily="18" charset="0"/>
                <a:ea typeface="宋体" panose="02010600030101010101" pitchFamily="2" charset="-122"/>
              </a:rPr>
              <a:t>		;DPTR</a:t>
            </a:r>
            <a:r>
              <a:rPr lang="zh-CN" altLang="en-US" dirty="0">
                <a:latin typeface="Times New Roman" panose="02020603050405020304" pitchFamily="18" charset="0"/>
                <a:ea typeface="宋体" panose="02010600030101010101" pitchFamily="2" charset="-122"/>
              </a:rPr>
              <a:t>指向表头</a:t>
            </a:r>
            <a:endParaRPr lang="zh-CN" altLang="en-US" b="0" dirty="0">
              <a:latin typeface="Times New Roman" panose="02020603050405020304" pitchFamily="18" charset="0"/>
              <a:ea typeface="宋体" panose="02010600030101010101" pitchFamily="2" charset="-122"/>
            </a:endParaRPr>
          </a:p>
          <a:p>
            <a:pPr indent="530225" algn="just" eaLnBrk="0" hangingPunct="0">
              <a:lnSpc>
                <a:spcPct val="140000"/>
              </a:lnSpc>
            </a:pPr>
            <a:r>
              <a:rPr lang="en-US" altLang="zh-CN" dirty="0">
                <a:latin typeface="Times New Roman" panose="02020603050405020304" pitchFamily="18" charset="0"/>
                <a:ea typeface="宋体" panose="02010600030101010101" pitchFamily="2" charset="-122"/>
              </a:rPr>
              <a:t>MOV   A,  #5      		</a:t>
            </a:r>
            <a:endParaRPr lang="en-US" altLang="zh-CN" b="0" dirty="0">
              <a:latin typeface="Times New Roman" panose="02020603050405020304" pitchFamily="18" charset="0"/>
              <a:ea typeface="宋体" panose="02010600030101010101" pitchFamily="2" charset="-122"/>
            </a:endParaRPr>
          </a:p>
        </p:txBody>
      </p:sp>
      <p:sp>
        <p:nvSpPr>
          <p:cNvPr id="25604" name="Rectangle 4"/>
          <p:cNvSpPr/>
          <p:nvPr/>
        </p:nvSpPr>
        <p:spPr>
          <a:xfrm>
            <a:off x="838200" y="4437063"/>
            <a:ext cx="8305800" cy="1643062"/>
          </a:xfrm>
          <a:prstGeom prst="rect">
            <a:avLst/>
          </a:prstGeom>
          <a:noFill/>
          <a:ln w="9525">
            <a:noFill/>
          </a:ln>
        </p:spPr>
        <p:txBody>
          <a:bodyPr anchor="t" anchorCtr="0">
            <a:spAutoFit/>
          </a:bodyPr>
          <a:lstStyle/>
          <a:p>
            <a:pPr indent="530225" algn="just">
              <a:lnSpc>
                <a:spcPct val="140000"/>
              </a:lnSpc>
            </a:pPr>
            <a:r>
              <a:rPr lang="en-US" altLang="zh-CN" dirty="0">
                <a:solidFill>
                  <a:schemeClr val="accent2"/>
                </a:solidFill>
                <a:latin typeface="Times New Roman" panose="02020603050405020304" pitchFamily="18" charset="0"/>
                <a:ea typeface="宋体" panose="02010600030101010101" pitchFamily="2" charset="-122"/>
              </a:rPr>
              <a:t>ORG  3000H</a:t>
            </a:r>
            <a:endParaRPr lang="en-US" altLang="zh-CN" b="0" dirty="0">
              <a:solidFill>
                <a:schemeClr val="accent2"/>
              </a:solidFill>
              <a:latin typeface="Times New Roman" panose="02020603050405020304" pitchFamily="18" charset="0"/>
              <a:ea typeface="宋体" panose="02010600030101010101" pitchFamily="2" charset="-122"/>
            </a:endParaRPr>
          </a:p>
          <a:p>
            <a:pPr indent="530225" algn="just" eaLnBrk="0" hangingPunct="0">
              <a:lnSpc>
                <a:spcPct val="140000"/>
              </a:lnSpc>
            </a:pPr>
            <a:r>
              <a:rPr lang="en-US" altLang="zh-CN" dirty="0">
                <a:solidFill>
                  <a:srgbClr val="0000FF"/>
                </a:solidFill>
                <a:latin typeface="Times New Roman" panose="02020603050405020304" pitchFamily="18" charset="0"/>
                <a:ea typeface="宋体" panose="02010600030101010101" pitchFamily="2" charset="-122"/>
              </a:rPr>
              <a:t>DB  0, 1, 4, 9, 16, 25, 36, 49, 64, 81</a:t>
            </a:r>
            <a:endParaRPr lang="en-US" altLang="zh-CN" b="0" dirty="0">
              <a:latin typeface="Times New Roman" panose="02020603050405020304" pitchFamily="18" charset="0"/>
              <a:ea typeface="宋体" panose="02010600030101010101" pitchFamily="2" charset="-122"/>
            </a:endParaRPr>
          </a:p>
          <a:p>
            <a:pPr indent="530225" algn="just" eaLnBrk="0" hangingPunct="0">
              <a:lnSpc>
                <a:spcPct val="140000"/>
              </a:lnSpc>
            </a:pPr>
            <a:r>
              <a:rPr lang="en-US" altLang="zh-CN" dirty="0">
                <a:latin typeface="Times New Roman" panose="02020603050405020304" pitchFamily="18" charset="0"/>
                <a:ea typeface="宋体" panose="02010600030101010101" pitchFamily="2" charset="-122"/>
              </a:rPr>
              <a:t>END</a:t>
            </a:r>
            <a:endParaRPr lang="en-US" altLang="zh-CN" b="0" dirty="0">
              <a:latin typeface="Times New Roman" panose="02020603050405020304" pitchFamily="18" charset="0"/>
              <a:ea typeface="宋体" panose="02010600030101010101" pitchFamily="2" charset="-122"/>
            </a:endParaRPr>
          </a:p>
        </p:txBody>
      </p:sp>
      <p:sp>
        <p:nvSpPr>
          <p:cNvPr id="25605" name="Rectangle 5"/>
          <p:cNvSpPr/>
          <p:nvPr/>
        </p:nvSpPr>
        <p:spPr>
          <a:xfrm>
            <a:off x="838200" y="3284538"/>
            <a:ext cx="8305800" cy="1127125"/>
          </a:xfrm>
          <a:prstGeom prst="rect">
            <a:avLst/>
          </a:prstGeom>
          <a:noFill/>
          <a:ln w="9525">
            <a:noFill/>
          </a:ln>
        </p:spPr>
        <p:txBody>
          <a:bodyPr anchor="t" anchorCtr="0">
            <a:spAutoFit/>
          </a:bodyPr>
          <a:lstStyle/>
          <a:p>
            <a:pPr indent="530225" algn="just">
              <a:lnSpc>
                <a:spcPct val="140000"/>
              </a:lnSpc>
            </a:pPr>
            <a:r>
              <a:rPr lang="en-US" altLang="zh-CN" dirty="0">
                <a:latin typeface="Times New Roman" panose="02020603050405020304" pitchFamily="18" charset="0"/>
                <a:ea typeface="宋体" panose="02010600030101010101" pitchFamily="2" charset="-122"/>
              </a:rPr>
              <a:t>MOV   50H, A       		;</a:t>
            </a:r>
            <a:r>
              <a:rPr lang="zh-CN" altLang="en-US" dirty="0">
                <a:latin typeface="Times New Roman" panose="02020603050405020304" pitchFamily="18" charset="0"/>
                <a:ea typeface="宋体" panose="02010600030101010101" pitchFamily="2" charset="-122"/>
              </a:rPr>
              <a:t>存平方值</a:t>
            </a:r>
            <a:endParaRPr lang="zh-CN" altLang="en-US" b="0" dirty="0">
              <a:latin typeface="Times New Roman" panose="02020603050405020304" pitchFamily="18" charset="0"/>
              <a:ea typeface="宋体" panose="02010600030101010101" pitchFamily="2" charset="-122"/>
            </a:endParaRPr>
          </a:p>
          <a:p>
            <a:pPr indent="530225" algn="just" eaLnBrk="0" hangingPunct="0">
              <a:lnSpc>
                <a:spcPct val="140000"/>
              </a:lnSpc>
            </a:pPr>
            <a:r>
              <a:rPr lang="en-US" altLang="zh-CN" dirty="0">
                <a:latin typeface="Times New Roman" panose="02020603050405020304" pitchFamily="18" charset="0"/>
                <a:ea typeface="宋体" panose="02010600030101010101" pitchFamily="2" charset="-122"/>
              </a:rPr>
              <a:t>NOP </a:t>
            </a:r>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72</a:t>
            </a:fld>
            <a:endParaRPr lang="en-US" altLang="zh-CN" sz="1400" b="0" dirty="0"/>
          </a:p>
        </p:txBody>
      </p:sp>
      <p:sp>
        <p:nvSpPr>
          <p:cNvPr id="91138" name="Rectangle 2"/>
          <p:cNvSpPr/>
          <p:nvPr/>
        </p:nvSpPr>
        <p:spPr>
          <a:xfrm>
            <a:off x="268288" y="822325"/>
            <a:ext cx="8875712" cy="4225925"/>
          </a:xfrm>
          <a:prstGeom prst="rect">
            <a:avLst/>
          </a:prstGeom>
          <a:noFill/>
          <a:ln w="9525">
            <a:noFill/>
          </a:ln>
        </p:spPr>
        <p:txBody>
          <a:bodyPr anchor="t" anchorCtr="0">
            <a:spAutoFit/>
          </a:bodyPr>
          <a:lstStyle/>
          <a:p>
            <a:pPr indent="530225" algn="just">
              <a:lnSpc>
                <a:spcPct val="140000"/>
              </a:lnSpc>
            </a:pPr>
            <a:r>
              <a:rPr lang="en-US" altLang="zh-CN" dirty="0">
                <a:solidFill>
                  <a:schemeClr val="accent2"/>
                </a:solidFill>
                <a:latin typeface="Times New Roman" panose="02020603050405020304" pitchFamily="18" charset="0"/>
                <a:ea typeface="宋体" panose="02010600030101010101" pitchFamily="2" charset="-122"/>
              </a:rPr>
              <a:t>		ORG    0000H</a:t>
            </a:r>
            <a:endParaRPr lang="en-US" altLang="zh-CN" b="0" dirty="0">
              <a:solidFill>
                <a:schemeClr val="accent2"/>
              </a:solidFill>
              <a:latin typeface="Times New Roman" panose="02020603050405020304" pitchFamily="18" charset="0"/>
              <a:ea typeface="宋体" panose="02010600030101010101" pitchFamily="2" charset="-122"/>
            </a:endParaRPr>
          </a:p>
          <a:p>
            <a:pPr indent="530225" algn="just" eaLnBrk="0" hangingPunct="0">
              <a:lnSpc>
                <a:spcPct val="140000"/>
              </a:lnSpc>
            </a:pPr>
            <a:r>
              <a:rPr lang="en-US" altLang="zh-CN" dirty="0">
                <a:latin typeface="Times New Roman" panose="02020603050405020304" pitchFamily="18" charset="0"/>
                <a:ea typeface="宋体" panose="02010600030101010101" pitchFamily="2" charset="-122"/>
              </a:rPr>
              <a:t>		MOV   DPTR</a:t>
            </a:r>
            <a:r>
              <a:rPr lang="zh-CN" altLang="en-US" dirty="0">
                <a:latin typeface="Times New Roman" panose="02020603050405020304" pitchFamily="18" charset="0"/>
                <a:ea typeface="宋体" panose="02010600030101010101" pitchFamily="2" charset="-122"/>
              </a:rPr>
              <a:t>，</a:t>
            </a:r>
            <a:r>
              <a:rPr lang="en-US" altLang="zh-CN" dirty="0">
                <a:solidFill>
                  <a:srgbClr val="FF6600"/>
                </a:solidFill>
                <a:latin typeface="Times New Roman" panose="02020603050405020304" pitchFamily="18" charset="0"/>
                <a:ea typeface="宋体" panose="02010600030101010101" pitchFamily="2" charset="-122"/>
              </a:rPr>
              <a:t>#TABLE</a:t>
            </a:r>
            <a:r>
              <a:rPr lang="en-US" altLang="zh-CN" dirty="0">
                <a:latin typeface="Times New Roman" panose="02020603050405020304" pitchFamily="18" charset="0"/>
                <a:ea typeface="宋体" panose="02010600030101010101" pitchFamily="2" charset="-122"/>
              </a:rPr>
              <a:t>	;DPTR</a:t>
            </a:r>
            <a:r>
              <a:rPr lang="zh-CN" altLang="en-US" dirty="0">
                <a:latin typeface="Times New Roman" panose="02020603050405020304" pitchFamily="18" charset="0"/>
                <a:ea typeface="宋体" panose="02010600030101010101" pitchFamily="2" charset="-122"/>
              </a:rPr>
              <a:t>指向表头</a:t>
            </a:r>
            <a:endParaRPr lang="zh-CN" altLang="en-US" b="0" dirty="0">
              <a:latin typeface="Times New Roman" panose="02020603050405020304" pitchFamily="18" charset="0"/>
              <a:ea typeface="宋体" panose="02010600030101010101" pitchFamily="2" charset="-122"/>
            </a:endParaRPr>
          </a:p>
          <a:p>
            <a:pPr indent="530225"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      		</a:t>
            </a:r>
            <a:endParaRPr lang="en-US" altLang="zh-CN" b="0" dirty="0">
              <a:latin typeface="Times New Roman" panose="02020603050405020304" pitchFamily="18" charset="0"/>
              <a:ea typeface="宋体" panose="02010600030101010101" pitchFamily="2" charset="-122"/>
            </a:endParaRPr>
          </a:p>
          <a:p>
            <a:pPr indent="530225" algn="just" eaLnBrk="0" hangingPunct="0">
              <a:lnSpc>
                <a:spcPct val="140000"/>
              </a:lnSpc>
            </a:pPr>
            <a:r>
              <a:rPr lang="en-US" altLang="zh-CN" dirty="0">
                <a:solidFill>
                  <a:srgbClr val="FF6600"/>
                </a:solidFill>
                <a:latin typeface="Times New Roman" panose="02020603050405020304" pitchFamily="18" charset="0"/>
                <a:ea typeface="宋体" panose="02010600030101010101" pitchFamily="2" charset="-122"/>
              </a:rPr>
              <a:t>		MOVC  A</a:t>
            </a:r>
            <a:r>
              <a:rPr lang="zh-CN" altLang="en-US" dirty="0">
                <a:solidFill>
                  <a:srgbClr val="FF6600"/>
                </a:solidFill>
                <a:latin typeface="Times New Roman" panose="02020603050405020304" pitchFamily="18" charset="0"/>
                <a:ea typeface="宋体" panose="02010600030101010101" pitchFamily="2" charset="-122"/>
              </a:rPr>
              <a:t>，</a:t>
            </a:r>
            <a:r>
              <a:rPr lang="en-US" altLang="zh-CN" dirty="0">
                <a:solidFill>
                  <a:srgbClr val="FF6600"/>
                </a:solidFill>
                <a:latin typeface="Times New Roman" panose="02020603050405020304" pitchFamily="18" charset="0"/>
                <a:ea typeface="宋体" panose="02010600030101010101" pitchFamily="2" charset="-122"/>
              </a:rPr>
              <a:t>@A+DPTR      ;</a:t>
            </a:r>
            <a:r>
              <a:rPr lang="zh-CN" altLang="zh-CN" dirty="0">
                <a:solidFill>
                  <a:srgbClr val="FF6600"/>
                </a:solidFill>
                <a:latin typeface="Times New Roman" panose="02020603050405020304" pitchFamily="18" charset="0"/>
                <a:ea typeface="宋体" panose="02010600030101010101" pitchFamily="2" charset="-122"/>
              </a:rPr>
              <a:t>相当于</a:t>
            </a:r>
            <a:r>
              <a:rPr lang="en-US" altLang="zh-CN" dirty="0">
                <a:solidFill>
                  <a:srgbClr val="FF6600"/>
                </a:solidFill>
                <a:latin typeface="Times New Roman" panose="02020603050405020304" pitchFamily="18" charset="0"/>
                <a:ea typeface="宋体" panose="02010600030101010101" pitchFamily="2" charset="-122"/>
              </a:rPr>
              <a:t>C</a:t>
            </a:r>
            <a:r>
              <a:rPr lang="zh-CN" altLang="en-US" dirty="0">
                <a:solidFill>
                  <a:srgbClr val="FF6600"/>
                </a:solidFill>
                <a:latin typeface="Times New Roman" panose="02020603050405020304" pitchFamily="18" charset="0"/>
                <a:ea typeface="宋体" panose="02010600030101010101" pitchFamily="2" charset="-122"/>
              </a:rPr>
              <a:t>的</a:t>
            </a:r>
            <a:r>
              <a:rPr lang="en-US" altLang="zh-CN" dirty="0">
                <a:solidFill>
                  <a:srgbClr val="FF6600"/>
                </a:solidFill>
                <a:latin typeface="Times New Roman" panose="02020603050405020304" pitchFamily="18" charset="0"/>
                <a:ea typeface="宋体" panose="02010600030101010101" pitchFamily="2" charset="-122"/>
              </a:rPr>
              <a:t>TABLE[A]</a:t>
            </a:r>
            <a:endParaRPr lang="en-US" altLang="zh-CN" b="0" dirty="0">
              <a:latin typeface="Times New Roman" panose="02020603050405020304" pitchFamily="18" charset="0"/>
              <a:ea typeface="宋体" panose="02010600030101010101" pitchFamily="2" charset="-122"/>
            </a:endParaRPr>
          </a:p>
          <a:p>
            <a:pPr indent="530225" algn="just" eaLnBrk="0" hangingPunct="0">
              <a:lnSpc>
                <a:spcPct val="140000"/>
              </a:lnSpc>
            </a:pPr>
            <a:r>
              <a:rPr lang="en-US" altLang="zh-CN" dirty="0">
                <a:latin typeface="Times New Roman" panose="02020603050405020304" pitchFamily="18" charset="0"/>
                <a:ea typeface="宋体" panose="02010600030101010101" pitchFamily="2" charset="-122"/>
              </a:rPr>
              <a:t>		MOV   50H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a:t>
            </a:r>
          </a:p>
          <a:p>
            <a:pPr indent="530225" algn="just" eaLnBrk="0" hangingPunct="0">
              <a:lnSpc>
                <a:spcPct val="140000"/>
              </a:lnSpc>
            </a:pPr>
            <a:r>
              <a:rPr lang="en-US" altLang="zh-CN" dirty="0">
                <a:latin typeface="Times New Roman" panose="02020603050405020304" pitchFamily="18" charset="0"/>
                <a:ea typeface="宋体" panose="02010600030101010101" pitchFamily="2" charset="-122"/>
              </a:rPr>
              <a:t>		NOP</a:t>
            </a:r>
          </a:p>
          <a:p>
            <a:pPr indent="530225" algn="just" eaLnBrk="0" hangingPunct="0">
              <a:lnSpc>
                <a:spcPct val="140000"/>
              </a:lnSpc>
            </a:pPr>
            <a:r>
              <a:rPr lang="en-US" altLang="zh-CN" dirty="0">
                <a:latin typeface="Times New Roman" panose="02020603050405020304" pitchFamily="18" charset="0"/>
                <a:ea typeface="宋体" panose="02010600030101010101" pitchFamily="2" charset="-122"/>
              </a:rPr>
              <a:t>TABLE</a:t>
            </a:r>
            <a:r>
              <a:rPr lang="zh-CN" altLang="en-US" dirty="0">
                <a:latin typeface="Times New Roman" panose="02020603050405020304" pitchFamily="18" charset="0"/>
                <a:ea typeface="宋体" panose="02010600030101010101" pitchFamily="2" charset="-122"/>
              </a:rPr>
              <a:t>：</a:t>
            </a:r>
            <a:r>
              <a:rPr lang="zh-CN" altLang="en-US" b="0" dirty="0">
                <a:solidFill>
                  <a:schemeClr val="accent2"/>
                </a:solidFill>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DB  0</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1</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4</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9</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16</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25</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36</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49</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64</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81</a:t>
            </a:r>
            <a:endParaRPr lang="en-US" altLang="zh-CN" b="0" dirty="0">
              <a:latin typeface="Times New Roman" panose="02020603050405020304" pitchFamily="18" charset="0"/>
              <a:ea typeface="宋体" panose="02010600030101010101" pitchFamily="2" charset="-122"/>
            </a:endParaRPr>
          </a:p>
          <a:p>
            <a:pPr indent="530225" algn="just" eaLnBrk="0" hangingPunct="0">
              <a:lnSpc>
                <a:spcPct val="140000"/>
              </a:lnSpc>
            </a:pPr>
            <a:r>
              <a:rPr lang="en-US" altLang="zh-CN" dirty="0">
                <a:latin typeface="Times New Roman" panose="02020603050405020304" pitchFamily="18" charset="0"/>
                <a:ea typeface="宋体" panose="02010600030101010101" pitchFamily="2" charset="-122"/>
              </a:rPr>
              <a:t>		END</a:t>
            </a:r>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73</a:t>
            </a:fld>
            <a:endParaRPr lang="en-US" altLang="zh-CN" sz="1400" b="0" dirty="0"/>
          </a:p>
        </p:txBody>
      </p:sp>
      <p:sp>
        <p:nvSpPr>
          <p:cNvPr id="28678" name="Rectangle 6"/>
          <p:cNvSpPr/>
          <p:nvPr/>
        </p:nvSpPr>
        <p:spPr>
          <a:xfrm>
            <a:off x="179388" y="549275"/>
            <a:ext cx="8305800" cy="457200"/>
          </a:xfrm>
          <a:prstGeom prst="rect">
            <a:avLst/>
          </a:prstGeom>
          <a:noFill/>
          <a:ln w="9525">
            <a:noFill/>
          </a:ln>
        </p:spPr>
        <p:txBody>
          <a:bodyPr anchor="t" anchorCtr="0">
            <a:spAutoFit/>
          </a:bodyPr>
          <a:lstStyle/>
          <a:p>
            <a:pPr indent="133350" algn="just"/>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4-4</a:t>
            </a:r>
            <a:r>
              <a:rPr lang="zh-CN" altLang="en-US" dirty="0">
                <a:latin typeface="Times New Roman" panose="02020603050405020304" pitchFamily="18" charset="0"/>
                <a:ea typeface="宋体" panose="02010600030101010101" pitchFamily="2" charset="-122"/>
              </a:rPr>
              <a:t>：  以近程查表指令实现例</a:t>
            </a:r>
            <a:r>
              <a:rPr lang="en-US" altLang="zh-CN" dirty="0">
                <a:latin typeface="Times New Roman" panose="02020603050405020304" pitchFamily="18" charset="0"/>
                <a:ea typeface="宋体" panose="02010600030101010101" pitchFamily="2" charset="-122"/>
              </a:rPr>
              <a:t>4-3</a:t>
            </a:r>
            <a:r>
              <a:rPr lang="zh-CN" altLang="en-US" dirty="0">
                <a:latin typeface="Times New Roman" panose="02020603050405020304" pitchFamily="18" charset="0"/>
                <a:ea typeface="宋体" panose="02010600030101010101" pitchFamily="2" charset="-122"/>
              </a:rPr>
              <a:t>的功能。</a:t>
            </a:r>
            <a:endParaRPr lang="zh-CN" altLang="en-US" b="0" dirty="0">
              <a:latin typeface="Times New Roman" panose="02020603050405020304" pitchFamily="18" charset="0"/>
              <a:ea typeface="宋体" panose="02010600030101010101" pitchFamily="2" charset="-122"/>
            </a:endParaRPr>
          </a:p>
        </p:txBody>
      </p:sp>
      <p:sp>
        <p:nvSpPr>
          <p:cNvPr id="77828" name="Text Box 1028"/>
          <p:cNvSpPr txBox="1"/>
          <p:nvPr/>
        </p:nvSpPr>
        <p:spPr>
          <a:xfrm>
            <a:off x="396875" y="2349500"/>
            <a:ext cx="7921625" cy="639763"/>
          </a:xfrm>
          <a:prstGeom prst="rect">
            <a:avLst/>
          </a:prstGeom>
          <a:noFill/>
          <a:ln w="9525">
            <a:noFill/>
          </a:ln>
        </p:spPr>
        <p:txBody>
          <a:bodyPr anchor="t" anchorCtr="0">
            <a:spAutoFit/>
          </a:bodyPr>
          <a:lstStyle/>
          <a:p>
            <a:pPr>
              <a:lnSpc>
                <a:spcPct val="150000"/>
              </a:lnSpc>
            </a:pPr>
            <a:r>
              <a:rPr lang="en-US" altLang="zh-CN" dirty="0">
                <a:solidFill>
                  <a:schemeClr val="accent2"/>
                </a:solidFill>
                <a:latin typeface="Times New Roman" panose="02020603050405020304" pitchFamily="18" charset="0"/>
                <a:ea typeface="宋体" panose="02010600030101010101" pitchFamily="2" charset="-122"/>
              </a:rPr>
              <a:t>	     MOVC	A</a:t>
            </a:r>
            <a:r>
              <a:rPr lang="zh-CN" altLang="en-US" dirty="0">
                <a:solidFill>
                  <a:schemeClr val="accent2"/>
                </a:solidFill>
                <a:latin typeface="Times New Roman" panose="02020603050405020304" pitchFamily="18" charset="0"/>
                <a:ea typeface="宋体" panose="02010600030101010101" pitchFamily="2" charset="-122"/>
              </a:rPr>
              <a:t>，</a:t>
            </a:r>
            <a:r>
              <a:rPr lang="en-US" altLang="zh-CN" dirty="0">
                <a:solidFill>
                  <a:schemeClr val="accent2"/>
                </a:solidFill>
                <a:latin typeface="Times New Roman" panose="02020603050405020304" pitchFamily="18" charset="0"/>
                <a:ea typeface="宋体" panose="02010600030101010101" pitchFamily="2" charset="-122"/>
              </a:rPr>
              <a:t>@A+PC	</a:t>
            </a:r>
            <a:r>
              <a:rPr lang="zh-CN" altLang="en-US" dirty="0">
                <a:solidFill>
                  <a:schemeClr val="accent2"/>
                </a:solidFill>
                <a:latin typeface="Times New Roman" panose="02020603050405020304" pitchFamily="18" charset="0"/>
                <a:ea typeface="宋体" panose="02010600030101010101" pitchFamily="2" charset="-122"/>
              </a:rPr>
              <a:t>；机器码</a:t>
            </a:r>
            <a:r>
              <a:rPr lang="en-US" altLang="zh-CN" dirty="0">
                <a:solidFill>
                  <a:schemeClr val="accent2"/>
                </a:solidFill>
                <a:latin typeface="Times New Roman" panose="02020603050405020304" pitchFamily="18" charset="0"/>
                <a:ea typeface="宋体" panose="02010600030101010101" pitchFamily="2" charset="-122"/>
              </a:rPr>
              <a:t>83H</a:t>
            </a:r>
          </a:p>
        </p:txBody>
      </p:sp>
      <p:sp>
        <p:nvSpPr>
          <p:cNvPr id="77829" name="Text Box 1029"/>
          <p:cNvSpPr txBox="1"/>
          <p:nvPr/>
        </p:nvSpPr>
        <p:spPr>
          <a:xfrm>
            <a:off x="396875" y="1628775"/>
            <a:ext cx="7921625" cy="639763"/>
          </a:xfrm>
          <a:prstGeom prst="rect">
            <a:avLst/>
          </a:prstGeom>
          <a:noFill/>
          <a:ln w="9525">
            <a:noFill/>
          </a:ln>
        </p:spPr>
        <p:txBody>
          <a:bodyPr anchor="t" anchorCtr="0">
            <a:spAutoFit/>
          </a:bodyPr>
          <a:lstStyle/>
          <a:p>
            <a:pPr>
              <a:lnSpc>
                <a:spcPct val="150000"/>
              </a:lnSpc>
            </a:pPr>
            <a:r>
              <a:rPr lang="en-US" altLang="zh-CN" dirty="0">
                <a:latin typeface="Times New Roman" panose="02020603050405020304" pitchFamily="18" charset="0"/>
                <a:ea typeface="宋体" panose="02010600030101010101" pitchFamily="2" charset="-122"/>
              </a:rPr>
              <a:t>START:   MOV 	A</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；机器码为</a:t>
            </a:r>
            <a:r>
              <a:rPr lang="en-US" altLang="zh-CN" dirty="0">
                <a:latin typeface="Times New Roman" panose="02020603050405020304" pitchFamily="18" charset="0"/>
                <a:ea typeface="宋体" panose="02010600030101010101" pitchFamily="2" charset="-122"/>
              </a:rPr>
              <a:t>7405H</a:t>
            </a:r>
            <a:r>
              <a:rPr lang="en-US" altLang="zh-CN" dirty="0">
                <a:solidFill>
                  <a:schemeClr val="accent2"/>
                </a:solidFill>
                <a:latin typeface="Times New Roman" panose="02020603050405020304" pitchFamily="18" charset="0"/>
                <a:ea typeface="宋体" panose="02010600030101010101" pitchFamily="2" charset="-122"/>
              </a:rPr>
              <a:t>	      </a:t>
            </a:r>
          </a:p>
        </p:txBody>
      </p:sp>
      <p:sp>
        <p:nvSpPr>
          <p:cNvPr id="77831" name="Text Box 1031"/>
          <p:cNvSpPr txBox="1"/>
          <p:nvPr/>
        </p:nvSpPr>
        <p:spPr>
          <a:xfrm>
            <a:off x="323850" y="981075"/>
            <a:ext cx="7921625" cy="3378200"/>
          </a:xfrm>
          <a:prstGeom prst="rect">
            <a:avLst/>
          </a:prstGeom>
          <a:noFill/>
          <a:ln w="9525">
            <a:noFill/>
          </a:ln>
        </p:spPr>
        <p:txBody>
          <a:bodyPr anchor="t" anchorCtr="0">
            <a:spAutoFit/>
          </a:bodyPr>
          <a:lstStyle/>
          <a:p>
            <a:pPr>
              <a:lnSpc>
                <a:spcPct val="150000"/>
              </a:lnSpc>
            </a:pPr>
            <a:r>
              <a:rPr lang="en-US" altLang="zh-CN" dirty="0">
                <a:latin typeface="Times New Roman" panose="02020603050405020304" pitchFamily="18" charset="0"/>
                <a:ea typeface="宋体" panose="02010600030101010101" pitchFamily="2" charset="-122"/>
              </a:rPr>
              <a:t>	      ORG  0</a:t>
            </a:r>
          </a:p>
          <a:p>
            <a:pPr>
              <a:lnSpc>
                <a:spcPct val="150000"/>
              </a:lnSpc>
            </a:pPr>
            <a:endParaRPr lang="en-US" altLang="zh-CN" dirty="0">
              <a:latin typeface="Times New Roman" panose="02020603050405020304" pitchFamily="18" charset="0"/>
              <a:ea typeface="宋体" panose="02010600030101010101" pitchFamily="2" charset="-122"/>
            </a:endParaRPr>
          </a:p>
          <a:p>
            <a:pPr>
              <a:lnSpc>
                <a:spcPct val="150000"/>
              </a:lnSpc>
            </a:pPr>
            <a:endParaRPr lang="en-US" altLang="zh-CN" dirty="0">
              <a:latin typeface="Times New Roman" panose="02020603050405020304" pitchFamily="18" charset="0"/>
              <a:ea typeface="宋体" panose="02010600030101010101" pitchFamily="2" charset="-122"/>
            </a:endParaRPr>
          </a:p>
          <a:p>
            <a:pPr>
              <a:lnSpc>
                <a:spcPct val="150000"/>
              </a:lnSpc>
            </a:pPr>
            <a:endParaRPr lang="en-US" altLang="zh-CN" dirty="0">
              <a:latin typeface="Times New Roman" panose="02020603050405020304" pitchFamily="18" charset="0"/>
              <a:ea typeface="宋体" panose="02010600030101010101" pitchFamily="2" charset="-122"/>
            </a:endParaRPr>
          </a:p>
          <a:p>
            <a:pPr>
              <a:lnSpc>
                <a:spcPct val="150000"/>
              </a:lnSpc>
            </a:pPr>
            <a:endParaRPr lang="en-US" altLang="zh-CN" dirty="0">
              <a:latin typeface="Times New Roman" panose="02020603050405020304" pitchFamily="18" charset="0"/>
              <a:ea typeface="宋体" panose="02010600030101010101" pitchFamily="2" charset="-122"/>
            </a:endParaRPr>
          </a:p>
          <a:p>
            <a:pPr>
              <a:lnSpc>
                <a:spcPct val="150000"/>
              </a:lnSpc>
            </a:pPr>
            <a:r>
              <a:rPr lang="en-US" altLang="zh-CN" dirty="0">
                <a:latin typeface="Times New Roman" panose="02020603050405020304" pitchFamily="18" charset="0"/>
                <a:ea typeface="宋体" panose="02010600030101010101" pitchFamily="2" charset="-122"/>
              </a:rPr>
              <a:t>	      END</a:t>
            </a:r>
          </a:p>
        </p:txBody>
      </p:sp>
      <p:sp>
        <p:nvSpPr>
          <p:cNvPr id="77832" name="Text Box 1032"/>
          <p:cNvSpPr txBox="1"/>
          <p:nvPr/>
        </p:nvSpPr>
        <p:spPr>
          <a:xfrm>
            <a:off x="323850" y="2997200"/>
            <a:ext cx="7921625" cy="639763"/>
          </a:xfrm>
          <a:prstGeom prst="rect">
            <a:avLst/>
          </a:prstGeom>
          <a:noFill/>
          <a:ln w="9525">
            <a:noFill/>
          </a:ln>
        </p:spPr>
        <p:txBody>
          <a:bodyPr anchor="t" anchorCtr="0">
            <a:spAutoFit/>
          </a:bodyPr>
          <a:lstStyle/>
          <a:p>
            <a:pPr>
              <a:lnSpc>
                <a:spcPct val="150000"/>
              </a:lnSpc>
            </a:pPr>
            <a:r>
              <a:rPr lang="en-US" altLang="zh-CN" dirty="0">
                <a:latin typeface="Times New Roman" panose="02020603050405020304" pitchFamily="18" charset="0"/>
                <a:ea typeface="宋体" panose="02010600030101010101" pitchFamily="2" charset="-122"/>
              </a:rPr>
              <a:t>TABLE</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DB	 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9</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25</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36</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49</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64</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81	</a:t>
            </a:r>
          </a:p>
        </p:txBody>
      </p:sp>
      <p:graphicFrame>
        <p:nvGraphicFramePr>
          <p:cNvPr id="76809" name="Group 1210"/>
          <p:cNvGraphicFramePr>
            <a:graphicFrameLocks noGrp="1"/>
          </p:cNvGraphicFramePr>
          <p:nvPr/>
        </p:nvGraphicFramePr>
        <p:xfrm>
          <a:off x="5038725" y="122238"/>
          <a:ext cx="4105275" cy="6742120"/>
        </p:xfrm>
        <a:graphic>
          <a:graphicData uri="http://schemas.openxmlformats.org/drawingml/2006/table">
            <a:tbl>
              <a:tblPr/>
              <a:tblGrid>
                <a:gridCol w="1814513"/>
                <a:gridCol w="2290762"/>
              </a:tblGrid>
              <a:tr h="396851">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单元地址</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ROM</a:t>
                      </a: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中的内容</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r>
              <a:tr h="39623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r>
              <a:tr h="396851">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74H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r>
              <a:tr h="39623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05H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r>
              <a:tr h="396851">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83H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hlink"/>
                    </a:solidFill>
                  </a:tcPr>
                </a:tc>
              </a:tr>
              <a:tr h="396851">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03H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r>
              <a:tr h="39623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04H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r>
              <a:tr h="396851">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05H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r>
              <a:tr h="39623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06H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r>
              <a:tr h="396851">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07H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r>
              <a:tr h="396851">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08H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r>
              <a:tr h="39623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09H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24H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r>
              <a:tr h="396851">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31H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r>
              <a:tr h="39623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200BH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40H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r>
              <a:tr h="396851">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200CH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51H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r>
              <a:tr h="396851">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200DH</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r>
              <a:tr h="396230">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图</a:t>
                      </a:r>
                      <a:r>
                        <a:rPr kumimoji="1" lang="en-US" altLang="zh-CN" sz="2000" b="1" i="0" u="none" strike="noStrike" cap="none" normalizeH="0" baseline="0" smtClean="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4-10 </a:t>
                      </a:r>
                      <a:r>
                        <a:rPr kumimoji="1" lang="zh-CN" altLang="en-US" sz="2000" b="1" i="0" u="none" strike="noStrike" cap="none" normalizeH="0" baseline="0" smtClean="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数据存放示意图</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715" marB="4571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ECFF"/>
                    </a:solidFill>
                  </a:tcPr>
                </a:tc>
                <a:tc hMerge="1">
                  <a:txBody>
                    <a:bodyPr/>
                    <a:lstStyle/>
                    <a:p>
                      <a:endParaRPr lang="zh-CN"/>
                    </a:p>
                  </a:txBody>
                  <a:tcPr/>
                </a:tc>
              </a:tr>
            </a:tbl>
          </a:graphicData>
        </a:graphic>
      </p:graphicFrame>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74</a:t>
            </a:fld>
            <a:endParaRPr lang="en-US" altLang="zh-CN" sz="1400" b="0" dirty="0"/>
          </a:p>
        </p:txBody>
      </p:sp>
      <p:sp>
        <p:nvSpPr>
          <p:cNvPr id="241668" name="Text Box 4"/>
          <p:cNvSpPr txBox="1"/>
          <p:nvPr/>
        </p:nvSpPr>
        <p:spPr>
          <a:xfrm>
            <a:off x="395288" y="1341438"/>
            <a:ext cx="7921625" cy="3925887"/>
          </a:xfrm>
          <a:prstGeom prst="rect">
            <a:avLst/>
          </a:prstGeom>
          <a:noFill/>
          <a:ln w="9525">
            <a:noFill/>
          </a:ln>
        </p:spPr>
        <p:txBody>
          <a:bodyPr anchor="t" anchorCtr="0">
            <a:spAutoFit/>
          </a:bodyPr>
          <a:lstStyle/>
          <a:p>
            <a:pPr>
              <a:lnSpc>
                <a:spcPct val="150000"/>
              </a:lnSpc>
            </a:pPr>
            <a:r>
              <a:rPr lang="en-US" altLang="zh-CN" dirty="0">
                <a:latin typeface="Times New Roman" panose="02020603050405020304" pitchFamily="18" charset="0"/>
                <a:ea typeface="宋体" panose="02010600030101010101" pitchFamily="2" charset="-122"/>
              </a:rPr>
              <a:t>	      ORG  0</a:t>
            </a:r>
          </a:p>
          <a:p>
            <a:pPr>
              <a:lnSpc>
                <a:spcPct val="150000"/>
              </a:lnSpc>
            </a:pPr>
            <a:r>
              <a:rPr lang="en-US" altLang="zh-CN" dirty="0">
                <a:solidFill>
                  <a:schemeClr val="accent2"/>
                </a:solidFill>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START:   MOV 	A</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；机器码为</a:t>
            </a:r>
            <a:r>
              <a:rPr lang="en-US" altLang="zh-CN" dirty="0">
                <a:latin typeface="Times New Roman" panose="02020603050405020304" pitchFamily="18" charset="0"/>
                <a:ea typeface="宋体" panose="02010600030101010101" pitchFamily="2" charset="-122"/>
              </a:rPr>
              <a:t>7405H</a:t>
            </a:r>
          </a:p>
          <a:p>
            <a:pPr>
              <a:lnSpc>
                <a:spcPct val="150000"/>
              </a:lnSpc>
            </a:pPr>
            <a:r>
              <a:rPr lang="en-US" altLang="zh-CN" dirty="0">
                <a:solidFill>
                  <a:schemeClr val="accent2"/>
                </a:solidFill>
                <a:latin typeface="Times New Roman" panose="02020603050405020304" pitchFamily="18" charset="0"/>
                <a:ea typeface="宋体" panose="02010600030101010101" pitchFamily="2" charset="-122"/>
              </a:rPr>
              <a:t>	   </a:t>
            </a:r>
          </a:p>
          <a:p>
            <a:pPr>
              <a:lnSpc>
                <a:spcPct val="150000"/>
              </a:lnSpc>
            </a:pPr>
            <a:r>
              <a:rPr lang="en-US" altLang="zh-CN" dirty="0">
                <a:solidFill>
                  <a:schemeClr val="accent2"/>
                </a:solidFill>
                <a:latin typeface="Times New Roman" panose="02020603050405020304" pitchFamily="18" charset="0"/>
                <a:ea typeface="宋体" panose="02010600030101010101" pitchFamily="2" charset="-122"/>
              </a:rPr>
              <a:t>	     MOVC	A</a:t>
            </a:r>
            <a:r>
              <a:rPr lang="zh-CN" altLang="en-US" dirty="0">
                <a:solidFill>
                  <a:schemeClr val="accent2"/>
                </a:solidFill>
                <a:latin typeface="Times New Roman" panose="02020603050405020304" pitchFamily="18" charset="0"/>
                <a:ea typeface="宋体" panose="02010600030101010101" pitchFamily="2" charset="-122"/>
              </a:rPr>
              <a:t>，</a:t>
            </a:r>
            <a:r>
              <a:rPr lang="en-US" altLang="zh-CN" dirty="0">
                <a:solidFill>
                  <a:schemeClr val="accent2"/>
                </a:solidFill>
                <a:latin typeface="Times New Roman" panose="02020603050405020304" pitchFamily="18" charset="0"/>
                <a:ea typeface="宋体" panose="02010600030101010101" pitchFamily="2" charset="-122"/>
              </a:rPr>
              <a:t>@A+PC	</a:t>
            </a:r>
            <a:r>
              <a:rPr lang="zh-CN" altLang="en-US" dirty="0">
                <a:solidFill>
                  <a:schemeClr val="accent2"/>
                </a:solidFill>
                <a:latin typeface="Times New Roman" panose="02020603050405020304" pitchFamily="18" charset="0"/>
                <a:ea typeface="宋体" panose="02010600030101010101" pitchFamily="2" charset="-122"/>
              </a:rPr>
              <a:t>；机器码</a:t>
            </a:r>
            <a:r>
              <a:rPr lang="en-US" altLang="zh-CN" dirty="0">
                <a:solidFill>
                  <a:schemeClr val="accent2"/>
                </a:solidFill>
                <a:latin typeface="Times New Roman" panose="02020603050405020304" pitchFamily="18" charset="0"/>
                <a:ea typeface="宋体" panose="02010600030101010101" pitchFamily="2" charset="-122"/>
              </a:rPr>
              <a:t>83H</a:t>
            </a:r>
          </a:p>
          <a:p>
            <a:pPr>
              <a:lnSpc>
                <a:spcPct val="150000"/>
              </a:lnSpc>
            </a:pPr>
            <a:r>
              <a:rPr lang="en-US" altLang="zh-CN" dirty="0">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NOP                                   </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1</a:t>
            </a:r>
            <a:r>
              <a:rPr lang="zh-CN" altLang="en-US" dirty="0">
                <a:solidFill>
                  <a:srgbClr val="FF0000"/>
                </a:solidFill>
                <a:latin typeface="Times New Roman" panose="02020603050405020304" pitchFamily="18" charset="0"/>
                <a:ea typeface="宋体" panose="02010600030101010101" pitchFamily="2" charset="-122"/>
              </a:rPr>
              <a:t>字节</a:t>
            </a:r>
          </a:p>
          <a:p>
            <a:pPr>
              <a:lnSpc>
                <a:spcPct val="150000"/>
              </a:lnSpc>
            </a:pPr>
            <a:r>
              <a:rPr lang="en-US" altLang="zh-CN" dirty="0">
                <a:latin typeface="Times New Roman" panose="02020603050405020304" pitchFamily="18" charset="0"/>
                <a:ea typeface="宋体" panose="02010600030101010101" pitchFamily="2" charset="-122"/>
              </a:rPr>
              <a:t>TABLE</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DB	 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9</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25</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36</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49</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64</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81</a:t>
            </a:r>
          </a:p>
          <a:p>
            <a:pPr>
              <a:lnSpc>
                <a:spcPct val="150000"/>
              </a:lnSpc>
            </a:pPr>
            <a:r>
              <a:rPr lang="en-US" altLang="zh-CN" dirty="0">
                <a:latin typeface="Times New Roman" panose="02020603050405020304" pitchFamily="18" charset="0"/>
                <a:ea typeface="宋体" panose="02010600030101010101" pitchFamily="2" charset="-122"/>
              </a:rPr>
              <a:t>	      END</a:t>
            </a:r>
          </a:p>
        </p:txBody>
      </p:sp>
      <p:sp>
        <p:nvSpPr>
          <p:cNvPr id="241669" name="Text Box 5"/>
          <p:cNvSpPr txBox="1"/>
          <p:nvPr/>
        </p:nvSpPr>
        <p:spPr>
          <a:xfrm>
            <a:off x="323850" y="2997200"/>
            <a:ext cx="7921625" cy="639763"/>
          </a:xfrm>
          <a:prstGeom prst="rect">
            <a:avLst/>
          </a:prstGeom>
          <a:noFill/>
          <a:ln w="9525">
            <a:noFill/>
          </a:ln>
        </p:spPr>
        <p:txBody>
          <a:bodyPr anchor="t" anchorCtr="0">
            <a:spAutoFit/>
          </a:bodyPr>
          <a:lstStyle/>
          <a:p>
            <a:pPr>
              <a:lnSpc>
                <a:spcPct val="150000"/>
              </a:lnSpc>
            </a:pPr>
            <a:r>
              <a:rPr lang="en-US" altLang="zh-CN" dirty="0">
                <a:latin typeface="Times New Roman" panose="02020603050405020304" pitchFamily="18" charset="0"/>
                <a:ea typeface="宋体" panose="02010600030101010101" pitchFamily="2" charset="-122"/>
              </a:rPr>
              <a:t>	</a:t>
            </a:r>
          </a:p>
        </p:txBody>
      </p:sp>
      <p:sp>
        <p:nvSpPr>
          <p:cNvPr id="241671" name="Text Box 7"/>
          <p:cNvSpPr txBox="1"/>
          <p:nvPr/>
        </p:nvSpPr>
        <p:spPr>
          <a:xfrm>
            <a:off x="539750" y="1557338"/>
            <a:ext cx="7921625" cy="639762"/>
          </a:xfrm>
          <a:prstGeom prst="rect">
            <a:avLst/>
          </a:prstGeom>
          <a:noFill/>
          <a:ln w="9525">
            <a:noFill/>
          </a:ln>
        </p:spPr>
        <p:txBody>
          <a:bodyPr anchor="t" anchorCtr="0">
            <a:spAutoFit/>
          </a:bodyPr>
          <a:lstStyle/>
          <a:p>
            <a:pPr>
              <a:lnSpc>
                <a:spcPct val="150000"/>
              </a:lnSpc>
            </a:pPr>
            <a:r>
              <a:rPr lang="en-US" altLang="zh-CN" dirty="0">
                <a:solidFill>
                  <a:schemeClr val="accent2"/>
                </a:solidFill>
                <a:latin typeface="Times New Roman" panose="02020603050405020304" pitchFamily="18" charset="0"/>
                <a:ea typeface="宋体" panose="02010600030101010101" pitchFamily="2" charset="-122"/>
              </a:rPr>
              <a:t>      </a:t>
            </a:r>
          </a:p>
        </p:txBody>
      </p:sp>
      <p:sp>
        <p:nvSpPr>
          <p:cNvPr id="241673" name="Text Box 9"/>
          <p:cNvSpPr txBox="1"/>
          <p:nvPr/>
        </p:nvSpPr>
        <p:spPr>
          <a:xfrm>
            <a:off x="323850" y="692150"/>
            <a:ext cx="6553200" cy="457200"/>
          </a:xfrm>
          <a:prstGeom prst="rect">
            <a:avLst/>
          </a:prstGeom>
          <a:noFill/>
          <a:ln w="9525">
            <a:noFill/>
          </a:ln>
        </p:spPr>
        <p:txBody>
          <a:bodyPr anchor="t" anchorCtr="0">
            <a:spAutoFit/>
          </a:bodyPr>
          <a:lstStyle/>
          <a:p>
            <a:pPr>
              <a:spcBef>
                <a:spcPct val="50000"/>
              </a:spcBef>
            </a:pPr>
            <a:r>
              <a:rPr lang="zh-CN" altLang="en-US" dirty="0">
                <a:latin typeface="Times New Roman" panose="02020603050405020304" pitchFamily="18" charset="0"/>
                <a:ea typeface="宋体" panose="02010600030101010101" pitchFamily="2" charset="-122"/>
              </a:rPr>
              <a:t>如果加一个</a:t>
            </a:r>
            <a:r>
              <a:rPr lang="en-US" altLang="zh-CN" dirty="0">
                <a:latin typeface="Times New Roman" panose="02020603050405020304" pitchFamily="18" charset="0"/>
                <a:ea typeface="宋体" panose="02010600030101010101" pitchFamily="2" charset="-122"/>
              </a:rPr>
              <a:t>NOP</a:t>
            </a:r>
            <a:r>
              <a:rPr lang="zh-CN" altLang="en-US" dirty="0">
                <a:latin typeface="Times New Roman" panose="02020603050405020304" pitchFamily="18" charset="0"/>
                <a:ea typeface="宋体" panose="02010600030101010101" pitchFamily="2" charset="-122"/>
              </a:rPr>
              <a:t>，程序该如何变化？</a:t>
            </a:r>
          </a:p>
        </p:txBody>
      </p:sp>
      <p:sp>
        <p:nvSpPr>
          <p:cNvPr id="241674" name="Text Box 10"/>
          <p:cNvSpPr txBox="1"/>
          <p:nvPr/>
        </p:nvSpPr>
        <p:spPr>
          <a:xfrm>
            <a:off x="1763713" y="2565400"/>
            <a:ext cx="3313112" cy="457200"/>
          </a:xfrm>
          <a:prstGeom prst="rect">
            <a:avLst/>
          </a:prstGeom>
          <a:solidFill>
            <a:schemeClr val="hlink"/>
          </a:solidFill>
          <a:ln w="9525">
            <a:noFill/>
          </a:ln>
        </p:spPr>
        <p:txBody>
          <a:bodyPr anchor="t" anchorCtr="0">
            <a:spAutoFit/>
          </a:bodyPr>
          <a:lstStyle/>
          <a:p>
            <a:pPr>
              <a:spcBef>
                <a:spcPct val="50000"/>
              </a:spcBef>
            </a:pPr>
            <a:r>
              <a:rPr lang="en-US" altLang="zh-CN" dirty="0">
                <a:latin typeface="Times New Roman" panose="02020603050405020304" pitchFamily="18" charset="0"/>
                <a:ea typeface="宋体" panose="02010600030101010101" pitchFamily="2" charset="-122"/>
              </a:rPr>
              <a:t>INC     A</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75</a:t>
            </a:fld>
            <a:endParaRPr lang="en-US" altLang="zh-CN" sz="1400" b="0" dirty="0"/>
          </a:p>
        </p:txBody>
      </p:sp>
      <p:sp>
        <p:nvSpPr>
          <p:cNvPr id="100354" name="Rectangle 2"/>
          <p:cNvSpPr/>
          <p:nvPr/>
        </p:nvSpPr>
        <p:spPr>
          <a:xfrm>
            <a:off x="228600" y="838200"/>
            <a:ext cx="8458200" cy="5276850"/>
          </a:xfrm>
          <a:prstGeom prst="rect">
            <a:avLst/>
          </a:prstGeom>
          <a:noFill/>
          <a:ln w="9525">
            <a:noFill/>
          </a:ln>
        </p:spPr>
        <p:txBody>
          <a:bodyPr anchor="t" anchorCtr="0">
            <a:spAutoFit/>
          </a:bodyPr>
          <a:lstStyle/>
          <a:p>
            <a:pPr indent="306705" algn="just"/>
            <a:r>
              <a:rPr lang="en-US" altLang="zh-CN" dirty="0">
                <a:solidFill>
                  <a:srgbClr val="FF0000"/>
                </a:solidFill>
                <a:latin typeface="Times New Roman" panose="02020603050405020304" pitchFamily="18" charset="0"/>
                <a:ea typeface="黑体" panose="02010609060101010101" pitchFamily="49" charset="-122"/>
              </a:rPr>
              <a:t>4</a:t>
            </a:r>
            <a:r>
              <a:rPr lang="zh-CN" altLang="en-US" dirty="0">
                <a:solidFill>
                  <a:srgbClr val="FF0000"/>
                </a:solidFill>
                <a:latin typeface="Times New Roman" panose="02020603050405020304" pitchFamily="18" charset="0"/>
                <a:ea typeface="黑体" panose="02010609060101010101" pitchFamily="49" charset="-122"/>
              </a:rPr>
              <a:t>）数据交换指令组</a:t>
            </a:r>
            <a:endParaRPr lang="zh-CN" altLang="en-US" b="0" dirty="0">
              <a:solidFill>
                <a:srgbClr val="FF0000"/>
              </a:solidFill>
              <a:latin typeface="Times New Roman" panose="02020603050405020304" pitchFamily="18" charset="0"/>
              <a:ea typeface="宋体" panose="02010600030101010101" pitchFamily="2" charset="-122"/>
            </a:endParaRPr>
          </a:p>
          <a:p>
            <a:pPr indent="306705" algn="just" eaLnBrk="0" hangingPunct="0"/>
            <a:r>
              <a:rPr lang="zh-CN" altLang="en-US" dirty="0">
                <a:solidFill>
                  <a:srgbClr val="FF0000"/>
                </a:solidFill>
                <a:latin typeface="Times New Roman" panose="02020603050405020304" pitchFamily="18" charset="0"/>
                <a:ea typeface="黑体" panose="02010609060101010101" pitchFamily="49" charset="-122"/>
              </a:rPr>
              <a:t> </a:t>
            </a:r>
            <a:endParaRPr lang="zh-CN" altLang="en-US" b="0" dirty="0">
              <a:solidFill>
                <a:srgbClr val="FF0000"/>
              </a:solidFill>
              <a:latin typeface="Times New Roman" panose="02020603050405020304" pitchFamily="18" charset="0"/>
              <a:ea typeface="宋体" panose="02010600030101010101" pitchFamily="2" charset="-122"/>
            </a:endParaRPr>
          </a:p>
          <a:p>
            <a:pPr indent="306705" algn="just" eaLnBrk="0" hangingPunct="0">
              <a:lnSpc>
                <a:spcPct val="140000"/>
              </a:lnSpc>
            </a:pPr>
            <a:r>
              <a:rPr lang="zh-CN" altLang="en-US" dirty="0">
                <a:latin typeface="Times New Roman" panose="02020603050405020304" pitchFamily="18" charset="0"/>
                <a:ea typeface="宋体" panose="02010600030101010101" pitchFamily="2" charset="-122"/>
              </a:rPr>
              <a:t>数据交换主要是在</a:t>
            </a:r>
            <a:r>
              <a:rPr lang="zh-CN" altLang="en-US" dirty="0">
                <a:solidFill>
                  <a:srgbClr val="0000FF"/>
                </a:solidFill>
                <a:latin typeface="Times New Roman" panose="02020603050405020304" pitchFamily="18" charset="0"/>
                <a:ea typeface="宋体" panose="02010600030101010101" pitchFamily="2" charset="-122"/>
              </a:rPr>
              <a:t>内部</a:t>
            </a:r>
            <a:r>
              <a:rPr lang="en-US" altLang="zh-CN" dirty="0">
                <a:solidFill>
                  <a:srgbClr val="0000FF"/>
                </a:solidFill>
                <a:latin typeface="Times New Roman" panose="02020603050405020304" pitchFamily="18" charset="0"/>
                <a:ea typeface="宋体" panose="02010600030101010101" pitchFamily="2" charset="-122"/>
              </a:rPr>
              <a:t>RAM</a:t>
            </a:r>
            <a:r>
              <a:rPr lang="zh-CN" altLang="en-US" dirty="0">
                <a:solidFill>
                  <a:srgbClr val="0000FF"/>
                </a:solidFill>
                <a:latin typeface="Times New Roman" panose="02020603050405020304" pitchFamily="18" charset="0"/>
                <a:ea typeface="宋体" panose="02010600030101010101" pitchFamily="2" charset="-122"/>
              </a:rPr>
              <a:t>单元</a:t>
            </a:r>
            <a:r>
              <a:rPr lang="zh-CN" altLang="en-US" dirty="0">
                <a:latin typeface="Times New Roman" panose="02020603050405020304" pitchFamily="18" charset="0"/>
                <a:ea typeface="宋体" panose="02010600030101010101" pitchFamily="2" charset="-122"/>
              </a:rPr>
              <a:t>与</a:t>
            </a:r>
            <a:r>
              <a:rPr lang="zh-CN" altLang="en-US" dirty="0">
                <a:solidFill>
                  <a:srgbClr val="0000FF"/>
                </a:solidFill>
                <a:latin typeface="Times New Roman" panose="02020603050405020304" pitchFamily="18" charset="0"/>
                <a:ea typeface="宋体" panose="02010600030101010101" pitchFamily="2" charset="-122"/>
              </a:rPr>
              <a:t>累加器</a:t>
            </a:r>
            <a:r>
              <a:rPr lang="en-US" altLang="zh-CN" dirty="0">
                <a:solidFill>
                  <a:srgbClr val="0000FF"/>
                </a:solidFill>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之间进行。</a:t>
            </a:r>
            <a:endParaRPr lang="zh-CN" altLang="en-US" b="0" dirty="0">
              <a:latin typeface="Times New Roman" panose="02020603050405020304" pitchFamily="18" charset="0"/>
              <a:ea typeface="宋体" panose="02010600030101010101" pitchFamily="2" charset="-122"/>
            </a:endParaRPr>
          </a:p>
          <a:p>
            <a:pPr indent="306705" algn="just" eaLnBrk="0" hangingPunct="0">
              <a:lnSpc>
                <a:spcPct val="140000"/>
              </a:lnSpc>
            </a:pPr>
            <a:r>
              <a:rPr lang="zh-CN" altLang="en-US" dirty="0">
                <a:latin typeface="Times New Roman" panose="02020603050405020304" pitchFamily="18" charset="0"/>
                <a:ea typeface="宋体" panose="02010600030101010101" pitchFamily="2" charset="-122"/>
              </a:rPr>
              <a:t>有</a:t>
            </a:r>
            <a:r>
              <a:rPr lang="zh-CN" altLang="en-US" dirty="0">
                <a:solidFill>
                  <a:srgbClr val="0000FF"/>
                </a:solidFill>
                <a:latin typeface="Times New Roman" panose="02020603050405020304" pitchFamily="18" charset="0"/>
                <a:ea typeface="宋体" panose="02010600030101010101" pitchFamily="2" charset="-122"/>
              </a:rPr>
              <a:t>整字节</a:t>
            </a:r>
            <a:r>
              <a:rPr lang="zh-CN" altLang="en-US" dirty="0">
                <a:latin typeface="Times New Roman" panose="02020603050405020304" pitchFamily="18" charset="0"/>
                <a:ea typeface="宋体" panose="02010600030101010101" pitchFamily="2" charset="-122"/>
              </a:rPr>
              <a:t>和</a:t>
            </a:r>
            <a:r>
              <a:rPr lang="zh-CN" altLang="en-US" dirty="0">
                <a:solidFill>
                  <a:srgbClr val="0000FF"/>
                </a:solidFill>
                <a:latin typeface="Times New Roman" panose="02020603050405020304" pitchFamily="18" charset="0"/>
                <a:ea typeface="宋体" panose="02010600030101010101" pitchFamily="2" charset="-122"/>
              </a:rPr>
              <a:t>半字节</a:t>
            </a:r>
            <a:r>
              <a:rPr lang="zh-CN" altLang="en-US" dirty="0">
                <a:latin typeface="Times New Roman" panose="02020603050405020304" pitchFamily="18" charset="0"/>
                <a:ea typeface="宋体" panose="02010600030101010101" pitchFamily="2" charset="-122"/>
              </a:rPr>
              <a:t>交换指令两种。</a:t>
            </a:r>
            <a:endParaRPr lang="zh-CN" altLang="en-US" b="0" dirty="0">
              <a:latin typeface="Times New Roman" panose="02020603050405020304" pitchFamily="18" charset="0"/>
              <a:ea typeface="宋体" panose="02010600030101010101" pitchFamily="2" charset="-122"/>
            </a:endParaRPr>
          </a:p>
          <a:p>
            <a:pPr indent="306705" algn="just" eaLnBrk="0" hangingPunct="0">
              <a:lnSpc>
                <a:spcPct val="140000"/>
              </a:lnSpc>
            </a:pPr>
            <a:endParaRPr lang="zh-CN" altLang="en-US" dirty="0">
              <a:solidFill>
                <a:srgbClr val="0000FF"/>
              </a:solidFill>
              <a:latin typeface="Times New Roman" panose="02020603050405020304" pitchFamily="18" charset="0"/>
              <a:ea typeface="宋体" panose="02010600030101010101" pitchFamily="2" charset="-122"/>
            </a:endParaRPr>
          </a:p>
          <a:p>
            <a:pPr indent="306705" algn="just" eaLnBrk="0" hangingPunct="0">
              <a:lnSpc>
                <a:spcPct val="140000"/>
              </a:lnSpc>
            </a:pP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1</a:t>
            </a:r>
            <a:r>
              <a:rPr lang="zh-CN" altLang="en-US" dirty="0">
                <a:solidFill>
                  <a:srgbClr val="0000FF"/>
                </a:solidFill>
                <a:latin typeface="Times New Roman" panose="02020603050405020304" pitchFamily="18" charset="0"/>
                <a:ea typeface="宋体" panose="02010600030101010101" pitchFamily="2" charset="-122"/>
              </a:rPr>
              <a:t>） 整字节交换指令</a:t>
            </a:r>
            <a:endParaRPr lang="zh-CN" altLang="en-US" b="0" dirty="0">
              <a:latin typeface="Times New Roman" panose="02020603050405020304" pitchFamily="18" charset="0"/>
              <a:ea typeface="宋体" panose="02010600030101010101" pitchFamily="2" charset="-122"/>
            </a:endParaRPr>
          </a:p>
          <a:p>
            <a:pPr indent="306705" algn="just" eaLnBrk="0" hangingPunct="0">
              <a:lnSpc>
                <a:spcPct val="140000"/>
              </a:lnSpc>
            </a:pPr>
            <a:r>
              <a:rPr lang="en-US" altLang="zh-CN" dirty="0">
                <a:latin typeface="Times New Roman" panose="02020603050405020304" pitchFamily="18" charset="0"/>
                <a:ea typeface="宋体" panose="02010600030101010101" pitchFamily="2" charset="-122"/>
              </a:rPr>
              <a:t>XCH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Rn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Rn</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306705" algn="just" eaLnBrk="0" hangingPunct="0">
              <a:lnSpc>
                <a:spcPct val="140000"/>
              </a:lnSpc>
            </a:pPr>
            <a:r>
              <a:rPr lang="en-US" altLang="zh-CN" dirty="0">
                <a:latin typeface="Times New Roman" panose="02020603050405020304" pitchFamily="18" charset="0"/>
                <a:ea typeface="宋体" panose="02010600030101010101" pitchFamily="2" charset="-122"/>
              </a:rPr>
              <a:t>XCH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306705" algn="just" eaLnBrk="0" hangingPunct="0">
              <a:lnSpc>
                <a:spcPct val="140000"/>
              </a:lnSpc>
            </a:pPr>
            <a:r>
              <a:rPr lang="en-US" altLang="zh-CN" dirty="0">
                <a:latin typeface="Times New Roman" panose="02020603050405020304" pitchFamily="18" charset="0"/>
                <a:ea typeface="宋体" panose="02010600030101010101" pitchFamily="2" charset="-122"/>
              </a:rPr>
              <a:t>XCH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@Ri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Ri</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306705" algn="just" eaLnBrk="0" hangingPunct="0">
              <a:lnSpc>
                <a:spcPct val="140000"/>
              </a:lnSpc>
            </a:pPr>
            <a:r>
              <a:rPr lang="zh-CN" altLang="en-US" dirty="0">
                <a:latin typeface="Times New Roman" panose="02020603050405020304" pitchFamily="18" charset="0"/>
                <a:ea typeface="宋体" panose="02010600030101010101" pitchFamily="2" charset="-122"/>
              </a:rPr>
              <a:t>	</a:t>
            </a:r>
            <a:endParaRPr lang="zh-CN" altLang="en-US" b="0" dirty="0">
              <a:latin typeface="Times New Roman" panose="02020603050405020304" pitchFamily="18" charset="0"/>
              <a:ea typeface="宋体" panose="02010600030101010101" pitchFamily="2" charset="-122"/>
            </a:endParaRPr>
          </a:p>
          <a:p>
            <a:pPr indent="306705" eaLnBrk="0" hangingPunct="0"/>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76</a:t>
            </a:fld>
            <a:endParaRPr lang="en-US" altLang="zh-CN" sz="1400" b="0" dirty="0"/>
          </a:p>
        </p:txBody>
      </p:sp>
      <p:sp>
        <p:nvSpPr>
          <p:cNvPr id="32770" name="Rectangle 2"/>
          <p:cNvSpPr/>
          <p:nvPr/>
        </p:nvSpPr>
        <p:spPr>
          <a:xfrm>
            <a:off x="152400" y="838200"/>
            <a:ext cx="8534400" cy="1990725"/>
          </a:xfrm>
          <a:prstGeom prst="rect">
            <a:avLst/>
          </a:prstGeom>
          <a:noFill/>
          <a:ln w="9525">
            <a:noFill/>
          </a:ln>
        </p:spPr>
        <p:txBody>
          <a:bodyPr anchor="t" anchorCtr="0">
            <a:spAutoFit/>
          </a:bodyPr>
          <a:lstStyle/>
          <a:p>
            <a:pPr indent="152400" algn="just">
              <a:lnSpc>
                <a:spcPct val="120000"/>
              </a:lnSpc>
            </a:pP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2</a:t>
            </a:r>
            <a:r>
              <a:rPr lang="zh-CN" altLang="en-US" dirty="0">
                <a:solidFill>
                  <a:srgbClr val="0000FF"/>
                </a:solidFill>
                <a:latin typeface="Times New Roman" panose="02020603050405020304" pitchFamily="18" charset="0"/>
                <a:ea typeface="宋体" panose="02010600030101010101" pitchFamily="2" charset="-122"/>
              </a:rPr>
              <a:t>）半字节交换指令：</a:t>
            </a:r>
            <a:endParaRPr lang="zh-CN" altLang="en-US" b="0" dirty="0">
              <a:latin typeface="Times New Roman" panose="02020603050405020304" pitchFamily="18" charset="0"/>
              <a:ea typeface="宋体" panose="02010600030101010101" pitchFamily="2" charset="-122"/>
            </a:endParaRPr>
          </a:p>
          <a:p>
            <a:pPr indent="152400" algn="just" eaLnBrk="0" hangingPunct="0">
              <a:lnSpc>
                <a:spcPct val="120000"/>
              </a:lnSpc>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XCHD		A</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@Ri   </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A</a:t>
            </a:r>
            <a:r>
              <a:rPr lang="zh-CN" altLang="en-US" dirty="0">
                <a:solidFill>
                  <a:srgbClr val="FF0000"/>
                </a:solidFill>
                <a:latin typeface="Times New Roman" panose="02020603050405020304" pitchFamily="18" charset="0"/>
                <a:ea typeface="宋体" panose="02010600030101010101" pitchFamily="2" charset="-122"/>
              </a:rPr>
              <a:t>）</a:t>
            </a:r>
            <a:r>
              <a:rPr lang="en-US" altLang="zh-CN" baseline="-30000" dirty="0">
                <a:solidFill>
                  <a:srgbClr val="FF0000"/>
                </a:solidFill>
                <a:latin typeface="Times New Roman" panose="02020603050405020304" pitchFamily="18" charset="0"/>
                <a:ea typeface="宋体" panose="02010600030101010101" pitchFamily="2" charset="-122"/>
              </a:rPr>
              <a:t>3~0</a:t>
            </a:r>
            <a:r>
              <a:rPr lang="en-US" altLang="zh-CN" dirty="0">
                <a:solidFill>
                  <a:srgbClr val="FF0000"/>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Ri</a:t>
            </a:r>
            <a:r>
              <a:rPr lang="zh-CN" altLang="en-US" dirty="0">
                <a:solidFill>
                  <a:srgbClr val="FF0000"/>
                </a:solidFill>
                <a:latin typeface="Times New Roman" panose="02020603050405020304" pitchFamily="18" charset="0"/>
                <a:ea typeface="宋体" panose="02010600030101010101" pitchFamily="2" charset="-122"/>
              </a:rPr>
              <a:t>））</a:t>
            </a:r>
            <a:r>
              <a:rPr lang="en-US" altLang="zh-CN" baseline="-30000" dirty="0">
                <a:solidFill>
                  <a:srgbClr val="FF0000"/>
                </a:solidFill>
                <a:latin typeface="Times New Roman" panose="02020603050405020304" pitchFamily="18" charset="0"/>
                <a:ea typeface="宋体" panose="02010600030101010101" pitchFamily="2" charset="-122"/>
              </a:rPr>
              <a:t>3~0</a:t>
            </a:r>
            <a:endParaRPr lang="en-US" altLang="zh-CN" b="0" dirty="0">
              <a:latin typeface="Times New Roman" panose="02020603050405020304" pitchFamily="18" charset="0"/>
              <a:ea typeface="宋体" panose="02010600030101010101" pitchFamily="2" charset="-122"/>
            </a:endParaRPr>
          </a:p>
          <a:p>
            <a:pPr indent="152400" algn="just" eaLnBrk="0" hangingPunct="0">
              <a:lnSpc>
                <a:spcPct val="120000"/>
              </a:lnSpc>
              <a:spcBef>
                <a:spcPct val="40000"/>
              </a:spcBef>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）累加器高低半字节交换指令：</a:t>
            </a:r>
            <a:endParaRPr lang="zh-CN" altLang="en-US" b="0" dirty="0">
              <a:latin typeface="Times New Roman" panose="02020603050405020304" pitchFamily="18" charset="0"/>
              <a:ea typeface="宋体" panose="02010600030101010101" pitchFamily="2" charset="-122"/>
            </a:endParaRPr>
          </a:p>
          <a:p>
            <a:pPr indent="152400" algn="just" eaLnBrk="0" hangingPunct="0">
              <a:lnSpc>
                <a:spcPct val="120000"/>
              </a:lnSpc>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SWAP  	A  	    </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A</a:t>
            </a:r>
            <a:r>
              <a:rPr lang="zh-CN" altLang="en-US" dirty="0">
                <a:solidFill>
                  <a:srgbClr val="FF0000"/>
                </a:solidFill>
                <a:latin typeface="Times New Roman" panose="02020603050405020304" pitchFamily="18" charset="0"/>
                <a:ea typeface="宋体" panose="02010600030101010101" pitchFamily="2" charset="-122"/>
              </a:rPr>
              <a:t>）</a:t>
            </a:r>
            <a:r>
              <a:rPr lang="en-US" altLang="zh-CN" baseline="-30000" dirty="0">
                <a:solidFill>
                  <a:srgbClr val="FF0000"/>
                </a:solidFill>
                <a:latin typeface="Times New Roman" panose="02020603050405020304" pitchFamily="18" charset="0"/>
                <a:ea typeface="宋体" panose="02010600030101010101" pitchFamily="2" charset="-122"/>
              </a:rPr>
              <a:t>3~0</a:t>
            </a:r>
            <a:r>
              <a:rPr lang="en-US" altLang="zh-CN" dirty="0">
                <a:solidFill>
                  <a:srgbClr val="FF0000"/>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A</a:t>
            </a:r>
            <a:r>
              <a:rPr lang="zh-CN" altLang="en-US" dirty="0">
                <a:solidFill>
                  <a:srgbClr val="FF0000"/>
                </a:solidFill>
                <a:latin typeface="Times New Roman" panose="02020603050405020304" pitchFamily="18" charset="0"/>
                <a:ea typeface="宋体" panose="02010600030101010101" pitchFamily="2" charset="-122"/>
              </a:rPr>
              <a:t>）</a:t>
            </a:r>
            <a:r>
              <a:rPr lang="en-US" altLang="zh-CN" baseline="-30000" dirty="0">
                <a:solidFill>
                  <a:srgbClr val="FF0000"/>
                </a:solidFill>
                <a:latin typeface="Times New Roman" panose="02020603050405020304" pitchFamily="18" charset="0"/>
                <a:ea typeface="宋体" panose="02010600030101010101" pitchFamily="2" charset="-122"/>
              </a:rPr>
              <a:t>7</a:t>
            </a:r>
            <a:r>
              <a:rPr lang="zh-CN" altLang="en-US" baseline="-30000" dirty="0">
                <a:solidFill>
                  <a:srgbClr val="FF0000"/>
                </a:solidFill>
                <a:latin typeface="Times New Roman" panose="02020603050405020304" pitchFamily="18" charset="0"/>
                <a:ea typeface="宋体" panose="02010600030101010101" pitchFamily="2" charset="-122"/>
              </a:rPr>
              <a:t>～</a:t>
            </a:r>
            <a:r>
              <a:rPr lang="en-US" altLang="zh-CN" baseline="-30000" dirty="0">
                <a:solidFill>
                  <a:srgbClr val="FF0000"/>
                </a:solidFill>
                <a:latin typeface="Times New Roman" panose="02020603050405020304" pitchFamily="18" charset="0"/>
                <a:ea typeface="宋体" panose="02010600030101010101" pitchFamily="2" charset="-122"/>
              </a:rPr>
              <a:t>4</a:t>
            </a:r>
            <a:r>
              <a:rPr lang="en-US" altLang="zh-CN" baseline="-30000" dirty="0">
                <a:latin typeface="Times New Roman" panose="02020603050405020304" pitchFamily="18" charset="0"/>
                <a:ea typeface="宋体" panose="02010600030101010101" pitchFamily="2" charset="-122"/>
              </a:rPr>
              <a:t>	</a:t>
            </a:r>
            <a:endParaRPr lang="en-US" altLang="zh-CN" b="0" dirty="0">
              <a:latin typeface="Times New Roman" panose="02020603050405020304" pitchFamily="18" charset="0"/>
              <a:ea typeface="宋体" panose="02010600030101010101" pitchFamily="2" charset="-122"/>
            </a:endParaRPr>
          </a:p>
        </p:txBody>
      </p:sp>
      <p:sp>
        <p:nvSpPr>
          <p:cNvPr id="32771" name="Rectangle 3"/>
          <p:cNvSpPr/>
          <p:nvPr/>
        </p:nvSpPr>
        <p:spPr>
          <a:xfrm>
            <a:off x="0" y="3141663"/>
            <a:ext cx="8534400" cy="1625600"/>
          </a:xfrm>
          <a:prstGeom prst="rect">
            <a:avLst/>
          </a:prstGeom>
          <a:noFill/>
          <a:ln w="9525">
            <a:noFill/>
          </a:ln>
        </p:spPr>
        <p:txBody>
          <a:bodyPr anchor="t" anchorCtr="0">
            <a:spAutoFit/>
          </a:bodyPr>
          <a:lstStyle/>
          <a:p>
            <a:pPr indent="152400" algn="just" eaLnBrk="0" hangingPunct="0">
              <a:lnSpc>
                <a:spcPct val="140000"/>
              </a:lnSpc>
            </a:pPr>
            <a:r>
              <a:rPr lang="zh-CN" altLang="en-US" dirty="0">
                <a:solidFill>
                  <a:srgbClr val="FF0000"/>
                </a:solidFill>
                <a:latin typeface="Times New Roman" panose="02020603050405020304" pitchFamily="18" charset="0"/>
                <a:ea typeface="宋体" panose="02010600030101010101" pitchFamily="2" charset="-122"/>
              </a:rPr>
              <a:t>例如：</a:t>
            </a:r>
            <a:r>
              <a:rPr lang="zh-CN" altLang="en-US" dirty="0">
                <a:latin typeface="Times New Roman" panose="02020603050405020304" pitchFamily="18" charset="0"/>
                <a:ea typeface="宋体" panose="02010600030101010101" pitchFamily="2" charset="-122"/>
              </a:rPr>
              <a:t>若（</a:t>
            </a:r>
            <a:r>
              <a:rPr lang="en-US" altLang="zh-CN" dirty="0">
                <a:latin typeface="Times New Roman" panose="02020603050405020304" pitchFamily="18" charset="0"/>
                <a:ea typeface="宋体" panose="02010600030101010101" pitchFamily="2" charset="-122"/>
              </a:rPr>
              <a:t>R0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5BH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5BH</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6 </a:t>
            </a:r>
            <a:r>
              <a:rPr lang="en-US" altLang="zh-CN" dirty="0">
                <a:solidFill>
                  <a:srgbClr val="0000FF"/>
                </a:solidFill>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0</a:t>
            </a:r>
            <a:r>
              <a:rPr lang="en-US" altLang="zh-CN" dirty="0">
                <a:solidFill>
                  <a:srgbClr val="0000FF"/>
                </a:solidFill>
                <a:latin typeface="Times New Roman" panose="02020603050405020304" pitchFamily="18" charset="0"/>
                <a:ea typeface="宋体" panose="02010600030101010101" pitchFamily="2" charset="-122"/>
              </a:rPr>
              <a:t> 0</a:t>
            </a:r>
            <a:r>
              <a:rPr lang="en-US" altLang="zh-CN" dirty="0">
                <a:latin typeface="Times New Roman" panose="02020603050405020304" pitchFamily="18" charset="0"/>
                <a:ea typeface="宋体" panose="02010600030101010101" pitchFamily="2" charset="-122"/>
              </a:rPr>
              <a:t>H</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152400" algn="just" eaLnBrk="0" hangingPunct="0">
              <a:lnSpc>
                <a:spcPct val="140000"/>
              </a:lnSpc>
            </a:pPr>
            <a:r>
              <a:rPr lang="zh-CN" altLang="en-US" dirty="0">
                <a:latin typeface="Times New Roman" panose="02020603050405020304" pitchFamily="18" charset="0"/>
                <a:ea typeface="宋体" panose="02010600030101010101" pitchFamily="2" charset="-122"/>
              </a:rPr>
              <a:t>	指令：      </a:t>
            </a:r>
            <a:r>
              <a:rPr lang="en-US" altLang="zh-CN" dirty="0">
                <a:latin typeface="Times New Roman" panose="02020603050405020304" pitchFamily="18" charset="0"/>
                <a:ea typeface="宋体" panose="02010600030101010101" pitchFamily="2" charset="-122"/>
              </a:rPr>
              <a:t>XCHD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@R0</a:t>
            </a:r>
            <a:endParaRPr lang="en-US" altLang="zh-CN" b="0" dirty="0">
              <a:latin typeface="Times New Roman" panose="02020603050405020304" pitchFamily="18" charset="0"/>
              <a:ea typeface="宋体" panose="02010600030101010101" pitchFamily="2" charset="-122"/>
            </a:endParaRPr>
          </a:p>
          <a:p>
            <a:pPr indent="152400" algn="just" eaLnBrk="0" hangingPunct="0">
              <a:lnSpc>
                <a:spcPct val="140000"/>
              </a:lnSpc>
            </a:pPr>
            <a:r>
              <a:rPr lang="en-US" altLang="zh-CN" dirty="0">
                <a:latin typeface="Times New Roman" panose="02020603050405020304" pitchFamily="18" charset="0"/>
                <a:ea typeface="宋体" panose="02010600030101010101" pitchFamily="2" charset="-122"/>
              </a:rPr>
              <a:t>	</a:t>
            </a:r>
            <a:endParaRPr lang="en-US" altLang="zh-CN" b="0" dirty="0">
              <a:latin typeface="Times New Roman" panose="02020603050405020304" pitchFamily="18" charset="0"/>
              <a:ea typeface="宋体" panose="02010600030101010101" pitchFamily="2" charset="-122"/>
            </a:endParaRPr>
          </a:p>
        </p:txBody>
      </p:sp>
      <p:sp>
        <p:nvSpPr>
          <p:cNvPr id="32772" name="Rectangle 4"/>
          <p:cNvSpPr/>
          <p:nvPr/>
        </p:nvSpPr>
        <p:spPr>
          <a:xfrm>
            <a:off x="827088" y="4797425"/>
            <a:ext cx="5594350" cy="530225"/>
          </a:xfrm>
          <a:prstGeom prst="rect">
            <a:avLst/>
          </a:prstGeom>
          <a:noFill/>
          <a:ln w="9525">
            <a:noFill/>
          </a:ln>
        </p:spPr>
        <p:txBody>
          <a:bodyPr wrap="none" anchor="t" anchorCtr="0">
            <a:spAutoFit/>
          </a:bodyPr>
          <a:lstStyle/>
          <a:p>
            <a:pPr eaLnBrk="0" hangingPunct="0">
              <a:lnSpc>
                <a:spcPct val="120000"/>
              </a:lnSpc>
            </a:pPr>
            <a:r>
              <a:rPr lang="zh-CN" altLang="en-US" dirty="0">
                <a:latin typeface="Times New Roman" panose="02020603050405020304" pitchFamily="18" charset="0"/>
                <a:ea typeface="宋体" panose="02010600030101010101" pitchFamily="2" charset="-122"/>
              </a:rPr>
              <a:t>结果：</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0DH</a:t>
            </a:r>
            <a:r>
              <a:rPr lang="zh-CN" altLang="en-US" dirty="0">
                <a:solidFill>
                  <a:srgbClr val="0000FF"/>
                </a:solidFill>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5BH</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60H</a:t>
            </a:r>
            <a:r>
              <a:rPr lang="zh-CN" altLang="en-US" dirty="0">
                <a:solidFill>
                  <a:srgbClr val="0000FF"/>
                </a:solidFill>
                <a:latin typeface="Times New Roman" panose="02020603050405020304" pitchFamily="18" charset="0"/>
                <a:ea typeface="宋体" panose="02010600030101010101" pitchFamily="2" charset="-122"/>
              </a:rPr>
              <a:t>。</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77</a:t>
            </a:fld>
            <a:endParaRPr lang="en-US" altLang="zh-CN" sz="1400" b="0" dirty="0"/>
          </a:p>
        </p:txBody>
      </p:sp>
      <p:sp>
        <p:nvSpPr>
          <p:cNvPr id="102402" name="Rectangle 2"/>
          <p:cNvSpPr/>
          <p:nvPr/>
        </p:nvSpPr>
        <p:spPr>
          <a:xfrm>
            <a:off x="152400" y="1447800"/>
            <a:ext cx="8458200" cy="4154170"/>
          </a:xfrm>
          <a:prstGeom prst="rect">
            <a:avLst/>
          </a:prstGeom>
          <a:noFill/>
          <a:ln w="9525">
            <a:noFill/>
          </a:ln>
        </p:spPr>
        <p:txBody>
          <a:bodyPr anchor="t" anchorCtr="0">
            <a:spAutoFit/>
          </a:bodyPr>
          <a:lstStyle/>
          <a:p>
            <a:pPr indent="306705" algn="just"/>
            <a:r>
              <a:rPr lang="en-US" altLang="zh-CN" dirty="0">
                <a:solidFill>
                  <a:srgbClr val="FF0000"/>
                </a:solidFill>
                <a:latin typeface="Times New Roman" panose="02020603050405020304" pitchFamily="18" charset="0"/>
                <a:ea typeface="黑体" panose="02010609060101010101" pitchFamily="49" charset="-122"/>
              </a:rPr>
              <a:t>5</a:t>
            </a:r>
            <a:r>
              <a:rPr lang="zh-CN" altLang="en-US" dirty="0">
                <a:solidFill>
                  <a:srgbClr val="FF0000"/>
                </a:solidFill>
                <a:latin typeface="Times New Roman" panose="02020603050405020304" pitchFamily="18" charset="0"/>
                <a:ea typeface="黑体" panose="02010609060101010101" pitchFamily="49" charset="-122"/>
              </a:rPr>
              <a:t>）堆栈操作指令组：</a:t>
            </a:r>
            <a:endParaRPr lang="zh-CN" altLang="en-US" b="0" dirty="0">
              <a:solidFill>
                <a:srgbClr val="FF0000"/>
              </a:solidFill>
              <a:latin typeface="Times New Roman" panose="02020603050405020304" pitchFamily="18" charset="0"/>
              <a:ea typeface="宋体" panose="02010600030101010101" pitchFamily="2" charset="-122"/>
            </a:endParaRPr>
          </a:p>
          <a:p>
            <a:pPr indent="306705" algn="just" eaLnBrk="0" hangingPunct="0"/>
            <a:endParaRPr lang="zh-CN" altLang="en-US" dirty="0">
              <a:latin typeface="Times New Roman" panose="02020603050405020304" pitchFamily="18" charset="0"/>
              <a:ea typeface="宋体" panose="02010600030101010101" pitchFamily="2" charset="-122"/>
            </a:endParaRPr>
          </a:p>
          <a:p>
            <a:pPr indent="306705" algn="just" eaLnBrk="0" hangingPunct="0"/>
            <a:r>
              <a:rPr lang="zh-CN" altLang="en-US" dirty="0">
                <a:latin typeface="Times New Roman" panose="02020603050405020304" pitchFamily="18" charset="0"/>
                <a:ea typeface="宋体" panose="02010600030101010101" pitchFamily="2" charset="-122"/>
              </a:rPr>
              <a:t>进栈、出栈两种操作。</a:t>
            </a:r>
            <a:endParaRPr lang="zh-CN" altLang="en-US" b="0" dirty="0">
              <a:latin typeface="Times New Roman" panose="02020603050405020304" pitchFamily="18" charset="0"/>
              <a:ea typeface="宋体" panose="02010600030101010101" pitchFamily="2" charset="-122"/>
            </a:endParaRPr>
          </a:p>
          <a:p>
            <a:pPr indent="306705" algn="just" eaLnBrk="0" hangingPunct="0"/>
            <a:r>
              <a:rPr lang="zh-CN" altLang="en-US" dirty="0">
                <a:latin typeface="Times New Roman" panose="02020603050405020304" pitchFamily="18" charset="0"/>
                <a:ea typeface="宋体" panose="02010600030101010101" pitchFamily="2" charset="-122"/>
              </a:rPr>
              <a:t> </a:t>
            </a:r>
            <a:endParaRPr lang="zh-CN" altLang="en-US" b="0" dirty="0">
              <a:latin typeface="Times New Roman" panose="02020603050405020304" pitchFamily="18" charset="0"/>
              <a:ea typeface="宋体" panose="02010600030101010101" pitchFamily="2" charset="-122"/>
            </a:endParaRPr>
          </a:p>
          <a:p>
            <a:pPr indent="306705" algn="just" eaLnBrk="0" hangingPunct="0"/>
            <a:r>
              <a:rPr lang="en-US" altLang="zh-CN" dirty="0">
                <a:latin typeface="Times New Roman" panose="02020603050405020304" pitchFamily="18" charset="0"/>
                <a:ea typeface="宋体" panose="02010600030101010101" pitchFamily="2" charset="-122"/>
              </a:rPr>
              <a:t>PUSH 	direct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SP←(SP)+1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endParaRPr lang="zh-CN" altLang="en-US" b="0" dirty="0">
              <a:latin typeface="Times New Roman" panose="02020603050405020304" pitchFamily="18" charset="0"/>
              <a:ea typeface="宋体" panose="02010600030101010101" pitchFamily="2" charset="-122"/>
            </a:endParaRPr>
          </a:p>
          <a:p>
            <a:pPr indent="306705" algn="just" eaLnBrk="0" hangingPunct="0"/>
            <a:endParaRPr lang="zh-CN" altLang="en-US" dirty="0">
              <a:latin typeface="Times New Roman" panose="02020603050405020304" pitchFamily="18" charset="0"/>
              <a:ea typeface="宋体" panose="02010600030101010101" pitchFamily="2" charset="-122"/>
            </a:endParaRPr>
          </a:p>
          <a:p>
            <a:pPr indent="306705" algn="just" eaLnBrk="0" hangingPunct="0"/>
            <a:r>
              <a:rPr lang="en-US" altLang="zh-CN" dirty="0">
                <a:latin typeface="Times New Roman" panose="02020603050405020304" pitchFamily="18" charset="0"/>
                <a:ea typeface="宋体" panose="02010600030101010101" pitchFamily="2" charset="-122"/>
              </a:rPr>
              <a:t>POP 	direct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a:p>
            <a:pPr indent="306705" algn="just" eaLnBrk="0" hangingPunct="0"/>
            <a:r>
              <a:rPr lang="en-US" altLang="zh-CN" dirty="0">
                <a:latin typeface="Times New Roman" panose="02020603050405020304" pitchFamily="18" charset="0"/>
                <a:ea typeface="宋体" panose="02010600030101010101" pitchFamily="2" charset="-122"/>
              </a:rPr>
              <a:t>	</a:t>
            </a:r>
            <a:endParaRPr lang="en-US" altLang="zh-CN" b="0" dirty="0">
              <a:latin typeface="Times New Roman" panose="02020603050405020304" pitchFamily="18" charset="0"/>
              <a:ea typeface="宋体" panose="02010600030101010101" pitchFamily="2" charset="-122"/>
            </a:endParaRPr>
          </a:p>
          <a:p>
            <a:pPr indent="306705" algn="just" eaLnBrk="0" hangingPunct="0"/>
            <a:r>
              <a:rPr lang="zh-CN" altLang="en-US" dirty="0">
                <a:latin typeface="Times New Roman" panose="02020603050405020304" pitchFamily="18" charset="0"/>
                <a:ea typeface="宋体" panose="02010600030101010101" pitchFamily="2" charset="-122"/>
              </a:rPr>
              <a:t>注意：</a:t>
            </a:r>
            <a:r>
              <a:rPr lang="zh-CN" altLang="en-US" dirty="0">
                <a:solidFill>
                  <a:schemeClr val="accent2"/>
                </a:solidFill>
                <a:latin typeface="Times New Roman" panose="02020603050405020304" pitchFamily="18" charset="0"/>
                <a:ea typeface="宋体" panose="02010600030101010101" pitchFamily="2" charset="-122"/>
              </a:rPr>
              <a:t>使用堆栈前，需设定</a:t>
            </a:r>
            <a:r>
              <a:rPr lang="en-US" altLang="zh-CN" dirty="0">
                <a:solidFill>
                  <a:schemeClr val="accent2"/>
                </a:solidFill>
                <a:latin typeface="Times New Roman" panose="02020603050405020304" pitchFamily="18" charset="0"/>
                <a:ea typeface="宋体" panose="02010600030101010101" pitchFamily="2" charset="-122"/>
              </a:rPr>
              <a:t>SP</a:t>
            </a:r>
            <a:r>
              <a:rPr lang="zh-CN" altLang="en-US" dirty="0">
                <a:solidFill>
                  <a:schemeClr val="accent2"/>
                </a:solidFill>
                <a:latin typeface="Times New Roman" panose="02020603050405020304" pitchFamily="18" charset="0"/>
                <a:ea typeface="宋体" panose="02010600030101010101" pitchFamily="2" charset="-122"/>
              </a:rPr>
              <a:t>的初始值。</a:t>
            </a:r>
            <a:endParaRPr lang="zh-CN" altLang="en-US" b="0" dirty="0">
              <a:solidFill>
                <a:schemeClr val="accent2"/>
              </a:solidFill>
              <a:latin typeface="Times New Roman" panose="02020603050405020304" pitchFamily="18" charset="0"/>
              <a:ea typeface="宋体" panose="02010600030101010101" pitchFamily="2" charset="-122"/>
            </a:endParaRPr>
          </a:p>
          <a:p>
            <a:pPr indent="306705" algn="just" eaLnBrk="0" hangingPunct="0"/>
            <a:r>
              <a:rPr lang="zh-CN" altLang="en-US" dirty="0">
                <a:latin typeface="Times New Roman" panose="02020603050405020304" pitchFamily="18" charset="0"/>
                <a:ea typeface="宋体" panose="02010600030101010101" pitchFamily="2" charset="-122"/>
              </a:rPr>
              <a:t>	</a:t>
            </a:r>
            <a:endParaRPr lang="zh-CN" altLang="en-US" b="0" dirty="0">
              <a:latin typeface="Times New Roman" panose="02020603050405020304" pitchFamily="18" charset="0"/>
              <a:ea typeface="宋体" panose="02010600030101010101" pitchFamily="2" charset="-122"/>
            </a:endParaRPr>
          </a:p>
          <a:p>
            <a:pPr indent="306705" algn="just" eaLnBrk="0" hangingPunct="0"/>
            <a:r>
              <a:rPr lang="zh-CN" altLang="en-US" dirty="0">
                <a:latin typeface="Times New Roman" panose="02020603050405020304" pitchFamily="18" charset="0"/>
                <a:ea typeface="宋体" panose="02010600030101010101" pitchFamily="2" charset="-122"/>
              </a:rPr>
              <a:t>寻址方式： </a:t>
            </a:r>
            <a:r>
              <a:rPr lang="zh-CN" altLang="en-US" dirty="0">
                <a:solidFill>
                  <a:srgbClr val="FF0000"/>
                </a:solidFill>
                <a:latin typeface="Times New Roman" panose="02020603050405020304" pitchFamily="18" charset="0"/>
                <a:ea typeface="宋体" panose="02010600030101010101" pitchFamily="2" charset="-122"/>
              </a:rPr>
              <a:t>以</a:t>
            </a:r>
            <a:r>
              <a:rPr lang="en-US" altLang="zh-CN" dirty="0">
                <a:solidFill>
                  <a:srgbClr val="FF0000"/>
                </a:solidFill>
                <a:latin typeface="Times New Roman" panose="02020603050405020304" pitchFamily="18" charset="0"/>
                <a:ea typeface="宋体" panose="02010600030101010101" pitchFamily="2" charset="-122"/>
              </a:rPr>
              <a:t>SP</a:t>
            </a:r>
            <a:r>
              <a:rPr lang="zh-CN" altLang="en-US" dirty="0">
                <a:solidFill>
                  <a:srgbClr val="FF0000"/>
                </a:solidFill>
                <a:latin typeface="Times New Roman" panose="02020603050405020304" pitchFamily="18" charset="0"/>
                <a:ea typeface="宋体" panose="02010600030101010101" pitchFamily="2" charset="-122"/>
              </a:rPr>
              <a:t>为间址寄存器的间接寻址方式</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p:nvPr/>
        </p:nvSpPr>
        <p:spPr>
          <a:xfrm>
            <a:off x="0" y="620713"/>
            <a:ext cx="8763000" cy="1625600"/>
          </a:xfrm>
          <a:prstGeom prst="rect">
            <a:avLst/>
          </a:prstGeom>
          <a:noFill/>
          <a:ln w="9525">
            <a:noFill/>
          </a:ln>
        </p:spPr>
        <p:txBody>
          <a:bodyPr anchor="t" anchorCtr="0">
            <a:spAutoFit/>
          </a:bodyPr>
          <a:lstStyle/>
          <a:p>
            <a:pPr indent="266700" algn="just">
              <a:lnSpc>
                <a:spcPct val="140000"/>
              </a:lnSpc>
            </a:pP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已知片内</a:t>
            </a:r>
            <a:r>
              <a:rPr lang="en-US" altLang="zh-CN" dirty="0">
                <a:latin typeface="Times New Roman" panose="02020603050405020304" pitchFamily="18" charset="0"/>
                <a:ea typeface="宋体" panose="02010600030101010101" pitchFamily="2" charset="-122"/>
              </a:rPr>
              <a:t>RAM 40H</a:t>
            </a:r>
            <a:r>
              <a:rPr lang="zh-CN" altLang="en-US" dirty="0">
                <a:latin typeface="Times New Roman" panose="02020603050405020304" pitchFamily="18" charset="0"/>
                <a:ea typeface="宋体" panose="02010600030101010101" pitchFamily="2" charset="-122"/>
              </a:rPr>
              <a:t>单元中存放数据为</a:t>
            </a:r>
            <a:r>
              <a:rPr lang="en-US" altLang="zh-CN" dirty="0">
                <a:latin typeface="Times New Roman" panose="02020603050405020304" pitchFamily="18" charset="0"/>
                <a:ea typeface="宋体" panose="02010600030101010101" pitchFamily="2" charset="-122"/>
              </a:rPr>
              <a:t>80H</a:t>
            </a:r>
            <a:r>
              <a:rPr lang="zh-CN" altLang="en-US" dirty="0">
                <a:latin typeface="Times New Roman" panose="02020603050405020304" pitchFamily="18" charset="0"/>
                <a:ea typeface="宋体" panose="02010600030101010101" pitchFamily="2" charset="-122"/>
              </a:rPr>
              <a:t>，设堆栈指针为</a:t>
            </a:r>
            <a:r>
              <a:rPr lang="en-US" altLang="zh-CN" dirty="0">
                <a:latin typeface="Times New Roman" panose="02020603050405020304" pitchFamily="18" charset="0"/>
                <a:ea typeface="宋体" panose="02010600030101010101" pitchFamily="2" charset="-122"/>
              </a:rPr>
              <a:t>30H</a:t>
            </a:r>
            <a:r>
              <a:rPr lang="zh-CN" altLang="en-US" dirty="0">
                <a:latin typeface="Times New Roman" panose="02020603050405020304" pitchFamily="18" charset="0"/>
                <a:ea typeface="宋体" panose="02010600030101010101" pitchFamily="2" charset="-122"/>
              </a:rPr>
              <a:t>，把此数值压入堆栈，然后再弹出到</a:t>
            </a:r>
            <a:r>
              <a:rPr lang="en-US" altLang="zh-CN" dirty="0">
                <a:latin typeface="Times New Roman" panose="02020603050405020304" pitchFamily="18" charset="0"/>
                <a:ea typeface="宋体" panose="02010600030101010101" pitchFamily="2" charset="-122"/>
              </a:rPr>
              <a:t>41H</a:t>
            </a:r>
            <a:r>
              <a:rPr lang="zh-CN" altLang="en-US" dirty="0">
                <a:latin typeface="Times New Roman" panose="02020603050405020304" pitchFamily="18" charset="0"/>
                <a:ea typeface="宋体" panose="02010600030101010101" pitchFamily="2" charset="-122"/>
              </a:rPr>
              <a:t>单元中。</a:t>
            </a:r>
            <a:endParaRPr lang="zh-CN" altLang="en-US" b="0" dirty="0">
              <a:latin typeface="宋体" panose="02010600030101010101" pitchFamily="2" charset="-122"/>
              <a:ea typeface="宋体" panose="02010600030101010101" pitchFamily="2" charset="-122"/>
            </a:endParaRPr>
          </a:p>
          <a:p>
            <a:pPr indent="266700" algn="just" eaLnBrk="0" hangingPunct="0">
              <a:lnSpc>
                <a:spcPct val="140000"/>
              </a:lnSpc>
            </a:pPr>
            <a:endParaRPr lang="en-US" altLang="zh-CN" b="0" dirty="0">
              <a:latin typeface="Times New Roman" panose="02020603050405020304" pitchFamily="18" charset="0"/>
              <a:ea typeface="宋体" panose="02010600030101010101" pitchFamily="2" charset="-122"/>
            </a:endParaRPr>
          </a:p>
        </p:txBody>
      </p:sp>
      <p:sp>
        <p:nvSpPr>
          <p:cNvPr id="34819" name="Rectangle 3"/>
          <p:cNvSpPr/>
          <p:nvPr/>
        </p:nvSpPr>
        <p:spPr>
          <a:xfrm>
            <a:off x="107950" y="1773238"/>
            <a:ext cx="8763000" cy="1753235"/>
          </a:xfrm>
          <a:prstGeom prst="rect">
            <a:avLst/>
          </a:prstGeom>
          <a:noFill/>
          <a:ln w="9525">
            <a:noFill/>
          </a:ln>
        </p:spPr>
        <p:txBody>
          <a:bodyPr anchor="t" anchorCtr="0">
            <a:spAutoFit/>
          </a:bodyPr>
          <a:lstStyle/>
          <a:p>
            <a:pPr indent="266700" algn="just" eaLnBrk="0" hangingPunct="0">
              <a:lnSpc>
                <a:spcPct val="150000"/>
              </a:lnSpc>
            </a:pPr>
            <a:r>
              <a:rPr lang="en-US" altLang="zh-CN" dirty="0">
                <a:latin typeface="Times New Roman" panose="02020603050405020304" pitchFamily="18" charset="0"/>
                <a:ea typeface="宋体" panose="02010600030101010101" pitchFamily="2" charset="-122"/>
              </a:rPr>
              <a:t>	MOV	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#30H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SP←30H</a:t>
            </a:r>
            <a:endParaRPr lang="en-US" altLang="zh-CN" b="0" dirty="0">
              <a:latin typeface="宋体" panose="02010600030101010101" pitchFamily="2" charset="-122"/>
              <a:ea typeface="宋体" panose="02010600030101010101" pitchFamily="2" charset="-122"/>
            </a:endParaRPr>
          </a:p>
          <a:p>
            <a:pPr indent="266700" algn="just" eaLnBrk="0" hangingPunct="0">
              <a:lnSpc>
                <a:spcPct val="150000"/>
              </a:lnSpc>
            </a:pPr>
            <a:r>
              <a:rPr lang="en-US" altLang="zh-CN" dirty="0">
                <a:latin typeface="Times New Roman" panose="02020603050405020304" pitchFamily="18" charset="0"/>
                <a:ea typeface="宋体" panose="02010600030101010101" pitchFamily="2" charset="-122"/>
              </a:rPr>
              <a:t>	</a:t>
            </a:r>
            <a:r>
              <a:rPr lang="en-US" altLang="zh-CN" dirty="0">
                <a:solidFill>
                  <a:srgbClr val="C00000"/>
                </a:solidFill>
                <a:latin typeface="Times New Roman" panose="02020603050405020304" pitchFamily="18" charset="0"/>
                <a:ea typeface="宋体" panose="02010600030101010101" pitchFamily="2" charset="-122"/>
              </a:rPr>
              <a:t>PUSH	40H		</a:t>
            </a:r>
            <a:r>
              <a:rPr lang="zh-CN" altLang="en-US" dirty="0">
                <a:solidFill>
                  <a:srgbClr val="C00000"/>
                </a:solidFill>
                <a:latin typeface="Times New Roman" panose="02020603050405020304" pitchFamily="18" charset="0"/>
                <a:ea typeface="宋体" panose="02010600030101010101" pitchFamily="2" charset="-122"/>
              </a:rPr>
              <a:t>；</a:t>
            </a:r>
            <a:r>
              <a:rPr lang="en-US" altLang="zh-CN" dirty="0">
                <a:solidFill>
                  <a:srgbClr val="C00000"/>
                </a:solidFill>
                <a:latin typeface="Times New Roman" panose="02020603050405020304" pitchFamily="18" charset="0"/>
                <a:ea typeface="宋体" panose="02010600030101010101" pitchFamily="2" charset="-122"/>
              </a:rPr>
              <a:t>SP←(SP)+1</a:t>
            </a:r>
            <a:r>
              <a:rPr lang="zh-CN" altLang="en-US" dirty="0">
                <a:solidFill>
                  <a:srgbClr val="C00000"/>
                </a:solidFill>
                <a:latin typeface="Times New Roman" panose="02020603050405020304" pitchFamily="18" charset="0"/>
                <a:ea typeface="宋体" panose="02010600030101010101" pitchFamily="2" charset="-122"/>
              </a:rPr>
              <a:t>，</a:t>
            </a:r>
            <a:r>
              <a:rPr lang="en-US" altLang="zh-CN" dirty="0">
                <a:solidFill>
                  <a:srgbClr val="C00000"/>
                </a:solidFill>
                <a:latin typeface="Times New Roman" panose="02020603050405020304" pitchFamily="18" charset="0"/>
                <a:ea typeface="宋体" panose="02010600030101010101" pitchFamily="2" charset="-122"/>
              </a:rPr>
              <a:t>   (31H)</a:t>
            </a:r>
            <a:r>
              <a:rPr lang="zh-CN" altLang="en-US" dirty="0">
                <a:solidFill>
                  <a:srgbClr val="C00000"/>
                </a:solidFill>
                <a:latin typeface="Times New Roman" panose="02020603050405020304" pitchFamily="18" charset="0"/>
                <a:ea typeface="宋体" panose="02010600030101010101" pitchFamily="2" charset="-122"/>
              </a:rPr>
              <a:t>←</a:t>
            </a:r>
            <a:r>
              <a:rPr lang="en-US" altLang="zh-CN" dirty="0">
                <a:solidFill>
                  <a:srgbClr val="C00000"/>
                </a:solidFill>
                <a:latin typeface="Times New Roman" panose="02020603050405020304" pitchFamily="18" charset="0"/>
                <a:ea typeface="宋体" panose="02010600030101010101" pitchFamily="2" charset="-122"/>
              </a:rPr>
              <a:t>(40H)</a:t>
            </a:r>
            <a:endParaRPr lang="zh-CN" altLang="en-US" b="0" dirty="0">
              <a:solidFill>
                <a:srgbClr val="C00000"/>
              </a:solidFill>
              <a:latin typeface="宋体" panose="02010600030101010101" pitchFamily="2" charset="-122"/>
              <a:ea typeface="宋体" panose="02010600030101010101" pitchFamily="2" charset="-122"/>
            </a:endParaRPr>
          </a:p>
          <a:p>
            <a:pPr indent="266700" algn="just" eaLnBrk="0" hangingPunct="0">
              <a:lnSpc>
                <a:spcPct val="150000"/>
              </a:lnSpc>
            </a:pPr>
            <a:r>
              <a:rPr lang="zh-CN" altLang="en-US" dirty="0">
                <a:solidFill>
                  <a:srgbClr val="002060"/>
                </a:solidFill>
                <a:latin typeface="Times New Roman" panose="02020603050405020304" pitchFamily="18" charset="0"/>
                <a:ea typeface="宋体" panose="02010600030101010101" pitchFamily="2" charset="-122"/>
              </a:rPr>
              <a:t>         </a:t>
            </a:r>
            <a:r>
              <a:rPr lang="en-US" altLang="zh-CN" dirty="0">
                <a:solidFill>
                  <a:srgbClr val="002060"/>
                </a:solidFill>
                <a:latin typeface="Times New Roman" panose="02020603050405020304" pitchFamily="18" charset="0"/>
                <a:ea typeface="宋体" panose="02010600030101010101" pitchFamily="2" charset="-122"/>
              </a:rPr>
              <a:t>POP	41H	            </a:t>
            </a:r>
            <a:r>
              <a:rPr lang="zh-CN" altLang="en-US" dirty="0">
                <a:solidFill>
                  <a:srgbClr val="002060"/>
                </a:solidFill>
                <a:latin typeface="Times New Roman" panose="02020603050405020304" pitchFamily="18" charset="0"/>
                <a:ea typeface="宋体" panose="02010600030101010101" pitchFamily="2" charset="-122"/>
              </a:rPr>
              <a:t>；</a:t>
            </a:r>
            <a:r>
              <a:rPr lang="en-US" altLang="zh-CN" dirty="0">
                <a:solidFill>
                  <a:srgbClr val="002060"/>
                </a:solidFill>
                <a:latin typeface="Times New Roman" panose="02020603050405020304" pitchFamily="18" charset="0"/>
                <a:ea typeface="宋体" panose="02010600030101010101" pitchFamily="2" charset="-122"/>
              </a:rPr>
              <a:t>41H←(31H)</a:t>
            </a:r>
            <a:r>
              <a:rPr lang="zh-CN" altLang="en-US" dirty="0">
                <a:solidFill>
                  <a:srgbClr val="002060"/>
                </a:solidFill>
                <a:latin typeface="Times New Roman" panose="02020603050405020304" pitchFamily="18" charset="0"/>
                <a:ea typeface="宋体" panose="02010600030101010101" pitchFamily="2" charset="-122"/>
              </a:rPr>
              <a:t>），</a:t>
            </a:r>
            <a:r>
              <a:rPr lang="en-US" altLang="zh-CN" dirty="0">
                <a:solidFill>
                  <a:srgbClr val="002060"/>
                </a:solidFill>
                <a:latin typeface="Times New Roman" panose="02020603050405020304" pitchFamily="18" charset="0"/>
                <a:ea typeface="宋体" panose="02010600030101010101" pitchFamily="2" charset="-122"/>
              </a:rPr>
              <a:t>(SP)←(SP)-1</a:t>
            </a:r>
            <a:r>
              <a:rPr lang="en-US" altLang="zh-CN" dirty="0">
                <a:latin typeface="Courier New" panose="02070309020205020404" pitchFamily="49" charset="0"/>
                <a:ea typeface="宋体" panose="02010600030101010101" pitchFamily="2" charset="-122"/>
              </a:rPr>
              <a:t> </a:t>
            </a:r>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79</a:t>
            </a:fld>
            <a:endParaRPr lang="en-US" altLang="zh-CN" sz="1400" b="0" dirty="0"/>
          </a:p>
        </p:txBody>
      </p:sp>
      <p:sp>
        <p:nvSpPr>
          <p:cNvPr id="37890" name="Rectangle 2"/>
          <p:cNvSpPr>
            <a:spLocks noGrp="1"/>
          </p:cNvSpPr>
          <p:nvPr>
            <p:ph type="title" idx="4294967295"/>
          </p:nvPr>
        </p:nvSpPr>
        <p:spPr>
          <a:xfrm>
            <a:off x="0" y="693738"/>
            <a:ext cx="5832475" cy="2374900"/>
          </a:xfrm>
          <a:prstGeom prst="rect">
            <a:avLst/>
          </a:prstGeom>
          <a:noFill/>
          <a:ln w="9525">
            <a:noFill/>
          </a:ln>
        </p:spPr>
        <p:txBody>
          <a:bodyPr anchor="t" anchorCtr="0">
            <a:normAutofit fontScale="90000"/>
          </a:bodyPr>
          <a:lstStyle/>
          <a:p>
            <a:pPr algn="l" eaLnBrk="1" hangingPunct="1"/>
            <a:r>
              <a:rPr lang="zh-CN" altLang="en-US" sz="2400" b="1" dirty="0"/>
              <a:t>堆栈操作应</a:t>
            </a:r>
            <a:r>
              <a:rPr lang="zh-CN" altLang="en-US" sz="2400" b="1" dirty="0">
                <a:solidFill>
                  <a:srgbClr val="FF0000"/>
                </a:solidFill>
              </a:rPr>
              <a:t>遵循“先进后出”的原则</a:t>
            </a:r>
            <a:r>
              <a:rPr lang="zh-CN" altLang="en-US" sz="2400" b="1" dirty="0"/>
              <a:t>。</a:t>
            </a:r>
            <a:br>
              <a:rPr lang="zh-CN" altLang="en-US" sz="2400" b="1" dirty="0"/>
            </a:br>
            <a:r>
              <a:rPr lang="zh-CN" altLang="en-US" sz="2400" b="1" dirty="0"/>
              <a:t>例如：	</a:t>
            </a:r>
            <a:r>
              <a:rPr lang="en-US" altLang="zh-CN" sz="2400" b="1" dirty="0"/>
              <a:t>PUSH		A</a:t>
            </a:r>
            <a:r>
              <a:rPr lang="en-US" altLang="zh-CN" sz="2400" b="1" dirty="0">
                <a:latin typeface="宋体" panose="02010600030101010101" pitchFamily="2" charset="-122"/>
              </a:rPr>
              <a:t/>
            </a:r>
            <a:br>
              <a:rPr lang="en-US" altLang="zh-CN" sz="2400" b="1" dirty="0">
                <a:latin typeface="宋体" panose="02010600030101010101" pitchFamily="2" charset="-122"/>
              </a:rPr>
            </a:br>
            <a:r>
              <a:rPr lang="en-US" altLang="zh-CN" sz="2400" b="1" dirty="0"/>
              <a:t>		PUSH		PSW</a:t>
            </a:r>
            <a:r>
              <a:rPr lang="en-US" altLang="zh-CN" sz="2400" b="1" dirty="0">
                <a:latin typeface="宋体" panose="02010600030101010101" pitchFamily="2" charset="-122"/>
              </a:rPr>
              <a:t/>
            </a:r>
            <a:br>
              <a:rPr lang="en-US" altLang="zh-CN" sz="2400" b="1" dirty="0">
                <a:latin typeface="宋体" panose="02010600030101010101" pitchFamily="2" charset="-122"/>
              </a:rPr>
            </a:br>
            <a:r>
              <a:rPr lang="en-US" altLang="zh-CN" sz="2400" b="1" dirty="0"/>
              <a:t>			   ┇</a:t>
            </a:r>
            <a:r>
              <a:rPr lang="en-US" altLang="zh-CN" sz="2400" b="1" dirty="0">
                <a:latin typeface="宋体" panose="02010600030101010101" pitchFamily="2" charset="-122"/>
              </a:rPr>
              <a:t/>
            </a:r>
            <a:br>
              <a:rPr lang="en-US" altLang="zh-CN" sz="2400" b="1" dirty="0">
                <a:latin typeface="宋体" panose="02010600030101010101" pitchFamily="2" charset="-122"/>
              </a:rPr>
            </a:br>
            <a:r>
              <a:rPr lang="en-US" altLang="zh-CN" sz="2400" b="1" dirty="0"/>
              <a:t>		POP		PSW</a:t>
            </a:r>
            <a:r>
              <a:rPr lang="en-US" altLang="zh-CN" sz="2400" b="1" dirty="0">
                <a:latin typeface="宋体" panose="02010600030101010101" pitchFamily="2" charset="-122"/>
              </a:rPr>
              <a:t/>
            </a:r>
            <a:br>
              <a:rPr lang="en-US" altLang="zh-CN" sz="2400" b="1" dirty="0">
                <a:latin typeface="宋体" panose="02010600030101010101" pitchFamily="2" charset="-122"/>
              </a:rPr>
            </a:br>
            <a:r>
              <a:rPr lang="en-US" altLang="zh-CN" sz="2400" b="1" dirty="0"/>
              <a:t>		POP		A</a:t>
            </a:r>
            <a:r>
              <a:rPr lang="en-US" altLang="zh-CN" sz="2400" b="1" dirty="0">
                <a:latin typeface="宋体" panose="02010600030101010101" pitchFamily="2" charset="-122"/>
              </a:rPr>
              <a:t/>
            </a:r>
            <a:br>
              <a:rPr lang="en-US" altLang="zh-CN" sz="2400" b="1" dirty="0">
                <a:latin typeface="宋体" panose="02010600030101010101" pitchFamily="2" charset="-122"/>
              </a:rPr>
            </a:br>
            <a:endParaRPr lang="en-US" altLang="zh-CN" sz="2400" b="1" dirty="0"/>
          </a:p>
        </p:txBody>
      </p:sp>
      <p:sp>
        <p:nvSpPr>
          <p:cNvPr id="37891" name="Rectangle 3"/>
          <p:cNvSpPr/>
          <p:nvPr/>
        </p:nvSpPr>
        <p:spPr>
          <a:xfrm>
            <a:off x="611188" y="2997200"/>
            <a:ext cx="5510212" cy="2809875"/>
          </a:xfrm>
          <a:prstGeom prst="rect">
            <a:avLst/>
          </a:prstGeom>
          <a:noFill/>
          <a:ln w="9525">
            <a:noFill/>
          </a:ln>
        </p:spPr>
        <p:txBody>
          <a:bodyPr anchor="t" anchorCtr="0"/>
          <a:lstStyle/>
          <a:p>
            <a:r>
              <a:rPr lang="zh-CN" altLang="en-US" dirty="0">
                <a:solidFill>
                  <a:schemeClr val="tx2"/>
                </a:solidFill>
                <a:latin typeface="宋体" panose="02010600030101010101" pitchFamily="2" charset="-122"/>
                <a:ea typeface="宋体" panose="02010600030101010101" pitchFamily="2" charset="-122"/>
              </a:rPr>
              <a:t>若</a:t>
            </a:r>
            <a:r>
              <a:rPr lang="zh-CN" altLang="en-US" dirty="0">
                <a:solidFill>
                  <a:schemeClr val="tx2"/>
                </a:solidFill>
                <a:latin typeface="Times New Roman" panose="02020603050405020304" pitchFamily="18" charset="0"/>
                <a:ea typeface="宋体" panose="02010600030101010101" pitchFamily="2" charset="-122"/>
              </a:rPr>
              <a:t>改为：</a:t>
            </a:r>
            <a:r>
              <a:rPr lang="zh-CN" altLang="en-US" dirty="0">
                <a:solidFill>
                  <a:schemeClr val="tx2"/>
                </a:solidFill>
                <a:latin typeface="宋体" panose="02010600030101010101" pitchFamily="2" charset="-122"/>
                <a:ea typeface="宋体" panose="02010600030101010101" pitchFamily="2" charset="-122"/>
              </a:rPr>
              <a:t/>
            </a:r>
            <a:br>
              <a:rPr lang="zh-CN" altLang="en-US" dirty="0">
                <a:solidFill>
                  <a:schemeClr val="tx2"/>
                </a:solidFill>
                <a:latin typeface="宋体" panose="02010600030101010101" pitchFamily="2" charset="-122"/>
                <a:ea typeface="宋体" panose="02010600030101010101" pitchFamily="2" charset="-122"/>
              </a:rPr>
            </a:br>
            <a:r>
              <a:rPr lang="zh-CN" altLang="en-US" dirty="0">
                <a:solidFill>
                  <a:schemeClr val="tx2"/>
                </a:solidFill>
                <a:latin typeface="宋体" panose="02010600030101010101" pitchFamily="2" charset="-122"/>
                <a:ea typeface="宋体" panose="02010600030101010101" pitchFamily="2" charset="-122"/>
              </a:rPr>
              <a:t>		</a:t>
            </a:r>
            <a:r>
              <a:rPr lang="en-US" altLang="zh-CN" dirty="0">
                <a:solidFill>
                  <a:schemeClr val="tx2"/>
                </a:solidFill>
                <a:latin typeface="Times New Roman" panose="02020603050405020304" pitchFamily="18" charset="0"/>
                <a:ea typeface="宋体" panose="02010600030101010101" pitchFamily="2" charset="-122"/>
              </a:rPr>
              <a:t>PUSH		A</a:t>
            </a:r>
            <a:r>
              <a:rPr lang="en-US" altLang="zh-CN" dirty="0">
                <a:solidFill>
                  <a:schemeClr val="tx2"/>
                </a:solidFill>
                <a:latin typeface="宋体" panose="02010600030101010101" pitchFamily="2" charset="-122"/>
                <a:ea typeface="宋体" panose="02010600030101010101" pitchFamily="2" charset="-122"/>
              </a:rPr>
              <a:t/>
            </a:r>
            <a:br>
              <a:rPr lang="en-US" altLang="zh-CN" dirty="0">
                <a:solidFill>
                  <a:schemeClr val="tx2"/>
                </a:solidFill>
                <a:latin typeface="宋体" panose="02010600030101010101" pitchFamily="2" charset="-122"/>
                <a:ea typeface="宋体" panose="02010600030101010101" pitchFamily="2" charset="-122"/>
              </a:rPr>
            </a:br>
            <a:r>
              <a:rPr lang="en-US" altLang="zh-CN" dirty="0">
                <a:solidFill>
                  <a:schemeClr val="tx2"/>
                </a:solidFill>
                <a:latin typeface="Times New Roman" panose="02020603050405020304" pitchFamily="18" charset="0"/>
                <a:ea typeface="宋体" panose="02010600030101010101" pitchFamily="2" charset="-122"/>
              </a:rPr>
              <a:t>		PUSH		PSW</a:t>
            </a:r>
            <a:r>
              <a:rPr lang="en-US" altLang="zh-CN" dirty="0">
                <a:solidFill>
                  <a:schemeClr val="tx2"/>
                </a:solidFill>
                <a:latin typeface="宋体" panose="02010600030101010101" pitchFamily="2" charset="-122"/>
                <a:ea typeface="宋体" panose="02010600030101010101" pitchFamily="2" charset="-122"/>
              </a:rPr>
              <a:t/>
            </a:r>
            <a:br>
              <a:rPr lang="en-US" altLang="zh-CN" dirty="0">
                <a:solidFill>
                  <a:schemeClr val="tx2"/>
                </a:solidFill>
                <a:latin typeface="宋体" panose="02010600030101010101" pitchFamily="2" charset="-122"/>
                <a:ea typeface="宋体" panose="02010600030101010101" pitchFamily="2" charset="-122"/>
              </a:rPr>
            </a:br>
            <a:r>
              <a:rPr lang="en-US" altLang="zh-CN" dirty="0">
                <a:solidFill>
                  <a:schemeClr val="tx2"/>
                </a:solidFill>
                <a:latin typeface="Times New Roman" panose="02020603050405020304" pitchFamily="18" charset="0"/>
                <a:ea typeface="宋体" panose="02010600030101010101" pitchFamily="2" charset="-122"/>
              </a:rPr>
              <a:t>			┇</a:t>
            </a:r>
            <a:r>
              <a:rPr lang="en-US" altLang="zh-CN" dirty="0">
                <a:solidFill>
                  <a:schemeClr val="tx2"/>
                </a:solidFill>
                <a:latin typeface="宋体" panose="02010600030101010101" pitchFamily="2" charset="-122"/>
                <a:ea typeface="宋体" panose="02010600030101010101" pitchFamily="2" charset="-122"/>
              </a:rPr>
              <a:t/>
            </a:r>
            <a:br>
              <a:rPr lang="en-US" altLang="zh-CN" dirty="0">
                <a:solidFill>
                  <a:schemeClr val="tx2"/>
                </a:solidFill>
                <a:latin typeface="宋体" panose="02010600030101010101" pitchFamily="2" charset="-122"/>
                <a:ea typeface="宋体" panose="02010600030101010101" pitchFamily="2" charset="-122"/>
              </a:rPr>
            </a:br>
            <a:r>
              <a:rPr lang="en-US" altLang="zh-CN" dirty="0">
                <a:solidFill>
                  <a:schemeClr val="tx2"/>
                </a:solidFill>
                <a:latin typeface="Times New Roman" panose="02020603050405020304" pitchFamily="18" charset="0"/>
                <a:ea typeface="宋体" panose="02010600030101010101" pitchFamily="2" charset="-122"/>
              </a:rPr>
              <a:t>		POP		A</a:t>
            </a:r>
            <a:r>
              <a:rPr lang="en-US" altLang="zh-CN" dirty="0">
                <a:solidFill>
                  <a:schemeClr val="tx2"/>
                </a:solidFill>
                <a:latin typeface="宋体" panose="02010600030101010101" pitchFamily="2" charset="-122"/>
                <a:ea typeface="宋体" panose="02010600030101010101" pitchFamily="2" charset="-122"/>
              </a:rPr>
              <a:t/>
            </a:r>
            <a:br>
              <a:rPr lang="en-US" altLang="zh-CN" dirty="0">
                <a:solidFill>
                  <a:schemeClr val="tx2"/>
                </a:solidFill>
                <a:latin typeface="宋体" panose="02010600030101010101" pitchFamily="2" charset="-122"/>
                <a:ea typeface="宋体" panose="02010600030101010101" pitchFamily="2" charset="-122"/>
              </a:rPr>
            </a:br>
            <a:r>
              <a:rPr lang="en-US" altLang="zh-CN" dirty="0">
                <a:solidFill>
                  <a:schemeClr val="tx2"/>
                </a:solidFill>
                <a:latin typeface="Times New Roman" panose="02020603050405020304" pitchFamily="18" charset="0"/>
                <a:ea typeface="宋体" panose="02010600030101010101" pitchFamily="2" charset="-122"/>
              </a:rPr>
              <a:t>		POP		PSW </a:t>
            </a:r>
            <a:r>
              <a:rPr lang="en-US" altLang="zh-CN" dirty="0">
                <a:solidFill>
                  <a:schemeClr val="tx2"/>
                </a:solidFill>
                <a:latin typeface="宋体" panose="02010600030101010101" pitchFamily="2" charset="-122"/>
                <a:ea typeface="宋体" panose="02010600030101010101" pitchFamily="2" charset="-122"/>
              </a:rPr>
              <a:t/>
            </a:r>
            <a:br>
              <a:rPr lang="en-US" altLang="zh-CN" dirty="0">
                <a:solidFill>
                  <a:schemeClr val="tx2"/>
                </a:solidFill>
                <a:latin typeface="宋体" panose="02010600030101010101" pitchFamily="2" charset="-122"/>
                <a:ea typeface="宋体" panose="02010600030101010101" pitchFamily="2" charset="-122"/>
              </a:rPr>
            </a:br>
            <a:r>
              <a:rPr lang="zh-CN" altLang="en-US" dirty="0">
                <a:solidFill>
                  <a:srgbClr val="FF0000"/>
                </a:solidFill>
                <a:latin typeface="宋体" panose="02010600030101010101" pitchFamily="2" charset="-122"/>
                <a:ea typeface="宋体" panose="02010600030101010101" pitchFamily="2" charset="-122"/>
              </a:rPr>
              <a:t>结果？</a:t>
            </a:r>
            <a:endParaRPr lang="zh-CN" altLang="en-US"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80</a:t>
            </a:fld>
            <a:endParaRPr lang="en-US" altLang="zh-CN" sz="1400" b="0" dirty="0"/>
          </a:p>
        </p:txBody>
      </p:sp>
      <p:sp>
        <p:nvSpPr>
          <p:cNvPr id="106498" name="Rectangle 2"/>
          <p:cNvSpPr/>
          <p:nvPr/>
        </p:nvSpPr>
        <p:spPr>
          <a:xfrm>
            <a:off x="762000" y="908050"/>
            <a:ext cx="8382000" cy="5775325"/>
          </a:xfrm>
          <a:prstGeom prst="rect">
            <a:avLst/>
          </a:prstGeom>
          <a:noFill/>
          <a:ln w="9525">
            <a:noFill/>
          </a:ln>
        </p:spPr>
        <p:txBody>
          <a:bodyPr anchor="t" anchorCtr="0">
            <a:spAutoFit/>
          </a:bodyPr>
          <a:lstStyle/>
          <a:p>
            <a:pPr indent="306705" algn="just" defTabSz="914400">
              <a:lnSpc>
                <a:spcPct val="140000"/>
              </a:lnSpc>
              <a:tabLst>
                <a:tab pos="136525" algn="l"/>
              </a:tabLst>
            </a:pPr>
            <a:r>
              <a:rPr lang="zh-CN" altLang="en-US" dirty="0">
                <a:solidFill>
                  <a:srgbClr val="0000FF"/>
                </a:solidFill>
                <a:latin typeface="Times New Roman" panose="02020603050405020304" pitchFamily="18" charset="0"/>
                <a:ea typeface="黑体" panose="02010609060101010101" pitchFamily="49" charset="-122"/>
              </a:rPr>
              <a:t>数据传送类指令说明</a:t>
            </a:r>
            <a:endParaRPr lang="zh-CN" altLang="en-US" b="0" dirty="0">
              <a:latin typeface="宋体" panose="02010600030101010101" pitchFamily="2" charset="-122"/>
              <a:ea typeface="宋体" panose="02010600030101010101" pitchFamily="2" charset="-122"/>
            </a:endParaRPr>
          </a:p>
          <a:p>
            <a:pPr indent="306705" algn="just" defTabSz="914400" eaLnBrk="0" hangingPunct="0">
              <a:lnSpc>
                <a:spcPct val="140000"/>
              </a:lnSpc>
              <a:tabLst>
                <a:tab pos="136525" algn="l"/>
              </a:tabLst>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宋体" panose="02010600030101010101" pitchFamily="2" charset="-122"/>
              </a:rPr>
              <a:t>同样的数据传送，可以使用不同寻址方式的指令来实现。</a:t>
            </a:r>
            <a:endParaRPr lang="zh-CN" altLang="en-US" b="0" dirty="0">
              <a:latin typeface="宋体" panose="02010600030101010101" pitchFamily="2" charset="-122"/>
              <a:ea typeface="宋体" panose="02010600030101010101" pitchFamily="2" charset="-122"/>
            </a:endParaRPr>
          </a:p>
          <a:p>
            <a:pPr indent="306705" algn="just" defTabSz="914400" eaLnBrk="0" hangingPunct="0">
              <a:lnSpc>
                <a:spcPct val="140000"/>
              </a:lnSpc>
              <a:tabLst>
                <a:tab pos="136525" algn="l"/>
              </a:tabLst>
            </a:pPr>
            <a:r>
              <a:rPr lang="zh-CN" altLang="en-US" dirty="0">
                <a:solidFill>
                  <a:srgbClr val="0000FF"/>
                </a:solidFill>
                <a:latin typeface="Times New Roman" panose="02020603050405020304" pitchFamily="18" charset="0"/>
                <a:ea typeface="宋体" panose="02010600030101010101" pitchFamily="2" charset="-122"/>
              </a:rPr>
              <a:t>例如：把累加器</a:t>
            </a:r>
            <a:r>
              <a:rPr lang="en-US" altLang="zh-CN" dirty="0">
                <a:solidFill>
                  <a:srgbClr val="0000FF"/>
                </a:solidFill>
                <a:latin typeface="Times New Roman" panose="02020603050405020304" pitchFamily="18" charset="0"/>
                <a:ea typeface="宋体" panose="02010600030101010101" pitchFamily="2" charset="-122"/>
              </a:rPr>
              <a:t>A</a:t>
            </a:r>
            <a:r>
              <a:rPr lang="zh-CN" altLang="en-US" dirty="0">
                <a:solidFill>
                  <a:srgbClr val="0000FF"/>
                </a:solidFill>
                <a:latin typeface="Times New Roman" panose="02020603050405020304" pitchFamily="18" charset="0"/>
                <a:ea typeface="宋体" panose="02010600030101010101" pitchFamily="2" charset="-122"/>
              </a:rPr>
              <a:t>的内容送内部</a:t>
            </a:r>
            <a:r>
              <a:rPr lang="en-US" altLang="zh-CN" dirty="0">
                <a:solidFill>
                  <a:srgbClr val="0000FF"/>
                </a:solidFill>
                <a:latin typeface="Times New Roman" panose="02020603050405020304" pitchFamily="18" charset="0"/>
                <a:ea typeface="宋体" panose="02010600030101010101" pitchFamily="2" charset="-122"/>
              </a:rPr>
              <a:t>RAM 26H</a:t>
            </a:r>
            <a:r>
              <a:rPr lang="zh-CN" altLang="en-US" dirty="0">
                <a:solidFill>
                  <a:srgbClr val="0000FF"/>
                </a:solidFill>
                <a:latin typeface="Times New Roman" panose="02020603050405020304" pitchFamily="18" charset="0"/>
                <a:ea typeface="宋体" panose="02010600030101010101" pitchFamily="2" charset="-122"/>
              </a:rPr>
              <a:t>单元</a:t>
            </a:r>
            <a:r>
              <a:rPr lang="zh-CN" altLang="en-US" dirty="0">
                <a:latin typeface="Times New Roman" panose="02020603050405020304" pitchFamily="18" charset="0"/>
                <a:ea typeface="宋体" panose="02010600030101010101" pitchFamily="2" charset="-122"/>
              </a:rPr>
              <a:t>，可由以下不同的指令完成：</a:t>
            </a:r>
            <a:endParaRPr lang="zh-CN" altLang="en-US" b="0" dirty="0">
              <a:latin typeface="宋体" panose="02010600030101010101" pitchFamily="2" charset="-122"/>
              <a:ea typeface="宋体" panose="02010600030101010101" pitchFamily="2" charset="-122"/>
            </a:endParaRPr>
          </a:p>
          <a:p>
            <a:pPr indent="306705" algn="just" defTabSz="914400" eaLnBrk="0" hangingPunct="0">
              <a:lnSpc>
                <a:spcPct val="140000"/>
              </a:lnSpc>
              <a:tabLst>
                <a:tab pos="136525" algn="l"/>
              </a:tabLst>
            </a:pPr>
            <a:r>
              <a:rPr lang="zh-CN" altLang="en-US" dirty="0">
                <a:latin typeface="Times New Roman" panose="02020603050405020304" pitchFamily="18" charset="0"/>
                <a:ea typeface="宋体" panose="02010600030101010101" pitchFamily="2" charset="-122"/>
              </a:rPr>
              <a:t>           ① 	</a:t>
            </a:r>
            <a:r>
              <a:rPr lang="en-US" altLang="zh-CN" dirty="0">
                <a:latin typeface="Times New Roman" panose="02020603050405020304" pitchFamily="18" charset="0"/>
                <a:ea typeface="宋体" panose="02010600030101010101" pitchFamily="2" charset="-122"/>
              </a:rPr>
              <a:t>MOV	26H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p>
          <a:p>
            <a:pPr indent="306705" algn="just" defTabSz="914400" eaLnBrk="0" hangingPunct="0">
              <a:lnSpc>
                <a:spcPct val="140000"/>
              </a:lnSpc>
              <a:tabLst>
                <a:tab pos="136525" algn="l"/>
              </a:tabLst>
            </a:pPr>
            <a:r>
              <a:rPr lang="en-US" altLang="zh-CN" dirty="0">
                <a:latin typeface="Times New Roman" panose="02020603050405020304" pitchFamily="18" charset="0"/>
                <a:ea typeface="宋体" panose="02010600030101010101" pitchFamily="2" charset="-122"/>
              </a:rPr>
              <a:t>           ②     MOV   26H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ACC</a:t>
            </a:r>
            <a:endParaRPr lang="en-US" altLang="zh-CN" b="0" dirty="0">
              <a:latin typeface="宋体" panose="02010600030101010101" pitchFamily="2" charset="-122"/>
              <a:ea typeface="宋体" panose="02010600030101010101" pitchFamily="2" charset="-122"/>
            </a:endParaRPr>
          </a:p>
          <a:p>
            <a:pPr indent="306705" algn="just" defTabSz="914400" eaLnBrk="0" hangingPunct="0">
              <a:lnSpc>
                <a:spcPct val="140000"/>
              </a:lnSpc>
              <a:tabLst>
                <a:tab pos="136525" algn="l"/>
              </a:tabLst>
            </a:pPr>
            <a:r>
              <a:rPr lang="en-US" altLang="zh-CN" dirty="0">
                <a:latin typeface="Times New Roman" panose="02020603050405020304" pitchFamily="18" charset="0"/>
                <a:ea typeface="宋体" panose="02010600030101010101" pitchFamily="2" charset="-122"/>
              </a:rPr>
              <a:t>           ③ 	MOV 	R0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26H</a:t>
            </a:r>
            <a:endParaRPr lang="en-US" altLang="zh-CN" b="0" dirty="0">
              <a:latin typeface="宋体" panose="02010600030101010101" pitchFamily="2" charset="-122"/>
              <a:ea typeface="宋体" panose="02010600030101010101" pitchFamily="2" charset="-122"/>
            </a:endParaRPr>
          </a:p>
          <a:p>
            <a:pPr indent="306705" algn="just" defTabSz="914400" eaLnBrk="0" hangingPunct="0">
              <a:lnSpc>
                <a:spcPct val="140000"/>
              </a:lnSpc>
              <a:tabLst>
                <a:tab pos="136525" algn="l"/>
              </a:tabLst>
            </a:pPr>
            <a:r>
              <a:rPr lang="en-US" altLang="zh-CN" dirty="0">
                <a:latin typeface="Times New Roman" panose="02020603050405020304" pitchFamily="18" charset="0"/>
                <a:ea typeface="宋体" panose="02010600030101010101" pitchFamily="2" charset="-122"/>
              </a:rPr>
              <a:t>               	MOV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endParaRPr lang="en-US" altLang="zh-CN" b="0" dirty="0">
              <a:latin typeface="宋体" panose="02010600030101010101" pitchFamily="2" charset="-122"/>
              <a:ea typeface="宋体" panose="02010600030101010101" pitchFamily="2" charset="-122"/>
            </a:endParaRPr>
          </a:p>
          <a:p>
            <a:pPr indent="306705" algn="just" defTabSz="914400" eaLnBrk="0" hangingPunct="0">
              <a:lnSpc>
                <a:spcPct val="140000"/>
              </a:lnSpc>
              <a:tabLst>
                <a:tab pos="136525" algn="l"/>
              </a:tabLst>
            </a:pPr>
            <a:r>
              <a:rPr lang="en-US" altLang="zh-CN" dirty="0">
                <a:latin typeface="Times New Roman" panose="02020603050405020304" pitchFamily="18" charset="0"/>
                <a:ea typeface="宋体" panose="02010600030101010101" pitchFamily="2" charset="-122"/>
              </a:rPr>
              <a:t>           </a:t>
            </a:r>
            <a:r>
              <a:rPr lang="en-US" altLang="zh-CN" b="0" dirty="0">
                <a:latin typeface="宋体" panose="02010600030101010101" pitchFamily="2" charset="-122"/>
                <a:ea typeface="宋体" panose="02010600030101010101" pitchFamily="2" charset="-122"/>
                <a:sym typeface="宋体" panose="02010600030101010101" pitchFamily="2" charset="-122"/>
              </a:rPr>
              <a:t>④</a:t>
            </a:r>
            <a:r>
              <a:rPr lang="en-US" altLang="zh-CN" dirty="0">
                <a:latin typeface="Times New Roman" panose="02020603050405020304" pitchFamily="18" charset="0"/>
                <a:ea typeface="宋体" panose="02010600030101010101" pitchFamily="2" charset="-122"/>
              </a:rPr>
              <a:t> 	MOV 	26H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0E0H</a:t>
            </a:r>
          </a:p>
          <a:p>
            <a:pPr indent="306705" algn="just" defTabSz="914400" eaLnBrk="0" hangingPunct="0">
              <a:lnSpc>
                <a:spcPct val="140000"/>
              </a:lnSpc>
              <a:tabLst>
                <a:tab pos="136525" algn="l"/>
              </a:tabLst>
            </a:pPr>
            <a:endParaRPr lang="en-US" altLang="zh-CN" b="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81</a:t>
            </a:fld>
            <a:endParaRPr lang="en-US" altLang="zh-CN" sz="1400" b="0" dirty="0"/>
          </a:p>
        </p:txBody>
      </p:sp>
      <p:sp>
        <p:nvSpPr>
          <p:cNvPr id="39938" name="Rectangle 2"/>
          <p:cNvSpPr/>
          <p:nvPr/>
        </p:nvSpPr>
        <p:spPr>
          <a:xfrm>
            <a:off x="395288" y="908050"/>
            <a:ext cx="8077200" cy="457200"/>
          </a:xfrm>
          <a:prstGeom prst="rect">
            <a:avLst/>
          </a:prstGeom>
          <a:noFill/>
          <a:ln w="9525">
            <a:noFill/>
          </a:ln>
        </p:spPr>
        <p:txBody>
          <a:bodyPr anchor="t" anchorCtr="0">
            <a:spAutoFit/>
          </a:bodyPr>
          <a:lstStyle/>
          <a:p>
            <a:pPr eaLnBrk="0" hangingPunct="0">
              <a:spcBef>
                <a:spcPct val="50000"/>
              </a:spcBef>
            </a:pP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2</a:t>
            </a:r>
            <a:r>
              <a:rPr lang="zh-CN" altLang="en-US" dirty="0">
                <a:solidFill>
                  <a:srgbClr val="FF0000"/>
                </a:solidFill>
                <a:latin typeface="Times New Roman" panose="02020603050405020304" pitchFamily="18" charset="0"/>
                <a:ea typeface="宋体" panose="02010600030101010101" pitchFamily="2" charset="-122"/>
              </a:rPr>
              <a:t>）数据传送类指令一般不影响程序状态字</a:t>
            </a:r>
            <a:r>
              <a:rPr lang="en-US" altLang="zh-CN" dirty="0">
                <a:solidFill>
                  <a:srgbClr val="FF0000"/>
                </a:solidFill>
                <a:latin typeface="Times New Roman" panose="02020603050405020304" pitchFamily="18" charset="0"/>
                <a:ea typeface="宋体" panose="02010600030101010101" pitchFamily="2" charset="-122"/>
              </a:rPr>
              <a:t>PSW</a:t>
            </a:r>
            <a:r>
              <a:rPr lang="zh-CN" altLang="en-US" dirty="0">
                <a:solidFill>
                  <a:srgbClr val="FF0000"/>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endParaRPr lang="zh-CN" altLang="en-US" b="0" dirty="0">
              <a:latin typeface="Times New Roman" panose="02020603050405020304" pitchFamily="18" charset="0"/>
              <a:ea typeface="宋体" panose="02010600030101010101" pitchFamily="2" charset="-122"/>
            </a:endParaRPr>
          </a:p>
        </p:txBody>
      </p:sp>
      <p:sp>
        <p:nvSpPr>
          <p:cNvPr id="39939" name="Rectangle 3"/>
          <p:cNvSpPr/>
          <p:nvPr/>
        </p:nvSpPr>
        <p:spPr>
          <a:xfrm>
            <a:off x="611188" y="1700213"/>
            <a:ext cx="8077200" cy="2713037"/>
          </a:xfrm>
          <a:prstGeom prst="rect">
            <a:avLst/>
          </a:prstGeom>
          <a:noFill/>
          <a:ln w="9525">
            <a:noFill/>
          </a:ln>
        </p:spPr>
        <p:txBody>
          <a:bodyPr anchor="t" anchorCtr="0">
            <a:spAutoFit/>
          </a:bodyPr>
          <a:lstStyle/>
          <a:p>
            <a:pPr eaLnBrk="0" hangingPunct="0">
              <a:lnSpc>
                <a:spcPct val="14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传送类指令一般不影响标志位，个别指令影响</a:t>
            </a:r>
            <a:r>
              <a:rPr lang="en-US" altLang="zh-CN" dirty="0">
                <a:latin typeface="Times New Roman" panose="02020603050405020304" pitchFamily="18" charset="0"/>
                <a:ea typeface="宋体" panose="02010600030101010101" pitchFamily="2" charset="-122"/>
              </a:rPr>
              <a:t>P</a:t>
            </a:r>
            <a:r>
              <a:rPr lang="zh-CN" altLang="en-US" dirty="0">
                <a:latin typeface="Times New Roman" panose="02020603050405020304" pitchFamily="18" charset="0"/>
                <a:ea typeface="宋体" panose="02010600030101010101" pitchFamily="2" charset="-122"/>
              </a:rPr>
              <a:t>位。</a:t>
            </a:r>
          </a:p>
          <a:p>
            <a:pPr eaLnBrk="0" hangingPunct="0">
              <a:lnSpc>
                <a:spcPct val="140000"/>
              </a:lnSpc>
              <a:spcBef>
                <a:spcPct val="50000"/>
              </a:spcBef>
            </a:pPr>
            <a:r>
              <a:rPr lang="zh-CN" altLang="en-US" dirty="0">
                <a:latin typeface="Times New Roman" panose="02020603050405020304" pitchFamily="18" charset="0"/>
                <a:ea typeface="宋体" panose="02010600030101010101" pitchFamily="2" charset="-122"/>
              </a:rPr>
              <a:t> 但堆栈指令（</a:t>
            </a:r>
            <a:r>
              <a:rPr lang="en-US" altLang="zh-CN" dirty="0">
                <a:latin typeface="Times New Roman" panose="02020603050405020304" pitchFamily="18" charset="0"/>
                <a:ea typeface="宋体" panose="02010600030101010101" pitchFamily="2" charset="-122"/>
              </a:rPr>
              <a:t>PUSH</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POP</a:t>
            </a:r>
            <a:r>
              <a:rPr lang="zh-CN" altLang="en-US" dirty="0">
                <a:latin typeface="Times New Roman" panose="02020603050405020304" pitchFamily="18" charset="0"/>
                <a:ea typeface="宋体" panose="02010600030101010101" pitchFamily="2" charset="-122"/>
              </a:rPr>
              <a:t>）可以直接修改状态字</a:t>
            </a:r>
            <a:r>
              <a:rPr lang="en-US" altLang="zh-CN" dirty="0">
                <a:latin typeface="Times New Roman" panose="02020603050405020304" pitchFamily="18" charset="0"/>
                <a:ea typeface="宋体" panose="02010600030101010101" pitchFamily="2" charset="-122"/>
              </a:rPr>
              <a:t>PSW</a:t>
            </a:r>
            <a:r>
              <a:rPr lang="zh-CN" altLang="en-US" dirty="0">
                <a:latin typeface="Times New Roman" panose="02020603050405020304" pitchFamily="18" charset="0"/>
                <a:ea typeface="宋体" panose="02010600030101010101" pitchFamily="2" charset="-122"/>
              </a:rPr>
              <a:t>。</a:t>
            </a:r>
          </a:p>
          <a:p>
            <a:pPr eaLnBrk="0" hangingPunct="0">
              <a:lnSpc>
                <a:spcPct val="140000"/>
              </a:lnSpc>
              <a:spcBef>
                <a:spcPct val="50000"/>
              </a:spcBef>
            </a:pPr>
            <a:r>
              <a:rPr lang="zh-CN" altLang="en-US" dirty="0">
                <a:latin typeface="Times New Roman" panose="02020603050405020304" pitchFamily="18" charset="0"/>
                <a:ea typeface="宋体" panose="02010600030101010101" pitchFamily="2" charset="-122"/>
              </a:rPr>
              <a:t>例如：  	</a:t>
            </a:r>
            <a:r>
              <a:rPr lang="en-US" altLang="zh-CN" dirty="0">
                <a:latin typeface="Times New Roman" panose="02020603050405020304" pitchFamily="18" charset="0"/>
                <a:ea typeface="宋体" panose="02010600030101010101" pitchFamily="2" charset="-122"/>
              </a:rPr>
              <a:t>PUSH      40H</a:t>
            </a:r>
          </a:p>
          <a:p>
            <a:pPr eaLnBrk="0" hangingPunct="0">
              <a:lnSpc>
                <a:spcPct val="140000"/>
              </a:lnSpc>
              <a:spcBef>
                <a:spcPct val="50000"/>
              </a:spcBef>
            </a:pPr>
            <a:r>
              <a:rPr lang="en-US" altLang="zh-CN" dirty="0">
                <a:latin typeface="Times New Roman" panose="02020603050405020304" pitchFamily="18" charset="0"/>
                <a:ea typeface="宋体" panose="02010600030101010101" pitchFamily="2" charset="-122"/>
              </a:rPr>
              <a:t>		POP	    PSW</a:t>
            </a:r>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82</a:t>
            </a:fld>
            <a:endParaRPr lang="en-US" altLang="zh-CN" sz="1400" b="0" dirty="0"/>
          </a:p>
        </p:txBody>
      </p:sp>
      <p:sp>
        <p:nvSpPr>
          <p:cNvPr id="111618" name="Rectangle 2"/>
          <p:cNvSpPr>
            <a:spLocks noGrp="1"/>
          </p:cNvSpPr>
          <p:nvPr>
            <p:ph type="title" idx="4294967295"/>
          </p:nvPr>
        </p:nvSpPr>
        <p:spPr>
          <a:xfrm>
            <a:off x="0" y="1905000"/>
            <a:ext cx="8458200" cy="3505200"/>
          </a:xfrm>
          <a:prstGeom prst="rect">
            <a:avLst/>
          </a:prstGeom>
          <a:noFill/>
          <a:ln w="9525">
            <a:noFill/>
          </a:ln>
        </p:spPr>
        <p:txBody>
          <a:bodyPr anchor="t" anchorCtr="0">
            <a:normAutofit fontScale="90000"/>
          </a:bodyPr>
          <a:lstStyle/>
          <a:p>
            <a:pPr algn="l" eaLnBrk="1" hangingPunct="1">
              <a:lnSpc>
                <a:spcPct val="140000"/>
              </a:lnSpc>
            </a:pPr>
            <a:r>
              <a:rPr lang="en-US" altLang="zh-CN" sz="2400" b="1" dirty="0"/>
              <a:t>24</a:t>
            </a:r>
            <a:r>
              <a:rPr lang="zh-CN" altLang="en-US" sz="2400" b="1" dirty="0"/>
              <a:t>条指令，完成加、减、乘、除等算术运算。</a:t>
            </a:r>
            <a:r>
              <a:rPr lang="zh-CN" altLang="en-US" sz="2400" dirty="0"/>
              <a:t/>
            </a:r>
            <a:br>
              <a:rPr lang="zh-CN" altLang="en-US" sz="2400" dirty="0"/>
            </a:br>
            <a:r>
              <a:rPr lang="zh-CN" altLang="en-US" sz="2400" dirty="0"/>
              <a:t/>
            </a:r>
            <a:br>
              <a:rPr lang="zh-CN" altLang="en-US" sz="2400" dirty="0"/>
            </a:br>
            <a:r>
              <a:rPr lang="en-US" altLang="zh-CN" sz="2400" b="1" dirty="0">
                <a:solidFill>
                  <a:srgbClr val="0000FF"/>
                </a:solidFill>
                <a:ea typeface="黑体" panose="02010609060101010101" pitchFamily="49" charset="-122"/>
              </a:rPr>
              <a:t>1</a:t>
            </a:r>
            <a:r>
              <a:rPr lang="zh-CN" altLang="en-US" sz="2400" b="1" dirty="0">
                <a:solidFill>
                  <a:srgbClr val="0000FF"/>
                </a:solidFill>
                <a:ea typeface="黑体" panose="02010609060101010101" pitchFamily="49" charset="-122"/>
              </a:rPr>
              <a:t>）加法指令组（</a:t>
            </a:r>
            <a:r>
              <a:rPr lang="en-US" altLang="zh-CN" sz="2400" b="1" dirty="0">
                <a:solidFill>
                  <a:srgbClr val="0000FF"/>
                </a:solidFill>
                <a:ea typeface="黑体" panose="02010609060101010101" pitchFamily="49" charset="-122"/>
              </a:rPr>
              <a:t>ADD</a:t>
            </a:r>
            <a:r>
              <a:rPr lang="zh-CN" altLang="en-US" sz="2400" b="1" dirty="0">
                <a:solidFill>
                  <a:srgbClr val="0000FF"/>
                </a:solidFill>
                <a:ea typeface="黑体" panose="02010609060101010101" pitchFamily="49" charset="-122"/>
              </a:rPr>
              <a:t>）</a:t>
            </a:r>
            <a:r>
              <a:rPr lang="zh-CN" altLang="en-US" sz="2400" dirty="0"/>
              <a:t/>
            </a:r>
            <a:br>
              <a:rPr lang="zh-CN" altLang="en-US" sz="2400" dirty="0"/>
            </a:br>
            <a:r>
              <a:rPr lang="zh-CN" altLang="en-US" sz="2400" dirty="0"/>
              <a:t>	</a:t>
            </a:r>
            <a:r>
              <a:rPr lang="en-US" altLang="zh-CN" sz="2400" b="1" dirty="0">
                <a:solidFill>
                  <a:schemeClr val="tx1"/>
                </a:solidFill>
              </a:rPr>
              <a:t>ADD  A</a:t>
            </a:r>
            <a:r>
              <a:rPr lang="zh-CN" altLang="en-US" sz="2400" b="1" dirty="0">
                <a:solidFill>
                  <a:schemeClr val="tx1"/>
                </a:solidFill>
              </a:rPr>
              <a:t>， </a:t>
            </a:r>
            <a:r>
              <a:rPr lang="en-US" altLang="zh-CN" sz="2400" b="1" dirty="0">
                <a:solidFill>
                  <a:schemeClr val="tx1"/>
                </a:solidFill>
              </a:rPr>
              <a:t>Rn        	</a:t>
            </a:r>
            <a:r>
              <a:rPr lang="zh-CN" altLang="en-US" sz="2400" b="1" dirty="0">
                <a:solidFill>
                  <a:schemeClr val="tx1"/>
                </a:solidFill>
              </a:rPr>
              <a:t>；</a:t>
            </a:r>
            <a:r>
              <a:rPr lang="en-US" altLang="zh-CN" sz="2400" b="1" dirty="0">
                <a:solidFill>
                  <a:schemeClr val="tx1"/>
                </a:solidFill>
              </a:rPr>
              <a:t>A←</a:t>
            </a:r>
            <a:r>
              <a:rPr lang="zh-CN" altLang="en-US" sz="2400" b="1" dirty="0">
                <a:solidFill>
                  <a:schemeClr val="tx1"/>
                </a:solidFill>
              </a:rPr>
              <a:t>（</a:t>
            </a:r>
            <a:r>
              <a:rPr lang="en-US" altLang="zh-CN" sz="2400" b="1" dirty="0">
                <a:solidFill>
                  <a:schemeClr val="tx1"/>
                </a:solidFill>
              </a:rPr>
              <a:t>A</a:t>
            </a:r>
            <a:r>
              <a:rPr lang="zh-CN" altLang="en-US" sz="2400" b="1" dirty="0">
                <a:solidFill>
                  <a:schemeClr val="tx1"/>
                </a:solidFill>
              </a:rPr>
              <a:t>）</a:t>
            </a:r>
            <a:r>
              <a:rPr lang="en-US" altLang="zh-CN" sz="2400" b="1" dirty="0">
                <a:solidFill>
                  <a:schemeClr val="tx1"/>
                </a:solidFill>
              </a:rPr>
              <a:t>+</a:t>
            </a:r>
            <a:r>
              <a:rPr lang="zh-CN" altLang="en-US" sz="2400" b="1" dirty="0">
                <a:solidFill>
                  <a:schemeClr val="tx1"/>
                </a:solidFill>
              </a:rPr>
              <a:t>（</a:t>
            </a:r>
            <a:r>
              <a:rPr lang="en-US" altLang="zh-CN" sz="2400" b="1" dirty="0">
                <a:solidFill>
                  <a:schemeClr val="tx1"/>
                </a:solidFill>
              </a:rPr>
              <a:t>Rn</a:t>
            </a:r>
            <a:r>
              <a:rPr lang="zh-CN" altLang="en-US" sz="2400" b="1" dirty="0">
                <a:solidFill>
                  <a:schemeClr val="tx1"/>
                </a:solidFill>
              </a:rPr>
              <a:t>）</a:t>
            </a:r>
            <a:r>
              <a:rPr lang="zh-CN" altLang="en-US" sz="2400" dirty="0">
                <a:solidFill>
                  <a:schemeClr val="tx1"/>
                </a:solidFill>
              </a:rPr>
              <a:t/>
            </a:r>
            <a:br>
              <a:rPr lang="zh-CN" altLang="en-US" sz="2400" dirty="0">
                <a:solidFill>
                  <a:schemeClr val="tx1"/>
                </a:solidFill>
              </a:rPr>
            </a:br>
            <a:r>
              <a:rPr lang="zh-CN" altLang="en-US" sz="2400" dirty="0">
                <a:solidFill>
                  <a:schemeClr val="tx1"/>
                </a:solidFill>
              </a:rPr>
              <a:t>	</a:t>
            </a:r>
            <a:r>
              <a:rPr lang="en-US" altLang="zh-CN" sz="2400" b="1" dirty="0">
                <a:solidFill>
                  <a:schemeClr val="tx1"/>
                </a:solidFill>
              </a:rPr>
              <a:t>ADD  A</a:t>
            </a:r>
            <a:r>
              <a:rPr lang="zh-CN" altLang="en-US" sz="2400" b="1" dirty="0">
                <a:solidFill>
                  <a:schemeClr val="tx1"/>
                </a:solidFill>
              </a:rPr>
              <a:t>， </a:t>
            </a:r>
            <a:r>
              <a:rPr lang="en-US" altLang="zh-CN" sz="2400" b="1" dirty="0">
                <a:solidFill>
                  <a:schemeClr val="tx1"/>
                </a:solidFill>
              </a:rPr>
              <a:t>direct      	</a:t>
            </a:r>
            <a:r>
              <a:rPr lang="zh-CN" altLang="en-US" sz="2400" b="1" dirty="0">
                <a:solidFill>
                  <a:schemeClr val="tx1"/>
                </a:solidFill>
              </a:rPr>
              <a:t>；</a:t>
            </a:r>
            <a:r>
              <a:rPr lang="en-US" altLang="zh-CN" sz="2400" b="1" dirty="0">
                <a:solidFill>
                  <a:schemeClr val="tx1"/>
                </a:solidFill>
              </a:rPr>
              <a:t>A←</a:t>
            </a:r>
            <a:r>
              <a:rPr lang="zh-CN" altLang="en-US" sz="2400" b="1" dirty="0">
                <a:solidFill>
                  <a:schemeClr val="tx1"/>
                </a:solidFill>
              </a:rPr>
              <a:t>（</a:t>
            </a:r>
            <a:r>
              <a:rPr lang="en-US" altLang="zh-CN" sz="2400" b="1" dirty="0">
                <a:solidFill>
                  <a:schemeClr val="tx1"/>
                </a:solidFill>
              </a:rPr>
              <a:t>A</a:t>
            </a:r>
            <a:r>
              <a:rPr lang="zh-CN" altLang="en-US" sz="2400" b="1" dirty="0">
                <a:solidFill>
                  <a:schemeClr val="tx1"/>
                </a:solidFill>
              </a:rPr>
              <a:t>）</a:t>
            </a:r>
            <a:r>
              <a:rPr lang="en-US" altLang="zh-CN" sz="2400" b="1" dirty="0">
                <a:solidFill>
                  <a:schemeClr val="tx1"/>
                </a:solidFill>
              </a:rPr>
              <a:t>+</a:t>
            </a:r>
            <a:r>
              <a:rPr lang="zh-CN" altLang="en-US" sz="2400" b="1" dirty="0">
                <a:solidFill>
                  <a:schemeClr val="tx1"/>
                </a:solidFill>
              </a:rPr>
              <a:t>（</a:t>
            </a:r>
            <a:r>
              <a:rPr lang="en-US" altLang="zh-CN" sz="2400" b="1" dirty="0">
                <a:solidFill>
                  <a:schemeClr val="tx1"/>
                </a:solidFill>
              </a:rPr>
              <a:t>direct</a:t>
            </a:r>
            <a:r>
              <a:rPr lang="zh-CN" altLang="en-US" sz="2400" b="1" dirty="0">
                <a:solidFill>
                  <a:schemeClr val="tx1"/>
                </a:solidFill>
              </a:rPr>
              <a:t>）</a:t>
            </a:r>
            <a:r>
              <a:rPr lang="zh-CN" altLang="en-US" sz="2400" dirty="0">
                <a:solidFill>
                  <a:schemeClr val="tx1"/>
                </a:solidFill>
              </a:rPr>
              <a:t/>
            </a:r>
            <a:br>
              <a:rPr lang="zh-CN" altLang="en-US" sz="2400" dirty="0">
                <a:solidFill>
                  <a:schemeClr val="tx1"/>
                </a:solidFill>
              </a:rPr>
            </a:br>
            <a:r>
              <a:rPr lang="zh-CN" altLang="en-US" sz="2400" dirty="0">
                <a:solidFill>
                  <a:schemeClr val="tx1"/>
                </a:solidFill>
              </a:rPr>
              <a:t>	</a:t>
            </a:r>
            <a:r>
              <a:rPr lang="en-US" altLang="zh-CN" sz="2400" b="1" dirty="0">
                <a:solidFill>
                  <a:schemeClr val="tx1"/>
                </a:solidFill>
              </a:rPr>
              <a:t>ADD  A</a:t>
            </a:r>
            <a:r>
              <a:rPr lang="zh-CN" altLang="en-US" sz="2400" b="1" dirty="0">
                <a:solidFill>
                  <a:schemeClr val="tx1"/>
                </a:solidFill>
              </a:rPr>
              <a:t>， </a:t>
            </a:r>
            <a:r>
              <a:rPr lang="en-US" altLang="zh-CN" sz="2400" b="1" dirty="0">
                <a:solidFill>
                  <a:schemeClr val="tx1"/>
                </a:solidFill>
              </a:rPr>
              <a:t>@Ri       	</a:t>
            </a:r>
            <a:r>
              <a:rPr lang="zh-CN" altLang="en-US" sz="2400" b="1" dirty="0">
                <a:solidFill>
                  <a:schemeClr val="tx1"/>
                </a:solidFill>
              </a:rPr>
              <a:t>；</a:t>
            </a:r>
            <a:r>
              <a:rPr lang="en-US" altLang="zh-CN" sz="2400" b="1" dirty="0">
                <a:solidFill>
                  <a:schemeClr val="tx1"/>
                </a:solidFill>
              </a:rPr>
              <a:t>A←</a:t>
            </a:r>
            <a:r>
              <a:rPr lang="zh-CN" altLang="en-US" sz="2400" b="1" dirty="0">
                <a:solidFill>
                  <a:schemeClr val="tx1"/>
                </a:solidFill>
              </a:rPr>
              <a:t>（</a:t>
            </a:r>
            <a:r>
              <a:rPr lang="en-US" altLang="zh-CN" sz="2400" b="1" dirty="0">
                <a:solidFill>
                  <a:schemeClr val="tx1"/>
                </a:solidFill>
              </a:rPr>
              <a:t>A</a:t>
            </a:r>
            <a:r>
              <a:rPr lang="zh-CN" altLang="en-US" sz="2400" b="1" dirty="0">
                <a:solidFill>
                  <a:schemeClr val="tx1"/>
                </a:solidFill>
              </a:rPr>
              <a:t>）</a:t>
            </a:r>
            <a:r>
              <a:rPr lang="en-US" altLang="zh-CN" sz="2400" b="1" dirty="0">
                <a:solidFill>
                  <a:schemeClr val="tx1"/>
                </a:solidFill>
              </a:rPr>
              <a:t>+  ( (Ri) )</a:t>
            </a:r>
            <a:r>
              <a:rPr lang="en-US" altLang="zh-CN" sz="2400" dirty="0">
                <a:solidFill>
                  <a:schemeClr val="tx1"/>
                </a:solidFill>
              </a:rPr>
              <a:t/>
            </a:r>
            <a:br>
              <a:rPr lang="en-US" altLang="zh-CN" sz="2400" dirty="0">
                <a:solidFill>
                  <a:schemeClr val="tx1"/>
                </a:solidFill>
              </a:rPr>
            </a:br>
            <a:r>
              <a:rPr lang="en-US" altLang="zh-CN" sz="2400" dirty="0">
                <a:solidFill>
                  <a:schemeClr val="tx1"/>
                </a:solidFill>
              </a:rPr>
              <a:t>	</a:t>
            </a:r>
            <a:r>
              <a:rPr lang="en-US" altLang="zh-CN" sz="2400" b="1" dirty="0">
                <a:solidFill>
                  <a:schemeClr val="tx1"/>
                </a:solidFill>
              </a:rPr>
              <a:t>ADD  A</a:t>
            </a:r>
            <a:r>
              <a:rPr lang="zh-CN" altLang="en-US" sz="2400" b="1" dirty="0">
                <a:solidFill>
                  <a:schemeClr val="tx1"/>
                </a:solidFill>
              </a:rPr>
              <a:t>， </a:t>
            </a:r>
            <a:r>
              <a:rPr lang="en-US" altLang="zh-CN" sz="2400" b="1" dirty="0">
                <a:solidFill>
                  <a:schemeClr val="tx1"/>
                </a:solidFill>
              </a:rPr>
              <a:t>#data       	</a:t>
            </a:r>
            <a:r>
              <a:rPr lang="zh-CN" altLang="en-US" sz="2400" b="1" dirty="0">
                <a:solidFill>
                  <a:schemeClr val="tx1"/>
                </a:solidFill>
              </a:rPr>
              <a:t>；</a:t>
            </a:r>
            <a:r>
              <a:rPr lang="en-US" altLang="zh-CN" sz="2400" b="1" dirty="0">
                <a:solidFill>
                  <a:schemeClr val="tx1"/>
                </a:solidFill>
              </a:rPr>
              <a:t>A←</a:t>
            </a:r>
            <a:r>
              <a:rPr lang="zh-CN" altLang="en-US" sz="2400" b="1" dirty="0">
                <a:solidFill>
                  <a:schemeClr val="tx1"/>
                </a:solidFill>
              </a:rPr>
              <a:t>（</a:t>
            </a:r>
            <a:r>
              <a:rPr lang="en-US" altLang="zh-CN" sz="2400" b="1" dirty="0">
                <a:solidFill>
                  <a:schemeClr val="tx1"/>
                </a:solidFill>
              </a:rPr>
              <a:t>A</a:t>
            </a:r>
            <a:r>
              <a:rPr lang="zh-CN" altLang="en-US" sz="2400" b="1" dirty="0">
                <a:solidFill>
                  <a:schemeClr val="tx1"/>
                </a:solidFill>
              </a:rPr>
              <a:t>）</a:t>
            </a:r>
            <a:r>
              <a:rPr lang="en-US" altLang="zh-CN" sz="2400" b="1" dirty="0">
                <a:solidFill>
                  <a:schemeClr val="tx1"/>
                </a:solidFill>
              </a:rPr>
              <a:t>+data</a:t>
            </a:r>
            <a:endParaRPr lang="en-US" altLang="zh-CN" sz="2400" dirty="0">
              <a:solidFill>
                <a:schemeClr val="tx1"/>
              </a:solidFill>
            </a:endParaRPr>
          </a:p>
        </p:txBody>
      </p:sp>
      <p:sp>
        <p:nvSpPr>
          <p:cNvPr id="111619" name="Rectangle 3"/>
          <p:cNvSpPr/>
          <p:nvPr/>
        </p:nvSpPr>
        <p:spPr>
          <a:xfrm>
            <a:off x="2667000" y="990600"/>
            <a:ext cx="4495800" cy="521970"/>
          </a:xfrm>
          <a:prstGeom prst="rect">
            <a:avLst/>
          </a:prstGeom>
          <a:noFill/>
          <a:ln w="9525">
            <a:noFill/>
          </a:ln>
        </p:spPr>
        <p:txBody>
          <a:bodyPr anchor="t" anchorCtr="0">
            <a:spAutoFit/>
          </a:bodyPr>
          <a:lstStyle/>
          <a:p>
            <a:r>
              <a:rPr lang="en-US" altLang="zh-CN" sz="2800" dirty="0">
                <a:solidFill>
                  <a:srgbClr val="FF0000"/>
                </a:solidFill>
                <a:latin typeface="Times New Roman" panose="02020603050405020304" pitchFamily="18" charset="0"/>
                <a:ea typeface="黑体" panose="02010609060101010101" pitchFamily="49" charset="-122"/>
              </a:rPr>
              <a:t>3.3.2    </a:t>
            </a:r>
            <a:r>
              <a:rPr lang="zh-CN" altLang="en-US" sz="2800" dirty="0">
                <a:solidFill>
                  <a:srgbClr val="FF0000"/>
                </a:solidFill>
                <a:latin typeface="Times New Roman" panose="02020603050405020304" pitchFamily="18" charset="0"/>
                <a:ea typeface="黑体" panose="02010609060101010101" pitchFamily="49" charset="-122"/>
              </a:rPr>
              <a:t>算术运算类指令</a:t>
            </a:r>
            <a:endParaRPr lang="zh-CN" altLang="en-US" b="0" dirty="0">
              <a:solidFill>
                <a:schemeClr val="tx2"/>
              </a:solidFill>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83</a:t>
            </a:fld>
            <a:endParaRPr lang="en-US" altLang="zh-CN" sz="1400" b="0" dirty="0"/>
          </a:p>
        </p:txBody>
      </p:sp>
      <p:sp>
        <p:nvSpPr>
          <p:cNvPr id="112642" name="Rectangle 2"/>
          <p:cNvSpPr/>
          <p:nvPr/>
        </p:nvSpPr>
        <p:spPr>
          <a:xfrm>
            <a:off x="609600" y="1066800"/>
            <a:ext cx="7924800" cy="2647950"/>
          </a:xfrm>
          <a:prstGeom prst="rect">
            <a:avLst/>
          </a:prstGeom>
          <a:noFill/>
          <a:ln w="9525">
            <a:noFill/>
          </a:ln>
        </p:spPr>
        <p:txBody>
          <a:bodyPr anchor="t" anchorCtr="0">
            <a:spAutoFit/>
          </a:bodyPr>
          <a:lstStyle/>
          <a:p>
            <a:pPr>
              <a:lnSpc>
                <a:spcPct val="140000"/>
              </a:lnSpc>
            </a:pPr>
            <a:r>
              <a:rPr lang="zh-CN" altLang="en-US" dirty="0">
                <a:solidFill>
                  <a:schemeClr val="tx2"/>
                </a:solidFill>
                <a:latin typeface="Times New Roman" panose="02020603050405020304" pitchFamily="18" charset="0"/>
                <a:ea typeface="宋体" panose="02010600030101010101" pitchFamily="2" charset="-122"/>
              </a:rPr>
              <a:t>加法运算影响</a:t>
            </a:r>
            <a:r>
              <a:rPr lang="en-US" altLang="zh-CN" dirty="0">
                <a:solidFill>
                  <a:schemeClr val="tx2"/>
                </a:solidFill>
                <a:latin typeface="Times New Roman" panose="02020603050405020304" pitchFamily="18" charset="0"/>
                <a:ea typeface="宋体" panose="02010600030101010101" pitchFamily="2" charset="-122"/>
              </a:rPr>
              <a:t>PSW</a:t>
            </a:r>
            <a:r>
              <a:rPr lang="zh-CN" altLang="en-US" dirty="0">
                <a:solidFill>
                  <a:schemeClr val="tx2"/>
                </a:solidFill>
                <a:latin typeface="Times New Roman" panose="02020603050405020304" pitchFamily="18" charset="0"/>
                <a:ea typeface="宋体" panose="02010600030101010101" pitchFamily="2" charset="-122"/>
              </a:rPr>
              <a:t>位的状态。</a:t>
            </a:r>
            <a:r>
              <a:rPr lang="zh-CN" altLang="en-US" b="0" dirty="0">
                <a:solidFill>
                  <a:schemeClr val="tx2"/>
                </a:solidFill>
                <a:latin typeface="Times New Roman" panose="02020603050405020304" pitchFamily="18" charset="0"/>
                <a:ea typeface="宋体" panose="02010600030101010101" pitchFamily="2" charset="-122"/>
              </a:rPr>
              <a:t/>
            </a:r>
            <a:br>
              <a:rPr lang="zh-CN" altLang="en-US" b="0" dirty="0">
                <a:solidFill>
                  <a:schemeClr val="tx2"/>
                </a:solidFill>
                <a:latin typeface="Times New Roman" panose="02020603050405020304" pitchFamily="18" charset="0"/>
                <a:ea typeface="宋体" panose="02010600030101010101" pitchFamily="2" charset="-122"/>
              </a:rPr>
            </a:br>
            <a:r>
              <a:rPr lang="zh-CN" altLang="en-US" dirty="0">
                <a:solidFill>
                  <a:schemeClr val="tx2"/>
                </a:solidFill>
                <a:latin typeface="Times New Roman" panose="02020603050405020304" pitchFamily="18" charset="0"/>
                <a:ea typeface="宋体" panose="02010600030101010101" pitchFamily="2" charset="-122"/>
              </a:rPr>
              <a:t>如果位</a:t>
            </a:r>
            <a:r>
              <a:rPr lang="en-US" altLang="zh-CN" dirty="0">
                <a:solidFill>
                  <a:schemeClr val="tx2"/>
                </a:solidFill>
                <a:latin typeface="Times New Roman" panose="02020603050405020304" pitchFamily="18" charset="0"/>
                <a:ea typeface="宋体" panose="02010600030101010101" pitchFamily="2" charset="-122"/>
              </a:rPr>
              <a:t>3</a:t>
            </a:r>
            <a:r>
              <a:rPr lang="zh-CN" altLang="en-US" dirty="0">
                <a:solidFill>
                  <a:schemeClr val="tx2"/>
                </a:solidFill>
                <a:latin typeface="Times New Roman" panose="02020603050405020304" pitchFamily="18" charset="0"/>
                <a:ea typeface="宋体" panose="02010600030101010101" pitchFamily="2" charset="-122"/>
              </a:rPr>
              <a:t>有进位，则辅助位标志</a:t>
            </a:r>
            <a:r>
              <a:rPr lang="en-US" altLang="zh-CN" dirty="0">
                <a:solidFill>
                  <a:schemeClr val="tx2"/>
                </a:solidFill>
                <a:latin typeface="Times New Roman" panose="02020603050405020304" pitchFamily="18" charset="0"/>
                <a:ea typeface="宋体" panose="02010600030101010101" pitchFamily="2" charset="-122"/>
              </a:rPr>
              <a:t>AC</a:t>
            </a:r>
            <a:r>
              <a:rPr lang="zh-CN" altLang="en-US" dirty="0">
                <a:solidFill>
                  <a:schemeClr val="tx2"/>
                </a:solidFill>
                <a:latin typeface="Times New Roman" panose="02020603050405020304" pitchFamily="18" charset="0"/>
                <a:ea typeface="宋体" panose="02010600030101010101" pitchFamily="2" charset="-122"/>
              </a:rPr>
              <a:t>置</a:t>
            </a:r>
            <a:r>
              <a:rPr lang="en-US" altLang="zh-CN" dirty="0">
                <a:solidFill>
                  <a:schemeClr val="tx2"/>
                </a:solidFill>
                <a:latin typeface="Times New Roman" panose="02020603050405020304" pitchFamily="18" charset="0"/>
                <a:ea typeface="宋体" panose="02010600030101010101" pitchFamily="2" charset="-122"/>
              </a:rPr>
              <a:t>1</a:t>
            </a:r>
            <a:r>
              <a:rPr lang="zh-CN" altLang="en-US" dirty="0">
                <a:solidFill>
                  <a:schemeClr val="tx2"/>
                </a:solidFill>
                <a:latin typeface="Times New Roman" panose="02020603050405020304" pitchFamily="18" charset="0"/>
                <a:ea typeface="宋体" panose="02010600030101010101" pitchFamily="2" charset="-122"/>
              </a:rPr>
              <a:t>，否则</a:t>
            </a:r>
            <a:r>
              <a:rPr lang="en-US" altLang="zh-CN" dirty="0">
                <a:solidFill>
                  <a:schemeClr val="tx2"/>
                </a:solidFill>
                <a:latin typeface="Times New Roman" panose="02020603050405020304" pitchFamily="18" charset="0"/>
                <a:ea typeface="宋体" panose="02010600030101010101" pitchFamily="2" charset="-122"/>
              </a:rPr>
              <a:t>AC</a:t>
            </a:r>
            <a:r>
              <a:rPr lang="zh-CN" altLang="en-US" dirty="0">
                <a:solidFill>
                  <a:schemeClr val="tx2"/>
                </a:solidFill>
                <a:latin typeface="Times New Roman" panose="02020603050405020304" pitchFamily="18" charset="0"/>
                <a:ea typeface="宋体" panose="02010600030101010101" pitchFamily="2" charset="-122"/>
              </a:rPr>
              <a:t>清</a:t>
            </a:r>
            <a:r>
              <a:rPr lang="en-US" altLang="zh-CN" dirty="0">
                <a:solidFill>
                  <a:schemeClr val="tx2"/>
                </a:solidFill>
                <a:latin typeface="Times New Roman" panose="02020603050405020304" pitchFamily="18" charset="0"/>
                <a:ea typeface="宋体" panose="02010600030101010101" pitchFamily="2" charset="-122"/>
              </a:rPr>
              <a:t>0</a:t>
            </a:r>
            <a:r>
              <a:rPr lang="zh-CN" altLang="en-US" dirty="0">
                <a:solidFill>
                  <a:schemeClr val="tx2"/>
                </a:solidFill>
                <a:latin typeface="Times New Roman" panose="02020603050405020304" pitchFamily="18" charset="0"/>
                <a:ea typeface="宋体" panose="02010600030101010101" pitchFamily="2" charset="-122"/>
              </a:rPr>
              <a:t>；</a:t>
            </a:r>
            <a:r>
              <a:rPr lang="zh-CN" altLang="en-US" b="0" dirty="0">
                <a:solidFill>
                  <a:schemeClr val="tx2"/>
                </a:solidFill>
                <a:latin typeface="Times New Roman" panose="02020603050405020304" pitchFamily="18" charset="0"/>
                <a:ea typeface="宋体" panose="02010600030101010101" pitchFamily="2" charset="-122"/>
              </a:rPr>
              <a:t/>
            </a:r>
            <a:br>
              <a:rPr lang="zh-CN" altLang="en-US" b="0" dirty="0">
                <a:solidFill>
                  <a:schemeClr val="tx2"/>
                </a:solidFill>
                <a:latin typeface="Times New Roman" panose="02020603050405020304" pitchFamily="18" charset="0"/>
                <a:ea typeface="宋体" panose="02010600030101010101" pitchFamily="2" charset="-122"/>
              </a:rPr>
            </a:br>
            <a:r>
              <a:rPr lang="zh-CN" altLang="en-US" dirty="0">
                <a:solidFill>
                  <a:schemeClr val="tx2"/>
                </a:solidFill>
                <a:latin typeface="Times New Roman" panose="02020603050405020304" pitchFamily="18" charset="0"/>
                <a:ea typeface="宋体" panose="02010600030101010101" pitchFamily="2" charset="-122"/>
              </a:rPr>
              <a:t>如果位</a:t>
            </a:r>
            <a:r>
              <a:rPr lang="en-US" altLang="zh-CN" dirty="0">
                <a:solidFill>
                  <a:schemeClr val="tx2"/>
                </a:solidFill>
                <a:latin typeface="Times New Roman" panose="02020603050405020304" pitchFamily="18" charset="0"/>
                <a:ea typeface="宋体" panose="02010600030101010101" pitchFamily="2" charset="-122"/>
              </a:rPr>
              <a:t>7</a:t>
            </a:r>
            <a:r>
              <a:rPr lang="zh-CN" altLang="en-US" dirty="0">
                <a:solidFill>
                  <a:schemeClr val="tx2"/>
                </a:solidFill>
                <a:latin typeface="Times New Roman" panose="02020603050405020304" pitchFamily="18" charset="0"/>
                <a:ea typeface="宋体" panose="02010600030101010101" pitchFamily="2" charset="-122"/>
              </a:rPr>
              <a:t>有进位，则进位标志</a:t>
            </a:r>
            <a:r>
              <a:rPr lang="en-US" altLang="zh-CN" dirty="0">
                <a:solidFill>
                  <a:schemeClr val="tx2"/>
                </a:solidFill>
                <a:latin typeface="Times New Roman" panose="02020603050405020304" pitchFamily="18" charset="0"/>
                <a:ea typeface="宋体" panose="02010600030101010101" pitchFamily="2" charset="-122"/>
              </a:rPr>
              <a:t>CY</a:t>
            </a:r>
            <a:r>
              <a:rPr lang="zh-CN" altLang="en-US" dirty="0">
                <a:solidFill>
                  <a:schemeClr val="tx2"/>
                </a:solidFill>
                <a:latin typeface="Times New Roman" panose="02020603050405020304" pitchFamily="18" charset="0"/>
                <a:ea typeface="宋体" panose="02010600030101010101" pitchFamily="2" charset="-122"/>
              </a:rPr>
              <a:t>置</a:t>
            </a:r>
            <a:r>
              <a:rPr lang="en-US" altLang="zh-CN" dirty="0">
                <a:solidFill>
                  <a:schemeClr val="tx2"/>
                </a:solidFill>
                <a:latin typeface="Times New Roman" panose="02020603050405020304" pitchFamily="18" charset="0"/>
                <a:ea typeface="宋体" panose="02010600030101010101" pitchFamily="2" charset="-122"/>
              </a:rPr>
              <a:t>1</a:t>
            </a:r>
            <a:r>
              <a:rPr lang="zh-CN" altLang="en-US" dirty="0">
                <a:solidFill>
                  <a:schemeClr val="tx2"/>
                </a:solidFill>
                <a:latin typeface="Times New Roman" panose="02020603050405020304" pitchFamily="18" charset="0"/>
                <a:ea typeface="宋体" panose="02010600030101010101" pitchFamily="2" charset="-122"/>
              </a:rPr>
              <a:t>，否则</a:t>
            </a:r>
            <a:r>
              <a:rPr lang="en-US" altLang="zh-CN" dirty="0">
                <a:solidFill>
                  <a:schemeClr val="tx2"/>
                </a:solidFill>
                <a:latin typeface="Times New Roman" panose="02020603050405020304" pitchFamily="18" charset="0"/>
                <a:ea typeface="宋体" panose="02010600030101010101" pitchFamily="2" charset="-122"/>
              </a:rPr>
              <a:t>CY</a:t>
            </a:r>
            <a:r>
              <a:rPr lang="zh-CN" altLang="en-US" dirty="0">
                <a:solidFill>
                  <a:schemeClr val="tx2"/>
                </a:solidFill>
                <a:latin typeface="Times New Roman" panose="02020603050405020304" pitchFamily="18" charset="0"/>
                <a:ea typeface="宋体" panose="02010600030101010101" pitchFamily="2" charset="-122"/>
              </a:rPr>
              <a:t>清</a:t>
            </a:r>
            <a:r>
              <a:rPr lang="en-US" altLang="zh-CN" dirty="0">
                <a:solidFill>
                  <a:schemeClr val="tx2"/>
                </a:solidFill>
                <a:latin typeface="Times New Roman" panose="02020603050405020304" pitchFamily="18" charset="0"/>
                <a:ea typeface="宋体" panose="02010600030101010101" pitchFamily="2" charset="-122"/>
              </a:rPr>
              <a:t>0</a:t>
            </a:r>
            <a:r>
              <a:rPr lang="zh-CN" altLang="en-US" dirty="0">
                <a:solidFill>
                  <a:schemeClr val="tx2"/>
                </a:solidFill>
                <a:latin typeface="Times New Roman" panose="02020603050405020304" pitchFamily="18" charset="0"/>
                <a:ea typeface="宋体" panose="02010600030101010101" pitchFamily="2" charset="-122"/>
              </a:rPr>
              <a:t>。</a:t>
            </a:r>
            <a:r>
              <a:rPr lang="zh-CN" altLang="en-US" b="0" dirty="0">
                <a:solidFill>
                  <a:schemeClr val="tx2"/>
                </a:solidFill>
                <a:latin typeface="Times New Roman" panose="02020603050405020304" pitchFamily="18" charset="0"/>
                <a:ea typeface="宋体" panose="02010600030101010101" pitchFamily="2" charset="-122"/>
              </a:rPr>
              <a:t/>
            </a:r>
            <a:br>
              <a:rPr lang="zh-CN" altLang="en-US" b="0" dirty="0">
                <a:solidFill>
                  <a:schemeClr val="tx2"/>
                </a:solidFill>
                <a:latin typeface="Times New Roman" panose="02020603050405020304" pitchFamily="18" charset="0"/>
                <a:ea typeface="宋体" panose="02010600030101010101" pitchFamily="2" charset="-122"/>
              </a:rPr>
            </a:br>
            <a:r>
              <a:rPr lang="zh-CN" altLang="en-US" dirty="0">
                <a:solidFill>
                  <a:schemeClr val="tx2"/>
                </a:solidFill>
                <a:latin typeface="Times New Roman" panose="02020603050405020304" pitchFamily="18" charset="0"/>
                <a:ea typeface="宋体" panose="02010600030101010101" pitchFamily="2" charset="-122"/>
              </a:rPr>
              <a:t>两个带符号数相加，还有溢出的问题。如果运算结果使溢出标志</a:t>
            </a:r>
            <a:r>
              <a:rPr lang="en-US" altLang="zh-CN" dirty="0">
                <a:solidFill>
                  <a:schemeClr val="tx2"/>
                </a:solidFill>
                <a:latin typeface="Times New Roman" panose="02020603050405020304" pitchFamily="18" charset="0"/>
                <a:ea typeface="宋体" panose="02010600030101010101" pitchFamily="2" charset="-122"/>
              </a:rPr>
              <a:t>OV</a:t>
            </a:r>
            <a:r>
              <a:rPr lang="zh-CN" altLang="en-US" dirty="0">
                <a:solidFill>
                  <a:schemeClr val="tx2"/>
                </a:solidFill>
                <a:latin typeface="Times New Roman" panose="02020603050405020304" pitchFamily="18" charset="0"/>
                <a:ea typeface="宋体" panose="02010600030101010101" pitchFamily="2" charset="-122"/>
              </a:rPr>
              <a:t>置</a:t>
            </a:r>
            <a:r>
              <a:rPr lang="en-US" altLang="zh-CN" dirty="0">
                <a:solidFill>
                  <a:schemeClr val="tx2"/>
                </a:solidFill>
                <a:latin typeface="Times New Roman" panose="02020603050405020304" pitchFamily="18" charset="0"/>
                <a:ea typeface="宋体" panose="02010600030101010101" pitchFamily="2" charset="-122"/>
              </a:rPr>
              <a:t>1</a:t>
            </a:r>
            <a:r>
              <a:rPr lang="zh-CN" altLang="en-US" dirty="0">
                <a:solidFill>
                  <a:schemeClr val="tx2"/>
                </a:solidFill>
                <a:latin typeface="Times New Roman" panose="02020603050405020304" pitchFamily="18" charset="0"/>
                <a:ea typeface="宋体" panose="02010600030101010101" pitchFamily="2" charset="-122"/>
              </a:rPr>
              <a:t>，则表示有溢出出现。</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文本框 1"/>
          <p:cNvSpPr txBox="1"/>
          <p:nvPr/>
        </p:nvSpPr>
        <p:spPr>
          <a:xfrm>
            <a:off x="0" y="971550"/>
            <a:ext cx="8578850" cy="460375"/>
          </a:xfrm>
          <a:prstGeom prst="rect">
            <a:avLst/>
          </a:prstGeom>
          <a:noFill/>
          <a:ln w="9525">
            <a:noFill/>
          </a:ln>
        </p:spPr>
        <p:txBody>
          <a:bodyPr anchor="t" anchorCtr="0">
            <a:spAutoFit/>
          </a:bodyPr>
          <a:lstStyle/>
          <a:p>
            <a:r>
              <a:rPr lang="zh-CN" altLang="zh-CN" dirty="0">
                <a:latin typeface="Times New Roman" panose="02020603050405020304" pitchFamily="18" charset="0"/>
                <a:ea typeface="宋体" panose="02010600030101010101" pitchFamily="2" charset="-122"/>
              </a:rPr>
              <a:t>例：用</a:t>
            </a:r>
            <a:r>
              <a:rPr lang="en-US" altLang="zh-CN" dirty="0">
                <a:latin typeface="Times New Roman" panose="02020603050405020304" pitchFamily="18" charset="0"/>
                <a:ea typeface="宋体" panose="02010600030101010101" pitchFamily="2" charset="-122"/>
              </a:rPr>
              <a:t>ADD</a:t>
            </a:r>
            <a:r>
              <a:rPr lang="zh-CN" altLang="en-US" dirty="0">
                <a:latin typeface="Times New Roman" panose="02020603050405020304" pitchFamily="18" charset="0"/>
                <a:ea typeface="宋体" panose="02010600030101010101" pitchFamily="2" charset="-122"/>
              </a:rPr>
              <a:t>指令实现</a:t>
            </a:r>
            <a:r>
              <a:rPr lang="en-US" altLang="zh-CN" dirty="0">
                <a:latin typeface="Times New Roman" panose="02020603050405020304" pitchFamily="18" charset="0"/>
                <a:ea typeface="宋体" panose="02010600030101010101" pitchFamily="2" charset="-122"/>
              </a:rPr>
              <a:t>0C3H+0AAH</a:t>
            </a:r>
            <a:r>
              <a:rPr lang="zh-CN" altLang="en-US" dirty="0">
                <a:latin typeface="Times New Roman" panose="02020603050405020304" pitchFamily="18" charset="0"/>
                <a:ea typeface="宋体" panose="02010600030101010101" pitchFamily="2" charset="-122"/>
              </a:rPr>
              <a:t>，并指出指令执行后的结果。</a:t>
            </a:r>
          </a:p>
        </p:txBody>
      </p:sp>
      <p:sp>
        <p:nvSpPr>
          <p:cNvPr id="4" name="文本框 3"/>
          <p:cNvSpPr txBox="1"/>
          <p:nvPr/>
        </p:nvSpPr>
        <p:spPr>
          <a:xfrm>
            <a:off x="979488" y="1584325"/>
            <a:ext cx="6107113" cy="1987550"/>
          </a:xfrm>
          <a:prstGeom prst="rect">
            <a:avLst/>
          </a:prstGeom>
          <a:solidFill>
            <a:schemeClr val="accent5">
              <a:lumMod val="20000"/>
              <a:lumOff val="80000"/>
            </a:schemeClr>
          </a:solidFill>
        </p:spPr>
        <p:txBody>
          <a:bodyPr>
            <a:spAutoFit/>
          </a:bodyPr>
          <a:lstStyle/>
          <a:p>
            <a:pPr marR="0" defTabSz="914400">
              <a:lnSpc>
                <a:spcPct val="140000"/>
              </a:lnSpc>
              <a:buClrTx/>
              <a:buSzTx/>
              <a:buFontTx/>
              <a:defRPr/>
            </a:pP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ADD  A</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 </a:t>
            </a: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Rn        	</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a:t>
            </a: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A←</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a:t>
            </a: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A</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a:t>
            </a: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a:t>
            </a: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Rn</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a:t>
            </a:r>
            <a:r>
              <a:rPr kumimoji="0" lang="zh-CN" altLang="en-US" sz="2200" kern="1200" cap="none" spc="0" normalizeH="0" baseline="0" noProof="0" dirty="0">
                <a:latin typeface="Times New Roman" panose="02020603050405020304" pitchFamily="18" charset="0"/>
                <a:ea typeface="宋体" panose="02010600030101010101" pitchFamily="2" charset="-122"/>
                <a:cs typeface="+mn-cs"/>
                <a:sym typeface="+mn-ea"/>
              </a:rPr>
              <a:t/>
            </a:r>
            <a:br>
              <a:rPr kumimoji="0" lang="zh-CN" altLang="en-US" sz="2200" kern="1200" cap="none" spc="0" normalizeH="0" baseline="0" noProof="0" dirty="0">
                <a:latin typeface="Times New Roman" panose="02020603050405020304" pitchFamily="18" charset="0"/>
                <a:ea typeface="宋体" panose="02010600030101010101" pitchFamily="2" charset="-122"/>
                <a:cs typeface="+mn-cs"/>
                <a:sym typeface="+mn-ea"/>
              </a:rPr>
            </a:b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ADD  A</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 </a:t>
            </a: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direct      	</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a:t>
            </a: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A←</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a:t>
            </a: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A</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a:t>
            </a: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a:t>
            </a: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direct</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a:t>
            </a:r>
            <a:r>
              <a:rPr kumimoji="0" lang="zh-CN" altLang="en-US" sz="2200" kern="1200" cap="none" spc="0" normalizeH="0" baseline="0" noProof="0" dirty="0">
                <a:latin typeface="Times New Roman" panose="02020603050405020304" pitchFamily="18" charset="0"/>
                <a:ea typeface="宋体" panose="02010600030101010101" pitchFamily="2" charset="-122"/>
                <a:cs typeface="+mn-cs"/>
                <a:sym typeface="+mn-ea"/>
              </a:rPr>
              <a:t/>
            </a:r>
            <a:br>
              <a:rPr kumimoji="0" lang="zh-CN" altLang="en-US" sz="2200" kern="1200" cap="none" spc="0" normalizeH="0" baseline="0" noProof="0" dirty="0">
                <a:latin typeface="Times New Roman" panose="02020603050405020304" pitchFamily="18" charset="0"/>
                <a:ea typeface="宋体" panose="02010600030101010101" pitchFamily="2" charset="-122"/>
                <a:cs typeface="+mn-cs"/>
                <a:sym typeface="+mn-ea"/>
              </a:rPr>
            </a:b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ADD  A</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 </a:t>
            </a: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@Ri       	</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a:t>
            </a: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A←</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a:t>
            </a: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A</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a:t>
            </a: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  ( (Ri) )</a:t>
            </a:r>
            <a:r>
              <a:rPr kumimoji="0" lang="en-US" altLang="zh-CN" sz="2200" kern="1200" cap="none" spc="0" normalizeH="0" baseline="0" noProof="0" dirty="0">
                <a:latin typeface="Times New Roman" panose="02020603050405020304" pitchFamily="18" charset="0"/>
                <a:ea typeface="宋体" panose="02010600030101010101" pitchFamily="2" charset="-122"/>
                <a:cs typeface="+mn-cs"/>
                <a:sym typeface="+mn-ea"/>
              </a:rPr>
              <a:t/>
            </a:r>
            <a:br>
              <a:rPr kumimoji="0" lang="en-US" altLang="zh-CN" sz="2200" kern="1200" cap="none" spc="0" normalizeH="0" baseline="0" noProof="0" dirty="0">
                <a:latin typeface="Times New Roman" panose="02020603050405020304" pitchFamily="18" charset="0"/>
                <a:ea typeface="宋体" panose="02010600030101010101" pitchFamily="2" charset="-122"/>
                <a:cs typeface="+mn-cs"/>
                <a:sym typeface="+mn-ea"/>
              </a:rPr>
            </a:b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ADD  A</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 </a:t>
            </a: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#data       	</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a:t>
            </a: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A←</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a:t>
            </a: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A</a:t>
            </a:r>
            <a:r>
              <a:rPr kumimoji="0" lang="zh-CN" altLang="en-US" sz="2200" kern="1200" cap="none" spc="0" normalizeH="0" baseline="0" noProof="1">
                <a:latin typeface="Times New Roman" panose="02020603050405020304" pitchFamily="18" charset="0"/>
                <a:ea typeface="宋体" panose="02010600030101010101" pitchFamily="2" charset="-122"/>
                <a:cs typeface="+mn-cs"/>
                <a:sym typeface="+mn-ea"/>
              </a:rPr>
              <a:t>）</a:t>
            </a:r>
            <a:r>
              <a:rPr kumimoji="0" lang="en-US" altLang="zh-CN" sz="2200" kern="1200" cap="none" spc="0" normalizeH="0" baseline="0" noProof="1">
                <a:latin typeface="Times New Roman" panose="02020603050405020304" pitchFamily="18" charset="0"/>
                <a:ea typeface="宋体" panose="02010600030101010101" pitchFamily="2" charset="-122"/>
                <a:cs typeface="+mn-cs"/>
                <a:sym typeface="+mn-ea"/>
              </a:rPr>
              <a:t>+data</a:t>
            </a:r>
            <a:endParaRPr kumimoji="0" lang="zh-CN" altLang="en-US" sz="2200" kern="1200" cap="none" spc="0" normalizeH="0" baseline="0" noProof="1">
              <a:latin typeface="Times New Roman" panose="02020603050405020304" pitchFamily="18" charset="0"/>
              <a:ea typeface="宋体" panose="02010600030101010101" pitchFamily="2" charset="-122"/>
              <a:cs typeface="+mn-cs"/>
            </a:endParaRPr>
          </a:p>
        </p:txBody>
      </p:sp>
      <p:sp>
        <p:nvSpPr>
          <p:cNvPr id="113667" name="文本框 4"/>
          <p:cNvSpPr txBox="1"/>
          <p:nvPr/>
        </p:nvSpPr>
        <p:spPr>
          <a:xfrm>
            <a:off x="2220913" y="4048125"/>
            <a:ext cx="2889250" cy="1198563"/>
          </a:xfrm>
          <a:prstGeom prst="rect">
            <a:avLst/>
          </a:prstGeom>
          <a:solidFill>
            <a:srgbClr val="C2FFF0"/>
          </a:solidFill>
          <a:ln w="9525" cap="flat" cmpd="sng">
            <a:solidFill>
              <a:srgbClr val="FFCCFF"/>
            </a:solidFill>
            <a:prstDash val="solid"/>
            <a:round/>
            <a:headEnd type="none" w="med" len="med"/>
            <a:tailEnd type="none" w="med" len="med"/>
          </a:ln>
        </p:spPr>
        <p:txBody>
          <a:bodyPr anchor="t" anchorCtr="0">
            <a:spAutoFit/>
          </a:bodyPr>
          <a:lstStyle/>
          <a:p>
            <a:pPr>
              <a:lnSpc>
                <a:spcPct val="150000"/>
              </a:lnSpc>
            </a:pPr>
            <a:r>
              <a:rPr lang="en-US" altLang="zh-CN" dirty="0">
                <a:latin typeface="Times New Roman" panose="02020603050405020304" pitchFamily="18" charset="0"/>
                <a:ea typeface="宋体" panose="02010600030101010101" pitchFamily="2" charset="-122"/>
              </a:rPr>
              <a:t>MOV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#0C3H</a:t>
            </a:r>
          </a:p>
          <a:p>
            <a:pPr>
              <a:lnSpc>
                <a:spcPct val="150000"/>
              </a:lnSpc>
            </a:pPr>
            <a:r>
              <a:rPr lang="en-US" altLang="zh-CN" dirty="0">
                <a:latin typeface="Times New Roman" panose="02020603050405020304" pitchFamily="18" charset="0"/>
                <a:ea typeface="宋体" panose="02010600030101010101" pitchFamily="2" charset="-122"/>
              </a:rPr>
              <a:t>ADD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#0AAH</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灯片编号占位符 3"/>
          <p:cNvSpPr>
            <a:spLocks noGrp="1"/>
          </p:cNvSpPr>
          <p:nvPr>
            <p:ph type="sldNum" sz="quarter" idx="12"/>
          </p:nvPr>
        </p:nvSpPr>
        <p:spPr>
          <a:xfrm>
            <a:off x="7236460" y="6381115"/>
            <a:ext cx="1905000" cy="457200"/>
          </a:xfrm>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85</a:t>
            </a:fld>
            <a:endParaRPr lang="en-US" altLang="zh-CN" sz="1400" b="0" dirty="0"/>
          </a:p>
        </p:txBody>
      </p:sp>
      <p:pic>
        <p:nvPicPr>
          <p:cNvPr id="2" name="图片 1"/>
          <p:cNvPicPr>
            <a:picLocks noChangeAspect="1"/>
          </p:cNvPicPr>
          <p:nvPr/>
        </p:nvPicPr>
        <p:blipFill>
          <a:blip r:embed="rId2"/>
          <a:stretch>
            <a:fillRect/>
          </a:stretch>
        </p:blipFill>
        <p:spPr>
          <a:xfrm>
            <a:off x="395605" y="836295"/>
            <a:ext cx="8268335" cy="5309870"/>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423545" y="852170"/>
            <a:ext cx="8029575" cy="4987290"/>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87</a:t>
            </a:fld>
            <a:endParaRPr lang="en-US" altLang="zh-CN" sz="1400" b="0" dirty="0"/>
          </a:p>
        </p:txBody>
      </p:sp>
      <p:sp>
        <p:nvSpPr>
          <p:cNvPr id="47107" name="Rectangle 3"/>
          <p:cNvSpPr/>
          <p:nvPr/>
        </p:nvSpPr>
        <p:spPr>
          <a:xfrm>
            <a:off x="228600" y="990600"/>
            <a:ext cx="8458200" cy="3670300"/>
          </a:xfrm>
          <a:prstGeom prst="rect">
            <a:avLst/>
          </a:prstGeom>
          <a:noFill/>
          <a:ln w="9525">
            <a:noFill/>
          </a:ln>
        </p:spPr>
        <p:txBody>
          <a:bodyPr anchor="t" anchorCtr="0">
            <a:spAutoFit/>
          </a:bodyPr>
          <a:lstStyle/>
          <a:p>
            <a:pPr indent="266700" algn="just">
              <a:lnSpc>
                <a:spcPct val="140000"/>
              </a:lnSpc>
            </a:pPr>
            <a:r>
              <a:rPr lang="en-US" altLang="zh-CN" dirty="0">
                <a:solidFill>
                  <a:srgbClr val="0000FF"/>
                </a:solidFill>
                <a:latin typeface="Times New Roman" panose="02020603050405020304" pitchFamily="18" charset="0"/>
                <a:ea typeface="黑体" panose="02010609060101010101" pitchFamily="49" charset="-122"/>
              </a:rPr>
              <a:t>2</a:t>
            </a:r>
            <a:r>
              <a:rPr lang="zh-CN" altLang="en-US" dirty="0">
                <a:solidFill>
                  <a:srgbClr val="0000FF"/>
                </a:solidFill>
                <a:latin typeface="Times New Roman" panose="02020603050405020304" pitchFamily="18" charset="0"/>
                <a:ea typeface="黑体" panose="02010609060101010101" pitchFamily="49" charset="-122"/>
              </a:rPr>
              <a:t>）带进位加法指令组：</a:t>
            </a:r>
            <a:endParaRPr lang="zh-CN" altLang="en-US" b="0" dirty="0">
              <a:latin typeface="Times New Roman" panose="02020603050405020304" pitchFamily="18" charset="0"/>
              <a:ea typeface="宋体" panose="02010600030101010101" pitchFamily="2" charset="-122"/>
            </a:endParaRPr>
          </a:p>
          <a:p>
            <a:pPr indent="266700" algn="just" eaLnBrk="0" hangingPunct="0">
              <a:lnSpc>
                <a:spcPct val="140000"/>
              </a:lnSpc>
            </a:pPr>
            <a:r>
              <a:rPr lang="zh-CN" altLang="en-US" dirty="0">
                <a:latin typeface="Times New Roman" panose="02020603050405020304" pitchFamily="18" charset="0"/>
                <a:ea typeface="宋体" panose="02010600030101010101" pitchFamily="2" charset="-122"/>
              </a:rPr>
              <a:t>三个数参加运算：累加器</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，不同寻址方式的加数，以及进位标志位</a:t>
            </a:r>
            <a:r>
              <a:rPr lang="en-US" altLang="zh-CN" dirty="0">
                <a:latin typeface="Times New Roman" panose="02020603050405020304" pitchFamily="18" charset="0"/>
                <a:ea typeface="宋体" panose="02010600030101010101" pitchFamily="2" charset="-122"/>
              </a:rPr>
              <a:t>CY</a:t>
            </a:r>
            <a:r>
              <a:rPr lang="zh-CN" altLang="en-US" dirty="0">
                <a:latin typeface="Times New Roman" panose="02020603050405020304" pitchFamily="18" charset="0"/>
                <a:ea typeface="宋体" panose="02010600030101010101" pitchFamily="2" charset="-122"/>
              </a:rPr>
              <a:t>，运算结果送累加器</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266700"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ADDC  A</a:t>
            </a:r>
            <a:r>
              <a:rPr lang="zh-CN" altLang="en-US" dirty="0">
                <a:solidFill>
                  <a:srgbClr val="0000FF"/>
                </a:solidFill>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Rn   		</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Rn</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CY</a:t>
            </a:r>
            <a:r>
              <a:rPr lang="zh-CN" altLang="en-US" dirty="0">
                <a:solidFill>
                  <a:srgbClr val="0000FF"/>
                </a:solidFill>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266700" algn="just" eaLnBrk="0" hangingPunct="0">
              <a:lnSpc>
                <a:spcPct val="140000"/>
              </a:lnSpc>
            </a:pPr>
            <a:r>
              <a:rPr lang="en-US" altLang="zh-CN" dirty="0">
                <a:solidFill>
                  <a:srgbClr val="0000FF"/>
                </a:solidFill>
                <a:latin typeface="Times New Roman" panose="02020603050405020304" pitchFamily="18" charset="0"/>
                <a:ea typeface="宋体" panose="02010600030101010101" pitchFamily="2" charset="-122"/>
              </a:rPr>
              <a:t>ADDC  A</a:t>
            </a:r>
            <a:r>
              <a:rPr lang="zh-CN" altLang="en-US" dirty="0">
                <a:solidFill>
                  <a:srgbClr val="0000FF"/>
                </a:solidFill>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direct  	</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direct</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CY</a:t>
            </a:r>
            <a:r>
              <a:rPr lang="zh-CN" altLang="en-US" dirty="0">
                <a:solidFill>
                  <a:srgbClr val="0000FF"/>
                </a:solidFill>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266700" algn="just" eaLnBrk="0" hangingPunct="0">
              <a:lnSpc>
                <a:spcPct val="140000"/>
              </a:lnSpc>
            </a:pPr>
            <a:r>
              <a:rPr lang="en-US" altLang="zh-CN" dirty="0">
                <a:solidFill>
                  <a:srgbClr val="0000FF"/>
                </a:solidFill>
                <a:latin typeface="Times New Roman" panose="02020603050405020304" pitchFamily="18" charset="0"/>
                <a:ea typeface="宋体" panose="02010600030101010101" pitchFamily="2" charset="-122"/>
              </a:rPr>
              <a:t>ADDC  A</a:t>
            </a:r>
            <a:r>
              <a:rPr lang="zh-CN" altLang="en-US" dirty="0">
                <a:solidFill>
                  <a:srgbClr val="0000FF"/>
                </a:solidFill>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@Ri    	</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Ri</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CY</a:t>
            </a:r>
            <a:r>
              <a:rPr lang="zh-CN" altLang="en-US" dirty="0">
                <a:solidFill>
                  <a:srgbClr val="0000FF"/>
                </a:solidFill>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266700" algn="just" eaLnBrk="0" hangingPunct="0">
              <a:lnSpc>
                <a:spcPct val="140000"/>
              </a:lnSpc>
            </a:pPr>
            <a:r>
              <a:rPr lang="en-US" altLang="zh-CN" dirty="0">
                <a:solidFill>
                  <a:srgbClr val="0000FF"/>
                </a:solidFill>
                <a:latin typeface="Times New Roman" panose="02020603050405020304" pitchFamily="18" charset="0"/>
                <a:ea typeface="宋体" panose="02010600030101010101" pitchFamily="2" charset="-122"/>
              </a:rPr>
              <a:t>ADDC  A</a:t>
            </a:r>
            <a:r>
              <a:rPr lang="zh-CN" altLang="en-US" dirty="0">
                <a:solidFill>
                  <a:srgbClr val="0000FF"/>
                </a:solidFill>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#data   	</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+data+</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CY</a:t>
            </a:r>
            <a:r>
              <a:rPr lang="zh-CN" altLang="en-US" dirty="0">
                <a:solidFill>
                  <a:srgbClr val="0000FF"/>
                </a:solidFill>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p:txBody>
      </p:sp>
      <p:sp>
        <p:nvSpPr>
          <p:cNvPr id="47108" name="Rectangle 4"/>
          <p:cNvSpPr/>
          <p:nvPr/>
        </p:nvSpPr>
        <p:spPr>
          <a:xfrm>
            <a:off x="539750" y="4941888"/>
            <a:ext cx="6924675" cy="457200"/>
          </a:xfrm>
          <a:prstGeom prst="rect">
            <a:avLst/>
          </a:prstGeom>
          <a:noFill/>
          <a:ln w="9525">
            <a:noFill/>
          </a:ln>
        </p:spPr>
        <p:txBody>
          <a:bodyPr wrap="none" anchor="t" anchorCtr="0">
            <a:spAutoFit/>
          </a:bodyPr>
          <a:lstStyle/>
          <a:p>
            <a:pPr algn="ctr"/>
            <a:r>
              <a:rPr lang="zh-CN" altLang="en-US" dirty="0">
                <a:solidFill>
                  <a:srgbClr val="000000"/>
                </a:solidFill>
                <a:latin typeface="Times New Roman" panose="02020603050405020304" pitchFamily="18" charset="0"/>
                <a:ea typeface="宋体" panose="02010600030101010101" pitchFamily="2" charset="-122"/>
              </a:rPr>
              <a:t>带进位加法运算指令常用于</a:t>
            </a:r>
            <a:r>
              <a:rPr lang="zh-CN" altLang="en-US" dirty="0">
                <a:solidFill>
                  <a:srgbClr val="FF0000"/>
                </a:solidFill>
                <a:latin typeface="Times New Roman" panose="02020603050405020304" pitchFamily="18" charset="0"/>
                <a:ea typeface="宋体" panose="02010600030101010101" pitchFamily="2" charset="-122"/>
              </a:rPr>
              <a:t>多字节数的加法运算</a:t>
            </a:r>
            <a:r>
              <a:rPr lang="zh-CN" altLang="en-US" dirty="0">
                <a:solidFill>
                  <a:srgbClr val="000000"/>
                </a:solidFill>
                <a:latin typeface="Times New Roman" panose="02020603050405020304" pitchFamily="18" charset="0"/>
                <a:ea typeface="宋体" panose="02010600030101010101" pitchFamily="2" charset="-122"/>
              </a:rPr>
              <a:t>。</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88</a:t>
            </a:fld>
            <a:endParaRPr lang="en-US" altLang="zh-CN" sz="1400" b="0" dirty="0"/>
          </a:p>
        </p:txBody>
      </p:sp>
      <p:sp>
        <p:nvSpPr>
          <p:cNvPr id="49154" name="Rectangle 2"/>
          <p:cNvSpPr/>
          <p:nvPr/>
        </p:nvSpPr>
        <p:spPr>
          <a:xfrm>
            <a:off x="342900" y="812800"/>
            <a:ext cx="8458200" cy="830263"/>
          </a:xfrm>
          <a:prstGeom prst="rect">
            <a:avLst/>
          </a:prstGeom>
          <a:noFill/>
          <a:ln w="9525">
            <a:noFill/>
          </a:ln>
        </p:spPr>
        <p:txBody>
          <a:bodyPr anchor="t" anchorCtr="0">
            <a:spAutoFit/>
          </a:bodyPr>
          <a:lstStyle/>
          <a:p>
            <a:pPr indent="459105"/>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4-5 </a:t>
            </a:r>
            <a:r>
              <a:rPr lang="zh-CN" altLang="en-US" dirty="0">
                <a:latin typeface="Times New Roman" panose="02020603050405020304" pitchFamily="18" charset="0"/>
                <a:ea typeface="宋体" panose="02010600030101010101" pitchFamily="2" charset="-122"/>
              </a:rPr>
              <a:t>利用</a:t>
            </a:r>
            <a:r>
              <a:rPr lang="en-US" altLang="zh-CN" dirty="0">
                <a:latin typeface="Times New Roman" panose="02020603050405020304" pitchFamily="18" charset="0"/>
                <a:ea typeface="宋体" panose="02010600030101010101" pitchFamily="2" charset="-122"/>
              </a:rPr>
              <a:t>ADDC</a:t>
            </a:r>
            <a:r>
              <a:rPr lang="zh-CN" altLang="en-US" dirty="0">
                <a:latin typeface="Times New Roman" panose="02020603050405020304" pitchFamily="18" charset="0"/>
                <a:ea typeface="宋体" panose="02010600030101010101" pitchFamily="2" charset="-122"/>
              </a:rPr>
              <a:t>指令编写计算</a:t>
            </a:r>
            <a:r>
              <a:rPr lang="en-US" altLang="zh-CN" dirty="0">
                <a:latin typeface="Times New Roman" panose="02020603050405020304" pitchFamily="18" charset="0"/>
                <a:ea typeface="宋体" panose="02010600030101010101" pitchFamily="2" charset="-122"/>
              </a:rPr>
              <a:t>9878H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8934H</a:t>
            </a:r>
            <a:r>
              <a:rPr lang="zh-CN" altLang="en-US" dirty="0">
                <a:latin typeface="Times New Roman" panose="02020603050405020304" pitchFamily="18" charset="0"/>
                <a:ea typeface="宋体" panose="02010600030101010101" pitchFamily="2" charset="-122"/>
              </a:rPr>
              <a:t>的汇编语言源程序。      </a:t>
            </a:r>
          </a:p>
        </p:txBody>
      </p:sp>
      <p:sp>
        <p:nvSpPr>
          <p:cNvPr id="49155" name="Rectangle 3"/>
          <p:cNvSpPr/>
          <p:nvPr/>
        </p:nvSpPr>
        <p:spPr>
          <a:xfrm>
            <a:off x="0" y="1916113"/>
            <a:ext cx="4684713" cy="2489200"/>
          </a:xfrm>
          <a:prstGeom prst="rect">
            <a:avLst/>
          </a:prstGeom>
          <a:noFill/>
          <a:ln w="9525">
            <a:noFill/>
          </a:ln>
        </p:spPr>
        <p:txBody>
          <a:bodyPr anchor="t" anchorCtr="0">
            <a:spAutoFit/>
          </a:bodyPr>
          <a:lstStyle/>
          <a:p>
            <a:pPr indent="459105" algn="just">
              <a:lnSpc>
                <a:spcPct val="130000"/>
              </a:lnSpc>
            </a:pPr>
            <a:r>
              <a:rPr lang="zh-CN" altLang="en-US" dirty="0">
                <a:latin typeface="Times New Roman" panose="02020603050405020304" pitchFamily="18" charset="0"/>
                <a:ea typeface="宋体" panose="02010600030101010101" pitchFamily="2" charset="-122"/>
              </a:rPr>
              <a:t>假设：被加数</a:t>
            </a:r>
            <a:r>
              <a:rPr lang="en-US" altLang="zh-CN" dirty="0">
                <a:latin typeface="Times New Roman" panose="02020603050405020304" pitchFamily="18" charset="0"/>
                <a:ea typeface="宋体" panose="02010600030101010101" pitchFamily="2" charset="-122"/>
              </a:rPr>
              <a:t>: </a:t>
            </a:r>
            <a:r>
              <a:rPr lang="en-US" altLang="zh-CN" dirty="0">
                <a:solidFill>
                  <a:srgbClr val="3366FF"/>
                </a:solidFill>
                <a:latin typeface="Times New Roman" panose="02020603050405020304" pitchFamily="18" charset="0"/>
                <a:ea typeface="宋体" panose="02010600030101010101" pitchFamily="2" charset="-122"/>
              </a:rPr>
              <a:t>31H</a:t>
            </a:r>
            <a:r>
              <a:rPr lang="zh-CN" altLang="en-US" dirty="0">
                <a:solidFill>
                  <a:srgbClr val="3366FF"/>
                </a:solidFill>
                <a:latin typeface="Times New Roman" panose="02020603050405020304" pitchFamily="18" charset="0"/>
                <a:ea typeface="宋体" panose="02010600030101010101" pitchFamily="2" charset="-122"/>
              </a:rPr>
              <a:t>、</a:t>
            </a:r>
            <a:r>
              <a:rPr lang="en-US" altLang="zh-CN" dirty="0">
                <a:solidFill>
                  <a:srgbClr val="3366FF"/>
                </a:solidFill>
                <a:latin typeface="Times New Roman" panose="02020603050405020304" pitchFamily="18" charset="0"/>
                <a:ea typeface="宋体" panose="02010600030101010101" pitchFamily="2" charset="-122"/>
              </a:rPr>
              <a:t>32H</a:t>
            </a:r>
            <a:r>
              <a:rPr lang="zh-CN" altLang="en-US" dirty="0">
                <a:latin typeface="Times New Roman" panose="02020603050405020304" pitchFamily="18" charset="0"/>
                <a:ea typeface="宋体" panose="02010600030101010101" pitchFamily="2" charset="-122"/>
              </a:rPr>
              <a:t>单元</a:t>
            </a:r>
          </a:p>
          <a:p>
            <a:pPr indent="459105" algn="just">
              <a:lnSpc>
                <a:spcPct val="130000"/>
              </a:lnSpc>
            </a:pPr>
            <a:r>
              <a:rPr lang="zh-CN" altLang="en-US" dirty="0">
                <a:latin typeface="Times New Roman" panose="02020603050405020304" pitchFamily="18" charset="0"/>
                <a:ea typeface="宋体" panose="02010600030101010101" pitchFamily="2" charset="-122"/>
              </a:rPr>
              <a:t>                            （低位在前），</a:t>
            </a:r>
          </a:p>
          <a:p>
            <a:pPr indent="459105" algn="just">
              <a:lnSpc>
                <a:spcPct val="130000"/>
              </a:lnSpc>
            </a:pPr>
            <a:r>
              <a:rPr lang="zh-CN" altLang="en-US" dirty="0">
                <a:latin typeface="Times New Roman" panose="02020603050405020304" pitchFamily="18" charset="0"/>
                <a:ea typeface="宋体" panose="02010600030101010101" pitchFamily="2" charset="-122"/>
              </a:rPr>
              <a:t>             加数</a:t>
            </a:r>
            <a:r>
              <a:rPr lang="en-US" altLang="zh-CN" dirty="0">
                <a:latin typeface="Times New Roman" panose="02020603050405020304" pitchFamily="18" charset="0"/>
                <a:ea typeface="宋体" panose="02010600030101010101" pitchFamily="2" charset="-122"/>
              </a:rPr>
              <a:t>:   </a:t>
            </a:r>
            <a:r>
              <a:rPr lang="en-US" altLang="zh-CN" dirty="0">
                <a:solidFill>
                  <a:srgbClr val="3366FF"/>
                </a:solidFill>
                <a:latin typeface="Times New Roman" panose="02020603050405020304" pitchFamily="18" charset="0"/>
                <a:ea typeface="宋体" panose="02010600030101010101" pitchFamily="2" charset="-122"/>
              </a:rPr>
              <a:t>33H</a:t>
            </a:r>
            <a:r>
              <a:rPr lang="zh-CN" altLang="en-US" dirty="0">
                <a:solidFill>
                  <a:srgbClr val="3366FF"/>
                </a:solidFill>
                <a:latin typeface="Times New Roman" panose="02020603050405020304" pitchFamily="18" charset="0"/>
                <a:ea typeface="宋体" panose="02010600030101010101" pitchFamily="2" charset="-122"/>
              </a:rPr>
              <a:t>、</a:t>
            </a:r>
            <a:r>
              <a:rPr lang="en-US" altLang="zh-CN" dirty="0">
                <a:solidFill>
                  <a:srgbClr val="3366FF"/>
                </a:solidFill>
                <a:latin typeface="Times New Roman" panose="02020603050405020304" pitchFamily="18" charset="0"/>
                <a:ea typeface="宋体" panose="02010600030101010101" pitchFamily="2" charset="-122"/>
              </a:rPr>
              <a:t>34H</a:t>
            </a:r>
            <a:r>
              <a:rPr lang="zh-CN" altLang="en-US" dirty="0">
                <a:latin typeface="Times New Roman" panose="02020603050405020304" pitchFamily="18" charset="0"/>
                <a:ea typeface="宋体" panose="02010600030101010101" pitchFamily="2" charset="-122"/>
              </a:rPr>
              <a:t>单元</a:t>
            </a:r>
          </a:p>
          <a:p>
            <a:pPr indent="459105" algn="just">
              <a:lnSpc>
                <a:spcPct val="130000"/>
              </a:lnSpc>
            </a:pPr>
            <a:r>
              <a:rPr lang="zh-CN" altLang="en-US" dirty="0">
                <a:latin typeface="Times New Roman" panose="02020603050405020304" pitchFamily="18" charset="0"/>
                <a:ea typeface="宋体" panose="02010600030101010101" pitchFamily="2" charset="-122"/>
              </a:rPr>
              <a:t>             和：    </a:t>
            </a:r>
            <a:r>
              <a:rPr lang="en-US" altLang="zh-CN" dirty="0">
                <a:solidFill>
                  <a:srgbClr val="3366FF"/>
                </a:solidFill>
                <a:latin typeface="Times New Roman" panose="02020603050405020304" pitchFamily="18" charset="0"/>
                <a:ea typeface="宋体" panose="02010600030101010101" pitchFamily="2" charset="-122"/>
              </a:rPr>
              <a:t>35</a:t>
            </a:r>
            <a:r>
              <a:rPr lang="zh-CN" altLang="en-US" dirty="0">
                <a:solidFill>
                  <a:srgbClr val="3366FF"/>
                </a:solidFill>
                <a:latin typeface="Times New Roman" panose="02020603050405020304" pitchFamily="18" charset="0"/>
                <a:ea typeface="宋体" panose="02010600030101010101" pitchFamily="2" charset="-122"/>
              </a:rPr>
              <a:t>、</a:t>
            </a:r>
            <a:r>
              <a:rPr lang="en-US" altLang="zh-CN" dirty="0">
                <a:solidFill>
                  <a:srgbClr val="3366FF"/>
                </a:solidFill>
                <a:latin typeface="Times New Roman" panose="02020603050405020304" pitchFamily="18" charset="0"/>
                <a:ea typeface="宋体" panose="02010600030101010101" pitchFamily="2" charset="-122"/>
              </a:rPr>
              <a:t>36H  </a:t>
            </a:r>
            <a:r>
              <a:rPr lang="zh-CN" altLang="en-US" dirty="0">
                <a:latin typeface="Times New Roman" panose="02020603050405020304" pitchFamily="18" charset="0"/>
                <a:ea typeface="宋体" panose="02010600030101010101" pitchFamily="2" charset="-122"/>
              </a:rPr>
              <a:t>单元，</a:t>
            </a:r>
          </a:p>
          <a:p>
            <a:pPr indent="459105" algn="just">
              <a:lnSpc>
                <a:spcPct val="130000"/>
              </a:lnSpc>
            </a:pPr>
            <a:r>
              <a:rPr lang="zh-CN" altLang="en-US" dirty="0">
                <a:latin typeface="Times New Roman" panose="02020603050405020304" pitchFamily="18" charset="0"/>
                <a:ea typeface="宋体" panose="02010600030101010101" pitchFamily="2" charset="-122"/>
              </a:rPr>
              <a:t>             进位位：</a:t>
            </a:r>
            <a:r>
              <a:rPr lang="en-US" altLang="zh-CN" dirty="0">
                <a:solidFill>
                  <a:srgbClr val="3366FF"/>
                </a:solidFill>
                <a:latin typeface="Times New Roman" panose="02020603050405020304" pitchFamily="18" charset="0"/>
                <a:ea typeface="宋体" panose="02010600030101010101" pitchFamily="2" charset="-122"/>
              </a:rPr>
              <a:t>37H</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单元。</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89</a:t>
            </a:fld>
            <a:endParaRPr lang="en-US" altLang="zh-CN" sz="1400" b="0" dirty="0"/>
          </a:p>
        </p:txBody>
      </p:sp>
      <p:pic>
        <p:nvPicPr>
          <p:cNvPr id="3" name="图片 2"/>
          <p:cNvPicPr>
            <a:picLocks noChangeAspect="1"/>
          </p:cNvPicPr>
          <p:nvPr/>
        </p:nvPicPr>
        <p:blipFill>
          <a:blip r:embed="rId2"/>
          <a:stretch>
            <a:fillRect/>
          </a:stretch>
        </p:blipFill>
        <p:spPr>
          <a:xfrm>
            <a:off x="323850" y="692785"/>
            <a:ext cx="8393430" cy="6064250"/>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90</a:t>
            </a:fld>
            <a:endParaRPr lang="en-US" altLang="zh-CN" sz="1400" b="0" dirty="0"/>
          </a:p>
        </p:txBody>
      </p:sp>
      <p:sp>
        <p:nvSpPr>
          <p:cNvPr id="119810" name="Rectangle 2"/>
          <p:cNvSpPr/>
          <p:nvPr/>
        </p:nvSpPr>
        <p:spPr>
          <a:xfrm>
            <a:off x="228600" y="1066800"/>
            <a:ext cx="8763000" cy="5259070"/>
          </a:xfrm>
          <a:prstGeom prst="rect">
            <a:avLst/>
          </a:prstGeom>
          <a:noFill/>
          <a:ln w="9525">
            <a:noFill/>
          </a:ln>
        </p:spPr>
        <p:txBody>
          <a:bodyPr anchor="t" anchorCtr="0">
            <a:spAutoFit/>
          </a:bodyPr>
          <a:lstStyle/>
          <a:p>
            <a:pPr indent="268605" algn="just">
              <a:lnSpc>
                <a:spcPct val="140000"/>
              </a:lnSpc>
            </a:pPr>
            <a:r>
              <a:rPr lang="en-US" altLang="zh-CN" dirty="0">
                <a:solidFill>
                  <a:schemeClr val="accent2"/>
                </a:solidFill>
                <a:latin typeface="Times New Roman" panose="02020603050405020304" pitchFamily="18" charset="0"/>
                <a:ea typeface="黑体" panose="02010609060101010101" pitchFamily="49" charset="-122"/>
              </a:rPr>
              <a:t>3</a:t>
            </a:r>
            <a:r>
              <a:rPr lang="zh-CN" altLang="en-US" dirty="0">
                <a:solidFill>
                  <a:schemeClr val="accent2"/>
                </a:solidFill>
                <a:latin typeface="Times New Roman" panose="02020603050405020304" pitchFamily="18" charset="0"/>
                <a:ea typeface="黑体" panose="02010609060101010101" pitchFamily="49" charset="-122"/>
              </a:rPr>
              <a:t>）带借位减法指令组：</a:t>
            </a:r>
            <a:endParaRPr lang="zh-CN" altLang="en-US" b="0" dirty="0">
              <a:solidFill>
                <a:schemeClr val="accent2"/>
              </a:solidFill>
              <a:latin typeface="Times New Roman" panose="02020603050405020304" pitchFamily="18" charset="0"/>
              <a:ea typeface="宋体" panose="02010600030101010101" pitchFamily="2" charset="-122"/>
            </a:endParaRPr>
          </a:p>
          <a:p>
            <a:pPr indent="268605" algn="just" eaLnBrk="0" hangingPunct="0">
              <a:lnSpc>
                <a:spcPct val="140000"/>
              </a:lnSpc>
            </a:pPr>
            <a:r>
              <a:rPr lang="zh-CN" altLang="en-US" dirty="0">
                <a:latin typeface="Times New Roman" panose="02020603050405020304" pitchFamily="18" charset="0"/>
                <a:ea typeface="宋体" panose="02010600030101010101" pitchFamily="2" charset="-122"/>
              </a:rPr>
              <a:t>带</a:t>
            </a:r>
            <a:r>
              <a:rPr lang="zh-CN" altLang="en-US" dirty="0">
                <a:latin typeface="Times New Roman" panose="02020603050405020304" pitchFamily="18" charset="0"/>
                <a:ea typeface="黑体" panose="02010609060101010101" pitchFamily="49" charset="-122"/>
              </a:rPr>
              <a:t>借</a:t>
            </a:r>
            <a:r>
              <a:rPr lang="zh-CN" altLang="en-US" dirty="0">
                <a:latin typeface="Times New Roman" panose="02020603050405020304" pitchFamily="18" charset="0"/>
                <a:ea typeface="宋体" panose="02010600030101010101" pitchFamily="2" charset="-122"/>
              </a:rPr>
              <a:t>位减法指令也有四条：</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40000"/>
              </a:lnSpc>
            </a:pPr>
            <a:endParaRPr lang="zh-CN" altLang="en-US" dirty="0">
              <a:solidFill>
                <a:srgbClr val="3366FF"/>
              </a:solidFill>
              <a:latin typeface="Times New Roman" panose="02020603050405020304" pitchFamily="18" charset="0"/>
              <a:ea typeface="宋体" panose="02010600030101010101" pitchFamily="2" charset="-122"/>
            </a:endParaRPr>
          </a:p>
          <a:p>
            <a:pPr indent="268605" algn="just" eaLnBrk="0" hangingPunct="0">
              <a:lnSpc>
                <a:spcPct val="140000"/>
              </a:lnSpc>
            </a:pPr>
            <a:r>
              <a:rPr lang="en-US" altLang="zh-CN" dirty="0">
                <a:solidFill>
                  <a:srgbClr val="3366FF"/>
                </a:solidFill>
                <a:latin typeface="Times New Roman" panose="02020603050405020304" pitchFamily="18" charset="0"/>
                <a:ea typeface="宋体" panose="02010600030101010101" pitchFamily="2" charset="-122"/>
              </a:rPr>
              <a:t>SUBB 	A</a:t>
            </a:r>
            <a:r>
              <a:rPr lang="zh-CN" altLang="en-US" dirty="0">
                <a:solidFill>
                  <a:srgbClr val="3366FF"/>
                </a:solidFill>
                <a:latin typeface="Times New Roman" panose="02020603050405020304" pitchFamily="18" charset="0"/>
                <a:ea typeface="宋体" panose="02010600030101010101" pitchFamily="2" charset="-122"/>
              </a:rPr>
              <a:t>，</a:t>
            </a:r>
            <a:r>
              <a:rPr lang="en-US" altLang="zh-CN" dirty="0">
                <a:solidFill>
                  <a:srgbClr val="3366FF"/>
                </a:solidFill>
                <a:latin typeface="Times New Roman" panose="02020603050405020304" pitchFamily="18" charset="0"/>
                <a:ea typeface="宋体" panose="02010600030101010101" pitchFamily="2" charset="-122"/>
              </a:rPr>
              <a:t>Rn    	</a:t>
            </a:r>
            <a:r>
              <a:rPr lang="zh-CN" altLang="en-US" dirty="0">
                <a:solidFill>
                  <a:srgbClr val="3366FF"/>
                </a:solidFill>
                <a:latin typeface="Times New Roman" panose="02020603050405020304" pitchFamily="18" charset="0"/>
                <a:ea typeface="宋体" panose="02010600030101010101" pitchFamily="2" charset="-122"/>
              </a:rPr>
              <a:t>； </a:t>
            </a:r>
            <a:r>
              <a:rPr lang="en-US" altLang="zh-CN" dirty="0">
                <a:solidFill>
                  <a:srgbClr val="3366FF"/>
                </a:solidFill>
                <a:latin typeface="Times New Roman" panose="02020603050405020304" pitchFamily="18" charset="0"/>
                <a:ea typeface="宋体" panose="02010600030101010101" pitchFamily="2" charset="-122"/>
              </a:rPr>
              <a:t>A←(A)</a:t>
            </a:r>
            <a:r>
              <a:rPr lang="zh-CN" altLang="en-US" dirty="0">
                <a:solidFill>
                  <a:srgbClr val="3366FF"/>
                </a:solidFill>
                <a:latin typeface="Times New Roman" panose="02020603050405020304" pitchFamily="18" charset="0"/>
                <a:ea typeface="宋体" panose="02010600030101010101" pitchFamily="2" charset="-122"/>
              </a:rPr>
              <a:t>－</a:t>
            </a:r>
            <a:r>
              <a:rPr lang="en-US" altLang="zh-CN" dirty="0">
                <a:solidFill>
                  <a:srgbClr val="3366FF"/>
                </a:solidFill>
                <a:latin typeface="Times New Roman" panose="02020603050405020304" pitchFamily="18" charset="0"/>
                <a:ea typeface="宋体" panose="02010600030101010101" pitchFamily="2" charset="-122"/>
              </a:rPr>
              <a:t>(Rn)</a:t>
            </a:r>
            <a:r>
              <a:rPr lang="zh-CN" altLang="en-US" dirty="0">
                <a:solidFill>
                  <a:srgbClr val="3366FF"/>
                </a:solidFill>
                <a:latin typeface="Times New Roman" panose="02020603050405020304" pitchFamily="18" charset="0"/>
                <a:ea typeface="宋体" panose="02010600030101010101" pitchFamily="2" charset="-122"/>
              </a:rPr>
              <a:t>－</a:t>
            </a:r>
            <a:r>
              <a:rPr lang="en-US" altLang="zh-CN" dirty="0">
                <a:solidFill>
                  <a:srgbClr val="3366FF"/>
                </a:solidFill>
                <a:latin typeface="Times New Roman" panose="02020603050405020304" pitchFamily="18" charset="0"/>
                <a:ea typeface="宋体" panose="02010600030101010101" pitchFamily="2" charset="-122"/>
              </a:rPr>
              <a:t>(CY)</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40000"/>
              </a:lnSpc>
            </a:pPr>
            <a:r>
              <a:rPr lang="en-US" altLang="zh-CN" dirty="0">
                <a:solidFill>
                  <a:srgbClr val="3366FF"/>
                </a:solidFill>
                <a:latin typeface="Times New Roman" panose="02020603050405020304" pitchFamily="18" charset="0"/>
                <a:ea typeface="宋体" panose="02010600030101010101" pitchFamily="2" charset="-122"/>
              </a:rPr>
              <a:t>SUBB 	A</a:t>
            </a:r>
            <a:r>
              <a:rPr lang="zh-CN" altLang="en-US" dirty="0">
                <a:solidFill>
                  <a:srgbClr val="3366FF"/>
                </a:solidFill>
                <a:latin typeface="Times New Roman" panose="02020603050405020304" pitchFamily="18" charset="0"/>
                <a:ea typeface="宋体" panose="02010600030101010101" pitchFamily="2" charset="-122"/>
              </a:rPr>
              <a:t>，</a:t>
            </a:r>
            <a:r>
              <a:rPr lang="en-US" altLang="zh-CN" dirty="0">
                <a:solidFill>
                  <a:srgbClr val="3366FF"/>
                </a:solidFill>
                <a:latin typeface="Times New Roman" panose="02020603050405020304" pitchFamily="18" charset="0"/>
                <a:ea typeface="宋体" panose="02010600030101010101" pitchFamily="2" charset="-122"/>
              </a:rPr>
              <a:t>direct  	</a:t>
            </a:r>
            <a:r>
              <a:rPr lang="zh-CN" altLang="en-US" dirty="0">
                <a:solidFill>
                  <a:srgbClr val="3366FF"/>
                </a:solidFill>
                <a:latin typeface="Times New Roman" panose="02020603050405020304" pitchFamily="18" charset="0"/>
                <a:ea typeface="宋体" panose="02010600030101010101" pitchFamily="2" charset="-122"/>
              </a:rPr>
              <a:t>； </a:t>
            </a:r>
            <a:r>
              <a:rPr lang="en-US" altLang="zh-CN" dirty="0">
                <a:solidFill>
                  <a:srgbClr val="3366FF"/>
                </a:solidFill>
                <a:latin typeface="Times New Roman" panose="02020603050405020304" pitchFamily="18" charset="0"/>
                <a:ea typeface="宋体" panose="02010600030101010101" pitchFamily="2" charset="-122"/>
              </a:rPr>
              <a:t>A←(A)</a:t>
            </a:r>
            <a:r>
              <a:rPr lang="zh-CN" altLang="en-US" dirty="0">
                <a:solidFill>
                  <a:srgbClr val="3366FF"/>
                </a:solidFill>
                <a:latin typeface="Times New Roman" panose="02020603050405020304" pitchFamily="18" charset="0"/>
                <a:ea typeface="宋体" panose="02010600030101010101" pitchFamily="2" charset="-122"/>
              </a:rPr>
              <a:t>－</a:t>
            </a:r>
            <a:r>
              <a:rPr lang="en-US" altLang="zh-CN" dirty="0">
                <a:solidFill>
                  <a:srgbClr val="3366FF"/>
                </a:solidFill>
                <a:latin typeface="Times New Roman" panose="02020603050405020304" pitchFamily="18" charset="0"/>
                <a:ea typeface="宋体" panose="02010600030101010101" pitchFamily="2" charset="-122"/>
              </a:rPr>
              <a:t>(direct)</a:t>
            </a:r>
            <a:r>
              <a:rPr lang="zh-CN" altLang="en-US" dirty="0">
                <a:solidFill>
                  <a:srgbClr val="3366FF"/>
                </a:solidFill>
                <a:latin typeface="Times New Roman" panose="02020603050405020304" pitchFamily="18" charset="0"/>
                <a:ea typeface="宋体" panose="02010600030101010101" pitchFamily="2" charset="-122"/>
              </a:rPr>
              <a:t>－</a:t>
            </a:r>
            <a:r>
              <a:rPr lang="en-US" altLang="zh-CN" dirty="0">
                <a:solidFill>
                  <a:srgbClr val="3366FF"/>
                </a:solidFill>
                <a:latin typeface="Times New Roman" panose="02020603050405020304" pitchFamily="18" charset="0"/>
                <a:ea typeface="宋体" panose="02010600030101010101" pitchFamily="2" charset="-122"/>
              </a:rPr>
              <a:t>(CY)</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40000"/>
              </a:lnSpc>
            </a:pPr>
            <a:r>
              <a:rPr lang="en-US" altLang="zh-CN" dirty="0">
                <a:solidFill>
                  <a:srgbClr val="3366FF"/>
                </a:solidFill>
                <a:latin typeface="Times New Roman" panose="02020603050405020304" pitchFamily="18" charset="0"/>
                <a:ea typeface="宋体" panose="02010600030101010101" pitchFamily="2" charset="-122"/>
              </a:rPr>
              <a:t>SUBB 	A</a:t>
            </a:r>
            <a:r>
              <a:rPr lang="zh-CN" altLang="en-US" dirty="0">
                <a:solidFill>
                  <a:srgbClr val="3366FF"/>
                </a:solidFill>
                <a:latin typeface="Times New Roman" panose="02020603050405020304" pitchFamily="18" charset="0"/>
                <a:ea typeface="宋体" panose="02010600030101010101" pitchFamily="2" charset="-122"/>
              </a:rPr>
              <a:t>，</a:t>
            </a:r>
            <a:r>
              <a:rPr lang="en-US" altLang="zh-CN" dirty="0">
                <a:solidFill>
                  <a:srgbClr val="3366FF"/>
                </a:solidFill>
                <a:latin typeface="Times New Roman" panose="02020603050405020304" pitchFamily="18" charset="0"/>
                <a:ea typeface="宋体" panose="02010600030101010101" pitchFamily="2" charset="-122"/>
              </a:rPr>
              <a:t>@Ri   	</a:t>
            </a:r>
            <a:r>
              <a:rPr lang="zh-CN" altLang="en-US" dirty="0">
                <a:solidFill>
                  <a:srgbClr val="3366FF"/>
                </a:solidFill>
                <a:latin typeface="Times New Roman" panose="02020603050405020304" pitchFamily="18" charset="0"/>
                <a:ea typeface="宋体" panose="02010600030101010101" pitchFamily="2" charset="-122"/>
              </a:rPr>
              <a:t>； </a:t>
            </a:r>
            <a:r>
              <a:rPr lang="en-US" altLang="zh-CN" dirty="0">
                <a:solidFill>
                  <a:srgbClr val="3366FF"/>
                </a:solidFill>
                <a:latin typeface="Times New Roman" panose="02020603050405020304" pitchFamily="18" charset="0"/>
                <a:ea typeface="宋体" panose="02010600030101010101" pitchFamily="2" charset="-122"/>
              </a:rPr>
              <a:t>A←(A)</a:t>
            </a:r>
            <a:r>
              <a:rPr lang="zh-CN" altLang="en-US" dirty="0">
                <a:solidFill>
                  <a:srgbClr val="3366FF"/>
                </a:solidFill>
                <a:latin typeface="Times New Roman" panose="02020603050405020304" pitchFamily="18" charset="0"/>
                <a:ea typeface="宋体" panose="02010600030101010101" pitchFamily="2" charset="-122"/>
              </a:rPr>
              <a:t>－</a:t>
            </a:r>
            <a:r>
              <a:rPr lang="en-US" altLang="zh-CN" dirty="0">
                <a:solidFill>
                  <a:srgbClr val="3366FF"/>
                </a:solidFill>
                <a:latin typeface="Times New Roman" panose="02020603050405020304" pitchFamily="18" charset="0"/>
                <a:ea typeface="宋体" panose="02010600030101010101" pitchFamily="2" charset="-122"/>
              </a:rPr>
              <a:t>((Ri))</a:t>
            </a:r>
            <a:r>
              <a:rPr lang="zh-CN" altLang="en-US" dirty="0">
                <a:solidFill>
                  <a:srgbClr val="3366FF"/>
                </a:solidFill>
                <a:latin typeface="Times New Roman" panose="02020603050405020304" pitchFamily="18" charset="0"/>
                <a:ea typeface="宋体" panose="02010600030101010101" pitchFamily="2" charset="-122"/>
              </a:rPr>
              <a:t>－</a:t>
            </a:r>
            <a:r>
              <a:rPr lang="en-US" altLang="zh-CN" dirty="0">
                <a:solidFill>
                  <a:srgbClr val="3366FF"/>
                </a:solidFill>
                <a:latin typeface="Times New Roman" panose="02020603050405020304" pitchFamily="18" charset="0"/>
                <a:ea typeface="宋体" panose="02010600030101010101" pitchFamily="2" charset="-122"/>
              </a:rPr>
              <a:t>(CY)</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40000"/>
              </a:lnSpc>
            </a:pPr>
            <a:r>
              <a:rPr lang="en-US" altLang="zh-CN" dirty="0">
                <a:solidFill>
                  <a:srgbClr val="3366FF"/>
                </a:solidFill>
                <a:latin typeface="Times New Roman" panose="02020603050405020304" pitchFamily="18" charset="0"/>
                <a:ea typeface="宋体" panose="02010600030101010101" pitchFamily="2" charset="-122"/>
              </a:rPr>
              <a:t>SUBB 	A</a:t>
            </a:r>
            <a:r>
              <a:rPr lang="zh-CN" altLang="en-US" dirty="0">
                <a:solidFill>
                  <a:srgbClr val="3366FF"/>
                </a:solidFill>
                <a:latin typeface="Times New Roman" panose="02020603050405020304" pitchFamily="18" charset="0"/>
                <a:ea typeface="宋体" panose="02010600030101010101" pitchFamily="2" charset="-122"/>
              </a:rPr>
              <a:t>，</a:t>
            </a:r>
            <a:r>
              <a:rPr lang="en-US" altLang="zh-CN" dirty="0">
                <a:solidFill>
                  <a:srgbClr val="3366FF"/>
                </a:solidFill>
                <a:latin typeface="Times New Roman" panose="02020603050405020304" pitchFamily="18" charset="0"/>
                <a:ea typeface="宋体" panose="02010600030101010101" pitchFamily="2" charset="-122"/>
              </a:rPr>
              <a:t>#data    	</a:t>
            </a:r>
            <a:r>
              <a:rPr lang="zh-CN" altLang="en-US" dirty="0">
                <a:solidFill>
                  <a:srgbClr val="3366FF"/>
                </a:solidFill>
                <a:latin typeface="Times New Roman" panose="02020603050405020304" pitchFamily="18" charset="0"/>
                <a:ea typeface="宋体" panose="02010600030101010101" pitchFamily="2" charset="-122"/>
              </a:rPr>
              <a:t>； </a:t>
            </a:r>
            <a:r>
              <a:rPr lang="en-US" altLang="zh-CN" dirty="0">
                <a:solidFill>
                  <a:srgbClr val="3366FF"/>
                </a:solidFill>
                <a:latin typeface="Times New Roman" panose="02020603050405020304" pitchFamily="18" charset="0"/>
                <a:ea typeface="宋体" panose="02010600030101010101" pitchFamily="2" charset="-122"/>
              </a:rPr>
              <a:t>A←(A)</a:t>
            </a:r>
            <a:r>
              <a:rPr lang="zh-CN" altLang="en-US" dirty="0">
                <a:solidFill>
                  <a:srgbClr val="3366FF"/>
                </a:solidFill>
                <a:latin typeface="Times New Roman" panose="02020603050405020304" pitchFamily="18" charset="0"/>
                <a:ea typeface="宋体" panose="02010600030101010101" pitchFamily="2" charset="-122"/>
              </a:rPr>
              <a:t>－</a:t>
            </a:r>
            <a:r>
              <a:rPr lang="en-US" altLang="zh-CN" dirty="0">
                <a:solidFill>
                  <a:srgbClr val="3366FF"/>
                </a:solidFill>
                <a:latin typeface="Times New Roman" panose="02020603050405020304" pitchFamily="18" charset="0"/>
                <a:ea typeface="宋体" panose="02010600030101010101" pitchFamily="2" charset="-122"/>
              </a:rPr>
              <a:t>data</a:t>
            </a:r>
            <a:r>
              <a:rPr lang="zh-CN" altLang="en-US" dirty="0">
                <a:solidFill>
                  <a:srgbClr val="3366FF"/>
                </a:solidFill>
                <a:latin typeface="Times New Roman" panose="02020603050405020304" pitchFamily="18" charset="0"/>
                <a:ea typeface="宋体" panose="02010600030101010101" pitchFamily="2" charset="-122"/>
              </a:rPr>
              <a:t>－</a:t>
            </a:r>
            <a:r>
              <a:rPr lang="en-US" altLang="zh-CN" dirty="0">
                <a:solidFill>
                  <a:srgbClr val="3366FF"/>
                </a:solidFill>
                <a:latin typeface="Times New Roman" panose="02020603050405020304" pitchFamily="18" charset="0"/>
                <a:ea typeface="宋体" panose="02010600030101010101" pitchFamily="2" charset="-122"/>
              </a:rPr>
              <a:t>(CY)</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40000"/>
              </a:lnSpc>
            </a:pPr>
            <a:r>
              <a:rPr lang="zh-CN" altLang="en-US" dirty="0">
                <a:latin typeface="Times New Roman" panose="02020603050405020304" pitchFamily="18" charset="0"/>
                <a:ea typeface="宋体" panose="02010600030101010101" pitchFamily="2" charset="-122"/>
              </a:rPr>
              <a:t> </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40000"/>
              </a:lnSpc>
            </a:pPr>
            <a:r>
              <a:rPr lang="zh-CN" altLang="en-US" dirty="0">
                <a:latin typeface="Times New Roman" panose="02020603050405020304" pitchFamily="18" charset="0"/>
                <a:ea typeface="宋体" panose="02010600030101010101" pitchFamily="2" charset="-122"/>
              </a:rPr>
              <a:t>若进行</a:t>
            </a:r>
            <a:r>
              <a:rPr lang="zh-CN" altLang="en-US" dirty="0">
                <a:solidFill>
                  <a:srgbClr val="FF0000"/>
                </a:solidFill>
                <a:latin typeface="Times New Roman" panose="02020603050405020304" pitchFamily="18" charset="0"/>
                <a:ea typeface="宋体" panose="02010600030101010101" pitchFamily="2" charset="-122"/>
              </a:rPr>
              <a:t>不带借位</a:t>
            </a:r>
            <a:r>
              <a:rPr lang="zh-CN" altLang="en-US" dirty="0">
                <a:latin typeface="Times New Roman" panose="02020603050405020304" pitchFamily="18" charset="0"/>
                <a:ea typeface="宋体" panose="02010600030101010101" pitchFamily="2" charset="-122"/>
              </a:rPr>
              <a:t>的减法运算，需用</a:t>
            </a:r>
            <a:r>
              <a:rPr lang="en-US" altLang="zh-CN" dirty="0">
                <a:solidFill>
                  <a:srgbClr val="0000FF"/>
                </a:solidFill>
                <a:latin typeface="Times New Roman" panose="02020603050405020304" pitchFamily="18" charset="0"/>
                <a:ea typeface="宋体" panose="02010600030101010101" pitchFamily="2" charset="-122"/>
              </a:rPr>
              <a:t>CLR  C </a:t>
            </a:r>
            <a:r>
              <a:rPr lang="zh-CN" altLang="en-US" dirty="0">
                <a:solidFill>
                  <a:srgbClr val="0000FF"/>
                </a:solidFill>
                <a:latin typeface="Times New Roman" panose="02020603050405020304" pitchFamily="18" charset="0"/>
                <a:ea typeface="宋体" panose="02010600030101010101" pitchFamily="2" charset="-122"/>
              </a:rPr>
              <a:t>把</a:t>
            </a:r>
            <a:r>
              <a:rPr lang="zh-CN" altLang="en-US" dirty="0">
                <a:latin typeface="Times New Roman" panose="02020603050405020304" pitchFamily="18" charset="0"/>
                <a:ea typeface="宋体" panose="02010600030101010101" pitchFamily="2" charset="-122"/>
              </a:rPr>
              <a:t>进位标志位清</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即可。</a:t>
            </a:r>
            <a:endParaRPr lang="zh-CN" altLang="en-US"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91</a:t>
            </a:fld>
            <a:endParaRPr lang="en-US" altLang="zh-CN" sz="1400" b="0" dirty="0"/>
          </a:p>
        </p:txBody>
      </p:sp>
      <p:sp>
        <p:nvSpPr>
          <p:cNvPr id="120834" name="Rectangle 2"/>
          <p:cNvSpPr/>
          <p:nvPr/>
        </p:nvSpPr>
        <p:spPr>
          <a:xfrm>
            <a:off x="304800" y="1066800"/>
            <a:ext cx="8458200" cy="3013075"/>
          </a:xfrm>
          <a:prstGeom prst="rect">
            <a:avLst/>
          </a:prstGeom>
          <a:noFill/>
          <a:ln w="9525">
            <a:noFill/>
          </a:ln>
        </p:spPr>
        <p:txBody>
          <a:bodyPr anchor="t" anchorCtr="0">
            <a:spAutoFit/>
          </a:bodyPr>
          <a:lstStyle/>
          <a:p>
            <a:pPr indent="268605" algn="just">
              <a:lnSpc>
                <a:spcPct val="140000"/>
              </a:lnSpc>
            </a:pPr>
            <a:r>
              <a:rPr lang="zh-CN" altLang="en-US" dirty="0">
                <a:solidFill>
                  <a:schemeClr val="accent2"/>
                </a:solidFill>
                <a:latin typeface="Times New Roman" panose="02020603050405020304" pitchFamily="18" charset="0"/>
                <a:ea typeface="宋体" panose="02010600030101010101" pitchFamily="2" charset="-122"/>
              </a:rPr>
              <a:t>带借位减法指令影响</a:t>
            </a:r>
            <a:r>
              <a:rPr lang="en-US" altLang="zh-CN" dirty="0">
                <a:solidFill>
                  <a:schemeClr val="accent2"/>
                </a:solidFill>
                <a:latin typeface="Times New Roman" panose="02020603050405020304" pitchFamily="18" charset="0"/>
                <a:ea typeface="宋体" panose="02010600030101010101" pitchFamily="2" charset="-122"/>
              </a:rPr>
              <a:t>PSW</a:t>
            </a:r>
            <a:r>
              <a:rPr lang="zh-CN" altLang="en-US" dirty="0">
                <a:solidFill>
                  <a:schemeClr val="accent2"/>
                </a:solidFill>
                <a:latin typeface="Times New Roman" panose="02020603050405020304" pitchFamily="18" charset="0"/>
                <a:ea typeface="宋体" panose="02010600030101010101" pitchFamily="2" charset="-122"/>
              </a:rPr>
              <a:t>的状态</a:t>
            </a:r>
            <a:r>
              <a:rPr lang="en-US" altLang="zh-CN" dirty="0">
                <a:solidFill>
                  <a:schemeClr val="accent2"/>
                </a:solidFill>
                <a:latin typeface="Times New Roman" panose="02020603050405020304" pitchFamily="18" charset="0"/>
                <a:ea typeface="宋体" panose="02010600030101010101" pitchFamily="2" charset="-122"/>
              </a:rPr>
              <a:t>:</a:t>
            </a:r>
            <a:endParaRPr lang="en-US" altLang="zh-CN" b="0" dirty="0">
              <a:solidFill>
                <a:schemeClr val="accent2"/>
              </a:solidFill>
              <a:latin typeface="Times New Roman" panose="02020603050405020304" pitchFamily="18" charset="0"/>
              <a:ea typeface="宋体" panose="02010600030101010101" pitchFamily="2" charset="-122"/>
            </a:endParaRPr>
          </a:p>
          <a:p>
            <a:pPr indent="268605" algn="just" eaLnBrk="0" hangingPunct="0">
              <a:lnSpc>
                <a:spcPct val="140000"/>
              </a:lnSpc>
            </a:pPr>
            <a:r>
              <a:rPr lang="zh-CN" altLang="en-US" dirty="0">
                <a:latin typeface="Times New Roman" panose="02020603050405020304" pitchFamily="18" charset="0"/>
                <a:ea typeface="宋体" panose="02010600030101010101" pitchFamily="2" charset="-122"/>
              </a:rPr>
              <a:t>如果</a:t>
            </a:r>
            <a:r>
              <a:rPr lang="zh-CN" altLang="en-US" dirty="0">
                <a:solidFill>
                  <a:srgbClr val="990000"/>
                </a:solidFill>
                <a:latin typeface="Times New Roman" panose="02020603050405020304" pitchFamily="18" charset="0"/>
                <a:ea typeface="宋体" panose="02010600030101010101" pitchFamily="2" charset="-122"/>
              </a:rPr>
              <a:t>位</a:t>
            </a:r>
            <a:r>
              <a:rPr lang="en-US" altLang="zh-CN" dirty="0">
                <a:solidFill>
                  <a:srgbClr val="990000"/>
                </a:solidFill>
                <a:latin typeface="Times New Roman" panose="02020603050405020304" pitchFamily="18" charset="0"/>
                <a:ea typeface="宋体" panose="02010600030101010101" pitchFamily="2" charset="-122"/>
              </a:rPr>
              <a:t>3</a:t>
            </a:r>
            <a:r>
              <a:rPr lang="zh-CN" altLang="en-US" dirty="0">
                <a:solidFill>
                  <a:srgbClr val="990000"/>
                </a:solidFill>
                <a:latin typeface="Times New Roman" panose="02020603050405020304" pitchFamily="18" charset="0"/>
                <a:ea typeface="宋体" panose="02010600030101010101" pitchFamily="2" charset="-122"/>
              </a:rPr>
              <a:t>有借位</a:t>
            </a:r>
            <a:r>
              <a:rPr lang="zh-CN" altLang="en-US" dirty="0">
                <a:latin typeface="Times New Roman" panose="02020603050405020304" pitchFamily="18" charset="0"/>
                <a:ea typeface="宋体" panose="02010600030101010101" pitchFamily="2" charset="-122"/>
              </a:rPr>
              <a:t>，则</a:t>
            </a:r>
            <a:r>
              <a:rPr lang="en-US" altLang="zh-CN" dirty="0">
                <a:latin typeface="Times New Roman" panose="02020603050405020304" pitchFamily="18" charset="0"/>
                <a:ea typeface="宋体" panose="02010600030101010101" pitchFamily="2" charset="-122"/>
              </a:rPr>
              <a:t>AC</a:t>
            </a:r>
            <a:r>
              <a:rPr lang="zh-CN" altLang="en-US" dirty="0">
                <a:latin typeface="Times New Roman" panose="02020603050405020304" pitchFamily="18" charset="0"/>
                <a:ea typeface="宋体" panose="02010600030101010101" pitchFamily="2" charset="-122"/>
              </a:rPr>
              <a:t>置</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，否则清</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40000"/>
              </a:lnSpc>
            </a:pPr>
            <a:r>
              <a:rPr lang="zh-CN" altLang="en-US" dirty="0">
                <a:latin typeface="Times New Roman" panose="02020603050405020304" pitchFamily="18" charset="0"/>
                <a:ea typeface="宋体" panose="02010600030101010101" pitchFamily="2" charset="-122"/>
              </a:rPr>
              <a:t>如果</a:t>
            </a:r>
            <a:r>
              <a:rPr lang="zh-CN" altLang="en-US" dirty="0">
                <a:solidFill>
                  <a:srgbClr val="990000"/>
                </a:solidFill>
                <a:latin typeface="Times New Roman" panose="02020603050405020304" pitchFamily="18" charset="0"/>
                <a:ea typeface="宋体" panose="02010600030101010101" pitchFamily="2" charset="-122"/>
              </a:rPr>
              <a:t>位</a:t>
            </a:r>
            <a:r>
              <a:rPr lang="en-US" altLang="zh-CN" dirty="0">
                <a:solidFill>
                  <a:srgbClr val="990000"/>
                </a:solidFill>
                <a:latin typeface="Times New Roman" panose="02020603050405020304" pitchFamily="18" charset="0"/>
                <a:ea typeface="宋体" panose="02010600030101010101" pitchFamily="2" charset="-122"/>
              </a:rPr>
              <a:t>7</a:t>
            </a:r>
            <a:r>
              <a:rPr lang="zh-CN" altLang="en-US" dirty="0">
                <a:solidFill>
                  <a:srgbClr val="990000"/>
                </a:solidFill>
                <a:latin typeface="Times New Roman" panose="02020603050405020304" pitchFamily="18" charset="0"/>
                <a:ea typeface="宋体" panose="02010600030101010101" pitchFamily="2" charset="-122"/>
              </a:rPr>
              <a:t>有借位</a:t>
            </a:r>
            <a:r>
              <a:rPr lang="zh-CN" altLang="en-US" dirty="0">
                <a:latin typeface="Times New Roman" panose="02020603050405020304" pitchFamily="18" charset="0"/>
                <a:ea typeface="宋体" panose="02010600030101010101" pitchFamily="2" charset="-122"/>
              </a:rPr>
              <a:t>，则</a:t>
            </a:r>
            <a:r>
              <a:rPr lang="en-US" altLang="zh-CN" dirty="0">
                <a:latin typeface="Times New Roman" panose="02020603050405020304" pitchFamily="18" charset="0"/>
                <a:ea typeface="宋体" panose="02010600030101010101" pitchFamily="2" charset="-122"/>
              </a:rPr>
              <a:t>CY</a:t>
            </a:r>
            <a:r>
              <a:rPr lang="zh-CN" altLang="en-US" dirty="0">
                <a:latin typeface="Times New Roman" panose="02020603050405020304" pitchFamily="18" charset="0"/>
                <a:ea typeface="宋体" panose="02010600030101010101" pitchFamily="2" charset="-122"/>
              </a:rPr>
              <a:t>置</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，否则</a:t>
            </a:r>
            <a:r>
              <a:rPr lang="en-US" altLang="zh-CN" dirty="0">
                <a:latin typeface="Times New Roman" panose="02020603050405020304" pitchFamily="18" charset="0"/>
                <a:ea typeface="宋体" panose="02010600030101010101" pitchFamily="2" charset="-122"/>
              </a:rPr>
              <a:t>CY</a:t>
            </a:r>
            <a:r>
              <a:rPr lang="zh-CN" altLang="en-US" dirty="0">
                <a:latin typeface="Times New Roman" panose="02020603050405020304" pitchFamily="18" charset="0"/>
                <a:ea typeface="宋体" panose="02010600030101010101" pitchFamily="2" charset="-122"/>
              </a:rPr>
              <a:t>清</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40000"/>
              </a:lnSpc>
            </a:pPr>
            <a:r>
              <a:rPr lang="zh-CN" altLang="en-US" dirty="0">
                <a:latin typeface="Times New Roman" panose="02020603050405020304" pitchFamily="18" charset="0"/>
                <a:ea typeface="宋体" panose="02010600030101010101" pitchFamily="2" charset="-122"/>
              </a:rPr>
              <a:t>另外，两个带符号数相减也有溢出的问题，如溢出，则</a:t>
            </a:r>
            <a:r>
              <a:rPr lang="en-US" altLang="zh-CN" dirty="0">
                <a:latin typeface="Times New Roman" panose="02020603050405020304" pitchFamily="18" charset="0"/>
                <a:ea typeface="宋体" panose="02010600030101010101" pitchFamily="2" charset="-122"/>
              </a:rPr>
              <a:t>OV</a:t>
            </a:r>
            <a:r>
              <a:rPr lang="zh-CN" altLang="en-US" dirty="0">
                <a:latin typeface="Times New Roman" panose="02020603050405020304" pitchFamily="18" charset="0"/>
                <a:ea typeface="宋体" panose="02010600030101010101" pitchFamily="2" charset="-122"/>
              </a:rPr>
              <a:t>置</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，否则，清</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268605" eaLnBrk="0" hangingPunct="0"/>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92</a:t>
            </a:fld>
            <a:endParaRPr lang="en-US" altLang="zh-CN" sz="1400" b="0" dirty="0"/>
          </a:p>
        </p:txBody>
      </p:sp>
      <p:pic>
        <p:nvPicPr>
          <p:cNvPr id="2" name="图片 1"/>
          <p:cNvPicPr>
            <a:picLocks noChangeAspect="1"/>
          </p:cNvPicPr>
          <p:nvPr/>
        </p:nvPicPr>
        <p:blipFill>
          <a:blip r:embed="rId2"/>
          <a:stretch>
            <a:fillRect/>
          </a:stretch>
        </p:blipFill>
        <p:spPr>
          <a:xfrm>
            <a:off x="82550" y="1052830"/>
            <a:ext cx="8978900" cy="4617720"/>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93</a:t>
            </a:fld>
            <a:endParaRPr lang="en-US" altLang="zh-CN" sz="1400" b="0" dirty="0"/>
          </a:p>
        </p:txBody>
      </p:sp>
      <p:sp>
        <p:nvSpPr>
          <p:cNvPr id="122882" name="Rectangle 2"/>
          <p:cNvSpPr/>
          <p:nvPr/>
        </p:nvSpPr>
        <p:spPr>
          <a:xfrm>
            <a:off x="381000" y="1066800"/>
            <a:ext cx="8382000" cy="4225925"/>
          </a:xfrm>
          <a:prstGeom prst="rect">
            <a:avLst/>
          </a:prstGeom>
          <a:noFill/>
          <a:ln w="9525">
            <a:noFill/>
          </a:ln>
        </p:spPr>
        <p:txBody>
          <a:bodyPr anchor="t" anchorCtr="0">
            <a:spAutoFit/>
          </a:bodyPr>
          <a:lstStyle/>
          <a:p>
            <a:pPr indent="260350" algn="just">
              <a:lnSpc>
                <a:spcPct val="140000"/>
              </a:lnSpc>
            </a:pPr>
            <a:r>
              <a:rPr lang="en-US" altLang="zh-CN" dirty="0">
                <a:solidFill>
                  <a:srgbClr val="3366FF"/>
                </a:solidFill>
                <a:latin typeface="Times New Roman" panose="02020603050405020304" pitchFamily="18" charset="0"/>
                <a:ea typeface="黑体" panose="02010609060101010101" pitchFamily="49" charset="-122"/>
              </a:rPr>
              <a:t>4</a:t>
            </a:r>
            <a:r>
              <a:rPr lang="zh-CN" altLang="en-US" dirty="0">
                <a:solidFill>
                  <a:srgbClr val="3366FF"/>
                </a:solidFill>
                <a:latin typeface="Times New Roman" panose="02020603050405020304" pitchFamily="18" charset="0"/>
                <a:ea typeface="黑体" panose="02010609060101010101" pitchFamily="49" charset="-122"/>
              </a:rPr>
              <a:t>）加</a:t>
            </a:r>
            <a:r>
              <a:rPr lang="en-US" altLang="zh-CN" dirty="0">
                <a:solidFill>
                  <a:srgbClr val="3366FF"/>
                </a:solidFill>
                <a:latin typeface="Times New Roman" panose="02020603050405020304" pitchFamily="18" charset="0"/>
                <a:ea typeface="黑体" panose="02010609060101010101" pitchFamily="49" charset="-122"/>
              </a:rPr>
              <a:t>1</a:t>
            </a:r>
            <a:r>
              <a:rPr lang="zh-CN" altLang="en-US" dirty="0">
                <a:solidFill>
                  <a:srgbClr val="3366FF"/>
                </a:solidFill>
                <a:latin typeface="Times New Roman" panose="02020603050405020304" pitchFamily="18" charset="0"/>
                <a:ea typeface="黑体" panose="02010609060101010101" pitchFamily="49" charset="-122"/>
              </a:rPr>
              <a:t>指令组（</a:t>
            </a:r>
            <a:r>
              <a:rPr lang="en-US" altLang="zh-CN" dirty="0">
                <a:solidFill>
                  <a:srgbClr val="3366FF"/>
                </a:solidFill>
                <a:latin typeface="Times New Roman" panose="02020603050405020304" pitchFamily="18" charset="0"/>
                <a:ea typeface="黑体" panose="02010609060101010101" pitchFamily="49" charset="-122"/>
              </a:rPr>
              <a:t>5</a:t>
            </a:r>
            <a:r>
              <a:rPr lang="zh-CN" altLang="en-US" dirty="0">
                <a:solidFill>
                  <a:srgbClr val="3366FF"/>
                </a:solidFill>
                <a:latin typeface="Times New Roman" panose="02020603050405020304" pitchFamily="18" charset="0"/>
                <a:ea typeface="黑体" panose="02010609060101010101" pitchFamily="49" charset="-122"/>
              </a:rPr>
              <a:t>条）</a:t>
            </a:r>
            <a:endParaRPr lang="zh-CN" altLang="en-US" b="0" dirty="0">
              <a:latin typeface="Times New Roman" panose="02020603050405020304" pitchFamily="18" charset="0"/>
              <a:ea typeface="宋体" panose="02010600030101010101" pitchFamily="2" charset="-122"/>
            </a:endParaRPr>
          </a:p>
          <a:p>
            <a:pPr indent="260350" algn="just" eaLnBrk="0" hangingPunct="0">
              <a:lnSpc>
                <a:spcPct val="140000"/>
              </a:lnSpc>
            </a:pPr>
            <a:r>
              <a:rPr lang="zh-CN" altLang="en-US" dirty="0">
                <a:latin typeface="Times New Roman" panose="02020603050405020304" pitchFamily="18" charset="0"/>
                <a:ea typeface="宋体" panose="02010600030101010101" pitchFamily="2" charset="-122"/>
              </a:rPr>
              <a:t>  	</a:t>
            </a:r>
            <a:endParaRPr lang="zh-CN" altLang="en-US" b="0" dirty="0">
              <a:latin typeface="Times New Roman" panose="02020603050405020304" pitchFamily="18" charset="0"/>
              <a:ea typeface="宋体" panose="02010600030101010101" pitchFamily="2" charset="-122"/>
            </a:endParaRPr>
          </a:p>
          <a:p>
            <a:pPr indent="260350"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INC  	A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a:p>
            <a:pPr indent="260350" algn="just" eaLnBrk="0" hangingPunct="0">
              <a:lnSpc>
                <a:spcPct val="140000"/>
              </a:lnSpc>
            </a:pPr>
            <a:r>
              <a:rPr lang="en-US" altLang="zh-CN" dirty="0">
                <a:latin typeface="Times New Roman" panose="02020603050405020304" pitchFamily="18" charset="0"/>
                <a:ea typeface="宋体" panose="02010600030101010101" pitchFamily="2" charset="-122"/>
              </a:rPr>
              <a:t>	INC  	Rn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Rn←</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Rn</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  </a:t>
            </a:r>
            <a:endParaRPr lang="en-US" altLang="zh-CN" b="0" dirty="0">
              <a:latin typeface="Times New Roman" panose="02020603050405020304" pitchFamily="18" charset="0"/>
              <a:ea typeface="宋体" panose="02010600030101010101" pitchFamily="2" charset="-122"/>
            </a:endParaRPr>
          </a:p>
          <a:p>
            <a:pPr indent="260350" algn="just" eaLnBrk="0" hangingPunct="0">
              <a:lnSpc>
                <a:spcPct val="140000"/>
              </a:lnSpc>
            </a:pPr>
            <a:r>
              <a:rPr lang="en-US" altLang="zh-CN" dirty="0">
                <a:latin typeface="Times New Roman" panose="02020603050405020304" pitchFamily="18" charset="0"/>
                <a:ea typeface="宋体" panose="02010600030101010101" pitchFamily="2" charset="-122"/>
              </a:rPr>
              <a:t>	INC  	direct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                  </a:t>
            </a:r>
            <a:endParaRPr lang="en-US" altLang="zh-CN" b="0" dirty="0">
              <a:latin typeface="Times New Roman" panose="02020603050405020304" pitchFamily="18" charset="0"/>
              <a:ea typeface="宋体" panose="02010600030101010101" pitchFamily="2" charset="-122"/>
            </a:endParaRPr>
          </a:p>
          <a:p>
            <a:pPr indent="260350" algn="just" eaLnBrk="0" hangingPunct="0">
              <a:lnSpc>
                <a:spcPct val="140000"/>
              </a:lnSpc>
            </a:pPr>
            <a:r>
              <a:rPr lang="en-US" altLang="zh-CN" dirty="0">
                <a:latin typeface="Times New Roman" panose="02020603050405020304" pitchFamily="18" charset="0"/>
                <a:ea typeface="宋体" panose="02010600030101010101" pitchFamily="2" charset="-122"/>
              </a:rPr>
              <a:t>	INC  	@Ri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Ri</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Ri</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               </a:t>
            </a:r>
            <a:endParaRPr lang="en-US" altLang="zh-CN" b="0" dirty="0">
              <a:latin typeface="Times New Roman" panose="02020603050405020304" pitchFamily="18" charset="0"/>
              <a:ea typeface="宋体" panose="02010600030101010101" pitchFamily="2" charset="-122"/>
            </a:endParaRPr>
          </a:p>
          <a:p>
            <a:pPr indent="260350" algn="just" eaLnBrk="0" hangingPunct="0">
              <a:lnSpc>
                <a:spcPct val="140000"/>
              </a:lnSpc>
            </a:pPr>
            <a:r>
              <a:rPr lang="en-US" altLang="zh-CN" dirty="0">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INC  	DPTR      	</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DPTR←</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DPTR</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 </a:t>
            </a:r>
            <a:endParaRPr lang="en-US" altLang="zh-CN" b="0" dirty="0">
              <a:latin typeface="Times New Roman" panose="02020603050405020304" pitchFamily="18" charset="0"/>
              <a:ea typeface="宋体" panose="02010600030101010101" pitchFamily="2" charset="-122"/>
            </a:endParaRPr>
          </a:p>
          <a:p>
            <a:pPr indent="260350" algn="just" eaLnBrk="0" hangingPunct="0">
              <a:lnSpc>
                <a:spcPct val="140000"/>
              </a:lnSpc>
            </a:pPr>
            <a:endParaRPr lang="en-US" altLang="zh-CN" dirty="0">
              <a:latin typeface="Times New Roman" panose="02020603050405020304" pitchFamily="18" charset="0"/>
              <a:ea typeface="宋体" panose="02010600030101010101" pitchFamily="2" charset="-122"/>
            </a:endParaRPr>
          </a:p>
        </p:txBody>
      </p:sp>
      <p:sp>
        <p:nvSpPr>
          <p:cNvPr id="122883" name="Rectangle 3"/>
          <p:cNvSpPr/>
          <p:nvPr/>
        </p:nvSpPr>
        <p:spPr>
          <a:xfrm>
            <a:off x="285750" y="5084763"/>
            <a:ext cx="8626475" cy="603250"/>
          </a:xfrm>
          <a:prstGeom prst="rect">
            <a:avLst/>
          </a:prstGeom>
          <a:noFill/>
          <a:ln w="9525">
            <a:noFill/>
          </a:ln>
        </p:spPr>
        <p:txBody>
          <a:bodyPr wrap="none" anchor="t" anchorCtr="0">
            <a:spAutoFit/>
          </a:bodyPr>
          <a:lstStyle/>
          <a:p>
            <a:pPr algn="ctr" eaLnBrk="0" hangingPunct="0">
              <a:lnSpc>
                <a:spcPct val="140000"/>
              </a:lnSpc>
            </a:pPr>
            <a:r>
              <a:rPr lang="zh-CN" altLang="en-US" dirty="0">
                <a:latin typeface="Times New Roman" panose="02020603050405020304" pitchFamily="18" charset="0"/>
                <a:ea typeface="宋体" panose="02010600030101010101" pitchFamily="2" charset="-122"/>
              </a:rPr>
              <a:t>加</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指令的操作</a:t>
            </a:r>
            <a:r>
              <a:rPr lang="zh-CN" altLang="en-US" dirty="0">
                <a:solidFill>
                  <a:srgbClr val="FF0000"/>
                </a:solidFill>
                <a:latin typeface="Times New Roman" panose="02020603050405020304" pitchFamily="18" charset="0"/>
                <a:ea typeface="宋体" panose="02010600030101010101" pitchFamily="2" charset="-122"/>
              </a:rPr>
              <a:t>不影响程序状态字</a:t>
            </a:r>
            <a:r>
              <a:rPr lang="en-US" altLang="zh-CN" dirty="0">
                <a:solidFill>
                  <a:srgbClr val="FF0000"/>
                </a:solidFill>
                <a:latin typeface="Times New Roman" panose="02020603050405020304" pitchFamily="18" charset="0"/>
                <a:ea typeface="宋体" panose="02010600030101010101" pitchFamily="2" charset="-122"/>
              </a:rPr>
              <a:t>PSW</a:t>
            </a:r>
            <a:r>
              <a:rPr lang="zh-CN" altLang="en-US" dirty="0">
                <a:latin typeface="Times New Roman" panose="02020603050405020304" pitchFamily="18" charset="0"/>
                <a:ea typeface="宋体" panose="02010600030101010101" pitchFamily="2" charset="-122"/>
              </a:rPr>
              <a:t>的状态</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除</a:t>
            </a:r>
            <a:r>
              <a:rPr lang="en-US" altLang="zh-CN" dirty="0">
                <a:latin typeface="Times New Roman" panose="02020603050405020304" pitchFamily="18" charset="0"/>
                <a:ea typeface="宋体" panose="02010600030101010101" pitchFamily="2" charset="-122"/>
              </a:rPr>
              <a:t>INC A</a:t>
            </a:r>
            <a:r>
              <a:rPr lang="zh-CN" altLang="en-US" dirty="0">
                <a:latin typeface="Times New Roman" panose="02020603050405020304" pitchFamily="18" charset="0"/>
                <a:ea typeface="宋体" panose="02010600030101010101" pitchFamily="2" charset="-122"/>
              </a:rPr>
              <a:t>对</a:t>
            </a:r>
            <a:r>
              <a:rPr lang="en-US" altLang="zh-CN" dirty="0">
                <a:latin typeface="Times New Roman" panose="02020603050405020304" pitchFamily="18" charset="0"/>
                <a:ea typeface="宋体" panose="02010600030101010101" pitchFamily="2" charset="-122"/>
              </a:rPr>
              <a:t>P</a:t>
            </a:r>
            <a:r>
              <a:rPr lang="zh-CN" altLang="en-US" dirty="0">
                <a:latin typeface="Times New Roman" panose="02020603050405020304" pitchFamily="18" charset="0"/>
                <a:ea typeface="宋体" panose="02010600030101010101" pitchFamily="2" charset="-122"/>
              </a:rPr>
              <a:t>外。</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94</a:t>
            </a:fld>
            <a:endParaRPr lang="en-US" altLang="zh-CN" sz="1400" b="0" dirty="0"/>
          </a:p>
        </p:txBody>
      </p:sp>
      <p:sp>
        <p:nvSpPr>
          <p:cNvPr id="114691" name="Rectangle 2"/>
          <p:cNvSpPr/>
          <p:nvPr/>
        </p:nvSpPr>
        <p:spPr>
          <a:xfrm>
            <a:off x="468313" y="1341438"/>
            <a:ext cx="6781800" cy="4225925"/>
          </a:xfrm>
          <a:prstGeom prst="rect">
            <a:avLst/>
          </a:prstGeom>
          <a:noFill/>
          <a:ln w="9525">
            <a:noFill/>
          </a:ln>
        </p:spPr>
        <p:txBody>
          <a:bodyPr anchor="t" anchorCtr="0">
            <a:spAutoFit/>
          </a:bodyPr>
          <a:lstStyle/>
          <a:p>
            <a:pPr indent="655955" algn="just">
              <a:lnSpc>
                <a:spcPct val="140000"/>
              </a:lnSpc>
            </a:pPr>
            <a:r>
              <a:rPr lang="zh-CN" altLang="en-US" dirty="0">
                <a:latin typeface="Times New Roman" panose="02020603050405020304" pitchFamily="18" charset="0"/>
                <a:ea typeface="宋体" panose="02010600030101010101" pitchFamily="2" charset="-122"/>
              </a:rPr>
              <a:t>例：设		            （</a:t>
            </a:r>
            <a:r>
              <a:rPr lang="en-US" altLang="zh-CN" dirty="0">
                <a:latin typeface="Times New Roman" panose="02020603050405020304" pitchFamily="18" charset="0"/>
                <a:ea typeface="宋体" panose="02010600030101010101" pitchFamily="2" charset="-122"/>
              </a:rPr>
              <a:t>R0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7EH</a:t>
            </a:r>
            <a:r>
              <a:rPr lang="zh-CN" altLang="en-US" dirty="0">
                <a:latin typeface="Times New Roman" panose="02020603050405020304" pitchFamily="18" charset="0"/>
                <a:ea typeface="宋体" panose="02010600030101010101" pitchFamily="2" charset="-122"/>
              </a:rPr>
              <a:t>，</a:t>
            </a:r>
          </a:p>
          <a:p>
            <a:pPr indent="655955" algn="just">
              <a:lnSpc>
                <a:spcPct val="140000"/>
              </a:lnSpc>
            </a:pPr>
            <a:r>
              <a:rPr lang="zh-CN" altLang="en-US" dirty="0">
                <a:latin typeface="Times New Roman" panose="02020603050405020304" pitchFamily="18" charset="0"/>
                <a:ea typeface="宋体" panose="02010600030101010101" pitchFamily="2" charset="-122"/>
              </a:rPr>
              <a:t>片内数据</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中	（</a:t>
            </a:r>
            <a:r>
              <a:rPr lang="en-US" altLang="zh-CN" dirty="0">
                <a:latin typeface="Times New Roman" panose="02020603050405020304" pitchFamily="18" charset="0"/>
                <a:ea typeface="宋体" panose="02010600030101010101" pitchFamily="2" charset="-122"/>
              </a:rPr>
              <a:t>7EH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0FFH</a:t>
            </a:r>
            <a:r>
              <a:rPr lang="zh-CN" altLang="en-US" dirty="0">
                <a:latin typeface="Times New Roman" panose="02020603050405020304" pitchFamily="18" charset="0"/>
                <a:ea typeface="宋体" panose="02010600030101010101" pitchFamily="2" charset="-122"/>
              </a:rPr>
              <a:t>，</a:t>
            </a:r>
          </a:p>
          <a:p>
            <a:pPr indent="655955" algn="just">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7FH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50H</a:t>
            </a:r>
            <a:r>
              <a:rPr lang="zh-CN" altLang="en-US" dirty="0">
                <a:latin typeface="Times New Roman" panose="02020603050405020304" pitchFamily="18" charset="0"/>
                <a:ea typeface="宋体" panose="02010600030101010101" pitchFamily="2" charset="-122"/>
              </a:rPr>
              <a:t>，</a:t>
            </a:r>
          </a:p>
          <a:p>
            <a:pPr indent="655955" algn="just">
              <a:lnSpc>
                <a:spcPct val="140000"/>
              </a:lnSpc>
            </a:pPr>
            <a:r>
              <a:rPr lang="zh-CN" altLang="en-US" dirty="0">
                <a:latin typeface="Times New Roman" panose="02020603050405020304" pitchFamily="18" charset="0"/>
                <a:ea typeface="宋体" panose="02010600030101010101" pitchFamily="2" charset="-122"/>
              </a:rPr>
              <a:t>分析分别执行下列指令后的结果。</a:t>
            </a:r>
            <a:endParaRPr lang="zh-CN" altLang="en-US" b="0" dirty="0">
              <a:latin typeface="Times New Roman" panose="02020603050405020304" pitchFamily="18" charset="0"/>
              <a:ea typeface="宋体" panose="02010600030101010101" pitchFamily="2" charset="-122"/>
            </a:endParaRPr>
          </a:p>
          <a:p>
            <a:pPr indent="655955" algn="just" eaLnBrk="0" hangingPunct="0">
              <a:lnSpc>
                <a:spcPct val="140000"/>
              </a:lnSpc>
            </a:pPr>
            <a:endParaRPr lang="zh-CN" altLang="en-US" dirty="0">
              <a:solidFill>
                <a:srgbClr val="3366FF"/>
              </a:solidFill>
              <a:latin typeface="Times New Roman" panose="02020603050405020304" pitchFamily="18" charset="0"/>
              <a:ea typeface="宋体" panose="02010600030101010101" pitchFamily="2" charset="-122"/>
            </a:endParaRPr>
          </a:p>
          <a:p>
            <a:pPr indent="655955" algn="just" eaLnBrk="0" hangingPunct="0">
              <a:lnSpc>
                <a:spcPct val="140000"/>
              </a:lnSpc>
            </a:pPr>
            <a:r>
              <a:rPr lang="zh-CN" altLang="en-US" dirty="0">
                <a:solidFill>
                  <a:srgbClr val="3366FF"/>
                </a:solidFill>
                <a:latin typeface="Times New Roman" panose="02020603050405020304" pitchFamily="18" charset="0"/>
                <a:ea typeface="宋体" panose="02010600030101010101" pitchFamily="2" charset="-122"/>
              </a:rPr>
              <a:t>             </a:t>
            </a:r>
            <a:r>
              <a:rPr lang="en-US" altLang="zh-CN" dirty="0">
                <a:solidFill>
                  <a:srgbClr val="3366FF"/>
                </a:solidFill>
                <a:latin typeface="Times New Roman" panose="02020603050405020304" pitchFamily="18" charset="0"/>
                <a:ea typeface="宋体" panose="02010600030101010101" pitchFamily="2" charset="-122"/>
              </a:rPr>
              <a:t>  INC  	R0</a:t>
            </a:r>
            <a:r>
              <a:rPr lang="zh-CN" altLang="en-US" dirty="0">
                <a:solidFill>
                  <a:srgbClr val="3366FF"/>
                </a:solidFill>
                <a:latin typeface="Times New Roman" panose="02020603050405020304" pitchFamily="18" charset="0"/>
                <a:ea typeface="宋体" panose="02010600030101010101" pitchFamily="2" charset="-122"/>
              </a:rPr>
              <a:t>                   </a:t>
            </a:r>
          </a:p>
          <a:p>
            <a:pPr indent="655955" algn="just" eaLnBrk="0" hangingPunct="0">
              <a:lnSpc>
                <a:spcPct val="140000"/>
              </a:lnSpc>
            </a:pPr>
            <a:r>
              <a:rPr lang="zh-CN" altLang="en-US" dirty="0">
                <a:solidFill>
                  <a:srgbClr val="3366FF"/>
                </a:solidFill>
                <a:latin typeface="Times New Roman" panose="02020603050405020304" pitchFamily="18" charset="0"/>
                <a:ea typeface="宋体" panose="02010600030101010101" pitchFamily="2" charset="-122"/>
              </a:rPr>
              <a:t>               </a:t>
            </a:r>
            <a:r>
              <a:rPr lang="en-US" altLang="zh-CN" dirty="0">
                <a:solidFill>
                  <a:srgbClr val="3366FF"/>
                </a:solidFill>
                <a:latin typeface="Times New Roman" panose="02020603050405020304" pitchFamily="18" charset="0"/>
                <a:ea typeface="宋体" panose="02010600030101010101" pitchFamily="2" charset="-122"/>
              </a:rPr>
              <a:t>INC  	@R0       	</a:t>
            </a:r>
          </a:p>
          <a:p>
            <a:pPr indent="655955" algn="just" eaLnBrk="0" hangingPunct="0">
              <a:lnSpc>
                <a:spcPct val="140000"/>
              </a:lnSpc>
            </a:pPr>
            <a:r>
              <a:rPr lang="en-US" altLang="zh-CN" dirty="0">
                <a:solidFill>
                  <a:srgbClr val="3366FF"/>
                </a:solidFill>
                <a:latin typeface="Times New Roman" panose="02020603050405020304" pitchFamily="18" charset="0"/>
                <a:ea typeface="宋体" panose="02010600030101010101" pitchFamily="2" charset="-122"/>
              </a:rPr>
              <a:t>                           	</a:t>
            </a:r>
            <a:endParaRPr lang="en-US" altLang="zh-CN" b="0" dirty="0">
              <a:latin typeface="Times New Roman" panose="02020603050405020304" pitchFamily="18" charset="0"/>
              <a:ea typeface="宋体" panose="02010600030101010101" pitchFamily="2" charset="-122"/>
            </a:endParaRPr>
          </a:p>
        </p:txBody>
      </p:sp>
      <p:sp>
        <p:nvSpPr>
          <p:cNvPr id="2" name="文本框 1"/>
          <p:cNvSpPr txBox="1"/>
          <p:nvPr/>
        </p:nvSpPr>
        <p:spPr>
          <a:xfrm>
            <a:off x="4756150" y="4064000"/>
            <a:ext cx="2365375" cy="460375"/>
          </a:xfrm>
          <a:prstGeom prst="rect">
            <a:avLst/>
          </a:prstGeom>
          <a:noFill/>
          <a:ln w="9525">
            <a:noFill/>
          </a:ln>
        </p:spPr>
        <p:txBody>
          <a:bodyPr anchor="t" anchorCtr="0">
            <a:spAutoFit/>
          </a:bodyPr>
          <a:lstStyle/>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=7FH</a:t>
            </a:r>
            <a:endParaRPr lang="zh-CN" altLang="en-US" dirty="0">
              <a:latin typeface="Times New Roman" panose="02020603050405020304" pitchFamily="18" charset="0"/>
              <a:ea typeface="宋体" panose="02010600030101010101" pitchFamily="2" charset="-122"/>
            </a:endParaRPr>
          </a:p>
        </p:txBody>
      </p:sp>
      <p:sp>
        <p:nvSpPr>
          <p:cNvPr id="3" name="文本框 2"/>
          <p:cNvSpPr txBox="1"/>
          <p:nvPr/>
        </p:nvSpPr>
        <p:spPr>
          <a:xfrm>
            <a:off x="4756150" y="4587875"/>
            <a:ext cx="2365375" cy="460375"/>
          </a:xfrm>
          <a:prstGeom prst="rect">
            <a:avLst/>
          </a:prstGeom>
          <a:noFill/>
          <a:ln w="9525">
            <a:noFill/>
          </a:ln>
        </p:spPr>
        <p:txBody>
          <a:bodyPr anchor="t" anchorCtr="0">
            <a:spAutoFit/>
          </a:bodyPr>
          <a:lstStyle/>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7EH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endParaRPr lang="zh-CN" altLang="en-US"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95</a:t>
            </a:fld>
            <a:endParaRPr lang="en-US" altLang="zh-CN" sz="1400" b="0" dirty="0"/>
          </a:p>
        </p:txBody>
      </p:sp>
      <p:sp>
        <p:nvSpPr>
          <p:cNvPr id="57346" name="Rectangle 2"/>
          <p:cNvSpPr/>
          <p:nvPr/>
        </p:nvSpPr>
        <p:spPr>
          <a:xfrm>
            <a:off x="250825" y="3284538"/>
            <a:ext cx="8686800" cy="2647950"/>
          </a:xfrm>
          <a:prstGeom prst="rect">
            <a:avLst/>
          </a:prstGeom>
          <a:noFill/>
          <a:ln w="9525">
            <a:noFill/>
          </a:ln>
        </p:spPr>
        <p:txBody>
          <a:bodyPr anchor="t" anchorCtr="0">
            <a:spAutoFit/>
          </a:bodyPr>
          <a:lstStyle/>
          <a:p>
            <a:pPr indent="260350" algn="just" eaLnBrk="0" hangingPunct="0">
              <a:lnSpc>
                <a:spcPct val="140000"/>
              </a:lnSpc>
            </a:pPr>
            <a:r>
              <a:rPr lang="zh-CN" altLang="en-US" dirty="0">
                <a:latin typeface="Times New Roman" panose="02020603050405020304" pitchFamily="18" charset="0"/>
                <a:ea typeface="宋体" panose="02010600030101010101" pitchFamily="2" charset="-122"/>
              </a:rPr>
              <a:t>注意：减</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指令的操作</a:t>
            </a:r>
            <a:r>
              <a:rPr lang="zh-CN" altLang="en-US" dirty="0">
                <a:solidFill>
                  <a:srgbClr val="FF0000"/>
                </a:solidFill>
                <a:latin typeface="Times New Roman" panose="02020603050405020304" pitchFamily="18" charset="0"/>
                <a:ea typeface="宋体" panose="02010600030101010101" pitchFamily="2" charset="-122"/>
              </a:rPr>
              <a:t>不影响程序状态字</a:t>
            </a:r>
            <a:r>
              <a:rPr lang="en-US" altLang="zh-CN" dirty="0">
                <a:solidFill>
                  <a:srgbClr val="FF0000"/>
                </a:solidFill>
                <a:latin typeface="Times New Roman" panose="02020603050405020304" pitchFamily="18" charset="0"/>
                <a:ea typeface="宋体" panose="02010600030101010101" pitchFamily="2" charset="-122"/>
              </a:rPr>
              <a:t>PSW</a:t>
            </a:r>
            <a:r>
              <a:rPr lang="zh-CN" altLang="en-US" dirty="0">
                <a:latin typeface="Times New Roman" panose="02020603050405020304" pitchFamily="18" charset="0"/>
                <a:ea typeface="宋体" panose="02010600030101010101" pitchFamily="2" charset="-122"/>
              </a:rPr>
              <a:t>的状态</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除</a:t>
            </a:r>
            <a:r>
              <a:rPr lang="en-US" altLang="zh-CN" dirty="0">
                <a:latin typeface="Times New Roman" panose="02020603050405020304" pitchFamily="18" charset="0"/>
                <a:ea typeface="宋体" panose="02010600030101010101" pitchFamily="2" charset="-122"/>
              </a:rPr>
              <a:t>DEC A</a:t>
            </a:r>
            <a:r>
              <a:rPr lang="zh-CN" altLang="en-US" dirty="0">
                <a:latin typeface="Times New Roman" panose="02020603050405020304" pitchFamily="18" charset="0"/>
                <a:ea typeface="宋体" panose="02010600030101010101" pitchFamily="2" charset="-122"/>
              </a:rPr>
              <a:t>对</a:t>
            </a:r>
            <a:r>
              <a:rPr lang="en-US" altLang="zh-CN" dirty="0">
                <a:latin typeface="Times New Roman" panose="02020603050405020304" pitchFamily="18" charset="0"/>
                <a:ea typeface="宋体" panose="02010600030101010101" pitchFamily="2" charset="-122"/>
              </a:rPr>
              <a:t>P</a:t>
            </a:r>
            <a:r>
              <a:rPr lang="zh-CN" altLang="en-US" dirty="0">
                <a:latin typeface="Times New Roman" panose="02020603050405020304" pitchFamily="18" charset="0"/>
                <a:ea typeface="宋体" panose="02010600030101010101" pitchFamily="2" charset="-122"/>
              </a:rPr>
              <a:t>外。</a:t>
            </a:r>
            <a:endParaRPr lang="zh-CN" altLang="en-US" b="0" dirty="0">
              <a:latin typeface="Times New Roman" panose="02020603050405020304" pitchFamily="18" charset="0"/>
              <a:ea typeface="宋体" panose="02010600030101010101" pitchFamily="2" charset="-122"/>
            </a:endParaRPr>
          </a:p>
          <a:p>
            <a:pPr indent="260350" algn="just" eaLnBrk="0" hangingPunct="0">
              <a:lnSpc>
                <a:spcPct val="140000"/>
              </a:lnSpc>
            </a:pPr>
            <a:r>
              <a:rPr lang="en-US" altLang="zh-CN" dirty="0">
                <a:latin typeface="Times New Roman" panose="02020603050405020304" pitchFamily="18" charset="0"/>
                <a:ea typeface="宋体" panose="02010600030101010101" pitchFamily="2" charset="-122"/>
              </a:rPr>
              <a:t>MCS</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51</a:t>
            </a:r>
            <a:r>
              <a:rPr lang="zh-CN" altLang="en-US" dirty="0">
                <a:latin typeface="Times New Roman" panose="02020603050405020304" pitchFamily="18" charset="0"/>
                <a:ea typeface="宋体" panose="02010600030101010101" pitchFamily="2" charset="-122"/>
              </a:rPr>
              <a:t>指令系统中，</a:t>
            </a:r>
            <a:r>
              <a:rPr lang="zh-CN" altLang="en-US" dirty="0">
                <a:solidFill>
                  <a:srgbClr val="FF0000"/>
                </a:solidFill>
                <a:latin typeface="Times New Roman" panose="02020603050405020304" pitchFamily="18" charset="0"/>
                <a:ea typeface="宋体" panose="02010600030101010101" pitchFamily="2" charset="-122"/>
              </a:rPr>
              <a:t>只有数据指针</a:t>
            </a:r>
            <a:r>
              <a:rPr lang="en-US" altLang="zh-CN" dirty="0">
                <a:solidFill>
                  <a:srgbClr val="FF0000"/>
                </a:solidFill>
                <a:latin typeface="Times New Roman" panose="02020603050405020304" pitchFamily="18" charset="0"/>
                <a:ea typeface="宋体" panose="02010600030101010101" pitchFamily="2" charset="-122"/>
              </a:rPr>
              <a:t>DPTR</a:t>
            </a:r>
            <a:r>
              <a:rPr lang="zh-CN" altLang="en-US" dirty="0">
                <a:solidFill>
                  <a:srgbClr val="FF0000"/>
                </a:solidFill>
                <a:latin typeface="Times New Roman" panose="02020603050405020304" pitchFamily="18" charset="0"/>
                <a:ea typeface="宋体" panose="02010600030101010101" pitchFamily="2" charset="-122"/>
              </a:rPr>
              <a:t>加</a:t>
            </a:r>
            <a:r>
              <a:rPr lang="en-US" altLang="zh-CN" dirty="0">
                <a:solidFill>
                  <a:srgbClr val="FF0000"/>
                </a:solidFill>
                <a:latin typeface="Times New Roman" panose="02020603050405020304" pitchFamily="18" charset="0"/>
                <a:ea typeface="宋体" panose="02010600030101010101" pitchFamily="2" charset="-122"/>
              </a:rPr>
              <a:t>1</a:t>
            </a:r>
            <a:r>
              <a:rPr lang="zh-CN" altLang="en-US" dirty="0">
                <a:solidFill>
                  <a:srgbClr val="FF0000"/>
                </a:solidFill>
                <a:latin typeface="Times New Roman" panose="02020603050405020304" pitchFamily="18" charset="0"/>
                <a:ea typeface="宋体" panose="02010600030101010101" pitchFamily="2" charset="-122"/>
              </a:rPr>
              <a:t>指令，而没有</a:t>
            </a:r>
            <a:r>
              <a:rPr lang="en-US" altLang="zh-CN" dirty="0">
                <a:solidFill>
                  <a:srgbClr val="FF0000"/>
                </a:solidFill>
                <a:latin typeface="Times New Roman" panose="02020603050405020304" pitchFamily="18" charset="0"/>
                <a:ea typeface="宋体" panose="02010600030101010101" pitchFamily="2" charset="-122"/>
              </a:rPr>
              <a:t>DPTR</a:t>
            </a:r>
            <a:r>
              <a:rPr lang="zh-CN" altLang="en-US" dirty="0">
                <a:solidFill>
                  <a:srgbClr val="FF0000"/>
                </a:solidFill>
                <a:latin typeface="Times New Roman" panose="02020603050405020304" pitchFamily="18" charset="0"/>
                <a:ea typeface="宋体" panose="02010600030101010101" pitchFamily="2" charset="-122"/>
              </a:rPr>
              <a:t>减</a:t>
            </a:r>
            <a:r>
              <a:rPr lang="en-US" altLang="zh-CN" dirty="0">
                <a:solidFill>
                  <a:srgbClr val="FF0000"/>
                </a:solidFill>
                <a:latin typeface="Times New Roman" panose="02020603050405020304" pitchFamily="18" charset="0"/>
                <a:ea typeface="宋体" panose="02010600030101010101" pitchFamily="2" charset="-122"/>
              </a:rPr>
              <a:t>1</a:t>
            </a:r>
            <a:r>
              <a:rPr lang="zh-CN" altLang="en-US" dirty="0">
                <a:solidFill>
                  <a:srgbClr val="FF0000"/>
                </a:solidFill>
                <a:latin typeface="Times New Roman" panose="02020603050405020304" pitchFamily="18" charset="0"/>
                <a:ea typeface="宋体" panose="02010600030101010101" pitchFamily="2" charset="-122"/>
              </a:rPr>
              <a:t>指令。</a:t>
            </a:r>
            <a:endParaRPr lang="zh-CN" altLang="en-US" b="0" dirty="0">
              <a:solidFill>
                <a:srgbClr val="FF0000"/>
              </a:solidFill>
              <a:latin typeface="Times New Roman" panose="02020603050405020304" pitchFamily="18" charset="0"/>
              <a:ea typeface="宋体" panose="02010600030101010101" pitchFamily="2" charset="-122"/>
            </a:endParaRPr>
          </a:p>
          <a:p>
            <a:pPr indent="260350" eaLnBrk="0" hangingPunct="0">
              <a:lnSpc>
                <a:spcPct val="140000"/>
              </a:lnSpc>
            </a:pPr>
            <a:endParaRPr lang="en-US" altLang="zh-CN" b="0" dirty="0">
              <a:solidFill>
                <a:srgbClr val="FF0000"/>
              </a:solidFill>
              <a:latin typeface="Times New Roman" panose="02020603050405020304" pitchFamily="18" charset="0"/>
              <a:ea typeface="宋体" panose="02010600030101010101" pitchFamily="2" charset="-122"/>
            </a:endParaRPr>
          </a:p>
        </p:txBody>
      </p:sp>
      <p:sp>
        <p:nvSpPr>
          <p:cNvPr id="57347" name="Rectangle 3"/>
          <p:cNvSpPr/>
          <p:nvPr/>
        </p:nvSpPr>
        <p:spPr>
          <a:xfrm>
            <a:off x="0" y="620713"/>
            <a:ext cx="8686800" cy="2647950"/>
          </a:xfrm>
          <a:prstGeom prst="rect">
            <a:avLst/>
          </a:prstGeom>
          <a:noFill/>
          <a:ln w="9525">
            <a:noFill/>
          </a:ln>
        </p:spPr>
        <p:txBody>
          <a:bodyPr anchor="t" anchorCtr="0">
            <a:spAutoFit/>
          </a:bodyPr>
          <a:lstStyle/>
          <a:p>
            <a:pPr indent="260350" algn="just">
              <a:lnSpc>
                <a:spcPct val="140000"/>
              </a:lnSpc>
            </a:pPr>
            <a:r>
              <a:rPr lang="en-US" altLang="zh-CN" dirty="0">
                <a:solidFill>
                  <a:srgbClr val="FF0000"/>
                </a:solidFill>
                <a:latin typeface="Times New Roman" panose="02020603050405020304" pitchFamily="18" charset="0"/>
                <a:ea typeface="黑体" panose="02010609060101010101" pitchFamily="49" charset="-122"/>
              </a:rPr>
              <a:t>5</a:t>
            </a:r>
            <a:r>
              <a:rPr lang="zh-CN" altLang="en-US" dirty="0">
                <a:solidFill>
                  <a:srgbClr val="FF0000"/>
                </a:solidFill>
                <a:latin typeface="Times New Roman" panose="02020603050405020304" pitchFamily="18" charset="0"/>
                <a:ea typeface="黑体" panose="02010609060101010101" pitchFamily="49" charset="-122"/>
              </a:rPr>
              <a:t>）减</a:t>
            </a:r>
            <a:r>
              <a:rPr lang="en-US" altLang="zh-CN" dirty="0">
                <a:solidFill>
                  <a:srgbClr val="FF0000"/>
                </a:solidFill>
                <a:latin typeface="Times New Roman" panose="02020603050405020304" pitchFamily="18" charset="0"/>
                <a:ea typeface="黑体" panose="02010609060101010101" pitchFamily="49" charset="-122"/>
              </a:rPr>
              <a:t>1</a:t>
            </a:r>
            <a:r>
              <a:rPr lang="zh-CN" altLang="en-US" dirty="0">
                <a:solidFill>
                  <a:srgbClr val="FF0000"/>
                </a:solidFill>
                <a:latin typeface="Times New Roman" panose="02020603050405020304" pitchFamily="18" charset="0"/>
                <a:ea typeface="黑体" panose="02010609060101010101" pitchFamily="49" charset="-122"/>
              </a:rPr>
              <a:t>指令组（</a:t>
            </a:r>
            <a:r>
              <a:rPr lang="en-US" altLang="zh-CN" dirty="0">
                <a:solidFill>
                  <a:srgbClr val="FF0000"/>
                </a:solidFill>
                <a:latin typeface="Times New Roman" panose="02020603050405020304" pitchFamily="18" charset="0"/>
                <a:ea typeface="黑体" panose="02010609060101010101" pitchFamily="49" charset="-122"/>
              </a:rPr>
              <a:t>4</a:t>
            </a:r>
            <a:r>
              <a:rPr lang="zh-CN" altLang="en-US" dirty="0">
                <a:solidFill>
                  <a:srgbClr val="FF0000"/>
                </a:solidFill>
                <a:latin typeface="Times New Roman" panose="02020603050405020304" pitchFamily="18" charset="0"/>
                <a:ea typeface="黑体" panose="02010609060101010101" pitchFamily="49" charset="-122"/>
              </a:rPr>
              <a:t>条）</a:t>
            </a:r>
          </a:p>
          <a:p>
            <a:pPr indent="260350" algn="just">
              <a:lnSpc>
                <a:spcPct val="140000"/>
              </a:lnSpc>
            </a:pPr>
            <a:r>
              <a:rPr lang="zh-CN" altLang="en-US" dirty="0">
                <a:solidFill>
                  <a:srgbClr val="0000FF"/>
                </a:solidFill>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DEC  	A           	</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1 </a:t>
            </a:r>
            <a:endParaRPr lang="en-US" altLang="zh-CN" b="0" dirty="0">
              <a:latin typeface="Times New Roman" panose="02020603050405020304" pitchFamily="18" charset="0"/>
              <a:ea typeface="宋体" panose="02010600030101010101" pitchFamily="2" charset="-122"/>
            </a:endParaRPr>
          </a:p>
          <a:p>
            <a:pPr indent="260350" algn="just" eaLnBrk="0" hangingPunct="0">
              <a:lnSpc>
                <a:spcPct val="140000"/>
              </a:lnSpc>
            </a:pPr>
            <a:r>
              <a:rPr lang="en-US" altLang="zh-CN" dirty="0">
                <a:solidFill>
                  <a:srgbClr val="0000FF"/>
                </a:solidFill>
                <a:latin typeface="Times New Roman" panose="02020603050405020304" pitchFamily="18" charset="0"/>
                <a:ea typeface="宋体" panose="02010600030101010101" pitchFamily="2" charset="-122"/>
              </a:rPr>
              <a:t>	DEC  	Rn         	</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Rn←</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Rn</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a:p>
            <a:pPr indent="260350" algn="just" eaLnBrk="0" hangingPunct="0">
              <a:lnSpc>
                <a:spcPct val="140000"/>
              </a:lnSpc>
            </a:pPr>
            <a:r>
              <a:rPr lang="en-US" altLang="zh-CN" dirty="0">
                <a:solidFill>
                  <a:srgbClr val="0000FF"/>
                </a:solidFill>
                <a:latin typeface="Times New Roman" panose="02020603050405020304" pitchFamily="18" charset="0"/>
                <a:ea typeface="宋体" panose="02010600030101010101" pitchFamily="2" charset="-122"/>
              </a:rPr>
              <a:t>	DEC  	direct       	</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direct←</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direct</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a:p>
            <a:pPr indent="260350" algn="just" eaLnBrk="0" hangingPunct="0">
              <a:lnSpc>
                <a:spcPct val="140000"/>
              </a:lnSpc>
            </a:pPr>
            <a:r>
              <a:rPr lang="en-US" altLang="zh-CN" dirty="0">
                <a:solidFill>
                  <a:srgbClr val="0000FF"/>
                </a:solidFill>
                <a:latin typeface="Times New Roman" panose="02020603050405020304" pitchFamily="18" charset="0"/>
                <a:ea typeface="宋体" panose="02010600030101010101" pitchFamily="2" charset="-122"/>
              </a:rPr>
              <a:t>	DEC  	@Ri        	</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Ri</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Ri</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96</a:t>
            </a:fld>
            <a:endParaRPr lang="en-US" altLang="zh-CN" sz="1400" b="0" dirty="0"/>
          </a:p>
        </p:txBody>
      </p:sp>
      <p:sp>
        <p:nvSpPr>
          <p:cNvPr id="126978" name="Rectangle 2"/>
          <p:cNvSpPr/>
          <p:nvPr/>
        </p:nvSpPr>
        <p:spPr>
          <a:xfrm>
            <a:off x="228600" y="1066800"/>
            <a:ext cx="8534400" cy="4692650"/>
          </a:xfrm>
          <a:prstGeom prst="rect">
            <a:avLst/>
          </a:prstGeom>
          <a:noFill/>
          <a:ln w="9525">
            <a:noFill/>
          </a:ln>
        </p:spPr>
        <p:txBody>
          <a:bodyPr anchor="t" anchorCtr="0">
            <a:spAutoFit/>
          </a:bodyPr>
          <a:lstStyle/>
          <a:p>
            <a:pPr indent="265430" algn="just">
              <a:lnSpc>
                <a:spcPct val="140000"/>
              </a:lnSpc>
            </a:pPr>
            <a:r>
              <a:rPr lang="en-US" altLang="zh-CN" dirty="0">
                <a:solidFill>
                  <a:srgbClr val="FF0000"/>
                </a:solidFill>
                <a:latin typeface="Times New Roman" panose="02020603050405020304" pitchFamily="18" charset="0"/>
                <a:ea typeface="黑体" panose="02010609060101010101" pitchFamily="49" charset="-122"/>
              </a:rPr>
              <a:t>6</a:t>
            </a:r>
            <a:r>
              <a:rPr lang="zh-CN" altLang="en-US" dirty="0">
                <a:solidFill>
                  <a:srgbClr val="FF0000"/>
                </a:solidFill>
                <a:latin typeface="Times New Roman" panose="02020603050405020304" pitchFamily="18" charset="0"/>
                <a:ea typeface="黑体" panose="02010609060101010101" pitchFamily="49" charset="-122"/>
              </a:rPr>
              <a:t>）乘除指令组</a:t>
            </a:r>
            <a:endParaRPr lang="zh-CN" altLang="en-US" b="0" dirty="0">
              <a:latin typeface="Times New Roman" panose="02020603050405020304" pitchFamily="18" charset="0"/>
              <a:ea typeface="宋体" panose="02010600030101010101" pitchFamily="2" charset="-122"/>
            </a:endParaRPr>
          </a:p>
          <a:p>
            <a:pPr indent="265430" algn="just" eaLnBrk="0" hangingPunct="0">
              <a:lnSpc>
                <a:spcPct val="140000"/>
              </a:lnSpc>
            </a:pP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1</a:t>
            </a:r>
            <a:r>
              <a:rPr lang="zh-CN" altLang="en-US" dirty="0">
                <a:solidFill>
                  <a:srgbClr val="0000FF"/>
                </a:solidFill>
                <a:latin typeface="Times New Roman" panose="02020603050405020304" pitchFamily="18" charset="0"/>
                <a:ea typeface="宋体" panose="02010600030101010101" pitchFamily="2" charset="-122"/>
              </a:rPr>
              <a:t>）  乘法指令</a:t>
            </a:r>
            <a:endParaRPr lang="zh-CN" altLang="en-US" b="0" dirty="0">
              <a:latin typeface="Times New Roman" panose="02020603050405020304" pitchFamily="18" charset="0"/>
              <a:ea typeface="宋体" panose="02010600030101010101" pitchFamily="2" charset="-122"/>
            </a:endParaRPr>
          </a:p>
          <a:p>
            <a:pPr indent="265430"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MUL   	AB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；结果高位在</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 低位在</a:t>
            </a:r>
            <a:r>
              <a:rPr lang="en-US" altLang="zh-CN" dirty="0">
                <a:latin typeface="Times New Roman" panose="02020603050405020304" pitchFamily="18" charset="0"/>
                <a:ea typeface="宋体" panose="02010600030101010101" pitchFamily="2" charset="-122"/>
              </a:rPr>
              <a:t>A</a:t>
            </a:r>
            <a:endParaRPr lang="en-US" altLang="zh-CN" b="0" dirty="0">
              <a:latin typeface="Times New Roman" panose="02020603050405020304" pitchFamily="18" charset="0"/>
              <a:ea typeface="宋体" panose="02010600030101010101" pitchFamily="2" charset="-122"/>
            </a:endParaRPr>
          </a:p>
          <a:p>
            <a:pPr indent="265430" algn="just" eaLnBrk="0" hangingPunct="0">
              <a:lnSpc>
                <a:spcPct val="140000"/>
              </a:lnSpc>
            </a:pPr>
            <a:endParaRPr lang="en-US" altLang="zh-CN" dirty="0">
              <a:latin typeface="Times New Roman" panose="02020603050405020304" pitchFamily="18" charset="0"/>
              <a:ea typeface="宋体" panose="02010600030101010101" pitchFamily="2" charset="-122"/>
            </a:endParaRPr>
          </a:p>
          <a:p>
            <a:pPr indent="265430" algn="just" eaLnBrk="0" hangingPunct="0">
              <a:lnSpc>
                <a:spcPct val="140000"/>
              </a:lnSpc>
            </a:pPr>
            <a:r>
              <a:rPr lang="zh-CN" altLang="en-US" dirty="0">
                <a:latin typeface="Times New Roman" panose="02020603050405020304" pitchFamily="18" charset="0"/>
                <a:ea typeface="宋体" panose="02010600030101010101" pitchFamily="2" charset="-122"/>
              </a:rPr>
              <a:t>功能： 完成</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与</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中两个</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位</a:t>
            </a:r>
            <a:r>
              <a:rPr lang="zh-CN" altLang="en-US" dirty="0">
                <a:solidFill>
                  <a:srgbClr val="0000FF"/>
                </a:solidFill>
                <a:latin typeface="Times New Roman" panose="02020603050405020304" pitchFamily="18" charset="0"/>
                <a:ea typeface="宋体" panose="02010600030101010101" pitchFamily="2" charset="-122"/>
              </a:rPr>
              <a:t>无符号数相乘</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265430" algn="just" eaLnBrk="0" hangingPunct="0">
              <a:lnSpc>
                <a:spcPct val="140000"/>
              </a:lnSpc>
            </a:pPr>
            <a:r>
              <a:rPr lang="zh-CN" altLang="en-US" dirty="0">
                <a:solidFill>
                  <a:srgbClr val="FF0000"/>
                </a:solidFill>
                <a:latin typeface="Times New Roman" panose="02020603050405020304" pitchFamily="18" charset="0"/>
                <a:ea typeface="宋体" panose="02010600030101010101" pitchFamily="2" charset="-122"/>
              </a:rPr>
              <a:t>乘法运算影响</a:t>
            </a:r>
            <a:r>
              <a:rPr lang="en-US" altLang="zh-CN" dirty="0">
                <a:solidFill>
                  <a:srgbClr val="FF0000"/>
                </a:solidFill>
                <a:latin typeface="Times New Roman" panose="02020603050405020304" pitchFamily="18" charset="0"/>
                <a:ea typeface="宋体" panose="02010600030101010101" pitchFamily="2" charset="-122"/>
              </a:rPr>
              <a:t>PSW</a:t>
            </a:r>
            <a:r>
              <a:rPr lang="zh-CN" altLang="en-US" dirty="0">
                <a:solidFill>
                  <a:srgbClr val="FF0000"/>
                </a:solidFill>
                <a:latin typeface="Times New Roman" panose="02020603050405020304" pitchFamily="18" charset="0"/>
                <a:ea typeface="宋体" panose="02010600030101010101" pitchFamily="2" charset="-122"/>
              </a:rPr>
              <a:t>的状态。</a:t>
            </a:r>
            <a:endParaRPr lang="zh-CN" altLang="en-US" b="0" dirty="0">
              <a:solidFill>
                <a:srgbClr val="FF0000"/>
              </a:solidFill>
              <a:latin typeface="Times New Roman" panose="02020603050405020304" pitchFamily="18" charset="0"/>
              <a:ea typeface="宋体" panose="02010600030101010101" pitchFamily="2" charset="-122"/>
            </a:endParaRPr>
          </a:p>
          <a:p>
            <a:pPr indent="265430" algn="just" eaLnBrk="0" hangingPunct="0">
              <a:lnSpc>
                <a:spcPct val="140000"/>
              </a:lnSpc>
            </a:pPr>
            <a:r>
              <a:rPr lang="zh-CN" altLang="en-US" dirty="0">
                <a:latin typeface="Times New Roman" panose="02020603050405020304" pitchFamily="18" charset="0"/>
                <a:ea typeface="宋体" panose="02010600030101010101" pitchFamily="2" charset="-122"/>
              </a:rPr>
              <a:t>若</a:t>
            </a:r>
            <a:r>
              <a:rPr lang="zh-CN" altLang="en-US" dirty="0">
                <a:solidFill>
                  <a:srgbClr val="FF0000"/>
                </a:solidFill>
                <a:latin typeface="Times New Roman" panose="02020603050405020304" pitchFamily="18" charset="0"/>
                <a:ea typeface="宋体" panose="02010600030101010101" pitchFamily="2" charset="-122"/>
              </a:rPr>
              <a:t>乘积 </a:t>
            </a:r>
            <a:r>
              <a:rPr lang="en-US" altLang="zh-CN" dirty="0">
                <a:solidFill>
                  <a:srgbClr val="FF0000"/>
                </a:solidFill>
                <a:latin typeface="Times New Roman" panose="02020603050405020304" pitchFamily="18" charset="0"/>
                <a:ea typeface="宋体" panose="02010600030101010101" pitchFamily="2" charset="-122"/>
              </a:rPr>
              <a:t>&lt; 0FFH</a:t>
            </a:r>
            <a:r>
              <a:rPr lang="zh-CN" altLang="en-US" dirty="0">
                <a:latin typeface="Times New Roman" panose="02020603050405020304" pitchFamily="18" charset="0"/>
                <a:ea typeface="宋体" panose="02010600030101010101" pitchFamily="2" charset="-122"/>
              </a:rPr>
              <a:t>（即（</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），则</a:t>
            </a:r>
            <a:r>
              <a:rPr lang="en-US" altLang="zh-CN" dirty="0">
                <a:solidFill>
                  <a:srgbClr val="FF0000"/>
                </a:solidFill>
                <a:latin typeface="Times New Roman" panose="02020603050405020304" pitchFamily="18" charset="0"/>
                <a:ea typeface="宋体" panose="02010600030101010101" pitchFamily="2" charset="-122"/>
              </a:rPr>
              <a:t>OV</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，否则</a:t>
            </a:r>
            <a:r>
              <a:rPr lang="en-US" altLang="zh-CN" dirty="0">
                <a:latin typeface="Times New Roman" panose="02020603050405020304" pitchFamily="18" charset="0"/>
                <a:ea typeface="宋体" panose="02010600030101010101" pitchFamily="2" charset="-122"/>
              </a:rPr>
              <a:t>OV</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p>
          <a:p>
            <a:pPr indent="265430" algn="just" eaLnBrk="0" hangingPunct="0">
              <a:lnSpc>
                <a:spcPct val="140000"/>
              </a:lnSpc>
            </a:pPr>
            <a:r>
              <a:rPr lang="zh-CN" altLang="en-US" dirty="0">
                <a:latin typeface="Times New Roman" panose="02020603050405020304" pitchFamily="18" charset="0"/>
                <a:ea typeface="宋体" panose="02010600030101010101" pitchFamily="2" charset="-122"/>
              </a:rPr>
              <a:t>该运算总使</a:t>
            </a:r>
            <a:r>
              <a:rPr lang="en-US" altLang="zh-CN" dirty="0">
                <a:solidFill>
                  <a:srgbClr val="FF0000"/>
                </a:solidFill>
                <a:latin typeface="Times New Roman" panose="02020603050405020304" pitchFamily="18" charset="0"/>
                <a:ea typeface="宋体" panose="02010600030101010101" pitchFamily="2" charset="-122"/>
              </a:rPr>
              <a:t>CY</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265430" eaLnBrk="0" hangingPunct="0">
              <a:lnSpc>
                <a:spcPct val="140000"/>
              </a:lnSpc>
            </a:pPr>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97</a:t>
            </a:fld>
            <a:endParaRPr lang="en-US" altLang="zh-CN" sz="1400" b="0" dirty="0"/>
          </a:p>
        </p:txBody>
      </p:sp>
      <p:sp>
        <p:nvSpPr>
          <p:cNvPr id="58370" name="Rectangle 2"/>
          <p:cNvSpPr/>
          <p:nvPr/>
        </p:nvSpPr>
        <p:spPr>
          <a:xfrm>
            <a:off x="323850" y="692150"/>
            <a:ext cx="8064500" cy="4473575"/>
          </a:xfrm>
          <a:prstGeom prst="rect">
            <a:avLst/>
          </a:prstGeom>
          <a:noFill/>
          <a:ln w="9525">
            <a:noFill/>
          </a:ln>
        </p:spPr>
        <p:txBody>
          <a:bodyPr anchor="t" anchorCtr="0">
            <a:spAutoFit/>
          </a:bodyPr>
          <a:lstStyle/>
          <a:p>
            <a:pPr indent="133350">
              <a:lnSpc>
                <a:spcPct val="150000"/>
              </a:lnSpc>
            </a:pP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4-7  </a:t>
            </a:r>
            <a:r>
              <a:rPr lang="zh-CN" altLang="en-US" dirty="0">
                <a:latin typeface="Times New Roman" panose="02020603050405020304" pitchFamily="18" charset="0"/>
                <a:ea typeface="宋体" panose="02010600030101010101" pitchFamily="2" charset="-122"/>
              </a:rPr>
              <a:t>分析下段指令执行后</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以及标志位</a:t>
            </a:r>
            <a:r>
              <a:rPr lang="en-US" altLang="zh-CN" dirty="0">
                <a:latin typeface="Times New Roman" panose="02020603050405020304" pitchFamily="18" charset="0"/>
                <a:ea typeface="宋体" panose="02010600030101010101" pitchFamily="2" charset="-122"/>
              </a:rPr>
              <a:t>CY</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OV</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P</a:t>
            </a:r>
            <a:r>
              <a:rPr lang="zh-CN" altLang="en-US" dirty="0">
                <a:latin typeface="Times New Roman" panose="02020603050405020304" pitchFamily="18" charset="0"/>
                <a:ea typeface="宋体" panose="02010600030101010101" pitchFamily="2" charset="-122"/>
              </a:rPr>
              <a:t>的值。</a:t>
            </a:r>
          </a:p>
          <a:p>
            <a:pPr indent="133350">
              <a:lnSpc>
                <a:spcPct val="15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ORG	0</a:t>
            </a:r>
          </a:p>
          <a:p>
            <a:pPr indent="133350">
              <a:lnSpc>
                <a:spcPct val="150000"/>
              </a:lnSpc>
            </a:pPr>
            <a:r>
              <a:rPr lang="en-US" altLang="zh-CN" dirty="0">
                <a:latin typeface="Times New Roman" panose="02020603050405020304" pitchFamily="18" charset="0"/>
                <a:ea typeface="宋体" panose="02010600030101010101" pitchFamily="2" charset="-122"/>
              </a:rPr>
              <a:t>	START:	MOV	A, #95</a:t>
            </a:r>
          </a:p>
          <a:p>
            <a:pPr indent="133350">
              <a:lnSpc>
                <a:spcPct val="150000"/>
              </a:lnSpc>
            </a:pPr>
            <a:r>
              <a:rPr lang="en-US" altLang="zh-CN" dirty="0">
                <a:latin typeface="Times New Roman" panose="02020603050405020304" pitchFamily="18" charset="0"/>
                <a:ea typeface="宋体" panose="02010600030101010101" pitchFamily="2" charset="-122"/>
              </a:rPr>
              <a:t>			MOV	B, #48</a:t>
            </a:r>
          </a:p>
          <a:p>
            <a:pPr indent="133350">
              <a:lnSpc>
                <a:spcPct val="150000"/>
              </a:lnSpc>
            </a:pPr>
            <a:r>
              <a:rPr lang="en-US" altLang="zh-CN" dirty="0">
                <a:latin typeface="Times New Roman" panose="02020603050405020304" pitchFamily="18" charset="0"/>
                <a:ea typeface="宋体" panose="02010600030101010101" pitchFamily="2" charset="-122"/>
              </a:rPr>
              <a:t>			MUL	AB</a:t>
            </a:r>
          </a:p>
          <a:p>
            <a:pPr indent="133350">
              <a:lnSpc>
                <a:spcPct val="150000"/>
              </a:lnSpc>
            </a:pPr>
            <a:r>
              <a:rPr lang="en-US" altLang="zh-CN" dirty="0">
                <a:latin typeface="Times New Roman" panose="02020603050405020304" pitchFamily="18" charset="0"/>
                <a:ea typeface="宋体" panose="02010600030101010101" pitchFamily="2" charset="-122"/>
              </a:rPr>
              <a:t>			NOP	</a:t>
            </a:r>
          </a:p>
          <a:p>
            <a:pPr indent="133350">
              <a:lnSpc>
                <a:spcPct val="150000"/>
              </a:lnSpc>
            </a:pPr>
            <a:r>
              <a:rPr lang="en-US" altLang="zh-CN" dirty="0">
                <a:latin typeface="Times New Roman" panose="02020603050405020304" pitchFamily="18" charset="0"/>
                <a:ea typeface="宋体" panose="02010600030101010101" pitchFamily="2" charset="-122"/>
              </a:rPr>
              <a:t>			END	</a:t>
            </a:r>
          </a:p>
        </p:txBody>
      </p:sp>
      <p:sp>
        <p:nvSpPr>
          <p:cNvPr id="58371" name="Text Box 3"/>
          <p:cNvSpPr txBox="1"/>
          <p:nvPr/>
        </p:nvSpPr>
        <p:spPr>
          <a:xfrm>
            <a:off x="827088" y="5229225"/>
            <a:ext cx="7775575" cy="822325"/>
          </a:xfrm>
          <a:prstGeom prst="rect">
            <a:avLst/>
          </a:prstGeom>
          <a:noFill/>
          <a:ln w="9525">
            <a:noFill/>
          </a:ln>
        </p:spPr>
        <p:txBody>
          <a:bodyPr anchor="t" anchorCtr="0">
            <a:spAutoFit/>
          </a:bodyPr>
          <a:lstStyle/>
          <a:p>
            <a:r>
              <a:rPr lang="zh-CN" altLang="en-US" dirty="0">
                <a:latin typeface="Times New Roman" panose="02020603050405020304" pitchFamily="18" charset="0"/>
                <a:ea typeface="宋体" panose="02010600030101010101" pitchFamily="2" charset="-122"/>
              </a:rPr>
              <a:t>解：本段指令执行后（</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=0D0H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=11H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CY</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OV</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98</a:t>
            </a:fld>
            <a:endParaRPr lang="en-US" altLang="zh-CN" sz="1400" b="0" dirty="0"/>
          </a:p>
        </p:txBody>
      </p:sp>
      <p:sp>
        <p:nvSpPr>
          <p:cNvPr id="59394" name="Rectangle 2"/>
          <p:cNvSpPr/>
          <p:nvPr/>
        </p:nvSpPr>
        <p:spPr>
          <a:xfrm>
            <a:off x="0" y="838200"/>
            <a:ext cx="9144000" cy="1296988"/>
          </a:xfrm>
          <a:prstGeom prst="rect">
            <a:avLst/>
          </a:prstGeom>
          <a:noFill/>
          <a:ln w="9525">
            <a:noFill/>
          </a:ln>
        </p:spPr>
        <p:txBody>
          <a:bodyPr anchor="t" anchorCtr="0">
            <a:spAutoFit/>
          </a:bodyPr>
          <a:lstStyle/>
          <a:p>
            <a:pPr indent="266700" algn="just">
              <a:lnSpc>
                <a:spcPct val="140000"/>
              </a:lnSpc>
            </a:pPr>
            <a:r>
              <a:rPr lang="en-US" altLang="zh-CN" dirty="0">
                <a:solidFill>
                  <a:srgbClr val="FF0000"/>
                </a:solidFill>
                <a:latin typeface="Times New Roman" panose="02020603050405020304" pitchFamily="18" charset="0"/>
                <a:ea typeface="宋体" panose="02010600030101010101" pitchFamily="2" charset="-122"/>
              </a:rPr>
              <a:t>2</a:t>
            </a:r>
            <a:r>
              <a:rPr lang="zh-CN" altLang="en-US" dirty="0">
                <a:solidFill>
                  <a:srgbClr val="FF0000"/>
                </a:solidFill>
                <a:latin typeface="Times New Roman" panose="02020603050405020304" pitchFamily="18" charset="0"/>
                <a:ea typeface="宋体" panose="02010600030101010101" pitchFamily="2" charset="-122"/>
              </a:rPr>
              <a:t>） 除法指令</a:t>
            </a:r>
            <a:endParaRPr lang="zh-CN" altLang="en-US" b="0" dirty="0">
              <a:latin typeface="Times New Roman" panose="02020603050405020304" pitchFamily="18" charset="0"/>
              <a:ea typeface="宋体" panose="02010600030101010101" pitchFamily="2" charset="-122"/>
            </a:endParaRPr>
          </a:p>
          <a:p>
            <a:pPr indent="266700" algn="just" eaLnBrk="0" hangingPunct="0">
              <a:lnSpc>
                <a:spcPct val="14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DIV   	AB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A/B</a:t>
            </a:r>
            <a:r>
              <a:rPr lang="zh-CN" altLang="en-US" dirty="0">
                <a:latin typeface="Times New Roman" panose="02020603050405020304" pitchFamily="18" charset="0"/>
                <a:ea typeface="宋体" panose="02010600030101010101" pitchFamily="2" charset="-122"/>
              </a:rPr>
              <a:t>，结果商在</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 余数在</a:t>
            </a:r>
            <a:r>
              <a:rPr lang="en-US" altLang="zh-CN" dirty="0">
                <a:latin typeface="Times New Roman" panose="02020603050405020304" pitchFamily="18" charset="0"/>
                <a:ea typeface="宋体" panose="02010600030101010101" pitchFamily="2" charset="-122"/>
              </a:rPr>
              <a:t>B</a:t>
            </a:r>
            <a:endParaRPr lang="en-US" altLang="zh-CN" b="0" dirty="0">
              <a:latin typeface="Times New Roman" panose="02020603050405020304" pitchFamily="18" charset="0"/>
              <a:ea typeface="宋体" panose="02010600030101010101" pitchFamily="2" charset="-122"/>
            </a:endParaRPr>
          </a:p>
        </p:txBody>
      </p:sp>
      <p:sp>
        <p:nvSpPr>
          <p:cNvPr id="59395" name="Rectangle 3"/>
          <p:cNvSpPr/>
          <p:nvPr/>
        </p:nvSpPr>
        <p:spPr>
          <a:xfrm>
            <a:off x="0" y="2133600"/>
            <a:ext cx="9144000" cy="2136775"/>
          </a:xfrm>
          <a:prstGeom prst="rect">
            <a:avLst/>
          </a:prstGeom>
          <a:noFill/>
          <a:ln w="9525">
            <a:noFill/>
          </a:ln>
        </p:spPr>
        <p:txBody>
          <a:bodyPr anchor="t" anchorCtr="0">
            <a:spAutoFit/>
          </a:bodyPr>
          <a:lstStyle/>
          <a:p>
            <a:pPr indent="266700" algn="just" eaLnBrk="0" hangingPunct="0">
              <a:lnSpc>
                <a:spcPct val="140000"/>
              </a:lnSpc>
            </a:pPr>
            <a:r>
              <a:rPr lang="zh-CN" altLang="en-US" dirty="0">
                <a:latin typeface="Times New Roman" panose="02020603050405020304" pitchFamily="18" charset="0"/>
                <a:ea typeface="宋体" panose="02010600030101010101" pitchFamily="2" charset="-122"/>
              </a:rPr>
              <a:t>除法运算影响</a:t>
            </a:r>
            <a:r>
              <a:rPr lang="en-US" altLang="zh-CN" dirty="0">
                <a:latin typeface="Times New Roman" panose="02020603050405020304" pitchFamily="18" charset="0"/>
                <a:ea typeface="宋体" panose="02010600030101010101" pitchFamily="2" charset="-122"/>
              </a:rPr>
              <a:t>PSW</a:t>
            </a:r>
            <a:r>
              <a:rPr lang="zh-CN" altLang="en-US" dirty="0">
                <a:latin typeface="Times New Roman" panose="02020603050405020304" pitchFamily="18" charset="0"/>
                <a:ea typeface="宋体" panose="02010600030101010101" pitchFamily="2" charset="-122"/>
              </a:rPr>
              <a:t>的状态。</a:t>
            </a:r>
            <a:endParaRPr lang="zh-CN" altLang="en-US" b="0" dirty="0">
              <a:latin typeface="Times New Roman" panose="02020603050405020304" pitchFamily="18" charset="0"/>
              <a:ea typeface="宋体" panose="02010600030101010101" pitchFamily="2" charset="-122"/>
            </a:endParaRPr>
          </a:p>
          <a:p>
            <a:pPr indent="266700" algn="just" eaLnBrk="0" hangingPunct="0">
              <a:lnSpc>
                <a:spcPct val="140000"/>
              </a:lnSpc>
            </a:pPr>
            <a:r>
              <a:rPr lang="zh-CN" altLang="en-US" dirty="0">
                <a:latin typeface="Times New Roman" panose="02020603050405020304" pitchFamily="18" charset="0"/>
                <a:ea typeface="宋体" panose="02010600030101010101" pitchFamily="2" charset="-122"/>
              </a:rPr>
              <a:t>当除数为</a:t>
            </a:r>
            <a:r>
              <a:rPr lang="en-US" altLang="zh-CN" dirty="0">
                <a:latin typeface="Times New Roman" panose="02020603050405020304" pitchFamily="18" charset="0"/>
                <a:ea typeface="宋体" panose="02010600030101010101" pitchFamily="2" charset="-122"/>
              </a:rPr>
              <a:t>0</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B</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0</a:t>
            </a:r>
            <a:r>
              <a:rPr lang="zh-CN" altLang="en-US" dirty="0">
                <a:solidFill>
                  <a:srgbClr val="FF0000"/>
                </a:solidFill>
                <a:latin typeface="Times New Roman" panose="02020603050405020304" pitchFamily="18" charset="0"/>
                <a:ea typeface="宋体" panose="02010600030101010101" pitchFamily="2" charset="-122"/>
              </a:rPr>
              <a:t>）时，</a:t>
            </a:r>
            <a:r>
              <a:rPr lang="en-US" altLang="zh-CN" dirty="0">
                <a:solidFill>
                  <a:srgbClr val="FF0000"/>
                </a:solidFill>
                <a:latin typeface="Times New Roman" panose="02020603050405020304" pitchFamily="18" charset="0"/>
                <a:ea typeface="宋体" panose="02010600030101010101" pitchFamily="2" charset="-122"/>
              </a:rPr>
              <a:t>OV</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，表明除法无意义，无法进行；</a:t>
            </a:r>
          </a:p>
          <a:p>
            <a:pPr indent="266700" algn="just" eaLnBrk="0" hangingPunct="0">
              <a:lnSpc>
                <a:spcPct val="140000"/>
              </a:lnSpc>
            </a:pPr>
            <a:r>
              <a:rPr lang="zh-CN" altLang="en-US" dirty="0">
                <a:latin typeface="Times New Roman" panose="02020603050405020304" pitchFamily="18" charset="0"/>
                <a:ea typeface="宋体" panose="02010600030101010101" pitchFamily="2" charset="-122"/>
              </a:rPr>
              <a:t>其它情况下， </a:t>
            </a:r>
            <a:r>
              <a:rPr lang="en-US" altLang="zh-CN" dirty="0">
                <a:latin typeface="Times New Roman" panose="02020603050405020304" pitchFamily="18" charset="0"/>
                <a:ea typeface="宋体" panose="02010600030101010101" pitchFamily="2" charset="-122"/>
              </a:rPr>
              <a:t>OV</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p>
          <a:p>
            <a:pPr indent="266700" algn="just" eaLnBrk="0" hangingPunct="0">
              <a:lnSpc>
                <a:spcPct val="140000"/>
              </a:lnSpc>
            </a:pPr>
            <a:r>
              <a:rPr lang="zh-CN" altLang="en-US" dirty="0">
                <a:latin typeface="Times New Roman" panose="02020603050405020304" pitchFamily="18" charset="0"/>
                <a:ea typeface="宋体" panose="02010600030101010101" pitchFamily="2" charset="-122"/>
              </a:rPr>
              <a:t>任何情况下， </a:t>
            </a:r>
            <a:r>
              <a:rPr lang="en-US" altLang="zh-CN" dirty="0">
                <a:solidFill>
                  <a:srgbClr val="FF0000"/>
                </a:solidFill>
                <a:latin typeface="Times New Roman" panose="02020603050405020304" pitchFamily="18" charset="0"/>
                <a:ea typeface="宋体" panose="02010600030101010101" pitchFamily="2" charset="-122"/>
              </a:rPr>
              <a:t>CY</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0</a:t>
            </a:r>
            <a:r>
              <a:rPr lang="zh-CN" altLang="en-US" dirty="0">
                <a:solidFill>
                  <a:srgbClr val="FF0000"/>
                </a:solidFill>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p:txBody>
      </p:sp>
      <p:sp>
        <p:nvSpPr>
          <p:cNvPr id="103428" name="Rectangle 1028"/>
          <p:cNvSpPr/>
          <p:nvPr/>
        </p:nvSpPr>
        <p:spPr>
          <a:xfrm>
            <a:off x="1331913" y="4292600"/>
            <a:ext cx="7561262" cy="1808163"/>
          </a:xfrm>
          <a:prstGeom prst="rect">
            <a:avLst/>
          </a:prstGeom>
          <a:noFill/>
          <a:ln w="9525">
            <a:noFill/>
          </a:ln>
        </p:spPr>
        <p:txBody>
          <a:bodyPr anchor="t" anchorCtr="0">
            <a:spAutoFit/>
          </a:bodyPr>
          <a:lstStyle/>
          <a:p>
            <a:pPr indent="266700" algn="just" eaLnBrk="0" hangingPunct="0">
              <a:lnSpc>
                <a:spcPct val="140000"/>
              </a:lnSpc>
            </a:pP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3-11</a:t>
            </a:r>
            <a:r>
              <a:rPr lang="zh-CN" altLang="en-US" dirty="0">
                <a:latin typeface="Times New Roman" panose="02020603050405020304" pitchFamily="18" charset="0"/>
                <a:ea typeface="宋体" panose="02010600030101010101" pitchFamily="2" charset="-122"/>
              </a:rPr>
              <a:t>： 设（</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17</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，执行指令：</a:t>
            </a:r>
            <a:endParaRPr lang="zh-CN" altLang="en-US" b="0" dirty="0">
              <a:latin typeface="Times New Roman" panose="02020603050405020304" pitchFamily="18" charset="0"/>
              <a:ea typeface="宋体" panose="02010600030101010101" pitchFamily="2" charset="-122"/>
            </a:endParaRPr>
          </a:p>
          <a:p>
            <a:pPr indent="266700" algn="just" eaLnBrk="0" hangingPunct="0">
              <a:lnSpc>
                <a:spcPct val="14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DIV	AB</a:t>
            </a:r>
            <a:endParaRPr lang="en-US" altLang="zh-CN" b="0" dirty="0">
              <a:solidFill>
                <a:srgbClr val="FF0000"/>
              </a:solidFill>
              <a:latin typeface="Times New Roman" panose="02020603050405020304" pitchFamily="18" charset="0"/>
              <a:ea typeface="宋体" panose="02010600030101010101" pitchFamily="2" charset="-122"/>
            </a:endParaRPr>
          </a:p>
          <a:p>
            <a:pPr indent="266700" algn="just" eaLnBrk="0" hangingPunct="0">
              <a:lnSpc>
                <a:spcPct val="140000"/>
              </a:lnSpc>
            </a:pPr>
            <a:r>
              <a:rPr lang="zh-CN" altLang="en-US" dirty="0">
                <a:latin typeface="Times New Roman" panose="02020603050405020304" pitchFamily="18" charset="0"/>
                <a:ea typeface="宋体" panose="02010600030101010101" pitchFamily="2" charset="-122"/>
              </a:rPr>
              <a:t>结果为：（</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CY</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OV</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 </a:t>
            </a:r>
            <a:endParaRPr lang="zh-CN" altLang="en-US"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99</a:t>
            </a:fld>
            <a:endParaRPr lang="en-US" altLang="zh-CN" sz="1400" b="0" dirty="0"/>
          </a:p>
        </p:txBody>
      </p:sp>
      <p:sp>
        <p:nvSpPr>
          <p:cNvPr id="245764" name="Text Box 4"/>
          <p:cNvSpPr txBox="1"/>
          <p:nvPr/>
        </p:nvSpPr>
        <p:spPr>
          <a:xfrm>
            <a:off x="179388" y="1052513"/>
            <a:ext cx="8640762" cy="1754187"/>
          </a:xfrm>
          <a:prstGeom prst="rect">
            <a:avLst/>
          </a:prstGeom>
          <a:noFill/>
          <a:ln w="9525">
            <a:noFill/>
          </a:ln>
        </p:spPr>
        <p:txBody>
          <a:bodyPr anchor="t" anchorCtr="0">
            <a:spAutoFit/>
          </a:bodyPr>
          <a:lstStyle/>
          <a:p>
            <a:pPr>
              <a:lnSpc>
                <a:spcPct val="150000"/>
              </a:lnSpc>
              <a:spcBef>
                <a:spcPct val="50000"/>
              </a:spcBef>
            </a:pP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4-10  </a:t>
            </a:r>
            <a:r>
              <a:rPr lang="zh-CN" altLang="en-US" dirty="0">
                <a:latin typeface="Times New Roman" panose="02020603050405020304" pitchFamily="18" charset="0"/>
                <a:ea typeface="宋体" panose="02010600030101010101" pitchFamily="2" charset="-122"/>
              </a:rPr>
              <a:t>编写一程序，实现将累加器</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中的无符号十六进制数转换为</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位</a:t>
            </a:r>
            <a:r>
              <a:rPr lang="en-US" altLang="zh-CN" dirty="0">
                <a:solidFill>
                  <a:srgbClr val="FF0000"/>
                </a:solidFill>
                <a:latin typeface="Times New Roman" panose="02020603050405020304" pitchFamily="18" charset="0"/>
                <a:ea typeface="宋体" panose="02010600030101010101" pitchFamily="2" charset="-122"/>
              </a:rPr>
              <a:t>BCD</a:t>
            </a:r>
            <a:r>
              <a:rPr lang="zh-CN" altLang="en-US" dirty="0">
                <a:latin typeface="Times New Roman" panose="02020603050405020304" pitchFamily="18" charset="0"/>
                <a:ea typeface="宋体" panose="02010600030101010101" pitchFamily="2" charset="-122"/>
              </a:rPr>
              <a:t>码，并将</a:t>
            </a:r>
            <a:r>
              <a:rPr lang="en-US" altLang="zh-CN" dirty="0">
                <a:solidFill>
                  <a:srgbClr val="FF0000"/>
                </a:solidFill>
                <a:latin typeface="Times New Roman" panose="02020603050405020304" pitchFamily="18" charset="0"/>
                <a:ea typeface="宋体" panose="02010600030101010101" pitchFamily="2" charset="-122"/>
              </a:rPr>
              <a:t>BCD</a:t>
            </a:r>
            <a:r>
              <a:rPr lang="zh-CN" altLang="en-US" dirty="0">
                <a:solidFill>
                  <a:srgbClr val="FF0000"/>
                </a:solidFill>
                <a:latin typeface="Times New Roman" panose="02020603050405020304" pitchFamily="18" charset="0"/>
                <a:ea typeface="宋体" panose="02010600030101010101" pitchFamily="2" charset="-122"/>
              </a:rPr>
              <a:t>码的百位、十位和个位</a:t>
            </a:r>
            <a:r>
              <a:rPr lang="zh-CN" altLang="en-US" dirty="0">
                <a:latin typeface="Times New Roman" panose="02020603050405020304" pitchFamily="18" charset="0"/>
                <a:ea typeface="宋体" panose="02010600030101010101" pitchFamily="2" charset="-122"/>
              </a:rPr>
              <a:t>分别存放在内部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30H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31H</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32H</a:t>
            </a:r>
            <a:r>
              <a:rPr lang="zh-CN" altLang="en-US" dirty="0">
                <a:latin typeface="Times New Roman" panose="02020603050405020304" pitchFamily="18" charset="0"/>
                <a:ea typeface="宋体" panose="02010600030101010101" pitchFamily="2" charset="-122"/>
              </a:rPr>
              <a:t>单元。</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5764"/>
                                        </p:tgtEl>
                                        <p:attrNameLst>
                                          <p:attrName>style.visibility</p:attrName>
                                        </p:attrNameLst>
                                      </p:cBhvr>
                                      <p:to>
                                        <p:strVal val="visible"/>
                                      </p:to>
                                    </p:set>
                                    <p:animEffect transition="in" filter="checkerboard(across)">
                                      <p:cBhvr>
                                        <p:cTn id="7" dur="500"/>
                                        <p:tgtEl>
                                          <p:spTgt spid="245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4"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100</a:t>
            </a:fld>
            <a:endParaRPr lang="en-US" altLang="zh-CN" sz="1400" b="0" dirty="0"/>
          </a:p>
        </p:txBody>
      </p:sp>
      <p:sp>
        <p:nvSpPr>
          <p:cNvPr id="245764" name="Text Box 4"/>
          <p:cNvSpPr txBox="1"/>
          <p:nvPr/>
        </p:nvSpPr>
        <p:spPr>
          <a:xfrm>
            <a:off x="468313" y="692150"/>
            <a:ext cx="8675687" cy="1187450"/>
          </a:xfrm>
          <a:prstGeom prst="rect">
            <a:avLst/>
          </a:prstGeom>
          <a:noFill/>
          <a:ln w="9525">
            <a:noFill/>
          </a:ln>
        </p:spPr>
        <p:txBody>
          <a:bodyPr anchor="t" anchorCtr="0">
            <a:spAutoFit/>
          </a:bodyPr>
          <a:lstStyle/>
          <a:p>
            <a:pPr>
              <a:spcBef>
                <a:spcPct val="50000"/>
              </a:spcBef>
            </a:pP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4-10  </a:t>
            </a:r>
            <a:r>
              <a:rPr lang="zh-CN" altLang="en-US" dirty="0">
                <a:latin typeface="Times New Roman" panose="02020603050405020304" pitchFamily="18" charset="0"/>
                <a:ea typeface="宋体" panose="02010600030101010101" pitchFamily="2" charset="-122"/>
              </a:rPr>
              <a:t>编写一程序，实现将累加器</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中的无符号十六进制数转换为</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位</a:t>
            </a:r>
            <a:r>
              <a:rPr lang="en-US" altLang="zh-CN" dirty="0">
                <a:latin typeface="Times New Roman" panose="02020603050405020304" pitchFamily="18" charset="0"/>
                <a:ea typeface="宋体" panose="02010600030101010101" pitchFamily="2" charset="-122"/>
              </a:rPr>
              <a:t>BCD</a:t>
            </a:r>
            <a:r>
              <a:rPr lang="zh-CN" altLang="en-US" dirty="0">
                <a:latin typeface="Times New Roman" panose="02020603050405020304" pitchFamily="18" charset="0"/>
                <a:ea typeface="宋体" panose="02010600030101010101" pitchFamily="2" charset="-122"/>
              </a:rPr>
              <a:t>码，并将</a:t>
            </a:r>
            <a:r>
              <a:rPr lang="en-US" altLang="zh-CN" dirty="0">
                <a:latin typeface="Times New Roman" panose="02020603050405020304" pitchFamily="18" charset="0"/>
                <a:ea typeface="宋体" panose="02010600030101010101" pitchFamily="2" charset="-122"/>
              </a:rPr>
              <a:t>BCD</a:t>
            </a:r>
            <a:r>
              <a:rPr lang="zh-CN" altLang="en-US" dirty="0">
                <a:latin typeface="Times New Roman" panose="02020603050405020304" pitchFamily="18" charset="0"/>
                <a:ea typeface="宋体" panose="02010600030101010101" pitchFamily="2" charset="-122"/>
              </a:rPr>
              <a:t>码的百位、十位和个位分别存放在内部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30H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31H</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32H</a:t>
            </a:r>
            <a:r>
              <a:rPr lang="zh-CN" altLang="en-US" dirty="0">
                <a:latin typeface="Times New Roman" panose="02020603050405020304" pitchFamily="18" charset="0"/>
                <a:ea typeface="宋体" panose="02010600030101010101" pitchFamily="2" charset="-122"/>
              </a:rPr>
              <a:t>单元。</a:t>
            </a:r>
          </a:p>
        </p:txBody>
      </p:sp>
      <p:sp>
        <p:nvSpPr>
          <p:cNvPr id="245765" name="Text Box 5"/>
          <p:cNvSpPr txBox="1"/>
          <p:nvPr/>
        </p:nvSpPr>
        <p:spPr>
          <a:xfrm>
            <a:off x="250825" y="2060575"/>
            <a:ext cx="8675688" cy="4556125"/>
          </a:xfrm>
          <a:prstGeom prst="rect">
            <a:avLst/>
          </a:prstGeom>
          <a:noFill/>
          <a:ln w="9525">
            <a:noFill/>
          </a:ln>
        </p:spPr>
        <p:txBody>
          <a:bodyPr anchor="t" anchorCtr="0">
            <a:spAutoFit/>
          </a:bodyPr>
          <a:lstStyle/>
          <a:p>
            <a:pPr>
              <a:lnSpc>
                <a:spcPct val="110000"/>
              </a:lnSpc>
            </a:pPr>
            <a:r>
              <a:rPr lang="en-US" altLang="zh-CN" dirty="0">
                <a:latin typeface="Times New Roman" panose="02020603050405020304" pitchFamily="18" charset="0"/>
                <a:ea typeface="宋体" panose="02010600030101010101" pitchFamily="2" charset="-122"/>
              </a:rPr>
              <a:t>                         ORG	0000H</a:t>
            </a:r>
          </a:p>
          <a:p>
            <a:pPr>
              <a:lnSpc>
                <a:spcPct val="110000"/>
              </a:lnSpc>
            </a:pPr>
            <a:r>
              <a:rPr lang="en-US" altLang="zh-CN" dirty="0">
                <a:latin typeface="Times New Roman" panose="02020603050405020304" pitchFamily="18" charset="0"/>
                <a:ea typeface="宋体" panose="02010600030101010101" pitchFamily="2" charset="-122"/>
              </a:rPr>
              <a:t>START:	 MOV	A, #0BDH		; </a:t>
            </a:r>
            <a:r>
              <a:rPr lang="zh-CN" altLang="en-US" dirty="0">
                <a:latin typeface="Times New Roman" panose="02020603050405020304" pitchFamily="18" charset="0"/>
                <a:ea typeface="宋体" panose="02010600030101010101" pitchFamily="2" charset="-122"/>
              </a:rPr>
              <a:t>送被分离的数</a:t>
            </a:r>
          </a:p>
          <a:p>
            <a:pPr>
              <a:lnSpc>
                <a:spcPct val="110000"/>
              </a:lnSpc>
            </a:pPr>
            <a:r>
              <a:rPr lang="zh-CN" altLang="en-US" dirty="0">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MOV	B, #100		; </a:t>
            </a:r>
            <a:r>
              <a:rPr lang="zh-CN" altLang="en-US" dirty="0">
                <a:solidFill>
                  <a:srgbClr val="FF0000"/>
                </a:solidFill>
                <a:latin typeface="Times New Roman" panose="02020603050405020304" pitchFamily="18" charset="0"/>
                <a:ea typeface="宋体" panose="02010600030101010101" pitchFamily="2" charset="-122"/>
              </a:rPr>
              <a:t>除数送</a:t>
            </a:r>
            <a:r>
              <a:rPr lang="en-US" altLang="zh-CN" dirty="0">
                <a:solidFill>
                  <a:srgbClr val="FF0000"/>
                </a:solidFill>
                <a:latin typeface="Times New Roman" panose="02020603050405020304" pitchFamily="18" charset="0"/>
                <a:ea typeface="宋体" panose="02010600030101010101" pitchFamily="2" charset="-122"/>
              </a:rPr>
              <a:t>B</a:t>
            </a:r>
          </a:p>
          <a:p>
            <a:pPr>
              <a:lnSpc>
                <a:spcPct val="110000"/>
              </a:lnSpc>
            </a:pPr>
            <a:r>
              <a:rPr lang="en-US" altLang="zh-CN" dirty="0">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DIV	AB			; </a:t>
            </a:r>
            <a:r>
              <a:rPr lang="zh-CN" altLang="en-US" dirty="0">
                <a:solidFill>
                  <a:srgbClr val="FF0000"/>
                </a:solidFill>
                <a:latin typeface="Times New Roman" panose="02020603050405020304" pitchFamily="18" charset="0"/>
                <a:ea typeface="宋体" panose="02010600030101010101" pitchFamily="2" charset="-122"/>
              </a:rPr>
              <a:t>相除，分离出百位</a:t>
            </a:r>
          </a:p>
          <a:p>
            <a:pPr>
              <a:lnSpc>
                <a:spcPct val="11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30H, A		            ; </a:t>
            </a:r>
            <a:r>
              <a:rPr lang="zh-CN" altLang="en-US" dirty="0">
                <a:latin typeface="Times New Roman" panose="02020603050405020304" pitchFamily="18" charset="0"/>
                <a:ea typeface="宋体" panose="02010600030101010101" pitchFamily="2" charset="-122"/>
              </a:rPr>
              <a:t>保存百位</a:t>
            </a:r>
          </a:p>
          <a:p>
            <a:pPr>
              <a:lnSpc>
                <a:spcPct val="11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A, B			; </a:t>
            </a:r>
            <a:r>
              <a:rPr lang="zh-CN" altLang="en-US" dirty="0">
                <a:latin typeface="Times New Roman" panose="02020603050405020304" pitchFamily="18" charset="0"/>
                <a:ea typeface="宋体" panose="02010600030101010101" pitchFamily="2" charset="-122"/>
              </a:rPr>
              <a:t>余数送</a:t>
            </a:r>
            <a:r>
              <a:rPr lang="en-US" altLang="zh-CN" dirty="0">
                <a:latin typeface="Times New Roman" panose="02020603050405020304" pitchFamily="18" charset="0"/>
                <a:ea typeface="宋体" panose="02010600030101010101" pitchFamily="2" charset="-122"/>
              </a:rPr>
              <a:t>A</a:t>
            </a:r>
          </a:p>
          <a:p>
            <a:pPr>
              <a:lnSpc>
                <a:spcPct val="110000"/>
              </a:lnSpc>
            </a:pPr>
            <a:r>
              <a:rPr lang="en-US" altLang="zh-CN" dirty="0">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MOV	B, #10			; </a:t>
            </a:r>
            <a:r>
              <a:rPr lang="zh-CN" altLang="en-US" dirty="0">
                <a:solidFill>
                  <a:srgbClr val="FF0000"/>
                </a:solidFill>
                <a:latin typeface="Times New Roman" panose="02020603050405020304" pitchFamily="18" charset="0"/>
                <a:ea typeface="宋体" panose="02010600030101010101" pitchFamily="2" charset="-122"/>
              </a:rPr>
              <a:t>除数送</a:t>
            </a:r>
            <a:r>
              <a:rPr lang="en-US" altLang="zh-CN" dirty="0">
                <a:solidFill>
                  <a:srgbClr val="FF0000"/>
                </a:solidFill>
                <a:latin typeface="Times New Roman" panose="02020603050405020304" pitchFamily="18" charset="0"/>
                <a:ea typeface="宋体" panose="02010600030101010101" pitchFamily="2" charset="-122"/>
              </a:rPr>
              <a:t>B</a:t>
            </a:r>
          </a:p>
          <a:p>
            <a:pPr>
              <a:lnSpc>
                <a:spcPct val="110000"/>
              </a:lnSpc>
            </a:pPr>
            <a:r>
              <a:rPr lang="en-US" altLang="zh-CN" dirty="0">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DIV	AB			; </a:t>
            </a:r>
            <a:r>
              <a:rPr lang="zh-CN" altLang="en-US" dirty="0">
                <a:solidFill>
                  <a:srgbClr val="FF0000"/>
                </a:solidFill>
                <a:latin typeface="Times New Roman" panose="02020603050405020304" pitchFamily="18" charset="0"/>
                <a:ea typeface="宋体" panose="02010600030101010101" pitchFamily="2" charset="-122"/>
              </a:rPr>
              <a:t>分离十位和各位</a:t>
            </a:r>
          </a:p>
          <a:p>
            <a:pPr>
              <a:lnSpc>
                <a:spcPct val="11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31H, A		            ; </a:t>
            </a:r>
            <a:r>
              <a:rPr lang="zh-CN" altLang="en-US" dirty="0">
                <a:latin typeface="Times New Roman" panose="02020603050405020304" pitchFamily="18" charset="0"/>
                <a:ea typeface="宋体" panose="02010600030101010101" pitchFamily="2" charset="-122"/>
              </a:rPr>
              <a:t>保存商，即十位数</a:t>
            </a:r>
          </a:p>
          <a:p>
            <a:pPr>
              <a:lnSpc>
                <a:spcPct val="11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32H, B			; </a:t>
            </a:r>
            <a:r>
              <a:rPr lang="zh-CN" altLang="en-US" dirty="0">
                <a:latin typeface="Times New Roman" panose="02020603050405020304" pitchFamily="18" charset="0"/>
                <a:ea typeface="宋体" panose="02010600030101010101" pitchFamily="2" charset="-122"/>
              </a:rPr>
              <a:t>保存余数，即个位数</a:t>
            </a:r>
          </a:p>
          <a:p>
            <a:pPr>
              <a:lnSpc>
                <a:spcPct val="11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END</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101</a:t>
            </a:fld>
            <a:endParaRPr lang="en-US" altLang="zh-CN" sz="1400" b="0" dirty="0"/>
          </a:p>
        </p:txBody>
      </p:sp>
      <p:sp>
        <p:nvSpPr>
          <p:cNvPr id="61442" name="Rectangle 2"/>
          <p:cNvSpPr/>
          <p:nvPr/>
        </p:nvSpPr>
        <p:spPr>
          <a:xfrm>
            <a:off x="250825" y="765175"/>
            <a:ext cx="8534400" cy="1114425"/>
          </a:xfrm>
          <a:prstGeom prst="rect">
            <a:avLst/>
          </a:prstGeom>
          <a:noFill/>
          <a:ln w="9525">
            <a:noFill/>
          </a:ln>
        </p:spPr>
        <p:txBody>
          <a:bodyPr anchor="t" anchorCtr="0">
            <a:spAutoFit/>
          </a:bodyPr>
          <a:lstStyle/>
          <a:p>
            <a:pPr indent="268605" algn="just">
              <a:lnSpc>
                <a:spcPct val="140000"/>
              </a:lnSpc>
            </a:pPr>
            <a:r>
              <a:rPr lang="en-US" altLang="zh-CN" dirty="0">
                <a:solidFill>
                  <a:srgbClr val="0000FF"/>
                </a:solidFill>
                <a:latin typeface="Times New Roman" panose="02020603050405020304" pitchFamily="18" charset="0"/>
                <a:ea typeface="黑体" panose="02010609060101010101" pitchFamily="49" charset="-122"/>
              </a:rPr>
              <a:t>7</a:t>
            </a:r>
            <a:r>
              <a:rPr lang="zh-CN" altLang="en-US" dirty="0">
                <a:solidFill>
                  <a:srgbClr val="0000FF"/>
                </a:solidFill>
                <a:latin typeface="Times New Roman" panose="02020603050405020304" pitchFamily="18" charset="0"/>
                <a:ea typeface="黑体" panose="02010609060101010101" pitchFamily="49" charset="-122"/>
              </a:rPr>
              <a:t>）十进制调整指令：</a:t>
            </a:r>
          </a:p>
          <a:p>
            <a:pPr indent="268605" algn="ctr">
              <a:lnSpc>
                <a:spcPct val="140000"/>
              </a:lnSpc>
            </a:pPr>
            <a:r>
              <a:rPr lang="en-US" altLang="zh-CN" dirty="0">
                <a:solidFill>
                  <a:srgbClr val="0000FF"/>
                </a:solidFill>
                <a:latin typeface="Times New Roman" panose="02020603050405020304" pitchFamily="18" charset="0"/>
                <a:ea typeface="宋体" panose="02010600030101010101" pitchFamily="2" charset="-122"/>
              </a:rPr>
              <a:t>DA  	</a:t>
            </a:r>
            <a:r>
              <a:rPr lang="en-US" altLang="zh-CN" dirty="0">
                <a:solidFill>
                  <a:srgbClr val="FF0000"/>
                </a:solidFill>
                <a:latin typeface="Times New Roman" panose="02020603050405020304" pitchFamily="18" charset="0"/>
                <a:ea typeface="宋体" panose="02010600030101010101" pitchFamily="2" charset="-122"/>
              </a:rPr>
              <a:t>A</a:t>
            </a:r>
          </a:p>
        </p:txBody>
      </p:sp>
      <p:sp>
        <p:nvSpPr>
          <p:cNvPr id="61443" name="Rectangle 3"/>
          <p:cNvSpPr/>
          <p:nvPr/>
        </p:nvSpPr>
        <p:spPr>
          <a:xfrm>
            <a:off x="395288" y="1989138"/>
            <a:ext cx="7199312" cy="3670300"/>
          </a:xfrm>
          <a:prstGeom prst="rect">
            <a:avLst/>
          </a:prstGeom>
          <a:noFill/>
          <a:ln w="9525">
            <a:noFill/>
          </a:ln>
        </p:spPr>
        <p:txBody>
          <a:bodyPr anchor="t" anchorCtr="0">
            <a:spAutoFit/>
          </a:bodyPr>
          <a:lstStyle/>
          <a:p>
            <a:pPr indent="268605">
              <a:lnSpc>
                <a:spcPct val="140000"/>
              </a:lnSpc>
            </a:pP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4-9  </a:t>
            </a:r>
            <a:r>
              <a:rPr lang="zh-CN" altLang="en-US" dirty="0">
                <a:latin typeface="Times New Roman" panose="02020603050405020304" pitchFamily="18" charset="0"/>
                <a:ea typeface="宋体" panose="02010600030101010101" pitchFamily="2" charset="-122"/>
              </a:rPr>
              <a:t>分析下段程序执行后</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的结果。</a:t>
            </a:r>
          </a:p>
          <a:p>
            <a:pPr indent="268605">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ORG	0</a:t>
            </a:r>
          </a:p>
          <a:p>
            <a:pPr indent="268605">
              <a:lnSpc>
                <a:spcPct val="140000"/>
              </a:lnSpc>
            </a:pPr>
            <a:r>
              <a:rPr lang="en-US" altLang="zh-CN" dirty="0">
                <a:latin typeface="Times New Roman" panose="02020603050405020304" pitchFamily="18" charset="0"/>
                <a:ea typeface="宋体" panose="02010600030101010101" pitchFamily="2" charset="-122"/>
              </a:rPr>
              <a:t>START:	MOV	A, #48H</a:t>
            </a:r>
          </a:p>
          <a:p>
            <a:pPr indent="268605">
              <a:lnSpc>
                <a:spcPct val="140000"/>
              </a:lnSpc>
            </a:pPr>
            <a:r>
              <a:rPr lang="en-US" altLang="zh-CN" dirty="0">
                <a:latin typeface="Times New Roman" panose="02020603050405020304" pitchFamily="18" charset="0"/>
                <a:ea typeface="宋体" panose="02010600030101010101" pitchFamily="2" charset="-122"/>
              </a:rPr>
              <a:t>		</a:t>
            </a:r>
            <a:r>
              <a:rPr lang="pt-BR" altLang="zh-CN" dirty="0">
                <a:latin typeface="Times New Roman" panose="02020603050405020304" pitchFamily="18" charset="0"/>
                <a:ea typeface="宋体" panose="02010600030101010101" pitchFamily="2" charset="-122"/>
              </a:rPr>
              <a:t>ADD	A, #79H</a:t>
            </a:r>
          </a:p>
          <a:p>
            <a:pPr indent="268605">
              <a:lnSpc>
                <a:spcPct val="140000"/>
              </a:lnSpc>
            </a:pPr>
            <a:r>
              <a:rPr lang="pt-BR" altLang="zh-CN" dirty="0">
                <a:latin typeface="Times New Roman" panose="02020603050405020304" pitchFamily="18" charset="0"/>
                <a:ea typeface="宋体" panose="02010600030101010101" pitchFamily="2" charset="-122"/>
              </a:rPr>
              <a:t>	</a:t>
            </a:r>
            <a:r>
              <a:rPr lang="pt-BR" altLang="zh-CN"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DA	A</a:t>
            </a:r>
          </a:p>
          <a:p>
            <a:pPr indent="268605">
              <a:lnSpc>
                <a:spcPct val="140000"/>
              </a:lnSpc>
            </a:pPr>
            <a:r>
              <a:rPr lang="en-US" altLang="zh-CN" dirty="0">
                <a:latin typeface="Times New Roman" panose="02020603050405020304" pitchFamily="18" charset="0"/>
                <a:ea typeface="宋体" panose="02010600030101010101" pitchFamily="2" charset="-122"/>
              </a:rPr>
              <a:t>		NOP</a:t>
            </a:r>
          </a:p>
          <a:p>
            <a:pPr indent="268605">
              <a:lnSpc>
                <a:spcPct val="140000"/>
              </a:lnSpc>
            </a:pPr>
            <a:r>
              <a:rPr lang="en-US" altLang="zh-CN" dirty="0">
                <a:latin typeface="Times New Roman" panose="02020603050405020304" pitchFamily="18" charset="0"/>
                <a:ea typeface="宋体" panose="02010600030101010101" pitchFamily="2" charset="-122"/>
              </a:rPr>
              <a:t>		END </a:t>
            </a:r>
          </a:p>
        </p:txBody>
      </p:sp>
      <p:sp>
        <p:nvSpPr>
          <p:cNvPr id="61444" name="Rectangle 4"/>
          <p:cNvSpPr/>
          <p:nvPr/>
        </p:nvSpPr>
        <p:spPr>
          <a:xfrm>
            <a:off x="4859338" y="4508500"/>
            <a:ext cx="2952750" cy="603250"/>
          </a:xfrm>
          <a:prstGeom prst="rect">
            <a:avLst/>
          </a:prstGeom>
          <a:solidFill>
            <a:schemeClr val="hlink"/>
          </a:solidFill>
          <a:ln w="9525">
            <a:noFill/>
          </a:ln>
        </p:spPr>
        <p:txBody>
          <a:bodyPr anchor="t" anchorCtr="0">
            <a:spAutoFit/>
          </a:bodyPr>
          <a:lstStyle/>
          <a:p>
            <a:pPr indent="268605" algn="just">
              <a:lnSpc>
                <a:spcPct val="140000"/>
              </a:lnSpc>
            </a:pPr>
            <a:r>
              <a:rPr lang="zh-CN" altLang="en-US" dirty="0">
                <a:latin typeface="Times New Roman" panose="02020603050405020304" pitchFamily="18" charset="0"/>
                <a:ea typeface="宋体" panose="02010600030101010101" pitchFamily="2" charset="-122"/>
              </a:rPr>
              <a:t>结果（</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=27H</a:t>
            </a:r>
            <a:r>
              <a:rPr lang="zh-CN" altLang="en-US" dirty="0">
                <a:latin typeface="Times New Roman" panose="02020603050405020304" pitchFamily="18" charset="0"/>
                <a:ea typeface="宋体" panose="02010600030101010101" pitchFamily="2" charset="-122"/>
              </a:rPr>
              <a:t>。</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102</a:t>
            </a:fld>
            <a:endParaRPr lang="en-US" altLang="zh-CN" sz="1400" b="0" dirty="0"/>
          </a:p>
        </p:txBody>
      </p:sp>
      <p:sp>
        <p:nvSpPr>
          <p:cNvPr id="141314" name="Rectangle 2"/>
          <p:cNvSpPr/>
          <p:nvPr/>
        </p:nvSpPr>
        <p:spPr>
          <a:xfrm>
            <a:off x="323850" y="1196975"/>
            <a:ext cx="8154988" cy="4707890"/>
          </a:xfrm>
          <a:prstGeom prst="rect">
            <a:avLst/>
          </a:prstGeom>
          <a:noFill/>
          <a:ln w="9525">
            <a:noFill/>
          </a:ln>
        </p:spPr>
        <p:txBody>
          <a:bodyPr anchor="t" anchorCtr="0">
            <a:spAutoFit/>
          </a:bodyPr>
          <a:lstStyle/>
          <a:p>
            <a:pPr indent="268605" algn="ctr">
              <a:lnSpc>
                <a:spcPct val="150000"/>
              </a:lnSpc>
            </a:pPr>
            <a:r>
              <a:rPr lang="en-US" altLang="zh-CN" sz="2800" dirty="0">
                <a:solidFill>
                  <a:srgbClr val="FF0000"/>
                </a:solidFill>
                <a:latin typeface="Times New Roman" panose="02020603050405020304" pitchFamily="18" charset="0"/>
                <a:ea typeface="黑体" panose="02010609060101010101" pitchFamily="49" charset="-122"/>
              </a:rPr>
              <a:t>3.3.3  </a:t>
            </a:r>
            <a:r>
              <a:rPr lang="zh-CN" altLang="en-US" sz="2800" dirty="0">
                <a:solidFill>
                  <a:srgbClr val="FF0000"/>
                </a:solidFill>
                <a:latin typeface="Times New Roman" panose="02020603050405020304" pitchFamily="18" charset="0"/>
                <a:ea typeface="黑体" panose="02010609060101010101" pitchFamily="49" charset="-122"/>
              </a:rPr>
              <a:t>逻辑运算及移位类指令</a:t>
            </a:r>
            <a:endParaRPr lang="zh-CN" altLang="en-US" sz="2800" dirty="0">
              <a:latin typeface="Times New Roman" panose="02020603050405020304" pitchFamily="18" charset="0"/>
              <a:ea typeface="宋体" panose="02010600030101010101" pitchFamily="2" charset="-122"/>
            </a:endParaRPr>
          </a:p>
          <a:p>
            <a:pPr indent="268605" algn="just" eaLnBrk="0" hangingPunct="0">
              <a:lnSpc>
                <a:spcPct val="150000"/>
              </a:lnSpc>
            </a:pPr>
            <a:endParaRPr lang="zh-CN" altLang="en-US" sz="2800" dirty="0">
              <a:latin typeface="Times New Roman" panose="02020603050405020304" pitchFamily="18" charset="0"/>
              <a:ea typeface="宋体" panose="02010600030101010101" pitchFamily="2" charset="-122"/>
            </a:endParaRPr>
          </a:p>
          <a:p>
            <a:pPr indent="268605" algn="just" eaLnBrk="0" hangingPunct="0">
              <a:lnSpc>
                <a:spcPct val="150000"/>
              </a:lnSpc>
            </a:pPr>
            <a:r>
              <a:rPr lang="zh-CN" altLang="en-US" dirty="0">
                <a:latin typeface="Times New Roman" panose="02020603050405020304" pitchFamily="18" charset="0"/>
                <a:ea typeface="宋体" panose="02010600030101010101" pitchFamily="2" charset="-122"/>
              </a:rPr>
              <a:t>共</a:t>
            </a:r>
            <a:r>
              <a:rPr lang="en-US" altLang="zh-CN" dirty="0">
                <a:latin typeface="Times New Roman" panose="02020603050405020304" pitchFamily="18" charset="0"/>
                <a:ea typeface="宋体" panose="02010600030101010101" pitchFamily="2" charset="-122"/>
              </a:rPr>
              <a:t>24</a:t>
            </a:r>
            <a:r>
              <a:rPr lang="zh-CN" altLang="en-US" dirty="0">
                <a:latin typeface="Times New Roman" panose="02020603050405020304" pitchFamily="18" charset="0"/>
                <a:ea typeface="宋体" panose="02010600030101010101" pitchFamily="2" charset="-122"/>
              </a:rPr>
              <a:t>条，</a:t>
            </a:r>
          </a:p>
          <a:p>
            <a:pPr indent="268605" algn="just" eaLnBrk="0" hangingPunct="0">
              <a:lnSpc>
                <a:spcPct val="150000"/>
              </a:lnSpc>
            </a:pPr>
            <a:r>
              <a:rPr lang="zh-CN" altLang="en-US" dirty="0">
                <a:latin typeface="Times New Roman" panose="02020603050405020304" pitchFamily="18" charset="0"/>
                <a:ea typeface="宋体" panose="02010600030101010101" pitchFamily="2" charset="-122"/>
              </a:rPr>
              <a:t>包括   </a:t>
            </a:r>
            <a:r>
              <a:rPr lang="zh-CN" altLang="en-US" dirty="0">
                <a:solidFill>
                  <a:schemeClr val="accent2"/>
                </a:solidFill>
                <a:latin typeface="Times New Roman" panose="02020603050405020304" pitchFamily="18" charset="0"/>
                <a:ea typeface="宋体" panose="02010600030101010101" pitchFamily="2" charset="-122"/>
              </a:rPr>
              <a:t>逻辑运算</a:t>
            </a:r>
            <a:r>
              <a:rPr lang="zh-CN" altLang="en-US" dirty="0">
                <a:latin typeface="Times New Roman" panose="02020603050405020304" pitchFamily="18" charset="0"/>
                <a:ea typeface="宋体" panose="02010600030101010101" pitchFamily="2" charset="-122"/>
              </a:rPr>
              <a:t>：</a:t>
            </a:r>
          </a:p>
          <a:p>
            <a:pPr indent="268605" algn="just" eaLnBrk="0" hangingPunct="0">
              <a:lnSpc>
                <a:spcPct val="150000"/>
              </a:lnSpc>
            </a:pPr>
            <a:r>
              <a:rPr lang="zh-CN" altLang="en-US" dirty="0">
                <a:latin typeface="Times New Roman" panose="02020603050405020304" pitchFamily="18" charset="0"/>
                <a:ea typeface="宋体" panose="02010600030101010101" pitchFamily="2" charset="-122"/>
              </a:rPr>
              <a:t>                           	与、或、异或、清零、求反指令；</a:t>
            </a:r>
          </a:p>
          <a:p>
            <a:pPr indent="268605" algn="just" eaLnBrk="0" hangingPunct="0">
              <a:lnSpc>
                <a:spcPct val="150000"/>
              </a:lnSpc>
            </a:pPr>
            <a:r>
              <a:rPr lang="zh-CN" altLang="en-US" dirty="0">
                <a:latin typeface="Times New Roman" panose="02020603050405020304" pitchFamily="18" charset="0"/>
                <a:ea typeface="宋体" panose="02010600030101010101" pitchFamily="2" charset="-122"/>
              </a:rPr>
              <a:t>           		运算特点： 按位操作</a:t>
            </a:r>
          </a:p>
          <a:p>
            <a:pPr indent="268605" algn="just" eaLnBrk="0" hangingPunct="0">
              <a:lnSpc>
                <a:spcPct val="150000"/>
              </a:lnSpc>
            </a:pPr>
            <a:r>
              <a:rPr lang="zh-CN" altLang="en-US" dirty="0">
                <a:latin typeface="Times New Roman" panose="02020603050405020304" pitchFamily="18" charset="0"/>
                <a:ea typeface="宋体" panose="02010600030101010101" pitchFamily="2" charset="-122"/>
              </a:rPr>
              <a:t>          </a:t>
            </a:r>
            <a:r>
              <a:rPr lang="zh-CN" altLang="en-US" dirty="0">
                <a:solidFill>
                  <a:schemeClr val="accent2"/>
                </a:solidFill>
                <a:latin typeface="Times New Roman" panose="02020603050405020304" pitchFamily="18" charset="0"/>
                <a:ea typeface="宋体" panose="02010600030101010101" pitchFamily="2" charset="-122"/>
              </a:rPr>
              <a:t>移位指令</a:t>
            </a:r>
            <a:r>
              <a:rPr lang="zh-CN" altLang="en-US" dirty="0">
                <a:latin typeface="Times New Roman" panose="02020603050405020304" pitchFamily="18" charset="0"/>
                <a:ea typeface="宋体" panose="02010600030101010101" pitchFamily="2" charset="-122"/>
              </a:rPr>
              <a:t>     等操作。</a:t>
            </a:r>
          </a:p>
          <a:p>
            <a:pPr indent="268605" eaLnBrk="0" hangingPunct="0">
              <a:lnSpc>
                <a:spcPct val="150000"/>
              </a:lnSpc>
            </a:pPr>
            <a:endParaRPr lang="en-US" altLang="zh-CN"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103</a:t>
            </a:fld>
            <a:endParaRPr lang="en-US" altLang="zh-CN" sz="1400" b="0" dirty="0"/>
          </a:p>
        </p:txBody>
      </p:sp>
      <p:sp>
        <p:nvSpPr>
          <p:cNvPr id="63490" name="Rectangle 2"/>
          <p:cNvSpPr/>
          <p:nvPr/>
        </p:nvSpPr>
        <p:spPr>
          <a:xfrm>
            <a:off x="381000" y="631825"/>
            <a:ext cx="8763000" cy="2735263"/>
          </a:xfrm>
          <a:prstGeom prst="rect">
            <a:avLst/>
          </a:prstGeom>
          <a:noFill/>
          <a:ln w="9525">
            <a:noFill/>
          </a:ln>
        </p:spPr>
        <p:txBody>
          <a:bodyPr anchor="t" anchorCtr="0">
            <a:spAutoFit/>
          </a:bodyPr>
          <a:lstStyle/>
          <a:p>
            <a:pPr indent="268605" algn="just">
              <a:lnSpc>
                <a:spcPct val="140000"/>
              </a:lnSpc>
            </a:pPr>
            <a:r>
              <a:rPr lang="en-US" altLang="zh-CN" dirty="0">
                <a:solidFill>
                  <a:srgbClr val="FF0000"/>
                </a:solidFill>
                <a:latin typeface="Times New Roman" panose="02020603050405020304" pitchFamily="18" charset="0"/>
                <a:ea typeface="黑体" panose="02010609060101010101" pitchFamily="49" charset="-122"/>
              </a:rPr>
              <a:t>1</a:t>
            </a:r>
            <a:r>
              <a:rPr lang="zh-CN" altLang="en-US" dirty="0">
                <a:solidFill>
                  <a:srgbClr val="FF0000"/>
                </a:solidFill>
                <a:latin typeface="Times New Roman" panose="02020603050405020304" pitchFamily="18" charset="0"/>
                <a:ea typeface="黑体" panose="02010609060101010101" pitchFamily="49" charset="-122"/>
              </a:rPr>
              <a:t>）逻辑与运算指令组（</a:t>
            </a:r>
            <a:r>
              <a:rPr lang="en-US" altLang="zh-CN" dirty="0">
                <a:solidFill>
                  <a:srgbClr val="FF0000"/>
                </a:solidFill>
                <a:latin typeface="Times New Roman" panose="02020603050405020304" pitchFamily="18" charset="0"/>
                <a:ea typeface="黑体" panose="02010609060101010101" pitchFamily="49" charset="-122"/>
              </a:rPr>
              <a:t>6</a:t>
            </a:r>
            <a:r>
              <a:rPr lang="zh-CN" altLang="en-US" dirty="0">
                <a:solidFill>
                  <a:srgbClr val="FF0000"/>
                </a:solidFill>
                <a:latin typeface="Times New Roman" panose="02020603050405020304" pitchFamily="18" charset="0"/>
                <a:ea typeface="黑体" panose="02010609060101010101" pitchFamily="49" charset="-122"/>
              </a:rPr>
              <a:t>条）</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40000"/>
              </a:lnSpc>
            </a:pPr>
            <a:r>
              <a:rPr lang="zh-CN" altLang="en-US" dirty="0">
                <a:latin typeface="Times New Roman" panose="02020603050405020304" pitchFamily="18" charset="0"/>
                <a:ea typeface="宋体" panose="02010600030101010101" pitchFamily="2" charset="-122"/>
              </a:rPr>
              <a:t> 与运算符号： ∧。</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40000"/>
              </a:lnSpc>
            </a:pPr>
            <a:r>
              <a:rPr lang="zh-CN" altLang="en-US" dirty="0">
                <a:latin typeface="Times New Roman" panose="02020603050405020304" pitchFamily="18" charset="0"/>
                <a:ea typeface="宋体" panose="02010600030101010101" pitchFamily="2" charset="-122"/>
              </a:rPr>
              <a:t>应用：常用于屏蔽字节中的某些位。</a:t>
            </a:r>
          </a:p>
          <a:p>
            <a:pPr indent="268605" algn="just" eaLnBrk="0" hangingPunct="0">
              <a:lnSpc>
                <a:spcPct val="140000"/>
              </a:lnSpc>
            </a:pPr>
            <a:r>
              <a:rPr lang="zh-CN" altLang="en-US" dirty="0">
                <a:latin typeface="Times New Roman" panose="02020603050405020304" pitchFamily="18" charset="0"/>
                <a:ea typeface="宋体" panose="02010600030101010101" pitchFamily="2" charset="-122"/>
              </a:rPr>
              <a:t>            欲清除的位和“</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与，欲保留的位和“</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与。</a:t>
            </a:r>
            <a:endParaRPr lang="zh-CN" altLang="en-US" b="0" dirty="0">
              <a:latin typeface="Times New Roman" panose="02020603050405020304" pitchFamily="18" charset="0"/>
              <a:ea typeface="宋体" panose="02010600030101010101" pitchFamily="2" charset="-122"/>
            </a:endParaRPr>
          </a:p>
          <a:p>
            <a:pPr indent="268605" eaLnBrk="0" hangingPunct="0">
              <a:lnSpc>
                <a:spcPct val="140000"/>
              </a:lnSpc>
            </a:pPr>
            <a:r>
              <a:rPr lang="zh-CN" altLang="en-US" b="0" dirty="0">
                <a:solidFill>
                  <a:srgbClr val="FF0000"/>
                </a:solidFill>
                <a:latin typeface="Times New Roman" panose="02020603050405020304" pitchFamily="18" charset="0"/>
                <a:ea typeface="宋体" panose="02010600030101010101" pitchFamily="2" charset="-122"/>
              </a:rPr>
              <a:t>           </a:t>
            </a:r>
            <a:r>
              <a:rPr lang="en-US" altLang="zh-CN" sz="2800" b="0" dirty="0">
                <a:solidFill>
                  <a:srgbClr val="FF0000"/>
                </a:solidFill>
                <a:latin typeface="Times New Roman" panose="02020603050405020304" pitchFamily="18" charset="0"/>
                <a:ea typeface="宋体" panose="02010600030101010101" pitchFamily="2" charset="-122"/>
              </a:rPr>
              <a:t>1</a:t>
            </a:r>
            <a:r>
              <a:rPr lang="en-US" altLang="zh-CN" sz="2800" b="0" dirty="0">
                <a:latin typeface="Times New Roman" panose="02020603050405020304" pitchFamily="18" charset="0"/>
                <a:ea typeface="宋体" panose="02010600030101010101" pitchFamily="2" charset="-122"/>
              </a:rPr>
              <a:t>1</a:t>
            </a:r>
            <a:r>
              <a:rPr lang="en-US" altLang="zh-CN" sz="2800" b="0" dirty="0">
                <a:solidFill>
                  <a:srgbClr val="FF0000"/>
                </a:solidFill>
                <a:latin typeface="Times New Roman" panose="02020603050405020304" pitchFamily="18" charset="0"/>
                <a:ea typeface="宋体" panose="02010600030101010101" pitchFamily="2" charset="-122"/>
              </a:rPr>
              <a:t>1</a:t>
            </a:r>
            <a:r>
              <a:rPr lang="en-US" altLang="zh-CN" sz="2800" b="0" dirty="0">
                <a:latin typeface="Times New Roman" panose="02020603050405020304" pitchFamily="18" charset="0"/>
                <a:ea typeface="宋体" panose="02010600030101010101" pitchFamily="2" charset="-122"/>
              </a:rPr>
              <a:t>1,</a:t>
            </a:r>
            <a:r>
              <a:rPr lang="en-US" altLang="zh-CN" sz="2800" b="0" dirty="0">
                <a:solidFill>
                  <a:srgbClr val="FF0000"/>
                </a:solidFill>
                <a:latin typeface="Times New Roman" panose="02020603050405020304" pitchFamily="18" charset="0"/>
                <a:ea typeface="宋体" panose="02010600030101010101" pitchFamily="2" charset="-122"/>
              </a:rPr>
              <a:t>1</a:t>
            </a:r>
            <a:r>
              <a:rPr lang="en-US" altLang="zh-CN" sz="2800" b="0" dirty="0">
                <a:latin typeface="Times New Roman" panose="02020603050405020304" pitchFamily="18" charset="0"/>
                <a:ea typeface="宋体" panose="02010600030101010101" pitchFamily="2" charset="-122"/>
              </a:rPr>
              <a:t>1</a:t>
            </a:r>
            <a:r>
              <a:rPr lang="en-US" altLang="zh-CN" sz="2800" b="0" dirty="0">
                <a:solidFill>
                  <a:srgbClr val="FF0000"/>
                </a:solidFill>
                <a:latin typeface="Times New Roman" panose="02020603050405020304" pitchFamily="18" charset="0"/>
                <a:ea typeface="宋体" panose="02010600030101010101" pitchFamily="2" charset="-122"/>
              </a:rPr>
              <a:t>1</a:t>
            </a:r>
            <a:r>
              <a:rPr lang="en-US" altLang="zh-CN" sz="2800" b="0" dirty="0">
                <a:latin typeface="Times New Roman" panose="02020603050405020304" pitchFamily="18" charset="0"/>
                <a:ea typeface="宋体" panose="02010600030101010101" pitchFamily="2" charset="-122"/>
              </a:rPr>
              <a:t>1 </a:t>
            </a:r>
            <a:r>
              <a:rPr lang="en-US" altLang="zh-CN" sz="2800" dirty="0">
                <a:latin typeface="Times New Roman" panose="02020603050405020304" pitchFamily="18" charset="0"/>
                <a:ea typeface="宋体" panose="02010600030101010101" pitchFamily="2" charset="-122"/>
              </a:rPr>
              <a:t>∧ 0101,0101</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0101</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0101</a:t>
            </a:r>
          </a:p>
        </p:txBody>
      </p:sp>
      <p:sp>
        <p:nvSpPr>
          <p:cNvPr id="63491" name="Rectangle 3"/>
          <p:cNvSpPr/>
          <p:nvPr/>
        </p:nvSpPr>
        <p:spPr>
          <a:xfrm>
            <a:off x="381000" y="3367088"/>
            <a:ext cx="8763000" cy="3192462"/>
          </a:xfrm>
          <a:prstGeom prst="rect">
            <a:avLst/>
          </a:prstGeom>
          <a:noFill/>
          <a:ln w="9525">
            <a:noFill/>
          </a:ln>
        </p:spPr>
        <p:txBody>
          <a:bodyPr anchor="t" anchorCtr="0">
            <a:spAutoFit/>
          </a:bodyPr>
          <a:lstStyle/>
          <a:p>
            <a:pPr indent="268605" algn="just" eaLnBrk="0" hangingPunct="0">
              <a:lnSpc>
                <a:spcPct val="140000"/>
              </a:lnSpc>
            </a:pPr>
            <a:r>
              <a:rPr lang="en-US" altLang="zh-CN" dirty="0">
                <a:latin typeface="Times New Roman" panose="02020603050405020304" pitchFamily="18" charset="0"/>
                <a:ea typeface="宋体" panose="02010600030101010101" pitchFamily="2" charset="-122"/>
              </a:rPr>
              <a:t>ANL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Rn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Rn</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40000"/>
              </a:lnSpc>
            </a:pPr>
            <a:r>
              <a:rPr lang="en-US" altLang="zh-CN" dirty="0">
                <a:latin typeface="Times New Roman" panose="02020603050405020304" pitchFamily="18" charset="0"/>
                <a:ea typeface="宋体" panose="02010600030101010101" pitchFamily="2" charset="-122"/>
              </a:rPr>
              <a:t>ANL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40000"/>
              </a:lnSpc>
            </a:pPr>
            <a:r>
              <a:rPr lang="en-US" altLang="zh-CN" dirty="0">
                <a:latin typeface="Times New Roman" panose="02020603050405020304" pitchFamily="18" charset="0"/>
                <a:ea typeface="宋体" panose="02010600030101010101" pitchFamily="2" charset="-122"/>
              </a:rPr>
              <a:t>ANL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@Ri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Ri</a:t>
            </a:r>
            <a:r>
              <a:rPr lang="zh-CN" altLang="en-US"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a:p>
            <a:pPr indent="268605" algn="just" eaLnBrk="0" hangingPunct="0">
              <a:lnSpc>
                <a:spcPct val="140000"/>
              </a:lnSpc>
            </a:pPr>
            <a:r>
              <a:rPr lang="en-US" altLang="zh-CN" dirty="0">
                <a:latin typeface="Times New Roman" panose="02020603050405020304" pitchFamily="18" charset="0"/>
                <a:ea typeface="宋体" panose="02010600030101010101" pitchFamily="2" charset="-122"/>
              </a:rPr>
              <a:t>ANL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#data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data</a:t>
            </a:r>
            <a:endParaRPr lang="en-US" altLang="zh-CN" b="0" dirty="0">
              <a:latin typeface="Times New Roman" panose="02020603050405020304" pitchFamily="18" charset="0"/>
              <a:ea typeface="宋体" panose="02010600030101010101" pitchFamily="2" charset="-122"/>
            </a:endParaRPr>
          </a:p>
          <a:p>
            <a:pPr indent="268605" algn="just" eaLnBrk="0" hangingPunct="0">
              <a:lnSpc>
                <a:spcPct val="140000"/>
              </a:lnSpc>
            </a:pPr>
            <a:r>
              <a:rPr lang="en-US" altLang="zh-CN" dirty="0">
                <a:latin typeface="Times New Roman" panose="02020603050405020304" pitchFamily="18" charset="0"/>
                <a:ea typeface="宋体" panose="02010600030101010101" pitchFamily="2" charset="-122"/>
              </a:rPr>
              <a:t>ANL 	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40000"/>
              </a:lnSpc>
            </a:pPr>
            <a:r>
              <a:rPr lang="en-US" altLang="zh-CN" dirty="0">
                <a:latin typeface="Times New Roman" panose="02020603050405020304" pitchFamily="18" charset="0"/>
                <a:ea typeface="宋体" panose="02010600030101010101" pitchFamily="2" charset="-122"/>
              </a:rPr>
              <a:t>ANL 	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#data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data</a:t>
            </a:r>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104</a:t>
            </a:fld>
            <a:endParaRPr lang="en-US" altLang="zh-CN" sz="1400" b="0" dirty="0"/>
          </a:p>
        </p:txBody>
      </p:sp>
      <p:sp>
        <p:nvSpPr>
          <p:cNvPr id="64514" name="Rectangle 1026"/>
          <p:cNvSpPr/>
          <p:nvPr/>
        </p:nvSpPr>
        <p:spPr>
          <a:xfrm>
            <a:off x="685800" y="838200"/>
            <a:ext cx="7620000" cy="1881188"/>
          </a:xfrm>
          <a:prstGeom prst="rect">
            <a:avLst/>
          </a:prstGeom>
          <a:noFill/>
          <a:ln w="9525">
            <a:noFill/>
          </a:ln>
        </p:spPr>
        <p:txBody>
          <a:bodyPr anchor="t" anchorCtr="0">
            <a:spAutoFit/>
          </a:bodyPr>
          <a:lstStyle/>
          <a:p>
            <a:pPr indent="268605" algn="just"/>
            <a:r>
              <a:rPr lang="en-US" altLang="zh-CN" dirty="0">
                <a:solidFill>
                  <a:srgbClr val="FF0000"/>
                </a:solidFill>
                <a:latin typeface="Times New Roman" panose="02020603050405020304" pitchFamily="18" charset="0"/>
                <a:ea typeface="黑体" panose="02010609060101010101" pitchFamily="49" charset="-122"/>
              </a:rPr>
              <a:t>2</a:t>
            </a:r>
            <a:r>
              <a:rPr lang="zh-CN" altLang="en-US" dirty="0">
                <a:solidFill>
                  <a:srgbClr val="FF0000"/>
                </a:solidFill>
                <a:latin typeface="Times New Roman" panose="02020603050405020304" pitchFamily="18" charset="0"/>
                <a:ea typeface="黑体" panose="02010609060101010101" pitchFamily="49" charset="-122"/>
              </a:rPr>
              <a:t>）逻辑或运算指令组（</a:t>
            </a:r>
            <a:r>
              <a:rPr lang="en-US" altLang="zh-CN" dirty="0">
                <a:solidFill>
                  <a:srgbClr val="FF0000"/>
                </a:solidFill>
                <a:latin typeface="Times New Roman" panose="02020603050405020304" pitchFamily="18" charset="0"/>
                <a:ea typeface="黑体" panose="02010609060101010101" pitchFamily="49" charset="-122"/>
              </a:rPr>
              <a:t>6</a:t>
            </a:r>
            <a:r>
              <a:rPr lang="zh-CN" altLang="en-US" dirty="0">
                <a:solidFill>
                  <a:srgbClr val="FF0000"/>
                </a:solidFill>
                <a:latin typeface="Times New Roman" panose="02020603050405020304" pitchFamily="18" charset="0"/>
                <a:ea typeface="黑体" panose="02010609060101010101" pitchFamily="49" charset="-122"/>
              </a:rPr>
              <a:t>条）</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30000"/>
              </a:lnSpc>
            </a:pPr>
            <a:r>
              <a:rPr lang="zh-CN" altLang="en-US" dirty="0">
                <a:latin typeface="Times New Roman" panose="02020603050405020304" pitchFamily="18" charset="0"/>
                <a:ea typeface="宋体" panose="02010600030101010101" pitchFamily="2" charset="-122"/>
              </a:rPr>
              <a:t>用途：用于使字节中的某些位置“</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p>
          <a:p>
            <a:pPr indent="268605" algn="just" eaLnBrk="0" hangingPunct="0">
              <a:lnSpc>
                <a:spcPct val="130000"/>
              </a:lnSpc>
            </a:pPr>
            <a:r>
              <a:rPr lang="zh-CN" altLang="en-US" dirty="0">
                <a:latin typeface="Times New Roman" panose="02020603050405020304" pitchFamily="18" charset="0"/>
                <a:ea typeface="宋体" panose="02010600030101010101" pitchFamily="2" charset="-122"/>
              </a:rPr>
              <a:t>欲不变的位，用“</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去“或”，</a:t>
            </a:r>
          </a:p>
          <a:p>
            <a:pPr indent="268605" algn="just" eaLnBrk="0" hangingPunct="0">
              <a:lnSpc>
                <a:spcPct val="130000"/>
              </a:lnSpc>
            </a:pPr>
            <a:r>
              <a:rPr lang="zh-CN" altLang="en-US" dirty="0">
                <a:latin typeface="Times New Roman" panose="02020603050405020304" pitchFamily="18" charset="0"/>
                <a:ea typeface="宋体" panose="02010600030101010101" pitchFamily="2" charset="-122"/>
              </a:rPr>
              <a:t>欲置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的位，用“</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去“或”。</a:t>
            </a:r>
            <a:endParaRPr lang="zh-CN" altLang="en-US" b="0" dirty="0">
              <a:latin typeface="Times New Roman" panose="02020603050405020304" pitchFamily="18" charset="0"/>
              <a:ea typeface="宋体" panose="02010600030101010101" pitchFamily="2" charset="-122"/>
            </a:endParaRPr>
          </a:p>
        </p:txBody>
      </p:sp>
      <p:sp>
        <p:nvSpPr>
          <p:cNvPr id="64515" name="Rectangle 1027"/>
          <p:cNvSpPr/>
          <p:nvPr/>
        </p:nvSpPr>
        <p:spPr>
          <a:xfrm>
            <a:off x="611188" y="3068638"/>
            <a:ext cx="8281987" cy="2973387"/>
          </a:xfrm>
          <a:prstGeom prst="rect">
            <a:avLst/>
          </a:prstGeom>
          <a:noFill/>
          <a:ln w="9525">
            <a:noFill/>
          </a:ln>
        </p:spPr>
        <p:txBody>
          <a:bodyPr anchor="t" anchorCtr="0">
            <a:spAutoFit/>
          </a:bodyPr>
          <a:lstStyle/>
          <a:p>
            <a:pPr indent="268605" algn="just" eaLnBrk="0" hangingPunct="0">
              <a:lnSpc>
                <a:spcPct val="130000"/>
              </a:lnSpc>
            </a:pPr>
            <a:r>
              <a:rPr lang="en-US" altLang="zh-CN" dirty="0">
                <a:latin typeface="Times New Roman" panose="02020603050405020304" pitchFamily="18" charset="0"/>
                <a:ea typeface="宋体" panose="02010600030101010101" pitchFamily="2" charset="-122"/>
              </a:rPr>
              <a:t>ORL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Rn      </a:t>
            </a:r>
            <a:r>
              <a:rPr lang="zh-CN" altLang="en-US" dirty="0">
                <a:latin typeface="Times New Roman" panose="02020603050405020304" pitchFamily="18" charset="0"/>
                <a:ea typeface="宋体" panose="02010600030101010101" pitchFamily="2" charset="-122"/>
              </a:rPr>
              <a:t>　	； </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Rn</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30000"/>
              </a:lnSpc>
            </a:pPr>
            <a:r>
              <a:rPr lang="en-US" altLang="zh-CN" dirty="0">
                <a:latin typeface="Times New Roman" panose="02020603050405020304" pitchFamily="18" charset="0"/>
                <a:ea typeface="宋体" panose="02010600030101010101" pitchFamily="2" charset="-122"/>
              </a:rPr>
              <a:t>ORL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  </a:t>
            </a:r>
            <a:r>
              <a:rPr lang="zh-CN" altLang="en-US" dirty="0">
                <a:latin typeface="Times New Roman" panose="02020603050405020304" pitchFamily="18" charset="0"/>
                <a:ea typeface="宋体" panose="02010600030101010101" pitchFamily="2" charset="-122"/>
              </a:rPr>
              <a:t>　　	； </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30000"/>
              </a:lnSpc>
            </a:pPr>
            <a:r>
              <a:rPr lang="en-US" altLang="zh-CN" dirty="0">
                <a:latin typeface="Times New Roman" panose="02020603050405020304" pitchFamily="18" charset="0"/>
                <a:ea typeface="宋体" panose="02010600030101010101" pitchFamily="2" charset="-122"/>
              </a:rPr>
              <a:t>ORL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@Ri </a:t>
            </a:r>
            <a:r>
              <a:rPr lang="zh-CN" altLang="en-US" dirty="0">
                <a:latin typeface="Times New Roman" panose="02020603050405020304" pitchFamily="18" charset="0"/>
                <a:ea typeface="宋体" panose="02010600030101010101" pitchFamily="2" charset="-122"/>
              </a:rPr>
              <a:t>　 　	； </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Ri</a:t>
            </a:r>
            <a:r>
              <a:rPr lang="zh-CN" altLang="en-US"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a:p>
            <a:pPr indent="268605" algn="just" eaLnBrk="0" hangingPunct="0">
              <a:lnSpc>
                <a:spcPct val="130000"/>
              </a:lnSpc>
            </a:pPr>
            <a:r>
              <a:rPr lang="en-US" altLang="zh-CN" dirty="0">
                <a:latin typeface="Times New Roman" panose="02020603050405020304" pitchFamily="18" charset="0"/>
                <a:ea typeface="宋体" panose="02010600030101010101" pitchFamily="2" charset="-122"/>
              </a:rPr>
              <a:t>ORL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#data  </a:t>
            </a:r>
            <a:r>
              <a:rPr lang="zh-CN" altLang="en-US" dirty="0">
                <a:latin typeface="Times New Roman" panose="02020603050405020304" pitchFamily="18" charset="0"/>
                <a:ea typeface="宋体" panose="02010600030101010101" pitchFamily="2" charset="-122"/>
              </a:rPr>
              <a:t>　	； </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data</a:t>
            </a:r>
            <a:endParaRPr lang="en-US" altLang="zh-CN" b="0" dirty="0">
              <a:latin typeface="Times New Roman" panose="02020603050405020304" pitchFamily="18" charset="0"/>
              <a:ea typeface="宋体" panose="02010600030101010101" pitchFamily="2" charset="-122"/>
            </a:endParaRPr>
          </a:p>
          <a:p>
            <a:pPr indent="268605" algn="just" eaLnBrk="0" hangingPunct="0">
              <a:lnSpc>
                <a:spcPct val="130000"/>
              </a:lnSpc>
            </a:pPr>
            <a:r>
              <a:rPr lang="en-US" altLang="zh-CN" dirty="0">
                <a:latin typeface="Times New Roman" panose="02020603050405020304" pitchFamily="18" charset="0"/>
                <a:ea typeface="宋体" panose="02010600030101010101" pitchFamily="2" charset="-122"/>
              </a:rPr>
              <a:t>ORL   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a:p>
            <a:pPr indent="268605" algn="just" eaLnBrk="0" hangingPunct="0">
              <a:lnSpc>
                <a:spcPct val="130000"/>
              </a:lnSpc>
            </a:pPr>
            <a:r>
              <a:rPr lang="en-US" altLang="zh-CN" dirty="0">
                <a:latin typeface="Times New Roman" panose="02020603050405020304" pitchFamily="18" charset="0"/>
                <a:ea typeface="宋体" panose="02010600030101010101" pitchFamily="2" charset="-122"/>
              </a:rPr>
              <a:t>ORL   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#data  </a:t>
            </a:r>
            <a:r>
              <a:rPr lang="zh-CN" altLang="en-US" dirty="0">
                <a:latin typeface="Times New Roman" panose="02020603050405020304" pitchFamily="18" charset="0"/>
                <a:ea typeface="宋体" panose="02010600030101010101" pitchFamily="2" charset="-122"/>
              </a:rPr>
              <a:t>　	； </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data</a:t>
            </a:r>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105</a:t>
            </a:fld>
            <a:endParaRPr lang="en-US" altLang="zh-CN" sz="1400" b="0" dirty="0"/>
          </a:p>
        </p:txBody>
      </p:sp>
      <p:sp>
        <p:nvSpPr>
          <p:cNvPr id="66562" name="Rectangle 2"/>
          <p:cNvSpPr/>
          <p:nvPr/>
        </p:nvSpPr>
        <p:spPr>
          <a:xfrm>
            <a:off x="395288" y="836613"/>
            <a:ext cx="8534400" cy="1684337"/>
          </a:xfrm>
          <a:prstGeom prst="rect">
            <a:avLst/>
          </a:prstGeom>
          <a:noFill/>
          <a:ln w="9525">
            <a:noFill/>
          </a:ln>
        </p:spPr>
        <p:txBody>
          <a:bodyPr anchor="t" anchorCtr="0">
            <a:spAutoFit/>
          </a:bodyPr>
          <a:lstStyle/>
          <a:p>
            <a:pPr indent="268605" algn="just">
              <a:lnSpc>
                <a:spcPct val="150000"/>
              </a:lnSpc>
            </a:pPr>
            <a:r>
              <a:rPr lang="en-US" altLang="zh-CN" dirty="0">
                <a:solidFill>
                  <a:srgbClr val="FF0000"/>
                </a:solidFill>
                <a:latin typeface="Times New Roman" panose="02020603050405020304" pitchFamily="18" charset="0"/>
                <a:ea typeface="黑体" panose="02010609060101010101" pitchFamily="49" charset="-122"/>
              </a:rPr>
              <a:t>3</a:t>
            </a:r>
            <a:r>
              <a:rPr lang="zh-CN" altLang="en-US" dirty="0">
                <a:solidFill>
                  <a:srgbClr val="FF0000"/>
                </a:solidFill>
                <a:latin typeface="Times New Roman" panose="02020603050405020304" pitchFamily="18" charset="0"/>
                <a:ea typeface="黑体" panose="02010609060101010101" pitchFamily="49" charset="-122"/>
              </a:rPr>
              <a:t>）逻辑异或运算指令组（</a:t>
            </a:r>
            <a:r>
              <a:rPr lang="en-US" altLang="zh-CN" dirty="0">
                <a:solidFill>
                  <a:srgbClr val="FF0000"/>
                </a:solidFill>
                <a:latin typeface="Times New Roman" panose="02020603050405020304" pitchFamily="18" charset="0"/>
                <a:ea typeface="黑体" panose="02010609060101010101" pitchFamily="49" charset="-122"/>
              </a:rPr>
              <a:t>6</a:t>
            </a:r>
            <a:r>
              <a:rPr lang="zh-CN" altLang="en-US" dirty="0">
                <a:solidFill>
                  <a:srgbClr val="FF0000"/>
                </a:solidFill>
                <a:latin typeface="Times New Roman" panose="02020603050405020304" pitchFamily="18" charset="0"/>
                <a:ea typeface="黑体" panose="02010609060101010101" pitchFamily="49" charset="-122"/>
              </a:rPr>
              <a:t>条）</a:t>
            </a:r>
            <a:endParaRPr lang="zh-CN" altLang="en-US" dirty="0">
              <a:latin typeface="Times New Roman" panose="02020603050405020304" pitchFamily="18" charset="0"/>
              <a:ea typeface="宋体" panose="02010600030101010101" pitchFamily="2" charset="-122"/>
            </a:endParaRPr>
          </a:p>
          <a:p>
            <a:pPr indent="268605" algn="just" eaLnBrk="0" hangingPunct="0">
              <a:lnSpc>
                <a:spcPct val="150000"/>
              </a:lnSpc>
            </a:pPr>
            <a:r>
              <a:rPr lang="zh-CN" altLang="en-US" dirty="0">
                <a:latin typeface="Times New Roman" panose="02020603050405020304" pitchFamily="18" charset="0"/>
                <a:ea typeface="宋体" panose="02010600030101010101" pitchFamily="2" charset="-122"/>
              </a:rPr>
              <a:t>运算符号：⊕，运算规则：</a:t>
            </a:r>
          </a:p>
          <a:p>
            <a:pPr indent="268605" algn="just" eaLnBrk="0" hangingPunct="0">
              <a:lnSpc>
                <a:spcPct val="150000"/>
              </a:lnSpc>
            </a:pPr>
            <a:r>
              <a:rPr lang="zh-CN" altLang="en-US" dirty="0">
                <a:solidFill>
                  <a:srgbClr val="FF0000"/>
                </a:solidFill>
                <a:latin typeface="Times New Roman" panose="02020603050405020304" pitchFamily="18" charset="0"/>
                <a:ea typeface="宋体" panose="02010600030101010101" pitchFamily="2" charset="-122"/>
              </a:rPr>
              <a:t>  </a:t>
            </a:r>
            <a:r>
              <a:rPr lang="zh-CN" altLang="en-US" dirty="0">
                <a:solidFill>
                  <a:srgbClr val="FF0000"/>
                </a:solidFill>
                <a:latin typeface="宋体" panose="02010600030101010101" pitchFamily="2" charset="-122"/>
                <a:ea typeface="宋体" panose="02010600030101010101" pitchFamily="2" charset="-122"/>
              </a:rPr>
              <a:t>  </a:t>
            </a:r>
            <a:r>
              <a:rPr lang="en-US" altLang="zh-CN" dirty="0">
                <a:solidFill>
                  <a:srgbClr val="FF0000"/>
                </a:solidFill>
                <a:latin typeface="宋体" panose="02010600030101010101" pitchFamily="2" charset="-122"/>
                <a:ea typeface="宋体" panose="02010600030101010101" pitchFamily="2" charset="-122"/>
              </a:rPr>
              <a:t>0⊕0</a:t>
            </a:r>
            <a:r>
              <a:rPr lang="zh-CN" altLang="en-US" dirty="0">
                <a:solidFill>
                  <a:srgbClr val="FF0000"/>
                </a:solidFill>
                <a:latin typeface="宋体" panose="02010600030101010101" pitchFamily="2" charset="-122"/>
                <a:ea typeface="宋体" panose="02010600030101010101" pitchFamily="2" charset="-122"/>
              </a:rPr>
              <a:t>＝</a:t>
            </a:r>
            <a:r>
              <a:rPr lang="en-US" altLang="zh-CN" dirty="0">
                <a:solidFill>
                  <a:srgbClr val="FF0000"/>
                </a:solidFill>
                <a:latin typeface="宋体" panose="02010600030101010101" pitchFamily="2" charset="-122"/>
                <a:ea typeface="宋体" panose="02010600030101010101" pitchFamily="2" charset="-122"/>
              </a:rPr>
              <a:t>0</a:t>
            </a:r>
            <a:r>
              <a:rPr lang="zh-CN" altLang="en-US" dirty="0">
                <a:solidFill>
                  <a:srgbClr val="FF0000"/>
                </a:solidFill>
                <a:latin typeface="宋体" panose="02010600030101010101" pitchFamily="2" charset="-122"/>
                <a:ea typeface="宋体" panose="02010600030101010101" pitchFamily="2" charset="-122"/>
              </a:rPr>
              <a:t>，  </a:t>
            </a:r>
            <a:r>
              <a:rPr lang="en-US" altLang="zh-CN" dirty="0">
                <a:solidFill>
                  <a:srgbClr val="FF0000"/>
                </a:solidFill>
                <a:latin typeface="宋体" panose="02010600030101010101" pitchFamily="2" charset="-122"/>
                <a:ea typeface="宋体" panose="02010600030101010101" pitchFamily="2" charset="-122"/>
              </a:rPr>
              <a:t>1⊕1</a:t>
            </a:r>
            <a:r>
              <a:rPr lang="zh-CN" altLang="en-US" dirty="0">
                <a:solidFill>
                  <a:srgbClr val="FF0000"/>
                </a:solidFill>
                <a:latin typeface="宋体" panose="02010600030101010101" pitchFamily="2" charset="-122"/>
                <a:ea typeface="宋体" panose="02010600030101010101" pitchFamily="2" charset="-122"/>
              </a:rPr>
              <a:t>＝</a:t>
            </a:r>
            <a:r>
              <a:rPr lang="en-US" altLang="zh-CN" dirty="0">
                <a:solidFill>
                  <a:srgbClr val="FF0000"/>
                </a:solidFill>
                <a:latin typeface="宋体" panose="02010600030101010101" pitchFamily="2" charset="-122"/>
                <a:ea typeface="宋体" panose="02010600030101010101" pitchFamily="2" charset="-122"/>
              </a:rPr>
              <a:t>0</a:t>
            </a:r>
            <a:r>
              <a:rPr lang="zh-CN" altLang="en-US" dirty="0">
                <a:solidFill>
                  <a:srgbClr val="FF0000"/>
                </a:solidFill>
                <a:latin typeface="宋体" panose="02010600030101010101" pitchFamily="2" charset="-122"/>
                <a:ea typeface="宋体" panose="02010600030101010101" pitchFamily="2" charset="-122"/>
              </a:rPr>
              <a:t>，  </a:t>
            </a:r>
            <a:r>
              <a:rPr lang="en-US" altLang="zh-CN" dirty="0">
                <a:solidFill>
                  <a:srgbClr val="FF0000"/>
                </a:solidFill>
                <a:latin typeface="宋体" panose="02010600030101010101" pitchFamily="2" charset="-122"/>
                <a:ea typeface="宋体" panose="02010600030101010101" pitchFamily="2" charset="-122"/>
              </a:rPr>
              <a:t>0⊕1</a:t>
            </a:r>
            <a:r>
              <a:rPr lang="zh-CN" altLang="en-US" dirty="0">
                <a:solidFill>
                  <a:srgbClr val="FF0000"/>
                </a:solidFill>
                <a:latin typeface="宋体" panose="02010600030101010101" pitchFamily="2" charset="-122"/>
                <a:ea typeface="宋体" panose="02010600030101010101" pitchFamily="2" charset="-122"/>
              </a:rPr>
              <a:t>＝</a:t>
            </a:r>
            <a:r>
              <a:rPr lang="en-US" altLang="zh-CN" dirty="0">
                <a:solidFill>
                  <a:srgbClr val="FF0000"/>
                </a:solidFill>
                <a:latin typeface="宋体" panose="02010600030101010101" pitchFamily="2" charset="-122"/>
                <a:ea typeface="宋体" panose="02010600030101010101" pitchFamily="2" charset="-122"/>
              </a:rPr>
              <a:t>1</a:t>
            </a:r>
            <a:r>
              <a:rPr lang="zh-CN" altLang="en-US" dirty="0">
                <a:solidFill>
                  <a:srgbClr val="FF0000"/>
                </a:solidFill>
                <a:latin typeface="宋体" panose="02010600030101010101" pitchFamily="2" charset="-122"/>
                <a:ea typeface="宋体" panose="02010600030101010101" pitchFamily="2" charset="-122"/>
              </a:rPr>
              <a:t>，  </a:t>
            </a:r>
            <a:r>
              <a:rPr lang="en-US" altLang="zh-CN" dirty="0">
                <a:solidFill>
                  <a:srgbClr val="FF0000"/>
                </a:solidFill>
                <a:latin typeface="宋体" panose="02010600030101010101" pitchFamily="2" charset="-122"/>
                <a:ea typeface="宋体" panose="02010600030101010101" pitchFamily="2" charset="-122"/>
              </a:rPr>
              <a:t>1⊕0</a:t>
            </a:r>
            <a:r>
              <a:rPr lang="zh-CN" altLang="en-US" dirty="0">
                <a:solidFill>
                  <a:srgbClr val="FF0000"/>
                </a:solidFill>
                <a:latin typeface="宋体" panose="02010600030101010101" pitchFamily="2" charset="-122"/>
                <a:ea typeface="宋体" panose="02010600030101010101" pitchFamily="2" charset="-122"/>
              </a:rPr>
              <a:t>＝</a:t>
            </a:r>
            <a:r>
              <a:rPr lang="en-US" altLang="zh-CN" dirty="0">
                <a:solidFill>
                  <a:srgbClr val="FF0000"/>
                </a:solidFill>
                <a:latin typeface="宋体" panose="02010600030101010101" pitchFamily="2" charset="-122"/>
                <a:ea typeface="宋体" panose="02010600030101010101" pitchFamily="2" charset="-122"/>
              </a:rPr>
              <a:t>1</a:t>
            </a:r>
            <a:endParaRPr lang="en-US" altLang="zh-CN" dirty="0">
              <a:latin typeface="宋体" panose="02010600030101010101" pitchFamily="2" charset="-122"/>
              <a:ea typeface="宋体" panose="02010600030101010101" pitchFamily="2" charset="-122"/>
            </a:endParaRPr>
          </a:p>
        </p:txBody>
      </p:sp>
      <p:sp>
        <p:nvSpPr>
          <p:cNvPr id="66564" name="Rectangle 4"/>
          <p:cNvSpPr/>
          <p:nvPr/>
        </p:nvSpPr>
        <p:spPr>
          <a:xfrm>
            <a:off x="611188" y="2781300"/>
            <a:ext cx="8474075" cy="3746500"/>
          </a:xfrm>
          <a:prstGeom prst="rect">
            <a:avLst/>
          </a:prstGeom>
          <a:noFill/>
          <a:ln w="9525">
            <a:noFill/>
          </a:ln>
        </p:spPr>
        <p:txBody>
          <a:bodyPr anchor="t" anchorCtr="0">
            <a:spAutoFit/>
          </a:bodyPr>
          <a:lstStyle/>
          <a:p>
            <a:pPr eaLnBrk="0" hangingPunct="0">
              <a:lnSpc>
                <a:spcPct val="130000"/>
              </a:lnSpc>
              <a:spcBef>
                <a:spcPct val="50000"/>
              </a:spcBef>
            </a:pPr>
            <a:r>
              <a:rPr lang="zh-CN" altLang="en-US" dirty="0">
                <a:latin typeface="宋体" panose="02010600030101010101" pitchFamily="2" charset="-122"/>
                <a:ea typeface="宋体" panose="02010600030101010101" pitchFamily="2" charset="-122"/>
              </a:rPr>
              <a:t>用途： </a:t>
            </a:r>
            <a:r>
              <a:rPr lang="zh-CN" altLang="en-US" dirty="0">
                <a:solidFill>
                  <a:schemeClr val="accent2"/>
                </a:solidFill>
                <a:latin typeface="宋体" panose="02010600030101010101" pitchFamily="2" charset="-122"/>
                <a:ea typeface="宋体" panose="02010600030101010101" pitchFamily="2" charset="-122"/>
              </a:rPr>
              <a:t>用于对字节中某些位取反。</a:t>
            </a:r>
          </a:p>
          <a:p>
            <a:pPr eaLnBrk="0" hangingPunct="0">
              <a:lnSpc>
                <a:spcPct val="130000"/>
              </a:lnSpc>
              <a:spcBef>
                <a:spcPct val="50000"/>
              </a:spcBef>
            </a:pPr>
            <a:r>
              <a:rPr lang="zh-CN" altLang="en-US" dirty="0">
                <a:latin typeface="宋体" panose="02010600030101010101" pitchFamily="2" charset="-122"/>
                <a:ea typeface="宋体" panose="02010600030101010101" pitchFamily="2" charset="-122"/>
              </a:rPr>
              <a:t>欲</a:t>
            </a:r>
            <a:r>
              <a:rPr lang="zh-CN" altLang="en-US" dirty="0">
                <a:solidFill>
                  <a:schemeClr val="accent2"/>
                </a:solidFill>
                <a:latin typeface="宋体" panose="02010600030101010101" pitchFamily="2" charset="-122"/>
                <a:ea typeface="宋体" panose="02010600030101010101" pitchFamily="2" charset="-122"/>
              </a:rPr>
              <a:t>取反位用</a:t>
            </a:r>
            <a:r>
              <a:rPr lang="zh-CN" altLang="en-US" dirty="0">
                <a:solidFill>
                  <a:schemeClr val="accent2"/>
                </a:solidFill>
                <a:latin typeface="Times New Roman" panose="02020603050405020304" pitchFamily="18" charset="0"/>
                <a:ea typeface="宋体" panose="02010600030101010101" pitchFamily="2" charset="-122"/>
              </a:rPr>
              <a:t>“</a:t>
            </a:r>
            <a:r>
              <a:rPr lang="en-US" altLang="zh-CN" dirty="0">
                <a:solidFill>
                  <a:schemeClr val="accent2"/>
                </a:solidFill>
                <a:latin typeface="Times New Roman" panose="02020603050405020304" pitchFamily="18" charset="0"/>
                <a:ea typeface="宋体" panose="02010600030101010101" pitchFamily="2" charset="-122"/>
              </a:rPr>
              <a:t>1”</a:t>
            </a:r>
            <a:r>
              <a:rPr lang="zh-CN" altLang="en-US" dirty="0">
                <a:solidFill>
                  <a:schemeClr val="accent2"/>
                </a:solidFill>
                <a:latin typeface="宋体" panose="02010600030101010101" pitchFamily="2" charset="-122"/>
                <a:ea typeface="宋体" panose="02010600030101010101" pitchFamily="2" charset="-122"/>
              </a:rPr>
              <a:t>去</a:t>
            </a:r>
            <a:r>
              <a:rPr lang="zh-CN" altLang="en-US" dirty="0">
                <a:solidFill>
                  <a:schemeClr val="accent2"/>
                </a:solidFill>
                <a:latin typeface="Times New Roman" panose="02020603050405020304" pitchFamily="18" charset="0"/>
                <a:ea typeface="宋体" panose="02010600030101010101" pitchFamily="2" charset="-122"/>
              </a:rPr>
              <a:t>“</a:t>
            </a:r>
            <a:r>
              <a:rPr lang="zh-CN" altLang="en-US" dirty="0">
                <a:solidFill>
                  <a:schemeClr val="accent2"/>
                </a:solidFill>
                <a:latin typeface="宋体" panose="02010600030101010101" pitchFamily="2" charset="-122"/>
                <a:ea typeface="宋体" panose="02010600030101010101" pitchFamily="2" charset="-122"/>
              </a:rPr>
              <a:t>异或</a:t>
            </a:r>
            <a:r>
              <a:rPr lang="zh-CN" altLang="en-US" dirty="0">
                <a:solidFill>
                  <a:schemeClr val="accent2"/>
                </a:solidFill>
                <a:latin typeface="Times New Roman" panose="02020603050405020304" pitchFamily="18" charset="0"/>
                <a:ea typeface="宋体" panose="02010600030101010101" pitchFamily="2" charset="-122"/>
              </a:rPr>
              <a:t>”</a:t>
            </a:r>
            <a:r>
              <a:rPr lang="zh-CN" altLang="en-US" dirty="0">
                <a:solidFill>
                  <a:schemeClr val="accent2"/>
                </a:solidFill>
                <a:latin typeface="宋体" panose="02010600030101010101" pitchFamily="2" charset="-122"/>
                <a:ea typeface="宋体" panose="02010600030101010101" pitchFamily="2" charset="-122"/>
              </a:rPr>
              <a:t>，欲保留位用</a:t>
            </a:r>
            <a:r>
              <a:rPr lang="zh-CN" altLang="en-US" dirty="0">
                <a:solidFill>
                  <a:schemeClr val="accent2"/>
                </a:solidFill>
                <a:latin typeface="Times New Roman" panose="02020603050405020304" pitchFamily="18" charset="0"/>
                <a:ea typeface="宋体" panose="02010600030101010101" pitchFamily="2" charset="-122"/>
              </a:rPr>
              <a:t>“</a:t>
            </a:r>
            <a:r>
              <a:rPr lang="en-US" altLang="zh-CN" dirty="0">
                <a:solidFill>
                  <a:schemeClr val="accent2"/>
                </a:solidFill>
                <a:latin typeface="Times New Roman" panose="02020603050405020304" pitchFamily="18" charset="0"/>
                <a:ea typeface="宋体" panose="02010600030101010101" pitchFamily="2" charset="-122"/>
              </a:rPr>
              <a:t>0”</a:t>
            </a:r>
            <a:r>
              <a:rPr lang="zh-CN" altLang="en-US" dirty="0">
                <a:solidFill>
                  <a:schemeClr val="accent2"/>
                </a:solidFill>
                <a:latin typeface="宋体" panose="02010600030101010101" pitchFamily="2" charset="-122"/>
                <a:ea typeface="宋体" panose="02010600030101010101" pitchFamily="2" charset="-122"/>
              </a:rPr>
              <a:t>去</a:t>
            </a:r>
            <a:r>
              <a:rPr lang="zh-CN" altLang="en-US" dirty="0">
                <a:solidFill>
                  <a:schemeClr val="accent2"/>
                </a:solidFill>
                <a:latin typeface="Times New Roman" panose="02020603050405020304" pitchFamily="18" charset="0"/>
                <a:ea typeface="宋体" panose="02010600030101010101" pitchFamily="2" charset="-122"/>
              </a:rPr>
              <a:t>“</a:t>
            </a:r>
            <a:r>
              <a:rPr lang="zh-CN" altLang="en-US" dirty="0">
                <a:solidFill>
                  <a:schemeClr val="accent2"/>
                </a:solidFill>
                <a:latin typeface="宋体" panose="02010600030101010101" pitchFamily="2" charset="-122"/>
                <a:ea typeface="宋体" panose="02010600030101010101" pitchFamily="2" charset="-122"/>
              </a:rPr>
              <a:t>异或</a:t>
            </a:r>
            <a:r>
              <a:rPr lang="zh-CN" altLang="en-US" dirty="0">
                <a:solidFill>
                  <a:schemeClr val="accent2"/>
                </a:solidFill>
                <a:latin typeface="Times New Roman" panose="02020603050405020304" pitchFamily="18" charset="0"/>
                <a:ea typeface="宋体" panose="02010600030101010101" pitchFamily="2" charset="-122"/>
              </a:rPr>
              <a:t>”</a:t>
            </a:r>
            <a:r>
              <a:rPr lang="zh-CN" altLang="en-US" dirty="0">
                <a:solidFill>
                  <a:schemeClr val="accent2"/>
                </a:solidFill>
                <a:latin typeface="宋体" panose="02010600030101010101" pitchFamily="2" charset="-122"/>
                <a:ea typeface="宋体" panose="02010600030101010101" pitchFamily="2" charset="-122"/>
              </a:rPr>
              <a:t>。</a:t>
            </a:r>
          </a:p>
          <a:p>
            <a:pPr eaLnBrk="0" hangingPunct="0">
              <a:lnSpc>
                <a:spcPct val="130000"/>
              </a:lnSpc>
              <a:spcBef>
                <a:spcPct val="50000"/>
              </a:spcBef>
            </a:pPr>
            <a:r>
              <a:rPr lang="zh-CN" altLang="en-US" dirty="0">
                <a:latin typeface="宋体" panose="02010600030101010101" pitchFamily="2" charset="-122"/>
                <a:ea typeface="宋体" panose="02010600030101010101" pitchFamily="2" charset="-122"/>
              </a:rPr>
              <a:t>例如， 将 </a:t>
            </a:r>
            <a:r>
              <a:rPr lang="en-US" altLang="zh-CN" dirty="0">
                <a:latin typeface="宋体" panose="02010600030101010101" pitchFamily="2" charset="-122"/>
                <a:ea typeface="宋体" panose="02010600030101010101" pitchFamily="2" charset="-122"/>
              </a:rPr>
              <a:t>5DH </a:t>
            </a:r>
            <a:r>
              <a:rPr lang="zh-CN" altLang="en-US" dirty="0">
                <a:latin typeface="宋体" panose="02010600030101010101" pitchFamily="2" charset="-122"/>
                <a:ea typeface="宋体" panose="02010600030101010101" pitchFamily="2" charset="-122"/>
              </a:rPr>
              <a:t>的高位取反，低位保留。</a:t>
            </a:r>
          </a:p>
          <a:p>
            <a:pPr eaLnBrk="0" hangingPunct="0">
              <a:lnSpc>
                <a:spcPct val="125000"/>
              </a:lnSpc>
            </a:pPr>
            <a:r>
              <a:rPr lang="zh-CN" altLang="en-US" dirty="0">
                <a:latin typeface="宋体" panose="02010600030101010101" pitchFamily="2" charset="-122"/>
                <a:ea typeface="宋体" panose="02010600030101010101" pitchFamily="2" charset="-122"/>
              </a:rPr>
              <a:t>             </a:t>
            </a:r>
          </a:p>
          <a:p>
            <a:pPr eaLnBrk="0" hangingPunct="0">
              <a:lnSpc>
                <a:spcPct val="125000"/>
              </a:lnSpc>
            </a:pP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0 1 0 1</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 1 0 1 B</a:t>
            </a:r>
          </a:p>
          <a:p>
            <a:pPr eaLnBrk="0" hangingPunct="0">
              <a:lnSpc>
                <a:spcPct val="125000"/>
              </a:lnSpc>
            </a:pPr>
            <a:r>
              <a:rPr lang="en-US" altLang="zh-CN"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宋体" panose="02010600030101010101" pitchFamily="2" charset="-122"/>
                <a:ea typeface="宋体" panose="02010600030101010101" pitchFamily="2" charset="-122"/>
              </a:rPr>
              <a:t>   </a:t>
            </a:r>
            <a:r>
              <a:rPr lang="en-US" altLang="zh-CN" u="sng" dirty="0">
                <a:solidFill>
                  <a:srgbClr val="FF0000"/>
                </a:solidFill>
                <a:latin typeface="宋体" panose="02010600030101010101" pitchFamily="2" charset="-122"/>
                <a:ea typeface="宋体" panose="02010600030101010101" pitchFamily="2" charset="-122"/>
              </a:rPr>
              <a:t>⊕</a:t>
            </a:r>
            <a:r>
              <a:rPr lang="en-US" altLang="zh-CN" u="sng" dirty="0">
                <a:solidFill>
                  <a:srgbClr val="FF0000"/>
                </a:solidFill>
                <a:latin typeface="Times New Roman" panose="02020603050405020304" pitchFamily="18" charset="0"/>
                <a:ea typeface="宋体" panose="02010600030101010101" pitchFamily="2" charset="-122"/>
              </a:rPr>
              <a:t>  1  1   1  1,  </a:t>
            </a:r>
            <a:r>
              <a:rPr lang="en-US" altLang="zh-CN" u="sng" dirty="0">
                <a:solidFill>
                  <a:schemeClr val="accent2"/>
                </a:solidFill>
                <a:latin typeface="Times New Roman" panose="02020603050405020304" pitchFamily="18" charset="0"/>
                <a:ea typeface="宋体" panose="02010600030101010101" pitchFamily="2" charset="-122"/>
              </a:rPr>
              <a:t>0  0  0  0</a:t>
            </a:r>
            <a:r>
              <a:rPr lang="en-US" altLang="zh-CN" u="sng" dirty="0">
                <a:solidFill>
                  <a:srgbClr val="FF0000"/>
                </a:solidFill>
                <a:latin typeface="Times New Roman" panose="02020603050405020304" pitchFamily="18" charset="0"/>
                <a:ea typeface="宋体" panose="02010600030101010101" pitchFamily="2" charset="-122"/>
              </a:rPr>
              <a:t>  B </a:t>
            </a:r>
            <a:endParaRPr lang="en-US" altLang="zh-CN" u="sng" dirty="0">
              <a:latin typeface="宋体" panose="02010600030101010101" pitchFamily="2" charset="-122"/>
              <a:ea typeface="宋体" panose="02010600030101010101" pitchFamily="2" charset="-122"/>
            </a:endParaRPr>
          </a:p>
          <a:p>
            <a:pPr eaLnBrk="0" hangingPunct="0">
              <a:lnSpc>
                <a:spcPct val="125000"/>
              </a:lnSpc>
            </a:pPr>
            <a:r>
              <a:rPr lang="en-US" altLang="zh-CN" dirty="0">
                <a:latin typeface="宋体" panose="02010600030101010101" pitchFamily="2" charset="-122"/>
                <a:ea typeface="宋体" panose="02010600030101010101" pitchFamily="2" charset="-122"/>
              </a:rPr>
              <a:t>              </a:t>
            </a:r>
            <a:r>
              <a:rPr lang="en-US" altLang="zh-CN" dirty="0">
                <a:solidFill>
                  <a:srgbClr val="FF0000"/>
                </a:solidFill>
                <a:latin typeface="宋体" panose="02010600030101010101" pitchFamily="2" charset="-122"/>
                <a:ea typeface="宋体" panose="02010600030101010101" pitchFamily="2" charset="-122"/>
              </a:rPr>
              <a:t>1 0 1 0</a:t>
            </a:r>
            <a:r>
              <a:rPr lang="zh-CN" altLang="en-US" dirty="0">
                <a:latin typeface="宋体" panose="02010600030101010101" pitchFamily="2" charset="-122"/>
                <a:ea typeface="宋体" panose="02010600030101010101" pitchFamily="2" charset="-122"/>
              </a:rPr>
              <a:t>，</a:t>
            </a:r>
            <a:r>
              <a:rPr lang="en-US" altLang="zh-CN" dirty="0">
                <a:solidFill>
                  <a:schemeClr val="accent2"/>
                </a:solidFill>
                <a:latin typeface="宋体" panose="02010600030101010101" pitchFamily="2" charset="-122"/>
                <a:ea typeface="宋体" panose="02010600030101010101" pitchFamily="2" charset="-122"/>
              </a:rPr>
              <a:t>1 1 0 1</a:t>
            </a:r>
            <a:r>
              <a:rPr lang="en-US" altLang="zh-CN" dirty="0">
                <a:latin typeface="宋体" panose="02010600030101010101" pitchFamily="2" charset="-122"/>
                <a:ea typeface="宋体" panose="02010600030101010101" pitchFamily="2" charset="-122"/>
              </a:rPr>
              <a:t> B</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106</a:t>
            </a:fld>
            <a:endParaRPr lang="en-US" altLang="zh-CN" sz="1400" b="0" dirty="0"/>
          </a:p>
        </p:txBody>
      </p:sp>
      <p:sp>
        <p:nvSpPr>
          <p:cNvPr id="145410" name="Rectangle 4"/>
          <p:cNvSpPr/>
          <p:nvPr/>
        </p:nvSpPr>
        <p:spPr>
          <a:xfrm>
            <a:off x="323850" y="1125538"/>
            <a:ext cx="8534400" cy="3925887"/>
          </a:xfrm>
          <a:prstGeom prst="rect">
            <a:avLst/>
          </a:prstGeom>
          <a:noFill/>
          <a:ln w="9525">
            <a:noFill/>
          </a:ln>
        </p:spPr>
        <p:txBody>
          <a:bodyPr anchor="t" anchorCtr="0">
            <a:spAutoFit/>
          </a:bodyPr>
          <a:lstStyle/>
          <a:p>
            <a:pPr indent="268605" algn="just">
              <a:lnSpc>
                <a:spcPct val="150000"/>
              </a:lnSpc>
            </a:pPr>
            <a:r>
              <a:rPr lang="zh-CN" altLang="en-US" dirty="0">
                <a:solidFill>
                  <a:srgbClr val="FF0000"/>
                </a:solidFill>
                <a:latin typeface="Times New Roman" panose="02020603050405020304" pitchFamily="18" charset="0"/>
                <a:ea typeface="黑体" panose="02010609060101010101" pitchFamily="49" charset="-122"/>
              </a:rPr>
              <a:t>逻辑异或运算指令（</a:t>
            </a:r>
            <a:r>
              <a:rPr lang="en-US" altLang="zh-CN" dirty="0">
                <a:solidFill>
                  <a:srgbClr val="FF0000"/>
                </a:solidFill>
                <a:latin typeface="Times New Roman" panose="02020603050405020304" pitchFamily="18" charset="0"/>
                <a:ea typeface="黑体" panose="02010609060101010101" pitchFamily="49" charset="-122"/>
              </a:rPr>
              <a:t>6</a:t>
            </a:r>
            <a:r>
              <a:rPr lang="zh-CN" altLang="en-US" dirty="0">
                <a:solidFill>
                  <a:srgbClr val="FF0000"/>
                </a:solidFill>
                <a:latin typeface="Times New Roman" panose="02020603050405020304" pitchFamily="18" charset="0"/>
                <a:ea typeface="黑体" panose="02010609060101010101" pitchFamily="49" charset="-122"/>
              </a:rPr>
              <a:t>条）</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50000"/>
              </a:lnSpc>
            </a:pPr>
            <a:r>
              <a:rPr lang="en-US" altLang="zh-CN" dirty="0">
                <a:latin typeface="Times New Roman" panose="02020603050405020304" pitchFamily="18" charset="0"/>
                <a:ea typeface="宋体" panose="02010600030101010101" pitchFamily="2" charset="-122"/>
              </a:rPr>
              <a:t>XRL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Rn</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Rn</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50000"/>
              </a:lnSpc>
            </a:pPr>
            <a:r>
              <a:rPr lang="en-US" altLang="zh-CN" dirty="0">
                <a:latin typeface="Times New Roman" panose="02020603050405020304" pitchFamily="18" charset="0"/>
                <a:ea typeface="宋体" panose="02010600030101010101" pitchFamily="2" charset="-122"/>
              </a:rPr>
              <a:t>XRL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50000"/>
              </a:lnSpc>
            </a:pPr>
            <a:r>
              <a:rPr lang="en-US" altLang="zh-CN" dirty="0">
                <a:latin typeface="Times New Roman" panose="02020603050405020304" pitchFamily="18" charset="0"/>
                <a:ea typeface="宋体" panose="02010600030101010101" pitchFamily="2" charset="-122"/>
              </a:rPr>
              <a:t>XRL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@Ri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Ri</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50000"/>
              </a:lnSpc>
            </a:pPr>
            <a:r>
              <a:rPr lang="en-US" altLang="zh-CN" dirty="0">
                <a:latin typeface="Times New Roman" panose="02020603050405020304" pitchFamily="18" charset="0"/>
                <a:ea typeface="宋体" panose="02010600030101010101" pitchFamily="2" charset="-122"/>
              </a:rPr>
              <a:t>XRL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#data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data</a:t>
            </a:r>
            <a:endParaRPr lang="en-US" altLang="zh-CN" b="0" dirty="0">
              <a:latin typeface="Times New Roman" panose="02020603050405020304" pitchFamily="18" charset="0"/>
              <a:ea typeface="宋体" panose="02010600030101010101" pitchFamily="2" charset="-122"/>
            </a:endParaRPr>
          </a:p>
          <a:p>
            <a:pPr indent="268605" algn="just" eaLnBrk="0" hangingPunct="0">
              <a:lnSpc>
                <a:spcPct val="150000"/>
              </a:lnSpc>
            </a:pPr>
            <a:r>
              <a:rPr lang="en-US" altLang="zh-CN" dirty="0">
                <a:latin typeface="Times New Roman" panose="02020603050405020304" pitchFamily="18" charset="0"/>
                <a:ea typeface="宋体" panose="02010600030101010101" pitchFamily="2" charset="-122"/>
              </a:rPr>
              <a:t>XRL   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50000"/>
              </a:lnSpc>
            </a:pPr>
            <a:r>
              <a:rPr lang="en-US" altLang="zh-CN" dirty="0">
                <a:latin typeface="Times New Roman" panose="02020603050405020304" pitchFamily="18" charset="0"/>
                <a:ea typeface="宋体" panose="02010600030101010101" pitchFamily="2" charset="-122"/>
              </a:rPr>
              <a:t>XRL   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#data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data</a:t>
            </a:r>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107</a:t>
            </a:fld>
            <a:endParaRPr lang="en-US" altLang="zh-CN" sz="1400" b="0" dirty="0"/>
          </a:p>
        </p:txBody>
      </p:sp>
      <p:sp>
        <p:nvSpPr>
          <p:cNvPr id="146434" name="Rectangle 2"/>
          <p:cNvSpPr/>
          <p:nvPr/>
        </p:nvSpPr>
        <p:spPr>
          <a:xfrm>
            <a:off x="457200" y="1219200"/>
            <a:ext cx="8305800" cy="4181475"/>
          </a:xfrm>
          <a:prstGeom prst="rect">
            <a:avLst/>
          </a:prstGeom>
          <a:noFill/>
          <a:ln w="9525">
            <a:noFill/>
          </a:ln>
        </p:spPr>
        <p:txBody>
          <a:bodyPr anchor="t" anchorCtr="0">
            <a:spAutoFit/>
          </a:bodyPr>
          <a:lstStyle/>
          <a:p>
            <a:pPr indent="268605" algn="just">
              <a:lnSpc>
                <a:spcPct val="140000"/>
              </a:lnSpc>
            </a:pPr>
            <a:r>
              <a:rPr lang="en-US" altLang="zh-CN" dirty="0">
                <a:solidFill>
                  <a:srgbClr val="FF0000"/>
                </a:solidFill>
                <a:latin typeface="Times New Roman" panose="02020603050405020304" pitchFamily="18" charset="0"/>
                <a:ea typeface="黑体" panose="02010609060101010101" pitchFamily="49" charset="-122"/>
              </a:rPr>
              <a:t>4</a:t>
            </a:r>
            <a:r>
              <a:rPr lang="zh-CN" altLang="en-US" dirty="0">
                <a:solidFill>
                  <a:srgbClr val="FF0000"/>
                </a:solidFill>
                <a:latin typeface="Times New Roman" panose="02020603050405020304" pitchFamily="18" charset="0"/>
                <a:ea typeface="黑体" panose="02010609060101010101" pitchFamily="49" charset="-122"/>
              </a:rPr>
              <a:t>）累加器清</a:t>
            </a:r>
            <a:r>
              <a:rPr lang="en-US" altLang="zh-CN" dirty="0">
                <a:solidFill>
                  <a:srgbClr val="FF0000"/>
                </a:solidFill>
                <a:latin typeface="Times New Roman" panose="02020603050405020304" pitchFamily="18" charset="0"/>
                <a:ea typeface="黑体" panose="02010609060101010101" pitchFamily="49" charset="-122"/>
              </a:rPr>
              <a:t>0</a:t>
            </a:r>
            <a:r>
              <a:rPr lang="zh-CN" altLang="en-US" dirty="0">
                <a:solidFill>
                  <a:srgbClr val="FF0000"/>
                </a:solidFill>
                <a:latin typeface="Times New Roman" panose="02020603050405020304" pitchFamily="18" charset="0"/>
                <a:ea typeface="黑体" panose="02010609060101010101" pitchFamily="49" charset="-122"/>
              </a:rPr>
              <a:t>取反指令组</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40000"/>
              </a:lnSpc>
            </a:pPr>
            <a:endParaRPr lang="zh-CN" altLang="en-US" dirty="0">
              <a:latin typeface="Times New Roman" panose="02020603050405020304" pitchFamily="18" charset="0"/>
              <a:ea typeface="宋体" panose="02010600030101010101" pitchFamily="2" charset="-122"/>
            </a:endParaRPr>
          </a:p>
          <a:p>
            <a:pPr indent="268605" algn="just" eaLnBrk="0" hangingPunct="0">
              <a:lnSpc>
                <a:spcPct val="140000"/>
              </a:lnSpc>
            </a:pPr>
            <a:r>
              <a:rPr lang="zh-CN" altLang="en-US" dirty="0">
                <a:latin typeface="Times New Roman" panose="02020603050405020304" pitchFamily="18" charset="0"/>
                <a:ea typeface="宋体" panose="02010600030101010101" pitchFamily="2" charset="-122"/>
              </a:rPr>
              <a:t>累加器清</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指令：</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40000"/>
              </a:lnSpc>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CLR   	A             	</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A←0</a:t>
            </a:r>
            <a:endParaRPr lang="en-US" altLang="zh-CN" b="0" dirty="0">
              <a:latin typeface="Times New Roman" panose="02020603050405020304" pitchFamily="18" charset="0"/>
              <a:ea typeface="宋体" panose="02010600030101010101" pitchFamily="2" charset="-122"/>
            </a:endParaRPr>
          </a:p>
          <a:p>
            <a:pPr indent="268605" algn="just" eaLnBrk="0" hangingPunct="0">
              <a:lnSpc>
                <a:spcPct val="140000"/>
              </a:lnSpc>
            </a:pPr>
            <a:endParaRPr lang="en-US" altLang="zh-CN" dirty="0">
              <a:latin typeface="Times New Roman" panose="02020603050405020304" pitchFamily="18" charset="0"/>
              <a:ea typeface="宋体" panose="02010600030101010101" pitchFamily="2" charset="-122"/>
            </a:endParaRPr>
          </a:p>
          <a:p>
            <a:pPr indent="268605" algn="just" eaLnBrk="0" hangingPunct="0">
              <a:lnSpc>
                <a:spcPct val="140000"/>
              </a:lnSpc>
            </a:pPr>
            <a:r>
              <a:rPr lang="zh-CN" altLang="en-US" dirty="0">
                <a:latin typeface="Times New Roman" panose="02020603050405020304" pitchFamily="18" charset="0"/>
                <a:ea typeface="宋体" panose="02010600030101010101" pitchFamily="2" charset="-122"/>
              </a:rPr>
              <a:t>累加器按位取反指令：</a:t>
            </a:r>
            <a:endParaRPr lang="zh-CN" altLang="en-US" b="0" dirty="0">
              <a:latin typeface="Times New Roman" panose="02020603050405020304" pitchFamily="18" charset="0"/>
              <a:ea typeface="宋体" panose="02010600030101010101" pitchFamily="2" charset="-122"/>
            </a:endParaRPr>
          </a:p>
          <a:p>
            <a:pPr indent="268605" algn="just" eaLnBrk="0" hangingPunct="0">
              <a:lnSpc>
                <a:spcPct val="140000"/>
              </a:lnSpc>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CPL    A</a:t>
            </a: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A←</a:t>
            </a:r>
            <a:r>
              <a:rPr lang="zh-CN" altLang="en-US" dirty="0">
                <a:solidFill>
                  <a:srgbClr val="FF0000"/>
                </a:solidFill>
                <a:latin typeface="Times New Roman" panose="02020603050405020304" pitchFamily="18" charset="0"/>
                <a:ea typeface="宋体" panose="02010600030101010101" pitchFamily="2" charset="-122"/>
              </a:rPr>
              <a:t>（Ａ）</a:t>
            </a:r>
            <a:endParaRPr lang="zh-CN" altLang="en-US" b="0" dirty="0">
              <a:latin typeface="Times New Roman" panose="02020603050405020304" pitchFamily="18" charset="0"/>
              <a:ea typeface="宋体" panose="02010600030101010101" pitchFamily="2" charset="-122"/>
            </a:endParaRPr>
          </a:p>
          <a:p>
            <a:pPr indent="268605" eaLnBrk="0" hangingPunct="0">
              <a:lnSpc>
                <a:spcPct val="140000"/>
              </a:lnSpc>
            </a:pPr>
            <a:endParaRPr lang="en-US" altLang="zh-CN" b="0" dirty="0">
              <a:latin typeface="Times New Roman" panose="02020603050405020304" pitchFamily="18" charset="0"/>
              <a:ea typeface="宋体" panose="02010600030101010101" pitchFamily="2" charset="-122"/>
            </a:endParaRPr>
          </a:p>
        </p:txBody>
      </p:sp>
      <p:sp>
        <p:nvSpPr>
          <p:cNvPr id="146435" name="Line 3"/>
          <p:cNvSpPr/>
          <p:nvPr/>
        </p:nvSpPr>
        <p:spPr>
          <a:xfrm>
            <a:off x="6096000" y="4419600"/>
            <a:ext cx="609600" cy="0"/>
          </a:xfrm>
          <a:prstGeom prst="line">
            <a:avLst/>
          </a:prstGeom>
          <a:ln w="9525" cap="flat" cmpd="sng">
            <a:solidFill>
              <a:schemeClr val="tx1"/>
            </a:solidFill>
            <a:prstDash val="solid"/>
            <a:round/>
            <a:headEnd type="none" w="med" len="med"/>
            <a:tailEnd type="none" w="med" len="med"/>
          </a:ln>
        </p:spPr>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108</a:t>
            </a:fld>
            <a:endParaRPr lang="en-US" altLang="zh-CN" sz="1400" b="0" dirty="0"/>
          </a:p>
        </p:txBody>
      </p:sp>
      <p:sp>
        <p:nvSpPr>
          <p:cNvPr id="147458" name="Rectangle 2"/>
          <p:cNvSpPr/>
          <p:nvPr/>
        </p:nvSpPr>
        <p:spPr>
          <a:xfrm>
            <a:off x="304800" y="838200"/>
            <a:ext cx="8305800" cy="2867025"/>
          </a:xfrm>
          <a:prstGeom prst="rect">
            <a:avLst/>
          </a:prstGeom>
          <a:noFill/>
          <a:ln w="9525">
            <a:noFill/>
          </a:ln>
        </p:spPr>
        <p:txBody>
          <a:bodyPr anchor="t" anchorCtr="0">
            <a:spAutoFit/>
          </a:bodyPr>
          <a:lstStyle/>
          <a:p>
            <a:pPr indent="133350" algn="just"/>
            <a:r>
              <a:rPr lang="en-US" altLang="zh-CN" dirty="0">
                <a:solidFill>
                  <a:srgbClr val="FF0000"/>
                </a:solidFill>
                <a:latin typeface="Times New Roman" panose="02020603050405020304" pitchFamily="18" charset="0"/>
                <a:ea typeface="黑体" panose="02010609060101010101" pitchFamily="49" charset="-122"/>
              </a:rPr>
              <a:t>5</a:t>
            </a:r>
            <a:r>
              <a:rPr lang="zh-CN" altLang="en-US" dirty="0">
                <a:solidFill>
                  <a:srgbClr val="FF0000"/>
                </a:solidFill>
                <a:latin typeface="Times New Roman" panose="02020603050405020304" pitchFamily="18" charset="0"/>
                <a:ea typeface="黑体" panose="02010609060101010101" pitchFamily="49" charset="-122"/>
              </a:rPr>
              <a:t>）移位指令组（</a:t>
            </a:r>
            <a:r>
              <a:rPr lang="en-US" altLang="zh-CN" dirty="0">
                <a:solidFill>
                  <a:srgbClr val="FF0000"/>
                </a:solidFill>
                <a:latin typeface="Times New Roman" panose="02020603050405020304" pitchFamily="18" charset="0"/>
                <a:ea typeface="黑体" panose="02010609060101010101" pitchFamily="49" charset="-122"/>
              </a:rPr>
              <a:t>4</a:t>
            </a:r>
            <a:r>
              <a:rPr lang="zh-CN" altLang="en-US" dirty="0">
                <a:solidFill>
                  <a:srgbClr val="FF0000"/>
                </a:solidFill>
                <a:latin typeface="Times New Roman" panose="02020603050405020304" pitchFamily="18" charset="0"/>
                <a:ea typeface="黑体" panose="02010609060101010101" pitchFamily="49" charset="-122"/>
              </a:rPr>
              <a:t>条）</a:t>
            </a:r>
            <a:endParaRPr lang="zh-CN" altLang="en-US" b="0" dirty="0">
              <a:latin typeface="Times New Roman" panose="02020603050405020304" pitchFamily="18" charset="0"/>
              <a:ea typeface="宋体" panose="02010600030101010101" pitchFamily="2" charset="-122"/>
            </a:endParaRPr>
          </a:p>
          <a:p>
            <a:pPr indent="133350" algn="just" eaLnBrk="0" hangingPunct="0"/>
            <a:endParaRPr lang="zh-CN" altLang="en-US" b="0" dirty="0">
              <a:latin typeface="Times New Roman" panose="02020603050405020304" pitchFamily="18" charset="0"/>
              <a:ea typeface="宋体" panose="02010600030101010101" pitchFamily="2" charset="-122"/>
            </a:endParaRPr>
          </a:p>
          <a:p>
            <a:pPr indent="133350" algn="just" eaLnBrk="0" hangingPunct="0">
              <a:lnSpc>
                <a:spcPct val="140000"/>
              </a:lnSpc>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累加器</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循环左移指令</a:t>
            </a:r>
            <a:endParaRPr lang="zh-CN" altLang="en-US" b="0" dirty="0">
              <a:latin typeface="Times New Roman" panose="02020603050405020304" pitchFamily="18" charset="0"/>
              <a:ea typeface="宋体" panose="02010600030101010101" pitchFamily="2" charset="-122"/>
            </a:endParaRPr>
          </a:p>
          <a:p>
            <a:pPr indent="133350" algn="just" eaLnBrk="0" hangingPunct="0">
              <a:lnSpc>
                <a:spcPct val="140000"/>
              </a:lnSpc>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RL 	A    	</a:t>
            </a:r>
            <a:endParaRPr lang="en-US" altLang="zh-CN" b="0" dirty="0">
              <a:latin typeface="Times New Roman" panose="02020603050405020304" pitchFamily="18" charset="0"/>
              <a:ea typeface="宋体" panose="02010600030101010101" pitchFamily="2" charset="-122"/>
            </a:endParaRPr>
          </a:p>
          <a:p>
            <a:pPr indent="133350" algn="just" eaLnBrk="0" hangingPunct="0">
              <a:lnSpc>
                <a:spcPct val="140000"/>
              </a:lnSpc>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 累加器</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循环右移指令</a:t>
            </a:r>
          </a:p>
          <a:p>
            <a:pPr indent="133350" algn="just" eaLnBrk="0" hangingPunct="0">
              <a:lnSpc>
                <a:spcPct val="140000"/>
              </a:lnSpc>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RR   	A   	</a:t>
            </a:r>
            <a:endParaRPr lang="en-US" altLang="zh-CN" dirty="0">
              <a:solidFill>
                <a:srgbClr val="FF0000"/>
              </a:solidFill>
              <a:latin typeface="Times New Roman" panose="02020603050405020304" pitchFamily="18" charset="0"/>
              <a:ea typeface="Times New Roman" panose="02020603050405020304" pitchFamily="18" charset="0"/>
            </a:endParaRPr>
          </a:p>
        </p:txBody>
      </p:sp>
      <p:sp>
        <p:nvSpPr>
          <p:cNvPr id="147459" name="Rectangle 3"/>
          <p:cNvSpPr/>
          <p:nvPr/>
        </p:nvSpPr>
        <p:spPr>
          <a:xfrm>
            <a:off x="0" y="3094038"/>
            <a:ext cx="9144000" cy="350837"/>
          </a:xfrm>
          <a:prstGeom prst="rect">
            <a:avLst/>
          </a:prstGeom>
          <a:noFill/>
          <a:ln w="9525">
            <a:noFill/>
          </a:ln>
        </p:spPr>
        <p:txBody>
          <a:bodyPr bIns="0" anchor="t" anchorCtr="0">
            <a:spAutoFit/>
          </a:bodyPr>
          <a:lstStyle/>
          <a:p>
            <a:pPr indent="268605" algn="just"/>
            <a:endParaRPr lang="en-US" altLang="zh-CN" sz="1000" dirty="0">
              <a:solidFill>
                <a:srgbClr val="FF0000"/>
              </a:solidFill>
              <a:latin typeface="Times New Roman" panose="02020603050405020304" pitchFamily="18" charset="0"/>
              <a:ea typeface="宋体" panose="02010600030101010101" pitchFamily="2" charset="-122"/>
            </a:endParaRPr>
          </a:p>
          <a:p>
            <a:pPr indent="268605" algn="just" eaLnBrk="0" hangingPunct="0"/>
            <a:r>
              <a:rPr lang="en-US" altLang="zh-CN" sz="1000" dirty="0">
                <a:solidFill>
                  <a:srgbClr val="FF0000"/>
                </a:solidFill>
                <a:latin typeface="Times New Roman" panose="02020603050405020304" pitchFamily="18" charset="0"/>
                <a:ea typeface="宋体" panose="02010600030101010101" pitchFamily="2" charset="-122"/>
              </a:rPr>
              <a:t>       </a:t>
            </a:r>
            <a:endParaRPr lang="en-US" altLang="zh-CN" b="0" dirty="0">
              <a:latin typeface="Times New Roman" panose="02020603050405020304" pitchFamily="18" charset="0"/>
              <a:ea typeface="宋体" panose="02010600030101010101" pitchFamily="2" charset="-122"/>
            </a:endParaRPr>
          </a:p>
        </p:txBody>
      </p:sp>
      <p:pic>
        <p:nvPicPr>
          <p:cNvPr id="147460" name="Picture 43" descr="4T11"/>
          <p:cNvPicPr>
            <a:picLocks noChangeAspect="1"/>
          </p:cNvPicPr>
          <p:nvPr/>
        </p:nvPicPr>
        <p:blipFill>
          <a:blip r:embed="rId2"/>
          <a:srcRect r="60040"/>
          <a:stretch>
            <a:fillRect/>
          </a:stretch>
        </p:blipFill>
        <p:spPr>
          <a:xfrm>
            <a:off x="900113" y="4221163"/>
            <a:ext cx="6553200" cy="134937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109</a:t>
            </a:fld>
            <a:endParaRPr lang="en-US" altLang="zh-CN" sz="1400" b="0" dirty="0"/>
          </a:p>
        </p:txBody>
      </p:sp>
      <p:sp>
        <p:nvSpPr>
          <p:cNvPr id="148482" name="Rectangle 2"/>
          <p:cNvSpPr/>
          <p:nvPr/>
        </p:nvSpPr>
        <p:spPr>
          <a:xfrm>
            <a:off x="685800" y="1066800"/>
            <a:ext cx="7315200" cy="2647950"/>
          </a:xfrm>
          <a:prstGeom prst="rect">
            <a:avLst/>
          </a:prstGeom>
          <a:noFill/>
          <a:ln w="9525">
            <a:noFill/>
          </a:ln>
        </p:spPr>
        <p:txBody>
          <a:bodyPr anchor="t" anchorCtr="0">
            <a:spAutoFit/>
          </a:bodyPr>
          <a:lstStyle/>
          <a:p>
            <a:pPr eaLnBrk="0" hangingPunct="0">
              <a:spcBef>
                <a:spcPct val="50000"/>
              </a:spcBef>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）累加器</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带进位循环左移指令</a:t>
            </a:r>
            <a:endParaRPr lang="zh-CN" altLang="en-US" b="0" dirty="0">
              <a:latin typeface="Times New Roman" panose="02020603050405020304" pitchFamily="18" charset="0"/>
              <a:ea typeface="宋体" panose="02010600030101010101" pitchFamily="2" charset="-122"/>
            </a:endParaRPr>
          </a:p>
          <a:p>
            <a:pPr eaLnBrk="0" hangingPunct="0">
              <a:spcBef>
                <a:spcPct val="50000"/>
              </a:spcBef>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RLC 	A</a:t>
            </a:r>
            <a:endParaRPr lang="en-US" altLang="zh-CN" b="0" dirty="0">
              <a:latin typeface="Times New Roman" panose="02020603050405020304" pitchFamily="18" charset="0"/>
              <a:ea typeface="宋体" panose="02010600030101010101" pitchFamily="2" charset="-122"/>
            </a:endParaRPr>
          </a:p>
          <a:p>
            <a:pPr eaLnBrk="0" hangingPunct="0">
              <a:spcBef>
                <a:spcPct val="50000"/>
              </a:spcBef>
            </a:pPr>
            <a:r>
              <a:rPr lang="en-US" altLang="zh-CN" dirty="0">
                <a:latin typeface="Times New Roman" panose="02020603050405020304" pitchFamily="18" charset="0"/>
                <a:ea typeface="宋体" panose="02010600030101010101" pitchFamily="2" charset="-122"/>
              </a:rPr>
              <a:t> </a:t>
            </a:r>
          </a:p>
          <a:p>
            <a:pPr eaLnBrk="0" hangingPunct="0">
              <a:spcBef>
                <a:spcPct val="50000"/>
              </a:spcBef>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）累加器</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带进位循环右移指令</a:t>
            </a:r>
          </a:p>
          <a:p>
            <a:pPr eaLnBrk="0" hangingPunct="0">
              <a:spcBef>
                <a:spcPct val="50000"/>
              </a:spcBef>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RRC    A   	</a:t>
            </a:r>
            <a:endParaRPr lang="en-US" altLang="zh-CN" dirty="0">
              <a:solidFill>
                <a:srgbClr val="FF0000"/>
              </a:solidFill>
              <a:latin typeface="Times New Roman" panose="02020603050405020304" pitchFamily="18" charset="0"/>
              <a:ea typeface="Times New Roman" panose="02020603050405020304" pitchFamily="18" charset="0"/>
            </a:endParaRPr>
          </a:p>
        </p:txBody>
      </p:sp>
      <p:pic>
        <p:nvPicPr>
          <p:cNvPr id="148483" name="Picture 23" descr="4T11"/>
          <p:cNvPicPr>
            <a:picLocks noChangeAspect="1"/>
          </p:cNvPicPr>
          <p:nvPr/>
        </p:nvPicPr>
        <p:blipFill>
          <a:blip r:embed="rId2"/>
          <a:srcRect l="41243"/>
          <a:stretch>
            <a:fillRect/>
          </a:stretch>
        </p:blipFill>
        <p:spPr>
          <a:xfrm>
            <a:off x="395288" y="4221163"/>
            <a:ext cx="8207375" cy="134937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110</a:t>
            </a:fld>
            <a:endParaRPr lang="en-US" altLang="zh-CN" sz="1400" b="0" dirty="0"/>
          </a:p>
        </p:txBody>
      </p:sp>
      <p:sp>
        <p:nvSpPr>
          <p:cNvPr id="70658" name="Rectangle 2"/>
          <p:cNvSpPr/>
          <p:nvPr/>
        </p:nvSpPr>
        <p:spPr>
          <a:xfrm>
            <a:off x="323850" y="692150"/>
            <a:ext cx="8534400" cy="4838700"/>
          </a:xfrm>
          <a:prstGeom prst="rect">
            <a:avLst/>
          </a:prstGeom>
          <a:noFill/>
          <a:ln w="9525">
            <a:noFill/>
          </a:ln>
        </p:spPr>
        <p:txBody>
          <a:bodyPr anchor="t" anchorCtr="0">
            <a:spAutoFit/>
          </a:bodyPr>
          <a:lstStyle/>
          <a:p>
            <a:pPr indent="793750" algn="just">
              <a:lnSpc>
                <a:spcPct val="130000"/>
              </a:lnSpc>
            </a:pPr>
            <a:r>
              <a:rPr lang="zh-CN" altLang="en-US" dirty="0">
                <a:latin typeface="Times New Roman" panose="02020603050405020304" pitchFamily="18" charset="0"/>
                <a:ea typeface="宋体" panose="02010600030101010101" pitchFamily="2" charset="-122"/>
              </a:rPr>
              <a:t>例：写出每条指令执行后累加器的内容。</a:t>
            </a:r>
            <a:endParaRPr lang="zh-CN" altLang="en-US" b="0" dirty="0">
              <a:latin typeface="Times New Roman" panose="02020603050405020304" pitchFamily="18" charset="0"/>
              <a:ea typeface="宋体" panose="02010600030101010101" pitchFamily="2" charset="-122"/>
            </a:endParaRPr>
          </a:p>
          <a:p>
            <a:pPr indent="793750" algn="just" eaLnBrk="0" hangingPunct="0">
              <a:lnSpc>
                <a:spcPct val="130000"/>
              </a:lnSpc>
            </a:pPr>
            <a:r>
              <a:rPr lang="en-US" altLang="zh-CN" dirty="0">
                <a:latin typeface="Times New Roman" panose="02020603050405020304" pitchFamily="18" charset="0"/>
                <a:ea typeface="宋体" panose="02010600030101010101" pitchFamily="2" charset="-122"/>
              </a:rPr>
              <a:t>MOV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#01H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01H</a:t>
            </a:r>
            <a:endParaRPr lang="en-US" altLang="zh-CN" b="0" dirty="0">
              <a:latin typeface="Times New Roman" panose="02020603050405020304" pitchFamily="18" charset="0"/>
              <a:ea typeface="宋体" panose="02010600030101010101" pitchFamily="2" charset="-122"/>
            </a:endParaRPr>
          </a:p>
          <a:p>
            <a:pPr indent="793750" algn="just" eaLnBrk="0" hangingPunct="0">
              <a:lnSpc>
                <a:spcPct val="130000"/>
              </a:lnSpc>
            </a:pPr>
            <a:r>
              <a:rPr lang="en-US" altLang="zh-CN" dirty="0">
                <a:latin typeface="Times New Roman" panose="02020603050405020304" pitchFamily="18" charset="0"/>
                <a:ea typeface="宋体" panose="02010600030101010101" pitchFamily="2" charset="-122"/>
              </a:rPr>
              <a:t>RL	A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02H</a:t>
            </a:r>
            <a:endParaRPr lang="en-US" altLang="zh-CN" b="0" dirty="0">
              <a:latin typeface="Times New Roman" panose="02020603050405020304" pitchFamily="18" charset="0"/>
              <a:ea typeface="宋体" panose="02010600030101010101" pitchFamily="2" charset="-122"/>
            </a:endParaRPr>
          </a:p>
          <a:p>
            <a:pPr indent="793750" algn="just" eaLnBrk="0" hangingPunct="0">
              <a:lnSpc>
                <a:spcPct val="130000"/>
              </a:lnSpc>
            </a:pPr>
            <a:r>
              <a:rPr lang="en-US" altLang="zh-CN" dirty="0">
                <a:latin typeface="Times New Roman" panose="02020603050405020304" pitchFamily="18" charset="0"/>
                <a:ea typeface="宋体" panose="02010600030101010101" pitchFamily="2" charset="-122"/>
              </a:rPr>
              <a:t>RL	A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04H</a:t>
            </a:r>
            <a:endParaRPr lang="en-US" altLang="zh-CN" b="0" dirty="0">
              <a:latin typeface="Times New Roman" panose="02020603050405020304" pitchFamily="18" charset="0"/>
              <a:ea typeface="宋体" panose="02010600030101010101" pitchFamily="2" charset="-122"/>
            </a:endParaRPr>
          </a:p>
          <a:p>
            <a:pPr indent="793750" algn="just" eaLnBrk="0" hangingPunct="0">
              <a:lnSpc>
                <a:spcPct val="130000"/>
              </a:lnSpc>
            </a:pPr>
            <a:r>
              <a:rPr lang="en-US" altLang="zh-CN" dirty="0">
                <a:latin typeface="Times New Roman" panose="02020603050405020304" pitchFamily="18" charset="0"/>
                <a:ea typeface="宋体" panose="02010600030101010101" pitchFamily="2" charset="-122"/>
              </a:rPr>
              <a:t>RL	A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08H</a:t>
            </a:r>
            <a:endParaRPr lang="en-US" altLang="zh-CN" b="0" dirty="0">
              <a:latin typeface="Times New Roman" panose="02020603050405020304" pitchFamily="18" charset="0"/>
              <a:ea typeface="宋体" panose="02010600030101010101" pitchFamily="2" charset="-122"/>
            </a:endParaRPr>
          </a:p>
          <a:p>
            <a:pPr indent="793750" algn="just" eaLnBrk="0" hangingPunct="0">
              <a:lnSpc>
                <a:spcPct val="130000"/>
              </a:lnSpc>
            </a:pPr>
            <a:r>
              <a:rPr lang="en-US" altLang="zh-CN" dirty="0">
                <a:latin typeface="Times New Roman" panose="02020603050405020304" pitchFamily="18" charset="0"/>
                <a:ea typeface="宋体" panose="02010600030101010101" pitchFamily="2" charset="-122"/>
              </a:rPr>
              <a:t>RL	A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10H</a:t>
            </a:r>
            <a:endParaRPr lang="en-US" altLang="zh-CN" b="0" dirty="0">
              <a:latin typeface="Times New Roman" panose="02020603050405020304" pitchFamily="18" charset="0"/>
              <a:ea typeface="宋体" panose="02010600030101010101" pitchFamily="2" charset="-122"/>
            </a:endParaRPr>
          </a:p>
          <a:p>
            <a:pPr indent="793750" algn="just" eaLnBrk="0" hangingPunct="0">
              <a:lnSpc>
                <a:spcPct val="130000"/>
              </a:lnSpc>
            </a:pPr>
            <a:r>
              <a:rPr lang="en-US" altLang="zh-CN" dirty="0">
                <a:latin typeface="Times New Roman" panose="02020603050405020304" pitchFamily="18" charset="0"/>
                <a:ea typeface="宋体" panose="02010600030101010101" pitchFamily="2" charset="-122"/>
              </a:rPr>
              <a:t>RR	A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08H</a:t>
            </a:r>
            <a:endParaRPr lang="en-US" altLang="zh-CN" b="0" dirty="0">
              <a:latin typeface="Times New Roman" panose="02020603050405020304" pitchFamily="18" charset="0"/>
              <a:ea typeface="宋体" panose="02010600030101010101" pitchFamily="2" charset="-122"/>
            </a:endParaRPr>
          </a:p>
          <a:p>
            <a:pPr indent="793750" algn="just" eaLnBrk="0" hangingPunct="0">
              <a:lnSpc>
                <a:spcPct val="130000"/>
              </a:lnSpc>
            </a:pPr>
            <a:r>
              <a:rPr lang="en-US" altLang="zh-CN" dirty="0">
                <a:latin typeface="Times New Roman" panose="02020603050405020304" pitchFamily="18" charset="0"/>
                <a:ea typeface="宋体" panose="02010600030101010101" pitchFamily="2" charset="-122"/>
              </a:rPr>
              <a:t>RR	A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04H</a:t>
            </a:r>
            <a:endParaRPr lang="en-US" altLang="zh-CN" b="0" dirty="0">
              <a:latin typeface="Times New Roman" panose="02020603050405020304" pitchFamily="18" charset="0"/>
              <a:ea typeface="宋体" panose="02010600030101010101" pitchFamily="2" charset="-122"/>
            </a:endParaRPr>
          </a:p>
          <a:p>
            <a:pPr indent="793750" algn="just" eaLnBrk="0" hangingPunct="0">
              <a:lnSpc>
                <a:spcPct val="130000"/>
              </a:lnSpc>
            </a:pPr>
            <a:r>
              <a:rPr lang="en-US" altLang="zh-CN" dirty="0">
                <a:latin typeface="Times New Roman" panose="02020603050405020304" pitchFamily="18" charset="0"/>
                <a:ea typeface="宋体" panose="02010600030101010101" pitchFamily="2" charset="-122"/>
              </a:rPr>
              <a:t>RR	A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02H</a:t>
            </a:r>
            <a:endParaRPr lang="en-US" altLang="zh-CN" b="0" dirty="0">
              <a:latin typeface="Times New Roman" panose="02020603050405020304" pitchFamily="18" charset="0"/>
              <a:ea typeface="宋体" panose="02010600030101010101" pitchFamily="2" charset="-122"/>
            </a:endParaRPr>
          </a:p>
          <a:p>
            <a:pPr indent="793750" algn="just" eaLnBrk="0" hangingPunct="0">
              <a:lnSpc>
                <a:spcPct val="130000"/>
              </a:lnSpc>
            </a:pPr>
            <a:r>
              <a:rPr lang="en-US" altLang="zh-CN" dirty="0">
                <a:latin typeface="Times New Roman" panose="02020603050405020304" pitchFamily="18" charset="0"/>
                <a:ea typeface="宋体" panose="02010600030101010101" pitchFamily="2" charset="-122"/>
              </a:rPr>
              <a:t>RR	A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01H</a:t>
            </a:r>
            <a:endParaRPr lang="en-US" altLang="zh-CN" b="0" dirty="0">
              <a:solidFill>
                <a:srgbClr val="FF0000"/>
              </a:solidFill>
              <a:latin typeface="Times New Roman" panose="02020603050405020304" pitchFamily="18" charset="0"/>
              <a:ea typeface="宋体" panose="02010600030101010101" pitchFamily="2" charset="-122"/>
            </a:endParaRPr>
          </a:p>
        </p:txBody>
      </p:sp>
      <p:sp>
        <p:nvSpPr>
          <p:cNvPr id="70659" name="Rectangle 3"/>
          <p:cNvSpPr/>
          <p:nvPr/>
        </p:nvSpPr>
        <p:spPr>
          <a:xfrm>
            <a:off x="900113" y="5949950"/>
            <a:ext cx="7229475" cy="457200"/>
          </a:xfrm>
          <a:prstGeom prst="rect">
            <a:avLst/>
          </a:prstGeom>
          <a:noFill/>
          <a:ln w="9525">
            <a:noFill/>
          </a:ln>
        </p:spPr>
        <p:txBody>
          <a:bodyPr wrap="none" anchor="t" anchorCtr="0">
            <a:spAutoFit/>
          </a:bodyPr>
          <a:lstStyle/>
          <a:p>
            <a:pPr algn="ctr"/>
            <a:r>
              <a:rPr lang="zh-CN" altLang="en-US" dirty="0">
                <a:solidFill>
                  <a:srgbClr val="FF0000"/>
                </a:solidFill>
                <a:latin typeface="Times New Roman" panose="02020603050405020304" pitchFamily="18" charset="0"/>
                <a:ea typeface="宋体" panose="02010600030101010101" pitchFamily="2" charset="-122"/>
              </a:rPr>
              <a:t>结论：左移一位相当于乘</a:t>
            </a:r>
            <a:r>
              <a:rPr lang="en-US" altLang="zh-CN" dirty="0">
                <a:solidFill>
                  <a:srgbClr val="FF0000"/>
                </a:solidFill>
                <a:latin typeface="Times New Roman" panose="02020603050405020304" pitchFamily="18" charset="0"/>
                <a:ea typeface="宋体" panose="02010600030101010101" pitchFamily="2" charset="-122"/>
              </a:rPr>
              <a:t>2</a:t>
            </a:r>
            <a:r>
              <a:rPr lang="zh-CN" altLang="en-US" dirty="0">
                <a:solidFill>
                  <a:srgbClr val="FF0000"/>
                </a:solidFill>
                <a:latin typeface="Times New Roman" panose="02020603050405020304" pitchFamily="18" charset="0"/>
                <a:ea typeface="宋体" panose="02010600030101010101" pitchFamily="2" charset="-122"/>
              </a:rPr>
              <a:t>，右移一位相当于除以</a:t>
            </a:r>
            <a:r>
              <a:rPr lang="en-US" altLang="zh-CN" dirty="0">
                <a:solidFill>
                  <a:srgbClr val="FF0000"/>
                </a:solidFill>
                <a:latin typeface="Times New Roman" panose="02020603050405020304" pitchFamily="18" charset="0"/>
                <a:ea typeface="宋体" panose="02010600030101010101" pitchFamily="2" charset="-122"/>
              </a:rPr>
              <a:t>2</a:t>
            </a:r>
            <a:r>
              <a:rPr lang="zh-CN" altLang="en-US" dirty="0">
                <a:solidFill>
                  <a:srgbClr val="FF0000"/>
                </a:solidFill>
                <a:latin typeface="Times New Roman" panose="02020603050405020304" pitchFamily="18" charset="0"/>
                <a:ea typeface="宋体" panose="02010600030101010101" pitchFamily="2" charset="-122"/>
              </a:rPr>
              <a:t>。</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111</a:t>
            </a:fld>
            <a:endParaRPr lang="en-US" altLang="zh-CN" sz="1400" b="0" dirty="0"/>
          </a:p>
        </p:txBody>
      </p:sp>
      <p:sp>
        <p:nvSpPr>
          <p:cNvPr id="150529" name="页脚占位符 4"/>
          <p:cNvSpPr txBox="1">
            <a:spLocks noGrp="1"/>
          </p:cNvSpPr>
          <p:nvPr>
            <p:ph type="ftr" sz="quarter" idx="4294967295"/>
          </p:nvPr>
        </p:nvSpPr>
        <p:spPr>
          <a:xfrm>
            <a:off x="0" y="6400800"/>
            <a:ext cx="2895600" cy="457200"/>
          </a:xfrm>
          <a:prstGeom prst="rect">
            <a:avLst/>
          </a:prstGeom>
          <a:noFill/>
          <a:ln w="9525">
            <a:noFill/>
          </a:ln>
        </p:spPr>
        <p:txBody>
          <a:bodyPr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0" hangingPunct="0"/>
            <a:r>
              <a:rPr lang="en-US" altLang="zh-CN" dirty="0"/>
              <a:t>1</a:t>
            </a:r>
          </a:p>
        </p:txBody>
      </p:sp>
      <p:grpSp>
        <p:nvGrpSpPr>
          <p:cNvPr id="2" name="Group 7"/>
          <p:cNvGrpSpPr/>
          <p:nvPr/>
        </p:nvGrpSpPr>
        <p:grpSpPr>
          <a:xfrm>
            <a:off x="0" y="0"/>
            <a:ext cx="9144000" cy="6858000"/>
            <a:chOff x="0" y="0"/>
            <a:chExt cx="5760" cy="4320"/>
          </a:xfrm>
        </p:grpSpPr>
        <p:pic>
          <p:nvPicPr>
            <p:cNvPr id="150532" name="Picture 4"/>
            <p:cNvPicPr>
              <a:picLocks noChangeAspect="1"/>
            </p:cNvPicPr>
            <p:nvPr/>
          </p:nvPicPr>
          <p:blipFill>
            <a:blip r:embed="rId2"/>
            <a:srcRect l="1576" t="22118" r="44449" b="14886"/>
            <a:stretch>
              <a:fillRect/>
            </a:stretch>
          </p:blipFill>
          <p:spPr>
            <a:xfrm>
              <a:off x="0" y="0"/>
              <a:ext cx="5760" cy="4320"/>
            </a:xfrm>
            <a:prstGeom prst="rect">
              <a:avLst/>
            </a:prstGeom>
            <a:noFill/>
            <a:ln w="9525">
              <a:noFill/>
            </a:ln>
          </p:spPr>
        </p:pic>
        <p:sp>
          <p:nvSpPr>
            <p:cNvPr id="150533" name="Text Box 6"/>
            <p:cNvSpPr txBox="1"/>
            <p:nvPr/>
          </p:nvSpPr>
          <p:spPr>
            <a:xfrm>
              <a:off x="3787" y="3884"/>
              <a:ext cx="1134" cy="288"/>
            </a:xfrm>
            <a:prstGeom prst="rect">
              <a:avLst/>
            </a:prstGeom>
            <a:noFill/>
            <a:ln w="9525">
              <a:noFill/>
            </a:ln>
          </p:spPr>
          <p:txBody>
            <a:bodyPr anchor="t" anchorCtr="0">
              <a:spAutoFit/>
            </a:bodyPr>
            <a:lstStyle/>
            <a:p>
              <a:pPr algn="ctr">
                <a:spcBef>
                  <a:spcPct val="50000"/>
                </a:spcBef>
              </a:pPr>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2-1</a:t>
              </a:r>
            </a:p>
          </p:txBody>
        </p:sp>
      </p:grpSp>
      <p:sp>
        <p:nvSpPr>
          <p:cNvPr id="246789" name="Rectangle 5"/>
          <p:cNvSpPr/>
          <p:nvPr/>
        </p:nvSpPr>
        <p:spPr>
          <a:xfrm>
            <a:off x="250825" y="375603"/>
            <a:ext cx="8642350" cy="1420495"/>
          </a:xfrm>
          <a:prstGeom prst="rect">
            <a:avLst/>
          </a:prstGeom>
          <a:solidFill>
            <a:schemeClr val="hlink"/>
          </a:solidFill>
          <a:ln w="9525">
            <a:noFill/>
          </a:ln>
        </p:spPr>
        <p:txBody>
          <a:bodyPr anchor="ctr" anchorCtr="0">
            <a:spAutoFit/>
          </a:bodyPr>
          <a:lstStyle/>
          <a:p>
            <a:pPr>
              <a:lnSpc>
                <a:spcPct val="120000"/>
              </a:lnSpc>
            </a:pP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3-11  </a:t>
            </a:r>
            <a:r>
              <a:rPr lang="zh-CN" altLang="en-US" dirty="0">
                <a:latin typeface="Times New Roman" panose="02020603050405020304" pitchFamily="18" charset="0"/>
                <a:ea typeface="宋体" panose="02010600030101010101" pitchFamily="2" charset="-122"/>
              </a:rPr>
              <a:t>在如图所示的单片机系统中，如果使与</a:t>
            </a:r>
            <a:r>
              <a:rPr lang="en-US" altLang="zh-CN" dirty="0">
                <a:latin typeface="Times New Roman" panose="02020603050405020304" pitchFamily="18" charset="0"/>
                <a:ea typeface="宋体" panose="02010600030101010101" pitchFamily="2" charset="-122"/>
              </a:rPr>
              <a:t>P1</a:t>
            </a:r>
            <a:r>
              <a:rPr lang="zh-CN" altLang="en-US" dirty="0">
                <a:latin typeface="Times New Roman" panose="02020603050405020304" pitchFamily="18" charset="0"/>
                <a:ea typeface="宋体" panose="02010600030101010101" pitchFamily="2" charset="-122"/>
              </a:rPr>
              <a:t>口相连的发光二极管从</a:t>
            </a:r>
            <a:r>
              <a:rPr lang="en-US" altLang="zh-CN" dirty="0">
                <a:latin typeface="Times New Roman" panose="02020603050405020304" pitchFamily="18" charset="0"/>
                <a:ea typeface="宋体" panose="02010600030101010101" pitchFamily="2" charset="-122"/>
              </a:rPr>
              <a:t>LED0</a:t>
            </a:r>
            <a:r>
              <a:rPr lang="zh-CN" altLang="en-US" dirty="0">
                <a:latin typeface="Times New Roman" panose="02020603050405020304" pitchFamily="18" charset="0"/>
                <a:ea typeface="宋体" panose="02010600030101010101" pitchFamily="2" charset="-122"/>
              </a:rPr>
              <a:t>到</a:t>
            </a:r>
            <a:r>
              <a:rPr lang="en-US" altLang="zh-CN" dirty="0">
                <a:latin typeface="Times New Roman" panose="02020603050405020304" pitchFamily="18" charset="0"/>
                <a:ea typeface="宋体" panose="02010600030101010101" pitchFamily="2" charset="-122"/>
              </a:rPr>
              <a:t>LED7</a:t>
            </a:r>
            <a:r>
              <a:rPr lang="zh-CN" altLang="en-US" dirty="0">
                <a:latin typeface="Times New Roman" panose="02020603050405020304" pitchFamily="18" charset="0"/>
                <a:ea typeface="宋体" panose="02010600030101010101" pitchFamily="2" charset="-122"/>
              </a:rPr>
              <a:t>依次点亮，每次只亮</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个，编写汇编语言程序实现该功能。</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112</a:t>
            </a:fld>
            <a:endParaRPr lang="en-US" altLang="zh-CN" sz="1400" b="0" dirty="0"/>
          </a:p>
        </p:txBody>
      </p:sp>
      <p:sp>
        <p:nvSpPr>
          <p:cNvPr id="151554" name="Text Box 5"/>
          <p:cNvSpPr txBox="1"/>
          <p:nvPr/>
        </p:nvSpPr>
        <p:spPr>
          <a:xfrm>
            <a:off x="755650" y="0"/>
            <a:ext cx="8388350" cy="6740525"/>
          </a:xfrm>
          <a:prstGeom prst="rect">
            <a:avLst/>
          </a:prstGeom>
          <a:solidFill>
            <a:schemeClr val="hlink"/>
          </a:solidFill>
          <a:ln w="9525">
            <a:noFill/>
          </a:ln>
        </p:spPr>
        <p:txBody>
          <a:bodyPr anchor="t" anchorCtr="0">
            <a:spAutoFit/>
          </a:bodyPr>
          <a:lstStyle/>
          <a:p>
            <a:r>
              <a:rPr lang="en-US" altLang="zh-CN" dirty="0">
                <a:latin typeface="Times New Roman" panose="02020603050405020304" pitchFamily="18" charset="0"/>
                <a:ea typeface="宋体" panose="02010600030101010101" pitchFamily="2" charset="-122"/>
              </a:rPr>
              <a:t>                         ORG   0000H</a:t>
            </a:r>
          </a:p>
          <a:p>
            <a:r>
              <a:rPr lang="en-US" altLang="zh-CN" dirty="0">
                <a:latin typeface="Times New Roman" panose="02020603050405020304" pitchFamily="18" charset="0"/>
                <a:ea typeface="宋体" panose="02010600030101010101" pitchFamily="2" charset="-122"/>
              </a:rPr>
              <a:t>START:	 MOV  A</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#0FEH	</a:t>
            </a:r>
            <a:r>
              <a:rPr lang="en-US" altLang="zh-CN" dirty="0">
                <a:latin typeface="Times New Roman" panose="02020603050405020304" pitchFamily="18" charset="0"/>
                <a:ea typeface="宋体" panose="02010600030101010101" pitchFamily="2" charset="-122"/>
              </a:rPr>
              <a:t>	; </a:t>
            </a:r>
            <a:r>
              <a:rPr lang="zh-CN" altLang="en-US" dirty="0">
                <a:latin typeface="Times New Roman" panose="02020603050405020304" pitchFamily="18" charset="0"/>
                <a:ea typeface="宋体" panose="02010600030101010101" pitchFamily="2" charset="-122"/>
              </a:rPr>
              <a:t>循环时的初始数据</a:t>
            </a:r>
          </a:p>
          <a:p>
            <a:r>
              <a:rPr lang="zh-CN" altLang="en-US" dirty="0">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MOV    P1</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A		; </a:t>
            </a:r>
            <a:r>
              <a:rPr lang="zh-CN" altLang="en-US" dirty="0">
                <a:solidFill>
                  <a:srgbClr val="FF0000"/>
                </a:solidFill>
                <a:latin typeface="Times New Roman" panose="02020603050405020304" pitchFamily="18" charset="0"/>
                <a:ea typeface="宋体" panose="02010600030101010101" pitchFamily="2" charset="-122"/>
              </a:rPr>
              <a:t>点亮</a:t>
            </a:r>
            <a:r>
              <a:rPr lang="en-US" altLang="zh-CN" dirty="0">
                <a:solidFill>
                  <a:srgbClr val="FF0000"/>
                </a:solidFill>
                <a:latin typeface="Times New Roman" panose="02020603050405020304" pitchFamily="18" charset="0"/>
                <a:ea typeface="宋体" panose="02010600030101010101" pitchFamily="2" charset="-122"/>
              </a:rPr>
              <a:t>LED0</a:t>
            </a:r>
          </a:p>
          <a:p>
            <a:r>
              <a:rPr lang="en-US" altLang="zh-CN" dirty="0">
                <a:latin typeface="Times New Roman" panose="02020603050405020304" pitchFamily="18" charset="0"/>
                <a:ea typeface="宋体" panose="02010600030101010101" pitchFamily="2" charset="-122"/>
              </a:rPr>
              <a:t> 		 </a:t>
            </a:r>
            <a:r>
              <a:rPr lang="en-US" altLang="zh-CN" dirty="0">
                <a:solidFill>
                  <a:srgbClr val="000099"/>
                </a:solidFill>
                <a:latin typeface="Times New Roman" panose="02020603050405020304" pitchFamily="18" charset="0"/>
                <a:ea typeface="宋体" panose="02010600030101010101" pitchFamily="2" charset="-122"/>
              </a:rPr>
              <a:t>RL	   A					</a:t>
            </a:r>
          </a:p>
          <a:p>
            <a:r>
              <a:rPr lang="en-US" altLang="zh-CN" dirty="0">
                <a:solidFill>
                  <a:srgbClr val="000099"/>
                </a:solidFill>
                <a:latin typeface="Times New Roman" panose="02020603050405020304" pitchFamily="18" charset="0"/>
                <a:ea typeface="宋体" panose="02010600030101010101" pitchFamily="2" charset="-122"/>
              </a:rPr>
              <a:t> 		 MOV    P1</a:t>
            </a:r>
            <a:r>
              <a:rPr lang="zh-CN" altLang="en-US" dirty="0">
                <a:solidFill>
                  <a:srgbClr val="000099"/>
                </a:solidFill>
                <a:latin typeface="Times New Roman" panose="02020603050405020304" pitchFamily="18" charset="0"/>
                <a:ea typeface="宋体" panose="02010600030101010101" pitchFamily="2" charset="-122"/>
              </a:rPr>
              <a:t>，</a:t>
            </a:r>
            <a:r>
              <a:rPr lang="en-US" altLang="zh-CN" dirty="0">
                <a:solidFill>
                  <a:srgbClr val="000099"/>
                </a:solidFill>
                <a:latin typeface="Times New Roman" panose="02020603050405020304" pitchFamily="18" charset="0"/>
                <a:ea typeface="宋体" panose="02010600030101010101" pitchFamily="2" charset="-122"/>
              </a:rPr>
              <a:t>A		; (P1) = 0FCH </a:t>
            </a:r>
          </a:p>
          <a:p>
            <a:r>
              <a:rPr lang="en-US" altLang="zh-CN" dirty="0">
                <a:latin typeface="Times New Roman" panose="02020603050405020304" pitchFamily="18" charset="0"/>
                <a:ea typeface="宋体" panose="02010600030101010101" pitchFamily="2" charset="-122"/>
              </a:rPr>
              <a:t> 		 </a:t>
            </a:r>
            <a:r>
              <a:rPr lang="en-US" altLang="zh-CN" dirty="0">
                <a:solidFill>
                  <a:srgbClr val="990000"/>
                </a:solidFill>
                <a:latin typeface="Times New Roman" panose="02020603050405020304" pitchFamily="18" charset="0"/>
                <a:ea typeface="宋体" panose="02010600030101010101" pitchFamily="2" charset="-122"/>
              </a:rPr>
              <a:t>RL	   A				</a:t>
            </a:r>
          </a:p>
          <a:p>
            <a:r>
              <a:rPr lang="en-US" altLang="zh-CN" dirty="0">
                <a:solidFill>
                  <a:srgbClr val="990000"/>
                </a:solidFill>
                <a:latin typeface="Times New Roman" panose="02020603050405020304" pitchFamily="18" charset="0"/>
                <a:ea typeface="宋体" panose="02010600030101010101" pitchFamily="2" charset="-122"/>
              </a:rPr>
              <a:t> 		 MOV    P1</a:t>
            </a:r>
            <a:r>
              <a:rPr lang="zh-CN" altLang="en-US" dirty="0">
                <a:solidFill>
                  <a:srgbClr val="990000"/>
                </a:solidFill>
                <a:latin typeface="Times New Roman" panose="02020603050405020304" pitchFamily="18" charset="0"/>
                <a:ea typeface="宋体" panose="02010600030101010101" pitchFamily="2" charset="-122"/>
              </a:rPr>
              <a:t>，</a:t>
            </a:r>
            <a:r>
              <a:rPr lang="en-US" altLang="zh-CN" dirty="0">
                <a:solidFill>
                  <a:srgbClr val="990000"/>
                </a:solidFill>
                <a:latin typeface="Times New Roman" panose="02020603050405020304" pitchFamily="18" charset="0"/>
                <a:ea typeface="宋体" panose="02010600030101010101" pitchFamily="2" charset="-122"/>
              </a:rPr>
              <a:t>A		; (P1) = 0FBH</a:t>
            </a:r>
            <a:r>
              <a:rPr lang="en-US" altLang="zh-CN" dirty="0">
                <a:latin typeface="Times New Roman" panose="02020603050405020304" pitchFamily="18" charset="0"/>
                <a:ea typeface="宋体" panose="02010600030101010101" pitchFamily="2" charset="-122"/>
              </a:rPr>
              <a:t> </a:t>
            </a:r>
          </a:p>
          <a:p>
            <a:r>
              <a:rPr lang="en-US" altLang="zh-CN" dirty="0">
                <a:latin typeface="Times New Roman" panose="02020603050405020304" pitchFamily="18" charset="0"/>
                <a:ea typeface="宋体" panose="02010600030101010101" pitchFamily="2" charset="-122"/>
              </a:rPr>
              <a:t> 		 </a:t>
            </a:r>
            <a:r>
              <a:rPr lang="pt-BR" altLang="zh-CN" dirty="0">
                <a:latin typeface="Times New Roman" panose="02020603050405020304" pitchFamily="18" charset="0"/>
                <a:ea typeface="宋体" panose="02010600030101010101" pitchFamily="2" charset="-122"/>
              </a:rPr>
              <a:t>RL	   A					</a:t>
            </a:r>
          </a:p>
          <a:p>
            <a:r>
              <a:rPr lang="pt-BR" altLang="zh-CN" dirty="0">
                <a:latin typeface="Times New Roman" panose="02020603050405020304" pitchFamily="18" charset="0"/>
                <a:ea typeface="宋体" panose="02010600030101010101" pitchFamily="2" charset="-122"/>
              </a:rPr>
              <a:t> 		 MOV    P1</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A		; (P1) = 0F7H </a:t>
            </a:r>
          </a:p>
          <a:p>
            <a:r>
              <a:rPr lang="pt-BR" altLang="zh-CN"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RL	   A					</a:t>
            </a:r>
          </a:p>
          <a:p>
            <a:r>
              <a:rPr lang="en-US" altLang="zh-CN" dirty="0">
                <a:latin typeface="Times New Roman" panose="02020603050405020304" pitchFamily="18" charset="0"/>
                <a:ea typeface="宋体" panose="02010600030101010101" pitchFamily="2" charset="-122"/>
              </a:rPr>
              <a:t> 		 MOV    P1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 (P1) = 0EFH</a:t>
            </a:r>
          </a:p>
          <a:p>
            <a:r>
              <a:rPr lang="en-US" altLang="zh-CN" dirty="0">
                <a:latin typeface="Times New Roman" panose="02020603050405020304" pitchFamily="18" charset="0"/>
                <a:ea typeface="宋体" panose="02010600030101010101" pitchFamily="2" charset="-122"/>
              </a:rPr>
              <a:t> 		 RL	   A					</a:t>
            </a:r>
          </a:p>
          <a:p>
            <a:r>
              <a:rPr lang="en-US" altLang="zh-CN" dirty="0">
                <a:latin typeface="Times New Roman" panose="02020603050405020304" pitchFamily="18" charset="0"/>
                <a:ea typeface="宋体" panose="02010600030101010101" pitchFamily="2" charset="-122"/>
              </a:rPr>
              <a:t> 		 MOV    P1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 (P1) = 0CFH  </a:t>
            </a:r>
          </a:p>
          <a:p>
            <a:r>
              <a:rPr lang="en-US" altLang="zh-CN" dirty="0">
                <a:latin typeface="Times New Roman" panose="02020603050405020304" pitchFamily="18" charset="0"/>
                <a:ea typeface="宋体" panose="02010600030101010101" pitchFamily="2" charset="-122"/>
              </a:rPr>
              <a:t> 		 RL	   A					</a:t>
            </a:r>
          </a:p>
          <a:p>
            <a:r>
              <a:rPr lang="en-US" altLang="zh-CN" dirty="0">
                <a:latin typeface="Times New Roman" panose="02020603050405020304" pitchFamily="18" charset="0"/>
                <a:ea typeface="宋体" panose="02010600030101010101" pitchFamily="2" charset="-122"/>
              </a:rPr>
              <a:t> 		 MOV    P1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 (P1) = 0BFH</a:t>
            </a:r>
          </a:p>
          <a:p>
            <a:r>
              <a:rPr lang="en-US" altLang="zh-CN" dirty="0">
                <a:latin typeface="Times New Roman" panose="02020603050405020304" pitchFamily="18" charset="0"/>
                <a:ea typeface="宋体" panose="02010600030101010101" pitchFamily="2" charset="-122"/>
              </a:rPr>
              <a:t> 		 RL	   A					</a:t>
            </a:r>
          </a:p>
          <a:p>
            <a:r>
              <a:rPr lang="en-US" altLang="zh-CN" dirty="0">
                <a:latin typeface="Times New Roman" panose="02020603050405020304" pitchFamily="18" charset="0"/>
                <a:ea typeface="宋体" panose="02010600030101010101" pitchFamily="2" charset="-122"/>
              </a:rPr>
              <a:t> 		 MOV    P1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 (P1) = 7FH </a:t>
            </a:r>
          </a:p>
          <a:p>
            <a:r>
              <a:rPr lang="en-US" altLang="zh-CN" dirty="0">
                <a:latin typeface="Times New Roman" panose="02020603050405020304" pitchFamily="18" charset="0"/>
                <a:ea typeface="宋体" panose="02010600030101010101" pitchFamily="2" charset="-122"/>
              </a:rPr>
              <a:t> 		 END</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113</a:t>
            </a:fld>
            <a:endParaRPr lang="en-US" altLang="zh-CN" sz="1400" b="0" dirty="0"/>
          </a:p>
        </p:txBody>
      </p:sp>
      <p:sp>
        <p:nvSpPr>
          <p:cNvPr id="152578" name="Rectangle 2"/>
          <p:cNvSpPr/>
          <p:nvPr/>
        </p:nvSpPr>
        <p:spPr>
          <a:xfrm>
            <a:off x="457200" y="1143000"/>
            <a:ext cx="8077200" cy="4486275"/>
          </a:xfrm>
          <a:prstGeom prst="rect">
            <a:avLst/>
          </a:prstGeom>
          <a:noFill/>
          <a:ln w="9525">
            <a:noFill/>
          </a:ln>
        </p:spPr>
        <p:txBody>
          <a:bodyPr anchor="t" anchorCtr="0">
            <a:spAutoFit/>
          </a:bodyPr>
          <a:lstStyle/>
          <a:p>
            <a:pPr indent="285750" algn="ctr">
              <a:lnSpc>
                <a:spcPct val="140000"/>
              </a:lnSpc>
            </a:pPr>
            <a:r>
              <a:rPr lang="en-US" altLang="zh-CN" dirty="0">
                <a:solidFill>
                  <a:srgbClr val="FF0000"/>
                </a:solidFill>
                <a:latin typeface="Times New Roman" panose="02020603050405020304" pitchFamily="18" charset="0"/>
                <a:ea typeface="黑体" panose="02010609060101010101" pitchFamily="49" charset="-122"/>
              </a:rPr>
              <a:t>3.3.4  </a:t>
            </a:r>
            <a:r>
              <a:rPr lang="zh-CN" altLang="en-US" dirty="0">
                <a:solidFill>
                  <a:srgbClr val="FF0000"/>
                </a:solidFill>
                <a:latin typeface="Times New Roman" panose="02020603050405020304" pitchFamily="18" charset="0"/>
                <a:ea typeface="黑体" panose="02010609060101010101" pitchFamily="49" charset="-122"/>
              </a:rPr>
              <a:t>控制转移类指令</a:t>
            </a:r>
            <a:endParaRPr lang="zh-CN" altLang="en-US" dirty="0">
              <a:latin typeface="Times New Roman" panose="02020603050405020304" pitchFamily="18" charset="0"/>
              <a:ea typeface="宋体" panose="02010600030101010101" pitchFamily="2" charset="-122"/>
            </a:endParaRPr>
          </a:p>
          <a:p>
            <a:pPr indent="285750" algn="just" eaLnBrk="0" hangingPunct="0">
              <a:lnSpc>
                <a:spcPct val="150000"/>
              </a:lnSpc>
            </a:pPr>
            <a:r>
              <a:rPr lang="zh-CN" altLang="en-US" dirty="0">
                <a:latin typeface="Times New Roman" panose="02020603050405020304" pitchFamily="18" charset="0"/>
                <a:ea typeface="宋体" panose="02010600030101010101" pitchFamily="2" charset="-122"/>
              </a:rPr>
              <a:t>	</a:t>
            </a:r>
          </a:p>
          <a:p>
            <a:pPr indent="285750" algn="just" eaLnBrk="0" hangingPunct="0">
              <a:lnSpc>
                <a:spcPct val="150000"/>
              </a:lnSpc>
            </a:pPr>
            <a:r>
              <a:rPr lang="zh-CN" altLang="en-US" dirty="0">
                <a:latin typeface="Times New Roman" panose="02020603050405020304" pitchFamily="18" charset="0"/>
                <a:ea typeface="宋体" panose="02010600030101010101" pitchFamily="2" charset="-122"/>
              </a:rPr>
              <a:t>			无条件转移指令、</a:t>
            </a:r>
            <a:endParaRPr lang="zh-CN" altLang="en-US" dirty="0">
              <a:latin typeface="宋体" panose="02010600030101010101" pitchFamily="2" charset="-122"/>
              <a:ea typeface="宋体" panose="02010600030101010101" pitchFamily="2" charset="-122"/>
            </a:endParaRPr>
          </a:p>
          <a:p>
            <a:pPr indent="285750" algn="just" eaLnBrk="0" hangingPunct="0">
              <a:lnSpc>
                <a:spcPct val="150000"/>
              </a:lnSpc>
            </a:pPr>
            <a:r>
              <a:rPr lang="zh-CN" altLang="en-US" dirty="0">
                <a:latin typeface="Times New Roman" panose="02020603050405020304" pitchFamily="18" charset="0"/>
                <a:ea typeface="宋体" panose="02010600030101010101" pitchFamily="2" charset="-122"/>
              </a:rPr>
              <a:t>			条件转移指令、</a:t>
            </a:r>
            <a:endParaRPr lang="zh-CN" altLang="en-US" dirty="0">
              <a:latin typeface="宋体" panose="02010600030101010101" pitchFamily="2" charset="-122"/>
              <a:ea typeface="宋体" panose="02010600030101010101" pitchFamily="2" charset="-122"/>
            </a:endParaRPr>
          </a:p>
          <a:p>
            <a:pPr indent="285750" algn="just" eaLnBrk="0" hangingPunct="0">
              <a:lnSpc>
                <a:spcPct val="150000"/>
              </a:lnSpc>
            </a:pPr>
            <a:r>
              <a:rPr lang="zh-CN" altLang="en-US" dirty="0">
                <a:latin typeface="Times New Roman" panose="02020603050405020304" pitchFamily="18" charset="0"/>
                <a:ea typeface="宋体" panose="02010600030101010101" pitchFamily="2" charset="-122"/>
              </a:rPr>
              <a:t>			调用和返回指令</a:t>
            </a:r>
            <a:endParaRPr lang="zh-CN" altLang="en-US" dirty="0">
              <a:latin typeface="宋体" panose="02010600030101010101" pitchFamily="2" charset="-122"/>
              <a:ea typeface="宋体" panose="02010600030101010101" pitchFamily="2" charset="-122"/>
            </a:endParaRPr>
          </a:p>
          <a:p>
            <a:pPr indent="285750" algn="just" eaLnBrk="0" hangingPunct="0">
              <a:lnSpc>
                <a:spcPct val="150000"/>
              </a:lnSpc>
            </a:pPr>
            <a:r>
              <a:rPr lang="zh-CN" altLang="en-US" dirty="0">
                <a:latin typeface="Times New Roman" panose="02020603050405020304" pitchFamily="18" charset="0"/>
                <a:ea typeface="宋体" panose="02010600030101010101" pitchFamily="2" charset="-122"/>
              </a:rPr>
              <a:t>			空操作指令等。</a:t>
            </a:r>
            <a:endParaRPr lang="zh-CN" altLang="en-US" dirty="0">
              <a:latin typeface="宋体" panose="02010600030101010101" pitchFamily="2" charset="-122"/>
              <a:ea typeface="宋体" panose="02010600030101010101" pitchFamily="2" charset="-122"/>
            </a:endParaRPr>
          </a:p>
          <a:p>
            <a:pPr indent="285750" algn="just" eaLnBrk="0" hangingPunct="0">
              <a:lnSpc>
                <a:spcPct val="150000"/>
              </a:lnSpc>
            </a:pPr>
            <a:endParaRPr lang="zh-CN" altLang="en-US" dirty="0">
              <a:latin typeface="Times New Roman" panose="02020603050405020304" pitchFamily="18" charset="0"/>
              <a:ea typeface="宋体" panose="02010600030101010101" pitchFamily="2" charset="-122"/>
            </a:endParaRPr>
          </a:p>
          <a:p>
            <a:pPr indent="285750" algn="just" eaLnBrk="0" hangingPunct="0">
              <a:lnSpc>
                <a:spcPct val="150000"/>
              </a:lnSpc>
            </a:pPr>
            <a:r>
              <a:rPr lang="zh-CN" altLang="en-US" dirty="0">
                <a:latin typeface="Times New Roman" panose="02020603050405020304" pitchFamily="18" charset="0"/>
                <a:ea typeface="宋体" panose="02010600030101010101" pitchFamily="2" charset="-122"/>
              </a:rPr>
              <a:t>                     该类指令多数不影响程序状态标志寄存器。</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114</a:t>
            </a:fld>
            <a:endParaRPr lang="en-US" altLang="zh-CN" sz="1400" b="0" dirty="0"/>
          </a:p>
        </p:txBody>
      </p:sp>
      <p:sp>
        <p:nvSpPr>
          <p:cNvPr id="72706" name="Rectangle 2"/>
          <p:cNvSpPr/>
          <p:nvPr/>
        </p:nvSpPr>
        <p:spPr>
          <a:xfrm>
            <a:off x="0" y="765175"/>
            <a:ext cx="9144000" cy="1844675"/>
          </a:xfrm>
          <a:prstGeom prst="rect">
            <a:avLst/>
          </a:prstGeom>
          <a:noFill/>
          <a:ln w="9525">
            <a:noFill/>
          </a:ln>
        </p:spPr>
        <p:txBody>
          <a:bodyPr anchor="t" anchorCtr="0">
            <a:spAutoFit/>
          </a:bodyPr>
          <a:lstStyle/>
          <a:p>
            <a:pPr indent="268605" algn="just"/>
            <a:r>
              <a:rPr lang="en-US" altLang="zh-CN" dirty="0">
                <a:solidFill>
                  <a:srgbClr val="FF0000"/>
                </a:solidFill>
                <a:latin typeface="Times New Roman" panose="02020603050405020304" pitchFamily="18" charset="0"/>
                <a:ea typeface="宋体" panose="02010600030101010101" pitchFamily="2" charset="-122"/>
              </a:rPr>
              <a:t> 1</a:t>
            </a:r>
            <a:r>
              <a:rPr lang="zh-CN" altLang="en-US" dirty="0">
                <a:solidFill>
                  <a:srgbClr val="FF0000"/>
                </a:solidFill>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黑体" panose="02010609060101010101" pitchFamily="49" charset="-122"/>
              </a:rPr>
              <a:t>无条件转移指令组</a:t>
            </a:r>
            <a:endParaRPr lang="zh-CN" altLang="en-US" b="0" dirty="0">
              <a:latin typeface="宋体" panose="02010600030101010101" pitchFamily="2" charset="-122"/>
              <a:ea typeface="宋体" panose="02010600030101010101" pitchFamily="2" charset="-122"/>
            </a:endParaRPr>
          </a:p>
          <a:p>
            <a:pPr indent="268605" algn="just" eaLnBrk="0" hangingPunct="0">
              <a:spcBef>
                <a:spcPct val="40000"/>
              </a:spcBef>
            </a:pP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1</a:t>
            </a:r>
            <a:r>
              <a:rPr lang="zh-CN" altLang="en-US" dirty="0">
                <a:solidFill>
                  <a:srgbClr val="0000FF"/>
                </a:solidFill>
                <a:latin typeface="Times New Roman" panose="02020603050405020304" pitchFamily="18" charset="0"/>
                <a:ea typeface="宋体" panose="02010600030101010101" pitchFamily="2" charset="-122"/>
              </a:rPr>
              <a:t>） 长转移指令</a:t>
            </a:r>
            <a:endParaRPr lang="zh-CN" altLang="en-US" b="0" dirty="0">
              <a:latin typeface="宋体" panose="02010600030101010101" pitchFamily="2" charset="-122"/>
              <a:ea typeface="宋体" panose="02010600030101010101" pitchFamily="2" charset="-122"/>
            </a:endParaRPr>
          </a:p>
          <a:p>
            <a:pPr indent="268605" algn="just" eaLnBrk="0" hangingPunct="0">
              <a:lnSpc>
                <a:spcPct val="120000"/>
              </a:lnSpc>
            </a:pPr>
            <a:r>
              <a:rPr lang="zh-CN" altLang="en-US" dirty="0">
                <a:solidFill>
                  <a:srgbClr val="0000FF"/>
                </a:solidFill>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LJMP   addr16		</a:t>
            </a:r>
          </a:p>
          <a:p>
            <a:pPr indent="268605" algn="just" eaLnBrk="0" hangingPunct="0">
              <a:lnSpc>
                <a:spcPct val="120000"/>
              </a:lnSpc>
            </a:pPr>
            <a:r>
              <a:rPr lang="en-US" altLang="zh-CN" dirty="0">
                <a:solidFill>
                  <a:srgbClr val="0000FF"/>
                </a:solidFill>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；跳转范围  </a:t>
            </a:r>
            <a:r>
              <a:rPr lang="en-US" altLang="zh-CN" dirty="0">
                <a:latin typeface="Times New Roman" panose="02020603050405020304" pitchFamily="18" charset="0"/>
                <a:ea typeface="宋体" panose="02010600030101010101" pitchFamily="2" charset="-122"/>
              </a:rPr>
              <a:t>64KB</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PC←addr16</a:t>
            </a:r>
            <a:r>
              <a:rPr lang="zh-CN" altLang="en-US" dirty="0">
                <a:latin typeface="Times New Roman" panose="02020603050405020304" pitchFamily="18" charset="0"/>
                <a:ea typeface="宋体" panose="02010600030101010101" pitchFamily="2" charset="-122"/>
              </a:rPr>
              <a:t>， 三字节指令</a:t>
            </a:r>
            <a:endParaRPr lang="zh-CN" altLang="en-US" b="0" dirty="0">
              <a:latin typeface="宋体" panose="02010600030101010101" pitchFamily="2" charset="-122"/>
              <a:ea typeface="宋体" panose="02010600030101010101" pitchFamily="2" charset="-122"/>
            </a:endParaRPr>
          </a:p>
        </p:txBody>
      </p:sp>
      <p:sp>
        <p:nvSpPr>
          <p:cNvPr id="72709" name="Text Box 5"/>
          <p:cNvSpPr txBox="1"/>
          <p:nvPr/>
        </p:nvSpPr>
        <p:spPr>
          <a:xfrm>
            <a:off x="250825" y="3141663"/>
            <a:ext cx="8424863" cy="968375"/>
          </a:xfrm>
          <a:prstGeom prst="rect">
            <a:avLst/>
          </a:prstGeom>
          <a:noFill/>
          <a:ln w="9525">
            <a:noFill/>
          </a:ln>
        </p:spPr>
        <p:txBody>
          <a:bodyPr anchor="t" anchorCtr="0">
            <a:spAutoFit/>
          </a:bodyPr>
          <a:lstStyle/>
          <a:p>
            <a:pPr>
              <a:lnSpc>
                <a:spcPct val="120000"/>
              </a:lnSpc>
              <a:spcBef>
                <a:spcPct val="50000"/>
              </a:spcBef>
            </a:pP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4-12  </a:t>
            </a:r>
            <a:r>
              <a:rPr lang="zh-CN" altLang="en-US" dirty="0">
                <a:latin typeface="Times New Roman" panose="02020603050405020304" pitchFamily="18" charset="0"/>
                <a:ea typeface="宋体" panose="02010600030101010101" pitchFamily="2" charset="-122"/>
              </a:rPr>
              <a:t>用</a:t>
            </a:r>
            <a:r>
              <a:rPr lang="en-US" altLang="zh-CN" dirty="0">
                <a:latin typeface="Times New Roman" panose="02020603050405020304" pitchFamily="18" charset="0"/>
                <a:ea typeface="宋体" panose="02010600030101010101" pitchFamily="2" charset="-122"/>
              </a:rPr>
              <a:t>LJMP</a:t>
            </a:r>
            <a:r>
              <a:rPr lang="zh-CN" altLang="en-US" dirty="0">
                <a:latin typeface="Times New Roman" panose="02020603050405020304" pitchFamily="18" charset="0"/>
                <a:ea typeface="宋体" panose="02010600030101010101" pitchFamily="2" charset="-122"/>
              </a:rPr>
              <a:t>编写汇编语言源程序使图</a:t>
            </a:r>
            <a:r>
              <a:rPr lang="en-US" altLang="zh-CN" dirty="0">
                <a:latin typeface="Times New Roman" panose="02020603050405020304" pitchFamily="18" charset="0"/>
                <a:ea typeface="宋体" panose="02010600030101010101" pitchFamily="2" charset="-122"/>
              </a:rPr>
              <a:t>2-1</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LED</a:t>
            </a:r>
            <a:r>
              <a:rPr lang="zh-CN" altLang="en-US" dirty="0">
                <a:latin typeface="Times New Roman" panose="02020603050405020304" pitchFamily="18" charset="0"/>
                <a:ea typeface="宋体" panose="02010600030101010101" pitchFamily="2" charset="-122"/>
              </a:rPr>
              <a:t>从</a:t>
            </a:r>
            <a:r>
              <a:rPr lang="en-US" altLang="zh-CN" dirty="0">
                <a:solidFill>
                  <a:srgbClr val="990000"/>
                </a:solidFill>
                <a:latin typeface="Times New Roman" panose="02020603050405020304" pitchFamily="18" charset="0"/>
                <a:ea typeface="宋体" panose="02010600030101010101" pitchFamily="2" charset="-122"/>
              </a:rPr>
              <a:t>LED0</a:t>
            </a:r>
            <a:r>
              <a:rPr lang="zh-CN" altLang="en-US" dirty="0">
                <a:solidFill>
                  <a:srgbClr val="990000"/>
                </a:solidFill>
                <a:latin typeface="Times New Roman" panose="02020603050405020304" pitchFamily="18" charset="0"/>
                <a:ea typeface="宋体" panose="02010600030101010101" pitchFamily="2" charset="-122"/>
              </a:rPr>
              <a:t>到</a:t>
            </a:r>
            <a:r>
              <a:rPr lang="en-US" altLang="zh-CN" dirty="0">
                <a:solidFill>
                  <a:srgbClr val="990000"/>
                </a:solidFill>
                <a:latin typeface="Times New Roman" panose="02020603050405020304" pitchFamily="18" charset="0"/>
                <a:ea typeface="宋体" panose="02010600030101010101" pitchFamily="2" charset="-122"/>
              </a:rPr>
              <a:t>LED7</a:t>
            </a:r>
            <a:r>
              <a:rPr lang="zh-CN" altLang="en-US" dirty="0">
                <a:solidFill>
                  <a:srgbClr val="990000"/>
                </a:solidFill>
                <a:latin typeface="Times New Roman" panose="02020603050405020304" pitchFamily="18" charset="0"/>
                <a:ea typeface="宋体" panose="02010600030101010101" pitchFamily="2" charset="-122"/>
              </a:rPr>
              <a:t>依次单个点亮，且如此循环。</a:t>
            </a:r>
            <a:r>
              <a:rPr lang="zh-CN" altLang="en-US" dirty="0">
                <a:latin typeface="Times New Roman" panose="02020603050405020304" pitchFamily="18" charset="0"/>
                <a:ea typeface="宋体" panose="02010600030101010101" pitchFamily="2" charset="-122"/>
              </a:rPr>
              <a:t> </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115</a:t>
            </a:fld>
            <a:endParaRPr lang="en-US" altLang="zh-CN" sz="1400" b="0" dirty="0"/>
          </a:p>
        </p:txBody>
      </p:sp>
      <p:sp>
        <p:nvSpPr>
          <p:cNvPr id="154626" name="Text Box 4"/>
          <p:cNvSpPr txBox="1"/>
          <p:nvPr/>
        </p:nvSpPr>
        <p:spPr>
          <a:xfrm>
            <a:off x="755650" y="0"/>
            <a:ext cx="8388350" cy="6664325"/>
          </a:xfrm>
          <a:prstGeom prst="rect">
            <a:avLst/>
          </a:prstGeom>
          <a:solidFill>
            <a:schemeClr val="hlink"/>
          </a:solidFill>
          <a:ln w="9525">
            <a:noFill/>
          </a:ln>
        </p:spPr>
        <p:txBody>
          <a:bodyPr anchor="t" anchorCtr="0">
            <a:spAutoFit/>
          </a:bodyPr>
          <a:lstStyle/>
          <a:p>
            <a:r>
              <a:rPr lang="en-US" altLang="zh-CN" dirty="0">
                <a:latin typeface="Times New Roman" panose="02020603050405020304" pitchFamily="18" charset="0"/>
                <a:ea typeface="宋体" panose="02010600030101010101" pitchFamily="2" charset="-122"/>
              </a:rPr>
              <a:t>                         ORG   0000H</a:t>
            </a:r>
          </a:p>
          <a:p>
            <a:r>
              <a:rPr lang="en-US" altLang="zh-CN" dirty="0">
                <a:latin typeface="Times New Roman" panose="02020603050405020304" pitchFamily="18" charset="0"/>
                <a:ea typeface="宋体" panose="02010600030101010101" pitchFamily="2" charset="-122"/>
              </a:rPr>
              <a:t>START:	 MOV  A</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#0FEH	</a:t>
            </a:r>
            <a:r>
              <a:rPr lang="en-US" altLang="zh-CN" dirty="0">
                <a:latin typeface="Times New Roman" panose="02020603050405020304" pitchFamily="18" charset="0"/>
                <a:ea typeface="宋体" panose="02010600030101010101" pitchFamily="2" charset="-122"/>
              </a:rPr>
              <a:t>	; </a:t>
            </a:r>
            <a:r>
              <a:rPr lang="zh-CN" altLang="en-US" dirty="0">
                <a:latin typeface="Times New Roman" panose="02020603050405020304" pitchFamily="18" charset="0"/>
                <a:ea typeface="宋体" panose="02010600030101010101" pitchFamily="2" charset="-122"/>
              </a:rPr>
              <a:t>循环时的初始数据</a:t>
            </a:r>
          </a:p>
          <a:p>
            <a:r>
              <a:rPr lang="zh-CN" altLang="en-US" dirty="0">
                <a:latin typeface="Times New Roman" panose="02020603050405020304" pitchFamily="18" charset="0"/>
                <a:ea typeface="宋体" panose="02010600030101010101" pitchFamily="2" charset="-122"/>
              </a:rPr>
              <a:t> 		 </a:t>
            </a:r>
            <a:r>
              <a:rPr lang="en-US" altLang="zh-CN" dirty="0">
                <a:solidFill>
                  <a:srgbClr val="990000"/>
                </a:solidFill>
                <a:latin typeface="Times New Roman" panose="02020603050405020304" pitchFamily="18" charset="0"/>
                <a:ea typeface="宋体" panose="02010600030101010101" pitchFamily="2" charset="-122"/>
              </a:rPr>
              <a:t>MOV  P1</a:t>
            </a:r>
            <a:r>
              <a:rPr lang="zh-CN" altLang="en-US" dirty="0">
                <a:solidFill>
                  <a:srgbClr val="990000"/>
                </a:solidFill>
                <a:latin typeface="Times New Roman" panose="02020603050405020304" pitchFamily="18" charset="0"/>
                <a:ea typeface="宋体" panose="02010600030101010101" pitchFamily="2" charset="-122"/>
              </a:rPr>
              <a:t>，</a:t>
            </a:r>
            <a:r>
              <a:rPr lang="en-US" altLang="zh-CN" dirty="0">
                <a:solidFill>
                  <a:srgbClr val="990000"/>
                </a:solidFill>
                <a:latin typeface="Times New Roman" panose="02020603050405020304" pitchFamily="18" charset="0"/>
                <a:ea typeface="宋体" panose="02010600030101010101" pitchFamily="2" charset="-122"/>
              </a:rPr>
              <a:t>A		; </a:t>
            </a:r>
            <a:r>
              <a:rPr lang="zh-CN" altLang="en-US" dirty="0">
                <a:solidFill>
                  <a:srgbClr val="990000"/>
                </a:solidFill>
                <a:latin typeface="Times New Roman" panose="02020603050405020304" pitchFamily="18" charset="0"/>
                <a:ea typeface="宋体" panose="02010600030101010101" pitchFamily="2" charset="-122"/>
              </a:rPr>
              <a:t>点亮</a:t>
            </a:r>
            <a:r>
              <a:rPr lang="en-US" altLang="zh-CN" dirty="0">
                <a:solidFill>
                  <a:srgbClr val="990000"/>
                </a:solidFill>
                <a:latin typeface="Times New Roman" panose="02020603050405020304" pitchFamily="18" charset="0"/>
                <a:ea typeface="宋体" panose="02010600030101010101" pitchFamily="2" charset="-122"/>
              </a:rPr>
              <a:t>LED0</a:t>
            </a:r>
          </a:p>
          <a:p>
            <a:r>
              <a:rPr lang="en-US" altLang="zh-CN" dirty="0">
                <a:solidFill>
                  <a:srgbClr val="990000"/>
                </a:solidFill>
                <a:latin typeface="Times New Roman" panose="02020603050405020304" pitchFamily="18" charset="0"/>
                <a:ea typeface="宋体" panose="02010600030101010101" pitchFamily="2" charset="-122"/>
              </a:rPr>
              <a:t> 		 RL	   A		</a:t>
            </a:r>
            <a:r>
              <a:rPr lang="en-US" altLang="zh-CN" dirty="0">
                <a:solidFill>
                  <a:srgbClr val="000099"/>
                </a:solidFill>
                <a:latin typeface="Times New Roman" panose="02020603050405020304" pitchFamily="18" charset="0"/>
                <a:ea typeface="宋体" panose="02010600030101010101" pitchFamily="2" charset="-122"/>
              </a:rPr>
              <a:t>			</a:t>
            </a:r>
          </a:p>
          <a:p>
            <a:r>
              <a:rPr lang="en-US" altLang="zh-CN" dirty="0">
                <a:solidFill>
                  <a:srgbClr val="000099"/>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MOV  P1</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A		; (P1) = 0FCH </a:t>
            </a:r>
          </a:p>
          <a:p>
            <a:r>
              <a:rPr lang="en-US" altLang="zh-CN" dirty="0">
                <a:solidFill>
                  <a:srgbClr val="FF0000"/>
                </a:solidFill>
                <a:latin typeface="Times New Roman" panose="02020603050405020304" pitchFamily="18" charset="0"/>
                <a:ea typeface="宋体" panose="02010600030101010101" pitchFamily="2" charset="-122"/>
              </a:rPr>
              <a:t> 		 RL	   A		</a:t>
            </a:r>
            <a:r>
              <a:rPr lang="en-US" altLang="zh-CN" dirty="0">
                <a:solidFill>
                  <a:srgbClr val="990000"/>
                </a:solidFill>
                <a:latin typeface="Times New Roman" panose="02020603050405020304" pitchFamily="18" charset="0"/>
                <a:ea typeface="宋体" panose="02010600030101010101" pitchFamily="2" charset="-122"/>
              </a:rPr>
              <a:t>		</a:t>
            </a:r>
          </a:p>
          <a:p>
            <a:r>
              <a:rPr lang="en-US" altLang="zh-CN" dirty="0">
                <a:solidFill>
                  <a:srgbClr val="990000"/>
                </a:solidFill>
                <a:latin typeface="Times New Roman" panose="02020603050405020304" pitchFamily="18" charset="0"/>
                <a:ea typeface="宋体" panose="02010600030101010101" pitchFamily="2" charset="-122"/>
              </a:rPr>
              <a:t> 		 </a:t>
            </a:r>
            <a:r>
              <a:rPr lang="en-US" altLang="zh-CN" dirty="0">
                <a:solidFill>
                  <a:srgbClr val="000099"/>
                </a:solidFill>
                <a:latin typeface="Times New Roman" panose="02020603050405020304" pitchFamily="18" charset="0"/>
                <a:ea typeface="宋体" panose="02010600030101010101" pitchFamily="2" charset="-122"/>
              </a:rPr>
              <a:t>MOV  P1</a:t>
            </a:r>
            <a:r>
              <a:rPr lang="zh-CN" altLang="en-US" dirty="0">
                <a:solidFill>
                  <a:srgbClr val="000099"/>
                </a:solidFill>
                <a:latin typeface="Times New Roman" panose="02020603050405020304" pitchFamily="18" charset="0"/>
                <a:ea typeface="宋体" panose="02010600030101010101" pitchFamily="2" charset="-122"/>
              </a:rPr>
              <a:t>，</a:t>
            </a:r>
            <a:r>
              <a:rPr lang="en-US" altLang="zh-CN" dirty="0">
                <a:solidFill>
                  <a:srgbClr val="000099"/>
                </a:solidFill>
                <a:latin typeface="Times New Roman" panose="02020603050405020304" pitchFamily="18" charset="0"/>
                <a:ea typeface="宋体" panose="02010600030101010101" pitchFamily="2" charset="-122"/>
              </a:rPr>
              <a:t>A		; (P1) = 0FBH </a:t>
            </a:r>
          </a:p>
          <a:p>
            <a:r>
              <a:rPr lang="en-US" altLang="zh-CN" dirty="0">
                <a:solidFill>
                  <a:srgbClr val="000099"/>
                </a:solidFill>
                <a:latin typeface="Times New Roman" panose="02020603050405020304" pitchFamily="18" charset="0"/>
                <a:ea typeface="宋体" panose="02010600030101010101" pitchFamily="2" charset="-122"/>
              </a:rPr>
              <a:t> 		 </a:t>
            </a:r>
            <a:r>
              <a:rPr lang="pt-BR" altLang="zh-CN" dirty="0">
                <a:solidFill>
                  <a:srgbClr val="000099"/>
                </a:solidFill>
                <a:latin typeface="Times New Roman" panose="02020603050405020304" pitchFamily="18" charset="0"/>
                <a:ea typeface="宋体" panose="02010600030101010101" pitchFamily="2" charset="-122"/>
              </a:rPr>
              <a:t>RL	   A				</a:t>
            </a:r>
            <a:r>
              <a:rPr lang="pt-BR" altLang="zh-CN" dirty="0">
                <a:latin typeface="Times New Roman" panose="02020603050405020304" pitchFamily="18" charset="0"/>
                <a:ea typeface="宋体" panose="02010600030101010101" pitchFamily="2" charset="-122"/>
              </a:rPr>
              <a:t>	</a:t>
            </a:r>
          </a:p>
          <a:p>
            <a:r>
              <a:rPr lang="pt-BR" altLang="zh-CN" dirty="0">
                <a:latin typeface="Times New Roman" panose="02020603050405020304" pitchFamily="18" charset="0"/>
                <a:ea typeface="宋体" panose="02010600030101010101" pitchFamily="2" charset="-122"/>
              </a:rPr>
              <a:t> 		 MOV  P1</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A		; (P1) = 0F7H </a:t>
            </a:r>
          </a:p>
          <a:p>
            <a:r>
              <a:rPr lang="pt-BR" altLang="zh-CN"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RL	   A					</a:t>
            </a:r>
          </a:p>
          <a:p>
            <a:r>
              <a:rPr lang="en-US" altLang="zh-CN" dirty="0">
                <a:latin typeface="Times New Roman" panose="02020603050405020304" pitchFamily="18" charset="0"/>
                <a:ea typeface="宋体" panose="02010600030101010101" pitchFamily="2" charset="-122"/>
              </a:rPr>
              <a:t> 		 MOV  P1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 (P1) = 0EFH</a:t>
            </a:r>
          </a:p>
          <a:p>
            <a:r>
              <a:rPr lang="en-US" altLang="zh-CN" dirty="0">
                <a:latin typeface="Times New Roman" panose="02020603050405020304" pitchFamily="18" charset="0"/>
                <a:ea typeface="宋体" panose="02010600030101010101" pitchFamily="2" charset="-122"/>
              </a:rPr>
              <a:t> 		 RL	   A					</a:t>
            </a:r>
          </a:p>
          <a:p>
            <a:r>
              <a:rPr lang="en-US" altLang="zh-CN" dirty="0">
                <a:latin typeface="Times New Roman" panose="02020603050405020304" pitchFamily="18" charset="0"/>
                <a:ea typeface="宋体" panose="02010600030101010101" pitchFamily="2" charset="-122"/>
              </a:rPr>
              <a:t> 		 MOV  P1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 (P1) = 0CFH  </a:t>
            </a:r>
          </a:p>
          <a:p>
            <a:r>
              <a:rPr lang="en-US" altLang="zh-CN" dirty="0">
                <a:latin typeface="Times New Roman" panose="02020603050405020304" pitchFamily="18" charset="0"/>
                <a:ea typeface="宋体" panose="02010600030101010101" pitchFamily="2" charset="-122"/>
              </a:rPr>
              <a:t> 		 RL	   A					</a:t>
            </a:r>
          </a:p>
          <a:p>
            <a:r>
              <a:rPr lang="en-US" altLang="zh-CN" dirty="0">
                <a:latin typeface="Times New Roman" panose="02020603050405020304" pitchFamily="18" charset="0"/>
                <a:ea typeface="宋体" panose="02010600030101010101" pitchFamily="2" charset="-122"/>
              </a:rPr>
              <a:t> 		 MOV  P1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 (P1) = 0BFH</a:t>
            </a:r>
          </a:p>
          <a:p>
            <a:r>
              <a:rPr lang="en-US" altLang="zh-CN" dirty="0">
                <a:latin typeface="Times New Roman" panose="02020603050405020304" pitchFamily="18" charset="0"/>
                <a:ea typeface="宋体" panose="02010600030101010101" pitchFamily="2" charset="-122"/>
              </a:rPr>
              <a:t> 		 RL	   A					</a:t>
            </a:r>
          </a:p>
          <a:p>
            <a:r>
              <a:rPr lang="en-US" altLang="zh-CN" dirty="0">
                <a:latin typeface="Times New Roman" panose="02020603050405020304" pitchFamily="18" charset="0"/>
                <a:ea typeface="宋体" panose="02010600030101010101" pitchFamily="2" charset="-122"/>
              </a:rPr>
              <a:t> 		 MOV  P1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 (P1) = 7FH </a:t>
            </a:r>
          </a:p>
          <a:p>
            <a:r>
              <a:rPr lang="en-US" altLang="zh-CN" dirty="0">
                <a:latin typeface="Times New Roman" panose="02020603050405020304" pitchFamily="18" charset="0"/>
                <a:ea typeface="宋体" panose="02010600030101010101" pitchFamily="2" charset="-122"/>
              </a:rPr>
              <a:t> 		 END</a:t>
            </a:r>
          </a:p>
        </p:txBody>
      </p:sp>
      <p:sp>
        <p:nvSpPr>
          <p:cNvPr id="154627" name="Text Box 5"/>
          <p:cNvSpPr txBox="1"/>
          <p:nvPr/>
        </p:nvSpPr>
        <p:spPr>
          <a:xfrm>
            <a:off x="755650" y="0"/>
            <a:ext cx="8388350" cy="6664325"/>
          </a:xfrm>
          <a:prstGeom prst="rect">
            <a:avLst/>
          </a:prstGeom>
          <a:solidFill>
            <a:schemeClr val="hlink"/>
          </a:solidFill>
          <a:ln w="9525">
            <a:noFill/>
          </a:ln>
        </p:spPr>
        <p:txBody>
          <a:bodyPr anchor="t" anchorCtr="0">
            <a:spAutoFit/>
          </a:bodyPr>
          <a:lstStyle/>
          <a:p>
            <a:r>
              <a:rPr lang="en-US" altLang="zh-CN" dirty="0">
                <a:latin typeface="Times New Roman" panose="02020603050405020304" pitchFamily="18" charset="0"/>
                <a:ea typeface="宋体" panose="02010600030101010101" pitchFamily="2" charset="-122"/>
              </a:rPr>
              <a:t>                         ORG   0000H</a:t>
            </a:r>
          </a:p>
          <a:p>
            <a:r>
              <a:rPr lang="en-US" altLang="zh-CN" dirty="0">
                <a:latin typeface="Times New Roman" panose="02020603050405020304" pitchFamily="18" charset="0"/>
                <a:ea typeface="宋体" panose="02010600030101010101" pitchFamily="2" charset="-122"/>
              </a:rPr>
              <a:t>START:	 MOV  A</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#0FEH	</a:t>
            </a:r>
            <a:r>
              <a:rPr lang="en-US" altLang="zh-CN" dirty="0">
                <a:latin typeface="Times New Roman" panose="02020603050405020304" pitchFamily="18" charset="0"/>
                <a:ea typeface="宋体" panose="02010600030101010101" pitchFamily="2" charset="-122"/>
              </a:rPr>
              <a:t>	; </a:t>
            </a:r>
            <a:r>
              <a:rPr lang="zh-CN" altLang="en-US" dirty="0">
                <a:latin typeface="Times New Roman" panose="02020603050405020304" pitchFamily="18" charset="0"/>
                <a:ea typeface="宋体" panose="02010600030101010101" pitchFamily="2" charset="-122"/>
              </a:rPr>
              <a:t>循环时的初始数据</a:t>
            </a:r>
          </a:p>
          <a:p>
            <a:r>
              <a:rPr lang="zh-CN" altLang="en-US" dirty="0">
                <a:latin typeface="Times New Roman" panose="02020603050405020304" pitchFamily="18" charset="0"/>
                <a:ea typeface="宋体" panose="02010600030101010101" pitchFamily="2" charset="-122"/>
              </a:rPr>
              <a:t> 		 </a:t>
            </a:r>
            <a:r>
              <a:rPr lang="en-US" altLang="zh-CN" dirty="0">
                <a:solidFill>
                  <a:srgbClr val="990000"/>
                </a:solidFill>
                <a:latin typeface="Times New Roman" panose="02020603050405020304" pitchFamily="18" charset="0"/>
                <a:ea typeface="宋体" panose="02010600030101010101" pitchFamily="2" charset="-122"/>
              </a:rPr>
              <a:t>MOV  P1</a:t>
            </a:r>
            <a:r>
              <a:rPr lang="zh-CN" altLang="en-US" dirty="0">
                <a:solidFill>
                  <a:srgbClr val="990000"/>
                </a:solidFill>
                <a:latin typeface="Times New Roman" panose="02020603050405020304" pitchFamily="18" charset="0"/>
                <a:ea typeface="宋体" panose="02010600030101010101" pitchFamily="2" charset="-122"/>
              </a:rPr>
              <a:t>，</a:t>
            </a:r>
            <a:r>
              <a:rPr lang="en-US" altLang="zh-CN" dirty="0">
                <a:solidFill>
                  <a:srgbClr val="990000"/>
                </a:solidFill>
                <a:latin typeface="Times New Roman" panose="02020603050405020304" pitchFamily="18" charset="0"/>
                <a:ea typeface="宋体" panose="02010600030101010101" pitchFamily="2" charset="-122"/>
              </a:rPr>
              <a:t>A		; </a:t>
            </a:r>
            <a:r>
              <a:rPr lang="zh-CN" altLang="en-US" dirty="0">
                <a:solidFill>
                  <a:srgbClr val="990000"/>
                </a:solidFill>
                <a:latin typeface="Times New Roman" panose="02020603050405020304" pitchFamily="18" charset="0"/>
                <a:ea typeface="宋体" panose="02010600030101010101" pitchFamily="2" charset="-122"/>
              </a:rPr>
              <a:t>点亮</a:t>
            </a:r>
            <a:r>
              <a:rPr lang="en-US" altLang="zh-CN" dirty="0">
                <a:solidFill>
                  <a:srgbClr val="990000"/>
                </a:solidFill>
                <a:latin typeface="Times New Roman" panose="02020603050405020304" pitchFamily="18" charset="0"/>
                <a:ea typeface="宋体" panose="02010600030101010101" pitchFamily="2" charset="-122"/>
              </a:rPr>
              <a:t>LED0</a:t>
            </a:r>
          </a:p>
          <a:p>
            <a:r>
              <a:rPr lang="en-US" altLang="zh-CN" dirty="0">
                <a:solidFill>
                  <a:srgbClr val="990000"/>
                </a:solidFill>
                <a:latin typeface="Times New Roman" panose="02020603050405020304" pitchFamily="18" charset="0"/>
                <a:ea typeface="宋体" panose="02010600030101010101" pitchFamily="2" charset="-122"/>
              </a:rPr>
              <a:t> 		 RL	   A		</a:t>
            </a:r>
            <a:r>
              <a:rPr lang="en-US" altLang="zh-CN" dirty="0">
                <a:solidFill>
                  <a:srgbClr val="000099"/>
                </a:solidFill>
                <a:latin typeface="Times New Roman" panose="02020603050405020304" pitchFamily="18" charset="0"/>
                <a:ea typeface="宋体" panose="02010600030101010101" pitchFamily="2" charset="-122"/>
              </a:rPr>
              <a:t>			</a:t>
            </a:r>
          </a:p>
          <a:p>
            <a:r>
              <a:rPr lang="en-US" altLang="zh-CN" dirty="0">
                <a:solidFill>
                  <a:srgbClr val="000099"/>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MOV  P1</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A		; (P1) = 0FCH </a:t>
            </a:r>
          </a:p>
          <a:p>
            <a:r>
              <a:rPr lang="en-US" altLang="zh-CN" dirty="0">
                <a:solidFill>
                  <a:srgbClr val="FF0000"/>
                </a:solidFill>
                <a:latin typeface="Times New Roman" panose="02020603050405020304" pitchFamily="18" charset="0"/>
                <a:ea typeface="宋体" panose="02010600030101010101" pitchFamily="2" charset="-122"/>
              </a:rPr>
              <a:t> 		 RL	   A		</a:t>
            </a:r>
            <a:r>
              <a:rPr lang="en-US" altLang="zh-CN" dirty="0">
                <a:solidFill>
                  <a:srgbClr val="990000"/>
                </a:solidFill>
                <a:latin typeface="Times New Roman" panose="02020603050405020304" pitchFamily="18" charset="0"/>
                <a:ea typeface="宋体" panose="02010600030101010101" pitchFamily="2" charset="-122"/>
              </a:rPr>
              <a:t>		</a:t>
            </a:r>
          </a:p>
          <a:p>
            <a:r>
              <a:rPr lang="en-US" altLang="zh-CN" dirty="0">
                <a:solidFill>
                  <a:srgbClr val="990000"/>
                </a:solidFill>
                <a:latin typeface="Times New Roman" panose="02020603050405020304" pitchFamily="18" charset="0"/>
                <a:ea typeface="宋体" panose="02010600030101010101" pitchFamily="2" charset="-122"/>
              </a:rPr>
              <a:t> 		 </a:t>
            </a:r>
            <a:r>
              <a:rPr lang="en-US" altLang="zh-CN" dirty="0">
                <a:solidFill>
                  <a:srgbClr val="000099"/>
                </a:solidFill>
                <a:latin typeface="Times New Roman" panose="02020603050405020304" pitchFamily="18" charset="0"/>
                <a:ea typeface="宋体" panose="02010600030101010101" pitchFamily="2" charset="-122"/>
              </a:rPr>
              <a:t>MOV  P1</a:t>
            </a:r>
            <a:r>
              <a:rPr lang="zh-CN" altLang="en-US" dirty="0">
                <a:solidFill>
                  <a:srgbClr val="000099"/>
                </a:solidFill>
                <a:latin typeface="Times New Roman" panose="02020603050405020304" pitchFamily="18" charset="0"/>
                <a:ea typeface="宋体" panose="02010600030101010101" pitchFamily="2" charset="-122"/>
              </a:rPr>
              <a:t>，</a:t>
            </a:r>
            <a:r>
              <a:rPr lang="en-US" altLang="zh-CN" dirty="0">
                <a:solidFill>
                  <a:srgbClr val="000099"/>
                </a:solidFill>
                <a:latin typeface="Times New Roman" panose="02020603050405020304" pitchFamily="18" charset="0"/>
                <a:ea typeface="宋体" panose="02010600030101010101" pitchFamily="2" charset="-122"/>
              </a:rPr>
              <a:t>A		; (P1) = 0FBH </a:t>
            </a:r>
          </a:p>
          <a:p>
            <a:r>
              <a:rPr lang="en-US" altLang="zh-CN" dirty="0">
                <a:solidFill>
                  <a:srgbClr val="000099"/>
                </a:solidFill>
                <a:latin typeface="Times New Roman" panose="02020603050405020304" pitchFamily="18" charset="0"/>
                <a:ea typeface="宋体" panose="02010600030101010101" pitchFamily="2" charset="-122"/>
              </a:rPr>
              <a:t> 		 </a:t>
            </a:r>
            <a:r>
              <a:rPr lang="pt-BR" altLang="zh-CN" dirty="0">
                <a:solidFill>
                  <a:srgbClr val="000099"/>
                </a:solidFill>
                <a:latin typeface="Times New Roman" panose="02020603050405020304" pitchFamily="18" charset="0"/>
                <a:ea typeface="宋体" panose="02010600030101010101" pitchFamily="2" charset="-122"/>
              </a:rPr>
              <a:t>RL	   A				</a:t>
            </a:r>
            <a:r>
              <a:rPr lang="pt-BR" altLang="zh-CN" dirty="0">
                <a:latin typeface="Times New Roman" panose="02020603050405020304" pitchFamily="18" charset="0"/>
                <a:ea typeface="宋体" panose="02010600030101010101" pitchFamily="2" charset="-122"/>
              </a:rPr>
              <a:t>	</a:t>
            </a:r>
          </a:p>
          <a:p>
            <a:r>
              <a:rPr lang="pt-BR" altLang="zh-CN" dirty="0">
                <a:latin typeface="Times New Roman" panose="02020603050405020304" pitchFamily="18" charset="0"/>
                <a:ea typeface="宋体" panose="02010600030101010101" pitchFamily="2" charset="-122"/>
              </a:rPr>
              <a:t> 		 MOV  P1</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A		; (P1) = 0F7H </a:t>
            </a:r>
          </a:p>
          <a:p>
            <a:r>
              <a:rPr lang="pt-BR" altLang="zh-CN"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RL	   A					</a:t>
            </a:r>
          </a:p>
          <a:p>
            <a:r>
              <a:rPr lang="en-US" altLang="zh-CN" dirty="0">
                <a:latin typeface="Times New Roman" panose="02020603050405020304" pitchFamily="18" charset="0"/>
                <a:ea typeface="宋体" panose="02010600030101010101" pitchFamily="2" charset="-122"/>
              </a:rPr>
              <a:t> 		 MOV  P1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 (P1) = 0EFH</a:t>
            </a:r>
          </a:p>
          <a:p>
            <a:r>
              <a:rPr lang="en-US" altLang="zh-CN" dirty="0">
                <a:latin typeface="Times New Roman" panose="02020603050405020304" pitchFamily="18" charset="0"/>
                <a:ea typeface="宋体" panose="02010600030101010101" pitchFamily="2" charset="-122"/>
              </a:rPr>
              <a:t> 		 RL	   A					</a:t>
            </a:r>
          </a:p>
          <a:p>
            <a:r>
              <a:rPr lang="en-US" altLang="zh-CN" dirty="0">
                <a:latin typeface="Times New Roman" panose="02020603050405020304" pitchFamily="18" charset="0"/>
                <a:ea typeface="宋体" panose="02010600030101010101" pitchFamily="2" charset="-122"/>
              </a:rPr>
              <a:t> 		 MOV  P1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 (P1) = 0CFH  </a:t>
            </a:r>
          </a:p>
          <a:p>
            <a:r>
              <a:rPr lang="en-US" altLang="zh-CN" dirty="0">
                <a:latin typeface="Times New Roman" panose="02020603050405020304" pitchFamily="18" charset="0"/>
                <a:ea typeface="宋体" panose="02010600030101010101" pitchFamily="2" charset="-122"/>
              </a:rPr>
              <a:t> 		 RL	   A					</a:t>
            </a:r>
          </a:p>
          <a:p>
            <a:r>
              <a:rPr lang="en-US" altLang="zh-CN" dirty="0">
                <a:latin typeface="Times New Roman" panose="02020603050405020304" pitchFamily="18" charset="0"/>
                <a:ea typeface="宋体" panose="02010600030101010101" pitchFamily="2" charset="-122"/>
              </a:rPr>
              <a:t> 		 MOV  P1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 (P1) = 0BFH</a:t>
            </a:r>
          </a:p>
          <a:p>
            <a:r>
              <a:rPr lang="en-US" altLang="zh-CN" dirty="0">
                <a:latin typeface="Times New Roman" panose="02020603050405020304" pitchFamily="18" charset="0"/>
                <a:ea typeface="宋体" panose="02010600030101010101" pitchFamily="2" charset="-122"/>
              </a:rPr>
              <a:t> 		 RL	   A					</a:t>
            </a:r>
          </a:p>
          <a:p>
            <a:r>
              <a:rPr lang="en-US" altLang="zh-CN" dirty="0">
                <a:latin typeface="Times New Roman" panose="02020603050405020304" pitchFamily="18" charset="0"/>
                <a:ea typeface="宋体" panose="02010600030101010101" pitchFamily="2" charset="-122"/>
              </a:rPr>
              <a:t> 		 MOV  P1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 (P1) = 7FH </a:t>
            </a:r>
          </a:p>
          <a:p>
            <a:r>
              <a:rPr lang="en-US" altLang="zh-CN" dirty="0">
                <a:latin typeface="Times New Roman" panose="02020603050405020304" pitchFamily="18" charset="0"/>
                <a:ea typeface="宋体" panose="02010600030101010101" pitchFamily="2" charset="-122"/>
              </a:rPr>
              <a:t> 		 END</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116</a:t>
            </a:fld>
            <a:endParaRPr lang="en-US" altLang="zh-CN" sz="1400" b="0" dirty="0"/>
          </a:p>
        </p:txBody>
      </p:sp>
      <p:sp>
        <p:nvSpPr>
          <p:cNvPr id="250884" name="Text Box 4"/>
          <p:cNvSpPr txBox="1"/>
          <p:nvPr/>
        </p:nvSpPr>
        <p:spPr>
          <a:xfrm>
            <a:off x="1619250" y="692150"/>
            <a:ext cx="6769100" cy="3159125"/>
          </a:xfrm>
          <a:prstGeom prst="rect">
            <a:avLst/>
          </a:prstGeom>
          <a:noFill/>
          <a:ln w="9525">
            <a:noFill/>
          </a:ln>
        </p:spPr>
        <p:txBody>
          <a:bodyPr anchor="t" anchorCtr="0">
            <a:spAutoFit/>
          </a:bodyPr>
          <a:lstStyle/>
          <a:p>
            <a:pPr>
              <a:lnSpc>
                <a:spcPct val="140000"/>
              </a:lnSpc>
            </a:pPr>
            <a:r>
              <a:rPr lang="en-US" altLang="zh-CN" dirty="0">
                <a:latin typeface="Times New Roman" panose="02020603050405020304" pitchFamily="18" charset="0"/>
                <a:ea typeface="宋体" panose="02010600030101010101" pitchFamily="2" charset="-122"/>
              </a:rPr>
              <a:t>                         ORG   0000H</a:t>
            </a:r>
          </a:p>
          <a:p>
            <a:pPr>
              <a:lnSpc>
                <a:spcPct val="140000"/>
              </a:lnSpc>
            </a:pPr>
            <a:r>
              <a:rPr lang="en-US" altLang="zh-CN" dirty="0">
                <a:latin typeface="Times New Roman" panose="02020603050405020304" pitchFamily="18" charset="0"/>
                <a:ea typeface="宋体" panose="02010600030101010101" pitchFamily="2" charset="-122"/>
              </a:rPr>
              <a:t>START:	 MOV  A</a:t>
            </a:r>
            <a:r>
              <a:rPr lang="zh-CN" altLang="en-US" dirty="0">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#0FEH	</a:t>
            </a:r>
            <a:r>
              <a:rPr lang="en-US" altLang="zh-CN" dirty="0">
                <a:latin typeface="Times New Roman" panose="02020603050405020304" pitchFamily="18" charset="0"/>
                <a:ea typeface="宋体" panose="02010600030101010101" pitchFamily="2" charset="-122"/>
              </a:rPr>
              <a:t>	</a:t>
            </a:r>
          </a:p>
          <a:p>
            <a:pPr>
              <a:lnSpc>
                <a:spcPct val="140000"/>
              </a:lnSpc>
            </a:pPr>
            <a:r>
              <a:rPr lang="en-US" altLang="zh-CN" dirty="0">
                <a:latin typeface="Times New Roman" panose="02020603050405020304" pitchFamily="18" charset="0"/>
                <a:ea typeface="宋体" panose="02010600030101010101" pitchFamily="2" charset="-122"/>
              </a:rPr>
              <a:t> NEXT:            </a:t>
            </a:r>
            <a:r>
              <a:rPr lang="en-US" altLang="zh-CN" dirty="0">
                <a:solidFill>
                  <a:srgbClr val="990000"/>
                </a:solidFill>
                <a:latin typeface="Times New Roman" panose="02020603050405020304" pitchFamily="18" charset="0"/>
                <a:ea typeface="宋体" panose="02010600030101010101" pitchFamily="2" charset="-122"/>
              </a:rPr>
              <a:t>MOV  P1</a:t>
            </a:r>
            <a:r>
              <a:rPr lang="zh-CN" altLang="en-US" dirty="0">
                <a:solidFill>
                  <a:srgbClr val="990000"/>
                </a:solidFill>
                <a:latin typeface="Times New Roman" panose="02020603050405020304" pitchFamily="18" charset="0"/>
                <a:ea typeface="宋体" panose="02010600030101010101" pitchFamily="2" charset="-122"/>
              </a:rPr>
              <a:t>，</a:t>
            </a:r>
            <a:r>
              <a:rPr lang="en-US" altLang="zh-CN" dirty="0">
                <a:solidFill>
                  <a:srgbClr val="990000"/>
                </a:solidFill>
                <a:latin typeface="Times New Roman" panose="02020603050405020304" pitchFamily="18" charset="0"/>
                <a:ea typeface="宋体" panose="02010600030101010101" pitchFamily="2" charset="-122"/>
              </a:rPr>
              <a:t>A</a:t>
            </a:r>
          </a:p>
          <a:p>
            <a:pPr>
              <a:lnSpc>
                <a:spcPct val="140000"/>
              </a:lnSpc>
            </a:pPr>
            <a:r>
              <a:rPr lang="en-US" altLang="zh-CN" dirty="0">
                <a:solidFill>
                  <a:srgbClr val="990000"/>
                </a:solidFill>
                <a:latin typeface="Times New Roman" panose="02020603050405020304" pitchFamily="18" charset="0"/>
                <a:ea typeface="宋体" panose="02010600030101010101" pitchFamily="2" charset="-122"/>
              </a:rPr>
              <a:t> 		 RL	   A		</a:t>
            </a:r>
            <a:r>
              <a:rPr lang="en-US" altLang="zh-CN" dirty="0">
                <a:solidFill>
                  <a:srgbClr val="000099"/>
                </a:solidFill>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LJMP  NEXT	 </a:t>
            </a:r>
            <a:endParaRPr lang="en-US" altLang="zh-CN" dirty="0">
              <a:solidFill>
                <a:srgbClr val="000099"/>
              </a:solidFill>
              <a:latin typeface="Times New Roman" panose="02020603050405020304" pitchFamily="18" charset="0"/>
              <a:ea typeface="宋体" panose="02010600030101010101" pitchFamily="2" charset="-122"/>
            </a:endParaRPr>
          </a:p>
          <a:p>
            <a:pPr>
              <a:lnSpc>
                <a:spcPct val="140000"/>
              </a:lnSpc>
            </a:pPr>
            <a:r>
              <a:rPr lang="en-US" altLang="zh-CN" dirty="0">
                <a:solidFill>
                  <a:srgbClr val="000099"/>
                </a:solidFill>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END</a:t>
            </a:r>
          </a:p>
        </p:txBody>
      </p:sp>
      <p:sp>
        <p:nvSpPr>
          <p:cNvPr id="250885" name="Text Box 5"/>
          <p:cNvSpPr txBox="1"/>
          <p:nvPr/>
        </p:nvSpPr>
        <p:spPr>
          <a:xfrm>
            <a:off x="395288" y="4221163"/>
            <a:ext cx="8208962" cy="457200"/>
          </a:xfrm>
          <a:prstGeom prst="rect">
            <a:avLst/>
          </a:prstGeom>
          <a:noFill/>
          <a:ln w="9525">
            <a:noFill/>
          </a:ln>
        </p:spPr>
        <p:txBody>
          <a:bodyPr anchor="t" anchorCtr="0">
            <a:spAutoFit/>
          </a:bodyPr>
          <a:lstStyle/>
          <a:p>
            <a:pPr algn="ctr">
              <a:spcBef>
                <a:spcPct val="50000"/>
              </a:spcBef>
            </a:pPr>
            <a:r>
              <a:rPr lang="zh-CN" altLang="en-US" dirty="0">
                <a:latin typeface="Times New Roman" panose="02020603050405020304" pitchFamily="18" charset="0"/>
                <a:ea typeface="宋体" panose="02010600030101010101" pitchFamily="2" charset="-122"/>
              </a:rPr>
              <a:t>经机器汇编时，将“</a:t>
            </a:r>
            <a:r>
              <a:rPr lang="en-US" altLang="zh-CN" dirty="0">
                <a:latin typeface="Times New Roman" panose="02020603050405020304" pitchFamily="18" charset="0"/>
                <a:ea typeface="宋体" panose="02010600030101010101" pitchFamily="2" charset="-122"/>
              </a:rPr>
              <a:t>LJMP  NEXT”</a:t>
            </a:r>
            <a:r>
              <a:rPr lang="zh-CN" altLang="en-US" dirty="0">
                <a:latin typeface="Times New Roman" panose="02020603050405020304" pitchFamily="18" charset="0"/>
                <a:ea typeface="宋体" panose="02010600030101010101" pitchFamily="2" charset="-122"/>
              </a:rPr>
              <a:t>代替为</a:t>
            </a:r>
            <a:r>
              <a:rPr lang="zh-CN" altLang="en-US" dirty="0">
                <a:solidFill>
                  <a:srgbClr val="000099"/>
                </a:solidFill>
                <a:latin typeface="Times New Roman" panose="02020603050405020304" pitchFamily="18" charset="0"/>
                <a:ea typeface="宋体" panose="02010600030101010101" pitchFamily="2" charset="-122"/>
              </a:rPr>
              <a:t>“</a:t>
            </a:r>
            <a:r>
              <a:rPr lang="en-US" altLang="zh-CN" dirty="0">
                <a:solidFill>
                  <a:srgbClr val="000099"/>
                </a:solidFill>
                <a:latin typeface="Times New Roman" panose="02020603050405020304" pitchFamily="18" charset="0"/>
                <a:ea typeface="宋体" panose="02010600030101010101" pitchFamily="2" charset="-122"/>
              </a:rPr>
              <a:t>LJMP	2H”</a:t>
            </a:r>
            <a:r>
              <a:rPr lang="en-US" altLang="zh-CN" dirty="0">
                <a:latin typeface="Times New Roman" panose="02020603050405020304" pitchFamily="18" charset="0"/>
                <a:ea typeface="宋体" panose="02010600030101010101" pitchFamily="2" charset="-122"/>
              </a:rPr>
              <a:t> </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50884"/>
                                        </p:tgtEl>
                                        <p:attrNameLst>
                                          <p:attrName>style.visibility</p:attrName>
                                        </p:attrNameLst>
                                      </p:cBhvr>
                                      <p:to>
                                        <p:strVal val="visible"/>
                                      </p:to>
                                    </p:set>
                                    <p:animEffect transition="in" filter="diamond(in)">
                                      <p:cBhvr>
                                        <p:cTn id="7" dur="2000"/>
                                        <p:tgtEl>
                                          <p:spTgt spid="25088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50885"/>
                                        </p:tgtEl>
                                        <p:attrNameLst>
                                          <p:attrName>style.visibility</p:attrName>
                                        </p:attrNameLst>
                                      </p:cBhvr>
                                      <p:to>
                                        <p:strVal val="visible"/>
                                      </p:to>
                                    </p:set>
                                    <p:animEffect transition="in" filter="box(in)">
                                      <p:cBhvr>
                                        <p:cTn id="12" dur="500"/>
                                        <p:tgtEl>
                                          <p:spTgt spid="2508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4" grpId="0"/>
      <p:bldP spid="250885"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117</a:t>
            </a:fld>
            <a:endParaRPr lang="en-US" altLang="zh-CN" sz="1400" b="0" dirty="0"/>
          </a:p>
        </p:txBody>
      </p:sp>
      <p:sp>
        <p:nvSpPr>
          <p:cNvPr id="248836" name="Rectangle 4"/>
          <p:cNvSpPr/>
          <p:nvPr/>
        </p:nvSpPr>
        <p:spPr>
          <a:xfrm>
            <a:off x="755650" y="3141663"/>
            <a:ext cx="6553200" cy="2862262"/>
          </a:xfrm>
          <a:prstGeom prst="rect">
            <a:avLst/>
          </a:prstGeom>
          <a:noFill/>
          <a:ln w="9525">
            <a:noFill/>
          </a:ln>
        </p:spPr>
        <p:txBody>
          <a:bodyPr anchor="t" anchorCtr="0">
            <a:spAutoFit/>
          </a:bodyPr>
          <a:lstStyle/>
          <a:p>
            <a:pPr indent="268605" algn="just" eaLnBrk="0" hangingPunct="0">
              <a:lnSpc>
                <a:spcPct val="150000"/>
              </a:lnSpc>
            </a:pPr>
            <a:r>
              <a:rPr lang="en-US" altLang="zh-CN" dirty="0">
                <a:latin typeface="Times New Roman" panose="02020603050405020304" pitchFamily="18" charset="0"/>
                <a:ea typeface="宋体" panose="02010600030101010101" pitchFamily="2" charset="-122"/>
              </a:rPr>
              <a:t>                               	   MOV     A, #34H</a:t>
            </a:r>
          </a:p>
          <a:p>
            <a:pPr indent="268605" algn="just" eaLnBrk="0" hangingPunct="0">
              <a:lnSpc>
                <a:spcPct val="150000"/>
              </a:lnSpc>
            </a:pPr>
            <a:r>
              <a:rPr lang="en-US" altLang="zh-CN" dirty="0">
                <a:latin typeface="Times New Roman" panose="02020603050405020304" pitchFamily="18" charset="0"/>
                <a:ea typeface="宋体" panose="02010600030101010101" pitchFamily="2" charset="-122"/>
              </a:rPr>
              <a:t>               (2870H)       AJMP   16AH</a:t>
            </a:r>
          </a:p>
          <a:p>
            <a:pPr indent="268605" algn="just" eaLnBrk="0" hangingPunct="0">
              <a:lnSpc>
                <a:spcPct val="150000"/>
              </a:lnSpc>
            </a:pPr>
            <a:r>
              <a:rPr lang="zh-CN" altLang="en-US" dirty="0">
                <a:latin typeface="Times New Roman" panose="02020603050405020304" pitchFamily="18" charset="0"/>
                <a:ea typeface="宋体" panose="02010600030101010101" pitchFamily="2" charset="-122"/>
              </a:rPr>
              <a:t>当前</a:t>
            </a:r>
            <a:r>
              <a:rPr lang="en-US" altLang="zh-CN" dirty="0">
                <a:latin typeface="Times New Roman" panose="02020603050405020304" pitchFamily="18" charset="0"/>
                <a:ea typeface="宋体" panose="02010600030101010101" pitchFamily="2" charset="-122"/>
              </a:rPr>
              <a:t>PC </a:t>
            </a:r>
            <a:r>
              <a:rPr lang="en-US" altLang="zh-CN" dirty="0">
                <a:solidFill>
                  <a:srgbClr val="FF0000"/>
                </a:solidFill>
                <a:latin typeface="Times New Roman" panose="02020603050405020304" pitchFamily="18" charset="0"/>
                <a:ea typeface="宋体" panose="02010600030101010101" pitchFamily="2" charset="-122"/>
              </a:rPr>
              <a:t>(2872H) </a:t>
            </a:r>
            <a:r>
              <a:rPr lang="en-US" altLang="zh-CN" dirty="0">
                <a:latin typeface="Times New Roman" panose="02020603050405020304" pitchFamily="18" charset="0"/>
                <a:ea typeface="宋体" panose="02010600030101010101" pitchFamily="2" charset="-122"/>
              </a:rPr>
              <a:t>	   ADD    A, #78H</a:t>
            </a:r>
          </a:p>
          <a:p>
            <a:pPr indent="268605" algn="just" eaLnBrk="0" hangingPunct="0">
              <a:lnSpc>
                <a:spcPct val="150000"/>
              </a:lnSpc>
            </a:pPr>
            <a:r>
              <a:rPr lang="en-US" altLang="zh-CN" dirty="0">
                <a:latin typeface="Times New Roman" panose="02020603050405020304" pitchFamily="18" charset="0"/>
                <a:ea typeface="宋体" panose="02010600030101010101" pitchFamily="2" charset="-122"/>
              </a:rPr>
              <a:t>                                    …</a:t>
            </a:r>
          </a:p>
          <a:p>
            <a:pPr indent="268605" algn="just" eaLnBrk="0" hangingPunct="0">
              <a:lnSpc>
                <a:spcPct val="150000"/>
              </a:lnSpc>
            </a:pPr>
            <a:r>
              <a:rPr lang="en-US" altLang="zh-CN" dirty="0">
                <a:latin typeface="Times New Roman" panose="02020603050405020304" pitchFamily="18" charset="0"/>
                <a:ea typeface="宋体" panose="02010600030101010101" pitchFamily="2" charset="-122"/>
              </a:rPr>
              <a:t>     </a:t>
            </a:r>
            <a:endParaRPr lang="zh-CN" altLang="en-US" b="0" dirty="0">
              <a:latin typeface="Times New Roman" panose="02020603050405020304" pitchFamily="18" charset="0"/>
              <a:ea typeface="宋体" panose="02010600030101010101" pitchFamily="2" charset="-122"/>
            </a:endParaRPr>
          </a:p>
        </p:txBody>
      </p:sp>
      <p:sp>
        <p:nvSpPr>
          <p:cNvPr id="248837" name="Rectangle 5"/>
          <p:cNvSpPr/>
          <p:nvPr/>
        </p:nvSpPr>
        <p:spPr>
          <a:xfrm>
            <a:off x="0" y="620713"/>
            <a:ext cx="9144000" cy="2019300"/>
          </a:xfrm>
          <a:prstGeom prst="rect">
            <a:avLst/>
          </a:prstGeom>
          <a:noFill/>
          <a:ln w="9525">
            <a:noFill/>
          </a:ln>
        </p:spPr>
        <p:txBody>
          <a:bodyPr anchor="t" anchorCtr="0">
            <a:spAutoFit/>
          </a:bodyPr>
          <a:lstStyle/>
          <a:p>
            <a:pPr indent="268605" algn="just" eaLnBrk="0" hangingPunct="0">
              <a:lnSpc>
                <a:spcPct val="120000"/>
              </a:lnSpc>
            </a:pP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2</a:t>
            </a:r>
            <a:r>
              <a:rPr lang="zh-CN" altLang="en-US" dirty="0">
                <a:solidFill>
                  <a:srgbClr val="0000FF"/>
                </a:solidFill>
                <a:latin typeface="Times New Roman" panose="02020603050405020304" pitchFamily="18" charset="0"/>
                <a:ea typeface="宋体" panose="02010600030101010101" pitchFamily="2" charset="-122"/>
              </a:rPr>
              <a:t>） 绝对转移指令</a:t>
            </a:r>
            <a:endParaRPr lang="zh-CN" altLang="en-US" b="0" dirty="0">
              <a:latin typeface="宋体" panose="02010600030101010101" pitchFamily="2" charset="-122"/>
              <a:ea typeface="宋体" panose="02010600030101010101" pitchFamily="2" charset="-122"/>
            </a:endParaRPr>
          </a:p>
          <a:p>
            <a:pPr indent="268605" algn="just" eaLnBrk="0" hangingPunct="0">
              <a:lnSpc>
                <a:spcPct val="120000"/>
              </a:lnSpc>
            </a:pPr>
            <a:r>
              <a:rPr lang="zh-CN" altLang="en-US" dirty="0">
                <a:solidFill>
                  <a:srgbClr val="0000FF"/>
                </a:solidFill>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AJMP   addr11    	</a:t>
            </a:r>
          </a:p>
          <a:p>
            <a:pPr indent="268605" algn="just" eaLnBrk="0" hangingPunct="0">
              <a:lnSpc>
                <a:spcPct val="120000"/>
              </a:lnSpc>
              <a:spcBef>
                <a:spcPts val="1200"/>
              </a:spcBef>
            </a:pPr>
            <a:r>
              <a:rPr lang="en-US" altLang="zh-CN" dirty="0">
                <a:solidFill>
                  <a:srgbClr val="0000FF"/>
                </a:solidFill>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；跳转范围  </a:t>
            </a:r>
            <a:r>
              <a:rPr lang="en-US" altLang="zh-CN" dirty="0">
                <a:latin typeface="Times New Roman" panose="02020603050405020304" pitchFamily="18" charset="0"/>
                <a:ea typeface="宋体" panose="02010600030101010101" pitchFamily="2" charset="-122"/>
              </a:rPr>
              <a:t>2KB,   PC ←</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PC</a:t>
            </a: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2</a:t>
            </a:r>
            <a:endParaRPr lang="en-US" altLang="zh-CN" b="0" dirty="0">
              <a:solidFill>
                <a:srgbClr val="FF0000"/>
              </a:solidFill>
              <a:latin typeface="宋体" panose="02010600030101010101" pitchFamily="2" charset="-122"/>
              <a:ea typeface="宋体" panose="02010600030101010101" pitchFamily="2" charset="-122"/>
            </a:endParaRPr>
          </a:p>
          <a:p>
            <a:pPr indent="268605" algn="just" eaLnBrk="0" hangingPunct="0">
              <a:lnSpc>
                <a:spcPct val="120000"/>
              </a:lnSpc>
            </a:pPr>
            <a:r>
              <a:rPr lang="en-US" altLang="zh-CN" dirty="0">
                <a:latin typeface="Times New Roman" panose="02020603050405020304" pitchFamily="18" charset="0"/>
                <a:ea typeface="宋体" panose="02010600030101010101" pitchFamily="2" charset="-122"/>
              </a:rPr>
              <a:t>                		                      PC</a:t>
            </a:r>
            <a:r>
              <a:rPr lang="en-US" altLang="zh-CN" baseline="-30000" dirty="0">
                <a:latin typeface="Times New Roman" panose="02020603050405020304" pitchFamily="18" charset="0"/>
                <a:ea typeface="宋体" panose="02010600030101010101" pitchFamily="2" charset="-122"/>
              </a:rPr>
              <a:t>10~0 </a:t>
            </a:r>
            <a:r>
              <a:rPr lang="en-US" altLang="zh-CN" dirty="0">
                <a:latin typeface="Times New Roman" panose="02020603050405020304" pitchFamily="18" charset="0"/>
                <a:ea typeface="宋体" panose="02010600030101010101" pitchFamily="2" charset="-122"/>
              </a:rPr>
              <a:t>←addr11</a:t>
            </a:r>
            <a:endParaRPr lang="en-US" altLang="zh-CN" b="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118</a:t>
            </a:fld>
            <a:endParaRPr lang="en-US" altLang="zh-CN" sz="1400" b="0" dirty="0"/>
          </a:p>
        </p:txBody>
      </p:sp>
      <p:sp>
        <p:nvSpPr>
          <p:cNvPr id="248836" name="Rectangle 4"/>
          <p:cNvSpPr/>
          <p:nvPr/>
        </p:nvSpPr>
        <p:spPr>
          <a:xfrm>
            <a:off x="0" y="3213100"/>
            <a:ext cx="9144000" cy="1754188"/>
          </a:xfrm>
          <a:prstGeom prst="rect">
            <a:avLst/>
          </a:prstGeom>
          <a:noFill/>
          <a:ln w="9525">
            <a:noFill/>
          </a:ln>
        </p:spPr>
        <p:txBody>
          <a:bodyPr anchor="t" anchorCtr="0">
            <a:spAutoFit/>
          </a:bodyPr>
          <a:lstStyle/>
          <a:p>
            <a:pPr indent="268605" algn="just" eaLnBrk="0" hangingPunct="0">
              <a:lnSpc>
                <a:spcPct val="150000"/>
              </a:lnSpc>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0010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1000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0111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0010B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2872H</a:t>
            </a:r>
            <a:r>
              <a:rPr lang="zh-CN" altLang="en-US" dirty="0">
                <a:latin typeface="Times New Roman" panose="02020603050405020304" pitchFamily="18" charset="0"/>
                <a:ea typeface="宋体" panose="02010600030101010101" pitchFamily="2" charset="-122"/>
              </a:rPr>
              <a:t>），</a:t>
            </a:r>
            <a:endParaRPr lang="zh-CN" altLang="en-US" b="0" dirty="0">
              <a:latin typeface="宋体" panose="02010600030101010101" pitchFamily="2" charset="-122"/>
              <a:ea typeface="宋体" panose="02010600030101010101" pitchFamily="2" charset="-122"/>
            </a:endParaRPr>
          </a:p>
          <a:p>
            <a:pPr indent="268605" algn="just" eaLnBrk="0" hangingPunct="0">
              <a:lnSpc>
                <a:spcPct val="15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16AH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001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0110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1010B</a:t>
            </a:r>
            <a:endParaRPr lang="en-US" altLang="zh-CN" b="0" dirty="0">
              <a:latin typeface="宋体" panose="02010600030101010101" pitchFamily="2" charset="-122"/>
              <a:ea typeface="宋体" panose="02010600030101010101" pitchFamily="2" charset="-122"/>
            </a:endParaRPr>
          </a:p>
          <a:p>
            <a:pPr indent="268605" algn="just" eaLnBrk="0" hangingPunct="0">
              <a:lnSpc>
                <a:spcPct val="150000"/>
              </a:lnSpc>
            </a:pPr>
            <a:r>
              <a:rPr lang="zh-CN" altLang="en-US" dirty="0">
                <a:latin typeface="Times New Roman" panose="02020603050405020304" pitchFamily="18" charset="0"/>
                <a:ea typeface="宋体" panose="02010600030101010101" pitchFamily="2" charset="-122"/>
              </a:rPr>
              <a:t>所以：目的地址＝</a:t>
            </a:r>
            <a:r>
              <a:rPr lang="en-US" altLang="zh-CN" dirty="0">
                <a:latin typeface="Times New Roman" panose="02020603050405020304" pitchFamily="18" charset="0"/>
                <a:ea typeface="宋体" panose="02010600030101010101" pitchFamily="2" charset="-122"/>
              </a:rPr>
              <a:t>296AH</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119</a:t>
            </a:fld>
            <a:endParaRPr lang="en-US" altLang="zh-CN" sz="1400" b="0" dirty="0"/>
          </a:p>
        </p:txBody>
      </p:sp>
      <p:sp>
        <p:nvSpPr>
          <p:cNvPr id="73730" name="Rectangle 2"/>
          <p:cNvSpPr>
            <a:spLocks noGrp="1"/>
          </p:cNvSpPr>
          <p:nvPr>
            <p:ph type="title" idx="4294967295"/>
          </p:nvPr>
        </p:nvSpPr>
        <p:spPr>
          <a:xfrm>
            <a:off x="0" y="836613"/>
            <a:ext cx="8458200" cy="2590800"/>
          </a:xfrm>
          <a:prstGeom prst="rect">
            <a:avLst/>
          </a:prstGeom>
          <a:noFill/>
          <a:ln w="9525">
            <a:noFill/>
          </a:ln>
        </p:spPr>
        <p:txBody>
          <a:bodyPr anchor="t" anchorCtr="0"/>
          <a:lstStyle/>
          <a:p>
            <a:pPr algn="l">
              <a:lnSpc>
                <a:spcPct val="140000"/>
              </a:lnSpc>
              <a:spcBef>
                <a:spcPts val="1200"/>
              </a:spcBef>
              <a:spcAft>
                <a:spcPts val="1200"/>
              </a:spcAft>
            </a:pPr>
            <a:r>
              <a:rPr lang="zh-CN" altLang="en-US" sz="2400" b="1" dirty="0">
                <a:solidFill>
                  <a:srgbClr val="FF0000"/>
                </a:solidFill>
              </a:rPr>
              <a:t>（</a:t>
            </a:r>
            <a:r>
              <a:rPr lang="en-US" altLang="zh-CN" sz="2400" b="1" dirty="0">
                <a:solidFill>
                  <a:srgbClr val="FF0000"/>
                </a:solidFill>
              </a:rPr>
              <a:t>3</a:t>
            </a:r>
            <a:r>
              <a:rPr lang="zh-CN" altLang="en-US" sz="2400" b="1" dirty="0">
                <a:solidFill>
                  <a:srgbClr val="FF0000"/>
                </a:solidFill>
              </a:rPr>
              <a:t>） 短转移指令：</a:t>
            </a:r>
            <a:r>
              <a:rPr lang="zh-CN" altLang="en-US" sz="2400" dirty="0">
                <a:solidFill>
                  <a:schemeClr val="tx1"/>
                </a:solidFill>
              </a:rPr>
              <a:t/>
            </a:r>
            <a:br>
              <a:rPr lang="zh-CN" altLang="en-US" sz="2400" dirty="0">
                <a:solidFill>
                  <a:schemeClr val="tx1"/>
                </a:solidFill>
              </a:rPr>
            </a:br>
            <a:r>
              <a:rPr lang="zh-CN" altLang="en-US" sz="2400" b="1" dirty="0">
                <a:solidFill>
                  <a:schemeClr val="tx1"/>
                </a:solidFill>
              </a:rPr>
              <a:t>		</a:t>
            </a:r>
            <a:r>
              <a:rPr lang="en-US" altLang="zh-CN" sz="2400" b="1" dirty="0">
                <a:solidFill>
                  <a:srgbClr val="0000FF"/>
                </a:solidFill>
              </a:rPr>
              <a:t>SJMP   rel	   </a:t>
            </a:r>
            <a:r>
              <a:rPr lang="zh-CN" altLang="en-US" sz="2400" b="1" dirty="0">
                <a:solidFill>
                  <a:srgbClr val="0000FF"/>
                </a:solidFill>
              </a:rPr>
              <a:t>；目的地址＝（</a:t>
            </a:r>
            <a:r>
              <a:rPr lang="en-US" altLang="zh-CN" sz="2400" b="1" dirty="0">
                <a:solidFill>
                  <a:srgbClr val="0000FF"/>
                </a:solidFill>
              </a:rPr>
              <a:t>PC</a:t>
            </a:r>
            <a:r>
              <a:rPr lang="zh-CN" altLang="en-US" sz="2400" b="1" dirty="0">
                <a:solidFill>
                  <a:srgbClr val="0000FF"/>
                </a:solidFill>
              </a:rPr>
              <a:t>）</a:t>
            </a:r>
            <a:r>
              <a:rPr lang="en-US" altLang="zh-CN" sz="2400" b="1" dirty="0">
                <a:solidFill>
                  <a:srgbClr val="0000FF"/>
                </a:solidFill>
              </a:rPr>
              <a:t>+2+rel</a:t>
            </a:r>
            <a:r>
              <a:rPr lang="en-US" altLang="zh-CN" sz="2400" dirty="0">
                <a:solidFill>
                  <a:schemeClr val="tx1"/>
                </a:solidFill>
              </a:rPr>
              <a:t/>
            </a:r>
            <a:br>
              <a:rPr lang="en-US" altLang="zh-CN" sz="2400" dirty="0">
                <a:solidFill>
                  <a:schemeClr val="tx1"/>
                </a:solidFill>
              </a:rPr>
            </a:br>
            <a:r>
              <a:rPr lang="zh-CN" altLang="en-US" sz="2400" b="1" dirty="0">
                <a:solidFill>
                  <a:schemeClr val="tx1"/>
                </a:solidFill>
              </a:rPr>
              <a:t>例如：      </a:t>
            </a:r>
            <a:r>
              <a:rPr lang="en-US" altLang="zh-CN" sz="2400" b="1" dirty="0">
                <a:solidFill>
                  <a:schemeClr val="tx1"/>
                </a:solidFill>
              </a:rPr>
              <a:t>HERE:  SJMP   HERE    </a:t>
            </a:r>
            <a:r>
              <a:rPr lang="zh-CN" altLang="en-US" sz="2400" b="1" dirty="0">
                <a:solidFill>
                  <a:schemeClr val="tx1"/>
                </a:solidFill>
              </a:rPr>
              <a:t>；等待指令</a:t>
            </a:r>
            <a:r>
              <a:rPr lang="zh-CN" altLang="en-US" sz="2400" dirty="0">
                <a:solidFill>
                  <a:schemeClr val="tx1"/>
                </a:solidFill>
              </a:rPr>
              <a:t/>
            </a:r>
            <a:br>
              <a:rPr lang="zh-CN" altLang="en-US" sz="2400" dirty="0">
                <a:solidFill>
                  <a:schemeClr val="tx1"/>
                </a:solidFill>
              </a:rPr>
            </a:br>
            <a:r>
              <a:rPr lang="zh-CN" altLang="en-US" sz="2400" b="1" dirty="0">
                <a:solidFill>
                  <a:schemeClr val="tx1"/>
                </a:solidFill>
              </a:rPr>
              <a:t>或              </a:t>
            </a:r>
            <a:r>
              <a:rPr lang="en-US" altLang="zh-CN" sz="2400" b="1" dirty="0">
                <a:solidFill>
                  <a:schemeClr val="tx1"/>
                </a:solidFill>
              </a:rPr>
              <a:t>HERE:  SJMP   $	  </a:t>
            </a:r>
            <a:r>
              <a:rPr lang="zh-CN" altLang="en-US" sz="2400" b="1" dirty="0">
                <a:solidFill>
                  <a:schemeClr val="tx1"/>
                </a:solidFill>
              </a:rPr>
              <a:t>；</a:t>
            </a:r>
            <a:r>
              <a:rPr lang="en-US" altLang="zh-CN" sz="2400" b="1" dirty="0">
                <a:solidFill>
                  <a:schemeClr val="tx1"/>
                </a:solidFill>
              </a:rPr>
              <a:t>$</a:t>
            </a:r>
            <a:r>
              <a:rPr lang="zh-CN" altLang="en-US" sz="2400" b="1" dirty="0">
                <a:solidFill>
                  <a:schemeClr val="tx1"/>
                </a:solidFill>
              </a:rPr>
              <a:t>表示</a:t>
            </a:r>
            <a:r>
              <a:rPr lang="en-US" altLang="zh-CN" sz="2400" b="1" dirty="0">
                <a:solidFill>
                  <a:schemeClr val="tx1"/>
                </a:solidFill>
              </a:rPr>
              <a:t>PC</a:t>
            </a:r>
            <a:r>
              <a:rPr lang="zh-CN" altLang="en-US" sz="2400" b="1" dirty="0">
                <a:solidFill>
                  <a:schemeClr val="tx1"/>
                </a:solidFill>
              </a:rPr>
              <a:t>的当前值</a:t>
            </a:r>
          </a:p>
        </p:txBody>
      </p:sp>
      <p:sp>
        <p:nvSpPr>
          <p:cNvPr id="73733" name="Rectangle 5"/>
          <p:cNvSpPr/>
          <p:nvPr/>
        </p:nvSpPr>
        <p:spPr>
          <a:xfrm>
            <a:off x="214313" y="3295650"/>
            <a:ext cx="8458200" cy="2879725"/>
          </a:xfrm>
          <a:prstGeom prst="rect">
            <a:avLst/>
          </a:prstGeom>
          <a:noFill/>
          <a:ln w="9525">
            <a:noFill/>
          </a:ln>
        </p:spPr>
        <p:txBody>
          <a:bodyPr anchor="t" anchorCtr="0"/>
          <a:lstStyle/>
          <a:p>
            <a:pPr eaLnBrk="0" hangingPunct="0">
              <a:lnSpc>
                <a:spcPct val="140000"/>
              </a:lnSpc>
            </a:pP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4</a:t>
            </a:r>
            <a:r>
              <a:rPr lang="zh-CN" altLang="en-US" dirty="0">
                <a:solidFill>
                  <a:srgbClr val="0000FF"/>
                </a:solidFill>
                <a:latin typeface="Times New Roman" panose="02020603050405020304" pitchFamily="18" charset="0"/>
                <a:ea typeface="宋体" panose="02010600030101010101" pitchFamily="2" charset="-122"/>
              </a:rPr>
              <a:t>）间接转移指令</a:t>
            </a:r>
            <a:r>
              <a:rPr lang="zh-CN" altLang="en-US" dirty="0">
                <a:latin typeface="Times New Roman" panose="02020603050405020304" pitchFamily="18" charset="0"/>
                <a:ea typeface="宋体" panose="02010600030101010101" pitchFamily="2" charset="-122"/>
              </a:rPr>
              <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JMP    @A+DPTR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DPTR</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该指令可代替众多的判别跳转指令，具有</a:t>
            </a:r>
            <a:r>
              <a:rPr lang="zh-CN" altLang="en-US" dirty="0">
                <a:solidFill>
                  <a:srgbClr val="0000FF"/>
                </a:solidFill>
                <a:latin typeface="Times New Roman" panose="02020603050405020304" pitchFamily="18" charset="0"/>
                <a:ea typeface="宋体" panose="02010600030101010101" pitchFamily="2" charset="-122"/>
              </a:rPr>
              <a:t>散转功能（又称散转指令）</a:t>
            </a:r>
            <a:r>
              <a:rPr lang="zh-CN" altLang="en-US" dirty="0">
                <a:latin typeface="Times New Roman" panose="02020603050405020304" pitchFamily="18" charset="0"/>
                <a:ea typeface="宋体" panose="02010600030101010101" pitchFamily="2" charset="-122"/>
              </a:rPr>
              <a:t>。键盘译码程序就是本指令的一个典型应用。</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120</a:t>
            </a:fld>
            <a:endParaRPr lang="en-US" altLang="zh-CN" sz="1400" b="0" dirty="0"/>
          </a:p>
        </p:txBody>
      </p:sp>
      <p:sp>
        <p:nvSpPr>
          <p:cNvPr id="77826" name="Rectangle 2"/>
          <p:cNvSpPr/>
          <p:nvPr/>
        </p:nvSpPr>
        <p:spPr>
          <a:xfrm>
            <a:off x="323850" y="908050"/>
            <a:ext cx="8534400" cy="3013075"/>
          </a:xfrm>
          <a:prstGeom prst="rect">
            <a:avLst/>
          </a:prstGeom>
          <a:noFill/>
          <a:ln w="9525">
            <a:noFill/>
          </a:ln>
        </p:spPr>
        <p:txBody>
          <a:bodyPr anchor="t" anchorCtr="0">
            <a:spAutoFit/>
          </a:bodyPr>
          <a:lstStyle/>
          <a:p>
            <a:pPr indent="262255" algn="just"/>
            <a:r>
              <a:rPr lang="en-US" altLang="zh-CN" dirty="0">
                <a:solidFill>
                  <a:srgbClr val="0000FF"/>
                </a:solidFill>
                <a:latin typeface="Times New Roman" panose="02020603050405020304" pitchFamily="18" charset="0"/>
                <a:ea typeface="黑体" panose="02010609060101010101" pitchFamily="49" charset="-122"/>
              </a:rPr>
              <a:t>2) </a:t>
            </a:r>
            <a:r>
              <a:rPr lang="zh-CN" altLang="en-US" dirty="0">
                <a:solidFill>
                  <a:srgbClr val="0000FF"/>
                </a:solidFill>
                <a:latin typeface="Times New Roman" panose="02020603050405020304" pitchFamily="18" charset="0"/>
                <a:ea typeface="黑体" panose="02010609060101010101" pitchFamily="49" charset="-122"/>
              </a:rPr>
              <a:t>条件转移指令组</a:t>
            </a:r>
            <a:endParaRPr lang="zh-CN" altLang="en-US" b="0" dirty="0">
              <a:latin typeface="Times New Roman" panose="02020603050405020304" pitchFamily="18" charset="0"/>
              <a:ea typeface="宋体" panose="02010600030101010101" pitchFamily="2" charset="-122"/>
            </a:endParaRPr>
          </a:p>
          <a:p>
            <a:pPr indent="262255" algn="just" eaLnBrk="0" hangingPunct="0"/>
            <a:r>
              <a:rPr lang="zh-CN" altLang="en-US" dirty="0">
                <a:latin typeface="Times New Roman" panose="02020603050405020304" pitchFamily="18" charset="0"/>
                <a:ea typeface="宋体" panose="02010600030101010101" pitchFamily="2" charset="-122"/>
              </a:rPr>
              <a:t>  </a:t>
            </a:r>
            <a:endParaRPr lang="zh-CN" altLang="en-US" b="0" dirty="0">
              <a:latin typeface="Times New Roman" panose="02020603050405020304" pitchFamily="18" charset="0"/>
              <a:ea typeface="宋体" panose="02010600030101010101" pitchFamily="2" charset="-122"/>
            </a:endParaRPr>
          </a:p>
          <a:p>
            <a:pPr indent="262255" algn="just" eaLnBrk="0" hangingPunct="0">
              <a:lnSpc>
                <a:spcPct val="150000"/>
              </a:lnSpc>
            </a:pP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1</a:t>
            </a:r>
            <a:r>
              <a:rPr lang="zh-CN" altLang="en-US" dirty="0">
                <a:solidFill>
                  <a:srgbClr val="FF0000"/>
                </a:solidFill>
                <a:latin typeface="Times New Roman" panose="02020603050405020304" pitchFamily="18" charset="0"/>
                <a:ea typeface="宋体" panose="02010600030101010101" pitchFamily="2" charset="-122"/>
              </a:rPr>
              <a:t>） 累加器判零转移指令</a:t>
            </a:r>
            <a:endParaRPr lang="zh-CN" altLang="en-US" b="0" dirty="0">
              <a:latin typeface="Times New Roman" panose="02020603050405020304" pitchFamily="18" charset="0"/>
              <a:ea typeface="宋体" panose="02010600030101010101" pitchFamily="2" charset="-122"/>
            </a:endParaRPr>
          </a:p>
          <a:p>
            <a:pPr indent="262255" algn="just" eaLnBrk="0" hangingPunct="0">
              <a:lnSpc>
                <a:spcPct val="150000"/>
              </a:lnSpc>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JZ   	rel </a:t>
            </a:r>
            <a:r>
              <a:rPr lang="en-US" altLang="zh-CN" dirty="0">
                <a:latin typeface="Times New Roman" panose="02020603050405020304" pitchFamily="18" charset="0"/>
                <a:ea typeface="宋体" panose="02010600030101010101" pitchFamily="2" charset="-122"/>
              </a:rPr>
              <a:t>       	</a:t>
            </a:r>
          </a:p>
          <a:p>
            <a:pPr indent="262255" algn="just" eaLnBrk="0" hangingPunct="0">
              <a:lnSpc>
                <a:spcPct val="15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；若（</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，则</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rel</a:t>
            </a:r>
            <a:endParaRPr lang="en-US" altLang="zh-CN" b="0" dirty="0">
              <a:latin typeface="Times New Roman" panose="02020603050405020304" pitchFamily="18" charset="0"/>
              <a:ea typeface="宋体" panose="02010600030101010101" pitchFamily="2" charset="-122"/>
            </a:endParaRPr>
          </a:p>
          <a:p>
            <a:pPr indent="262255" algn="just" eaLnBrk="0" hangingPunct="0">
              <a:lnSpc>
                <a:spcPct val="15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　若（</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，则</a:t>
            </a:r>
            <a:r>
              <a:rPr lang="en-US" altLang="zh-CN" dirty="0">
                <a:latin typeface="Times New Roman" panose="02020603050405020304" pitchFamily="18" charset="0"/>
                <a:ea typeface="宋体" panose="02010600030101010101" pitchFamily="2" charset="-122"/>
              </a:rPr>
              <a:t>PC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2 </a:t>
            </a:r>
            <a:endParaRPr lang="en-US" altLang="zh-CN" b="0" dirty="0">
              <a:latin typeface="Times New Roman" panose="02020603050405020304" pitchFamily="18" charset="0"/>
              <a:ea typeface="宋体" panose="02010600030101010101" pitchFamily="2" charset="-122"/>
            </a:endParaRPr>
          </a:p>
        </p:txBody>
      </p:sp>
      <p:sp>
        <p:nvSpPr>
          <p:cNvPr id="77827" name="Rectangle 3"/>
          <p:cNvSpPr/>
          <p:nvPr/>
        </p:nvSpPr>
        <p:spPr>
          <a:xfrm>
            <a:off x="323850" y="4221163"/>
            <a:ext cx="8534400" cy="1735137"/>
          </a:xfrm>
          <a:prstGeom prst="rect">
            <a:avLst/>
          </a:prstGeom>
          <a:noFill/>
          <a:ln w="9525">
            <a:noFill/>
          </a:ln>
        </p:spPr>
        <p:txBody>
          <a:bodyPr anchor="t" anchorCtr="0">
            <a:spAutoFit/>
          </a:bodyPr>
          <a:lstStyle/>
          <a:p>
            <a:pPr indent="262255" algn="just" eaLnBrk="0" hangingPunct="0">
              <a:lnSpc>
                <a:spcPct val="150000"/>
              </a:lnSpc>
            </a:pPr>
            <a:r>
              <a:rPr lang="en-US" altLang="zh-CN" dirty="0">
                <a:solidFill>
                  <a:srgbClr val="FF0000"/>
                </a:solidFill>
                <a:latin typeface="Times New Roman" panose="02020603050405020304" pitchFamily="18" charset="0"/>
                <a:ea typeface="宋体" panose="02010600030101010101" pitchFamily="2" charset="-122"/>
              </a:rPr>
              <a:t>	           JNZ  	rel  </a:t>
            </a:r>
            <a:r>
              <a:rPr lang="en-US" altLang="zh-CN" dirty="0">
                <a:latin typeface="Times New Roman" panose="02020603050405020304" pitchFamily="18" charset="0"/>
                <a:ea typeface="宋体" panose="02010600030101010101" pitchFamily="2" charset="-122"/>
              </a:rPr>
              <a:t>      </a:t>
            </a:r>
          </a:p>
          <a:p>
            <a:pPr indent="262255" algn="just" eaLnBrk="0" hangingPunct="0">
              <a:lnSpc>
                <a:spcPct val="15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；若（</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，则</a:t>
            </a:r>
            <a:r>
              <a:rPr lang="en-US" altLang="zh-CN" dirty="0">
                <a:latin typeface="Times New Roman" panose="02020603050405020304" pitchFamily="18" charset="0"/>
                <a:ea typeface="宋体" panose="02010600030101010101" pitchFamily="2" charset="-122"/>
              </a:rPr>
              <a:t>PC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rel</a:t>
            </a:r>
            <a:endParaRPr lang="en-US" altLang="zh-CN" b="0" dirty="0">
              <a:latin typeface="Times New Roman" panose="02020603050405020304" pitchFamily="18" charset="0"/>
              <a:ea typeface="宋体" panose="02010600030101010101" pitchFamily="2" charset="-122"/>
            </a:endParaRPr>
          </a:p>
          <a:p>
            <a:pPr indent="262255" algn="just" eaLnBrk="0" hangingPunct="0">
              <a:lnSpc>
                <a:spcPct val="15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　若（</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，则</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2 </a:t>
            </a:r>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121</a:t>
            </a:fld>
            <a:endParaRPr lang="en-US" altLang="zh-CN" sz="1400" b="0" dirty="0"/>
          </a:p>
        </p:txBody>
      </p:sp>
      <p:sp>
        <p:nvSpPr>
          <p:cNvPr id="79874" name="Rectangle 2"/>
          <p:cNvSpPr/>
          <p:nvPr/>
        </p:nvSpPr>
        <p:spPr>
          <a:xfrm>
            <a:off x="323850" y="692150"/>
            <a:ext cx="8496300" cy="1420495"/>
          </a:xfrm>
          <a:prstGeom prst="rect">
            <a:avLst/>
          </a:prstGeom>
          <a:noFill/>
          <a:ln w="9525">
            <a:noFill/>
          </a:ln>
        </p:spPr>
        <p:txBody>
          <a:bodyPr anchor="t" anchorCtr="0">
            <a:spAutoFit/>
          </a:bodyPr>
          <a:lstStyle/>
          <a:p>
            <a:pPr indent="132080" algn="just">
              <a:lnSpc>
                <a:spcPct val="120000"/>
              </a:lnSpc>
            </a:pPr>
            <a:r>
              <a:rPr lang="zh-CN" altLang="en-US" dirty="0">
                <a:latin typeface="Times New Roman" panose="02020603050405020304" pitchFamily="18" charset="0"/>
                <a:ea typeface="宋体" panose="02010600030101010101" pitchFamily="2" charset="-122"/>
              </a:rPr>
              <a:t>例：将外部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从</a:t>
            </a:r>
            <a:r>
              <a:rPr lang="en-US" altLang="zh-CN" dirty="0">
                <a:latin typeface="Times New Roman" panose="02020603050405020304" pitchFamily="18" charset="0"/>
                <a:ea typeface="宋体" panose="02010600030101010101" pitchFamily="2" charset="-122"/>
              </a:rPr>
              <a:t>1000H</a:t>
            </a:r>
            <a:r>
              <a:rPr lang="zh-CN" altLang="en-US" dirty="0">
                <a:latin typeface="Times New Roman" panose="02020603050405020304" pitchFamily="18" charset="0"/>
                <a:ea typeface="宋体" panose="02010600030101010101" pitchFamily="2" charset="-122"/>
              </a:rPr>
              <a:t>开始的连续单元的数据，传送到内部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从</a:t>
            </a:r>
            <a:r>
              <a:rPr lang="en-US" altLang="zh-CN" dirty="0">
                <a:latin typeface="Times New Roman" panose="02020603050405020304" pitchFamily="18" charset="0"/>
                <a:ea typeface="宋体" panose="02010600030101010101" pitchFamily="2" charset="-122"/>
              </a:rPr>
              <a:t>40H</a:t>
            </a:r>
            <a:r>
              <a:rPr lang="zh-CN" altLang="en-US" dirty="0">
                <a:latin typeface="Times New Roman" panose="02020603050405020304" pitchFamily="18" charset="0"/>
                <a:ea typeface="宋体" panose="02010600030101010101" pitchFamily="2" charset="-122"/>
              </a:rPr>
              <a:t>开始的连续单元，当所传送的数据</a:t>
            </a:r>
            <a:r>
              <a:rPr lang="zh-CN" altLang="en-US" dirty="0">
                <a:solidFill>
                  <a:srgbClr val="FF0000"/>
                </a:solidFill>
                <a:latin typeface="Times New Roman" panose="02020603050405020304" pitchFamily="18" charset="0"/>
                <a:ea typeface="宋体" panose="02010600030101010101" pitchFamily="2" charset="-122"/>
              </a:rPr>
              <a:t>为零</a:t>
            </a:r>
            <a:r>
              <a:rPr lang="zh-CN" altLang="en-US" dirty="0">
                <a:latin typeface="Times New Roman" panose="02020603050405020304" pitchFamily="18" charset="0"/>
                <a:ea typeface="宋体" panose="02010600030101010101" pitchFamily="2" charset="-122"/>
              </a:rPr>
              <a:t>时，传送停止。</a:t>
            </a:r>
            <a:endParaRPr lang="zh-CN" altLang="en-US" b="0" dirty="0">
              <a:latin typeface="Times New Roman" panose="02020603050405020304" pitchFamily="18" charset="0"/>
              <a:ea typeface="宋体" panose="02010600030101010101" pitchFamily="2" charset="-122"/>
            </a:endParaRPr>
          </a:p>
        </p:txBody>
      </p:sp>
      <p:pic>
        <p:nvPicPr>
          <p:cNvPr id="2" name="图片 1"/>
          <p:cNvPicPr>
            <a:picLocks noChangeAspect="1"/>
          </p:cNvPicPr>
          <p:nvPr/>
        </p:nvPicPr>
        <p:blipFill>
          <a:blip r:embed="rId2"/>
          <a:stretch>
            <a:fillRect/>
          </a:stretch>
        </p:blipFill>
        <p:spPr>
          <a:xfrm>
            <a:off x="520065" y="2276475"/>
            <a:ext cx="7938135" cy="3929380"/>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122</a:t>
            </a:fld>
            <a:endParaRPr lang="en-US" altLang="zh-CN" sz="1400" b="0" dirty="0"/>
          </a:p>
        </p:txBody>
      </p:sp>
      <p:sp>
        <p:nvSpPr>
          <p:cNvPr id="79874" name="Rectangle 2"/>
          <p:cNvSpPr/>
          <p:nvPr/>
        </p:nvSpPr>
        <p:spPr>
          <a:xfrm>
            <a:off x="457200" y="762000"/>
            <a:ext cx="8001000" cy="1420495"/>
          </a:xfrm>
          <a:prstGeom prst="rect">
            <a:avLst/>
          </a:prstGeom>
          <a:noFill/>
          <a:ln w="9525">
            <a:noFill/>
          </a:ln>
        </p:spPr>
        <p:txBody>
          <a:bodyPr anchor="t" anchorCtr="0">
            <a:spAutoFit/>
          </a:bodyPr>
          <a:lstStyle/>
          <a:p>
            <a:pPr indent="132080" algn="just">
              <a:lnSpc>
                <a:spcPct val="12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例： 将外部数据存储器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从</a:t>
            </a:r>
            <a:r>
              <a:rPr lang="en-US" altLang="zh-CN" dirty="0">
                <a:latin typeface="Times New Roman" panose="02020603050405020304" pitchFamily="18" charset="0"/>
                <a:ea typeface="宋体" panose="02010600030101010101" pitchFamily="2" charset="-122"/>
              </a:rPr>
              <a:t>1000H</a:t>
            </a:r>
            <a:r>
              <a:rPr lang="zh-CN" altLang="en-US" dirty="0">
                <a:latin typeface="Times New Roman" panose="02020603050405020304" pitchFamily="18" charset="0"/>
                <a:ea typeface="宋体" panose="02010600030101010101" pitchFamily="2" charset="-122"/>
              </a:rPr>
              <a:t>开始的连续单元的数据，传送到内部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从</a:t>
            </a:r>
            <a:r>
              <a:rPr lang="en-US" altLang="zh-CN" dirty="0">
                <a:latin typeface="Times New Roman" panose="02020603050405020304" pitchFamily="18" charset="0"/>
                <a:ea typeface="宋体" panose="02010600030101010101" pitchFamily="2" charset="-122"/>
              </a:rPr>
              <a:t>40H</a:t>
            </a:r>
            <a:r>
              <a:rPr lang="zh-CN" altLang="en-US" dirty="0">
                <a:latin typeface="Times New Roman" panose="02020603050405020304" pitchFamily="18" charset="0"/>
                <a:ea typeface="宋体" panose="02010600030101010101" pitchFamily="2" charset="-122"/>
              </a:rPr>
              <a:t>开始的连续单元，所传送的数据为零时，传送停止。</a:t>
            </a:r>
            <a:endParaRPr lang="zh-CN" altLang="en-US" b="0" dirty="0">
              <a:latin typeface="Times New Roman" panose="02020603050405020304" pitchFamily="18" charset="0"/>
              <a:ea typeface="宋体" panose="02010600030101010101" pitchFamily="2" charset="-122"/>
            </a:endParaRPr>
          </a:p>
        </p:txBody>
      </p:sp>
      <p:sp>
        <p:nvSpPr>
          <p:cNvPr id="79875" name="Rectangle 3"/>
          <p:cNvSpPr/>
          <p:nvPr/>
        </p:nvSpPr>
        <p:spPr>
          <a:xfrm>
            <a:off x="642938" y="2143125"/>
            <a:ext cx="8001000" cy="4481513"/>
          </a:xfrm>
          <a:prstGeom prst="rect">
            <a:avLst/>
          </a:prstGeom>
          <a:noFill/>
          <a:ln w="9525">
            <a:noFill/>
          </a:ln>
        </p:spPr>
        <p:txBody>
          <a:bodyPr anchor="t" anchorCtr="0">
            <a:spAutoFit/>
          </a:bodyPr>
          <a:lstStyle/>
          <a:p>
            <a:pPr indent="132080" algn="just" eaLnBrk="0" hangingPunct="0">
              <a:lnSpc>
                <a:spcPct val="120000"/>
              </a:lnSpc>
            </a:pPr>
            <a:r>
              <a:rPr lang="en-US" altLang="zh-CN" dirty="0">
                <a:latin typeface="Times New Roman" panose="02020603050405020304" pitchFamily="18" charset="0"/>
                <a:ea typeface="宋体" panose="02010600030101010101" pitchFamily="2" charset="-122"/>
              </a:rPr>
              <a:t>		ORG  0</a:t>
            </a:r>
          </a:p>
          <a:p>
            <a:pPr indent="132080" algn="just" eaLnBrk="0" hangingPunct="0">
              <a:lnSpc>
                <a:spcPct val="120000"/>
              </a:lnSpc>
            </a:pPr>
            <a:r>
              <a:rPr lang="en-US" altLang="zh-CN" dirty="0">
                <a:latin typeface="Times New Roman" panose="02020603050405020304" pitchFamily="18" charset="0"/>
                <a:ea typeface="宋体" panose="02010600030101010101" pitchFamily="2" charset="-122"/>
              </a:rPr>
              <a:t>		MOV	DPTR</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#1000H	</a:t>
            </a:r>
            <a:endParaRPr lang="en-US" altLang="zh-CN" b="0" dirty="0">
              <a:latin typeface="Times New Roman" panose="02020603050405020304" pitchFamily="18" charset="0"/>
              <a:ea typeface="宋体" panose="02010600030101010101" pitchFamily="2" charset="-122"/>
            </a:endParaRPr>
          </a:p>
          <a:p>
            <a:pPr indent="132080" algn="just" eaLnBrk="0" hangingPunct="0">
              <a:lnSpc>
                <a:spcPct val="120000"/>
              </a:lnSpc>
            </a:pPr>
            <a:r>
              <a:rPr lang="en-US" altLang="zh-CN" dirty="0">
                <a:latin typeface="Times New Roman" panose="02020603050405020304" pitchFamily="18" charset="0"/>
                <a:ea typeface="宋体" panose="02010600030101010101" pitchFamily="2" charset="-122"/>
              </a:rPr>
              <a:t>       		MOV  	R0</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#40H  	</a:t>
            </a:r>
            <a:endParaRPr lang="en-US" altLang="zh-CN" b="0" dirty="0">
              <a:latin typeface="Times New Roman" panose="02020603050405020304" pitchFamily="18" charset="0"/>
              <a:ea typeface="宋体" panose="02010600030101010101" pitchFamily="2" charset="-122"/>
            </a:endParaRPr>
          </a:p>
          <a:p>
            <a:pPr indent="132080" algn="just" eaLnBrk="0" hangingPunct="0">
              <a:lnSpc>
                <a:spcPct val="120000"/>
              </a:lnSpc>
            </a:pPr>
            <a:r>
              <a:rPr lang="en-US" altLang="zh-CN" dirty="0">
                <a:latin typeface="Times New Roman" panose="02020603050405020304" pitchFamily="18" charset="0"/>
                <a:ea typeface="宋体" panose="02010600030101010101" pitchFamily="2" charset="-122"/>
              </a:rPr>
              <a:t>LOOP</a:t>
            </a:r>
            <a:r>
              <a:rPr lang="zh-CN" altLang="en-US" dirty="0">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MOVX  A</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@DPTR </a:t>
            </a:r>
            <a:r>
              <a:rPr lang="en-US" altLang="zh-CN" dirty="0">
                <a:latin typeface="Times New Roman" panose="02020603050405020304" pitchFamily="18" charset="0"/>
                <a:ea typeface="宋体" panose="02010600030101010101" pitchFamily="2" charset="-122"/>
              </a:rPr>
              <a:t>		</a:t>
            </a:r>
            <a:endParaRPr lang="en-US" altLang="zh-CN" b="0" dirty="0">
              <a:latin typeface="Times New Roman" panose="02020603050405020304" pitchFamily="18" charset="0"/>
              <a:ea typeface="宋体" panose="02010600030101010101" pitchFamily="2" charset="-122"/>
            </a:endParaRPr>
          </a:p>
          <a:p>
            <a:pPr indent="132080" algn="just" eaLnBrk="0" hangingPunct="0">
              <a:lnSpc>
                <a:spcPct val="120000"/>
              </a:lnSpc>
            </a:pPr>
            <a:r>
              <a:rPr lang="en-US" altLang="zh-CN" dirty="0">
                <a:solidFill>
                  <a:srgbClr val="FF0000"/>
                </a:solidFill>
                <a:latin typeface="Times New Roman" panose="02020603050405020304" pitchFamily="18" charset="0"/>
                <a:ea typeface="宋体" panose="02010600030101010101" pitchFamily="2" charset="-122"/>
              </a:rPr>
              <a:t>       		</a:t>
            </a:r>
            <a:r>
              <a:rPr lang="en-US" altLang="zh-CN" dirty="0">
                <a:solidFill>
                  <a:srgbClr val="00B050"/>
                </a:solidFill>
                <a:latin typeface="Times New Roman" panose="02020603050405020304" pitchFamily="18" charset="0"/>
                <a:ea typeface="宋体" panose="02010600030101010101" pitchFamily="2" charset="-122"/>
              </a:rPr>
              <a:t>JZ     	QUIT      </a:t>
            </a:r>
            <a:r>
              <a:rPr lang="en-US" altLang="zh-CN" dirty="0">
                <a:solidFill>
                  <a:srgbClr val="FF0000"/>
                </a:solidFill>
                <a:latin typeface="Times New Roman" panose="02020603050405020304" pitchFamily="18" charset="0"/>
                <a:ea typeface="宋体" panose="02010600030101010101" pitchFamily="2" charset="-122"/>
              </a:rPr>
              <a:t>		</a:t>
            </a:r>
            <a:endParaRPr lang="en-US" altLang="zh-CN" b="0" dirty="0">
              <a:latin typeface="Times New Roman" panose="02020603050405020304" pitchFamily="18" charset="0"/>
              <a:ea typeface="宋体" panose="02010600030101010101" pitchFamily="2" charset="-122"/>
            </a:endParaRPr>
          </a:p>
          <a:p>
            <a:pPr indent="132080" algn="just" eaLnBrk="0" hangingPunct="0">
              <a:lnSpc>
                <a:spcPct val="120000"/>
              </a:lnSpc>
            </a:pPr>
            <a:r>
              <a:rPr lang="en-US" altLang="zh-CN" dirty="0">
                <a:latin typeface="Times New Roman" panose="02020603050405020304" pitchFamily="18" charset="0"/>
                <a:ea typeface="宋体" panose="02010600030101010101" pitchFamily="2" charset="-122"/>
              </a:rPr>
              <a:t>       		</a:t>
            </a:r>
            <a:r>
              <a:rPr lang="en-US" altLang="zh-CN" dirty="0">
                <a:solidFill>
                  <a:srgbClr val="000099"/>
                </a:solidFill>
                <a:latin typeface="Times New Roman" panose="02020603050405020304" pitchFamily="18" charset="0"/>
                <a:ea typeface="宋体" panose="02010600030101010101" pitchFamily="2" charset="-122"/>
              </a:rPr>
              <a:t>MOV  	@R0</a:t>
            </a:r>
            <a:r>
              <a:rPr lang="zh-CN" altLang="en-US" dirty="0">
                <a:solidFill>
                  <a:srgbClr val="000099"/>
                </a:solidFill>
                <a:latin typeface="Times New Roman" panose="02020603050405020304" pitchFamily="18" charset="0"/>
                <a:ea typeface="宋体" panose="02010600030101010101" pitchFamily="2" charset="-122"/>
              </a:rPr>
              <a:t>，</a:t>
            </a:r>
            <a:r>
              <a:rPr lang="en-US" altLang="zh-CN" dirty="0">
                <a:solidFill>
                  <a:srgbClr val="000099"/>
                </a:solidFill>
                <a:latin typeface="Times New Roman" panose="02020603050405020304" pitchFamily="18" charset="0"/>
                <a:ea typeface="宋体" panose="02010600030101010101" pitchFamily="2" charset="-122"/>
              </a:rPr>
              <a:t>A     </a:t>
            </a:r>
            <a:r>
              <a:rPr lang="en-US" altLang="zh-CN" dirty="0">
                <a:latin typeface="Times New Roman" panose="02020603050405020304" pitchFamily="18" charset="0"/>
                <a:ea typeface="宋体" panose="02010600030101010101" pitchFamily="2" charset="-122"/>
              </a:rPr>
              <a:t>	</a:t>
            </a:r>
            <a:endParaRPr lang="en-US" altLang="zh-CN" b="0" dirty="0">
              <a:latin typeface="Times New Roman" panose="02020603050405020304" pitchFamily="18" charset="0"/>
              <a:ea typeface="宋体" panose="02010600030101010101" pitchFamily="2" charset="-122"/>
            </a:endParaRPr>
          </a:p>
          <a:p>
            <a:pPr indent="132080" algn="just" eaLnBrk="0" hangingPunct="0">
              <a:lnSpc>
                <a:spcPct val="120000"/>
              </a:lnSpc>
            </a:pPr>
            <a:r>
              <a:rPr lang="en-US" altLang="zh-CN" dirty="0">
                <a:latin typeface="Times New Roman" panose="02020603050405020304" pitchFamily="18" charset="0"/>
                <a:ea typeface="宋体" panose="02010600030101010101" pitchFamily="2" charset="-122"/>
              </a:rPr>
              <a:t>       		INC    	DPTR        	</a:t>
            </a:r>
            <a:endParaRPr lang="en-US" altLang="zh-CN" b="0" dirty="0">
              <a:latin typeface="Times New Roman" panose="02020603050405020304" pitchFamily="18" charset="0"/>
              <a:ea typeface="宋体" panose="02010600030101010101" pitchFamily="2" charset="-122"/>
            </a:endParaRPr>
          </a:p>
          <a:p>
            <a:pPr indent="132080" algn="just" eaLnBrk="0" hangingPunct="0">
              <a:lnSpc>
                <a:spcPct val="120000"/>
              </a:lnSpc>
            </a:pPr>
            <a:r>
              <a:rPr lang="en-US" altLang="zh-CN" dirty="0">
                <a:latin typeface="Times New Roman" panose="02020603050405020304" pitchFamily="18" charset="0"/>
                <a:ea typeface="宋体" panose="02010600030101010101" pitchFamily="2" charset="-122"/>
              </a:rPr>
              <a:t>       		INC   	R0           	</a:t>
            </a:r>
            <a:endParaRPr lang="en-US" altLang="zh-CN" b="0" dirty="0">
              <a:latin typeface="Times New Roman" panose="02020603050405020304" pitchFamily="18" charset="0"/>
              <a:ea typeface="宋体" panose="02010600030101010101" pitchFamily="2" charset="-122"/>
            </a:endParaRPr>
          </a:p>
          <a:p>
            <a:pPr indent="132080" algn="just" eaLnBrk="0" hangingPunct="0">
              <a:lnSpc>
                <a:spcPct val="120000"/>
              </a:lnSpc>
            </a:pPr>
            <a:r>
              <a:rPr lang="en-US" altLang="zh-CN" dirty="0">
                <a:solidFill>
                  <a:srgbClr val="FF0000"/>
                </a:solidFill>
                <a:latin typeface="Times New Roman" panose="02020603050405020304" pitchFamily="18" charset="0"/>
                <a:ea typeface="宋体" panose="02010600030101010101" pitchFamily="2" charset="-122"/>
              </a:rPr>
              <a:t>       		SJMP  	LOOP        	</a:t>
            </a:r>
            <a:endParaRPr lang="en-US" altLang="zh-CN" b="0" dirty="0">
              <a:latin typeface="Times New Roman" panose="02020603050405020304" pitchFamily="18" charset="0"/>
              <a:ea typeface="宋体" panose="02010600030101010101" pitchFamily="2" charset="-122"/>
            </a:endParaRPr>
          </a:p>
          <a:p>
            <a:pPr indent="132080" algn="just" eaLnBrk="0" hangingPunct="0">
              <a:lnSpc>
                <a:spcPct val="120000"/>
              </a:lnSpc>
            </a:pPr>
            <a:r>
              <a:rPr lang="en-US" altLang="zh-CN" dirty="0">
                <a:latin typeface="Times New Roman" panose="02020603050405020304" pitchFamily="18" charset="0"/>
                <a:ea typeface="宋体" panose="02010600030101010101" pitchFamily="2" charset="-122"/>
              </a:rPr>
              <a:t>QUIT</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END  </a:t>
            </a:r>
            <a:endParaRPr lang="en-US" altLang="zh-CN" b="0" dirty="0">
              <a:latin typeface="Times New Roman" panose="02020603050405020304" pitchFamily="18" charset="0"/>
              <a:ea typeface="宋体" panose="02010600030101010101" pitchFamily="2" charset="-122"/>
            </a:endParaRPr>
          </a:p>
        </p:txBody>
      </p:sp>
      <p:sp>
        <p:nvSpPr>
          <p:cNvPr id="2" name="文本框 1"/>
          <p:cNvSpPr txBox="1"/>
          <p:nvPr/>
        </p:nvSpPr>
        <p:spPr>
          <a:xfrm>
            <a:off x="643255" y="3573145"/>
            <a:ext cx="4827905" cy="460375"/>
          </a:xfrm>
          <a:prstGeom prst="rect">
            <a:avLst/>
          </a:prstGeom>
          <a:solidFill>
            <a:schemeClr val="accent5">
              <a:lumMod val="60000"/>
              <a:lumOff val="40000"/>
            </a:schemeClr>
          </a:solidFill>
        </p:spPr>
        <p:txBody>
          <a:bodyPr wrap="none" rtlCol="0" anchor="t">
            <a:spAutoFit/>
          </a:bodyPr>
          <a:lstStyle/>
          <a:p>
            <a:r>
              <a:rPr lang="en-US" altLang="zh-CN" dirty="0">
                <a:sym typeface="+mn-ea"/>
              </a:rPr>
              <a:t>LOOP</a:t>
            </a:r>
            <a:r>
              <a:rPr lang="zh-CN" altLang="en-US" dirty="0">
                <a:sym typeface="+mn-ea"/>
              </a:rPr>
              <a:t>：	</a:t>
            </a:r>
            <a:r>
              <a:rPr lang="en-US" altLang="zh-CN" dirty="0">
                <a:solidFill>
                  <a:srgbClr val="FF0000"/>
                </a:solidFill>
                <a:sym typeface="+mn-ea"/>
              </a:rPr>
              <a:t>MOVX  A</a:t>
            </a:r>
            <a:r>
              <a:rPr lang="zh-CN" altLang="en-US" dirty="0">
                <a:solidFill>
                  <a:srgbClr val="FF0000"/>
                </a:solidFill>
                <a:sym typeface="+mn-ea"/>
              </a:rPr>
              <a:t>，</a:t>
            </a:r>
            <a:r>
              <a:rPr lang="en-US" altLang="zh-CN" dirty="0">
                <a:solidFill>
                  <a:srgbClr val="FF0000"/>
                </a:solidFill>
                <a:sym typeface="+mn-ea"/>
              </a:rPr>
              <a:t>@DPTR </a:t>
            </a:r>
            <a:endParaRPr lang="en-US" altLang="zh-CN"/>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123</a:t>
            </a:fld>
            <a:endParaRPr lang="en-US" altLang="zh-CN" sz="1400" b="0" dirty="0"/>
          </a:p>
        </p:txBody>
      </p:sp>
      <p:sp>
        <p:nvSpPr>
          <p:cNvPr id="163842" name="Rectangle 4"/>
          <p:cNvSpPr/>
          <p:nvPr/>
        </p:nvSpPr>
        <p:spPr>
          <a:xfrm>
            <a:off x="971550" y="908050"/>
            <a:ext cx="7272338" cy="4473575"/>
          </a:xfrm>
          <a:prstGeom prst="rect">
            <a:avLst/>
          </a:prstGeom>
          <a:noFill/>
          <a:ln w="9525">
            <a:noFill/>
          </a:ln>
        </p:spPr>
        <p:txBody>
          <a:bodyPr anchor="t" anchorCtr="0">
            <a:spAutoFit/>
          </a:bodyPr>
          <a:lstStyle/>
          <a:p>
            <a:pPr algn="just">
              <a:lnSpc>
                <a:spcPct val="150000"/>
              </a:lnSpc>
            </a:pPr>
            <a:r>
              <a:rPr lang="en-US" altLang="zh-CN" dirty="0">
                <a:solidFill>
                  <a:srgbClr val="FF0000"/>
                </a:solidFill>
                <a:latin typeface="Times New Roman" panose="02020603050405020304" pitchFamily="18" charset="0"/>
                <a:ea typeface="宋体" panose="02010600030101010101" pitchFamily="2" charset="-122"/>
              </a:rPr>
              <a:t>CJNE   A</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data</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rel	</a:t>
            </a:r>
            <a:r>
              <a:rPr lang="en-US" altLang="zh-CN" dirty="0">
                <a:latin typeface="Times New Roman" panose="02020603050405020304" pitchFamily="18" charset="0"/>
                <a:ea typeface="宋体" panose="02010600030101010101" pitchFamily="2" charset="-122"/>
              </a:rPr>
              <a:t>	</a:t>
            </a:r>
            <a:endParaRPr lang="en-US" altLang="zh-CN" b="0" dirty="0">
              <a:latin typeface="Times New Roman" panose="02020603050405020304" pitchFamily="18" charset="0"/>
              <a:ea typeface="宋体" panose="02010600030101010101" pitchFamily="2" charset="-122"/>
            </a:endParaRPr>
          </a:p>
          <a:p>
            <a:pPr algn="just" eaLnBrk="0" hangingPunct="0">
              <a:lnSpc>
                <a:spcPct val="150000"/>
              </a:lnSpc>
            </a:pPr>
            <a:r>
              <a:rPr lang="en-US" altLang="zh-CN" dirty="0">
                <a:latin typeface="Times New Roman" panose="02020603050405020304" pitchFamily="18" charset="0"/>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 </a:t>
            </a:r>
          </a:p>
          <a:p>
            <a:pPr algn="just" eaLnBrk="0" hangingPunct="0">
              <a:lnSpc>
                <a:spcPct val="150000"/>
              </a:lnSpc>
            </a:pPr>
            <a:r>
              <a:rPr lang="zh-CN" altLang="en-US" dirty="0">
                <a:latin typeface="Times New Roman" panose="02020603050405020304" pitchFamily="18" charset="0"/>
                <a:ea typeface="宋体" panose="02010600030101010101" pitchFamily="2" charset="-122"/>
              </a:rPr>
              <a:t>若</a:t>
            </a:r>
            <a:r>
              <a:rPr lang="en-US" altLang="zh-CN" dirty="0">
                <a:latin typeface="Times New Roman" panose="02020603050405020304" pitchFamily="18" charset="0"/>
                <a:ea typeface="宋体" panose="02010600030101010101" pitchFamily="2" charset="-122"/>
              </a:rPr>
              <a:t>(A)-data=0 </a:t>
            </a:r>
            <a:r>
              <a:rPr lang="zh-CN" altLang="en-US" dirty="0">
                <a:latin typeface="Times New Roman" panose="02020603050405020304" pitchFamily="18" charset="0"/>
                <a:ea typeface="宋体" panose="02010600030101010101" pitchFamily="2" charset="-122"/>
              </a:rPr>
              <a:t>： 顺序执行    </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3</a:t>
            </a:r>
            <a:endParaRPr lang="en-US" altLang="zh-CN" b="0" dirty="0">
              <a:latin typeface="Times New Roman" panose="02020603050405020304" pitchFamily="18" charset="0"/>
              <a:ea typeface="宋体" panose="02010600030101010101" pitchFamily="2" charset="-122"/>
            </a:endParaRPr>
          </a:p>
          <a:p>
            <a:pPr algn="just" eaLnBrk="0" hangingPunct="0">
              <a:lnSpc>
                <a:spcPct val="150000"/>
              </a:lnSpc>
            </a:pPr>
            <a:r>
              <a:rPr lang="en-US" altLang="zh-CN" dirty="0">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CY</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0</a:t>
            </a:r>
            <a:endParaRPr lang="en-US" altLang="zh-CN" b="0" dirty="0">
              <a:solidFill>
                <a:srgbClr val="FF0000"/>
              </a:solidFill>
              <a:latin typeface="Times New Roman" panose="02020603050405020304" pitchFamily="18" charset="0"/>
              <a:ea typeface="宋体" panose="02010600030101010101" pitchFamily="2" charset="-122"/>
            </a:endParaRPr>
          </a:p>
          <a:p>
            <a:pPr algn="just" eaLnBrk="0" hangingPunct="0">
              <a:lnSpc>
                <a:spcPct val="150000"/>
              </a:lnSpc>
            </a:pPr>
            <a:r>
              <a:rPr lang="zh-CN" altLang="en-US" dirty="0">
                <a:latin typeface="Times New Roman" panose="02020603050405020304" pitchFamily="18" charset="0"/>
                <a:ea typeface="宋体" panose="02010600030101010101" pitchFamily="2" charset="-122"/>
              </a:rPr>
              <a:t>若</a:t>
            </a:r>
            <a:r>
              <a:rPr lang="en-US" altLang="zh-CN" dirty="0">
                <a:latin typeface="Times New Roman" panose="02020603050405020304" pitchFamily="18" charset="0"/>
                <a:ea typeface="宋体" panose="02010600030101010101" pitchFamily="2" charset="-122"/>
              </a:rPr>
              <a:t>(A)-data&gt;0 </a:t>
            </a:r>
            <a:r>
              <a:rPr lang="zh-CN" altLang="en-US" dirty="0">
                <a:latin typeface="Times New Roman" panose="02020603050405020304" pitchFamily="18" charset="0"/>
                <a:ea typeface="宋体" panose="02010600030101010101" pitchFamily="2" charset="-122"/>
              </a:rPr>
              <a:t>：跳转      　 </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rel</a:t>
            </a:r>
            <a:endParaRPr lang="en-US" altLang="zh-CN" b="0" dirty="0">
              <a:latin typeface="Times New Roman" panose="02020603050405020304" pitchFamily="18" charset="0"/>
              <a:ea typeface="宋体" panose="02010600030101010101" pitchFamily="2" charset="-122"/>
            </a:endParaRPr>
          </a:p>
          <a:p>
            <a:pPr algn="just" eaLnBrk="0" hangingPunct="0">
              <a:lnSpc>
                <a:spcPct val="150000"/>
              </a:lnSpc>
            </a:pPr>
            <a:r>
              <a:rPr lang="en-US" altLang="zh-CN" dirty="0">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CY</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0</a:t>
            </a:r>
          </a:p>
          <a:p>
            <a:pPr algn="just" eaLnBrk="0" hangingPunct="0">
              <a:lnSpc>
                <a:spcPct val="150000"/>
              </a:lnSpc>
            </a:pPr>
            <a:r>
              <a:rPr lang="zh-CN" altLang="en-US" dirty="0">
                <a:latin typeface="Times New Roman" panose="02020603050405020304" pitchFamily="18" charset="0"/>
                <a:ea typeface="宋体" panose="02010600030101010101" pitchFamily="2" charset="-122"/>
              </a:rPr>
              <a:t>若</a:t>
            </a:r>
            <a:r>
              <a:rPr lang="en-US" altLang="zh-CN" dirty="0">
                <a:latin typeface="Times New Roman" panose="02020603050405020304" pitchFamily="18" charset="0"/>
                <a:ea typeface="宋体" panose="02010600030101010101" pitchFamily="2" charset="-122"/>
              </a:rPr>
              <a:t>(A)-data&lt;0</a:t>
            </a:r>
            <a:r>
              <a:rPr lang="zh-CN" altLang="en-US" dirty="0">
                <a:latin typeface="Times New Roman" panose="02020603050405020304" pitchFamily="18" charset="0"/>
                <a:ea typeface="宋体" panose="02010600030101010101" pitchFamily="2" charset="-122"/>
              </a:rPr>
              <a:t>： 跳转		</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rel</a:t>
            </a:r>
          </a:p>
          <a:p>
            <a:pPr algn="just" eaLnBrk="0" hangingPunct="0">
              <a:lnSpc>
                <a:spcPct val="150000"/>
              </a:lnSpc>
            </a:pPr>
            <a:r>
              <a:rPr lang="en-US" altLang="zh-CN" dirty="0">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CY</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l</a:t>
            </a:r>
            <a:endParaRPr lang="en-US" altLang="zh-CN" dirty="0">
              <a:solidFill>
                <a:srgbClr val="FF0000"/>
              </a:solidFill>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124</a:t>
            </a:fld>
            <a:endParaRPr lang="en-US" altLang="zh-CN" sz="1400" b="0" dirty="0"/>
          </a:p>
        </p:txBody>
      </p:sp>
      <p:sp>
        <p:nvSpPr>
          <p:cNvPr id="164866" name="Rectangle 2"/>
          <p:cNvSpPr/>
          <p:nvPr/>
        </p:nvSpPr>
        <p:spPr>
          <a:xfrm>
            <a:off x="381000" y="1066800"/>
            <a:ext cx="8153400" cy="3159125"/>
          </a:xfrm>
          <a:prstGeom prst="rect">
            <a:avLst/>
          </a:prstGeom>
          <a:noFill/>
          <a:ln w="9525">
            <a:noFill/>
          </a:ln>
        </p:spPr>
        <p:txBody>
          <a:bodyPr anchor="t" anchorCtr="0">
            <a:spAutoFit/>
          </a:bodyPr>
          <a:lstStyle/>
          <a:p>
            <a:pPr indent="236855" algn="just">
              <a:lnSpc>
                <a:spcPct val="140000"/>
              </a:lnSpc>
            </a:pPr>
            <a:r>
              <a:rPr lang="zh-CN" altLang="en-US" dirty="0">
                <a:latin typeface="Times New Roman" panose="02020603050405020304" pitchFamily="18" charset="0"/>
                <a:ea typeface="宋体" panose="02010600030101010101" pitchFamily="2" charset="-122"/>
              </a:rPr>
              <a:t>在</a:t>
            </a:r>
            <a:r>
              <a:rPr lang="en-US" altLang="zh-CN" dirty="0">
                <a:latin typeface="Times New Roman" panose="02020603050405020304" pitchFamily="18" charset="0"/>
                <a:ea typeface="宋体" panose="02010600030101010101" pitchFamily="2" charset="-122"/>
              </a:rPr>
              <a:t>MCS-51</a:t>
            </a:r>
            <a:r>
              <a:rPr lang="zh-CN" altLang="en-US" dirty="0">
                <a:latin typeface="Times New Roman" panose="02020603050405020304" pitchFamily="18" charset="0"/>
                <a:ea typeface="宋体" panose="02010600030101010101" pitchFamily="2" charset="-122"/>
              </a:rPr>
              <a:t>中没有专门的数值比较指令，两个数的数值比较可利用这四条指令执行后</a:t>
            </a:r>
            <a:r>
              <a:rPr lang="en-US" altLang="zh-CN" dirty="0">
                <a:latin typeface="Times New Roman" panose="02020603050405020304" pitchFamily="18" charset="0"/>
                <a:ea typeface="宋体" panose="02010600030101010101" pitchFamily="2" charset="-122"/>
              </a:rPr>
              <a:t>CY</a:t>
            </a:r>
            <a:r>
              <a:rPr lang="zh-CN" altLang="en-US" dirty="0">
                <a:latin typeface="Times New Roman" panose="02020603050405020304" pitchFamily="18" charset="0"/>
                <a:ea typeface="宋体" panose="02010600030101010101" pitchFamily="2" charset="-122"/>
              </a:rPr>
              <a:t>的状态来判断数值大小。</a:t>
            </a:r>
            <a:endParaRPr lang="zh-CN" altLang="en-US" b="0" dirty="0">
              <a:latin typeface="Times New Roman" panose="02020603050405020304" pitchFamily="18" charset="0"/>
              <a:ea typeface="宋体" panose="02010600030101010101" pitchFamily="2" charset="-122"/>
            </a:endParaRPr>
          </a:p>
          <a:p>
            <a:pPr indent="236855" algn="just" eaLnBrk="0" hangingPunct="0">
              <a:lnSpc>
                <a:spcPct val="140000"/>
              </a:lnSpc>
            </a:pPr>
            <a:r>
              <a:rPr lang="zh-CN" altLang="en-US" dirty="0">
                <a:latin typeface="Courier New" panose="02070309020205020404" pitchFamily="49" charset="0"/>
                <a:ea typeface="宋体" panose="02010600030101010101" pitchFamily="2" charset="-122"/>
              </a:rPr>
              <a:t> </a:t>
            </a:r>
            <a:endParaRPr lang="zh-CN" altLang="en-US" b="0" dirty="0">
              <a:latin typeface="Times New Roman" panose="02020603050405020304" pitchFamily="18" charset="0"/>
              <a:ea typeface="宋体" panose="02010600030101010101" pitchFamily="2" charset="-122"/>
            </a:endParaRPr>
          </a:p>
          <a:p>
            <a:pPr indent="236855" algn="just" eaLnBrk="0" hangingPunct="0">
              <a:lnSpc>
                <a:spcPct val="140000"/>
              </a:lnSpc>
            </a:pPr>
            <a:r>
              <a:rPr lang="zh-CN" altLang="en-US" dirty="0">
                <a:latin typeface="Times New Roman" panose="02020603050405020304" pitchFamily="18" charset="0"/>
                <a:ea typeface="宋体" panose="02010600030101010101" pitchFamily="2" charset="-122"/>
              </a:rPr>
              <a:t>若</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CY</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，则左操作数＞右操作数</a:t>
            </a:r>
            <a:endParaRPr lang="zh-CN" altLang="en-US" b="0" dirty="0">
              <a:latin typeface="Times New Roman" panose="02020603050405020304" pitchFamily="18" charset="0"/>
              <a:ea typeface="宋体" panose="02010600030101010101" pitchFamily="2" charset="-122"/>
            </a:endParaRPr>
          </a:p>
          <a:p>
            <a:pPr indent="236855" algn="just" eaLnBrk="0" hangingPunct="0">
              <a:lnSpc>
                <a:spcPct val="140000"/>
              </a:lnSpc>
            </a:pPr>
            <a:r>
              <a:rPr lang="zh-CN" altLang="en-US" dirty="0">
                <a:latin typeface="Times New Roman" panose="02020603050405020304" pitchFamily="18" charset="0"/>
                <a:ea typeface="宋体" panose="02010600030101010101" pitchFamily="2" charset="-122"/>
              </a:rPr>
              <a:t>若</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CY</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，则左操作数＜右操作数</a:t>
            </a:r>
            <a:endParaRPr lang="zh-CN" altLang="en-US" b="0" dirty="0">
              <a:latin typeface="Times New Roman" panose="02020603050405020304" pitchFamily="18" charset="0"/>
              <a:ea typeface="宋体" panose="02010600030101010101" pitchFamily="2" charset="-122"/>
            </a:endParaRPr>
          </a:p>
          <a:p>
            <a:pPr indent="236855" eaLnBrk="0" hangingPunct="0">
              <a:lnSpc>
                <a:spcPct val="140000"/>
              </a:lnSpc>
            </a:pPr>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125</a:t>
            </a:fld>
            <a:endParaRPr lang="en-US" altLang="zh-CN" sz="1400" b="0" dirty="0"/>
          </a:p>
        </p:txBody>
      </p:sp>
      <p:sp>
        <p:nvSpPr>
          <p:cNvPr id="84996" name="Rectangle 4"/>
          <p:cNvSpPr/>
          <p:nvPr/>
        </p:nvSpPr>
        <p:spPr>
          <a:xfrm>
            <a:off x="533400" y="685800"/>
            <a:ext cx="8153400" cy="4181475"/>
          </a:xfrm>
          <a:prstGeom prst="rect">
            <a:avLst/>
          </a:prstGeom>
          <a:noFill/>
          <a:ln w="9525">
            <a:noFill/>
          </a:ln>
        </p:spPr>
        <p:txBody>
          <a:bodyPr anchor="t" anchorCtr="0">
            <a:spAutoFit/>
          </a:bodyPr>
          <a:lstStyle/>
          <a:p>
            <a:pPr indent="236855" algn="just">
              <a:lnSpc>
                <a:spcPct val="140000"/>
              </a:lnSpc>
            </a:pPr>
            <a:r>
              <a:rPr lang="en-US" altLang="zh-CN" dirty="0">
                <a:solidFill>
                  <a:srgbClr val="FF0000"/>
                </a:solidFill>
                <a:latin typeface="Courier New" panose="02070309020205020404" pitchFamily="49"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indent="236855" algn="just" eaLnBrk="0" hangingPunct="0">
              <a:lnSpc>
                <a:spcPct val="140000"/>
              </a:lnSpc>
            </a:pP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3</a:t>
            </a:r>
            <a:r>
              <a:rPr lang="zh-CN" altLang="en-US" dirty="0">
                <a:solidFill>
                  <a:srgbClr val="FF0000"/>
                </a:solidFill>
                <a:latin typeface="Times New Roman" panose="02020603050405020304" pitchFamily="18" charset="0"/>
                <a:ea typeface="宋体" panose="02010600030101010101" pitchFamily="2" charset="-122"/>
              </a:rPr>
              <a:t>） 循环转移指令（或称为减</a:t>
            </a:r>
            <a:r>
              <a:rPr lang="en-US" altLang="zh-CN" dirty="0">
                <a:solidFill>
                  <a:srgbClr val="FF0000"/>
                </a:solidFill>
                <a:latin typeface="Times New Roman" panose="02020603050405020304" pitchFamily="18" charset="0"/>
                <a:ea typeface="宋体" panose="02010600030101010101" pitchFamily="2" charset="-122"/>
              </a:rPr>
              <a:t>1</a:t>
            </a:r>
            <a:r>
              <a:rPr lang="zh-CN" altLang="en-US" dirty="0">
                <a:solidFill>
                  <a:srgbClr val="FF0000"/>
                </a:solidFill>
                <a:latin typeface="Times New Roman" panose="02020603050405020304" pitchFamily="18" charset="0"/>
                <a:ea typeface="宋体" panose="02010600030101010101" pitchFamily="2" charset="-122"/>
              </a:rPr>
              <a:t>非零转移指令）</a:t>
            </a:r>
            <a:endParaRPr lang="zh-CN" altLang="en-US" dirty="0">
              <a:latin typeface="Times New Roman" panose="02020603050405020304" pitchFamily="18" charset="0"/>
              <a:ea typeface="宋体" panose="02010600030101010101" pitchFamily="2" charset="-122"/>
            </a:endParaRPr>
          </a:p>
          <a:p>
            <a:pPr indent="236855"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zh-CN" altLang="en-US" dirty="0">
                <a:solidFill>
                  <a:schemeClr val="accent2"/>
                </a:solidFill>
                <a:latin typeface="Times New Roman" panose="02020603050405020304" pitchFamily="18" charset="0"/>
                <a:ea typeface="宋体" panose="02010600030101010101" pitchFamily="2" charset="-122"/>
              </a:rPr>
              <a:t>　</a:t>
            </a:r>
            <a:r>
              <a:rPr lang="en-US" altLang="zh-CN" dirty="0">
                <a:solidFill>
                  <a:schemeClr val="accent2"/>
                </a:solidFill>
                <a:latin typeface="Times New Roman" panose="02020603050405020304" pitchFamily="18" charset="0"/>
                <a:ea typeface="宋体" panose="02010600030101010101" pitchFamily="2" charset="-122"/>
              </a:rPr>
              <a:t>DJNZ  	Rn</a:t>
            </a:r>
            <a:r>
              <a:rPr lang="zh-CN" altLang="en-US" dirty="0">
                <a:solidFill>
                  <a:schemeClr val="accent2"/>
                </a:solidFill>
                <a:latin typeface="Times New Roman" panose="02020603050405020304" pitchFamily="18" charset="0"/>
                <a:ea typeface="宋体" panose="02010600030101010101" pitchFamily="2" charset="-122"/>
              </a:rPr>
              <a:t>，</a:t>
            </a:r>
            <a:r>
              <a:rPr lang="en-US" altLang="zh-CN" dirty="0">
                <a:solidFill>
                  <a:schemeClr val="accent2"/>
                </a:solidFill>
                <a:latin typeface="Times New Roman" panose="02020603050405020304" pitchFamily="18" charset="0"/>
                <a:ea typeface="宋体" panose="02010600030101010101" pitchFamily="2" charset="-122"/>
              </a:rPr>
              <a:t>rel</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；两字节指令</a:t>
            </a:r>
          </a:p>
          <a:p>
            <a:pPr indent="236855" algn="just" eaLnBrk="0" hangingPunct="0">
              <a:lnSpc>
                <a:spcPct val="140000"/>
              </a:lnSpc>
            </a:pPr>
            <a:r>
              <a:rPr lang="zh-CN" altLang="en-US" dirty="0">
                <a:latin typeface="Times New Roman" panose="02020603050405020304" pitchFamily="18" charset="0"/>
                <a:ea typeface="宋体" panose="02010600030101010101" pitchFamily="2" charset="-122"/>
              </a:rPr>
              <a:t>			</a:t>
            </a:r>
          </a:p>
          <a:p>
            <a:pPr indent="236855"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Rn←</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Rn</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p>
          <a:p>
            <a:pPr indent="236855" algn="just" eaLnBrk="0" hangingPunct="0">
              <a:lnSpc>
                <a:spcPct val="14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；若</a:t>
            </a:r>
            <a:r>
              <a:rPr lang="en-US" altLang="zh-CN" dirty="0">
                <a:latin typeface="Times New Roman" panose="02020603050405020304" pitchFamily="18" charset="0"/>
                <a:ea typeface="宋体" panose="02010600030101010101" pitchFamily="2" charset="-122"/>
              </a:rPr>
              <a:t>(Rn)≠0</a:t>
            </a:r>
            <a:r>
              <a:rPr lang="zh-CN" altLang="en-US" dirty="0">
                <a:latin typeface="Times New Roman" panose="02020603050405020304" pitchFamily="18" charset="0"/>
                <a:ea typeface="宋体" panose="02010600030101010101" pitchFamily="2" charset="-122"/>
              </a:rPr>
              <a:t>，则跳转 </a:t>
            </a:r>
          </a:p>
          <a:p>
            <a:pPr indent="236855" algn="just" eaLnBrk="0" hangingPunct="0">
              <a:lnSpc>
                <a:spcPct val="140000"/>
              </a:lnSpc>
            </a:pPr>
            <a:r>
              <a:rPr lang="zh-CN" altLang="en-US" dirty="0">
                <a:latin typeface="Times New Roman" panose="02020603050405020304" pitchFamily="18" charset="0"/>
                <a:ea typeface="宋体" panose="02010600030101010101" pitchFamily="2" charset="-122"/>
              </a:rPr>
              <a:t>			；若（</a:t>
            </a:r>
            <a:r>
              <a:rPr lang="en-US" altLang="zh-CN" dirty="0">
                <a:latin typeface="Times New Roman" panose="02020603050405020304" pitchFamily="18" charset="0"/>
                <a:ea typeface="宋体" panose="02010600030101010101" pitchFamily="2" charset="-122"/>
              </a:rPr>
              <a:t>Rn</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 则顺序执行</a:t>
            </a:r>
          </a:p>
          <a:p>
            <a:pPr indent="236855" algn="just" eaLnBrk="0" hangingPunct="0">
              <a:lnSpc>
                <a:spcPct val="140000"/>
              </a:lnSpc>
            </a:pPr>
            <a:r>
              <a:rPr lang="zh-CN" altLang="en-US" dirty="0">
                <a:latin typeface="Times New Roman" panose="02020603050405020304" pitchFamily="18" charset="0"/>
                <a:ea typeface="宋体" panose="02010600030101010101" pitchFamily="2" charset="-122"/>
              </a:rPr>
              <a:t>	</a:t>
            </a:r>
          </a:p>
        </p:txBody>
      </p:sp>
      <p:sp>
        <p:nvSpPr>
          <p:cNvPr id="84997" name="Rectangle 5"/>
          <p:cNvSpPr/>
          <p:nvPr/>
        </p:nvSpPr>
        <p:spPr>
          <a:xfrm>
            <a:off x="539750" y="4797425"/>
            <a:ext cx="7775575" cy="457200"/>
          </a:xfrm>
          <a:prstGeom prst="rect">
            <a:avLst/>
          </a:prstGeom>
          <a:noFill/>
          <a:ln w="9525">
            <a:noFill/>
          </a:ln>
        </p:spPr>
        <p:txBody>
          <a:bodyPr anchor="t" anchorCtr="0">
            <a:spAutoFit/>
          </a:bodyPr>
          <a:lstStyle/>
          <a:p>
            <a:r>
              <a:rPr lang="en-US" altLang="zh-CN" dirty="0">
                <a:latin typeface="Times New Roman" panose="02020603050405020304" pitchFamily="18" charset="0"/>
                <a:ea typeface="宋体" panose="02010600030101010101" pitchFamily="2" charset="-122"/>
              </a:rPr>
              <a:t>	   </a:t>
            </a:r>
            <a:r>
              <a:rPr lang="en-US" altLang="zh-CN" dirty="0">
                <a:solidFill>
                  <a:schemeClr val="accent2"/>
                </a:solidFill>
                <a:latin typeface="Times New Roman" panose="02020603050405020304" pitchFamily="18" charset="0"/>
                <a:ea typeface="宋体" panose="02010600030101010101" pitchFamily="2" charset="-122"/>
              </a:rPr>
              <a:t>DJNZ  direct</a:t>
            </a:r>
            <a:r>
              <a:rPr lang="zh-CN" altLang="en-US" dirty="0">
                <a:solidFill>
                  <a:schemeClr val="accent2"/>
                </a:solidFill>
                <a:latin typeface="Times New Roman" panose="02020603050405020304" pitchFamily="18" charset="0"/>
                <a:ea typeface="宋体" panose="02010600030101010101" pitchFamily="2" charset="-122"/>
              </a:rPr>
              <a:t>，</a:t>
            </a:r>
            <a:r>
              <a:rPr lang="en-US" altLang="zh-CN" dirty="0">
                <a:solidFill>
                  <a:schemeClr val="accent2"/>
                </a:solidFill>
                <a:latin typeface="Times New Roman" panose="02020603050405020304" pitchFamily="18" charset="0"/>
                <a:ea typeface="宋体" panose="02010600030101010101" pitchFamily="2" charset="-122"/>
              </a:rPr>
              <a:t>rel</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；三字节指令</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126</a:t>
            </a:fld>
            <a:endParaRPr lang="en-US" altLang="zh-CN" sz="1400" b="0" dirty="0"/>
          </a:p>
        </p:txBody>
      </p:sp>
      <p:sp>
        <p:nvSpPr>
          <p:cNvPr id="252932" name="Text Box 4"/>
          <p:cNvSpPr txBox="1"/>
          <p:nvPr/>
        </p:nvSpPr>
        <p:spPr>
          <a:xfrm>
            <a:off x="250825" y="836613"/>
            <a:ext cx="8137525" cy="520700"/>
          </a:xfrm>
          <a:prstGeom prst="rect">
            <a:avLst/>
          </a:prstGeom>
          <a:noFill/>
          <a:ln w="9525">
            <a:noFill/>
          </a:ln>
        </p:spPr>
        <p:txBody>
          <a:bodyPr anchor="t" anchorCtr="0">
            <a:spAutoFit/>
          </a:bodyPr>
          <a:lstStyle/>
          <a:p>
            <a:pPr>
              <a:lnSpc>
                <a:spcPct val="130000"/>
              </a:lnSpc>
            </a:pP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4-14  </a:t>
            </a:r>
            <a:r>
              <a:rPr lang="zh-CN" altLang="en-US" dirty="0">
                <a:latin typeface="Times New Roman" panose="02020603050405020304" pitchFamily="18" charset="0"/>
                <a:ea typeface="宋体" panose="02010600030101010101" pitchFamily="2" charset="-122"/>
              </a:rPr>
              <a:t>把</a:t>
            </a:r>
            <a:r>
              <a:rPr lang="zh-CN" altLang="en-US" dirty="0">
                <a:solidFill>
                  <a:schemeClr val="accent2"/>
                </a:solidFill>
                <a:latin typeface="Times New Roman" panose="02020603050405020304" pitchFamily="18" charset="0"/>
                <a:ea typeface="宋体" panose="02010600030101010101" pitchFamily="2" charset="-122"/>
              </a:rPr>
              <a:t>内部</a:t>
            </a:r>
            <a:r>
              <a:rPr lang="en-US" altLang="zh-CN" dirty="0">
                <a:solidFill>
                  <a:schemeClr val="accent2"/>
                </a:solidFill>
                <a:latin typeface="Times New Roman" panose="02020603050405020304" pitchFamily="18" charset="0"/>
                <a:ea typeface="宋体" panose="02010600030101010101" pitchFamily="2" charset="-122"/>
              </a:rPr>
              <a:t>RAM</a:t>
            </a:r>
            <a:r>
              <a:rPr lang="en-US" altLang="zh-CN" dirty="0">
                <a:latin typeface="Times New Roman" panose="02020603050405020304" pitchFamily="18" charset="0"/>
                <a:ea typeface="宋体" panose="02010600030101010101" pitchFamily="2" charset="-122"/>
              </a:rPr>
              <a:t>  50H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6FH</a:t>
            </a:r>
            <a:r>
              <a:rPr lang="zh-CN" altLang="en-US" dirty="0">
                <a:latin typeface="Times New Roman" panose="02020603050405020304" pitchFamily="18" charset="0"/>
                <a:ea typeface="宋体" panose="02010600030101010101" pitchFamily="2" charset="-122"/>
              </a:rPr>
              <a:t>单元的内容置为</a:t>
            </a:r>
            <a:r>
              <a:rPr lang="en-US" altLang="zh-CN" dirty="0">
                <a:latin typeface="Times New Roman" panose="02020603050405020304" pitchFamily="18" charset="0"/>
                <a:ea typeface="宋体" panose="02010600030101010101" pitchFamily="2" charset="-122"/>
              </a:rPr>
              <a:t>10H</a:t>
            </a:r>
            <a:r>
              <a:rPr lang="zh-CN" altLang="en-US" dirty="0">
                <a:latin typeface="Times New Roman" panose="02020603050405020304" pitchFamily="18" charset="0"/>
                <a:ea typeface="宋体" panose="02010600030101010101" pitchFamily="2" charset="-122"/>
              </a:rPr>
              <a:t>。	</a:t>
            </a:r>
          </a:p>
        </p:txBody>
      </p:sp>
      <p:sp>
        <p:nvSpPr>
          <p:cNvPr id="252933" name="Text Box 5"/>
          <p:cNvSpPr txBox="1"/>
          <p:nvPr/>
        </p:nvSpPr>
        <p:spPr>
          <a:xfrm>
            <a:off x="179388" y="1628775"/>
            <a:ext cx="8137525" cy="3928110"/>
          </a:xfrm>
          <a:prstGeom prst="rect">
            <a:avLst/>
          </a:prstGeom>
          <a:noFill/>
          <a:ln w="9525">
            <a:noFill/>
          </a:ln>
        </p:spPr>
        <p:txBody>
          <a:bodyPr anchor="t" anchorCtr="0">
            <a:spAutoFit/>
          </a:bodyPr>
          <a:lstStyle/>
          <a:p>
            <a:pPr>
              <a:lnSpc>
                <a:spcPct val="130000"/>
              </a:lnSpc>
            </a:pPr>
            <a:r>
              <a:rPr lang="en-US" altLang="zh-CN" dirty="0">
                <a:latin typeface="Times New Roman" panose="02020603050405020304" pitchFamily="18" charset="0"/>
                <a:ea typeface="宋体" panose="02010600030101010101" pitchFamily="2" charset="-122"/>
              </a:rPr>
              <a:t>		 ORG   0000H</a:t>
            </a:r>
          </a:p>
          <a:p>
            <a:pPr>
              <a:lnSpc>
                <a:spcPct val="130000"/>
              </a:lnSpc>
            </a:pPr>
            <a:r>
              <a:rPr lang="en-US" altLang="zh-CN" dirty="0">
                <a:latin typeface="Times New Roman" panose="02020603050405020304" pitchFamily="18" charset="0"/>
                <a:ea typeface="宋体" panose="02010600030101010101" pitchFamily="2" charset="-122"/>
              </a:rPr>
              <a:t>START:	 </a:t>
            </a:r>
            <a:r>
              <a:rPr lang="en-US" altLang="zh-CN" dirty="0">
                <a:solidFill>
                  <a:srgbClr val="FF0000"/>
                </a:solidFill>
                <a:latin typeface="Times New Roman" panose="02020603050405020304" pitchFamily="18" charset="0"/>
                <a:ea typeface="宋体" panose="02010600030101010101" pitchFamily="2" charset="-122"/>
              </a:rPr>
              <a:t>MOV  R0, #50H</a:t>
            </a:r>
          </a:p>
          <a:p>
            <a:pPr>
              <a:lnSpc>
                <a:spcPct val="130000"/>
              </a:lnSpc>
            </a:pPr>
            <a:r>
              <a:rPr lang="en-US" altLang="zh-CN" dirty="0">
                <a:solidFill>
                  <a:srgbClr val="FF0000"/>
                </a:solidFill>
                <a:latin typeface="Times New Roman" panose="02020603050405020304" pitchFamily="18" charset="0"/>
                <a:ea typeface="宋体" panose="02010600030101010101" pitchFamily="2" charset="-122"/>
              </a:rPr>
              <a:t>	             MOV  R1, #20H	; </a:t>
            </a:r>
            <a:r>
              <a:rPr lang="zh-CN" altLang="en-US" dirty="0">
                <a:solidFill>
                  <a:srgbClr val="FF0000"/>
                </a:solidFill>
                <a:latin typeface="Times New Roman" panose="02020603050405020304" pitchFamily="18" charset="0"/>
                <a:ea typeface="宋体" panose="02010600030101010101" pitchFamily="2" charset="-122"/>
              </a:rPr>
              <a:t>给</a:t>
            </a:r>
            <a:r>
              <a:rPr lang="en-US" altLang="zh-CN" dirty="0">
                <a:solidFill>
                  <a:srgbClr val="FF0000"/>
                </a:solidFill>
                <a:latin typeface="Times New Roman" panose="02020603050405020304" pitchFamily="18" charset="0"/>
                <a:ea typeface="宋体" panose="02010600030101010101" pitchFamily="2" charset="-122"/>
              </a:rPr>
              <a:t>R1</a:t>
            </a:r>
            <a:r>
              <a:rPr lang="zh-CN" altLang="en-US" dirty="0">
                <a:solidFill>
                  <a:srgbClr val="FF0000"/>
                </a:solidFill>
                <a:latin typeface="Times New Roman" panose="02020603050405020304" pitchFamily="18" charset="0"/>
                <a:ea typeface="宋体" panose="02010600030101010101" pitchFamily="2" charset="-122"/>
              </a:rPr>
              <a:t>装载循环次数</a:t>
            </a:r>
          </a:p>
          <a:p>
            <a:pPr>
              <a:lnSpc>
                <a:spcPct val="130000"/>
              </a:lnSpc>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MOV  A, #10H</a:t>
            </a:r>
          </a:p>
          <a:p>
            <a:pPr>
              <a:lnSpc>
                <a:spcPct val="130000"/>
              </a:lnSpc>
            </a:pPr>
            <a:endParaRPr lang="en-US" altLang="zh-CN"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INC	   R0		; </a:t>
            </a:r>
            <a:r>
              <a:rPr lang="zh-CN" altLang="en-US" dirty="0">
                <a:latin typeface="Times New Roman" panose="02020603050405020304" pitchFamily="18" charset="0"/>
                <a:ea typeface="宋体" panose="02010600030101010101" pitchFamily="2" charset="-122"/>
              </a:rPr>
              <a:t>修改指针</a:t>
            </a: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DJNZ  R1, LOOP	; </a:t>
            </a:r>
            <a:r>
              <a:rPr lang="zh-CN" altLang="en-US" dirty="0">
                <a:latin typeface="Times New Roman" panose="02020603050405020304" pitchFamily="18" charset="0"/>
                <a:ea typeface="宋体" panose="02010600030101010101" pitchFamily="2" charset="-122"/>
              </a:rPr>
              <a:t>循环控制</a:t>
            </a: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END</a:t>
            </a:r>
          </a:p>
        </p:txBody>
      </p:sp>
      <p:sp>
        <p:nvSpPr>
          <p:cNvPr id="252934" name="Text Box 6"/>
          <p:cNvSpPr txBox="1"/>
          <p:nvPr/>
        </p:nvSpPr>
        <p:spPr>
          <a:xfrm>
            <a:off x="250825" y="5876925"/>
            <a:ext cx="7705725" cy="457200"/>
          </a:xfrm>
          <a:prstGeom prst="rect">
            <a:avLst/>
          </a:prstGeom>
          <a:noFill/>
          <a:ln w="9525">
            <a:noFill/>
          </a:ln>
        </p:spPr>
        <p:txBody>
          <a:bodyPr anchor="t" anchorCtr="0">
            <a:spAutoFit/>
          </a:bodyPr>
          <a:lstStyle/>
          <a:p>
            <a:pPr>
              <a:spcBef>
                <a:spcPct val="50000"/>
              </a:spcBef>
            </a:pPr>
            <a:r>
              <a:rPr lang="zh-CN" altLang="en-US" dirty="0">
                <a:latin typeface="Times New Roman" panose="02020603050405020304" pitchFamily="18" charset="0"/>
                <a:ea typeface="宋体" panose="02010600030101010101" pitchFamily="2" charset="-122"/>
              </a:rPr>
              <a:t>思考：若将内部</a:t>
            </a:r>
            <a:r>
              <a:rPr lang="en-US" altLang="zh-CN" dirty="0">
                <a:latin typeface="Times New Roman" panose="02020603050405020304" pitchFamily="18" charset="0"/>
                <a:ea typeface="宋体" panose="02010600030101010101" pitchFamily="2" charset="-122"/>
              </a:rPr>
              <a:t>RAM </a:t>
            </a:r>
            <a:r>
              <a:rPr lang="zh-CN" altLang="en-US" dirty="0">
                <a:latin typeface="Times New Roman" panose="02020603050405020304" pitchFamily="18" charset="0"/>
                <a:ea typeface="宋体" panose="02010600030101010101" pitchFamily="2" charset="-122"/>
              </a:rPr>
              <a:t>改成外部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，该如何实现？</a:t>
            </a:r>
          </a:p>
        </p:txBody>
      </p:sp>
      <p:sp>
        <p:nvSpPr>
          <p:cNvPr id="6" name="矩形 5"/>
          <p:cNvSpPr/>
          <p:nvPr/>
        </p:nvSpPr>
        <p:spPr>
          <a:xfrm>
            <a:off x="144463" y="3505200"/>
            <a:ext cx="6156325" cy="571500"/>
          </a:xfrm>
          <a:prstGeom prst="rect">
            <a:avLst/>
          </a:prstGeom>
          <a:noFill/>
          <a:ln w="9525">
            <a:noFill/>
          </a:ln>
        </p:spPr>
        <p:txBody>
          <a:bodyPr anchor="t" anchorCtr="0">
            <a:spAutoFit/>
          </a:bodyPr>
          <a:lstStyle/>
          <a:p>
            <a:pPr>
              <a:lnSpc>
                <a:spcPct val="130000"/>
              </a:lnSpc>
            </a:pPr>
            <a:r>
              <a:rPr lang="en-US" altLang="zh-CN" dirty="0">
                <a:solidFill>
                  <a:srgbClr val="000099"/>
                </a:solidFill>
                <a:latin typeface="Times New Roman" panose="02020603050405020304" pitchFamily="18" charset="0"/>
                <a:ea typeface="宋体" panose="02010600030101010101" pitchFamily="2" charset="-122"/>
              </a:rPr>
              <a:t>LOOP:	 MOV  @R0, A	; </a:t>
            </a:r>
            <a:r>
              <a:rPr lang="zh-CN" altLang="en-US" dirty="0">
                <a:solidFill>
                  <a:srgbClr val="000099"/>
                </a:solidFill>
                <a:latin typeface="Times New Roman" panose="02020603050405020304" pitchFamily="18" charset="0"/>
                <a:ea typeface="宋体" panose="02010600030101010101" pitchFamily="2" charset="-122"/>
              </a:rPr>
              <a:t>置为</a:t>
            </a:r>
            <a:r>
              <a:rPr lang="en-US" altLang="zh-CN" dirty="0">
                <a:solidFill>
                  <a:srgbClr val="000099"/>
                </a:solidFill>
                <a:latin typeface="Times New Roman" panose="02020603050405020304" pitchFamily="18" charset="0"/>
                <a:ea typeface="宋体" panose="02010600030101010101" pitchFamily="2" charset="-122"/>
              </a:rPr>
              <a:t>10H</a:t>
            </a:r>
            <a:endParaRPr lang="zh-CN" altLang="en-US" dirty="0">
              <a:solidFill>
                <a:srgbClr val="000099"/>
              </a:solidFill>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127</a:t>
            </a:fld>
            <a:endParaRPr lang="en-US" altLang="zh-CN" sz="1400" b="0" dirty="0"/>
          </a:p>
        </p:txBody>
      </p:sp>
      <p:sp>
        <p:nvSpPr>
          <p:cNvPr id="253956" name="Text Box 4"/>
          <p:cNvSpPr txBox="1"/>
          <p:nvPr/>
        </p:nvSpPr>
        <p:spPr>
          <a:xfrm>
            <a:off x="250825" y="1125538"/>
            <a:ext cx="8137525" cy="3889375"/>
          </a:xfrm>
          <a:prstGeom prst="rect">
            <a:avLst/>
          </a:prstGeom>
          <a:noFill/>
          <a:ln w="9525">
            <a:noFill/>
          </a:ln>
        </p:spPr>
        <p:txBody>
          <a:bodyPr anchor="t" anchorCtr="0">
            <a:spAutoFit/>
          </a:bodyPr>
          <a:lstStyle/>
          <a:p>
            <a:pPr>
              <a:lnSpc>
                <a:spcPct val="130000"/>
              </a:lnSpc>
            </a:pPr>
            <a:r>
              <a:rPr lang="en-US" altLang="zh-CN" dirty="0">
                <a:latin typeface="Times New Roman" panose="02020603050405020304" pitchFamily="18" charset="0"/>
                <a:ea typeface="宋体" panose="02010600030101010101" pitchFamily="2" charset="-122"/>
              </a:rPr>
              <a:t>		 ORG   0000H</a:t>
            </a:r>
          </a:p>
          <a:p>
            <a:pPr>
              <a:lnSpc>
                <a:spcPct val="130000"/>
              </a:lnSpc>
            </a:pPr>
            <a:r>
              <a:rPr lang="en-US" altLang="zh-CN" dirty="0">
                <a:latin typeface="Times New Roman" panose="02020603050405020304" pitchFamily="18" charset="0"/>
                <a:ea typeface="宋体" panose="02010600030101010101" pitchFamily="2" charset="-122"/>
              </a:rPr>
              <a:t>START:	 </a:t>
            </a:r>
            <a:r>
              <a:rPr lang="en-US" altLang="zh-CN" dirty="0">
                <a:solidFill>
                  <a:srgbClr val="FF0000"/>
                </a:solidFill>
                <a:latin typeface="Times New Roman" panose="02020603050405020304" pitchFamily="18" charset="0"/>
                <a:ea typeface="宋体" panose="02010600030101010101" pitchFamily="2" charset="-122"/>
              </a:rPr>
              <a:t>MOV  R0, #50H</a:t>
            </a:r>
          </a:p>
          <a:p>
            <a:pPr>
              <a:lnSpc>
                <a:spcPct val="130000"/>
              </a:lnSpc>
            </a:pPr>
            <a:r>
              <a:rPr lang="en-US" altLang="zh-CN" dirty="0">
                <a:solidFill>
                  <a:srgbClr val="FF0000"/>
                </a:solidFill>
                <a:latin typeface="Times New Roman" panose="02020603050405020304" pitchFamily="18" charset="0"/>
                <a:ea typeface="宋体" panose="02010600030101010101" pitchFamily="2" charset="-122"/>
              </a:rPr>
              <a:t>	             MOV  R1, #20H	; </a:t>
            </a:r>
            <a:r>
              <a:rPr lang="zh-CN" altLang="en-US" dirty="0">
                <a:solidFill>
                  <a:srgbClr val="FF0000"/>
                </a:solidFill>
                <a:latin typeface="Times New Roman" panose="02020603050405020304" pitchFamily="18" charset="0"/>
                <a:ea typeface="宋体" panose="02010600030101010101" pitchFamily="2" charset="-122"/>
              </a:rPr>
              <a:t>给</a:t>
            </a:r>
            <a:r>
              <a:rPr lang="en-US" altLang="zh-CN" dirty="0">
                <a:solidFill>
                  <a:srgbClr val="FF0000"/>
                </a:solidFill>
                <a:latin typeface="Times New Roman" panose="02020603050405020304" pitchFamily="18" charset="0"/>
                <a:ea typeface="宋体" panose="02010600030101010101" pitchFamily="2" charset="-122"/>
              </a:rPr>
              <a:t>R1</a:t>
            </a:r>
            <a:r>
              <a:rPr lang="zh-CN" altLang="en-US" dirty="0">
                <a:solidFill>
                  <a:srgbClr val="FF0000"/>
                </a:solidFill>
                <a:latin typeface="Times New Roman" panose="02020603050405020304" pitchFamily="18" charset="0"/>
                <a:ea typeface="宋体" panose="02010600030101010101" pitchFamily="2" charset="-122"/>
              </a:rPr>
              <a:t>装载循环次数</a:t>
            </a:r>
          </a:p>
          <a:p>
            <a:pPr>
              <a:lnSpc>
                <a:spcPct val="130000"/>
              </a:lnSpc>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MOV  A, #10H</a:t>
            </a:r>
          </a:p>
          <a:p>
            <a:pPr>
              <a:lnSpc>
                <a:spcPct val="130000"/>
              </a:lnSpc>
            </a:pPr>
            <a:r>
              <a:rPr lang="en-US" altLang="zh-CN" dirty="0">
                <a:latin typeface="Times New Roman" panose="02020603050405020304" pitchFamily="18" charset="0"/>
                <a:ea typeface="宋体" panose="02010600030101010101" pitchFamily="2" charset="-122"/>
              </a:rPr>
              <a:t>LOOP:	 MOVX  @R0, A	; </a:t>
            </a:r>
            <a:r>
              <a:rPr lang="zh-CN" altLang="en-US" dirty="0">
                <a:latin typeface="Times New Roman" panose="02020603050405020304" pitchFamily="18" charset="0"/>
                <a:ea typeface="宋体" panose="02010600030101010101" pitchFamily="2" charset="-122"/>
              </a:rPr>
              <a:t>置为</a:t>
            </a:r>
            <a:r>
              <a:rPr lang="en-US" altLang="zh-CN" dirty="0">
                <a:latin typeface="Times New Roman" panose="02020603050405020304" pitchFamily="18" charset="0"/>
                <a:ea typeface="宋体" panose="02010600030101010101" pitchFamily="2" charset="-122"/>
              </a:rPr>
              <a:t>10H</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INC	   R0		; </a:t>
            </a:r>
            <a:r>
              <a:rPr lang="zh-CN" altLang="en-US" dirty="0">
                <a:latin typeface="Times New Roman" panose="02020603050405020304" pitchFamily="18" charset="0"/>
                <a:ea typeface="宋体" panose="02010600030101010101" pitchFamily="2" charset="-122"/>
              </a:rPr>
              <a:t>修改指针</a:t>
            </a: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DJNZ  R1, LOOP	; </a:t>
            </a:r>
            <a:r>
              <a:rPr lang="zh-CN" altLang="en-US" dirty="0">
                <a:latin typeface="Times New Roman" panose="02020603050405020304" pitchFamily="18" charset="0"/>
                <a:ea typeface="宋体" panose="02010600030101010101" pitchFamily="2" charset="-122"/>
              </a:rPr>
              <a:t>循环控制</a:t>
            </a: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END</a:t>
            </a:r>
          </a:p>
        </p:txBody>
      </p:sp>
      <p:sp>
        <p:nvSpPr>
          <p:cNvPr id="253957" name="Text Box 5"/>
          <p:cNvSpPr txBox="1"/>
          <p:nvPr/>
        </p:nvSpPr>
        <p:spPr>
          <a:xfrm>
            <a:off x="0" y="5418138"/>
            <a:ext cx="8964613" cy="830262"/>
          </a:xfrm>
          <a:prstGeom prst="rect">
            <a:avLst/>
          </a:prstGeom>
          <a:noFill/>
          <a:ln w="9525">
            <a:noFill/>
          </a:ln>
        </p:spPr>
        <p:txBody>
          <a:bodyPr anchor="t" anchorCtr="0">
            <a:spAutoFit/>
          </a:bodyPr>
          <a:lstStyle/>
          <a:p>
            <a:pPr>
              <a:spcBef>
                <a:spcPct val="50000"/>
              </a:spcBef>
            </a:pPr>
            <a:r>
              <a:rPr lang="zh-CN" altLang="en-US" dirty="0">
                <a:latin typeface="Times New Roman" panose="02020603050405020304" pitchFamily="18" charset="0"/>
                <a:ea typeface="宋体" panose="02010600030101010101" pitchFamily="2" charset="-122"/>
              </a:rPr>
              <a:t>若：把</a:t>
            </a:r>
            <a:r>
              <a:rPr lang="en-US" altLang="zh-CN" dirty="0">
                <a:latin typeface="Times New Roman" panose="02020603050405020304" pitchFamily="18" charset="0"/>
                <a:ea typeface="宋体" panose="02010600030101010101" pitchFamily="2" charset="-122"/>
              </a:rPr>
              <a:t>5000H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501FH</a:t>
            </a:r>
            <a:r>
              <a:rPr lang="zh-CN" altLang="en-US" dirty="0">
                <a:latin typeface="Times New Roman" panose="02020603050405020304" pitchFamily="18" charset="0"/>
                <a:ea typeface="宋体" panose="02010600030101010101" pitchFamily="2" charset="-122"/>
              </a:rPr>
              <a:t>开始的外部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单元置为</a:t>
            </a:r>
            <a:r>
              <a:rPr lang="en-US" altLang="zh-CN" dirty="0">
                <a:latin typeface="Times New Roman" panose="02020603050405020304" pitchFamily="18" charset="0"/>
                <a:ea typeface="宋体" panose="02010600030101010101" pitchFamily="2" charset="-122"/>
              </a:rPr>
              <a:t>10H</a:t>
            </a:r>
            <a:r>
              <a:rPr lang="zh-CN" altLang="en-US" dirty="0">
                <a:latin typeface="Times New Roman" panose="02020603050405020304" pitchFamily="18" charset="0"/>
                <a:ea typeface="宋体" panose="02010600030101010101" pitchFamily="2" charset="-122"/>
              </a:rPr>
              <a:t>，该如何实现？</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128</a:t>
            </a:fld>
            <a:endParaRPr lang="en-US" altLang="zh-CN" sz="1400" b="0" dirty="0"/>
          </a:p>
        </p:txBody>
      </p:sp>
      <p:sp>
        <p:nvSpPr>
          <p:cNvPr id="172034" name="Rectangle 2"/>
          <p:cNvSpPr/>
          <p:nvPr/>
        </p:nvSpPr>
        <p:spPr>
          <a:xfrm>
            <a:off x="0" y="620713"/>
            <a:ext cx="8686800" cy="603250"/>
          </a:xfrm>
          <a:prstGeom prst="rect">
            <a:avLst/>
          </a:prstGeom>
          <a:noFill/>
          <a:ln w="9525">
            <a:noFill/>
          </a:ln>
        </p:spPr>
        <p:txBody>
          <a:bodyPr anchor="t" anchorCtr="0">
            <a:spAutoFit/>
          </a:bodyPr>
          <a:lstStyle/>
          <a:p>
            <a:pPr indent="236855" algn="just">
              <a:lnSpc>
                <a:spcPct val="140000"/>
              </a:lnSpc>
            </a:pPr>
            <a:r>
              <a:rPr lang="en-US" altLang="zh-CN" dirty="0">
                <a:solidFill>
                  <a:srgbClr val="FF0000"/>
                </a:solidFill>
                <a:latin typeface="Times New Roman" panose="02020603050405020304" pitchFamily="18" charset="0"/>
                <a:ea typeface="宋体" panose="02010600030101010101" pitchFamily="2" charset="-122"/>
              </a:rPr>
              <a:t>3</a:t>
            </a:r>
            <a:r>
              <a:rPr lang="zh-CN" altLang="en-US" dirty="0">
                <a:solidFill>
                  <a:srgbClr val="FF0000"/>
                </a:solidFill>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黑体" panose="02010609060101010101" pitchFamily="49" charset="-122"/>
              </a:rPr>
              <a:t>子程序调用与返回指令组</a:t>
            </a:r>
            <a:endParaRPr lang="zh-CN" altLang="en-US" b="0" dirty="0">
              <a:latin typeface="宋体" panose="02010600030101010101" pitchFamily="2" charset="-122"/>
              <a:ea typeface="宋体" panose="02010600030101010101" pitchFamily="2" charset="-122"/>
            </a:endParaRPr>
          </a:p>
        </p:txBody>
      </p:sp>
      <p:grpSp>
        <p:nvGrpSpPr>
          <p:cNvPr id="172035" name="Group 3"/>
          <p:cNvGrpSpPr/>
          <p:nvPr/>
        </p:nvGrpSpPr>
        <p:grpSpPr>
          <a:xfrm>
            <a:off x="4205288" y="2420938"/>
            <a:ext cx="4938712" cy="3671887"/>
            <a:chOff x="1536" y="768"/>
            <a:chExt cx="3360" cy="2494"/>
          </a:xfrm>
        </p:grpSpPr>
        <p:sp>
          <p:nvSpPr>
            <p:cNvPr id="172036" name="Text Box 4"/>
            <p:cNvSpPr txBox="1"/>
            <p:nvPr/>
          </p:nvSpPr>
          <p:spPr>
            <a:xfrm>
              <a:off x="2779" y="2969"/>
              <a:ext cx="706" cy="275"/>
            </a:xfrm>
            <a:prstGeom prst="rect">
              <a:avLst/>
            </a:prstGeom>
            <a:solidFill>
              <a:srgbClr val="FFFFFF"/>
            </a:solidFill>
            <a:ln w="9525">
              <a:noFill/>
            </a:ln>
          </p:spPr>
          <p:txBody>
            <a:bodyPr lIns="0" tIns="0" rIns="0" bIns="0" anchor="t" anchorCtr="0"/>
            <a:lstStyle/>
            <a:p>
              <a:pPr algn="just" eaLnBrk="0" hangingPunct="0"/>
              <a:r>
                <a:rPr lang="zh-CN" altLang="en-US" dirty="0">
                  <a:latin typeface="Times New Roman" panose="02020603050405020304" pitchFamily="18" charset="0"/>
                  <a:ea typeface="宋体" panose="02010600030101010101" pitchFamily="2" charset="-122"/>
                </a:rPr>
                <a:t>返回</a:t>
              </a:r>
              <a:r>
                <a:rPr lang="en-US" altLang="zh-CN" dirty="0">
                  <a:latin typeface="Times New Roman" panose="02020603050405020304" pitchFamily="18" charset="0"/>
                  <a:ea typeface="宋体" panose="02010600030101010101" pitchFamily="2" charset="-122"/>
                </a:rPr>
                <a:t>2</a:t>
              </a:r>
            </a:p>
          </p:txBody>
        </p:sp>
        <p:sp>
          <p:nvSpPr>
            <p:cNvPr id="172037" name="Text Box 5"/>
            <p:cNvSpPr txBox="1"/>
            <p:nvPr/>
          </p:nvSpPr>
          <p:spPr>
            <a:xfrm>
              <a:off x="3302" y="2408"/>
              <a:ext cx="705" cy="274"/>
            </a:xfrm>
            <a:prstGeom prst="rect">
              <a:avLst/>
            </a:prstGeom>
            <a:solidFill>
              <a:srgbClr val="FFFFFF"/>
            </a:solidFill>
            <a:ln w="9525">
              <a:noFill/>
            </a:ln>
          </p:spPr>
          <p:txBody>
            <a:bodyPr lIns="0" tIns="0" rIns="0" bIns="0" anchor="t" anchorCtr="0"/>
            <a:lstStyle/>
            <a:p>
              <a:pPr algn="just" eaLnBrk="0" hangingPunct="0"/>
              <a:r>
                <a:rPr lang="zh-CN" altLang="en-US" dirty="0">
                  <a:latin typeface="Times New Roman" panose="02020603050405020304" pitchFamily="18" charset="0"/>
                  <a:ea typeface="宋体" panose="02010600030101010101" pitchFamily="2" charset="-122"/>
                </a:rPr>
                <a:t>返回</a:t>
              </a:r>
              <a:r>
                <a:rPr lang="en-US" altLang="zh-CN" dirty="0">
                  <a:latin typeface="Times New Roman" panose="02020603050405020304" pitchFamily="18" charset="0"/>
                  <a:ea typeface="宋体" panose="02010600030101010101" pitchFamily="2" charset="-122"/>
                </a:rPr>
                <a:t>1</a:t>
              </a:r>
            </a:p>
          </p:txBody>
        </p:sp>
        <p:sp>
          <p:nvSpPr>
            <p:cNvPr id="172038" name="Text Box 6"/>
            <p:cNvSpPr txBox="1"/>
            <p:nvPr/>
          </p:nvSpPr>
          <p:spPr>
            <a:xfrm>
              <a:off x="2779" y="1754"/>
              <a:ext cx="1141" cy="274"/>
            </a:xfrm>
            <a:prstGeom prst="rect">
              <a:avLst/>
            </a:prstGeom>
            <a:solidFill>
              <a:srgbClr val="FFFFFF"/>
            </a:solidFill>
            <a:ln w="9525">
              <a:noFill/>
            </a:ln>
          </p:spPr>
          <p:txBody>
            <a:bodyPr lIns="0" tIns="0" rIns="0" bIns="0" anchor="t" anchorCtr="0"/>
            <a:lstStyle/>
            <a:p>
              <a:pPr algn="just" eaLnBrk="0" hangingPunct="0"/>
              <a:r>
                <a:rPr lang="zh-CN" altLang="en-US" dirty="0">
                  <a:latin typeface="Times New Roman" panose="02020603050405020304" pitchFamily="18" charset="0"/>
                  <a:ea typeface="宋体" panose="02010600030101010101" pitchFamily="2" charset="-122"/>
                </a:rPr>
                <a:t>第</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次调用</a:t>
              </a:r>
            </a:p>
          </p:txBody>
        </p:sp>
        <p:sp>
          <p:nvSpPr>
            <p:cNvPr id="172039" name="Text Box 7"/>
            <p:cNvSpPr txBox="1"/>
            <p:nvPr/>
          </p:nvSpPr>
          <p:spPr>
            <a:xfrm>
              <a:off x="2544" y="1161"/>
              <a:ext cx="1176" cy="274"/>
            </a:xfrm>
            <a:prstGeom prst="rect">
              <a:avLst/>
            </a:prstGeom>
            <a:solidFill>
              <a:srgbClr val="FFFFFF"/>
            </a:solidFill>
            <a:ln w="9525">
              <a:noFill/>
            </a:ln>
          </p:spPr>
          <p:txBody>
            <a:bodyPr lIns="0" tIns="0" rIns="0" bIns="0" anchor="t" anchorCtr="0"/>
            <a:lstStyle/>
            <a:p>
              <a:pPr algn="just" eaLnBrk="0" hangingPunct="0"/>
              <a:r>
                <a:rPr lang="zh-CN" altLang="en-US" dirty="0">
                  <a:latin typeface="Times New Roman" panose="02020603050405020304" pitchFamily="18" charset="0"/>
                  <a:ea typeface="宋体" panose="02010600030101010101" pitchFamily="2" charset="-122"/>
                </a:rPr>
                <a:t>第</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次调用</a:t>
              </a:r>
            </a:p>
          </p:txBody>
        </p:sp>
        <p:sp>
          <p:nvSpPr>
            <p:cNvPr id="172040" name="Line 8"/>
            <p:cNvSpPr/>
            <p:nvPr/>
          </p:nvSpPr>
          <p:spPr>
            <a:xfrm>
              <a:off x="2309" y="934"/>
              <a:ext cx="0" cy="823"/>
            </a:xfrm>
            <a:prstGeom prst="line">
              <a:avLst/>
            </a:prstGeom>
            <a:ln w="28575" cap="flat" cmpd="sng">
              <a:solidFill>
                <a:schemeClr val="accent2"/>
              </a:solidFill>
              <a:prstDash val="solid"/>
              <a:round/>
              <a:headEnd type="none" w="med" len="med"/>
              <a:tailEnd type="triangle" w="med" len="med"/>
            </a:ln>
          </p:spPr>
        </p:sp>
        <p:sp>
          <p:nvSpPr>
            <p:cNvPr id="172041" name="Line 9"/>
            <p:cNvSpPr/>
            <p:nvPr/>
          </p:nvSpPr>
          <p:spPr>
            <a:xfrm flipV="1">
              <a:off x="2309" y="1206"/>
              <a:ext cx="1646" cy="548"/>
            </a:xfrm>
            <a:prstGeom prst="line">
              <a:avLst/>
            </a:prstGeom>
            <a:ln w="28575" cap="flat" cmpd="sng">
              <a:solidFill>
                <a:schemeClr val="accent2"/>
              </a:solidFill>
              <a:prstDash val="solid"/>
              <a:round/>
              <a:headEnd type="none" w="med" len="med"/>
              <a:tailEnd type="triangle" w="med" len="med"/>
            </a:ln>
          </p:spPr>
        </p:sp>
        <p:sp>
          <p:nvSpPr>
            <p:cNvPr id="172042" name="Line 10"/>
            <p:cNvSpPr/>
            <p:nvPr/>
          </p:nvSpPr>
          <p:spPr>
            <a:xfrm>
              <a:off x="3955" y="1206"/>
              <a:ext cx="0" cy="1919"/>
            </a:xfrm>
            <a:prstGeom prst="line">
              <a:avLst/>
            </a:prstGeom>
            <a:ln w="28575" cap="flat" cmpd="sng">
              <a:solidFill>
                <a:schemeClr val="accent2"/>
              </a:solidFill>
              <a:prstDash val="solid"/>
              <a:round/>
              <a:headEnd type="none" w="med" len="med"/>
              <a:tailEnd type="triangle" w="med" len="med"/>
            </a:ln>
          </p:spPr>
        </p:sp>
        <p:sp>
          <p:nvSpPr>
            <p:cNvPr id="172043" name="Line 11"/>
            <p:cNvSpPr/>
            <p:nvPr/>
          </p:nvSpPr>
          <p:spPr>
            <a:xfrm flipH="1" flipV="1">
              <a:off x="2309" y="2028"/>
              <a:ext cx="1646" cy="1097"/>
            </a:xfrm>
            <a:prstGeom prst="line">
              <a:avLst/>
            </a:prstGeom>
            <a:ln w="28575" cap="flat" cmpd="sng">
              <a:solidFill>
                <a:schemeClr val="accent2"/>
              </a:solidFill>
              <a:prstDash val="solid"/>
              <a:round/>
              <a:headEnd type="none" w="med" len="med"/>
              <a:tailEnd type="triangle" w="med" len="med"/>
            </a:ln>
          </p:spPr>
        </p:sp>
        <p:sp>
          <p:nvSpPr>
            <p:cNvPr id="172044" name="Line 12"/>
            <p:cNvSpPr/>
            <p:nvPr/>
          </p:nvSpPr>
          <p:spPr>
            <a:xfrm>
              <a:off x="2309" y="2028"/>
              <a:ext cx="0" cy="549"/>
            </a:xfrm>
            <a:prstGeom prst="line">
              <a:avLst/>
            </a:prstGeom>
            <a:ln w="28575" cap="flat" cmpd="sng">
              <a:solidFill>
                <a:schemeClr val="accent2"/>
              </a:solidFill>
              <a:prstDash val="solid"/>
              <a:round/>
              <a:headEnd type="none" w="med" len="med"/>
              <a:tailEnd type="triangle" w="med" len="med"/>
            </a:ln>
          </p:spPr>
        </p:sp>
        <p:sp>
          <p:nvSpPr>
            <p:cNvPr id="172045" name="Line 13"/>
            <p:cNvSpPr/>
            <p:nvPr/>
          </p:nvSpPr>
          <p:spPr>
            <a:xfrm flipV="1">
              <a:off x="2309" y="1343"/>
              <a:ext cx="1646" cy="1234"/>
            </a:xfrm>
            <a:prstGeom prst="line">
              <a:avLst/>
            </a:prstGeom>
            <a:ln w="28575" cap="flat" cmpd="sng">
              <a:solidFill>
                <a:schemeClr val="accent2"/>
              </a:solidFill>
              <a:prstDash val="solid"/>
              <a:round/>
              <a:headEnd type="none" w="med" len="med"/>
              <a:tailEnd type="triangle" w="med" len="med"/>
            </a:ln>
          </p:spPr>
        </p:sp>
        <p:sp>
          <p:nvSpPr>
            <p:cNvPr id="172046" name="Line 14"/>
            <p:cNvSpPr/>
            <p:nvPr/>
          </p:nvSpPr>
          <p:spPr>
            <a:xfrm flipH="1" flipV="1">
              <a:off x="2309" y="2851"/>
              <a:ext cx="1646" cy="274"/>
            </a:xfrm>
            <a:prstGeom prst="line">
              <a:avLst/>
            </a:prstGeom>
            <a:ln w="28575" cap="flat" cmpd="sng">
              <a:solidFill>
                <a:schemeClr val="accent2"/>
              </a:solidFill>
              <a:prstDash val="solid"/>
              <a:round/>
              <a:headEnd type="none" w="med" len="med"/>
              <a:tailEnd type="triangle" w="med" len="med"/>
            </a:ln>
          </p:spPr>
        </p:sp>
        <p:sp>
          <p:nvSpPr>
            <p:cNvPr id="172047" name="Line 15"/>
            <p:cNvSpPr/>
            <p:nvPr/>
          </p:nvSpPr>
          <p:spPr>
            <a:xfrm>
              <a:off x="2309" y="2851"/>
              <a:ext cx="0" cy="411"/>
            </a:xfrm>
            <a:prstGeom prst="line">
              <a:avLst/>
            </a:prstGeom>
            <a:ln w="28575" cap="flat" cmpd="sng">
              <a:solidFill>
                <a:schemeClr val="accent2"/>
              </a:solidFill>
              <a:prstDash val="solid"/>
              <a:round/>
              <a:headEnd type="none" w="med" len="med"/>
              <a:tailEnd type="triangle" w="med" len="med"/>
            </a:ln>
          </p:spPr>
        </p:sp>
        <p:sp>
          <p:nvSpPr>
            <p:cNvPr id="172048" name="Text Box 16"/>
            <p:cNvSpPr txBox="1"/>
            <p:nvPr/>
          </p:nvSpPr>
          <p:spPr>
            <a:xfrm>
              <a:off x="4123" y="1949"/>
              <a:ext cx="773" cy="490"/>
            </a:xfrm>
            <a:prstGeom prst="rect">
              <a:avLst/>
            </a:prstGeom>
            <a:solidFill>
              <a:srgbClr val="FFFFFF"/>
            </a:solidFill>
            <a:ln w="9525">
              <a:noFill/>
            </a:ln>
          </p:spPr>
          <p:txBody>
            <a:bodyPr lIns="0" tIns="0" rIns="0" bIns="0" anchor="t" anchorCtr="0"/>
            <a:lstStyle/>
            <a:p>
              <a:pPr algn="just" eaLnBrk="0" hangingPunct="0"/>
              <a:r>
                <a:rPr lang="zh-CN" altLang="en-US" dirty="0">
                  <a:latin typeface="Times New Roman" panose="02020603050405020304" pitchFamily="18" charset="0"/>
                  <a:ea typeface="宋体" panose="02010600030101010101" pitchFamily="2" charset="-122"/>
                </a:rPr>
                <a:t>子程序</a:t>
              </a:r>
            </a:p>
            <a:p>
              <a:pPr algn="just" eaLnBrk="0" hangingPunct="0"/>
              <a:r>
                <a:rPr lang="en-US" altLang="zh-CN" dirty="0">
                  <a:latin typeface="Times New Roman" panose="02020603050405020304" pitchFamily="18" charset="0"/>
                  <a:ea typeface="宋体" panose="02010600030101010101" pitchFamily="2" charset="-122"/>
                </a:rPr>
                <a:t>DELAY</a:t>
              </a:r>
            </a:p>
          </p:txBody>
        </p:sp>
        <p:sp>
          <p:nvSpPr>
            <p:cNvPr id="172049" name="Text Box 17"/>
            <p:cNvSpPr txBox="1"/>
            <p:nvPr/>
          </p:nvSpPr>
          <p:spPr>
            <a:xfrm>
              <a:off x="1923" y="768"/>
              <a:ext cx="235" cy="2468"/>
            </a:xfrm>
            <a:prstGeom prst="rect">
              <a:avLst/>
            </a:prstGeom>
            <a:solidFill>
              <a:srgbClr val="FFFFFF"/>
            </a:solidFill>
            <a:ln w="9525">
              <a:noFill/>
            </a:ln>
          </p:spPr>
          <p:txBody>
            <a:bodyPr lIns="0" tIns="0" rIns="0" bIns="0" anchor="t" anchorCtr="0"/>
            <a:lstStyle/>
            <a:p>
              <a:pPr algn="r" eaLnBrk="0" hangingPunct="0"/>
              <a:r>
                <a:rPr lang="zh-CN" altLang="en-US" dirty="0">
                  <a:latin typeface="Times New Roman" panose="02020603050405020304" pitchFamily="18" charset="0"/>
                  <a:ea typeface="宋体" panose="02010600030101010101" pitchFamily="2" charset="-122"/>
                </a:rPr>
                <a:t>主程序</a:t>
              </a:r>
            </a:p>
            <a:p>
              <a:pPr algn="r" eaLnBrk="0" hangingPunct="0"/>
              <a:endParaRPr lang="zh-CN" altLang="en-US" dirty="0">
                <a:latin typeface="Times New Roman" panose="02020603050405020304" pitchFamily="18" charset="0"/>
                <a:ea typeface="宋体" panose="02010600030101010101" pitchFamily="2" charset="-122"/>
              </a:endParaRPr>
            </a:p>
            <a:p>
              <a:pPr algn="r" eaLnBrk="0" hangingPunct="0"/>
              <a:r>
                <a:rPr lang="en-US" altLang="zh-CN" dirty="0">
                  <a:latin typeface="Times New Roman" panose="02020603050405020304" pitchFamily="18" charset="0"/>
                  <a:ea typeface="宋体" panose="02010600030101010101" pitchFamily="2" charset="-122"/>
                </a:rPr>
                <a:t>A</a:t>
              </a:r>
            </a:p>
            <a:p>
              <a:pPr algn="r" eaLnBrk="0" hangingPunct="0"/>
              <a:r>
                <a:rPr lang="en-US" altLang="zh-CN" dirty="0">
                  <a:latin typeface="Times New Roman" panose="02020603050405020304" pitchFamily="18" charset="0"/>
                  <a:ea typeface="宋体" panose="02010600030101010101" pitchFamily="2" charset="-122"/>
                </a:rPr>
                <a:t>B</a:t>
              </a:r>
            </a:p>
            <a:p>
              <a:pPr algn="r" eaLnBrk="0" hangingPunct="0"/>
              <a:endParaRPr lang="en-US" altLang="zh-CN" dirty="0">
                <a:latin typeface="Times New Roman" panose="02020603050405020304" pitchFamily="18" charset="0"/>
                <a:ea typeface="宋体" panose="02010600030101010101" pitchFamily="2" charset="-122"/>
              </a:endParaRPr>
            </a:p>
            <a:p>
              <a:pPr algn="r" eaLnBrk="0" hangingPunct="0">
                <a:spcBef>
                  <a:spcPct val="35000"/>
                </a:spcBef>
              </a:pPr>
              <a:r>
                <a:rPr lang="en-US" altLang="zh-CN" dirty="0">
                  <a:latin typeface="Times New Roman" panose="02020603050405020304" pitchFamily="18" charset="0"/>
                  <a:ea typeface="宋体" panose="02010600030101010101" pitchFamily="2" charset="-122"/>
                </a:rPr>
                <a:t>C</a:t>
              </a:r>
            </a:p>
            <a:p>
              <a:pPr algn="r" eaLnBrk="0" hangingPunct="0">
                <a:spcBef>
                  <a:spcPct val="35000"/>
                </a:spcBef>
              </a:pPr>
              <a:r>
                <a:rPr lang="en-US" altLang="zh-CN" dirty="0">
                  <a:latin typeface="Times New Roman" panose="02020603050405020304" pitchFamily="18" charset="0"/>
                  <a:ea typeface="宋体" panose="02010600030101010101" pitchFamily="2" charset="-122"/>
                </a:rPr>
                <a:t>D</a:t>
              </a:r>
            </a:p>
          </p:txBody>
        </p:sp>
        <p:sp>
          <p:nvSpPr>
            <p:cNvPr id="172050" name="Text Box 18"/>
            <p:cNvSpPr txBox="1"/>
            <p:nvPr/>
          </p:nvSpPr>
          <p:spPr>
            <a:xfrm>
              <a:off x="1536" y="1754"/>
              <a:ext cx="470" cy="274"/>
            </a:xfrm>
            <a:prstGeom prst="rect">
              <a:avLst/>
            </a:prstGeom>
            <a:solidFill>
              <a:srgbClr val="FFFFFF"/>
            </a:solidFill>
            <a:ln w="9525">
              <a:noFill/>
            </a:ln>
          </p:spPr>
          <p:txBody>
            <a:bodyPr lIns="0" tIns="0" rIns="0" bIns="0" anchor="t" anchorCtr="0"/>
            <a:lstStyle/>
            <a:p>
              <a:pPr algn="just" eaLnBrk="0" hangingPunct="0"/>
              <a:r>
                <a:rPr lang="zh-CN" altLang="en-US" dirty="0">
                  <a:latin typeface="Times New Roman" panose="02020603050405020304" pitchFamily="18" charset="0"/>
                  <a:ea typeface="宋体" panose="02010600030101010101" pitchFamily="2" charset="-122"/>
                </a:rPr>
                <a:t>断点</a:t>
              </a:r>
            </a:p>
          </p:txBody>
        </p:sp>
        <p:sp>
          <p:nvSpPr>
            <p:cNvPr id="172051" name="Oval 19"/>
            <p:cNvSpPr/>
            <p:nvPr/>
          </p:nvSpPr>
          <p:spPr>
            <a:xfrm>
              <a:off x="2258" y="1754"/>
              <a:ext cx="89" cy="69"/>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lstStyle/>
            <a:p>
              <a:pPr algn="ctr"/>
              <a:endParaRPr lang="zh-CN" altLang="en-US" dirty="0">
                <a:latin typeface="Times New Roman" panose="02020603050405020304" pitchFamily="18" charset="0"/>
                <a:ea typeface="宋体" panose="02010600030101010101" pitchFamily="2" charset="-122"/>
              </a:endParaRPr>
            </a:p>
          </p:txBody>
        </p:sp>
        <p:sp>
          <p:nvSpPr>
            <p:cNvPr id="172052" name="Oval 20"/>
            <p:cNvSpPr/>
            <p:nvPr/>
          </p:nvSpPr>
          <p:spPr>
            <a:xfrm>
              <a:off x="2258" y="1989"/>
              <a:ext cx="89" cy="69"/>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lstStyle/>
            <a:p>
              <a:pPr algn="ctr"/>
              <a:endParaRPr lang="zh-CN" altLang="en-US" dirty="0">
                <a:latin typeface="Times New Roman" panose="02020603050405020304" pitchFamily="18" charset="0"/>
                <a:ea typeface="宋体" panose="02010600030101010101" pitchFamily="2" charset="-122"/>
              </a:endParaRPr>
            </a:p>
          </p:txBody>
        </p:sp>
        <p:sp>
          <p:nvSpPr>
            <p:cNvPr id="172053" name="Oval 21"/>
            <p:cNvSpPr/>
            <p:nvPr/>
          </p:nvSpPr>
          <p:spPr>
            <a:xfrm>
              <a:off x="2242" y="2577"/>
              <a:ext cx="88" cy="69"/>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lstStyle/>
            <a:p>
              <a:pPr algn="ctr"/>
              <a:endParaRPr lang="zh-CN" altLang="en-US" dirty="0">
                <a:latin typeface="Times New Roman" panose="02020603050405020304" pitchFamily="18" charset="0"/>
                <a:ea typeface="宋体" panose="02010600030101010101" pitchFamily="2" charset="-122"/>
              </a:endParaRPr>
            </a:p>
          </p:txBody>
        </p:sp>
        <p:sp>
          <p:nvSpPr>
            <p:cNvPr id="172054" name="Oval 22"/>
            <p:cNvSpPr/>
            <p:nvPr/>
          </p:nvSpPr>
          <p:spPr>
            <a:xfrm>
              <a:off x="2242" y="2798"/>
              <a:ext cx="88" cy="69"/>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lstStyle/>
            <a:p>
              <a:pPr algn="ctr"/>
              <a:endParaRPr lang="zh-CN" altLang="en-US" dirty="0">
                <a:latin typeface="Times New Roman" panose="02020603050405020304" pitchFamily="18" charset="0"/>
                <a:ea typeface="宋体" panose="02010600030101010101" pitchFamily="2" charset="-122"/>
              </a:endParaRPr>
            </a:p>
          </p:txBody>
        </p:sp>
        <p:sp>
          <p:nvSpPr>
            <p:cNvPr id="172055" name="Text Box 23"/>
            <p:cNvSpPr txBox="1"/>
            <p:nvPr/>
          </p:nvSpPr>
          <p:spPr>
            <a:xfrm>
              <a:off x="1554" y="2577"/>
              <a:ext cx="470" cy="274"/>
            </a:xfrm>
            <a:prstGeom prst="rect">
              <a:avLst/>
            </a:prstGeom>
            <a:solidFill>
              <a:srgbClr val="FFFFFF"/>
            </a:solidFill>
            <a:ln w="9525">
              <a:noFill/>
            </a:ln>
          </p:spPr>
          <p:txBody>
            <a:bodyPr lIns="0" tIns="0" rIns="0" bIns="0" anchor="t" anchorCtr="0"/>
            <a:lstStyle/>
            <a:p>
              <a:pPr algn="just" eaLnBrk="0" hangingPunct="0"/>
              <a:r>
                <a:rPr lang="zh-CN" altLang="en-US" dirty="0">
                  <a:latin typeface="Times New Roman" panose="02020603050405020304" pitchFamily="18" charset="0"/>
                  <a:ea typeface="宋体" panose="02010600030101010101" pitchFamily="2" charset="-122"/>
                </a:rPr>
                <a:t>断点</a:t>
              </a:r>
            </a:p>
          </p:txBody>
        </p:sp>
      </p:grpSp>
      <p:sp>
        <p:nvSpPr>
          <p:cNvPr id="172056" name="Rectangle 24"/>
          <p:cNvSpPr/>
          <p:nvPr/>
        </p:nvSpPr>
        <p:spPr>
          <a:xfrm>
            <a:off x="0" y="1196975"/>
            <a:ext cx="5076825" cy="2136775"/>
          </a:xfrm>
          <a:prstGeom prst="rect">
            <a:avLst/>
          </a:prstGeom>
          <a:noFill/>
          <a:ln w="9525">
            <a:noFill/>
          </a:ln>
        </p:spPr>
        <p:txBody>
          <a:bodyPr anchor="t" anchorCtr="0">
            <a:spAutoFit/>
          </a:bodyPr>
          <a:lstStyle/>
          <a:p>
            <a:pPr indent="236855" algn="just" eaLnBrk="0" hangingPunct="0">
              <a:lnSpc>
                <a:spcPct val="140000"/>
              </a:lnSpc>
            </a:pP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1</a:t>
            </a:r>
            <a:r>
              <a:rPr lang="zh-CN" altLang="en-US" dirty="0">
                <a:solidFill>
                  <a:srgbClr val="FF0000"/>
                </a:solidFill>
                <a:latin typeface="Times New Roman" panose="02020603050405020304" pitchFamily="18" charset="0"/>
                <a:ea typeface="宋体" panose="02010600030101010101" pitchFamily="2" charset="-122"/>
              </a:rPr>
              <a:t>） 子程序的概念</a:t>
            </a:r>
            <a:endParaRPr lang="zh-CN" altLang="en-US" b="0" dirty="0">
              <a:latin typeface="宋体" panose="02010600030101010101" pitchFamily="2" charset="-122"/>
              <a:ea typeface="宋体" panose="02010600030101010101" pitchFamily="2" charset="-122"/>
            </a:endParaRPr>
          </a:p>
          <a:p>
            <a:pPr indent="236855" algn="just" eaLnBrk="0" hangingPunct="0">
              <a:lnSpc>
                <a:spcPct val="140000"/>
              </a:lnSpc>
            </a:pPr>
            <a:r>
              <a:rPr lang="zh-CN" altLang="en-US" dirty="0">
                <a:latin typeface="Times New Roman" panose="02020603050405020304" pitchFamily="18" charset="0"/>
                <a:ea typeface="宋体" panose="02010600030101010101" pitchFamily="2" charset="-122"/>
              </a:rPr>
              <a:t>调用子程序的程序称之为主程序。</a:t>
            </a:r>
          </a:p>
          <a:p>
            <a:pPr indent="236855" algn="just" eaLnBrk="0" hangingPunct="0">
              <a:lnSpc>
                <a:spcPct val="140000"/>
              </a:lnSpc>
            </a:pPr>
            <a:r>
              <a:rPr lang="zh-CN" altLang="en-US" dirty="0">
                <a:latin typeface="Times New Roman" panose="02020603050405020304" pitchFamily="18" charset="0"/>
                <a:ea typeface="宋体" panose="02010600030101010101" pitchFamily="2" charset="-122"/>
              </a:rPr>
              <a:t>主程序和子程序之间的调用关系：</a:t>
            </a:r>
            <a:endParaRPr lang="zh-CN" altLang="en-US" b="0" dirty="0">
              <a:latin typeface="宋体" panose="02010600030101010101" pitchFamily="2" charset="-122"/>
              <a:ea typeface="宋体" panose="02010600030101010101" pitchFamily="2" charset="-122"/>
            </a:endParaRPr>
          </a:p>
          <a:p>
            <a:pPr indent="236855" eaLnBrk="0" hangingPunct="0">
              <a:lnSpc>
                <a:spcPct val="140000"/>
              </a:lnSpc>
            </a:pPr>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129</a:t>
            </a:fld>
            <a:endParaRPr lang="en-US" altLang="zh-CN" sz="1400" b="0" dirty="0"/>
          </a:p>
        </p:txBody>
      </p:sp>
      <p:sp>
        <p:nvSpPr>
          <p:cNvPr id="89113" name="Rectangle 25"/>
          <p:cNvSpPr/>
          <p:nvPr/>
        </p:nvSpPr>
        <p:spPr>
          <a:xfrm>
            <a:off x="228600" y="990600"/>
            <a:ext cx="8763000" cy="3889375"/>
          </a:xfrm>
          <a:prstGeom prst="rect">
            <a:avLst/>
          </a:prstGeom>
          <a:noFill/>
          <a:ln w="9525">
            <a:noFill/>
          </a:ln>
        </p:spPr>
        <p:txBody>
          <a:bodyPr anchor="t" anchorCtr="0">
            <a:spAutoFit/>
          </a:bodyPr>
          <a:lstStyle/>
          <a:p>
            <a:pPr indent="236855" algn="just">
              <a:lnSpc>
                <a:spcPct val="130000"/>
              </a:lnSpc>
            </a:pPr>
            <a:r>
              <a:rPr lang="en-US" altLang="zh-CN" dirty="0">
                <a:solidFill>
                  <a:srgbClr val="FF0000"/>
                </a:solidFill>
                <a:latin typeface="Courier New" panose="02070309020205020404" pitchFamily="49" charset="0"/>
                <a:ea typeface="宋体" panose="02010600030101010101" pitchFamily="2" charset="-122"/>
              </a:rPr>
              <a:t> </a:t>
            </a:r>
            <a:endParaRPr lang="en-US" altLang="zh-CN" b="0" dirty="0">
              <a:latin typeface="宋体" panose="02010600030101010101" pitchFamily="2" charset="-122"/>
              <a:ea typeface="宋体" panose="02010600030101010101" pitchFamily="2" charset="-122"/>
            </a:endParaRPr>
          </a:p>
          <a:p>
            <a:pPr indent="236855" algn="just">
              <a:lnSpc>
                <a:spcPct val="130000"/>
              </a:lnSpc>
            </a:pPr>
            <a:r>
              <a:rPr lang="en-US" altLang="zh-CN" dirty="0">
                <a:latin typeface="Times New Roman" panose="02020603050405020304" pitchFamily="18" charset="0"/>
                <a:ea typeface="宋体" panose="02010600030101010101" pitchFamily="2" charset="-122"/>
              </a:rPr>
              <a:t>MCS</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5l</a:t>
            </a:r>
            <a:r>
              <a:rPr lang="zh-CN" altLang="en-US" dirty="0">
                <a:latin typeface="Times New Roman" panose="02020603050405020304" pitchFamily="18" charset="0"/>
                <a:ea typeface="宋体" panose="02010600030101010101" pitchFamily="2" charset="-122"/>
              </a:rPr>
              <a:t>共有两条子程序调用指令和返回指令。</a:t>
            </a:r>
            <a:endParaRPr lang="zh-CN" altLang="en-US" b="0" dirty="0">
              <a:latin typeface="宋体" panose="02010600030101010101" pitchFamily="2" charset="-122"/>
              <a:ea typeface="宋体" panose="02010600030101010101" pitchFamily="2" charset="-122"/>
            </a:endParaRPr>
          </a:p>
          <a:p>
            <a:pPr indent="236855" eaLnBrk="0" hangingPunct="0">
              <a:lnSpc>
                <a:spcPct val="130000"/>
              </a:lnSpc>
            </a:pP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2</a:t>
            </a:r>
            <a:r>
              <a:rPr lang="zh-CN" altLang="en-US" dirty="0">
                <a:solidFill>
                  <a:srgbClr val="FF0000"/>
                </a:solidFill>
                <a:latin typeface="Times New Roman" panose="02020603050405020304" pitchFamily="18" charset="0"/>
                <a:ea typeface="宋体" panose="02010600030101010101" pitchFamily="2" charset="-122"/>
              </a:rPr>
              <a:t>）调用指令</a:t>
            </a:r>
          </a:p>
          <a:p>
            <a:pPr indent="236855" eaLnBrk="0" hangingPunct="0">
              <a:lnSpc>
                <a:spcPct val="130000"/>
              </a:lnSpc>
            </a:pPr>
            <a:r>
              <a:rPr lang="zh-CN" altLang="en-US" dirty="0">
                <a:solidFill>
                  <a:srgbClr val="FF0000"/>
                </a:solidFill>
                <a:latin typeface="Times New Roman" panose="02020603050405020304" pitchFamily="18" charset="0"/>
                <a:ea typeface="宋体" panose="02010600030101010101" pitchFamily="2" charset="-122"/>
              </a:rPr>
              <a:t>长调用指令：       </a:t>
            </a:r>
            <a:r>
              <a:rPr lang="en-US" altLang="zh-CN" dirty="0">
                <a:solidFill>
                  <a:schemeClr val="accent2"/>
                </a:solidFill>
                <a:latin typeface="Times New Roman" panose="02020603050405020304" pitchFamily="18" charset="0"/>
                <a:ea typeface="宋体" panose="02010600030101010101" pitchFamily="2" charset="-122"/>
              </a:rPr>
              <a:t>LCALL   addr16</a:t>
            </a:r>
          </a:p>
          <a:p>
            <a:pPr indent="236855" algn="just" eaLnBrk="0" hangingPunct="0">
              <a:lnSpc>
                <a:spcPct val="13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endParaRPr lang="en-US" altLang="zh-CN" b="0" dirty="0">
              <a:latin typeface="宋体" panose="02010600030101010101" pitchFamily="2" charset="-122"/>
              <a:ea typeface="宋体" panose="02010600030101010101" pitchFamily="2" charset="-122"/>
            </a:endParaRPr>
          </a:p>
          <a:p>
            <a:pPr indent="236855" algn="just" eaLnBrk="0" hangingPunct="0">
              <a:lnSpc>
                <a:spcPct val="13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baseline="-30000" dirty="0">
                <a:latin typeface="Times New Roman" panose="02020603050405020304" pitchFamily="18" charset="0"/>
                <a:ea typeface="宋体" panose="02010600030101010101" pitchFamily="2" charset="-122"/>
              </a:rPr>
              <a:t>7</a:t>
            </a:r>
            <a:r>
              <a:rPr lang="zh-CN" altLang="en-US" baseline="-30000" dirty="0">
                <a:latin typeface="Times New Roman" panose="02020603050405020304" pitchFamily="18" charset="0"/>
                <a:ea typeface="宋体" panose="02010600030101010101" pitchFamily="2" charset="-122"/>
              </a:rPr>
              <a:t>～</a:t>
            </a:r>
            <a:r>
              <a:rPr lang="en-US" altLang="zh-CN" baseline="-30000" dirty="0">
                <a:latin typeface="Times New Roman" panose="02020603050405020304" pitchFamily="18" charset="0"/>
                <a:ea typeface="宋体" panose="02010600030101010101" pitchFamily="2" charset="-122"/>
              </a:rPr>
              <a:t>0</a:t>
            </a:r>
            <a:endParaRPr lang="en-US" altLang="zh-CN" b="0" dirty="0">
              <a:latin typeface="宋体" panose="02010600030101010101" pitchFamily="2" charset="-122"/>
              <a:ea typeface="宋体" panose="02010600030101010101" pitchFamily="2" charset="-122"/>
            </a:endParaRPr>
          </a:p>
          <a:p>
            <a:pPr indent="236855" algn="just" eaLnBrk="0" hangingPunct="0">
              <a:lnSpc>
                <a:spcPct val="13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baseline="-30000" dirty="0">
                <a:latin typeface="Times New Roman" panose="02020603050405020304" pitchFamily="18" charset="0"/>
                <a:ea typeface="宋体" panose="02010600030101010101" pitchFamily="2" charset="-122"/>
              </a:rPr>
              <a:t>15</a:t>
            </a:r>
            <a:r>
              <a:rPr lang="zh-CN" altLang="en-US" baseline="-30000" dirty="0">
                <a:latin typeface="Times New Roman" panose="02020603050405020304" pitchFamily="18" charset="0"/>
                <a:ea typeface="宋体" panose="02010600030101010101" pitchFamily="2" charset="-122"/>
              </a:rPr>
              <a:t>～</a:t>
            </a:r>
            <a:r>
              <a:rPr lang="en-US" altLang="zh-CN" baseline="-30000" dirty="0">
                <a:latin typeface="Times New Roman" panose="02020603050405020304" pitchFamily="18" charset="0"/>
                <a:ea typeface="宋体" panose="02010600030101010101" pitchFamily="2" charset="-122"/>
              </a:rPr>
              <a:t>8 </a:t>
            </a:r>
            <a:endParaRPr lang="en-US" altLang="zh-CN" b="0" dirty="0">
              <a:latin typeface="宋体" panose="02010600030101010101" pitchFamily="2" charset="-122"/>
              <a:ea typeface="宋体" panose="02010600030101010101" pitchFamily="2" charset="-122"/>
            </a:endParaRPr>
          </a:p>
          <a:p>
            <a:pPr indent="236855" algn="just" eaLnBrk="0" hangingPunct="0">
              <a:lnSpc>
                <a:spcPct val="13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PC←addr16</a:t>
            </a:r>
            <a:endParaRPr lang="en-US" altLang="zh-CN" b="0" dirty="0">
              <a:latin typeface="Times New Roman" panose="02020603050405020304" pitchFamily="18" charset="0"/>
              <a:ea typeface="宋体" panose="02010600030101010101" pitchFamily="2" charset="-122"/>
            </a:endParaRPr>
          </a:p>
        </p:txBody>
      </p:sp>
      <p:sp>
        <p:nvSpPr>
          <p:cNvPr id="89124" name="Text Box 36"/>
          <p:cNvSpPr txBox="1"/>
          <p:nvPr/>
        </p:nvSpPr>
        <p:spPr>
          <a:xfrm>
            <a:off x="323850" y="5229225"/>
            <a:ext cx="6697663" cy="457200"/>
          </a:xfrm>
          <a:prstGeom prst="rect">
            <a:avLst/>
          </a:prstGeom>
          <a:noFill/>
          <a:ln w="9525">
            <a:noFill/>
          </a:ln>
        </p:spPr>
        <p:txBody>
          <a:bodyPr anchor="t" anchorCtr="0">
            <a:spAutoFit/>
          </a:bodyPr>
          <a:lstStyle/>
          <a:p>
            <a:pPr>
              <a:spcBef>
                <a:spcPct val="50000"/>
              </a:spcBef>
            </a:pPr>
            <a:r>
              <a:rPr lang="zh-CN" altLang="en-US" dirty="0">
                <a:latin typeface="Times New Roman" panose="02020603050405020304" pitchFamily="18" charset="0"/>
                <a:ea typeface="宋体" panose="02010600030101010101" pitchFamily="2" charset="-122"/>
              </a:rPr>
              <a:t>长调用指令的子程序调用范围是</a:t>
            </a:r>
            <a:r>
              <a:rPr lang="en-US" altLang="zh-CN" dirty="0">
                <a:latin typeface="Times New Roman" panose="02020603050405020304" pitchFamily="18" charset="0"/>
                <a:ea typeface="宋体" panose="02010600030101010101" pitchFamily="2" charset="-122"/>
              </a:rPr>
              <a:t>64KB</a:t>
            </a:r>
            <a:r>
              <a:rPr lang="zh-CN" altLang="en-US" dirty="0">
                <a:latin typeface="Times New Roman" panose="02020603050405020304" pitchFamily="18" charset="0"/>
                <a:ea typeface="宋体" panose="02010600030101010101" pitchFamily="2" charset="-122"/>
              </a:rPr>
              <a:t>。</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532" name="Picture 4"/>
          <p:cNvPicPr>
            <a:picLocks noChangeAspect="1"/>
          </p:cNvPicPr>
          <p:nvPr/>
        </p:nvPicPr>
        <p:blipFill>
          <a:blip r:embed="rId2"/>
          <a:srcRect l="1576" t="22118" r="44449" b="14886"/>
          <a:stretch>
            <a:fillRect/>
          </a:stretch>
        </p:blipFill>
        <p:spPr>
          <a:xfrm>
            <a:off x="828040" y="1068070"/>
            <a:ext cx="8356600" cy="5789930"/>
          </a:xfrm>
          <a:prstGeom prst="rect">
            <a:avLst/>
          </a:prstGeom>
          <a:noFill/>
          <a:ln w="9525">
            <a:noFill/>
          </a:ln>
        </p:spPr>
      </p:pic>
      <p:sp>
        <p:nvSpPr>
          <p:cNvPr id="4" name="文本框 3"/>
          <p:cNvSpPr txBox="1"/>
          <p:nvPr/>
        </p:nvSpPr>
        <p:spPr>
          <a:xfrm>
            <a:off x="179705" y="620395"/>
            <a:ext cx="8860155" cy="460375"/>
          </a:xfrm>
          <a:prstGeom prst="rect">
            <a:avLst/>
          </a:prstGeom>
          <a:noFill/>
        </p:spPr>
        <p:txBody>
          <a:bodyPr wrap="square" rtlCol="0">
            <a:spAutoFit/>
          </a:bodyPr>
          <a:lstStyle/>
          <a:p>
            <a:r>
              <a:rPr lang="zh-CN" altLang="en-US"/>
              <a:t>编程使奇数灯和偶数灯轮流点亮</a:t>
            </a:r>
            <a:r>
              <a:rPr lang="en-US" altLang="zh-CN"/>
              <a:t>1s</a:t>
            </a:r>
            <a:r>
              <a:rPr lang="zh-CN" altLang="en-US"/>
              <a:t>（</a:t>
            </a:r>
            <a:r>
              <a:rPr lang="en-US" altLang="zh-CN"/>
              <a:t>1s</a:t>
            </a:r>
            <a:r>
              <a:rPr lang="zh-CN" altLang="en-US"/>
              <a:t>延时用子程序实现）。</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54610" y="692785"/>
            <a:ext cx="9034780" cy="6137910"/>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132</a:t>
            </a:fld>
            <a:endParaRPr lang="en-US" altLang="zh-CN" sz="1400" b="0" dirty="0"/>
          </a:p>
        </p:txBody>
      </p:sp>
      <p:sp>
        <p:nvSpPr>
          <p:cNvPr id="176130" name="Rectangle 3"/>
          <p:cNvSpPr/>
          <p:nvPr/>
        </p:nvSpPr>
        <p:spPr>
          <a:xfrm>
            <a:off x="250825" y="1484313"/>
            <a:ext cx="8458200" cy="3159125"/>
          </a:xfrm>
          <a:prstGeom prst="rect">
            <a:avLst/>
          </a:prstGeom>
          <a:noFill/>
          <a:ln w="9525">
            <a:noFill/>
          </a:ln>
        </p:spPr>
        <p:txBody>
          <a:bodyPr anchor="t" anchorCtr="0">
            <a:spAutoFit/>
          </a:bodyPr>
          <a:lstStyle/>
          <a:p>
            <a:pPr indent="815975" algn="just">
              <a:lnSpc>
                <a:spcPct val="140000"/>
              </a:lnSpc>
            </a:pPr>
            <a:r>
              <a:rPr lang="zh-CN" altLang="en-US" dirty="0">
                <a:solidFill>
                  <a:srgbClr val="FF0000"/>
                </a:solidFill>
                <a:latin typeface="Times New Roman" panose="02020603050405020304" pitchFamily="18" charset="0"/>
                <a:ea typeface="宋体" panose="02010600030101010101" pitchFamily="2" charset="-122"/>
              </a:rPr>
              <a:t>绝对调用指令：  </a:t>
            </a:r>
            <a:r>
              <a:rPr lang="en-US" altLang="zh-CN" dirty="0">
                <a:latin typeface="Times New Roman" panose="02020603050405020304" pitchFamily="18" charset="0"/>
                <a:ea typeface="宋体" panose="02010600030101010101" pitchFamily="2" charset="-122"/>
              </a:rPr>
              <a:t>ACALL  addr11  	</a:t>
            </a:r>
          </a:p>
          <a:p>
            <a:pPr indent="815975" algn="just" eaLnBrk="0" hangingPunct="0">
              <a:lnSpc>
                <a:spcPct val="140000"/>
              </a:lnSpc>
            </a:pPr>
            <a:r>
              <a:rPr lang="en-US" altLang="zh-CN" dirty="0">
                <a:latin typeface="Times New Roman" panose="02020603050405020304" pitchFamily="18" charset="0"/>
                <a:ea typeface="宋体" panose="02010600030101010101" pitchFamily="2" charset="-122"/>
              </a:rPr>
              <a:t>			</a:t>
            </a:r>
          </a:p>
          <a:p>
            <a:pPr indent="815975" algn="just" eaLnBrk="0" hangingPunct="0">
              <a:lnSpc>
                <a:spcPct val="14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endParaRPr lang="en-US" altLang="zh-CN" b="0" dirty="0">
              <a:latin typeface="宋体" panose="02010600030101010101" pitchFamily="2" charset="-122"/>
              <a:ea typeface="宋体" panose="02010600030101010101" pitchFamily="2" charset="-122"/>
            </a:endParaRPr>
          </a:p>
          <a:p>
            <a:pPr indent="815975" algn="just" eaLnBrk="0" hangingPunct="0">
              <a:lnSpc>
                <a:spcPct val="14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baseline="-30000" dirty="0">
                <a:latin typeface="Times New Roman" panose="02020603050405020304" pitchFamily="18" charset="0"/>
                <a:ea typeface="宋体" panose="02010600030101010101" pitchFamily="2" charset="-122"/>
              </a:rPr>
              <a:t>7</a:t>
            </a:r>
            <a:r>
              <a:rPr lang="zh-CN" altLang="en-US" baseline="-30000" dirty="0">
                <a:latin typeface="Times New Roman" panose="02020603050405020304" pitchFamily="18" charset="0"/>
                <a:ea typeface="宋体" panose="02010600030101010101" pitchFamily="2" charset="-122"/>
              </a:rPr>
              <a:t>～</a:t>
            </a:r>
            <a:r>
              <a:rPr lang="en-US" altLang="zh-CN" baseline="-30000" dirty="0">
                <a:latin typeface="Times New Roman" panose="02020603050405020304" pitchFamily="18" charset="0"/>
                <a:ea typeface="宋体" panose="02010600030101010101" pitchFamily="2" charset="-122"/>
              </a:rPr>
              <a:t>0</a:t>
            </a:r>
            <a:endParaRPr lang="en-US" altLang="zh-CN" b="0" dirty="0">
              <a:latin typeface="宋体" panose="02010600030101010101" pitchFamily="2" charset="-122"/>
              <a:ea typeface="宋体" panose="02010600030101010101" pitchFamily="2" charset="-122"/>
            </a:endParaRPr>
          </a:p>
          <a:p>
            <a:pPr indent="815975" algn="just" eaLnBrk="0" hangingPunct="0">
              <a:lnSpc>
                <a:spcPct val="14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baseline="-30000" dirty="0">
                <a:latin typeface="Times New Roman" panose="02020603050405020304" pitchFamily="18" charset="0"/>
                <a:ea typeface="宋体" panose="02010600030101010101" pitchFamily="2" charset="-122"/>
              </a:rPr>
              <a:t>15</a:t>
            </a:r>
            <a:r>
              <a:rPr lang="zh-CN" altLang="en-US" baseline="-30000" dirty="0">
                <a:latin typeface="Times New Roman" panose="02020603050405020304" pitchFamily="18" charset="0"/>
                <a:ea typeface="宋体" panose="02010600030101010101" pitchFamily="2" charset="-122"/>
              </a:rPr>
              <a:t>～</a:t>
            </a:r>
            <a:r>
              <a:rPr lang="en-US" altLang="zh-CN" baseline="-30000" dirty="0">
                <a:latin typeface="Times New Roman" panose="02020603050405020304" pitchFamily="18" charset="0"/>
                <a:ea typeface="宋体" panose="02010600030101010101" pitchFamily="2" charset="-122"/>
              </a:rPr>
              <a:t>8 </a:t>
            </a:r>
            <a:endParaRPr lang="en-US" altLang="zh-CN" b="0" dirty="0">
              <a:latin typeface="宋体" panose="02010600030101010101" pitchFamily="2" charset="-122"/>
              <a:ea typeface="宋体" panose="02010600030101010101" pitchFamily="2" charset="-122"/>
            </a:endParaRPr>
          </a:p>
          <a:p>
            <a:pPr indent="815975" algn="just" eaLnBrk="0" hangingPunct="0">
              <a:lnSpc>
                <a:spcPct val="14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en-US" altLang="zh-CN" baseline="-25000" dirty="0">
                <a:latin typeface="Times New Roman" panose="02020603050405020304" pitchFamily="18" charset="0"/>
                <a:ea typeface="宋体" panose="02010600030101010101" pitchFamily="2" charset="-122"/>
              </a:rPr>
              <a:t>10-0</a:t>
            </a:r>
            <a:r>
              <a:rPr lang="en-US" altLang="zh-CN" dirty="0">
                <a:latin typeface="Times New Roman" panose="02020603050405020304" pitchFamily="18" charset="0"/>
                <a:ea typeface="宋体" panose="02010600030101010101" pitchFamily="2" charset="-122"/>
              </a:rPr>
              <a:t>←addr11</a:t>
            </a:r>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133</a:t>
            </a:fld>
            <a:endParaRPr lang="en-US" altLang="zh-CN" sz="1400" b="0" dirty="0"/>
          </a:p>
        </p:txBody>
      </p:sp>
      <p:sp>
        <p:nvSpPr>
          <p:cNvPr id="93186" name="Rectangle 2"/>
          <p:cNvSpPr/>
          <p:nvPr/>
        </p:nvSpPr>
        <p:spPr>
          <a:xfrm>
            <a:off x="304800" y="838200"/>
            <a:ext cx="8534400" cy="1990725"/>
          </a:xfrm>
          <a:prstGeom prst="rect">
            <a:avLst/>
          </a:prstGeom>
          <a:noFill/>
          <a:ln w="9525">
            <a:noFill/>
          </a:ln>
        </p:spPr>
        <p:txBody>
          <a:bodyPr anchor="t" anchorCtr="0">
            <a:spAutoFit/>
          </a:bodyPr>
          <a:lstStyle/>
          <a:p>
            <a:pPr indent="236855" algn="just">
              <a:lnSpc>
                <a:spcPct val="130000"/>
              </a:lnSpc>
            </a:pP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3</a:t>
            </a:r>
            <a:r>
              <a:rPr lang="zh-CN" altLang="en-US" dirty="0">
                <a:solidFill>
                  <a:srgbClr val="FF0000"/>
                </a:solidFill>
                <a:latin typeface="Times New Roman" panose="02020603050405020304" pitchFamily="18" charset="0"/>
                <a:ea typeface="宋体" panose="02010600030101010101" pitchFamily="2" charset="-122"/>
              </a:rPr>
              <a:t>） 返回指令</a:t>
            </a:r>
            <a:endParaRPr lang="zh-CN" altLang="en-US" b="0" dirty="0">
              <a:latin typeface="Times New Roman" panose="02020603050405020304" pitchFamily="18" charset="0"/>
              <a:ea typeface="宋体" panose="02010600030101010101" pitchFamily="2" charset="-122"/>
            </a:endParaRPr>
          </a:p>
          <a:p>
            <a:pPr indent="236855" algn="just" eaLnBrk="0" hangingPunct="0">
              <a:lnSpc>
                <a:spcPct val="130000"/>
              </a:lnSpc>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RET              </a:t>
            </a:r>
            <a:r>
              <a:rPr lang="zh-CN" altLang="en-US" dirty="0">
                <a:latin typeface="Times New Roman" panose="02020603050405020304" pitchFamily="18" charset="0"/>
                <a:ea typeface="宋体" panose="02010600030101010101" pitchFamily="2" charset="-122"/>
              </a:rPr>
              <a:t>；子程序返回指令 </a:t>
            </a:r>
          </a:p>
          <a:p>
            <a:pPr indent="236855" algn="just" eaLnBrk="0" hangingPunct="0">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PC</a:t>
            </a:r>
            <a:r>
              <a:rPr lang="en-US" altLang="zh-CN" baseline="-25000" dirty="0">
                <a:latin typeface="Times New Roman" panose="02020603050405020304" pitchFamily="18" charset="0"/>
                <a:ea typeface="宋体" panose="02010600030101010101" pitchFamily="2" charset="-122"/>
              </a:rPr>
              <a:t>15~8</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p>
          <a:p>
            <a:pPr indent="236855" algn="just" eaLnBrk="0" hangingPunct="0">
              <a:lnSpc>
                <a:spcPct val="130000"/>
              </a:lnSpc>
            </a:pPr>
            <a:r>
              <a:rPr lang="en-US" altLang="zh-CN" dirty="0">
                <a:latin typeface="Times New Roman" panose="02020603050405020304" pitchFamily="18" charset="0"/>
                <a:ea typeface="宋体" panose="02010600030101010101" pitchFamily="2" charset="-122"/>
              </a:rPr>
              <a:t>                                ;  PC</a:t>
            </a:r>
            <a:r>
              <a:rPr lang="en-US" altLang="zh-CN" baseline="-25000" dirty="0">
                <a:latin typeface="Times New Roman" panose="02020603050405020304" pitchFamily="18" charset="0"/>
                <a:ea typeface="宋体" panose="02010600030101010101" pitchFamily="2" charset="-122"/>
              </a:rPr>
              <a:t>7~0 </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p>
        </p:txBody>
      </p:sp>
      <p:sp>
        <p:nvSpPr>
          <p:cNvPr id="93190" name="Rectangle 6"/>
          <p:cNvSpPr/>
          <p:nvPr/>
        </p:nvSpPr>
        <p:spPr>
          <a:xfrm>
            <a:off x="1042988" y="3644900"/>
            <a:ext cx="5995987" cy="457200"/>
          </a:xfrm>
          <a:prstGeom prst="rect">
            <a:avLst/>
          </a:prstGeom>
          <a:noFill/>
          <a:ln w="9525">
            <a:noFill/>
          </a:ln>
        </p:spPr>
        <p:txBody>
          <a:bodyPr wrap="none" anchor="t" anchorCtr="0">
            <a:spAutoFit/>
          </a:bodyPr>
          <a:lstStyle/>
          <a:p>
            <a:r>
              <a:rPr lang="en-US" altLang="zh-CN" dirty="0">
                <a:latin typeface="Times New Roman" panose="02020603050405020304" pitchFamily="18" charset="0"/>
                <a:ea typeface="宋体" panose="02010600030101010101" pitchFamily="2" charset="-122"/>
              </a:rPr>
              <a:t> RETI  	</a:t>
            </a:r>
            <a:r>
              <a:rPr lang="zh-CN" altLang="en-US" dirty="0">
                <a:latin typeface="Times New Roman" panose="02020603050405020304" pitchFamily="18" charset="0"/>
                <a:ea typeface="宋体" panose="02010600030101010101" pitchFamily="2" charset="-122"/>
              </a:rPr>
              <a:t>；中断服务子程序返回指令：</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134</a:t>
            </a:fld>
            <a:endParaRPr lang="en-US" altLang="zh-CN" sz="1400" b="0" dirty="0"/>
          </a:p>
        </p:txBody>
      </p:sp>
      <p:sp>
        <p:nvSpPr>
          <p:cNvPr id="178178" name="Text Box 2"/>
          <p:cNvSpPr txBox="1"/>
          <p:nvPr/>
        </p:nvSpPr>
        <p:spPr>
          <a:xfrm>
            <a:off x="381000" y="1143000"/>
            <a:ext cx="7620000" cy="2538413"/>
          </a:xfrm>
          <a:prstGeom prst="rect">
            <a:avLst/>
          </a:prstGeom>
          <a:noFill/>
          <a:ln w="9525">
            <a:noFill/>
          </a:ln>
        </p:spPr>
        <p:txBody>
          <a:bodyPr anchor="t" anchorCtr="0">
            <a:spAutoFit/>
          </a:bodyPr>
          <a:lstStyle/>
          <a:p>
            <a:pPr algn="just" eaLnBrk="0" hangingPunct="0">
              <a:lnSpc>
                <a:spcPct val="130000"/>
              </a:lnSpc>
            </a:pPr>
            <a:endParaRPr lang="en-US" altLang="zh-CN" b="0" dirty="0">
              <a:latin typeface="宋体" panose="02010600030101010101" pitchFamily="2" charset="-122"/>
              <a:ea typeface="宋体" panose="02010600030101010101" pitchFamily="2" charset="-122"/>
            </a:endParaRPr>
          </a:p>
          <a:p>
            <a:pPr algn="just" eaLnBrk="0" hangingPunct="0">
              <a:lnSpc>
                <a:spcPct val="130000"/>
              </a:lnSpc>
            </a:pPr>
            <a:r>
              <a:rPr lang="en-US" altLang="zh-CN" dirty="0">
                <a:latin typeface="Courier New" panose="02070309020205020404" pitchFamily="49" charset="0"/>
                <a:ea typeface="宋体" panose="02010600030101010101" pitchFamily="2" charset="-122"/>
              </a:rPr>
              <a:t> </a:t>
            </a:r>
            <a:endParaRPr lang="en-US" altLang="zh-CN" b="0" dirty="0">
              <a:latin typeface="宋体" panose="02010600030101010101" pitchFamily="2" charset="-122"/>
              <a:ea typeface="宋体" panose="02010600030101010101" pitchFamily="2" charset="-122"/>
            </a:endParaRPr>
          </a:p>
          <a:p>
            <a:pPr algn="just" eaLnBrk="0" hangingPunct="0">
              <a:lnSpc>
                <a:spcPct val="130000"/>
              </a:lnSpc>
            </a:pP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4</a:t>
            </a:r>
            <a:r>
              <a:rPr lang="zh-CN" altLang="en-US" dirty="0">
                <a:solidFill>
                  <a:srgbClr val="FF0000"/>
                </a:solidFill>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黑体" panose="02010609060101010101" pitchFamily="49" charset="-122"/>
              </a:rPr>
              <a:t>空操作指令</a:t>
            </a:r>
            <a:endParaRPr lang="zh-CN" altLang="en-US" b="0" dirty="0">
              <a:latin typeface="宋体" panose="02010600030101010101" pitchFamily="2" charset="-122"/>
              <a:ea typeface="宋体" panose="02010600030101010101" pitchFamily="2" charset="-122"/>
            </a:endParaRPr>
          </a:p>
          <a:p>
            <a:pPr algn="just" eaLnBrk="0" hangingPunct="0">
              <a:lnSpc>
                <a:spcPct val="130000"/>
              </a:lnSpc>
            </a:pPr>
            <a:r>
              <a:rPr lang="zh-CN" altLang="en-US" dirty="0">
                <a:solidFill>
                  <a:srgbClr val="FF0000"/>
                </a:solidFill>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NOP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，机器码为</a:t>
            </a:r>
            <a:r>
              <a:rPr lang="en-US" altLang="zh-CN" dirty="0">
                <a:latin typeface="Times New Roman" panose="02020603050405020304" pitchFamily="18" charset="0"/>
                <a:ea typeface="宋体" panose="02010600030101010101" pitchFamily="2" charset="-122"/>
              </a:rPr>
              <a:t>0</a:t>
            </a:r>
            <a:endParaRPr lang="en-US" altLang="zh-CN" b="0" dirty="0">
              <a:latin typeface="宋体" panose="02010600030101010101" pitchFamily="2" charset="-122"/>
              <a:ea typeface="宋体" panose="02010600030101010101" pitchFamily="2" charset="-122"/>
            </a:endParaRPr>
          </a:p>
          <a:p>
            <a:pPr>
              <a:spcBef>
                <a:spcPct val="50000"/>
              </a:spcBef>
            </a:pPr>
            <a:endParaRPr lang="en-US" altLang="zh-CN"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135</a:t>
            </a:fld>
            <a:endParaRPr lang="en-US" altLang="zh-CN" sz="1400" b="0" dirty="0"/>
          </a:p>
        </p:txBody>
      </p:sp>
      <p:sp>
        <p:nvSpPr>
          <p:cNvPr id="179202" name="Rectangle 2"/>
          <p:cNvSpPr>
            <a:spLocks noGrp="1"/>
          </p:cNvSpPr>
          <p:nvPr>
            <p:ph type="title" idx="4294967295"/>
          </p:nvPr>
        </p:nvSpPr>
        <p:spPr>
          <a:xfrm>
            <a:off x="838200" y="1600200"/>
            <a:ext cx="8305800" cy="4191000"/>
          </a:xfrm>
          <a:prstGeom prst="rect">
            <a:avLst/>
          </a:prstGeom>
          <a:noFill/>
          <a:ln w="9525">
            <a:noFill/>
          </a:ln>
        </p:spPr>
        <p:txBody>
          <a:bodyPr anchor="t" anchorCtr="0">
            <a:normAutofit fontScale="90000"/>
          </a:bodyPr>
          <a:lstStyle/>
          <a:p>
            <a:pPr algn="l" eaLnBrk="1" fontAlgn="t" hangingPunct="1">
              <a:lnSpc>
                <a:spcPct val="130000"/>
              </a:lnSpc>
            </a:pPr>
            <a:r>
              <a:rPr lang="en-US" altLang="zh-CN" sz="2400" b="1" dirty="0">
                <a:solidFill>
                  <a:srgbClr val="FF0000"/>
                </a:solidFill>
                <a:ea typeface="黑体" panose="02010609060101010101" pitchFamily="49" charset="-122"/>
              </a:rPr>
              <a:t>3.3.5  </a:t>
            </a:r>
            <a:r>
              <a:rPr lang="zh-CN" altLang="en-US" sz="2400" b="1" dirty="0">
                <a:solidFill>
                  <a:srgbClr val="FF0000"/>
                </a:solidFill>
                <a:ea typeface="黑体" panose="02010609060101010101" pitchFamily="49" charset="-122"/>
              </a:rPr>
              <a:t>位操作类指令</a:t>
            </a:r>
            <a:r>
              <a:rPr lang="zh-CN" altLang="en-US" sz="2400" b="1" dirty="0"/>
              <a:t/>
            </a:r>
            <a:br>
              <a:rPr lang="zh-CN" altLang="en-US" sz="2400" b="1" dirty="0"/>
            </a:br>
            <a:r>
              <a:rPr lang="zh-CN" altLang="en-US" sz="2400" b="1" dirty="0"/>
              <a:t/>
            </a:r>
            <a:br>
              <a:rPr lang="zh-CN" altLang="en-US" sz="2400" b="1" dirty="0"/>
            </a:br>
            <a:r>
              <a:rPr lang="zh-CN" altLang="en-US" sz="2400" b="1" dirty="0"/>
              <a:t>位地址的表示方法主要有下列四种：以</a:t>
            </a:r>
            <a:r>
              <a:rPr lang="en-US" altLang="zh-CN" sz="2400" b="1" dirty="0"/>
              <a:t>AC</a:t>
            </a:r>
            <a:r>
              <a:rPr lang="zh-CN" altLang="en-US" sz="2400" b="1" dirty="0"/>
              <a:t>为例</a:t>
            </a:r>
            <a:br>
              <a:rPr lang="zh-CN" altLang="en-US" sz="2400" b="1" dirty="0"/>
            </a:br>
            <a:r>
              <a:rPr lang="zh-CN" altLang="en-US" sz="2400" b="1" dirty="0"/>
              <a:t>	</a:t>
            </a:r>
            <a:br>
              <a:rPr lang="zh-CN" altLang="en-US" sz="2400" b="1" dirty="0"/>
            </a:br>
            <a:r>
              <a:rPr lang="zh-CN" altLang="en-US" sz="2400" b="1" dirty="0"/>
              <a:t>	</a:t>
            </a:r>
            <a:r>
              <a:rPr lang="en-US" altLang="zh-CN" sz="2400" b="1" dirty="0"/>
              <a:t>• </a:t>
            </a:r>
            <a:r>
              <a:rPr lang="zh-CN" altLang="en-US" sz="2400" b="1" dirty="0"/>
              <a:t>直接位地址表示：	</a:t>
            </a:r>
            <a:r>
              <a:rPr lang="en-US" altLang="zh-CN" sz="2400" b="1" dirty="0"/>
              <a:t>0D6H</a:t>
            </a:r>
            <a:r>
              <a:rPr lang="zh-CN" altLang="en-US" sz="2400" b="1" dirty="0"/>
              <a:t>（</a:t>
            </a:r>
            <a:r>
              <a:rPr lang="en-US" altLang="zh-CN" sz="2400" b="1" dirty="0"/>
              <a:t>PSW</a:t>
            </a:r>
            <a:r>
              <a:rPr lang="zh-CN" altLang="en-US" sz="2400" b="1" dirty="0"/>
              <a:t>的位</a:t>
            </a:r>
            <a:r>
              <a:rPr lang="en-US" altLang="zh-CN" sz="2400" b="1" dirty="0"/>
              <a:t>6</a:t>
            </a:r>
            <a:r>
              <a:rPr lang="zh-CN" altLang="en-US" sz="2400" b="1" dirty="0"/>
              <a:t>）</a:t>
            </a:r>
            <a:br>
              <a:rPr lang="zh-CN" altLang="en-US" sz="2400" b="1" dirty="0"/>
            </a:br>
            <a:r>
              <a:rPr lang="zh-CN" altLang="en-US" sz="2400" b="1" dirty="0"/>
              <a:t>	</a:t>
            </a:r>
            <a:r>
              <a:rPr lang="en-US" altLang="zh-CN" sz="2400" b="1" dirty="0"/>
              <a:t>• </a:t>
            </a:r>
            <a:r>
              <a:rPr lang="zh-CN" altLang="en-US" sz="2400" b="1" dirty="0"/>
              <a:t>点操作符表示：	</a:t>
            </a:r>
            <a:r>
              <a:rPr lang="en-US" altLang="zh-CN" sz="2400" b="1" dirty="0"/>
              <a:t>PSW.6 </a:t>
            </a:r>
            <a:br>
              <a:rPr lang="en-US" altLang="zh-CN" sz="2400" b="1" dirty="0"/>
            </a:br>
            <a:r>
              <a:rPr lang="en-US" altLang="zh-CN" sz="2400" b="1" dirty="0"/>
              <a:t>                                             	0D0H.6</a:t>
            </a:r>
            <a:br>
              <a:rPr lang="en-US" altLang="zh-CN" sz="2400" b="1" dirty="0"/>
            </a:br>
            <a:r>
              <a:rPr lang="en-US" altLang="zh-CN" sz="2400" b="1" dirty="0"/>
              <a:t>	• </a:t>
            </a:r>
            <a:r>
              <a:rPr lang="zh-CN" altLang="en-US" sz="2400" b="1" dirty="0"/>
              <a:t>位名称表示：	</a:t>
            </a:r>
            <a:r>
              <a:rPr lang="en-US" altLang="zh-CN" sz="2400" b="1" dirty="0"/>
              <a:t>AC</a:t>
            </a:r>
            <a:br>
              <a:rPr lang="en-US" altLang="zh-CN" sz="2400" b="1" dirty="0"/>
            </a:br>
            <a:endParaRPr lang="en-US" altLang="zh-CN" sz="2400" b="1" dirty="0"/>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136</a:t>
            </a:fld>
            <a:endParaRPr lang="en-US" altLang="zh-CN" sz="1400" b="0" dirty="0"/>
          </a:p>
        </p:txBody>
      </p:sp>
      <p:sp>
        <p:nvSpPr>
          <p:cNvPr id="96258" name="Rectangle 2"/>
          <p:cNvSpPr/>
          <p:nvPr/>
        </p:nvSpPr>
        <p:spPr>
          <a:xfrm>
            <a:off x="323850" y="836613"/>
            <a:ext cx="8001000" cy="2940050"/>
          </a:xfrm>
          <a:prstGeom prst="rect">
            <a:avLst/>
          </a:prstGeom>
          <a:noFill/>
          <a:ln w="9525">
            <a:noFill/>
          </a:ln>
        </p:spPr>
        <p:txBody>
          <a:bodyPr anchor="t" anchorCtr="0">
            <a:spAutoFit/>
          </a:bodyPr>
          <a:lstStyle/>
          <a:p>
            <a:pPr indent="571500" defTabSz="914400">
              <a:lnSpc>
                <a:spcPct val="130000"/>
              </a:lnSpc>
              <a:tabLst>
                <a:tab pos="228600" algn="l"/>
              </a:tabLst>
            </a:pPr>
            <a:r>
              <a:rPr lang="en-US" altLang="zh-CN" dirty="0">
                <a:solidFill>
                  <a:srgbClr val="FF0000"/>
                </a:solidFill>
                <a:latin typeface="Times New Roman" panose="02020603050405020304" pitchFamily="18" charset="0"/>
                <a:ea typeface="黑体" panose="02010609060101010101" pitchFamily="49" charset="-122"/>
              </a:rPr>
              <a:t>1)   </a:t>
            </a:r>
            <a:r>
              <a:rPr lang="zh-CN" altLang="en-US" dirty="0">
                <a:solidFill>
                  <a:srgbClr val="FF0000"/>
                </a:solidFill>
                <a:latin typeface="Times New Roman" panose="02020603050405020304" pitchFamily="18" charset="0"/>
                <a:ea typeface="黑体" panose="02010609060101010101" pitchFamily="49" charset="-122"/>
              </a:rPr>
              <a:t>位传送指令（</a:t>
            </a:r>
            <a:r>
              <a:rPr lang="en-US" altLang="zh-CN" dirty="0">
                <a:solidFill>
                  <a:srgbClr val="FF0000"/>
                </a:solidFill>
                <a:latin typeface="Times New Roman" panose="02020603050405020304" pitchFamily="18" charset="0"/>
                <a:ea typeface="黑体" panose="02010609060101010101" pitchFamily="49" charset="-122"/>
              </a:rPr>
              <a:t>2</a:t>
            </a:r>
            <a:r>
              <a:rPr lang="zh-CN" altLang="en-US" dirty="0">
                <a:solidFill>
                  <a:srgbClr val="FF0000"/>
                </a:solidFill>
                <a:latin typeface="Times New Roman" panose="02020603050405020304" pitchFamily="18" charset="0"/>
                <a:ea typeface="黑体" panose="02010609060101010101" pitchFamily="49" charset="-122"/>
              </a:rPr>
              <a:t>条）</a:t>
            </a:r>
            <a:r>
              <a:rPr lang="zh-CN" altLang="en-US" dirty="0">
                <a:solidFill>
                  <a:schemeClr val="tx2"/>
                </a:solidFill>
                <a:latin typeface="Times New Roman" panose="02020603050405020304" pitchFamily="18" charset="0"/>
                <a:ea typeface="宋体" panose="02010600030101010101" pitchFamily="2" charset="-122"/>
              </a:rPr>
              <a:t/>
            </a:r>
            <a:br>
              <a:rPr lang="zh-CN" altLang="en-US" dirty="0">
                <a:solidFill>
                  <a:schemeClr val="tx2"/>
                </a:solidFill>
                <a:latin typeface="Times New Roman" panose="02020603050405020304" pitchFamily="18" charset="0"/>
                <a:ea typeface="宋体" panose="02010600030101010101" pitchFamily="2" charset="-122"/>
              </a:rPr>
            </a:br>
            <a:r>
              <a:rPr lang="zh-CN" altLang="en-US" dirty="0">
                <a:solidFill>
                  <a:schemeClr val="tx2"/>
                </a:solidFill>
                <a:latin typeface="Times New Roman" panose="02020603050405020304" pitchFamily="18" charset="0"/>
                <a:ea typeface="宋体" panose="02010600030101010101" pitchFamily="2" charset="-122"/>
              </a:rPr>
              <a:t>		</a:t>
            </a:r>
          </a:p>
          <a:p>
            <a:pPr indent="571500" defTabSz="914400">
              <a:lnSpc>
                <a:spcPct val="130000"/>
              </a:lnSpc>
              <a:tabLst>
                <a:tab pos="228600" algn="l"/>
              </a:tabLst>
            </a:pPr>
            <a:r>
              <a:rPr lang="zh-CN" altLang="en-US" dirty="0">
                <a:solidFill>
                  <a:schemeClr val="tx2"/>
                </a:solidFill>
                <a:latin typeface="Times New Roman" panose="02020603050405020304" pitchFamily="18" charset="0"/>
                <a:ea typeface="宋体" panose="02010600030101010101" pitchFamily="2" charset="-122"/>
              </a:rPr>
              <a:t>	</a:t>
            </a:r>
            <a:r>
              <a:rPr lang="en-US" altLang="zh-CN" dirty="0">
                <a:solidFill>
                  <a:schemeClr val="tx2"/>
                </a:solidFill>
                <a:latin typeface="Times New Roman" panose="02020603050405020304" pitchFamily="18" charset="0"/>
                <a:ea typeface="宋体" panose="02010600030101010101" pitchFamily="2" charset="-122"/>
              </a:rPr>
              <a:t>MOV   C</a:t>
            </a:r>
            <a:r>
              <a:rPr lang="zh-CN" altLang="en-US" dirty="0">
                <a:solidFill>
                  <a:schemeClr val="tx2"/>
                </a:solidFill>
                <a:latin typeface="Times New Roman" panose="02020603050405020304" pitchFamily="18" charset="0"/>
                <a:ea typeface="宋体" panose="02010600030101010101" pitchFamily="2" charset="-122"/>
              </a:rPr>
              <a:t>，</a:t>
            </a:r>
            <a:r>
              <a:rPr lang="en-US" altLang="zh-CN" dirty="0">
                <a:solidFill>
                  <a:schemeClr val="tx2"/>
                </a:solidFill>
                <a:latin typeface="Times New Roman" panose="02020603050405020304" pitchFamily="18" charset="0"/>
                <a:ea typeface="宋体" panose="02010600030101010101" pitchFamily="2" charset="-122"/>
              </a:rPr>
              <a:t>bit 		</a:t>
            </a:r>
            <a:r>
              <a:rPr lang="zh-CN" altLang="en-US" dirty="0">
                <a:solidFill>
                  <a:schemeClr val="tx2"/>
                </a:solidFill>
                <a:latin typeface="Times New Roman" panose="02020603050405020304" pitchFamily="18" charset="0"/>
                <a:ea typeface="宋体" panose="02010600030101010101" pitchFamily="2" charset="-122"/>
              </a:rPr>
              <a:t>；</a:t>
            </a:r>
            <a:r>
              <a:rPr lang="en-US" altLang="zh-CN" dirty="0">
                <a:solidFill>
                  <a:schemeClr val="tx2"/>
                </a:solidFill>
                <a:latin typeface="Times New Roman" panose="02020603050405020304" pitchFamily="18" charset="0"/>
                <a:ea typeface="宋体" panose="02010600030101010101" pitchFamily="2" charset="-122"/>
              </a:rPr>
              <a:t>CY←</a:t>
            </a:r>
            <a:r>
              <a:rPr lang="zh-CN" altLang="en-US" dirty="0">
                <a:solidFill>
                  <a:schemeClr val="tx2"/>
                </a:solidFill>
                <a:latin typeface="Times New Roman" panose="02020603050405020304" pitchFamily="18" charset="0"/>
                <a:ea typeface="宋体" panose="02010600030101010101" pitchFamily="2" charset="-122"/>
              </a:rPr>
              <a:t>（</a:t>
            </a:r>
            <a:r>
              <a:rPr lang="en-US" altLang="zh-CN" dirty="0">
                <a:solidFill>
                  <a:schemeClr val="tx2"/>
                </a:solidFill>
                <a:latin typeface="Times New Roman" panose="02020603050405020304" pitchFamily="18" charset="0"/>
                <a:ea typeface="宋体" panose="02010600030101010101" pitchFamily="2" charset="-122"/>
              </a:rPr>
              <a:t>bit</a:t>
            </a:r>
            <a:r>
              <a:rPr lang="zh-CN" altLang="en-US" dirty="0">
                <a:solidFill>
                  <a:schemeClr val="tx2"/>
                </a:solidFill>
                <a:latin typeface="Times New Roman" panose="02020603050405020304" pitchFamily="18" charset="0"/>
                <a:ea typeface="宋体" panose="02010600030101010101" pitchFamily="2" charset="-122"/>
              </a:rPr>
              <a:t>）</a:t>
            </a:r>
            <a:br>
              <a:rPr lang="zh-CN" altLang="en-US" dirty="0">
                <a:solidFill>
                  <a:schemeClr val="tx2"/>
                </a:solidFill>
                <a:latin typeface="Times New Roman" panose="02020603050405020304" pitchFamily="18" charset="0"/>
                <a:ea typeface="宋体" panose="02010600030101010101" pitchFamily="2" charset="-122"/>
              </a:rPr>
            </a:br>
            <a:r>
              <a:rPr lang="zh-CN" altLang="en-US" dirty="0">
                <a:solidFill>
                  <a:schemeClr val="tx2"/>
                </a:solidFill>
                <a:latin typeface="Times New Roman" panose="02020603050405020304" pitchFamily="18" charset="0"/>
                <a:ea typeface="宋体" panose="02010600030101010101" pitchFamily="2" charset="-122"/>
              </a:rPr>
              <a:t>		</a:t>
            </a:r>
            <a:r>
              <a:rPr lang="en-US" altLang="zh-CN" dirty="0">
                <a:solidFill>
                  <a:schemeClr val="tx2"/>
                </a:solidFill>
                <a:latin typeface="Times New Roman" panose="02020603050405020304" pitchFamily="18" charset="0"/>
                <a:ea typeface="宋体" panose="02010600030101010101" pitchFamily="2" charset="-122"/>
              </a:rPr>
              <a:t>MOV   bit</a:t>
            </a:r>
            <a:r>
              <a:rPr lang="zh-CN" altLang="en-US" dirty="0">
                <a:solidFill>
                  <a:schemeClr val="tx2"/>
                </a:solidFill>
                <a:latin typeface="Times New Roman" panose="02020603050405020304" pitchFamily="18" charset="0"/>
                <a:ea typeface="宋体" panose="02010600030101010101" pitchFamily="2" charset="-122"/>
              </a:rPr>
              <a:t>，</a:t>
            </a:r>
            <a:r>
              <a:rPr lang="en-US" altLang="zh-CN" dirty="0">
                <a:solidFill>
                  <a:schemeClr val="tx2"/>
                </a:solidFill>
                <a:latin typeface="Times New Roman" panose="02020603050405020304" pitchFamily="18" charset="0"/>
                <a:ea typeface="宋体" panose="02010600030101010101" pitchFamily="2" charset="-122"/>
              </a:rPr>
              <a:t>C 		</a:t>
            </a:r>
            <a:r>
              <a:rPr lang="zh-CN" altLang="en-US" dirty="0">
                <a:solidFill>
                  <a:schemeClr val="tx2"/>
                </a:solidFill>
                <a:latin typeface="Times New Roman" panose="02020603050405020304" pitchFamily="18" charset="0"/>
                <a:ea typeface="宋体" panose="02010600030101010101" pitchFamily="2" charset="-122"/>
              </a:rPr>
              <a:t>；</a:t>
            </a:r>
            <a:r>
              <a:rPr lang="en-US" altLang="zh-CN" dirty="0">
                <a:solidFill>
                  <a:schemeClr val="tx2"/>
                </a:solidFill>
                <a:latin typeface="Times New Roman" panose="02020603050405020304" pitchFamily="18" charset="0"/>
                <a:ea typeface="宋体" panose="02010600030101010101" pitchFamily="2" charset="-122"/>
              </a:rPr>
              <a:t>bit←</a:t>
            </a:r>
            <a:r>
              <a:rPr lang="zh-CN" altLang="en-US" dirty="0">
                <a:solidFill>
                  <a:schemeClr val="tx2"/>
                </a:solidFill>
                <a:latin typeface="Times New Roman" panose="02020603050405020304" pitchFamily="18" charset="0"/>
                <a:ea typeface="宋体" panose="02010600030101010101" pitchFamily="2" charset="-122"/>
              </a:rPr>
              <a:t>（</a:t>
            </a:r>
            <a:r>
              <a:rPr lang="en-US" altLang="zh-CN" dirty="0">
                <a:solidFill>
                  <a:schemeClr val="tx2"/>
                </a:solidFill>
                <a:latin typeface="Times New Roman" panose="02020603050405020304" pitchFamily="18" charset="0"/>
                <a:ea typeface="宋体" panose="02010600030101010101" pitchFamily="2" charset="-122"/>
              </a:rPr>
              <a:t>CY</a:t>
            </a:r>
            <a:r>
              <a:rPr lang="zh-CN" altLang="en-US" dirty="0">
                <a:solidFill>
                  <a:schemeClr val="tx2"/>
                </a:solidFill>
                <a:latin typeface="Times New Roman" panose="02020603050405020304" pitchFamily="18" charset="0"/>
                <a:ea typeface="宋体" panose="02010600030101010101" pitchFamily="2" charset="-122"/>
              </a:rPr>
              <a:t>）</a:t>
            </a:r>
            <a:br>
              <a:rPr lang="zh-CN" altLang="en-US" dirty="0">
                <a:solidFill>
                  <a:schemeClr val="tx2"/>
                </a:solidFill>
                <a:latin typeface="Times New Roman" panose="02020603050405020304" pitchFamily="18" charset="0"/>
                <a:ea typeface="宋体" panose="02010600030101010101" pitchFamily="2" charset="-122"/>
              </a:rPr>
            </a:br>
            <a:r>
              <a:rPr lang="zh-CN" altLang="en-US" dirty="0">
                <a:solidFill>
                  <a:schemeClr val="tx2"/>
                </a:solidFill>
                <a:latin typeface="Times New Roman" panose="02020603050405020304" pitchFamily="18" charset="0"/>
                <a:ea typeface="宋体" panose="02010600030101010101" pitchFamily="2" charset="-122"/>
              </a:rPr>
              <a:t> </a:t>
            </a:r>
          </a:p>
          <a:p>
            <a:pPr indent="571500" defTabSz="914400">
              <a:lnSpc>
                <a:spcPct val="130000"/>
              </a:lnSpc>
              <a:tabLst>
                <a:tab pos="228600" algn="l"/>
              </a:tabLst>
            </a:pPr>
            <a:r>
              <a:rPr lang="zh-CN" altLang="en-US" dirty="0">
                <a:solidFill>
                  <a:schemeClr val="tx2"/>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两个寻址位间不能实现直接传送。</a:t>
            </a:r>
            <a:r>
              <a:rPr lang="zh-CN" altLang="en-US" dirty="0">
                <a:solidFill>
                  <a:schemeClr val="tx2"/>
                </a:solidFill>
                <a:latin typeface="Times New Roman" panose="02020603050405020304" pitchFamily="18" charset="0"/>
                <a:ea typeface="宋体" panose="02010600030101010101" pitchFamily="2" charset="-122"/>
              </a:rPr>
              <a:t>	</a:t>
            </a:r>
            <a:endParaRPr lang="zh-CN" altLang="en-US" b="0" dirty="0">
              <a:latin typeface="Times New Roman" panose="02020603050405020304" pitchFamily="18" charset="0"/>
              <a:ea typeface="宋体" panose="02010600030101010101" pitchFamily="2" charset="-122"/>
            </a:endParaRPr>
          </a:p>
        </p:txBody>
      </p:sp>
      <p:sp>
        <p:nvSpPr>
          <p:cNvPr id="96259" name="Rectangle 3"/>
          <p:cNvSpPr/>
          <p:nvPr/>
        </p:nvSpPr>
        <p:spPr>
          <a:xfrm>
            <a:off x="323850" y="3933825"/>
            <a:ext cx="8001000" cy="1041400"/>
          </a:xfrm>
          <a:prstGeom prst="rect">
            <a:avLst/>
          </a:prstGeom>
          <a:noFill/>
          <a:ln w="9525">
            <a:noFill/>
          </a:ln>
        </p:spPr>
        <p:txBody>
          <a:bodyPr anchor="t" anchorCtr="0">
            <a:spAutoFit/>
          </a:bodyPr>
          <a:lstStyle/>
          <a:p>
            <a:pPr indent="571500" defTabSz="914400">
              <a:lnSpc>
                <a:spcPct val="130000"/>
              </a:lnSpc>
              <a:tabLst>
                <a:tab pos="228600" algn="l"/>
              </a:tabLst>
            </a:pPr>
            <a:r>
              <a:rPr lang="zh-CN" altLang="en-US" dirty="0">
                <a:latin typeface="Times New Roman" panose="02020603050405020304" pitchFamily="18" charset="0"/>
                <a:ea typeface="宋体" panose="02010600030101010101" pitchFamily="2" charset="-122"/>
              </a:rPr>
              <a:t>例：将内部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中</a:t>
            </a:r>
            <a:r>
              <a:rPr lang="en-US" altLang="zh-CN" dirty="0">
                <a:latin typeface="Times New Roman" panose="02020603050405020304" pitchFamily="18" charset="0"/>
                <a:ea typeface="宋体" panose="02010600030101010101" pitchFamily="2" charset="-122"/>
              </a:rPr>
              <a:t>20H</a:t>
            </a:r>
            <a:r>
              <a:rPr lang="zh-CN" altLang="en-US" dirty="0">
                <a:latin typeface="Times New Roman" panose="02020603050405020304" pitchFamily="18" charset="0"/>
                <a:ea typeface="宋体" panose="02010600030101010101" pitchFamily="2" charset="-122"/>
              </a:rPr>
              <a:t>单元的第</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位（位地址为</a:t>
            </a:r>
            <a:r>
              <a:rPr lang="en-US" altLang="zh-CN" dirty="0">
                <a:latin typeface="Times New Roman" panose="02020603050405020304" pitchFamily="18" charset="0"/>
                <a:ea typeface="宋体" panose="02010600030101010101" pitchFamily="2" charset="-122"/>
              </a:rPr>
              <a:t>06H</a:t>
            </a:r>
            <a:r>
              <a:rPr lang="zh-CN" altLang="en-US" dirty="0">
                <a:latin typeface="Times New Roman" panose="02020603050405020304" pitchFamily="18" charset="0"/>
                <a:ea typeface="宋体" panose="02010600030101010101" pitchFamily="2" charset="-122"/>
              </a:rPr>
              <a:t>）的内容，传送到</a:t>
            </a:r>
            <a:r>
              <a:rPr lang="en-US" altLang="zh-CN" dirty="0">
                <a:latin typeface="Times New Roman" panose="02020603050405020304" pitchFamily="18" charset="0"/>
                <a:ea typeface="宋体" panose="02010600030101010101" pitchFamily="2" charset="-122"/>
              </a:rPr>
              <a:t>P1.0</a:t>
            </a:r>
            <a:r>
              <a:rPr lang="zh-CN" altLang="en-US" dirty="0">
                <a:latin typeface="Times New Roman" panose="02020603050405020304" pitchFamily="18" charset="0"/>
                <a:ea typeface="宋体" panose="02010600030101010101" pitchFamily="2" charset="-122"/>
              </a:rPr>
              <a:t>中。 </a:t>
            </a:r>
            <a:endParaRPr lang="zh-CN" altLang="en-US" b="0" dirty="0">
              <a:latin typeface="Times New Roman" panose="02020603050405020304" pitchFamily="18" charset="0"/>
              <a:ea typeface="宋体" panose="02010600030101010101" pitchFamily="2" charset="-122"/>
            </a:endParaRPr>
          </a:p>
        </p:txBody>
      </p:sp>
      <p:sp>
        <p:nvSpPr>
          <p:cNvPr id="96260" name="Text Box 4"/>
          <p:cNvSpPr txBox="1"/>
          <p:nvPr/>
        </p:nvSpPr>
        <p:spPr>
          <a:xfrm>
            <a:off x="1692275" y="5157788"/>
            <a:ext cx="4464050" cy="1114425"/>
          </a:xfrm>
          <a:prstGeom prst="rect">
            <a:avLst/>
          </a:prstGeom>
          <a:noFill/>
          <a:ln w="9525">
            <a:noFill/>
          </a:ln>
        </p:spPr>
        <p:txBody>
          <a:bodyPr anchor="t" anchorCtr="0">
            <a:spAutoFit/>
          </a:bodyPr>
          <a:lstStyle/>
          <a:p>
            <a:pPr algn="ctr">
              <a:lnSpc>
                <a:spcPct val="140000"/>
              </a:lnSpc>
            </a:pPr>
            <a:r>
              <a:rPr lang="en-US" altLang="zh-CN" dirty="0">
                <a:latin typeface="Times New Roman" panose="02020603050405020304" pitchFamily="18" charset="0"/>
                <a:ea typeface="宋体" panose="02010600030101010101" pitchFamily="2" charset="-122"/>
              </a:rPr>
              <a:t>	MOV	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06H</a:t>
            </a:r>
            <a:endParaRPr lang="en-US" altLang="zh-CN" b="0" dirty="0">
              <a:latin typeface="Times New Roman" panose="02020603050405020304" pitchFamily="18" charset="0"/>
              <a:ea typeface="宋体" panose="02010600030101010101" pitchFamily="2" charset="-122"/>
            </a:endParaRPr>
          </a:p>
          <a:p>
            <a:pPr algn="ctr">
              <a:lnSpc>
                <a:spcPct val="140000"/>
              </a:lnSpc>
            </a:pPr>
            <a:r>
              <a:rPr lang="en-US" altLang="zh-CN" dirty="0">
                <a:latin typeface="Times New Roman" panose="02020603050405020304" pitchFamily="18" charset="0"/>
                <a:ea typeface="宋体" panose="02010600030101010101" pitchFamily="2" charset="-122"/>
              </a:rPr>
              <a:t>	MOV  	P1.0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137</a:t>
            </a:fld>
            <a:endParaRPr lang="en-US" altLang="zh-CN" sz="1400" b="0" dirty="0"/>
          </a:p>
        </p:txBody>
      </p:sp>
      <p:sp>
        <p:nvSpPr>
          <p:cNvPr id="181250" name="Rectangle 2"/>
          <p:cNvSpPr/>
          <p:nvPr/>
        </p:nvSpPr>
        <p:spPr>
          <a:xfrm>
            <a:off x="609600" y="1524000"/>
            <a:ext cx="7772400" cy="3195638"/>
          </a:xfrm>
          <a:prstGeom prst="rect">
            <a:avLst/>
          </a:prstGeom>
          <a:noFill/>
          <a:ln w="9525">
            <a:noFill/>
          </a:ln>
        </p:spPr>
        <p:txBody>
          <a:bodyPr anchor="t" anchorCtr="0">
            <a:spAutoFit/>
          </a:bodyPr>
          <a:lstStyle/>
          <a:p>
            <a:pPr eaLnBrk="0" hangingPunct="0">
              <a:lnSpc>
                <a:spcPct val="130000"/>
              </a:lnSpc>
              <a:spcBef>
                <a:spcPct val="50000"/>
              </a:spcBef>
            </a:pPr>
            <a:r>
              <a:rPr lang="en-US" altLang="zh-CN" dirty="0">
                <a:solidFill>
                  <a:srgbClr val="FF0000"/>
                </a:solidFill>
                <a:latin typeface="Times New Roman" panose="02020603050405020304" pitchFamily="18" charset="0"/>
                <a:ea typeface="黑体" panose="02010609060101010101" pitchFamily="49" charset="-122"/>
              </a:rPr>
              <a:t>2)</a:t>
            </a:r>
            <a:r>
              <a:rPr lang="en-US" altLang="zh-CN" dirty="0">
                <a:solidFill>
                  <a:srgbClr val="FF0000"/>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黑体" panose="02010609060101010101" pitchFamily="49" charset="-122"/>
              </a:rPr>
              <a:t>位置位清零指令（共</a:t>
            </a:r>
            <a:r>
              <a:rPr lang="en-US" altLang="zh-CN" dirty="0">
                <a:solidFill>
                  <a:srgbClr val="FF0000"/>
                </a:solidFill>
                <a:latin typeface="Times New Roman" panose="02020603050405020304" pitchFamily="18" charset="0"/>
                <a:ea typeface="黑体" panose="02010609060101010101" pitchFamily="49" charset="-122"/>
              </a:rPr>
              <a:t>4</a:t>
            </a:r>
            <a:r>
              <a:rPr lang="zh-CN" altLang="en-US" dirty="0">
                <a:solidFill>
                  <a:srgbClr val="FF0000"/>
                </a:solidFill>
                <a:latin typeface="Times New Roman" panose="02020603050405020304" pitchFamily="18" charset="0"/>
                <a:ea typeface="黑体" panose="02010609060101010101" pitchFamily="49" charset="-122"/>
              </a:rPr>
              <a:t>条）</a:t>
            </a:r>
            <a:endParaRPr lang="zh-CN" altLang="en-US" b="0" dirty="0">
              <a:latin typeface="Times New Roman" panose="02020603050405020304" pitchFamily="18" charset="0"/>
              <a:ea typeface="宋体" panose="02010600030101010101" pitchFamily="2" charset="-122"/>
            </a:endParaRPr>
          </a:p>
          <a:p>
            <a:pPr eaLnBrk="0" hangingPunct="0">
              <a:lnSpc>
                <a:spcPct val="13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CLR  	   bit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bit←0</a:t>
            </a:r>
            <a:endParaRPr lang="en-US" altLang="zh-CN" b="0" dirty="0">
              <a:latin typeface="Times New Roman" panose="02020603050405020304" pitchFamily="18" charset="0"/>
              <a:ea typeface="宋体" panose="02010600030101010101" pitchFamily="2" charset="-122"/>
            </a:endParaRPr>
          </a:p>
          <a:p>
            <a:pPr eaLnBrk="0" hangingPunct="0">
              <a:lnSpc>
                <a:spcPct val="130000"/>
              </a:lnSpc>
              <a:spcBef>
                <a:spcPct val="50000"/>
              </a:spcBef>
            </a:pPr>
            <a:r>
              <a:rPr lang="en-US" altLang="zh-CN" dirty="0">
                <a:latin typeface="Times New Roman" panose="02020603050405020304" pitchFamily="18" charset="0"/>
                <a:ea typeface="宋体" panose="02010600030101010101" pitchFamily="2" charset="-122"/>
              </a:rPr>
              <a:t>	CLR     CY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CY←0</a:t>
            </a:r>
            <a:endParaRPr lang="en-US" altLang="zh-CN" b="0" dirty="0">
              <a:latin typeface="Times New Roman" panose="02020603050405020304" pitchFamily="18" charset="0"/>
              <a:ea typeface="宋体" panose="02010600030101010101" pitchFamily="2" charset="-122"/>
            </a:endParaRPr>
          </a:p>
          <a:p>
            <a:pPr eaLnBrk="0" hangingPunct="0">
              <a:lnSpc>
                <a:spcPct val="130000"/>
              </a:lnSpc>
              <a:spcBef>
                <a:spcPct val="50000"/>
              </a:spcBef>
            </a:pPr>
            <a:r>
              <a:rPr lang="en-US" altLang="zh-CN" dirty="0">
                <a:latin typeface="Times New Roman" panose="02020603050405020304" pitchFamily="18" charset="0"/>
                <a:ea typeface="宋体" panose="02010600030101010101" pitchFamily="2" charset="-122"/>
              </a:rPr>
              <a:t>	SETB    bit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bit←1</a:t>
            </a:r>
            <a:endParaRPr lang="en-US" altLang="zh-CN" b="0" dirty="0">
              <a:latin typeface="Times New Roman" panose="02020603050405020304" pitchFamily="18" charset="0"/>
              <a:ea typeface="宋体" panose="02010600030101010101" pitchFamily="2" charset="-122"/>
            </a:endParaRPr>
          </a:p>
          <a:p>
            <a:pPr eaLnBrk="0" hangingPunct="0">
              <a:lnSpc>
                <a:spcPct val="130000"/>
              </a:lnSpc>
              <a:spcBef>
                <a:spcPct val="50000"/>
              </a:spcBef>
            </a:pPr>
            <a:r>
              <a:rPr lang="en-US" altLang="zh-CN" dirty="0">
                <a:latin typeface="Times New Roman" panose="02020603050405020304" pitchFamily="18" charset="0"/>
                <a:ea typeface="宋体" panose="02010600030101010101" pitchFamily="2" charset="-122"/>
              </a:rPr>
              <a:t>	SETB    CY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CY←1</a:t>
            </a:r>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138</a:t>
            </a:fld>
            <a:endParaRPr lang="en-US" altLang="zh-CN" sz="1400" b="0" dirty="0"/>
          </a:p>
        </p:txBody>
      </p:sp>
      <p:sp>
        <p:nvSpPr>
          <p:cNvPr id="182274" name="Rectangle 2"/>
          <p:cNvSpPr>
            <a:spLocks noGrp="1"/>
          </p:cNvSpPr>
          <p:nvPr>
            <p:ph type="title" idx="4294967295"/>
          </p:nvPr>
        </p:nvSpPr>
        <p:spPr>
          <a:xfrm>
            <a:off x="0" y="1066800"/>
            <a:ext cx="8153400" cy="5410200"/>
          </a:xfrm>
          <a:prstGeom prst="rect">
            <a:avLst/>
          </a:prstGeom>
          <a:noFill/>
          <a:ln w="9525">
            <a:noFill/>
          </a:ln>
        </p:spPr>
        <p:txBody>
          <a:bodyPr anchor="t" anchorCtr="0"/>
          <a:lstStyle/>
          <a:p>
            <a:pPr algn="l" eaLnBrk="1" hangingPunct="1">
              <a:lnSpc>
                <a:spcPct val="130000"/>
              </a:lnSpc>
            </a:pPr>
            <a:r>
              <a:rPr lang="en-US" altLang="zh-CN" sz="2400" b="1" dirty="0">
                <a:solidFill>
                  <a:srgbClr val="FF0000"/>
                </a:solidFill>
              </a:rPr>
              <a:t>3</a:t>
            </a:r>
            <a:r>
              <a:rPr lang="zh-CN" altLang="en-US" sz="2400" b="1" dirty="0">
                <a:solidFill>
                  <a:srgbClr val="FF0000"/>
                </a:solidFill>
              </a:rPr>
              <a:t>．</a:t>
            </a:r>
            <a:r>
              <a:rPr lang="zh-CN" altLang="en-US" sz="2400" b="1" dirty="0">
                <a:solidFill>
                  <a:srgbClr val="FF0000"/>
                </a:solidFill>
                <a:ea typeface="黑体" panose="02010609060101010101" pitchFamily="49" charset="-122"/>
              </a:rPr>
              <a:t>位逻辑操作指令（共</a:t>
            </a:r>
            <a:r>
              <a:rPr lang="en-US" altLang="zh-CN" sz="2400" b="1" dirty="0">
                <a:solidFill>
                  <a:srgbClr val="FF0000"/>
                </a:solidFill>
                <a:ea typeface="黑体" panose="02010609060101010101" pitchFamily="49" charset="-122"/>
              </a:rPr>
              <a:t>6</a:t>
            </a:r>
            <a:r>
              <a:rPr lang="zh-CN" altLang="en-US" sz="2400" b="1" dirty="0">
                <a:solidFill>
                  <a:srgbClr val="FF0000"/>
                </a:solidFill>
                <a:ea typeface="黑体" panose="02010609060101010101" pitchFamily="49" charset="-122"/>
              </a:rPr>
              <a:t>条）</a:t>
            </a:r>
            <a:r>
              <a:rPr lang="zh-CN" altLang="en-US" sz="2400" dirty="0"/>
              <a:t/>
            </a:r>
            <a:br>
              <a:rPr lang="zh-CN" altLang="en-US" sz="2400" dirty="0"/>
            </a:br>
            <a:r>
              <a:rPr lang="zh-CN" altLang="en-US" sz="2400" dirty="0"/>
              <a:t>	</a:t>
            </a:r>
            <a:r>
              <a:rPr lang="zh-CN" altLang="en-US" sz="2400" b="1" dirty="0"/>
              <a:t>逻辑与、或、非三种</a:t>
            </a:r>
            <a:r>
              <a:rPr lang="zh-CN" altLang="en-US" sz="2400" dirty="0"/>
              <a:t/>
            </a:r>
            <a:br>
              <a:rPr lang="zh-CN" altLang="en-US" sz="2400" dirty="0"/>
            </a:br>
            <a:r>
              <a:rPr lang="zh-CN" altLang="en-US" sz="2400" dirty="0"/>
              <a:t>	</a:t>
            </a:r>
            <a:r>
              <a:rPr lang="en-US" altLang="zh-CN" sz="2400" b="1" dirty="0"/>
              <a:t>ANL	C </a:t>
            </a:r>
            <a:r>
              <a:rPr lang="zh-CN" altLang="en-US" sz="2400" b="1" dirty="0"/>
              <a:t>，</a:t>
            </a:r>
            <a:r>
              <a:rPr lang="en-US" altLang="zh-CN" sz="2400" b="1" dirty="0"/>
              <a:t>bit  		</a:t>
            </a:r>
            <a:r>
              <a:rPr lang="zh-CN" altLang="en-US" sz="2400" b="1" dirty="0"/>
              <a:t>；</a:t>
            </a:r>
            <a:r>
              <a:rPr lang="en-US" altLang="zh-CN" sz="2400" b="1" dirty="0"/>
              <a:t>CY←</a:t>
            </a:r>
            <a:r>
              <a:rPr lang="zh-CN" altLang="en-US" sz="2400" b="1" dirty="0"/>
              <a:t>（</a:t>
            </a:r>
            <a:r>
              <a:rPr lang="en-US" altLang="zh-CN" sz="2400" b="1" dirty="0"/>
              <a:t>CY</a:t>
            </a:r>
            <a:r>
              <a:rPr lang="zh-CN" altLang="en-US" sz="2400" b="1" dirty="0"/>
              <a:t>）∧</a:t>
            </a:r>
            <a:r>
              <a:rPr lang="en-US" altLang="zh-CN" sz="2400" b="1" dirty="0"/>
              <a:t>(bit)</a:t>
            </a:r>
            <a:r>
              <a:rPr lang="en-US" altLang="zh-CN" sz="2400" dirty="0"/>
              <a:t/>
            </a:r>
            <a:br>
              <a:rPr lang="en-US" altLang="zh-CN" sz="2400" dirty="0"/>
            </a:br>
            <a:r>
              <a:rPr lang="en-US" altLang="zh-CN" sz="2400" dirty="0"/>
              <a:t>	</a:t>
            </a:r>
            <a:r>
              <a:rPr lang="en-US" altLang="zh-CN" sz="2400" b="1" dirty="0"/>
              <a:t>ANL	C </a:t>
            </a:r>
            <a:r>
              <a:rPr lang="zh-CN" altLang="en-US" sz="2400" b="1" dirty="0"/>
              <a:t>，</a:t>
            </a:r>
            <a:r>
              <a:rPr lang="en-US" altLang="zh-CN" sz="2400" b="1" dirty="0"/>
              <a:t>/ bit 		</a:t>
            </a:r>
            <a:r>
              <a:rPr lang="zh-CN" altLang="en-US" sz="2400" b="1" dirty="0"/>
              <a:t>；</a:t>
            </a:r>
            <a:r>
              <a:rPr lang="en-US" altLang="zh-CN" sz="2400" b="1" dirty="0"/>
              <a:t>CY←</a:t>
            </a:r>
            <a:r>
              <a:rPr lang="zh-CN" altLang="en-US" sz="2400" b="1" dirty="0"/>
              <a:t>（</a:t>
            </a:r>
            <a:r>
              <a:rPr lang="en-US" altLang="zh-CN" sz="2400" b="1" dirty="0"/>
              <a:t>CY</a:t>
            </a:r>
            <a:r>
              <a:rPr lang="zh-CN" altLang="en-US" sz="2400" b="1" dirty="0"/>
              <a:t>）∧</a:t>
            </a:r>
            <a:r>
              <a:rPr lang="zh-CN" altLang="en-US" sz="2400" dirty="0"/>
              <a:t/>
            </a:r>
            <a:br>
              <a:rPr lang="zh-CN" altLang="en-US" sz="2400" dirty="0"/>
            </a:br>
            <a:r>
              <a:rPr lang="zh-CN" altLang="en-US" sz="2400" b="1" dirty="0"/>
              <a:t> </a:t>
            </a:r>
            <a:r>
              <a:rPr lang="zh-CN" altLang="en-US" sz="2400" dirty="0"/>
              <a:t/>
            </a:r>
            <a:br>
              <a:rPr lang="zh-CN" altLang="en-US" sz="2400" dirty="0"/>
            </a:br>
            <a:r>
              <a:rPr lang="zh-CN" altLang="en-US" sz="2400" dirty="0"/>
              <a:t>	</a:t>
            </a:r>
            <a:r>
              <a:rPr lang="en-US" altLang="zh-CN" sz="2400" b="1" dirty="0"/>
              <a:t>ORL  	C </a:t>
            </a:r>
            <a:r>
              <a:rPr lang="zh-CN" altLang="en-US" sz="2400" b="1" dirty="0"/>
              <a:t>，</a:t>
            </a:r>
            <a:r>
              <a:rPr lang="en-US" altLang="zh-CN" sz="2400" b="1" dirty="0"/>
              <a:t>bit  		</a:t>
            </a:r>
            <a:r>
              <a:rPr lang="zh-CN" altLang="en-US" sz="2400" b="1" dirty="0"/>
              <a:t>；</a:t>
            </a:r>
            <a:r>
              <a:rPr lang="en-US" altLang="zh-CN" sz="2400" b="1" dirty="0"/>
              <a:t>CY←</a:t>
            </a:r>
            <a:r>
              <a:rPr lang="zh-CN" altLang="en-US" sz="2400" b="1" dirty="0"/>
              <a:t>（</a:t>
            </a:r>
            <a:r>
              <a:rPr lang="en-US" altLang="zh-CN" sz="2400" b="1" dirty="0"/>
              <a:t>CY</a:t>
            </a:r>
            <a:r>
              <a:rPr lang="zh-CN" altLang="en-US" sz="2400" b="1" dirty="0"/>
              <a:t>）∨</a:t>
            </a:r>
            <a:r>
              <a:rPr lang="en-US" altLang="zh-CN" sz="2400" b="1" dirty="0"/>
              <a:t>(bit)</a:t>
            </a:r>
            <a:r>
              <a:rPr lang="en-US" altLang="zh-CN" sz="2400" dirty="0"/>
              <a:t/>
            </a:r>
            <a:br>
              <a:rPr lang="en-US" altLang="zh-CN" sz="2400" dirty="0"/>
            </a:br>
            <a:r>
              <a:rPr lang="en-US" altLang="zh-CN" sz="2400" dirty="0"/>
              <a:t>	</a:t>
            </a:r>
            <a:r>
              <a:rPr lang="en-US" altLang="zh-CN" sz="2400" b="1" dirty="0"/>
              <a:t>ORL  	C </a:t>
            </a:r>
            <a:r>
              <a:rPr lang="zh-CN" altLang="en-US" sz="2400" b="1" dirty="0"/>
              <a:t>，</a:t>
            </a:r>
            <a:r>
              <a:rPr lang="en-US" altLang="zh-CN" sz="2400" b="1" dirty="0"/>
              <a:t>/ bit 		</a:t>
            </a:r>
            <a:r>
              <a:rPr lang="zh-CN" altLang="en-US" sz="2400" b="1" dirty="0"/>
              <a:t>；</a:t>
            </a:r>
            <a:r>
              <a:rPr lang="en-US" altLang="zh-CN" sz="2400" b="1" dirty="0"/>
              <a:t>CY←</a:t>
            </a:r>
            <a:r>
              <a:rPr lang="zh-CN" altLang="en-US" sz="2400" b="1" dirty="0"/>
              <a:t>（</a:t>
            </a:r>
            <a:r>
              <a:rPr lang="en-US" altLang="zh-CN" sz="2400" b="1" dirty="0"/>
              <a:t>CY</a:t>
            </a:r>
            <a:r>
              <a:rPr lang="zh-CN" altLang="en-US" sz="2400" b="1" dirty="0"/>
              <a:t>）∨</a:t>
            </a:r>
            <a:r>
              <a:rPr lang="en-US" altLang="zh-CN" sz="2400" b="1" dirty="0"/>
              <a:t> </a:t>
            </a:r>
            <a:r>
              <a:rPr lang="zh-CN" altLang="en-US" sz="2400" dirty="0"/>
              <a:t/>
            </a:r>
            <a:br>
              <a:rPr lang="zh-CN" altLang="en-US" sz="2400" dirty="0"/>
            </a:br>
            <a:r>
              <a:rPr lang="zh-CN" altLang="en-US" sz="2400" b="1" dirty="0"/>
              <a:t> </a:t>
            </a:r>
            <a:r>
              <a:rPr lang="zh-CN" altLang="en-US" sz="2400" dirty="0"/>
              <a:t/>
            </a:r>
            <a:br>
              <a:rPr lang="zh-CN" altLang="en-US" sz="2400" dirty="0"/>
            </a:br>
            <a:r>
              <a:rPr lang="zh-CN" altLang="en-US" sz="2400" dirty="0"/>
              <a:t>	</a:t>
            </a:r>
            <a:r>
              <a:rPr lang="en-US" altLang="zh-CN" sz="2400" b="1" dirty="0"/>
              <a:t>CPL  	bit       			</a:t>
            </a:r>
            <a:r>
              <a:rPr lang="zh-CN" altLang="en-US" sz="2400" b="1" dirty="0"/>
              <a:t>；</a:t>
            </a:r>
            <a:r>
              <a:rPr lang="en-US" altLang="zh-CN" sz="2400" b="1" dirty="0"/>
              <a:t>bit←</a:t>
            </a:r>
            <a:r>
              <a:rPr lang="zh-CN" altLang="en-US" sz="2400" b="1" dirty="0"/>
              <a:t>（       ）</a:t>
            </a:r>
            <a:r>
              <a:rPr lang="zh-CN" altLang="en-US" sz="2400" dirty="0"/>
              <a:t/>
            </a:r>
            <a:br>
              <a:rPr lang="zh-CN" altLang="en-US" sz="2400" dirty="0"/>
            </a:br>
            <a:r>
              <a:rPr lang="zh-CN" altLang="en-US" sz="2400" dirty="0"/>
              <a:t>	</a:t>
            </a:r>
            <a:r>
              <a:rPr lang="en-US" altLang="zh-CN" sz="2400" b="1" dirty="0"/>
              <a:t>CPL  	C        			</a:t>
            </a:r>
            <a:r>
              <a:rPr lang="zh-CN" altLang="en-US" sz="2400" b="1" dirty="0"/>
              <a:t>；</a:t>
            </a:r>
            <a:r>
              <a:rPr lang="en-US" altLang="zh-CN" sz="2400" b="1" dirty="0"/>
              <a:t>CY←</a:t>
            </a:r>
            <a:r>
              <a:rPr lang="zh-CN" altLang="en-US" sz="2400" b="1" dirty="0"/>
              <a:t>（      ）</a:t>
            </a:r>
            <a:endParaRPr lang="zh-CN" altLang="en-US" sz="2400" dirty="0"/>
          </a:p>
        </p:txBody>
      </p:sp>
      <p:graphicFrame>
        <p:nvGraphicFramePr>
          <p:cNvPr id="182275" name="Object 3"/>
          <p:cNvGraphicFramePr>
            <a:graphicFrameLocks/>
          </p:cNvGraphicFramePr>
          <p:nvPr/>
        </p:nvGraphicFramePr>
        <p:xfrm>
          <a:off x="7343775" y="2500313"/>
          <a:ext cx="742950" cy="542925"/>
        </p:xfrm>
        <a:graphic>
          <a:graphicData uri="http://schemas.openxmlformats.org/presentationml/2006/ole">
            <p:oleObj spid="_x0000_s7179" r:id="rId3" imgW="330057" imgH="241195" progId="Equation.3">
              <p:embed/>
            </p:oleObj>
          </a:graphicData>
        </a:graphic>
      </p:graphicFrame>
      <p:graphicFrame>
        <p:nvGraphicFramePr>
          <p:cNvPr id="182276" name="Object 4"/>
          <p:cNvGraphicFramePr>
            <a:graphicFrameLocks/>
          </p:cNvGraphicFramePr>
          <p:nvPr/>
        </p:nvGraphicFramePr>
        <p:xfrm>
          <a:off x="7413625" y="3929063"/>
          <a:ext cx="874713" cy="542925"/>
        </p:xfrm>
        <a:graphic>
          <a:graphicData uri="http://schemas.openxmlformats.org/presentationml/2006/ole">
            <p:oleObj spid="_x0000_s7180" r:id="rId4" imgW="330057" imgH="241195" progId="Equation.3">
              <p:embed/>
            </p:oleObj>
          </a:graphicData>
        </a:graphic>
      </p:graphicFrame>
      <p:graphicFrame>
        <p:nvGraphicFramePr>
          <p:cNvPr id="182277" name="Object 5"/>
          <p:cNvGraphicFramePr>
            <a:graphicFrameLocks/>
          </p:cNvGraphicFramePr>
          <p:nvPr/>
        </p:nvGraphicFramePr>
        <p:xfrm>
          <a:off x="6248400" y="4953000"/>
          <a:ext cx="457200" cy="457200"/>
        </p:xfrm>
        <a:graphic>
          <a:graphicData uri="http://schemas.openxmlformats.org/presentationml/2006/ole">
            <p:oleObj spid="_x0000_s7181" r:id="rId5" imgW="203024" imgH="203024" progId="Equation.3">
              <p:embed/>
            </p:oleObj>
          </a:graphicData>
        </a:graphic>
      </p:graphicFrame>
      <p:graphicFrame>
        <p:nvGraphicFramePr>
          <p:cNvPr id="182278" name="Object 6"/>
          <p:cNvGraphicFramePr>
            <a:graphicFrameLocks/>
          </p:cNvGraphicFramePr>
          <p:nvPr/>
        </p:nvGraphicFramePr>
        <p:xfrm>
          <a:off x="6357938" y="5410200"/>
          <a:ext cx="542925" cy="457200"/>
        </p:xfrm>
        <a:graphic>
          <a:graphicData uri="http://schemas.openxmlformats.org/presentationml/2006/ole">
            <p:oleObj spid="_x0000_s7182" r:id="rId6" imgW="241195" imgH="203112" progId="Equation.3">
              <p:embed/>
            </p:oleObj>
          </a:graphicData>
        </a:graphic>
      </p:graphicFrame>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139</a:t>
            </a:fld>
            <a:endParaRPr lang="en-US" altLang="zh-CN" sz="1400" b="0" dirty="0"/>
          </a:p>
        </p:txBody>
      </p:sp>
      <p:sp>
        <p:nvSpPr>
          <p:cNvPr id="183298" name="Text Box 15"/>
          <p:cNvSpPr txBox="1"/>
          <p:nvPr/>
        </p:nvSpPr>
        <p:spPr>
          <a:xfrm>
            <a:off x="179388" y="620713"/>
            <a:ext cx="8137525" cy="1625600"/>
          </a:xfrm>
          <a:prstGeom prst="rect">
            <a:avLst/>
          </a:prstGeom>
          <a:noFill/>
          <a:ln w="9525">
            <a:noFill/>
          </a:ln>
        </p:spPr>
        <p:txBody>
          <a:bodyPr anchor="t" anchorCtr="0">
            <a:spAutoFit/>
          </a:bodyPr>
          <a:lstStyle/>
          <a:p>
            <a:pPr>
              <a:lnSpc>
                <a:spcPct val="140000"/>
              </a:lnSpc>
              <a:spcBef>
                <a:spcPct val="50000"/>
              </a:spcBef>
            </a:pP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4-16  </a:t>
            </a:r>
            <a:r>
              <a:rPr lang="zh-CN" altLang="en-US" dirty="0">
                <a:latin typeface="Times New Roman" panose="02020603050405020304" pitchFamily="18" charset="0"/>
                <a:ea typeface="宋体" panose="02010600030101010101" pitchFamily="2" charset="-122"/>
              </a:rPr>
              <a:t>某系统具有三人表决器的功能，如图所示。当</a:t>
            </a:r>
            <a:r>
              <a:rPr lang="zh-CN" altLang="en-US" dirty="0">
                <a:solidFill>
                  <a:schemeClr val="accent2"/>
                </a:solidFill>
                <a:latin typeface="Times New Roman" panose="02020603050405020304" pitchFamily="18" charset="0"/>
                <a:ea typeface="宋体" panose="02010600030101010101" pitchFamily="2" charset="-122"/>
              </a:rPr>
              <a:t>某人同意时，将开关闭合</a:t>
            </a:r>
            <a:r>
              <a:rPr lang="zh-CN" altLang="en-US" dirty="0">
                <a:latin typeface="Times New Roman" panose="02020603050405020304" pitchFamily="18" charset="0"/>
                <a:ea typeface="宋体" panose="02010600030101010101" pitchFamily="2" charset="-122"/>
              </a:rPr>
              <a:t>。当</a:t>
            </a:r>
            <a:r>
              <a:rPr lang="zh-CN" altLang="en-US" dirty="0">
                <a:solidFill>
                  <a:srgbClr val="FF0000"/>
                </a:solidFill>
                <a:latin typeface="Times New Roman" panose="02020603050405020304" pitchFamily="18" charset="0"/>
                <a:ea typeface="宋体" panose="02010600030101010101" pitchFamily="2" charset="-122"/>
              </a:rPr>
              <a:t>两人及三人同意时表示通过</a:t>
            </a:r>
            <a:r>
              <a:rPr lang="zh-CN" altLang="en-US" dirty="0">
                <a:latin typeface="Times New Roman" panose="02020603050405020304" pitchFamily="18" charset="0"/>
                <a:ea typeface="宋体" panose="02010600030101010101" pitchFamily="2" charset="-122"/>
              </a:rPr>
              <a:t>，此时与</a:t>
            </a:r>
            <a:r>
              <a:rPr lang="en-US" altLang="zh-CN" dirty="0">
                <a:solidFill>
                  <a:schemeClr val="accent2"/>
                </a:solidFill>
                <a:latin typeface="Times New Roman" panose="02020603050405020304" pitchFamily="18" charset="0"/>
                <a:ea typeface="宋体" panose="02010600030101010101" pitchFamily="2" charset="-122"/>
              </a:rPr>
              <a:t>P1.7</a:t>
            </a:r>
            <a:r>
              <a:rPr lang="zh-CN" altLang="en-US" dirty="0">
                <a:solidFill>
                  <a:schemeClr val="accent2"/>
                </a:solidFill>
                <a:latin typeface="Times New Roman" panose="02020603050405020304" pitchFamily="18" charset="0"/>
                <a:ea typeface="宋体" panose="02010600030101010101" pitchFamily="2" charset="-122"/>
              </a:rPr>
              <a:t>相连的</a:t>
            </a:r>
            <a:r>
              <a:rPr lang="en-US" altLang="zh-CN" dirty="0">
                <a:solidFill>
                  <a:schemeClr val="accent2"/>
                </a:solidFill>
                <a:latin typeface="Times New Roman" panose="02020603050405020304" pitchFamily="18" charset="0"/>
                <a:ea typeface="宋体" panose="02010600030101010101" pitchFamily="2" charset="-122"/>
              </a:rPr>
              <a:t>LED</a:t>
            </a:r>
            <a:r>
              <a:rPr lang="zh-CN" altLang="en-US" dirty="0">
                <a:solidFill>
                  <a:schemeClr val="accent2"/>
                </a:solidFill>
                <a:latin typeface="Times New Roman" panose="02020603050405020304" pitchFamily="18" charset="0"/>
                <a:ea typeface="宋体" panose="02010600030101010101" pitchFamily="2" charset="-122"/>
              </a:rPr>
              <a:t>被点亮</a:t>
            </a:r>
            <a:r>
              <a:rPr lang="zh-CN" altLang="en-US" dirty="0">
                <a:latin typeface="Times New Roman" panose="02020603050405020304" pitchFamily="18" charset="0"/>
                <a:ea typeface="宋体" panose="02010600030101010101" pitchFamily="2" charset="-122"/>
              </a:rPr>
              <a:t>。编程实现此功能。 </a:t>
            </a:r>
          </a:p>
        </p:txBody>
      </p:sp>
      <p:pic>
        <p:nvPicPr>
          <p:cNvPr id="183299" name="Picture 16" descr="4T13"/>
          <p:cNvPicPr>
            <a:picLocks noChangeAspect="1"/>
          </p:cNvPicPr>
          <p:nvPr/>
        </p:nvPicPr>
        <p:blipFill>
          <a:blip r:embed="rId2"/>
          <a:stretch>
            <a:fillRect/>
          </a:stretch>
        </p:blipFill>
        <p:spPr>
          <a:xfrm>
            <a:off x="3419475" y="2636838"/>
            <a:ext cx="3384550" cy="3021012"/>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8" name="内容占位符 6147"/>
          <p:cNvGraphicFramePr>
            <a:graphicFrameLocks noGrp="1"/>
          </p:cNvGraphicFramePr>
          <p:nvPr>
            <p:ph/>
          </p:nvPr>
        </p:nvGraphicFramePr>
        <p:xfrm>
          <a:off x="755650" y="1268413"/>
          <a:ext cx="7427913" cy="2520950"/>
        </p:xfrm>
        <a:graphic>
          <a:graphicData uri="http://schemas.openxmlformats.org/drawingml/2006/table">
            <a:tbl>
              <a:tblPr/>
              <a:tblGrid>
                <a:gridCol w="1485900"/>
                <a:gridCol w="1485900"/>
                <a:gridCol w="1484313"/>
                <a:gridCol w="1485900"/>
                <a:gridCol w="1485900"/>
              </a:tblGrid>
              <a:tr h="839788">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endParaRPr lang="zh-CN" altLang="zh-CN" sz="2800" b="0" dirty="0">
                        <a:latin typeface="Times New Roman" panose="02020603050405020304" pitchFamily="18" charset="0"/>
                        <a:ea typeface="宋体" panose="02010600030101010101" pitchFamily="2" charset="-122"/>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sz="2800" b="0" dirty="0">
                          <a:latin typeface="Times New Roman" panose="02020603050405020304" pitchFamily="18" charset="0"/>
                          <a:ea typeface="宋体" panose="02010600030101010101" pitchFamily="2" charset="-122"/>
                        </a:rPr>
                        <a:t>00</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sz="2800" b="0" dirty="0">
                          <a:latin typeface="Times New Roman" panose="02020603050405020304" pitchFamily="18" charset="0"/>
                          <a:ea typeface="宋体" panose="02010600030101010101" pitchFamily="2" charset="-122"/>
                        </a:rPr>
                        <a:t>01</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sz="2800" b="0" dirty="0">
                          <a:latin typeface="Times New Roman" panose="02020603050405020304" pitchFamily="18" charset="0"/>
                          <a:ea typeface="宋体" panose="02010600030101010101" pitchFamily="2" charset="-122"/>
                        </a:rPr>
                        <a:t>11</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sz="2800" b="0" dirty="0">
                          <a:latin typeface="Times New Roman" panose="02020603050405020304" pitchFamily="18" charset="0"/>
                          <a:ea typeface="宋体" panose="02010600030101010101" pitchFamily="2" charset="-122"/>
                        </a:rPr>
                        <a:t>10</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841375">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sz="2800" b="0" dirty="0">
                          <a:latin typeface="Times New Roman" panose="02020603050405020304" pitchFamily="18" charset="0"/>
                          <a:ea typeface="宋体" panose="02010600030101010101" pitchFamily="2" charset="-122"/>
                        </a:rPr>
                        <a:t>X     0</a:t>
                      </a:r>
                    </a:p>
                  </a:txBody>
                  <a:tcPr>
                    <a:lnL w="12700" cap="flat" cmpd="sng">
                      <a:solidFill>
                        <a:schemeClr val="bg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sz="2800" b="0" dirty="0">
                          <a:latin typeface="Times New Roman" panose="02020603050405020304" pitchFamily="18" charset="0"/>
                          <a:ea typeface="宋体" panose="02010600030101010101" pitchFamily="2" charset="-122"/>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sz="2800" b="0" dirty="0">
                          <a:latin typeface="Times New Roman" panose="02020603050405020304" pitchFamily="18" charset="0"/>
                          <a:ea typeface="宋体" panose="02010600030101010101" pitchFamily="2" charset="-122"/>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endParaRPr lang="zh-CN" altLang="zh-CN" sz="2800" b="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sz="2800" b="0" dirty="0">
                          <a:latin typeface="Times New Roman" panose="02020603050405020304" pitchFamily="18" charset="0"/>
                          <a:ea typeface="宋体" panose="02010600030101010101" pitchFamily="2" charset="-122"/>
                        </a:rPr>
                        <a:t>1</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839787">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sz="2800" b="0" dirty="0">
                          <a:latin typeface="Times New Roman" panose="02020603050405020304" pitchFamily="18" charset="0"/>
                          <a:ea typeface="宋体" panose="02010600030101010101" pitchFamily="2" charset="-122"/>
                        </a:rPr>
                        <a:t>/X    1</a:t>
                      </a:r>
                    </a:p>
                  </a:txBody>
                  <a:tcPr>
                    <a:lnL w="12700" cap="flat" cmpd="sng">
                      <a:solidFill>
                        <a:schemeClr val="bg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sz="2800" b="0" dirty="0">
                          <a:latin typeface="Times New Roman" panose="02020603050405020304" pitchFamily="18" charset="0"/>
                          <a:ea typeface="宋体" panose="02010600030101010101" pitchFamily="2" charset="-122"/>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endParaRPr lang="zh-CN" altLang="zh-CN" sz="2800" b="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endParaRPr lang="zh-CN" altLang="zh-CN" sz="2800" b="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endParaRPr lang="zh-CN" altLang="zh-CN" sz="2800" b="0"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84321" name="灯片编号占位符 4"/>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140</a:t>
            </a:fld>
            <a:endParaRPr lang="en-US" altLang="zh-CN" sz="1400" b="0" dirty="0"/>
          </a:p>
        </p:txBody>
      </p:sp>
      <p:sp>
        <p:nvSpPr>
          <p:cNvPr id="184356" name="Rectangle 62"/>
          <p:cNvSpPr/>
          <p:nvPr/>
        </p:nvSpPr>
        <p:spPr>
          <a:xfrm>
            <a:off x="0" y="3338513"/>
            <a:ext cx="9144000" cy="0"/>
          </a:xfrm>
          <a:prstGeom prst="rect">
            <a:avLst/>
          </a:prstGeom>
          <a:noFill/>
          <a:ln w="9525">
            <a:noFill/>
          </a:ln>
        </p:spPr>
        <p:txBody>
          <a:bodyPr wrap="none" anchor="ctr" anchorCtr="0">
            <a:spAutoFit/>
          </a:bodyPr>
          <a:lstStyle/>
          <a:p>
            <a:pPr algn="ctr"/>
            <a:endParaRPr lang="zh-CN" altLang="en-US" dirty="0">
              <a:latin typeface="Times New Roman" panose="02020603050405020304" pitchFamily="18" charset="0"/>
              <a:ea typeface="宋体" panose="02010600030101010101" pitchFamily="2" charset="-122"/>
            </a:endParaRPr>
          </a:p>
        </p:txBody>
      </p:sp>
      <p:graphicFrame>
        <p:nvGraphicFramePr>
          <p:cNvPr id="184357" name="Object 61"/>
          <p:cNvGraphicFramePr>
            <a:graphicFrameLocks/>
          </p:cNvGraphicFramePr>
          <p:nvPr/>
        </p:nvGraphicFramePr>
        <p:xfrm>
          <a:off x="2627313" y="4581525"/>
          <a:ext cx="3384550" cy="554038"/>
        </p:xfrm>
        <a:graphic>
          <a:graphicData uri="http://schemas.openxmlformats.org/presentationml/2006/ole">
            <p:oleObj spid="_x0000_s164865" r:id="rId3" imgW="1104421" imgH="177723" progId="Equation.DSMT4">
              <p:embed/>
            </p:oleObj>
          </a:graphicData>
        </a:graphic>
      </p:graphicFrame>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8"/>
                                        </p:tgtEl>
                                        <p:attrNameLst>
                                          <p:attrName>style.visibility</p:attrName>
                                        </p:attrNameLst>
                                      </p:cBhvr>
                                      <p:to>
                                        <p:strVal val="visible"/>
                                      </p:to>
                                    </p:set>
                                    <p:anim calcmode="lin" valueType="num">
                                      <p:cBhvr additive="base">
                                        <p:cTn id="7" dur="500" fill="hold"/>
                                        <p:tgtEl>
                                          <p:spTgt spid="6148"/>
                                        </p:tgtEl>
                                        <p:attrNameLst>
                                          <p:attrName>ppt_x</p:attrName>
                                        </p:attrNameLst>
                                      </p:cBhvr>
                                      <p:tavLst>
                                        <p:tav tm="0">
                                          <p:val>
                                            <p:strVal val="#ppt_x"/>
                                          </p:val>
                                        </p:tav>
                                        <p:tav tm="100000">
                                          <p:val>
                                            <p:strVal val="#ppt_x"/>
                                          </p:val>
                                        </p:tav>
                                      </p:tavLst>
                                    </p:anim>
                                    <p:anim calcmode="lin" valueType="num">
                                      <p:cBhvr additive="base">
                                        <p:cTn id="8" dur="500" fill="hold"/>
                                        <p:tgtEl>
                                          <p:spTgt spid="61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141</a:t>
            </a:fld>
            <a:endParaRPr lang="en-US" altLang="zh-CN" sz="1400" b="0" dirty="0"/>
          </a:p>
        </p:txBody>
      </p:sp>
      <p:sp>
        <p:nvSpPr>
          <p:cNvPr id="185346" name="Text Box 4"/>
          <p:cNvSpPr txBox="1"/>
          <p:nvPr/>
        </p:nvSpPr>
        <p:spPr>
          <a:xfrm>
            <a:off x="250825" y="836613"/>
            <a:ext cx="4681538" cy="5203825"/>
          </a:xfrm>
          <a:prstGeom prst="rect">
            <a:avLst/>
          </a:prstGeom>
          <a:noFill/>
          <a:ln w="9525">
            <a:noFill/>
          </a:ln>
        </p:spPr>
        <p:txBody>
          <a:bodyPr anchor="t" anchorCtr="0">
            <a:spAutoFit/>
          </a:bodyPr>
          <a:lstStyle/>
          <a:p>
            <a:r>
              <a:rPr lang="en-US" altLang="zh-CN" dirty="0">
                <a:latin typeface="Times New Roman" panose="02020603050405020304" pitchFamily="18" charset="0"/>
                <a:ea typeface="宋体" panose="02010600030101010101" pitchFamily="2" charset="-122"/>
              </a:rPr>
              <a:t>               ORG  0</a:t>
            </a:r>
          </a:p>
          <a:p>
            <a:r>
              <a:rPr lang="en-US" altLang="zh-CN" dirty="0">
                <a:latin typeface="Times New Roman" panose="02020603050405020304" pitchFamily="18" charset="0"/>
                <a:ea typeface="宋体" panose="02010600030101010101" pitchFamily="2" charset="-122"/>
              </a:rPr>
              <a:t>START: NOP</a:t>
            </a:r>
          </a:p>
          <a:p>
            <a:r>
              <a:rPr lang="en-US" altLang="zh-CN" dirty="0">
                <a:latin typeface="Times New Roman" panose="02020603050405020304" pitchFamily="18" charset="0"/>
                <a:ea typeface="宋体" panose="02010600030101010101" pitchFamily="2" charset="-122"/>
              </a:rPr>
              <a:t>	    X	BIT	P1.0		</a:t>
            </a:r>
          </a:p>
          <a:p>
            <a:r>
              <a:rPr lang="en-US" altLang="zh-CN" dirty="0">
                <a:latin typeface="Times New Roman" panose="02020603050405020304" pitchFamily="18" charset="0"/>
                <a:ea typeface="宋体" panose="02010600030101010101" pitchFamily="2" charset="-122"/>
              </a:rPr>
              <a:t>	    Y	BIT	P1.1</a:t>
            </a:r>
          </a:p>
          <a:p>
            <a:r>
              <a:rPr lang="en-US" altLang="zh-CN" dirty="0">
                <a:latin typeface="Times New Roman" panose="02020603050405020304" pitchFamily="18" charset="0"/>
                <a:ea typeface="宋体" panose="02010600030101010101" pitchFamily="2" charset="-122"/>
              </a:rPr>
              <a:t>	    Z	BIT	P1.2</a:t>
            </a:r>
          </a:p>
          <a:p>
            <a:r>
              <a:rPr lang="en-US" altLang="zh-CN" dirty="0">
                <a:latin typeface="Times New Roman" panose="02020603050405020304" pitchFamily="18" charset="0"/>
                <a:ea typeface="宋体" panose="02010600030101010101" pitchFamily="2" charset="-122"/>
              </a:rPr>
              <a:t>	    F	BIT	P1.7</a:t>
            </a:r>
          </a:p>
          <a:p>
            <a:r>
              <a:rPr lang="en-US" altLang="zh-CN" dirty="0">
                <a:latin typeface="Times New Roman" panose="02020603050405020304" pitchFamily="18" charset="0"/>
                <a:ea typeface="宋体" panose="02010600030101010101" pitchFamily="2" charset="-122"/>
              </a:rPr>
              <a:t>	    MOV	C, X		    </a:t>
            </a:r>
            <a:r>
              <a:rPr lang="en-US" altLang="zh-CN" dirty="0">
                <a:solidFill>
                  <a:srgbClr val="FF0000"/>
                </a:solidFill>
                <a:latin typeface="Times New Roman" panose="02020603050405020304" pitchFamily="18" charset="0"/>
                <a:ea typeface="宋体" panose="02010600030101010101" pitchFamily="2" charset="-122"/>
              </a:rPr>
              <a:t>CPL	C</a:t>
            </a:r>
          </a:p>
          <a:p>
            <a:r>
              <a:rPr lang="en-US" altLang="zh-CN" dirty="0">
                <a:latin typeface="Times New Roman" panose="02020603050405020304" pitchFamily="18" charset="0"/>
                <a:ea typeface="宋体" panose="02010600030101010101" pitchFamily="2" charset="-122"/>
              </a:rPr>
              <a:t>	    ANL	C, /Y</a:t>
            </a:r>
          </a:p>
          <a:p>
            <a:r>
              <a:rPr lang="en-US" altLang="zh-CN" dirty="0">
                <a:latin typeface="Times New Roman" panose="02020603050405020304" pitchFamily="18" charset="0"/>
                <a:ea typeface="宋体" panose="02010600030101010101" pitchFamily="2" charset="-122"/>
              </a:rPr>
              <a:t>	    MOV	F, C</a:t>
            </a:r>
          </a:p>
          <a:p>
            <a:r>
              <a:rPr lang="en-US" altLang="zh-CN" dirty="0">
                <a:latin typeface="Times New Roman" panose="02020603050405020304" pitchFamily="18" charset="0"/>
                <a:ea typeface="宋体" panose="02010600030101010101" pitchFamily="2" charset="-122"/>
              </a:rPr>
              <a:t>	   </a:t>
            </a:r>
          </a:p>
          <a:p>
            <a:r>
              <a:rPr lang="en-US" altLang="zh-CN" dirty="0">
                <a:latin typeface="Times New Roman" panose="02020603050405020304" pitchFamily="18" charset="0"/>
                <a:ea typeface="宋体" panose="02010600030101010101" pitchFamily="2" charset="-122"/>
              </a:rPr>
              <a:t>               MOV	C, X		</a:t>
            </a:r>
            <a:r>
              <a:rPr lang="en-US" altLang="zh-CN" dirty="0">
                <a:solidFill>
                  <a:srgbClr val="FF0000"/>
                </a:solidFill>
                <a:latin typeface="Times New Roman" panose="02020603050405020304" pitchFamily="18" charset="0"/>
                <a:ea typeface="宋体" panose="02010600030101010101" pitchFamily="2" charset="-122"/>
              </a:rPr>
              <a:t>    CPL	C</a:t>
            </a:r>
          </a:p>
        </p:txBody>
      </p:sp>
      <p:sp>
        <p:nvSpPr>
          <p:cNvPr id="185347" name="Text Box 5"/>
          <p:cNvSpPr txBox="1"/>
          <p:nvPr/>
        </p:nvSpPr>
        <p:spPr>
          <a:xfrm>
            <a:off x="4356100" y="476250"/>
            <a:ext cx="4464050" cy="5349875"/>
          </a:xfrm>
          <a:prstGeom prst="rect">
            <a:avLst/>
          </a:prstGeom>
          <a:noFill/>
          <a:ln w="9525">
            <a:noFill/>
          </a:ln>
        </p:spPr>
        <p:txBody>
          <a:bodyPr anchor="t" anchorCtr="0">
            <a:spAutoFit/>
          </a:bodyPr>
          <a:lstStyle/>
          <a:p>
            <a:pPr>
              <a:lnSpc>
                <a:spcPct val="120000"/>
              </a:lnSpc>
            </a:pPr>
            <a:r>
              <a:rPr lang="en-US" altLang="zh-CN" dirty="0">
                <a:latin typeface="Times New Roman" panose="02020603050405020304" pitchFamily="18" charset="0"/>
                <a:ea typeface="宋体" panose="02010600030101010101" pitchFamily="2" charset="-122"/>
              </a:rPr>
              <a:t>	</a:t>
            </a:r>
          </a:p>
          <a:p>
            <a:pPr>
              <a:lnSpc>
                <a:spcPct val="120000"/>
              </a:lnSpc>
            </a:pPr>
            <a:r>
              <a:rPr lang="en-US" altLang="zh-CN" dirty="0">
                <a:latin typeface="Times New Roman" panose="02020603050405020304" pitchFamily="18" charset="0"/>
                <a:ea typeface="宋体" panose="02010600030101010101" pitchFamily="2" charset="-122"/>
              </a:rPr>
              <a:t>		</a:t>
            </a:r>
          </a:p>
          <a:p>
            <a:pPr>
              <a:lnSpc>
                <a:spcPct val="120000"/>
              </a:lnSpc>
            </a:pPr>
            <a:r>
              <a:rPr lang="en-US" altLang="zh-CN" dirty="0">
                <a:latin typeface="Times New Roman" panose="02020603050405020304" pitchFamily="18" charset="0"/>
                <a:ea typeface="宋体" panose="02010600030101010101" pitchFamily="2" charset="-122"/>
              </a:rPr>
              <a:t>		 ANL	C, /Z</a:t>
            </a:r>
          </a:p>
          <a:p>
            <a:pPr>
              <a:lnSpc>
                <a:spcPct val="120000"/>
              </a:lnSpc>
            </a:pPr>
            <a:r>
              <a:rPr lang="en-US" altLang="zh-CN" dirty="0">
                <a:latin typeface="Times New Roman" panose="02020603050405020304" pitchFamily="18" charset="0"/>
                <a:ea typeface="宋体" panose="02010600030101010101" pitchFamily="2" charset="-122"/>
              </a:rPr>
              <a:t>		 ORL	C, F</a:t>
            </a:r>
          </a:p>
          <a:p>
            <a:pPr>
              <a:lnSpc>
                <a:spcPct val="120000"/>
              </a:lnSpc>
            </a:pPr>
            <a:r>
              <a:rPr lang="en-US" altLang="zh-CN" dirty="0">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MOV	F, C</a:t>
            </a:r>
          </a:p>
          <a:p>
            <a:pPr>
              <a:lnSpc>
                <a:spcPct val="120000"/>
              </a:lnSpc>
            </a:pPr>
            <a:r>
              <a:rPr lang="en-US" altLang="zh-CN" dirty="0">
                <a:latin typeface="Times New Roman" panose="02020603050405020304" pitchFamily="18" charset="0"/>
                <a:ea typeface="宋体" panose="02010600030101010101" pitchFamily="2" charset="-122"/>
              </a:rPr>
              <a:t>		 MOV	C, Y			</a:t>
            </a:r>
          </a:p>
          <a:p>
            <a:pPr>
              <a:lnSpc>
                <a:spcPct val="120000"/>
              </a:lnSpc>
            </a:pPr>
            <a:r>
              <a:rPr lang="en-US" altLang="zh-CN" dirty="0">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CPL	C</a:t>
            </a:r>
          </a:p>
          <a:p>
            <a:pPr>
              <a:lnSpc>
                <a:spcPct val="120000"/>
              </a:lnSpc>
            </a:pPr>
            <a:r>
              <a:rPr lang="en-US" altLang="zh-CN" dirty="0">
                <a:latin typeface="Times New Roman" panose="02020603050405020304" pitchFamily="18" charset="0"/>
                <a:ea typeface="宋体" panose="02010600030101010101" pitchFamily="2" charset="-122"/>
              </a:rPr>
              <a:t>		 ANL	C, /Z</a:t>
            </a:r>
          </a:p>
          <a:p>
            <a:pPr>
              <a:lnSpc>
                <a:spcPct val="120000"/>
              </a:lnSpc>
            </a:pPr>
            <a:r>
              <a:rPr lang="en-US" altLang="zh-CN" dirty="0">
                <a:latin typeface="Times New Roman" panose="02020603050405020304" pitchFamily="18" charset="0"/>
                <a:ea typeface="宋体" panose="02010600030101010101" pitchFamily="2" charset="-122"/>
              </a:rPr>
              <a:t>		 ORL	C, F</a:t>
            </a:r>
          </a:p>
          <a:p>
            <a:pPr>
              <a:lnSpc>
                <a:spcPct val="120000"/>
              </a:lnSpc>
            </a:pPr>
            <a:r>
              <a:rPr lang="en-US" altLang="zh-CN" dirty="0">
                <a:latin typeface="Times New Roman" panose="02020603050405020304" pitchFamily="18" charset="0"/>
                <a:ea typeface="宋体" panose="02010600030101010101" pitchFamily="2" charset="-122"/>
              </a:rPr>
              <a:t>		 MOV	F, C </a:t>
            </a:r>
          </a:p>
          <a:p>
            <a:pPr>
              <a:lnSpc>
                <a:spcPct val="120000"/>
              </a:lnSpc>
            </a:pPr>
            <a:r>
              <a:rPr lang="en-US" altLang="zh-CN" dirty="0">
                <a:latin typeface="Times New Roman" panose="02020603050405020304" pitchFamily="18" charset="0"/>
                <a:ea typeface="宋体" panose="02010600030101010101" pitchFamily="2" charset="-122"/>
              </a:rPr>
              <a:t>		 END</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142</a:t>
            </a:fld>
            <a:endParaRPr lang="en-US" altLang="zh-CN" sz="1400" b="0" dirty="0"/>
          </a:p>
        </p:txBody>
      </p:sp>
      <p:sp>
        <p:nvSpPr>
          <p:cNvPr id="186370" name="Rectangle 2"/>
          <p:cNvSpPr/>
          <p:nvPr/>
        </p:nvSpPr>
        <p:spPr>
          <a:xfrm>
            <a:off x="152400" y="990600"/>
            <a:ext cx="8382000" cy="4838700"/>
          </a:xfrm>
          <a:prstGeom prst="rect">
            <a:avLst/>
          </a:prstGeom>
          <a:noFill/>
          <a:ln w="9525">
            <a:noFill/>
          </a:ln>
        </p:spPr>
        <p:txBody>
          <a:bodyPr anchor="t" anchorCtr="0">
            <a:spAutoFit/>
          </a:bodyPr>
          <a:lstStyle/>
          <a:p>
            <a:pPr indent="266700" algn="just">
              <a:lnSpc>
                <a:spcPct val="130000"/>
              </a:lnSpc>
            </a:pPr>
            <a:r>
              <a:rPr lang="en-US" altLang="zh-CN" dirty="0">
                <a:solidFill>
                  <a:srgbClr val="FF0000"/>
                </a:solidFill>
                <a:latin typeface="Times New Roman" panose="02020603050405020304" pitchFamily="18" charset="0"/>
                <a:ea typeface="黑体" panose="02010609060101010101" pitchFamily="49" charset="-122"/>
              </a:rPr>
              <a:t>4) </a:t>
            </a:r>
            <a:r>
              <a:rPr lang="zh-CN" altLang="en-US" dirty="0">
                <a:solidFill>
                  <a:srgbClr val="FF0000"/>
                </a:solidFill>
                <a:latin typeface="Times New Roman" panose="02020603050405020304" pitchFamily="18" charset="0"/>
                <a:ea typeface="黑体" panose="02010609060101010101" pitchFamily="49" charset="-122"/>
              </a:rPr>
              <a:t>位条件转移指令</a:t>
            </a:r>
            <a:endParaRPr lang="zh-CN" altLang="en-US" b="0" dirty="0">
              <a:latin typeface="Times New Roman" panose="02020603050405020304" pitchFamily="18" charset="0"/>
              <a:ea typeface="宋体" panose="02010600030101010101" pitchFamily="2" charset="-122"/>
            </a:endParaRPr>
          </a:p>
          <a:p>
            <a:pPr indent="266700" algn="just" eaLnBrk="0" hangingPunct="0">
              <a:lnSpc>
                <a:spcPct val="130000"/>
              </a:lnSpc>
            </a:pP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1</a:t>
            </a:r>
            <a:r>
              <a:rPr lang="zh-CN" altLang="en-US" dirty="0">
                <a:solidFill>
                  <a:srgbClr val="FF0000"/>
                </a:solidFill>
                <a:latin typeface="Times New Roman" panose="02020603050405020304" pitchFamily="18" charset="0"/>
                <a:ea typeface="宋体" panose="02010600030101010101" pitchFamily="2" charset="-122"/>
              </a:rPr>
              <a:t>） 以</a:t>
            </a:r>
            <a:r>
              <a:rPr lang="en-US" altLang="zh-CN" dirty="0">
                <a:solidFill>
                  <a:srgbClr val="FF0000"/>
                </a:solidFill>
                <a:latin typeface="Times New Roman" panose="02020603050405020304" pitchFamily="18" charset="0"/>
                <a:ea typeface="宋体" panose="02010600030101010101" pitchFamily="2" charset="-122"/>
              </a:rPr>
              <a:t>CY</a:t>
            </a:r>
            <a:r>
              <a:rPr lang="zh-CN" altLang="en-US" dirty="0">
                <a:solidFill>
                  <a:srgbClr val="FF0000"/>
                </a:solidFill>
                <a:latin typeface="Times New Roman" panose="02020603050405020304" pitchFamily="18" charset="0"/>
                <a:ea typeface="宋体" panose="02010600030101010101" pitchFamily="2" charset="-122"/>
              </a:rPr>
              <a:t>内容为条件的转移指令（</a:t>
            </a:r>
            <a:r>
              <a:rPr lang="en-US" altLang="zh-CN" dirty="0">
                <a:solidFill>
                  <a:srgbClr val="FF0000"/>
                </a:solidFill>
                <a:latin typeface="Times New Roman" panose="02020603050405020304" pitchFamily="18" charset="0"/>
                <a:ea typeface="宋体" panose="02010600030101010101" pitchFamily="2" charset="-122"/>
              </a:rPr>
              <a:t>2</a:t>
            </a:r>
            <a:r>
              <a:rPr lang="zh-CN" altLang="en-US" dirty="0">
                <a:solidFill>
                  <a:srgbClr val="FF0000"/>
                </a:solidFill>
                <a:latin typeface="Times New Roman" panose="02020603050405020304" pitchFamily="18" charset="0"/>
                <a:ea typeface="宋体" panose="02010600030101010101" pitchFamily="2" charset="-122"/>
              </a:rPr>
              <a:t>条）</a:t>
            </a:r>
            <a:endParaRPr lang="zh-CN" altLang="en-US" b="0" dirty="0">
              <a:latin typeface="Times New Roman" panose="02020603050405020304" pitchFamily="18" charset="0"/>
              <a:ea typeface="宋体" panose="02010600030101010101" pitchFamily="2" charset="-122"/>
            </a:endParaRPr>
          </a:p>
          <a:p>
            <a:pPr indent="266700" algn="just" eaLnBrk="0" hangingPunct="0">
              <a:lnSpc>
                <a:spcPct val="130000"/>
              </a:lnSpc>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JC   rel             </a:t>
            </a:r>
            <a:endParaRPr lang="en-US" altLang="zh-CN" b="0" dirty="0">
              <a:latin typeface="Times New Roman" panose="02020603050405020304" pitchFamily="18" charset="0"/>
              <a:ea typeface="宋体" panose="02010600030101010101" pitchFamily="2" charset="-122"/>
            </a:endParaRPr>
          </a:p>
          <a:p>
            <a:pPr indent="266700" eaLnBrk="0" hangingPunct="0">
              <a:lnSpc>
                <a:spcPct val="13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；若（</a:t>
            </a:r>
            <a:r>
              <a:rPr lang="en-US" altLang="zh-CN" dirty="0">
                <a:latin typeface="Times New Roman" panose="02020603050405020304" pitchFamily="18" charset="0"/>
                <a:ea typeface="宋体" panose="02010600030101010101" pitchFamily="2" charset="-122"/>
              </a:rPr>
              <a:t>CY</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，则（</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 rel</a:t>
            </a:r>
            <a:r>
              <a:rPr lang="zh-CN" altLang="en-US" dirty="0">
                <a:latin typeface="Times New Roman" panose="02020603050405020304" pitchFamily="18" charset="0"/>
                <a:ea typeface="宋体" panose="02010600030101010101" pitchFamily="2" charset="-122"/>
              </a:rPr>
              <a:t>，</a:t>
            </a:r>
          </a:p>
          <a:p>
            <a:pPr indent="266700" eaLnBrk="0" hangingPunct="0">
              <a:lnSpc>
                <a:spcPct val="130000"/>
              </a:lnSpc>
            </a:pPr>
            <a:r>
              <a:rPr lang="zh-CN" altLang="en-US" dirty="0">
                <a:latin typeface="Times New Roman" panose="02020603050405020304" pitchFamily="18" charset="0"/>
                <a:ea typeface="宋体" panose="02010600030101010101" pitchFamily="2" charset="-122"/>
              </a:rPr>
              <a:t>                        否则（</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a:p>
            <a:pPr indent="266700" eaLnBrk="0" hangingPunct="0">
              <a:lnSpc>
                <a:spcPct val="130000"/>
              </a:lnSpc>
            </a:pPr>
            <a:r>
              <a:rPr lang="en-US" altLang="zh-CN" dirty="0">
                <a:latin typeface="Times New Roman" panose="02020603050405020304" pitchFamily="18" charset="0"/>
                <a:ea typeface="宋体" panose="02010600030101010101" pitchFamily="2" charset="-122"/>
              </a:rPr>
              <a:t>	JNC  rel     </a:t>
            </a:r>
          </a:p>
          <a:p>
            <a:pPr indent="266700" eaLnBrk="0" hangingPunct="0">
              <a:lnSpc>
                <a:spcPct val="13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；若（</a:t>
            </a:r>
            <a:r>
              <a:rPr lang="en-US" altLang="zh-CN" dirty="0">
                <a:latin typeface="Times New Roman" panose="02020603050405020304" pitchFamily="18" charset="0"/>
                <a:ea typeface="宋体" panose="02010600030101010101" pitchFamily="2" charset="-122"/>
              </a:rPr>
              <a:t>CY</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，则（</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 rel</a:t>
            </a:r>
            <a:r>
              <a:rPr lang="zh-CN" altLang="en-US" dirty="0">
                <a:latin typeface="Times New Roman" panose="02020603050405020304" pitchFamily="18" charset="0"/>
                <a:ea typeface="宋体" panose="02010600030101010101" pitchFamily="2" charset="-122"/>
              </a:rPr>
              <a:t>，</a:t>
            </a:r>
          </a:p>
          <a:p>
            <a:pPr indent="266700" eaLnBrk="0" hangingPunct="0">
              <a:lnSpc>
                <a:spcPct val="130000"/>
              </a:lnSpc>
            </a:pPr>
            <a:r>
              <a:rPr lang="zh-CN" altLang="en-US" dirty="0">
                <a:latin typeface="Times New Roman" panose="02020603050405020304" pitchFamily="18" charset="0"/>
                <a:ea typeface="宋体" panose="02010600030101010101" pitchFamily="2" charset="-122"/>
              </a:rPr>
              <a:t>                       否则（</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a:p>
            <a:pPr indent="266700" eaLnBrk="0" hangingPunct="0">
              <a:lnSpc>
                <a:spcPct val="130000"/>
              </a:lnSpc>
            </a:pPr>
            <a:endParaRPr lang="en-US" altLang="zh-CN" dirty="0">
              <a:latin typeface="Times New Roman" panose="02020603050405020304" pitchFamily="18" charset="0"/>
              <a:ea typeface="宋体" panose="02010600030101010101" pitchFamily="2" charset="-122"/>
            </a:endParaRPr>
          </a:p>
          <a:p>
            <a:pPr indent="266700" eaLnBrk="0" hangingPunct="0">
              <a:lnSpc>
                <a:spcPct val="130000"/>
              </a:lnSpc>
            </a:pPr>
            <a:r>
              <a:rPr lang="zh-CN" altLang="en-US" dirty="0">
                <a:latin typeface="Times New Roman" panose="02020603050405020304" pitchFamily="18" charset="0"/>
                <a:ea typeface="宋体" panose="02010600030101010101" pitchFamily="2" charset="-122"/>
              </a:rPr>
              <a:t>该指令一般与比较条件转移指令</a:t>
            </a:r>
            <a:r>
              <a:rPr lang="en-US" altLang="zh-CN" dirty="0">
                <a:latin typeface="Times New Roman" panose="02020603050405020304" pitchFamily="18" charset="0"/>
                <a:ea typeface="宋体" panose="02010600030101010101" pitchFamily="2" charset="-122"/>
              </a:rPr>
              <a:t>CJNE</a:t>
            </a:r>
            <a:r>
              <a:rPr lang="zh-CN" altLang="en-US" dirty="0">
                <a:latin typeface="Times New Roman" panose="02020603050405020304" pitchFamily="18" charset="0"/>
                <a:ea typeface="宋体" panose="02010600030101010101" pitchFamily="2" charset="-122"/>
              </a:rPr>
              <a:t>一起使用。</a:t>
            </a:r>
            <a:endParaRPr lang="zh-CN" altLang="en-US"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143</a:t>
            </a:fld>
            <a:endParaRPr lang="en-US" altLang="zh-CN" sz="1400" b="0" dirty="0"/>
          </a:p>
        </p:txBody>
      </p:sp>
      <p:pic>
        <p:nvPicPr>
          <p:cNvPr id="2" name="图片 1"/>
          <p:cNvPicPr>
            <a:picLocks noChangeAspect="1"/>
          </p:cNvPicPr>
          <p:nvPr/>
        </p:nvPicPr>
        <p:blipFill>
          <a:blip r:embed="rId2"/>
          <a:stretch>
            <a:fillRect/>
          </a:stretch>
        </p:blipFill>
        <p:spPr>
          <a:xfrm>
            <a:off x="467360" y="764540"/>
            <a:ext cx="7809865" cy="5718810"/>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144</a:t>
            </a:fld>
            <a:endParaRPr lang="en-US" altLang="zh-CN" sz="1400" b="0" dirty="0"/>
          </a:p>
        </p:txBody>
      </p:sp>
      <p:sp>
        <p:nvSpPr>
          <p:cNvPr id="103426" name="Rectangle 2"/>
          <p:cNvSpPr/>
          <p:nvPr/>
        </p:nvSpPr>
        <p:spPr>
          <a:xfrm>
            <a:off x="0" y="908050"/>
            <a:ext cx="9144000" cy="2136775"/>
          </a:xfrm>
          <a:prstGeom prst="rect">
            <a:avLst/>
          </a:prstGeom>
          <a:noFill/>
          <a:ln w="9525">
            <a:noFill/>
          </a:ln>
        </p:spPr>
        <p:txBody>
          <a:bodyPr anchor="t" anchorCtr="0">
            <a:spAutoFit/>
          </a:bodyPr>
          <a:lstStyle/>
          <a:p>
            <a:pPr indent="669925" algn="just">
              <a:lnSpc>
                <a:spcPct val="140000"/>
              </a:lnSpc>
            </a:pP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2</a:t>
            </a:r>
            <a:r>
              <a:rPr lang="zh-CN" altLang="en-US" dirty="0">
                <a:solidFill>
                  <a:srgbClr val="FF0000"/>
                </a:solidFill>
                <a:latin typeface="Times New Roman" panose="02020603050405020304" pitchFamily="18" charset="0"/>
                <a:ea typeface="宋体" panose="02010600030101010101" pitchFamily="2" charset="-122"/>
              </a:rPr>
              <a:t>）以位地址内容为条件的转移指令（</a:t>
            </a:r>
            <a:r>
              <a:rPr lang="en-US" altLang="zh-CN" dirty="0">
                <a:solidFill>
                  <a:srgbClr val="FF0000"/>
                </a:solidFill>
                <a:latin typeface="Times New Roman" panose="02020603050405020304" pitchFamily="18" charset="0"/>
                <a:ea typeface="宋体" panose="02010600030101010101" pitchFamily="2" charset="-122"/>
              </a:rPr>
              <a:t>3</a:t>
            </a:r>
            <a:r>
              <a:rPr lang="zh-CN" altLang="en-US" dirty="0">
                <a:solidFill>
                  <a:srgbClr val="FF0000"/>
                </a:solidFill>
                <a:latin typeface="Times New Roman" panose="02020603050405020304" pitchFamily="18" charset="0"/>
                <a:ea typeface="宋体" panose="02010600030101010101" pitchFamily="2" charset="-122"/>
              </a:rPr>
              <a:t>字节指令）</a:t>
            </a:r>
            <a:endParaRPr lang="zh-CN" altLang="en-US" b="0" dirty="0">
              <a:latin typeface="Times New Roman" panose="02020603050405020304" pitchFamily="18" charset="0"/>
              <a:ea typeface="宋体" panose="02010600030101010101" pitchFamily="2" charset="-122"/>
            </a:endParaRPr>
          </a:p>
          <a:p>
            <a:pPr indent="669925"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JB    bit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rel			</a:t>
            </a:r>
            <a:endParaRPr lang="en-US" altLang="zh-CN" b="0" dirty="0">
              <a:latin typeface="Times New Roman" panose="02020603050405020304" pitchFamily="18" charset="0"/>
              <a:ea typeface="宋体" panose="02010600030101010101" pitchFamily="2" charset="-122"/>
            </a:endParaRPr>
          </a:p>
          <a:p>
            <a:pPr indent="669925" algn="just" eaLnBrk="0" hangingPunct="0">
              <a:lnSpc>
                <a:spcPct val="14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；若（</a:t>
            </a:r>
            <a:r>
              <a:rPr lang="en-US" altLang="zh-CN" dirty="0">
                <a:latin typeface="Times New Roman" panose="02020603050405020304" pitchFamily="18" charset="0"/>
                <a:ea typeface="宋体" panose="02010600030101010101" pitchFamily="2" charset="-122"/>
              </a:rPr>
              <a:t>bit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，则（</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 rel</a:t>
            </a:r>
            <a:endParaRPr lang="en-US" altLang="zh-CN" b="0" dirty="0">
              <a:latin typeface="Times New Roman" panose="02020603050405020304" pitchFamily="18" charset="0"/>
              <a:ea typeface="宋体" panose="02010600030101010101" pitchFamily="2" charset="-122"/>
            </a:endParaRPr>
          </a:p>
          <a:p>
            <a:pPr indent="669925" algn="just" eaLnBrk="0" hangingPunct="0">
              <a:lnSpc>
                <a:spcPct val="14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否则，（</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		</a:t>
            </a:r>
            <a:endParaRPr lang="en-US" altLang="zh-CN" b="0" dirty="0">
              <a:latin typeface="Times New Roman" panose="02020603050405020304" pitchFamily="18" charset="0"/>
              <a:ea typeface="宋体" panose="02010600030101010101" pitchFamily="2" charset="-122"/>
            </a:endParaRPr>
          </a:p>
        </p:txBody>
      </p:sp>
      <p:sp>
        <p:nvSpPr>
          <p:cNvPr id="258050" name="Rectangle 2"/>
          <p:cNvSpPr/>
          <p:nvPr/>
        </p:nvSpPr>
        <p:spPr>
          <a:xfrm>
            <a:off x="-33337" y="3213100"/>
            <a:ext cx="9144000" cy="3013075"/>
          </a:xfrm>
          <a:prstGeom prst="rect">
            <a:avLst/>
          </a:prstGeom>
          <a:noFill/>
          <a:ln w="9525">
            <a:noFill/>
          </a:ln>
        </p:spPr>
        <p:txBody>
          <a:bodyPr anchor="t" anchorCtr="0">
            <a:spAutoFit/>
          </a:bodyPr>
          <a:lstStyle/>
          <a:p>
            <a:pPr indent="669925" algn="just" eaLnBrk="0" hangingPunct="0">
              <a:lnSpc>
                <a:spcPct val="140000"/>
              </a:lnSpc>
            </a:pPr>
            <a:r>
              <a:rPr lang="en-US" altLang="zh-CN" dirty="0">
                <a:latin typeface="Times New Roman" panose="02020603050405020304" pitchFamily="18" charset="0"/>
                <a:ea typeface="宋体" panose="02010600030101010101" pitchFamily="2" charset="-122"/>
              </a:rPr>
              <a:t>		JNB   bit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rel			</a:t>
            </a:r>
            <a:endParaRPr lang="en-US" altLang="zh-CN" b="0" dirty="0">
              <a:latin typeface="Times New Roman" panose="02020603050405020304" pitchFamily="18" charset="0"/>
              <a:ea typeface="宋体" panose="02010600030101010101" pitchFamily="2" charset="-122"/>
            </a:endParaRPr>
          </a:p>
          <a:p>
            <a:pPr indent="669925" algn="just" eaLnBrk="0" hangingPunct="0">
              <a:lnSpc>
                <a:spcPct val="140000"/>
              </a:lnSpc>
            </a:pPr>
            <a:r>
              <a:rPr lang="en-US" altLang="zh-CN" dirty="0">
                <a:latin typeface="Times New Roman" panose="02020603050405020304" pitchFamily="18" charset="0"/>
                <a:ea typeface="宋体" panose="02010600030101010101" pitchFamily="2" charset="-122"/>
              </a:rPr>
              <a:t>		JBC   bit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rel			</a:t>
            </a:r>
            <a:endParaRPr lang="en-US" altLang="zh-CN" b="0" dirty="0">
              <a:latin typeface="Times New Roman" panose="02020603050405020304" pitchFamily="18" charset="0"/>
              <a:ea typeface="宋体" panose="02010600030101010101" pitchFamily="2" charset="-122"/>
            </a:endParaRPr>
          </a:p>
          <a:p>
            <a:pPr indent="669925" algn="just" eaLnBrk="0" hangingPunct="0">
              <a:lnSpc>
                <a:spcPct val="14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；若（</a:t>
            </a:r>
            <a:r>
              <a:rPr lang="en-US" altLang="zh-CN" dirty="0">
                <a:latin typeface="Times New Roman" panose="02020603050405020304" pitchFamily="18" charset="0"/>
                <a:ea typeface="宋体" panose="02010600030101010101" pitchFamily="2" charset="-122"/>
              </a:rPr>
              <a:t>bit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，则（</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 rel</a:t>
            </a:r>
            <a:r>
              <a:rPr lang="zh-CN" altLang="en-US"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a:p>
            <a:pPr indent="669925"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bit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p>
          <a:p>
            <a:pPr indent="669925" algn="just" eaLnBrk="0" hangingPunct="0">
              <a:lnSpc>
                <a:spcPct val="140000"/>
              </a:lnSpc>
            </a:pPr>
            <a:r>
              <a:rPr lang="zh-CN" altLang="en-US" dirty="0">
                <a:latin typeface="Times New Roman" panose="02020603050405020304" pitchFamily="18" charset="0"/>
                <a:ea typeface="宋体" panose="02010600030101010101" pitchFamily="2" charset="-122"/>
              </a:rPr>
              <a:t>			否则，（</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endParaRPr lang="en-US" altLang="zh-CN" b="0" dirty="0">
              <a:latin typeface="Times New Roman" panose="02020603050405020304" pitchFamily="18" charset="0"/>
              <a:ea typeface="宋体" panose="02010600030101010101" pitchFamily="2" charset="-122"/>
            </a:endParaRPr>
          </a:p>
          <a:p>
            <a:pPr indent="669925" eaLnBrk="0" hangingPunct="0"/>
            <a:endParaRPr lang="en-US" altLang="zh-CN"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3426"/>
                                        </p:tgtEl>
                                        <p:attrNameLst>
                                          <p:attrName>style.visibility</p:attrName>
                                        </p:attrNameLst>
                                      </p:cBhvr>
                                      <p:to>
                                        <p:strVal val="visible"/>
                                      </p:to>
                                    </p:set>
                                    <p:animEffect transition="in" filter="blinds(horizontal)">
                                      <p:cBhvr>
                                        <p:cTn id="7" dur="500"/>
                                        <p:tgtEl>
                                          <p:spTgt spid="103426"/>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258050"/>
                                        </p:tgtEl>
                                        <p:attrNameLst>
                                          <p:attrName>style.visibility</p:attrName>
                                        </p:attrNameLst>
                                      </p:cBhvr>
                                      <p:to>
                                        <p:strVal val="visible"/>
                                      </p:to>
                                    </p:set>
                                    <p:animEffect transition="in" filter="diamond(in)">
                                      <p:cBhvr>
                                        <p:cTn id="12" dur="2000"/>
                                        <p:tgtEl>
                                          <p:spTgt spid="258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p:bldP spid="258050"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灯片编号占位符 5"/>
          <p:cNvSpPr>
            <a:spLocks noGrp="1"/>
          </p:cNvSpPr>
          <p:nvPr>
            <p:ph type="sldNum" sz="quarter" idx="11"/>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145</a:t>
            </a:fld>
            <a:endParaRPr lang="en-US" altLang="zh-CN" sz="1400" b="0" dirty="0"/>
          </a:p>
        </p:txBody>
      </p:sp>
      <p:sp>
        <p:nvSpPr>
          <p:cNvPr id="188418" name="Text Box 4"/>
          <p:cNvSpPr txBox="1"/>
          <p:nvPr/>
        </p:nvSpPr>
        <p:spPr>
          <a:xfrm>
            <a:off x="395288" y="981075"/>
            <a:ext cx="8388350" cy="1625600"/>
          </a:xfrm>
          <a:prstGeom prst="rect">
            <a:avLst/>
          </a:prstGeom>
          <a:noFill/>
          <a:ln w="9525">
            <a:noFill/>
          </a:ln>
        </p:spPr>
        <p:txBody>
          <a:bodyPr anchor="t" anchorCtr="0">
            <a:spAutoFit/>
          </a:bodyPr>
          <a:lstStyle/>
          <a:p>
            <a:pPr>
              <a:lnSpc>
                <a:spcPct val="140000"/>
              </a:lnSpc>
              <a:spcBef>
                <a:spcPct val="50000"/>
              </a:spcBef>
            </a:pP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4-17  </a:t>
            </a:r>
            <a:r>
              <a:rPr lang="zh-CN" altLang="en-US" dirty="0">
                <a:latin typeface="Times New Roman" panose="02020603050405020304" pitchFamily="18" charset="0"/>
                <a:ea typeface="宋体" panose="02010600030101010101" pitchFamily="2" charset="-122"/>
              </a:rPr>
              <a:t>统计从</a:t>
            </a:r>
            <a:r>
              <a:rPr lang="zh-CN" altLang="en-US" dirty="0">
                <a:solidFill>
                  <a:srgbClr val="FF0000"/>
                </a:solidFill>
                <a:latin typeface="Times New Roman" panose="02020603050405020304" pitchFamily="18" charset="0"/>
                <a:ea typeface="宋体" panose="02010600030101010101" pitchFamily="2" charset="-122"/>
              </a:rPr>
              <a:t>内部</a:t>
            </a:r>
            <a:r>
              <a:rPr lang="en-US" altLang="zh-CN" dirty="0">
                <a:solidFill>
                  <a:srgbClr val="FF0000"/>
                </a:solidFill>
                <a:latin typeface="Times New Roman" panose="02020603050405020304" pitchFamily="18" charset="0"/>
                <a:ea typeface="宋体" panose="02010600030101010101" pitchFamily="2" charset="-122"/>
              </a:rPr>
              <a:t>RAM 30H</a:t>
            </a:r>
            <a:r>
              <a:rPr lang="zh-CN" altLang="en-US" dirty="0">
                <a:latin typeface="Times New Roman" panose="02020603050405020304" pitchFamily="18" charset="0"/>
                <a:ea typeface="宋体" panose="02010600030101010101" pitchFamily="2" charset="-122"/>
              </a:rPr>
              <a:t>开始的</a:t>
            </a:r>
            <a:r>
              <a:rPr lang="en-US" altLang="zh-CN" dirty="0">
                <a:solidFill>
                  <a:srgbClr val="FF0000"/>
                </a:solidFill>
                <a:latin typeface="Times New Roman" panose="02020603050405020304" pitchFamily="18" charset="0"/>
                <a:ea typeface="宋体" panose="02010600030101010101" pitchFamily="2" charset="-122"/>
              </a:rPr>
              <a:t>20</a:t>
            </a:r>
            <a:r>
              <a:rPr lang="zh-CN" altLang="en-US" dirty="0">
                <a:solidFill>
                  <a:srgbClr val="FF0000"/>
                </a:solidFill>
                <a:latin typeface="Times New Roman" panose="02020603050405020304" pitchFamily="18" charset="0"/>
                <a:ea typeface="宋体" panose="02010600030101010101" pitchFamily="2" charset="-122"/>
              </a:rPr>
              <a:t>个</a:t>
            </a:r>
            <a:r>
              <a:rPr lang="zh-CN" altLang="en-US" dirty="0">
                <a:latin typeface="Times New Roman" panose="02020603050405020304" pitchFamily="18" charset="0"/>
                <a:ea typeface="宋体" panose="02010600030101010101" pitchFamily="2" charset="-122"/>
              </a:rPr>
              <a:t>数据中</a:t>
            </a:r>
            <a:r>
              <a:rPr lang="zh-CN" altLang="en-US" dirty="0">
                <a:solidFill>
                  <a:srgbClr val="FF0000"/>
                </a:solidFill>
                <a:latin typeface="Times New Roman" panose="02020603050405020304" pitchFamily="18" charset="0"/>
                <a:ea typeface="宋体" panose="02010600030101010101" pitchFamily="2" charset="-122"/>
              </a:rPr>
              <a:t>正数</a:t>
            </a:r>
            <a:r>
              <a:rPr lang="zh-CN" altLang="en-US" dirty="0">
                <a:latin typeface="Times New Roman" panose="02020603050405020304" pitchFamily="18" charset="0"/>
                <a:ea typeface="宋体" panose="02010600030101010101" pitchFamily="2" charset="-122"/>
              </a:rPr>
              <a:t>（包括</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）和</a:t>
            </a:r>
            <a:r>
              <a:rPr lang="zh-CN" altLang="en-US" dirty="0">
                <a:solidFill>
                  <a:srgbClr val="FF0000"/>
                </a:solidFill>
                <a:latin typeface="Times New Roman" panose="02020603050405020304" pitchFamily="18" charset="0"/>
                <a:ea typeface="宋体" panose="02010600030101010101" pitchFamily="2" charset="-122"/>
              </a:rPr>
              <a:t>负数</a:t>
            </a:r>
            <a:r>
              <a:rPr lang="zh-CN" altLang="en-US" dirty="0">
                <a:latin typeface="Times New Roman" panose="02020603050405020304" pitchFamily="18" charset="0"/>
                <a:ea typeface="宋体" panose="02010600030101010101" pitchFamily="2" charset="-122"/>
              </a:rPr>
              <a:t>的个数，并将统计的正数和负数结果分别存放在内部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的</a:t>
            </a:r>
            <a:r>
              <a:rPr lang="en-US" altLang="zh-CN" dirty="0">
                <a:solidFill>
                  <a:srgbClr val="FF0000"/>
                </a:solidFill>
                <a:latin typeface="Times New Roman" panose="02020603050405020304" pitchFamily="18" charset="0"/>
                <a:ea typeface="宋体" panose="02010600030101010101" pitchFamily="2" charset="-122"/>
              </a:rPr>
              <a:t>50H</a:t>
            </a:r>
            <a:r>
              <a:rPr lang="zh-CN" altLang="en-US" dirty="0">
                <a:solidFill>
                  <a:srgbClr val="FF0000"/>
                </a:solidFill>
                <a:latin typeface="Times New Roman" panose="02020603050405020304" pitchFamily="18" charset="0"/>
                <a:ea typeface="宋体" panose="02010600030101010101" pitchFamily="2" charset="-122"/>
              </a:rPr>
              <a:t>和</a:t>
            </a:r>
            <a:r>
              <a:rPr lang="en-US" altLang="zh-CN" dirty="0">
                <a:solidFill>
                  <a:srgbClr val="FF0000"/>
                </a:solidFill>
                <a:latin typeface="Times New Roman" panose="02020603050405020304" pitchFamily="18" charset="0"/>
                <a:ea typeface="宋体" panose="02010600030101010101" pitchFamily="2" charset="-122"/>
              </a:rPr>
              <a:t>51H</a:t>
            </a:r>
            <a:r>
              <a:rPr lang="zh-CN" altLang="en-US" dirty="0">
                <a:latin typeface="Times New Roman" panose="02020603050405020304" pitchFamily="18" charset="0"/>
                <a:ea typeface="宋体" panose="02010600030101010101" pitchFamily="2" charset="-122"/>
              </a:rPr>
              <a:t>单元。</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pPr lvl="0" algn="r"/>
              <a:t>146</a:t>
            </a:fld>
            <a:endParaRPr lang="en-US" altLang="zh-CN" sz="1400" b="0" dirty="0"/>
          </a:p>
        </p:txBody>
      </p:sp>
      <p:sp>
        <p:nvSpPr>
          <p:cNvPr id="190466" name="Text Box 2"/>
          <p:cNvSpPr txBox="1"/>
          <p:nvPr/>
        </p:nvSpPr>
        <p:spPr>
          <a:xfrm>
            <a:off x="1524000" y="914400"/>
            <a:ext cx="6096000" cy="4894263"/>
          </a:xfrm>
          <a:prstGeom prst="rect">
            <a:avLst/>
          </a:prstGeom>
          <a:noFill/>
          <a:ln w="9525">
            <a:noFill/>
          </a:ln>
        </p:spPr>
        <p:txBody>
          <a:bodyPr anchor="t" anchorCtr="0">
            <a:spAutoFit/>
          </a:bodyPr>
          <a:lstStyle/>
          <a:p>
            <a:pPr algn="ctr">
              <a:spcBef>
                <a:spcPct val="50000"/>
              </a:spcBef>
            </a:pPr>
            <a:r>
              <a:rPr lang="zh-CN" altLang="en-US" dirty="0">
                <a:solidFill>
                  <a:schemeClr val="accent2"/>
                </a:solidFill>
                <a:latin typeface="Times New Roman" panose="02020603050405020304" pitchFamily="18" charset="0"/>
                <a:ea typeface="宋体" panose="02010600030101010101" pitchFamily="2" charset="-122"/>
              </a:rPr>
              <a:t>本  章  小  结</a:t>
            </a:r>
          </a:p>
          <a:p>
            <a:pPr>
              <a:spcBef>
                <a:spcPct val="50000"/>
              </a:spcBef>
            </a:pPr>
            <a:endParaRPr lang="zh-CN" altLang="en-US" dirty="0">
              <a:solidFill>
                <a:schemeClr val="accent2"/>
              </a:solidFill>
              <a:latin typeface="Times New Roman" panose="02020603050405020304" pitchFamily="18" charset="0"/>
              <a:ea typeface="宋体" panose="02010600030101010101" pitchFamily="2" charset="-122"/>
            </a:endParaRPr>
          </a:p>
          <a:p>
            <a:pPr>
              <a:spcBef>
                <a:spcPct val="50000"/>
              </a:spcBef>
            </a:pPr>
            <a:r>
              <a:rPr lang="zh-CN" altLang="en-US" dirty="0">
                <a:latin typeface="Times New Roman" panose="02020603050405020304" pitchFamily="18" charset="0"/>
                <a:ea typeface="宋体" panose="02010600030101010101" pitchFamily="2" charset="-122"/>
              </a:rPr>
              <a:t>	指令格式：机器指令和汇编指令</a:t>
            </a:r>
          </a:p>
          <a:p>
            <a:pPr>
              <a:spcBef>
                <a:spcPct val="50000"/>
              </a:spcBef>
            </a:pPr>
            <a:r>
              <a:rPr lang="zh-CN" altLang="en-US" dirty="0">
                <a:latin typeface="Times New Roman" panose="02020603050405020304" pitchFamily="18" charset="0"/>
                <a:ea typeface="宋体" panose="02010600030101010101" pitchFamily="2" charset="-122"/>
              </a:rPr>
              <a:t>	寻址方式</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七种</a:t>
            </a:r>
          </a:p>
          <a:p>
            <a:pPr>
              <a:spcBef>
                <a:spcPct val="50000"/>
              </a:spcBef>
            </a:pPr>
            <a:r>
              <a:rPr lang="zh-CN" altLang="en-US" dirty="0">
                <a:latin typeface="Times New Roman" panose="02020603050405020304" pitchFamily="18" charset="0"/>
                <a:ea typeface="宋体" panose="02010600030101010101" pitchFamily="2" charset="-122"/>
              </a:rPr>
              <a:t>	指令系统：	数据传送</a:t>
            </a:r>
          </a:p>
          <a:p>
            <a:pPr>
              <a:spcBef>
                <a:spcPct val="50000"/>
              </a:spcBef>
            </a:pPr>
            <a:r>
              <a:rPr lang="zh-CN" altLang="en-US" dirty="0">
                <a:latin typeface="Times New Roman" panose="02020603050405020304" pitchFamily="18" charset="0"/>
                <a:ea typeface="宋体" panose="02010600030101010101" pitchFamily="2" charset="-122"/>
              </a:rPr>
              <a:t>			算术运算</a:t>
            </a:r>
          </a:p>
          <a:p>
            <a:pPr>
              <a:spcBef>
                <a:spcPct val="50000"/>
              </a:spcBef>
            </a:pPr>
            <a:r>
              <a:rPr lang="zh-CN" altLang="en-US" dirty="0">
                <a:latin typeface="Times New Roman" panose="02020603050405020304" pitchFamily="18" charset="0"/>
                <a:ea typeface="宋体" panose="02010600030101010101" pitchFamily="2" charset="-122"/>
              </a:rPr>
              <a:t>   			逻辑运算与移位</a:t>
            </a:r>
          </a:p>
          <a:p>
            <a:pPr>
              <a:spcBef>
                <a:spcPct val="50000"/>
              </a:spcBef>
            </a:pPr>
            <a:r>
              <a:rPr lang="zh-CN" altLang="en-US" dirty="0">
                <a:latin typeface="Times New Roman" panose="02020603050405020304" pitchFamily="18" charset="0"/>
                <a:ea typeface="宋体" panose="02010600030101010101" pitchFamily="2" charset="-122"/>
              </a:rPr>
              <a:t>			控制转移</a:t>
            </a:r>
          </a:p>
          <a:p>
            <a:pPr>
              <a:spcBef>
                <a:spcPct val="50000"/>
              </a:spcBef>
            </a:pPr>
            <a:r>
              <a:rPr lang="zh-CN" altLang="en-US" dirty="0">
                <a:latin typeface="Times New Roman" panose="02020603050405020304" pitchFamily="18" charset="0"/>
                <a:ea typeface="宋体" panose="02010600030101010101" pitchFamily="2" charset="-122"/>
              </a:rPr>
              <a:t>			位操作</a:t>
            </a:r>
          </a:p>
        </p:txBody>
      </p:sp>
    </p:spTree>
  </p:cSld>
  <p:clrMapOvr>
    <a:masterClrMapping/>
  </p:clrMapOvr>
  <mc:AlternateContent xmlns:mc="http://schemas.openxmlformats.org/markup-compatibility/2006">
    <mc:Choice xmlns:p14="http://schemas.microsoft.com/office/powerpoint/2010/main" xmlns="" Requires="p14">
      <p:transition p14:dur="500"/>
    </mc:Choice>
    <mc:Fallback>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f2080419-9179-4220-83ca-9ceeb2f4c90a}"/>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Fan</Template>
  <TotalTime>3</TotalTime>
  <Words>4956</Words>
  <Application>WPS 演示</Application>
  <PresentationFormat>全屏显示(4:3)</PresentationFormat>
  <Paragraphs>1204</Paragraphs>
  <Slides>146</Slides>
  <Notes>2</Notes>
  <HiddenSlides>1</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146</vt:i4>
      </vt:variant>
    </vt:vector>
  </HeadingPairs>
  <TitlesOfParts>
    <vt:vector size="149" baseType="lpstr">
      <vt:lpstr>暗香扑面</vt:lpstr>
      <vt:lpstr>Microsoft 公式 3.0</vt:lpstr>
      <vt:lpstr>MathType 6.0 Equation</vt:lpstr>
      <vt:lpstr>3.1  概述 3.2  寻址方式 3.3  指令系统 </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lpstr>幻灯片 70</vt:lpstr>
      <vt:lpstr>幻灯片 71</vt:lpstr>
      <vt:lpstr>幻灯片 72</vt:lpstr>
      <vt:lpstr>幻灯片 73</vt:lpstr>
      <vt:lpstr>幻灯片 74</vt:lpstr>
      <vt:lpstr>幻灯片 75</vt:lpstr>
      <vt:lpstr>幻灯片 76</vt:lpstr>
      <vt:lpstr>幻灯片 77</vt:lpstr>
      <vt:lpstr>幻灯片 78</vt:lpstr>
      <vt:lpstr>堆栈操作应遵循“先进后出”的原则。 例如： PUSH  A   PUSH  PSW       ┇   POP  PSW   POP  A </vt:lpstr>
      <vt:lpstr>幻灯片 80</vt:lpstr>
      <vt:lpstr>幻灯片 81</vt:lpstr>
      <vt:lpstr>24条指令，完成加、减、乘、除等算术运算。  1）加法指令组（ADD）  ADD  A， Rn         ；A←（A）+（Rn）  ADD  A， direct       ；A←（A）+（direct）  ADD  A， @Ri        ；A←（A）+  ( (Ri) )  ADD  A， #data        ；A←（A）+data</vt:lpstr>
      <vt:lpstr>幻灯片 83</vt:lpstr>
      <vt:lpstr>幻灯片 84</vt:lpstr>
      <vt:lpstr>幻灯片 85</vt:lpstr>
      <vt:lpstr>幻灯片 86</vt:lpstr>
      <vt:lpstr>幻灯片 87</vt:lpstr>
      <vt:lpstr>幻灯片 88</vt:lpstr>
      <vt:lpstr>幻灯片 89</vt:lpstr>
      <vt:lpstr>幻灯片 90</vt:lpstr>
      <vt:lpstr>幻灯片 91</vt:lpstr>
      <vt:lpstr>幻灯片 92</vt:lpstr>
      <vt:lpstr>幻灯片 93</vt:lpstr>
      <vt:lpstr>幻灯片 94</vt:lpstr>
      <vt:lpstr>幻灯片 95</vt:lpstr>
      <vt:lpstr>幻灯片 96</vt:lpstr>
      <vt:lpstr>幻灯片 97</vt:lpstr>
      <vt:lpstr>幻灯片 98</vt:lpstr>
      <vt:lpstr>幻灯片 99</vt:lpstr>
      <vt:lpstr>幻灯片 100</vt:lpstr>
      <vt:lpstr>幻灯片 101</vt:lpstr>
      <vt:lpstr>幻灯片 102</vt:lpstr>
      <vt:lpstr>幻灯片 103</vt:lpstr>
      <vt:lpstr>幻灯片 104</vt:lpstr>
      <vt:lpstr>幻灯片 105</vt:lpstr>
      <vt:lpstr>幻灯片 106</vt:lpstr>
      <vt:lpstr>幻灯片 107</vt:lpstr>
      <vt:lpstr>幻灯片 108</vt:lpstr>
      <vt:lpstr>幻灯片 109</vt:lpstr>
      <vt:lpstr>幻灯片 110</vt:lpstr>
      <vt:lpstr>幻灯片 111</vt:lpstr>
      <vt:lpstr>幻灯片 112</vt:lpstr>
      <vt:lpstr>幻灯片 113</vt:lpstr>
      <vt:lpstr>幻灯片 114</vt:lpstr>
      <vt:lpstr>幻灯片 115</vt:lpstr>
      <vt:lpstr>幻灯片 116</vt:lpstr>
      <vt:lpstr>幻灯片 117</vt:lpstr>
      <vt:lpstr>幻灯片 118</vt:lpstr>
      <vt:lpstr>（3） 短转移指令：   SJMP   rel    ；目的地址＝（PC）+2+rel 例如：      HERE:  SJMP   HERE    ；等待指令 或              HERE:  SJMP   $   ；$表示PC的当前值</vt:lpstr>
      <vt:lpstr>幻灯片 120</vt:lpstr>
      <vt:lpstr>幻灯片 121</vt:lpstr>
      <vt:lpstr>幻灯片 122</vt:lpstr>
      <vt:lpstr>幻灯片 123</vt:lpstr>
      <vt:lpstr>幻灯片 124</vt:lpstr>
      <vt:lpstr>幻灯片 125</vt:lpstr>
      <vt:lpstr>幻灯片 126</vt:lpstr>
      <vt:lpstr>幻灯片 127</vt:lpstr>
      <vt:lpstr>幻灯片 128</vt:lpstr>
      <vt:lpstr>幻灯片 129</vt:lpstr>
      <vt:lpstr>幻灯片 130</vt:lpstr>
      <vt:lpstr>幻灯片 131</vt:lpstr>
      <vt:lpstr>幻灯片 132</vt:lpstr>
      <vt:lpstr>幻灯片 133</vt:lpstr>
      <vt:lpstr>幻灯片 134</vt:lpstr>
      <vt:lpstr>3.3.5  位操作类指令  位地址的表示方法主要有下列四种：以AC为例    • 直接位地址表示： 0D6H（PSW的位6）  • 点操作符表示： PSW.6                                                0D0H.6  • 位名称表示： AC </vt:lpstr>
      <vt:lpstr>幻灯片 136</vt:lpstr>
      <vt:lpstr>幻灯片 137</vt:lpstr>
      <vt:lpstr>3．位逻辑操作指令（共6条）  逻辑与、或、非三种  ANL C ，bit    ；CY←（CY）∧(bit)  ANL C ，/ bit   ；CY←（CY）∧    ORL   C ，bit    ；CY←（CY）∨(bit)  ORL   C ，/ bit   ；CY←（CY）∨     CPL   bit          ；bit←（       ）  CPL   C           ；CY←（      ）</vt:lpstr>
      <vt:lpstr>幻灯片 139</vt:lpstr>
      <vt:lpstr>幻灯片 140</vt:lpstr>
      <vt:lpstr>幻灯片 141</vt:lpstr>
      <vt:lpstr>幻灯片 142</vt:lpstr>
      <vt:lpstr>幻灯片 143</vt:lpstr>
      <vt:lpstr>幻灯片 144</vt:lpstr>
      <vt:lpstr>幻灯片 145</vt:lpstr>
      <vt:lpstr>幻灯片 146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gwc</dc:creator>
  <cp:lastModifiedBy>asus</cp:lastModifiedBy>
  <cp:revision>217</cp:revision>
  <dcterms:created xsi:type="dcterms:W3CDTF">2004-04-27T00:09:00Z</dcterms:created>
  <dcterms:modified xsi:type="dcterms:W3CDTF">2022-09-04T13:09:18Z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2052-11.1.0.11194</vt:lpwstr>
  </property>
  <property fmtid="{D5CDD505-2E9C-101B-9397-08002B2CF9AE}" pid="3" name="ICV">
    <vt:lpwstr>85FAF10803624853AEF2D1A8D04883E7</vt:lpwstr>
  </property>
</Properties>
</file>