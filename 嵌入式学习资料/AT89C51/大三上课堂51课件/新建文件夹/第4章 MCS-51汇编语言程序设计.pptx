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672" r:id="rId2"/>
  </p:sldMasterIdLst>
  <p:notesMasterIdLst>
    <p:notesMasterId r:id="rId41"/>
  </p:notesMasterIdLst>
  <p:sldIdLst>
    <p:sldId id="256" r:id="rId3"/>
    <p:sldId id="441" r:id="rId4"/>
    <p:sldId id="442" r:id="rId5"/>
    <p:sldId id="443" r:id="rId6"/>
    <p:sldId id="329" r:id="rId7"/>
    <p:sldId id="438" r:id="rId8"/>
    <p:sldId id="422" r:id="rId9"/>
    <p:sldId id="424" r:id="rId10"/>
    <p:sldId id="440" r:id="rId11"/>
    <p:sldId id="522" r:id="rId12"/>
    <p:sldId id="444" r:id="rId13"/>
    <p:sldId id="339" r:id="rId14"/>
    <p:sldId id="341" r:id="rId15"/>
    <p:sldId id="342" r:id="rId16"/>
    <p:sldId id="487" r:id="rId17"/>
    <p:sldId id="490" r:id="rId18"/>
    <p:sldId id="491" r:id="rId19"/>
    <p:sldId id="349" r:id="rId20"/>
    <p:sldId id="355" r:id="rId21"/>
    <p:sldId id="350" r:id="rId22"/>
    <p:sldId id="428" r:id="rId23"/>
    <p:sldId id="429" r:id="rId24"/>
    <p:sldId id="430" r:id="rId25"/>
    <p:sldId id="351" r:id="rId26"/>
    <p:sldId id="352" r:id="rId27"/>
    <p:sldId id="268" r:id="rId28"/>
    <p:sldId id="269" r:id="rId29"/>
    <p:sldId id="353" r:id="rId30"/>
    <p:sldId id="270" r:id="rId31"/>
    <p:sldId id="272" r:id="rId32"/>
    <p:sldId id="274" r:id="rId33"/>
    <p:sldId id="275" r:id="rId34"/>
    <p:sldId id="432" r:id="rId35"/>
    <p:sldId id="276" r:id="rId36"/>
    <p:sldId id="379" r:id="rId37"/>
    <p:sldId id="416" r:id="rId38"/>
    <p:sldId id="417" r:id="rId39"/>
    <p:sldId id="420" r:id="rId40"/>
  </p:sldIdLst>
  <p:sldSz cx="9144000" cy="6858000" type="screen4x3"/>
  <p:notesSz cx="6648450" cy="9780588"/>
  <p:defaultTextStyle>
    <a:defPPr>
      <a:defRPr lang="zh-CN"/>
    </a:defPPr>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FFCC99"/>
    <a:srgbClr val="66CCFF"/>
    <a:srgbClr val="CCFFFF"/>
    <a:srgbClr val="FF3300"/>
    <a:srgbClr val="0000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2067"/>
    <p:restoredTop sz="94660"/>
  </p:normalViewPr>
  <p:slideViewPr>
    <p:cSldViewPr showGuides="1">
      <p:cViewPr varScale="1">
        <p:scale>
          <a:sx n="68" d="100"/>
          <a:sy n="68" d="100"/>
        </p:scale>
        <p:origin x="-1352"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8834" name="Rectangle 2"/>
          <p:cNvSpPr>
            <a:spLocks noGrp="1" noChangeArrowheads="1"/>
          </p:cNvSpPr>
          <p:nvPr>
            <p:ph type="hdr" sz="quarter"/>
          </p:nvPr>
        </p:nvSpPr>
        <p:spPr bwMode="auto">
          <a:xfrm>
            <a:off x="0" y="0"/>
            <a:ext cx="2881313" cy="488950"/>
          </a:xfrm>
          <a:prstGeom prst="rect">
            <a:avLst/>
          </a:prstGeom>
          <a:noFill/>
          <a:ln w="9525">
            <a:noFill/>
            <a:miter lim="800000"/>
          </a:ln>
          <a:effectLst/>
        </p:spPr>
        <p:txBody>
          <a:bodyPr vert="horz" wrap="square" lIns="91440" tIns="45720" rIns="91440" bIns="45720" numCol="1" anchor="t" anchorCtr="0" compatLnSpc="1"/>
          <a:lstStyle>
            <a:lvl1pPr>
              <a:defRPr kumimoji="1"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8835" name="Rectangle 3"/>
          <p:cNvSpPr>
            <a:spLocks noGrp="1" noChangeArrowheads="1"/>
          </p:cNvSpPr>
          <p:nvPr>
            <p:ph type="dt" idx="1"/>
          </p:nvPr>
        </p:nvSpPr>
        <p:spPr bwMode="auto">
          <a:xfrm>
            <a:off x="3765550" y="0"/>
            <a:ext cx="2881313" cy="488950"/>
          </a:xfrm>
          <a:prstGeom prst="rect">
            <a:avLst/>
          </a:prstGeom>
          <a:noFill/>
          <a:ln w="9525">
            <a:noFill/>
            <a:miter lim="800000"/>
          </a:ln>
          <a:effectLst/>
        </p:spPr>
        <p:txBody>
          <a:bodyPr vert="horz" wrap="square" lIns="91440" tIns="45720" rIns="91440" bIns="45720" numCol="1" anchor="t" anchorCtr="0" compatLnSpc="1"/>
          <a:lstStyle>
            <a:lvl1pPr algn="r">
              <a:defRPr kumimoji="1"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noTextEdit="1"/>
          </p:cNvSpPr>
          <p:nvPr>
            <p:ph type="sldImg"/>
          </p:nvPr>
        </p:nvSpPr>
        <p:spPr>
          <a:xfrm>
            <a:off x="879475" y="733425"/>
            <a:ext cx="4889500" cy="3667125"/>
          </a:xfrm>
          <a:prstGeom prst="rect">
            <a:avLst/>
          </a:prstGeom>
          <a:noFill/>
          <a:ln w="9525" cap="flat" cmpd="sng">
            <a:solidFill>
              <a:srgbClr val="000000"/>
            </a:solidFill>
            <a:prstDash val="solid"/>
            <a:miter/>
            <a:headEnd type="none" w="med" len="med"/>
            <a:tailEnd type="none" w="med" len="med"/>
          </a:ln>
        </p:spPr>
      </p:sp>
      <p:sp>
        <p:nvSpPr>
          <p:cNvPr id="248837" name="Rectangle 5"/>
          <p:cNvSpPr>
            <a:spLocks noGrp="1" noChangeArrowheads="1"/>
          </p:cNvSpPr>
          <p:nvPr>
            <p:ph type="body" sz="quarter" idx="3"/>
          </p:nvPr>
        </p:nvSpPr>
        <p:spPr bwMode="auto">
          <a:xfrm>
            <a:off x="665163" y="4645025"/>
            <a:ext cx="5318125" cy="4402138"/>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248838" name="Rectangle 6"/>
          <p:cNvSpPr>
            <a:spLocks noGrp="1" noChangeArrowheads="1"/>
          </p:cNvSpPr>
          <p:nvPr>
            <p:ph type="ftr" sz="quarter" idx="4"/>
          </p:nvPr>
        </p:nvSpPr>
        <p:spPr bwMode="auto">
          <a:xfrm>
            <a:off x="0" y="9290050"/>
            <a:ext cx="2881313" cy="488950"/>
          </a:xfrm>
          <a:prstGeom prst="rect">
            <a:avLst/>
          </a:prstGeom>
          <a:noFill/>
          <a:ln w="9525">
            <a:noFill/>
            <a:miter lim="800000"/>
          </a:ln>
          <a:effectLst/>
        </p:spPr>
        <p:txBody>
          <a:bodyPr vert="horz" wrap="square" lIns="91440" tIns="45720" rIns="91440" bIns="45720" numCol="1" anchor="b" anchorCtr="0" compatLnSpc="1"/>
          <a:lstStyle>
            <a:lvl1pPr>
              <a:defRPr kumimoji="1"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8839" name="Rectangle 7"/>
          <p:cNvSpPr>
            <a:spLocks noGrp="1" noChangeArrowheads="1"/>
          </p:cNvSpPr>
          <p:nvPr>
            <p:ph type="sldNum" sz="quarter" idx="5"/>
          </p:nvPr>
        </p:nvSpPr>
        <p:spPr bwMode="auto">
          <a:xfrm>
            <a:off x="3765550" y="9290050"/>
            <a:ext cx="2881313" cy="488950"/>
          </a:xfrm>
          <a:prstGeom prst="rect">
            <a:avLst/>
          </a:prstGeom>
          <a:noFill/>
          <a:ln w="9525">
            <a:noFill/>
            <a:miter lim="800000"/>
          </a:ln>
          <a:effectLst/>
        </p:spPr>
        <p:txBody>
          <a:bodyPr vert="horz" wrap="square" lIns="91440" tIns="45720" rIns="91440" bIns="45720" numCol="1" anchor="b" anchorCtr="0" compatLnSpc="1"/>
          <a:lstStyle/>
          <a:p>
            <a:pPr lvl="0" algn="r" eaLnBrk="1" fontAlgn="base" hangingPunct="1"/>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cs"/>
              </a:rPr>
              <a:pPr lvl="0" algn="r" eaLnBrk="1" fontAlgn="base" hangingPunct="1"/>
              <a:t>‹#›</a:t>
            </a:fld>
            <a:endParaRPr lang="en-US" altLang="zh-CN" sz="1200" b="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p>
          <a:p>
            <a:pPr lvl="1" fontAlgn="base"/>
            <a:r>
              <a:rPr lang="zh-CN" altLang="en-US" strike="noStrike" noProof="1" smtClean="0"/>
              <a:t>第二级</a:t>
            </a:r>
          </a:p>
          <a:p>
            <a:pPr lvl="2" fontAlgn="base"/>
            <a:r>
              <a:rPr lang="zh-CN" altLang="en-US" strike="noStrike" noProof="1" smtClean="0"/>
              <a:t>第三级</a:t>
            </a:r>
          </a:p>
          <a:p>
            <a:pPr lvl="3" fontAlgn="base"/>
            <a:r>
              <a:rPr lang="zh-CN" altLang="en-US" strike="noStrike" noProof="1" smtClean="0"/>
              <a:t>第四级</a:t>
            </a:r>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ctrTitle"/>
          </p:nvPr>
        </p:nvSpPr>
        <p:spPr>
          <a:xfrm>
            <a:off x="685800" y="1676401"/>
            <a:ext cx="7772400" cy="1538286"/>
          </a:xfrm>
        </p:spPr>
        <p:txBody>
          <a:bodyPr anchor="b"/>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a:xfrm>
            <a:off x="5330952" y="6400800"/>
            <a:ext cx="3733800" cy="28380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p:blinds dir="vert"/>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smtClean="0"/>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p:blinds dir="vert"/>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transition>
    <p:blinds dir="vert"/>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Tree>
  </p:cSld>
  <p:clrMapOvr>
    <a:masterClrMapping/>
  </p:clrMapOvr>
  <p:transition>
    <p:blinds dir="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en-US" dirty="0"/>
              <a:t>单击此处编辑母版标题样式</a:t>
            </a:r>
          </a:p>
        </p:txBody>
      </p:sp>
      <p:sp>
        <p:nvSpPr>
          <p:cNvPr id="2051" name="Rectangle 3"/>
          <p:cNvSpPr>
            <a:spLocks noGrp="1"/>
          </p:cNvSpPr>
          <p:nvPr>
            <p:ph type="body"/>
          </p:nvPr>
        </p:nvSpPr>
        <p:spPr>
          <a:xfrm>
            <a:off x="685800" y="1981200"/>
            <a:ext cx="7772400" cy="4114800"/>
          </a:xfrm>
          <a:prstGeom prst="rect">
            <a:avLst/>
          </a:prstGeom>
          <a:noFill/>
          <a:ln w="9525">
            <a:noFill/>
          </a:ln>
        </p:spPr>
        <p:txBody>
          <a:bodyPr anchor="t" anchorCtr="0"/>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kumimoji="1" sz="14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kumimoji="1" sz="1400"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4" name="Rectangle 9"/>
          <p:cNvSpPr>
            <a:spLocks noChangeArrowheads="1"/>
          </p:cNvSpPr>
          <p:nvPr/>
        </p:nvSpPr>
        <p:spPr bwMode="auto">
          <a:xfrm>
            <a:off x="0" y="6248400"/>
            <a:ext cx="9144000" cy="609600"/>
          </a:xfrm>
          <a:prstGeom prst="rect">
            <a:avLst/>
          </a:prstGeom>
          <a:gradFill rotWithShape="0">
            <a:gsLst>
              <a:gs pos="0">
                <a:schemeClr val="bg1"/>
              </a:gs>
              <a:gs pos="100000">
                <a:srgbClr val="9966FF"/>
              </a:gs>
            </a:gsLst>
            <a:lin ang="5400000" scaled="1"/>
          </a:gradFill>
          <a:ln w="9525">
            <a:no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Text Box 11"/>
          <p:cNvSpPr txBox="1">
            <a:spLocks noChangeArrowheads="1"/>
          </p:cNvSpPr>
          <p:nvPr/>
        </p:nvSpPr>
        <p:spPr bwMode="auto">
          <a:xfrm>
            <a:off x="323850" y="0"/>
            <a:ext cx="5213350" cy="457200"/>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chemeClr val="tx1"/>
                </a:solidFill>
                <a:effectLst/>
                <a:uLnTx/>
                <a:uFillTx/>
                <a:latin typeface="华文行楷" panose="02010800040101010101" pitchFamily="2" charset="-122"/>
                <a:ea typeface="华文行楷" panose="02010800040101010101" pitchFamily="2" charset="-122"/>
                <a:cs typeface="+mn-cs"/>
              </a:rPr>
              <a:t>第 </a:t>
            </a:r>
            <a:r>
              <a:rPr kumimoji="0" lang="en-US" altLang="zh-CN" sz="2400" b="1" i="0" u="none" strike="noStrike" kern="1200" cap="none" spc="0" normalizeH="0" baseline="0" noProof="0" smtClean="0">
                <a:ln>
                  <a:noFill/>
                </a:ln>
                <a:solidFill>
                  <a:schemeClr val="tx1"/>
                </a:solidFill>
                <a:effectLst/>
                <a:uLnTx/>
                <a:uFillTx/>
                <a:latin typeface="华文行楷" panose="02010800040101010101" pitchFamily="2" charset="-122"/>
                <a:ea typeface="华文行楷" panose="02010800040101010101" pitchFamily="2" charset="-122"/>
                <a:cs typeface="+mn-cs"/>
              </a:rPr>
              <a:t>5 </a:t>
            </a:r>
            <a:r>
              <a:rPr kumimoji="0" lang="zh-CN" altLang="en-US" sz="2400" b="1" i="0" u="none" strike="noStrike" kern="1200" cap="none" spc="0" normalizeH="0" baseline="0" noProof="0" smtClean="0">
                <a:ln>
                  <a:noFill/>
                </a:ln>
                <a:solidFill>
                  <a:schemeClr val="tx1"/>
                </a:solidFill>
                <a:effectLst/>
                <a:uLnTx/>
                <a:uFillTx/>
                <a:latin typeface="华文行楷" panose="02010800040101010101" pitchFamily="2" charset="-122"/>
                <a:ea typeface="华文行楷" panose="02010800040101010101" pitchFamily="2" charset="-122"/>
                <a:cs typeface="+mn-cs"/>
              </a:rPr>
              <a:t>章 </a:t>
            </a:r>
            <a:r>
              <a:rPr kumimoji="0" lang="en-US" altLang="zh-CN" sz="2400" b="1" i="0" u="none" strike="noStrike" kern="1200" cap="none" spc="0" normalizeH="0" baseline="0" noProof="0" smtClean="0">
                <a:ln>
                  <a:noFill/>
                </a:ln>
                <a:solidFill>
                  <a:schemeClr val="tx1"/>
                </a:solidFill>
                <a:effectLst/>
                <a:uLnTx/>
                <a:uFillTx/>
                <a:latin typeface="华文行楷" panose="02010800040101010101" pitchFamily="2" charset="-122"/>
                <a:ea typeface="华文行楷" panose="02010800040101010101" pitchFamily="2" charset="-122"/>
                <a:cs typeface="+mn-cs"/>
              </a:rPr>
              <a:t>MCS-51</a:t>
            </a:r>
            <a:r>
              <a:rPr kumimoji="0" lang="zh-CN" altLang="en-US" sz="2400" b="1" i="0" u="none" strike="noStrike" kern="1200" cap="none" spc="0" normalizeH="0" baseline="0" noProof="0" smtClean="0">
                <a:ln>
                  <a:noFill/>
                </a:ln>
                <a:solidFill>
                  <a:schemeClr val="tx1"/>
                </a:solidFill>
                <a:effectLst/>
                <a:uLnTx/>
                <a:uFillTx/>
                <a:latin typeface="华文行楷" panose="02010800040101010101" pitchFamily="2" charset="-122"/>
                <a:ea typeface="华文行楷" panose="02010800040101010101" pitchFamily="2" charset="-122"/>
                <a:cs typeface="+mn-cs"/>
              </a:rPr>
              <a:t>的汇编语言程序设计 </a:t>
            </a:r>
          </a:p>
        </p:txBody>
      </p:sp>
      <p:sp>
        <p:nvSpPr>
          <p:cNvPr id="2" name="Rectangle 6"/>
          <p:cNvSpPr>
            <a:spLocks noGrp="1" noChangeArrowheads="1"/>
          </p:cNvSpPr>
          <p:nvPr>
            <p:ph type="sldNum" sz="quarter" idx="4"/>
          </p:nvPr>
        </p:nvSpPr>
        <p:spPr bwMode="auto">
          <a:xfrm>
            <a:off x="0" y="6629400"/>
            <a:ext cx="1905000"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lvl="0" eaLnBrk="1" fontAlgn="base" hangingPunct="1"/>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
        <p:nvSpPr>
          <p:cNvPr id="3" name="Text Box 19"/>
          <p:cNvSpPr txBox="1">
            <a:spLocks noChangeArrowheads="1"/>
          </p:cNvSpPr>
          <p:nvPr/>
        </p:nvSpPr>
        <p:spPr bwMode="auto">
          <a:xfrm>
            <a:off x="5724525" y="6521450"/>
            <a:ext cx="3419475" cy="336550"/>
          </a:xfrm>
          <a:prstGeom prst="rect">
            <a:avLst/>
          </a:prstGeom>
          <a:noFill/>
          <a:ln>
            <a:noFill/>
          </a:ln>
          <a:effectLst/>
        </p:spPr>
        <p:txBody>
          <a:bodyP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1600" b="1"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t>MCS-51</a:t>
            </a:r>
            <a:r>
              <a:rPr kumimoji="1" lang="zh-CN" altLang="en-US" sz="1600" b="1"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rPr>
              <a:t>单片机原理、接口及应用</a:t>
            </a:r>
          </a:p>
        </p:txBody>
      </p:sp>
      <p:sp>
        <p:nvSpPr>
          <p:cNvPr id="2058" name="Line 13"/>
          <p:cNvSpPr>
            <a:spLocks noChangeShapeType="1"/>
          </p:cNvSpPr>
          <p:nvPr/>
        </p:nvSpPr>
        <p:spPr bwMode="auto">
          <a:xfrm>
            <a:off x="0" y="476250"/>
            <a:ext cx="6156325" cy="0"/>
          </a:xfrm>
          <a:prstGeom prst="line">
            <a:avLst/>
          </a:prstGeom>
          <a:noFill/>
          <a:ln w="28575">
            <a:solidFill>
              <a:schemeClr val="hlink"/>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blinds dir="vert"/>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pPr lvl="0" eaLnBrk="1" fontAlgn="base" hangingPunct="1"/>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t>‹#›</a:t>
            </a:fld>
            <a:endParaRPr lang="en-US" altLang="zh-CN" strike="noStrike" noProof="1">
              <a:latin typeface="Times New Roman" panose="02020603050405020304" pitchFamily="18" charset="0"/>
            </a:endParaRPr>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blinds dir="vert"/>
  </p:transition>
  <p:timing>
    <p:tnLst>
      <p:par>
        <p:cTn id="1" dur="indefinite" restart="never" nodeType="tmRoot"/>
      </p:par>
    </p:tnLst>
  </p:timing>
  <p:hf sldNum="0" hdr="0" ft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8.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8.xml"/><Relationship Id="rId1" Type="http://schemas.openxmlformats.org/officeDocument/2006/relationships/vmlDrawing" Target="../drawings/vmlDrawing2.vml"/><Relationship Id="rId4" Type="http://schemas.openxmlformats.org/officeDocument/2006/relationships/oleObject" Target="../embeddings/oleObject4.bin"/></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8.xml"/><Relationship Id="rId1" Type="http://schemas.openxmlformats.org/officeDocument/2006/relationships/vmlDrawing" Target="../drawings/vmlDrawing3.v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1</a:t>
            </a:fld>
            <a:endParaRPr lang="en-US" altLang="zh-CN" sz="1400" b="0" dirty="0"/>
          </a:p>
        </p:txBody>
      </p:sp>
      <p:sp>
        <p:nvSpPr>
          <p:cNvPr id="4098" name="Text Box 4"/>
          <p:cNvSpPr txBox="1"/>
          <p:nvPr/>
        </p:nvSpPr>
        <p:spPr>
          <a:xfrm>
            <a:off x="1547813" y="2276475"/>
            <a:ext cx="6696075" cy="583565"/>
          </a:xfrm>
          <a:prstGeom prst="rect">
            <a:avLst/>
          </a:prstGeom>
          <a:noFill/>
          <a:ln w="9525">
            <a:noFill/>
          </a:ln>
        </p:spPr>
        <p:txBody>
          <a:bodyPr anchor="t" anchorCtr="0">
            <a:spAutoFit/>
          </a:bodyPr>
          <a:lstStyle/>
          <a:p>
            <a:r>
              <a:rPr lang="zh-CN" altLang="en-US" sz="3200" dirty="0">
                <a:solidFill>
                  <a:srgbClr val="0000CC"/>
                </a:solidFill>
                <a:latin typeface="Times New Roman" panose="02020603050405020304" pitchFamily="18" charset="0"/>
                <a:ea typeface="宋体" panose="02010600030101010101" pitchFamily="2" charset="-122"/>
              </a:rPr>
              <a:t>第</a:t>
            </a:r>
            <a:r>
              <a:rPr lang="en-US" altLang="zh-CN" sz="3200" dirty="0">
                <a:solidFill>
                  <a:srgbClr val="0000CC"/>
                </a:solidFill>
                <a:latin typeface="Times New Roman" panose="02020603050405020304" pitchFamily="18" charset="0"/>
                <a:ea typeface="宋体" panose="02010600030101010101" pitchFamily="2" charset="-122"/>
              </a:rPr>
              <a:t>4</a:t>
            </a:r>
            <a:r>
              <a:rPr lang="zh-CN" altLang="en-US" sz="3200" dirty="0">
                <a:solidFill>
                  <a:srgbClr val="0000CC"/>
                </a:solidFill>
                <a:latin typeface="Times New Roman" panose="02020603050405020304" pitchFamily="18" charset="0"/>
                <a:ea typeface="宋体" panose="02010600030101010101" pitchFamily="2" charset="-122"/>
              </a:rPr>
              <a:t>章   </a:t>
            </a:r>
            <a:r>
              <a:rPr lang="en-US" altLang="zh-CN" sz="3200" dirty="0">
                <a:solidFill>
                  <a:srgbClr val="0000CC"/>
                </a:solidFill>
                <a:latin typeface="Times New Roman" panose="02020603050405020304" pitchFamily="18" charset="0"/>
                <a:ea typeface="宋体" panose="02010600030101010101" pitchFamily="2" charset="-122"/>
              </a:rPr>
              <a:t>MCS-51</a:t>
            </a:r>
            <a:r>
              <a:rPr lang="zh-CN" altLang="en-US" sz="3200" dirty="0">
                <a:solidFill>
                  <a:srgbClr val="0000CC"/>
                </a:solidFill>
                <a:latin typeface="Times New Roman" panose="02020603050405020304" pitchFamily="18" charset="0"/>
                <a:ea typeface="宋体" panose="02010600030101010101" pitchFamily="2" charset="-122"/>
              </a:rPr>
              <a:t>的汇编语言程序设计 </a:t>
            </a:r>
          </a:p>
        </p:txBody>
      </p:sp>
    </p:spTree>
  </p:cSld>
  <p:clrMapOvr>
    <a:masterClrMapping/>
  </p:clrMapOvr>
  <p:transition>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2</a:t>
            </a:fld>
            <a:endParaRPr lang="en-US" altLang="zh-CN" sz="1400" b="0" dirty="0"/>
          </a:p>
        </p:txBody>
      </p:sp>
      <p:sp>
        <p:nvSpPr>
          <p:cNvPr id="5122" name="Rectangle 2"/>
          <p:cNvSpPr/>
          <p:nvPr/>
        </p:nvSpPr>
        <p:spPr>
          <a:xfrm>
            <a:off x="395288" y="1268413"/>
            <a:ext cx="8305800" cy="3670300"/>
          </a:xfrm>
          <a:prstGeom prst="rect">
            <a:avLst/>
          </a:prstGeom>
          <a:noFill/>
          <a:ln w="9525">
            <a:noFill/>
          </a:ln>
        </p:spPr>
        <p:txBody>
          <a:bodyPr anchor="t" anchorCtr="0">
            <a:spAutoFit/>
          </a:bodyPr>
          <a:lstStyle/>
          <a:p>
            <a:pPr>
              <a:lnSpc>
                <a:spcPct val="140000"/>
              </a:lnSpc>
            </a:pPr>
            <a:r>
              <a:rPr lang="zh-CN" altLang="en-US" dirty="0">
                <a:latin typeface="Times New Roman" panose="02020603050405020304" pitchFamily="18" charset="0"/>
                <a:ea typeface="宋体" panose="02010600030101010101" pitchFamily="2" charset="-122"/>
              </a:rPr>
              <a:t>汇编和高级语言程序设计的过程：</a:t>
            </a:r>
          </a:p>
          <a:p>
            <a:pPr algn="just" eaLnBrk="0" hangingPunct="0">
              <a:lnSpc>
                <a:spcPct val="140000"/>
              </a:lnSpc>
            </a:pPr>
            <a:r>
              <a:rPr lang="zh-CN" altLang="en-US" dirty="0">
                <a:latin typeface="Times New Roman" panose="02020603050405020304" pitchFamily="18" charset="0"/>
                <a:ea typeface="宋体" panose="02010600030101010101" pitchFamily="2" charset="-122"/>
              </a:rPr>
              <a:t>        首先对问题进行分析，然后确定算法，再根据算法流程编写程序，最后是调试程序。</a:t>
            </a:r>
          </a:p>
          <a:p>
            <a:pPr algn="just" eaLnBrk="0" hangingPunct="0">
              <a:lnSpc>
                <a:spcPct val="140000"/>
              </a:lnSpc>
            </a:pPr>
            <a:r>
              <a:rPr lang="zh-CN" altLang="en-US" dirty="0">
                <a:latin typeface="Times New Roman" panose="02020603050405020304" pitchFamily="18" charset="0"/>
                <a:ea typeface="宋体" panose="02010600030101010101" pitchFamily="2" charset="-122"/>
              </a:rPr>
              <a:t>        汇编语言程序设计的</a:t>
            </a:r>
            <a:r>
              <a:rPr lang="zh-CN" altLang="en-US" dirty="0">
                <a:solidFill>
                  <a:srgbClr val="FF3300"/>
                </a:solidFill>
                <a:latin typeface="Times New Roman" panose="02020603050405020304" pitchFamily="18" charset="0"/>
                <a:ea typeface="宋体" panose="02010600030101010101" pitchFamily="2" charset="-122"/>
              </a:rPr>
              <a:t>独特点</a:t>
            </a:r>
            <a:r>
              <a:rPr lang="zh-CN" altLang="en-US" dirty="0">
                <a:latin typeface="Times New Roman" panose="02020603050405020304" pitchFamily="18" charset="0"/>
                <a:ea typeface="宋体" panose="02010600030101010101" pitchFamily="2" charset="-122"/>
              </a:rPr>
              <a:t>在于：</a:t>
            </a:r>
          </a:p>
          <a:p>
            <a:pPr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用汇编语言进行程序设计时，对</a:t>
            </a:r>
            <a:r>
              <a:rPr lang="zh-CN" altLang="en-US" dirty="0">
                <a:solidFill>
                  <a:srgbClr val="0000CC"/>
                </a:solidFill>
                <a:latin typeface="Times New Roman" panose="02020603050405020304" pitchFamily="18" charset="0"/>
                <a:ea typeface="宋体" panose="02010600030101010101" pitchFamily="2" charset="-122"/>
              </a:rPr>
              <a:t>数据的存放、寄存器和工作单元的使用等要由设计者安排</a:t>
            </a:r>
            <a:r>
              <a:rPr lang="zh-CN" altLang="en-US" dirty="0">
                <a:latin typeface="Times New Roman" panose="02020603050405020304" pitchFamily="18" charset="0"/>
                <a:ea typeface="宋体" panose="02010600030101010101" pitchFamily="2" charset="-122"/>
              </a:rPr>
              <a:t>。而高级语言程序设计时，这些工作都由计算机软件安排，程序设计者不必考虑。</a:t>
            </a:r>
          </a:p>
        </p:txBody>
      </p:sp>
    </p:spTree>
  </p:cSld>
  <p:clrMapOvr>
    <a:masterClrMapping/>
  </p:clrMapOvr>
  <p:transition>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3</a:t>
            </a:fld>
            <a:endParaRPr lang="en-US" altLang="zh-CN" sz="1400" b="0" dirty="0"/>
          </a:p>
        </p:txBody>
      </p:sp>
      <p:sp>
        <p:nvSpPr>
          <p:cNvPr id="6146" name="AutoShape 2">
            <a:hlinkClick r:id="" action="ppaction://hlinkshowjump?jump=firstslide"/>
          </p:cNvPr>
          <p:cNvSpPr/>
          <p:nvPr/>
        </p:nvSpPr>
        <p:spPr>
          <a:xfrm>
            <a:off x="8458200" y="6400800"/>
            <a:ext cx="685800" cy="4572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6147" name="Rectangle 3"/>
          <p:cNvSpPr/>
          <p:nvPr/>
        </p:nvSpPr>
        <p:spPr>
          <a:xfrm>
            <a:off x="685800" y="1143000"/>
            <a:ext cx="7696200" cy="3524250"/>
          </a:xfrm>
          <a:prstGeom prst="rect">
            <a:avLst/>
          </a:prstGeom>
          <a:noFill/>
          <a:ln w="9525">
            <a:noFill/>
          </a:ln>
        </p:spPr>
        <p:txBody>
          <a:bodyPr anchor="t" anchorCtr="0">
            <a:spAutoFit/>
          </a:bodyPr>
          <a:lstStyle/>
          <a:p>
            <a:pPr eaLnBrk="0" hangingPunct="0">
              <a:lnSpc>
                <a:spcPct val="140000"/>
              </a:lnSpc>
              <a:spcBef>
                <a:spcPct val="50000"/>
              </a:spcBef>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汇编语言程序设计要求设计人员必须对所使用的</a:t>
            </a:r>
            <a:r>
              <a:rPr lang="zh-CN" altLang="en-US" dirty="0">
                <a:solidFill>
                  <a:srgbClr val="0000CC"/>
                </a:solidFill>
                <a:latin typeface="Times New Roman" panose="02020603050405020304" pitchFamily="18" charset="0"/>
                <a:ea typeface="宋体" panose="02010600030101010101" pitchFamily="2" charset="-122"/>
              </a:rPr>
              <a:t>计算机的硬件结构有较为详细的了解</a:t>
            </a:r>
            <a:r>
              <a:rPr lang="zh-CN" altLang="en-US" dirty="0">
                <a:latin typeface="Times New Roman" panose="02020603050405020304" pitchFamily="18" charset="0"/>
                <a:ea typeface="宋体" panose="02010600030101010101" pitchFamily="2" charset="-122"/>
              </a:rPr>
              <a:t>。特别是对</a:t>
            </a:r>
            <a:r>
              <a:rPr lang="zh-CN" altLang="en-US" dirty="0">
                <a:solidFill>
                  <a:srgbClr val="0000CC"/>
                </a:solidFill>
                <a:latin typeface="Times New Roman" panose="02020603050405020304" pitchFamily="18" charset="0"/>
                <a:ea typeface="宋体" panose="02010600030101010101" pitchFamily="2" charset="-122"/>
              </a:rPr>
              <a:t>各类寄存器、端口、定时器</a:t>
            </a:r>
            <a:r>
              <a:rPr lang="en-US" altLang="zh-CN" dirty="0">
                <a:solidFill>
                  <a:srgbClr val="0000CC"/>
                </a:solidFill>
                <a:latin typeface="Times New Roman" panose="02020603050405020304" pitchFamily="18" charset="0"/>
                <a:ea typeface="宋体" panose="02010600030101010101" pitchFamily="2" charset="-122"/>
              </a:rPr>
              <a:t>/</a:t>
            </a:r>
            <a:r>
              <a:rPr lang="zh-CN" altLang="en-US" dirty="0">
                <a:solidFill>
                  <a:srgbClr val="0000CC"/>
                </a:solidFill>
                <a:latin typeface="Times New Roman" panose="02020603050405020304" pitchFamily="18" charset="0"/>
                <a:ea typeface="宋体" panose="02010600030101010101" pitchFamily="2" charset="-122"/>
              </a:rPr>
              <a:t>计数器、中断等</a:t>
            </a:r>
            <a:r>
              <a:rPr lang="zh-CN" altLang="en-US" dirty="0">
                <a:latin typeface="Times New Roman" panose="02020603050405020304" pitchFamily="18" charset="0"/>
                <a:ea typeface="宋体" panose="02010600030101010101" pitchFamily="2" charset="-122"/>
              </a:rPr>
              <a:t>内容要熟悉，以便在程序设计时能熟练使用。</a:t>
            </a:r>
          </a:p>
          <a:p>
            <a:pPr eaLnBrk="0" hangingPunct="0">
              <a:lnSpc>
                <a:spcPct val="140000"/>
              </a:lnSpc>
              <a:spcBef>
                <a:spcPct val="50000"/>
              </a:spcBef>
            </a:pPr>
            <a:r>
              <a:rPr lang="zh-CN" altLang="en-US" dirty="0">
                <a:latin typeface="Times New Roman" panose="02020603050405020304" pitchFamily="18" charset="0"/>
                <a:ea typeface="宋体" panose="02010600030101010101" pitchFamily="2" charset="-122"/>
              </a:rPr>
              <a:t>	汇编语言程序共有四种结构形式：</a:t>
            </a:r>
          </a:p>
          <a:p>
            <a:pPr eaLnBrk="0" hangingPunct="0">
              <a:lnSpc>
                <a:spcPct val="140000"/>
              </a:lnSpc>
              <a:spcBef>
                <a:spcPct val="50000"/>
              </a:spcBef>
            </a:pPr>
            <a:r>
              <a:rPr lang="zh-CN" altLang="en-US" dirty="0">
                <a:latin typeface="Times New Roman" panose="02020603050405020304" pitchFamily="18" charset="0"/>
                <a:ea typeface="宋体" panose="02010600030101010101" pitchFamily="2" charset="-122"/>
              </a:rPr>
              <a:t>            顺序结构、循环结构、分支结构和子程序结构。</a:t>
            </a:r>
          </a:p>
        </p:txBody>
      </p:sp>
    </p:spTree>
  </p:cSld>
  <p:clrMapOvr>
    <a:masterClrMapping/>
  </p:clrMapOvr>
  <p:transition>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4</a:t>
            </a:fld>
            <a:endParaRPr lang="en-US" altLang="zh-CN" sz="1400" b="0" dirty="0"/>
          </a:p>
        </p:txBody>
      </p:sp>
      <p:sp>
        <p:nvSpPr>
          <p:cNvPr id="7170" name="Text Box 4"/>
          <p:cNvSpPr txBox="1"/>
          <p:nvPr/>
        </p:nvSpPr>
        <p:spPr>
          <a:xfrm>
            <a:off x="2411413" y="1628775"/>
            <a:ext cx="4032250" cy="2676525"/>
          </a:xfrm>
          <a:prstGeom prst="rect">
            <a:avLst/>
          </a:prstGeom>
          <a:solidFill>
            <a:srgbClr val="CCFFFF"/>
          </a:solidFill>
          <a:ln w="9525">
            <a:noFill/>
          </a:ln>
        </p:spPr>
        <p:txBody>
          <a:bodyPr anchor="t" anchorCtr="0">
            <a:spAutoFit/>
          </a:bodyPr>
          <a:lstStyle/>
          <a:p>
            <a:pPr>
              <a:lnSpc>
                <a:spcPct val="150000"/>
              </a:lnSpc>
            </a:pPr>
            <a:r>
              <a:rPr lang="en-US" altLang="zh-CN" sz="2800" dirty="0">
                <a:latin typeface="Times New Roman" panose="02020603050405020304" pitchFamily="18" charset="0"/>
                <a:ea typeface="宋体" panose="02010600030101010101" pitchFamily="2" charset="-122"/>
              </a:rPr>
              <a:t>4.1 </a:t>
            </a:r>
            <a:r>
              <a:rPr lang="zh-CN" altLang="en-US" sz="2800" dirty="0">
                <a:latin typeface="Times New Roman" panose="02020603050405020304" pitchFamily="18" charset="0"/>
                <a:ea typeface="宋体" panose="02010600030101010101" pitchFamily="2" charset="-122"/>
              </a:rPr>
              <a:t>顺序程序设计</a:t>
            </a:r>
          </a:p>
          <a:p>
            <a:pPr>
              <a:lnSpc>
                <a:spcPct val="150000"/>
              </a:lnSpc>
            </a:pPr>
            <a:r>
              <a:rPr lang="en-US" altLang="zh-CN" sz="2800" dirty="0">
                <a:latin typeface="Times New Roman" panose="02020603050405020304" pitchFamily="18" charset="0"/>
                <a:ea typeface="宋体" panose="02010600030101010101" pitchFamily="2" charset="-122"/>
              </a:rPr>
              <a:t>4.2 </a:t>
            </a:r>
            <a:r>
              <a:rPr lang="zh-CN" altLang="en-US" sz="2800" dirty="0">
                <a:latin typeface="Times New Roman" panose="02020603050405020304" pitchFamily="18" charset="0"/>
                <a:ea typeface="宋体" panose="02010600030101010101" pitchFamily="2" charset="-122"/>
              </a:rPr>
              <a:t>循环程序设计</a:t>
            </a:r>
          </a:p>
          <a:p>
            <a:pPr>
              <a:lnSpc>
                <a:spcPct val="150000"/>
              </a:lnSpc>
            </a:pPr>
            <a:r>
              <a:rPr lang="en-US" altLang="zh-CN" sz="2800" dirty="0">
                <a:latin typeface="Times New Roman" panose="02020603050405020304" pitchFamily="18" charset="0"/>
                <a:ea typeface="宋体" panose="02010600030101010101" pitchFamily="2" charset="-122"/>
              </a:rPr>
              <a:t>4.3 </a:t>
            </a:r>
            <a:r>
              <a:rPr lang="zh-CN" altLang="en-US" sz="2800" dirty="0">
                <a:latin typeface="Times New Roman" panose="02020603050405020304" pitchFamily="18" charset="0"/>
                <a:ea typeface="宋体" panose="02010600030101010101" pitchFamily="2" charset="-122"/>
              </a:rPr>
              <a:t>分支程序设计</a:t>
            </a:r>
          </a:p>
          <a:p>
            <a:pPr>
              <a:lnSpc>
                <a:spcPct val="150000"/>
              </a:lnSpc>
            </a:pPr>
            <a:r>
              <a:rPr lang="en-US" altLang="zh-CN" sz="2800" dirty="0">
                <a:latin typeface="Times New Roman" panose="02020603050405020304" pitchFamily="18" charset="0"/>
                <a:ea typeface="宋体" panose="02010600030101010101" pitchFamily="2" charset="-122"/>
              </a:rPr>
              <a:t>4.4 </a:t>
            </a:r>
            <a:r>
              <a:rPr lang="zh-CN" altLang="en-US" sz="2800" dirty="0">
                <a:latin typeface="Times New Roman" panose="02020603050405020304" pitchFamily="18" charset="0"/>
                <a:ea typeface="宋体" panose="02010600030101010101" pitchFamily="2" charset="-122"/>
              </a:rPr>
              <a:t>子程序设计</a:t>
            </a:r>
          </a:p>
        </p:txBody>
      </p:sp>
    </p:spTree>
  </p:cSld>
  <p:clrMapOvr>
    <a:masterClrMapping/>
  </p:clrMapOvr>
  <p:transition>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5</a:t>
            </a:fld>
            <a:endParaRPr lang="en-US" altLang="zh-CN" sz="1400" b="0" dirty="0"/>
          </a:p>
        </p:txBody>
      </p:sp>
      <p:pic>
        <p:nvPicPr>
          <p:cNvPr id="3" name="图片 2"/>
          <p:cNvPicPr>
            <a:picLocks noChangeAspect="1"/>
          </p:cNvPicPr>
          <p:nvPr/>
        </p:nvPicPr>
        <p:blipFill>
          <a:blip r:embed="rId2"/>
          <a:stretch>
            <a:fillRect/>
          </a:stretch>
        </p:blipFill>
        <p:spPr>
          <a:xfrm>
            <a:off x="47625" y="838200"/>
            <a:ext cx="9048750" cy="5181600"/>
          </a:xfrm>
          <a:prstGeom prst="rect">
            <a:avLst/>
          </a:prstGeom>
        </p:spPr>
      </p:pic>
    </p:spTree>
  </p:cSld>
  <p:clrMapOvr>
    <a:masterClrMapping/>
  </p:clrMapOvr>
  <p:transition>
    <p:blinds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6</a:t>
            </a:fld>
            <a:endParaRPr lang="en-US" altLang="zh-CN" sz="1400" b="0" dirty="0"/>
          </a:p>
        </p:txBody>
      </p:sp>
      <p:sp>
        <p:nvSpPr>
          <p:cNvPr id="288772" name="Rectangle 4"/>
          <p:cNvSpPr/>
          <p:nvPr/>
        </p:nvSpPr>
        <p:spPr>
          <a:xfrm>
            <a:off x="250825" y="1412875"/>
            <a:ext cx="8305800" cy="1144588"/>
          </a:xfrm>
          <a:prstGeom prst="rect">
            <a:avLst/>
          </a:prstGeom>
          <a:noFill/>
          <a:ln w="9525">
            <a:noFill/>
          </a:ln>
        </p:spPr>
        <p:txBody>
          <a:bodyPr anchor="t" anchorCtr="0">
            <a:spAutoFit/>
          </a:bodyPr>
          <a:lstStyle/>
          <a:p>
            <a:pPr eaLnBrk="0" hangingPunct="0">
              <a:lnSpc>
                <a:spcPct val="140000"/>
              </a:lnSpc>
              <a:spcBef>
                <a:spcPct val="5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压缩的</a:t>
            </a:r>
            <a:r>
              <a:rPr lang="en-US" altLang="zh-CN" dirty="0">
                <a:latin typeface="Times New Roman" panose="02020603050405020304" pitchFamily="18" charset="0"/>
                <a:ea typeface="宋体" panose="02010600030101010101" pitchFamily="2" charset="-122"/>
              </a:rPr>
              <a:t>BCD</a:t>
            </a:r>
            <a:r>
              <a:rPr lang="zh-CN" altLang="en-US" dirty="0">
                <a:latin typeface="Times New Roman" panose="02020603050405020304" pitchFamily="18" charset="0"/>
                <a:ea typeface="宋体" panose="02010600030101010101" pitchFamily="2" charset="-122"/>
              </a:rPr>
              <a:t>码：</a:t>
            </a:r>
          </a:p>
          <a:p>
            <a:pPr eaLnBrk="0" hangingPunct="0">
              <a:lnSpc>
                <a:spcPct val="140000"/>
              </a:lnSpc>
              <a:spcBef>
                <a:spcPct val="5000"/>
              </a:spcBef>
            </a:pPr>
            <a:r>
              <a:rPr lang="zh-CN" altLang="en-US" dirty="0">
                <a:latin typeface="Times New Roman" panose="02020603050405020304" pitchFamily="18" charset="0"/>
                <a:ea typeface="宋体" panose="02010600030101010101" pitchFamily="2" charset="-122"/>
              </a:rPr>
              <a:t>         	非压缩的</a:t>
            </a:r>
            <a:r>
              <a:rPr lang="en-US" altLang="zh-CN" dirty="0">
                <a:latin typeface="Times New Roman" panose="02020603050405020304" pitchFamily="18" charset="0"/>
                <a:ea typeface="宋体" panose="02010600030101010101" pitchFamily="2" charset="-122"/>
              </a:rPr>
              <a:t>BCD</a:t>
            </a:r>
            <a:r>
              <a:rPr lang="zh-CN" altLang="en-US" dirty="0">
                <a:latin typeface="Times New Roman" panose="02020603050405020304" pitchFamily="18" charset="0"/>
                <a:ea typeface="宋体" panose="02010600030101010101" pitchFamily="2" charset="-122"/>
              </a:rPr>
              <a:t>码：</a:t>
            </a:r>
          </a:p>
        </p:txBody>
      </p:sp>
      <p:sp>
        <p:nvSpPr>
          <p:cNvPr id="288773" name="Rectangle 5"/>
          <p:cNvSpPr/>
          <p:nvPr/>
        </p:nvSpPr>
        <p:spPr>
          <a:xfrm>
            <a:off x="3635375" y="1412875"/>
            <a:ext cx="5113338" cy="1114425"/>
          </a:xfrm>
          <a:prstGeom prst="rect">
            <a:avLst/>
          </a:prstGeom>
          <a:noFill/>
          <a:ln w="9525">
            <a:noFill/>
          </a:ln>
        </p:spPr>
        <p:txBody>
          <a:bodyPr anchor="t" anchorCtr="0">
            <a:spAutoFit/>
          </a:bodyPr>
          <a:lstStyle/>
          <a:p>
            <a:pPr eaLnBrk="0" hangingPunct="0">
              <a:lnSpc>
                <a:spcPct val="140000"/>
              </a:lnSpc>
            </a:pPr>
            <a:r>
              <a:rPr lang="en-US" altLang="zh-CN" dirty="0">
                <a:latin typeface="Times New Roman" panose="02020603050405020304" pitchFamily="18" charset="0"/>
                <a:ea typeface="宋体" panose="02010600030101010101" pitchFamily="2" charset="-122"/>
              </a:rPr>
              <a:t>	 45=0100,0101</a:t>
            </a:r>
          </a:p>
          <a:p>
            <a:pPr eaLnBrk="0" hangingPunct="0">
              <a:lnSpc>
                <a:spcPct val="140000"/>
              </a:lnSpc>
            </a:pPr>
            <a:r>
              <a:rPr lang="en-US" altLang="zh-CN" dirty="0">
                <a:latin typeface="Times New Roman" panose="02020603050405020304" pitchFamily="18" charset="0"/>
                <a:ea typeface="宋体" panose="02010600030101010101" pitchFamily="2" charset="-122"/>
              </a:rPr>
              <a:t>             45=0000,0100, 0000,0101</a:t>
            </a:r>
          </a:p>
        </p:txBody>
      </p:sp>
      <p:sp>
        <p:nvSpPr>
          <p:cNvPr id="288774" name="Text Box 6"/>
          <p:cNvSpPr txBox="1"/>
          <p:nvPr/>
        </p:nvSpPr>
        <p:spPr>
          <a:xfrm>
            <a:off x="1116013" y="3716338"/>
            <a:ext cx="4608512" cy="457200"/>
          </a:xfrm>
          <a:prstGeom prst="rect">
            <a:avLst/>
          </a:prstGeom>
          <a:solidFill>
            <a:srgbClr val="FFCC99"/>
          </a:solidFill>
          <a:ln w="9525">
            <a:noFill/>
          </a:ln>
        </p:spPr>
        <p:txBody>
          <a:bodyPr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常用于显示数字的场合。</a:t>
            </a:r>
          </a:p>
        </p:txBody>
      </p:sp>
      <p:sp>
        <p:nvSpPr>
          <p:cNvPr id="288775" name="Text Box 7"/>
          <p:cNvSpPr txBox="1"/>
          <p:nvPr/>
        </p:nvSpPr>
        <p:spPr>
          <a:xfrm>
            <a:off x="1116013" y="4868863"/>
            <a:ext cx="4537075" cy="457200"/>
          </a:xfrm>
          <a:prstGeom prst="rect">
            <a:avLst/>
          </a:prstGeom>
          <a:noFill/>
          <a:ln w="9525">
            <a:noFill/>
          </a:ln>
        </p:spPr>
        <p:txBody>
          <a:bodyPr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方法</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采用与指令</a:t>
            </a:r>
            <a:r>
              <a:rPr lang="en-US" altLang="zh-CN" dirty="0">
                <a:latin typeface="Times New Roman" panose="02020603050405020304" pitchFamily="18" charset="0"/>
                <a:ea typeface="宋体" panose="02010600030101010101" pitchFamily="2" charset="-122"/>
              </a:rPr>
              <a:t>.</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88772"/>
                                        </p:tgtEl>
                                        <p:attrNameLst>
                                          <p:attrName>style.visibility</p:attrName>
                                        </p:attrNameLst>
                                      </p:cBhvr>
                                      <p:to>
                                        <p:strVal val="visible"/>
                                      </p:to>
                                    </p:set>
                                    <p:animEffect transition="in" filter="box(in)">
                                      <p:cBhvr>
                                        <p:cTn id="7" dur="500"/>
                                        <p:tgtEl>
                                          <p:spTgt spid="288772"/>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288773"/>
                                        </p:tgtEl>
                                        <p:attrNameLst>
                                          <p:attrName>style.visibility</p:attrName>
                                        </p:attrNameLst>
                                      </p:cBhvr>
                                      <p:to>
                                        <p:strVal val="visible"/>
                                      </p:to>
                                    </p:set>
                                    <p:animEffect transition="in" filter="box(in)">
                                      <p:cBhvr>
                                        <p:cTn id="10" dur="500"/>
                                        <p:tgtEl>
                                          <p:spTgt spid="288773"/>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88774"/>
                                        </p:tgtEl>
                                        <p:attrNameLst>
                                          <p:attrName>style.visibility</p:attrName>
                                        </p:attrNameLst>
                                      </p:cBhvr>
                                      <p:to>
                                        <p:strVal val="visible"/>
                                      </p:to>
                                    </p:set>
                                    <p:anim calcmode="lin" valueType="num">
                                      <p:cBhvr additive="base">
                                        <p:cTn id="15" dur="500" fill="hold"/>
                                        <p:tgtEl>
                                          <p:spTgt spid="288774"/>
                                        </p:tgtEl>
                                        <p:attrNameLst>
                                          <p:attrName>ppt_x</p:attrName>
                                        </p:attrNameLst>
                                      </p:cBhvr>
                                      <p:tavLst>
                                        <p:tav tm="0">
                                          <p:val>
                                            <p:strVal val="#ppt_x"/>
                                          </p:val>
                                        </p:tav>
                                        <p:tav tm="100000">
                                          <p:val>
                                            <p:strVal val="#ppt_x"/>
                                          </p:val>
                                        </p:tav>
                                      </p:tavLst>
                                    </p:anim>
                                    <p:anim calcmode="lin" valueType="num">
                                      <p:cBhvr additive="base">
                                        <p:cTn id="16" dur="500" fill="hold"/>
                                        <p:tgtEl>
                                          <p:spTgt spid="28877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288775"/>
                                        </p:tgtEl>
                                        <p:attrNameLst>
                                          <p:attrName>style.visibility</p:attrName>
                                        </p:attrNameLst>
                                      </p:cBhvr>
                                      <p:to>
                                        <p:strVal val="visible"/>
                                      </p:to>
                                    </p:set>
                                    <p:animEffect transition="in" filter="box(in)">
                                      <p:cBhvr>
                                        <p:cTn id="21" dur="500"/>
                                        <p:tgtEl>
                                          <p:spTgt spid="288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2" grpId="0"/>
      <p:bldP spid="288773" grpId="0"/>
      <p:bldP spid="288774" grpId="0" animBg="1"/>
      <p:bldP spid="28877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7</a:t>
            </a:fld>
            <a:endParaRPr lang="en-US" altLang="zh-CN" sz="1400" b="0" dirty="0"/>
          </a:p>
        </p:txBody>
      </p:sp>
      <p:sp>
        <p:nvSpPr>
          <p:cNvPr id="10242" name="Text Box 4"/>
          <p:cNvSpPr txBox="1"/>
          <p:nvPr/>
        </p:nvSpPr>
        <p:spPr>
          <a:xfrm>
            <a:off x="1187450" y="1412875"/>
            <a:ext cx="7273925" cy="5203825"/>
          </a:xfrm>
          <a:prstGeom prst="rect">
            <a:avLst/>
          </a:prstGeom>
          <a:noFill/>
          <a:ln w="9525">
            <a:noFill/>
          </a:ln>
        </p:spPr>
        <p:txBody>
          <a:bodyPr anchor="t" anchorCtr="0">
            <a:spAutoFit/>
          </a:bodyPr>
          <a:lstStyle/>
          <a:p>
            <a:pPr>
              <a:lnSpc>
                <a:spcPct val="140000"/>
              </a:lnSpc>
            </a:pPr>
            <a:r>
              <a:rPr lang="en-US" altLang="zh-CN" dirty="0">
                <a:latin typeface="Times New Roman" panose="02020603050405020304" pitchFamily="18" charset="0"/>
                <a:ea typeface="宋体" panose="02010600030101010101" pitchFamily="2" charset="-122"/>
              </a:rPr>
              <a:t>ORG	0</a:t>
            </a:r>
          </a:p>
          <a:p>
            <a:pPr>
              <a:lnSpc>
                <a:spcPct val="140000"/>
              </a:lnSpc>
            </a:pPr>
            <a:r>
              <a:rPr lang="en-US" altLang="zh-CN" dirty="0">
                <a:latin typeface="Times New Roman" panose="02020603050405020304" pitchFamily="18" charset="0"/>
                <a:ea typeface="宋体" panose="02010600030101010101" pitchFamily="2" charset="-122"/>
              </a:rPr>
              <a:t>MOV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40H</a:t>
            </a:r>
          </a:p>
          <a:p>
            <a:pPr>
              <a:lnSpc>
                <a:spcPct val="140000"/>
              </a:lnSpc>
            </a:pPr>
            <a:r>
              <a:rPr lang="en-US" altLang="zh-CN" dirty="0">
                <a:solidFill>
                  <a:srgbClr val="0000CC"/>
                </a:solidFill>
                <a:latin typeface="Times New Roman" panose="02020603050405020304" pitchFamily="18" charset="0"/>
                <a:ea typeface="宋体" panose="02010600030101010101" pitchFamily="2" charset="-122"/>
              </a:rPr>
              <a:t>ANL	A</a:t>
            </a:r>
            <a:r>
              <a:rPr lang="zh-CN" altLang="en-US" dirty="0">
                <a:solidFill>
                  <a:srgbClr val="0000CC"/>
                </a:solidFill>
                <a:latin typeface="Times New Roman" panose="02020603050405020304" pitchFamily="18" charset="0"/>
                <a:ea typeface="宋体" panose="02010600030101010101" pitchFamily="2" charset="-122"/>
              </a:rPr>
              <a:t>，</a:t>
            </a:r>
            <a:r>
              <a:rPr lang="en-US" altLang="zh-CN" dirty="0">
                <a:solidFill>
                  <a:srgbClr val="0000CC"/>
                </a:solidFill>
                <a:latin typeface="Times New Roman" panose="02020603050405020304" pitchFamily="18" charset="0"/>
                <a:ea typeface="宋体" panose="02010600030101010101" pitchFamily="2" charset="-122"/>
              </a:rPr>
              <a:t>#0FH	</a:t>
            </a:r>
            <a:r>
              <a:rPr lang="zh-CN" altLang="en-US" dirty="0">
                <a:solidFill>
                  <a:srgbClr val="0000CC"/>
                </a:solidFill>
                <a:latin typeface="Times New Roman" panose="02020603050405020304" pitchFamily="18" charset="0"/>
                <a:ea typeface="宋体" panose="02010600030101010101" pitchFamily="2" charset="-122"/>
              </a:rPr>
              <a:t>；屏蔽高</a:t>
            </a:r>
            <a:r>
              <a:rPr lang="en-US" altLang="zh-CN" dirty="0">
                <a:solidFill>
                  <a:srgbClr val="0000CC"/>
                </a:solidFill>
                <a:latin typeface="Times New Roman" panose="02020603050405020304" pitchFamily="18" charset="0"/>
                <a:ea typeface="宋体" panose="02010600030101010101" pitchFamily="2" charset="-122"/>
              </a:rPr>
              <a:t>4</a:t>
            </a:r>
            <a:r>
              <a:rPr lang="zh-CN" altLang="en-US" dirty="0">
                <a:solidFill>
                  <a:srgbClr val="0000CC"/>
                </a:solidFill>
                <a:latin typeface="Times New Roman" panose="02020603050405020304" pitchFamily="18" charset="0"/>
                <a:ea typeface="宋体" panose="02010600030101010101" pitchFamily="2" charset="-122"/>
              </a:rPr>
              <a:t>位，保留低</a:t>
            </a:r>
            <a:r>
              <a:rPr lang="en-US" altLang="zh-CN" dirty="0">
                <a:solidFill>
                  <a:srgbClr val="0000CC"/>
                </a:solidFill>
                <a:latin typeface="Times New Roman" panose="02020603050405020304" pitchFamily="18" charset="0"/>
                <a:ea typeface="宋体" panose="02010600030101010101" pitchFamily="2" charset="-122"/>
              </a:rPr>
              <a:t>4</a:t>
            </a:r>
            <a:r>
              <a:rPr lang="zh-CN" altLang="en-US" dirty="0">
                <a:solidFill>
                  <a:srgbClr val="0000CC"/>
                </a:solidFill>
                <a:latin typeface="Times New Roman" panose="02020603050405020304" pitchFamily="18" charset="0"/>
                <a:ea typeface="宋体" panose="02010600030101010101" pitchFamily="2" charset="-122"/>
              </a:rPr>
              <a:t>位</a:t>
            </a:r>
          </a:p>
          <a:p>
            <a:pPr>
              <a:lnSpc>
                <a:spcPct val="140000"/>
              </a:lnSpc>
            </a:pPr>
            <a:r>
              <a:rPr lang="en-US" altLang="zh-CN" dirty="0">
                <a:latin typeface="Times New Roman" panose="02020603050405020304" pitchFamily="18" charset="0"/>
                <a:ea typeface="宋体" panose="02010600030101010101" pitchFamily="2" charset="-122"/>
              </a:rPr>
              <a:t>MOV	41H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；保存</a:t>
            </a:r>
            <a:r>
              <a:rPr lang="en-US" altLang="zh-CN" dirty="0">
                <a:latin typeface="Times New Roman" panose="02020603050405020304" pitchFamily="18" charset="0"/>
                <a:ea typeface="宋体" panose="02010600030101010101" pitchFamily="2" charset="-122"/>
              </a:rPr>
              <a:t>40H</a:t>
            </a:r>
            <a:r>
              <a:rPr lang="zh-CN" altLang="en-US" dirty="0">
                <a:latin typeface="Times New Roman" panose="02020603050405020304" pitchFamily="18" charset="0"/>
                <a:ea typeface="宋体" panose="02010600030101010101" pitchFamily="2" charset="-122"/>
              </a:rPr>
              <a:t>中的低半字节</a:t>
            </a:r>
          </a:p>
          <a:p>
            <a:pPr>
              <a:lnSpc>
                <a:spcPct val="140000"/>
              </a:lnSpc>
            </a:pPr>
            <a:r>
              <a:rPr lang="en-US" altLang="zh-CN" dirty="0">
                <a:latin typeface="Times New Roman" panose="02020603050405020304" pitchFamily="18" charset="0"/>
                <a:ea typeface="宋体" panose="02010600030101010101" pitchFamily="2" charset="-122"/>
              </a:rPr>
              <a:t>MOV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40H	</a:t>
            </a:r>
            <a:r>
              <a:rPr lang="zh-CN" altLang="en-US" dirty="0">
                <a:latin typeface="Times New Roman" panose="02020603050405020304" pitchFamily="18" charset="0"/>
                <a:ea typeface="宋体" panose="02010600030101010101" pitchFamily="2" charset="-122"/>
              </a:rPr>
              <a:t>；重新取数</a:t>
            </a:r>
          </a:p>
          <a:p>
            <a:pPr>
              <a:lnSpc>
                <a:spcPct val="140000"/>
              </a:lnSpc>
            </a:pPr>
            <a:r>
              <a:rPr lang="en-US" altLang="zh-CN" dirty="0">
                <a:solidFill>
                  <a:srgbClr val="FF3300"/>
                </a:solidFill>
                <a:latin typeface="Times New Roman" panose="02020603050405020304" pitchFamily="18" charset="0"/>
                <a:ea typeface="宋体" panose="02010600030101010101" pitchFamily="2" charset="-122"/>
              </a:rPr>
              <a:t>SWAP	  A		</a:t>
            </a:r>
            <a:r>
              <a:rPr lang="zh-CN" altLang="en-US" dirty="0">
                <a:solidFill>
                  <a:srgbClr val="FF3300"/>
                </a:solidFill>
                <a:latin typeface="Times New Roman" panose="02020603050405020304" pitchFamily="18" charset="0"/>
                <a:ea typeface="宋体" panose="02010600030101010101" pitchFamily="2" charset="-122"/>
              </a:rPr>
              <a:t>；高低半字节交换</a:t>
            </a:r>
          </a:p>
          <a:p>
            <a:pPr>
              <a:lnSpc>
                <a:spcPct val="140000"/>
              </a:lnSpc>
            </a:pPr>
            <a:r>
              <a:rPr lang="en-US" altLang="zh-CN" dirty="0">
                <a:solidFill>
                  <a:srgbClr val="0000CC"/>
                </a:solidFill>
                <a:latin typeface="Times New Roman" panose="02020603050405020304" pitchFamily="18" charset="0"/>
                <a:ea typeface="宋体" panose="02010600030101010101" pitchFamily="2" charset="-122"/>
              </a:rPr>
              <a:t>ANL	A</a:t>
            </a:r>
            <a:r>
              <a:rPr lang="zh-CN" altLang="en-US" dirty="0">
                <a:solidFill>
                  <a:srgbClr val="0000CC"/>
                </a:solidFill>
                <a:latin typeface="Times New Roman" panose="02020603050405020304" pitchFamily="18" charset="0"/>
                <a:ea typeface="宋体" panose="02010600030101010101" pitchFamily="2" charset="-122"/>
              </a:rPr>
              <a:t>，</a:t>
            </a:r>
            <a:r>
              <a:rPr lang="en-US" altLang="zh-CN" dirty="0">
                <a:solidFill>
                  <a:srgbClr val="0000CC"/>
                </a:solidFill>
                <a:latin typeface="Times New Roman" panose="02020603050405020304" pitchFamily="18" charset="0"/>
                <a:ea typeface="宋体" panose="02010600030101010101" pitchFamily="2" charset="-122"/>
              </a:rPr>
              <a:t>#0FH</a:t>
            </a:r>
          </a:p>
          <a:p>
            <a:pPr>
              <a:lnSpc>
                <a:spcPct val="140000"/>
              </a:lnSpc>
            </a:pPr>
            <a:r>
              <a:rPr lang="en-US" altLang="zh-CN" dirty="0">
                <a:latin typeface="Times New Roman" panose="02020603050405020304" pitchFamily="18" charset="0"/>
                <a:ea typeface="宋体" panose="02010600030101010101" pitchFamily="2" charset="-122"/>
              </a:rPr>
              <a:t>MOV	42H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	</a:t>
            </a:r>
            <a:r>
              <a:rPr lang="zh-CN" altLang="en-US" dirty="0">
                <a:latin typeface="Times New Roman" panose="02020603050405020304" pitchFamily="18" charset="0"/>
                <a:ea typeface="宋体" panose="02010600030101010101" pitchFamily="2" charset="-122"/>
              </a:rPr>
              <a:t>；保存</a:t>
            </a:r>
            <a:r>
              <a:rPr lang="en-US" altLang="zh-CN" dirty="0">
                <a:latin typeface="Times New Roman" panose="02020603050405020304" pitchFamily="18" charset="0"/>
                <a:ea typeface="宋体" panose="02010600030101010101" pitchFamily="2" charset="-122"/>
              </a:rPr>
              <a:t>40H</a:t>
            </a:r>
            <a:r>
              <a:rPr lang="zh-CN" altLang="en-US" dirty="0">
                <a:latin typeface="Times New Roman" panose="02020603050405020304" pitchFamily="18" charset="0"/>
                <a:ea typeface="宋体" panose="02010600030101010101" pitchFamily="2" charset="-122"/>
              </a:rPr>
              <a:t>中的高半字节</a:t>
            </a:r>
          </a:p>
          <a:p>
            <a:pPr>
              <a:lnSpc>
                <a:spcPct val="140000"/>
              </a:lnSpc>
            </a:pPr>
            <a:r>
              <a:rPr lang="en-US" altLang="zh-CN" dirty="0">
                <a:latin typeface="Times New Roman" panose="02020603050405020304" pitchFamily="18" charset="0"/>
                <a:ea typeface="宋体" panose="02010600030101010101" pitchFamily="2" charset="-122"/>
              </a:rPr>
              <a:t>NOP</a:t>
            </a:r>
          </a:p>
          <a:p>
            <a:pPr>
              <a:lnSpc>
                <a:spcPct val="140000"/>
              </a:lnSpc>
            </a:pPr>
            <a:r>
              <a:rPr lang="en-US" altLang="zh-CN" dirty="0">
                <a:latin typeface="Times New Roman" panose="02020603050405020304" pitchFamily="18" charset="0"/>
                <a:ea typeface="宋体" panose="02010600030101010101" pitchFamily="2" charset="-122"/>
              </a:rPr>
              <a:t>END</a:t>
            </a:r>
          </a:p>
        </p:txBody>
      </p:sp>
    </p:spTree>
  </p:cSld>
  <p:clrMapOvr>
    <a:masterClrMapping/>
  </p:clrMapOvr>
  <p:transition>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8</a:t>
            </a:fld>
            <a:endParaRPr lang="en-US" altLang="zh-CN" sz="1400" b="0" dirty="0"/>
          </a:p>
        </p:txBody>
      </p:sp>
      <p:sp>
        <p:nvSpPr>
          <p:cNvPr id="251906" name="Text Box 2"/>
          <p:cNvSpPr txBox="1"/>
          <p:nvPr/>
        </p:nvSpPr>
        <p:spPr>
          <a:xfrm>
            <a:off x="250825" y="836613"/>
            <a:ext cx="8353425" cy="1641475"/>
          </a:xfrm>
          <a:prstGeom prst="rect">
            <a:avLst/>
          </a:prstGeom>
          <a:noFill/>
          <a:ln w="9525">
            <a:noFill/>
          </a:ln>
        </p:spPr>
        <p:txBody>
          <a:bodyPr anchor="t" anchorCtr="0">
            <a:spAutoFit/>
          </a:bodyPr>
          <a:lstStyle/>
          <a:p>
            <a:pPr>
              <a:lnSpc>
                <a:spcPct val="140000"/>
              </a:lnSpc>
              <a:spcBef>
                <a:spcPct val="50000"/>
              </a:spcBef>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4-2  </a:t>
            </a:r>
            <a:r>
              <a:rPr lang="zh-CN" altLang="en-US" dirty="0">
                <a:latin typeface="Times New Roman" panose="02020603050405020304" pitchFamily="18" charset="0"/>
                <a:ea typeface="宋体" panose="02010600030101010101" pitchFamily="2" charset="-122"/>
              </a:rPr>
              <a:t>若内部</a:t>
            </a:r>
            <a:r>
              <a:rPr lang="en-US" altLang="zh-CN" dirty="0">
                <a:latin typeface="Times New Roman" panose="02020603050405020304" pitchFamily="18" charset="0"/>
                <a:ea typeface="宋体" panose="02010600030101010101" pitchFamily="2" charset="-122"/>
              </a:rPr>
              <a:t>RAM 30H</a:t>
            </a:r>
            <a:r>
              <a:rPr lang="zh-CN" altLang="en-US" dirty="0">
                <a:latin typeface="Times New Roman" panose="02020603050405020304" pitchFamily="18" charset="0"/>
                <a:ea typeface="宋体" panose="02010600030101010101" pitchFamily="2" charset="-122"/>
              </a:rPr>
              <a:t>中存放的是</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BCD</a:t>
            </a:r>
            <a:r>
              <a:rPr lang="zh-CN" altLang="en-US" dirty="0">
                <a:latin typeface="Times New Roman" panose="02020603050405020304" pitchFamily="18" charset="0"/>
                <a:ea typeface="宋体" panose="02010600030101010101" pitchFamily="2" charset="-122"/>
              </a:rPr>
              <a:t>码，通过查表将其转换成为相应的共阴极七段字形代码，并存入内部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31H</a:t>
            </a:r>
            <a:r>
              <a:rPr lang="zh-CN" altLang="en-US" dirty="0">
                <a:latin typeface="Times New Roman" panose="02020603050405020304" pitchFamily="18" charset="0"/>
                <a:ea typeface="宋体" panose="02010600030101010101" pitchFamily="2" charset="-122"/>
              </a:rPr>
              <a:t>中。</a:t>
            </a:r>
          </a:p>
        </p:txBody>
      </p:sp>
      <p:pic>
        <p:nvPicPr>
          <p:cNvPr id="251908" name="Picture 4"/>
          <p:cNvPicPr>
            <a:picLocks noChangeAspect="1"/>
          </p:cNvPicPr>
          <p:nvPr/>
        </p:nvPicPr>
        <p:blipFill>
          <a:blip r:embed="rId2"/>
          <a:srcRect l="32433"/>
          <a:stretch>
            <a:fillRect/>
          </a:stretch>
        </p:blipFill>
        <p:spPr>
          <a:xfrm>
            <a:off x="2916238" y="2636838"/>
            <a:ext cx="5400675" cy="2900362"/>
          </a:xfrm>
          <a:prstGeom prst="rect">
            <a:avLst/>
          </a:prstGeom>
          <a:noFill/>
          <a:ln w="9525">
            <a:noFill/>
          </a:ln>
        </p:spPr>
      </p:pic>
      <p:sp>
        <p:nvSpPr>
          <p:cNvPr id="251909" name="Text Box 5"/>
          <p:cNvSpPr txBox="1"/>
          <p:nvPr/>
        </p:nvSpPr>
        <p:spPr>
          <a:xfrm>
            <a:off x="539750" y="5876925"/>
            <a:ext cx="8064500" cy="822325"/>
          </a:xfrm>
          <a:prstGeom prst="rect">
            <a:avLst/>
          </a:prstGeom>
          <a:noFill/>
          <a:ln w="9525">
            <a:noFill/>
          </a:ln>
        </p:spPr>
        <p:txBody>
          <a:bodyPr anchor="t" anchorCtr="0">
            <a:spAutoFit/>
          </a:bodyPr>
          <a:lstStyle/>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 外型结构          （</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 共阴极             （</a:t>
            </a:r>
            <a:r>
              <a:rPr lang="en-US" altLang="zh-CN"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）共阳极</a:t>
            </a:r>
          </a:p>
          <a:p>
            <a:pPr algn="ctr"/>
            <a:r>
              <a:rPr lang="zh-CN" altLang="en-US" dirty="0">
                <a:latin typeface="Times New Roman" panose="02020603050405020304" pitchFamily="18" charset="0"/>
                <a:ea typeface="宋体" panose="02010600030101010101" pitchFamily="2" charset="-122"/>
              </a:rPr>
              <a:t>数码管结构图</a:t>
            </a:r>
          </a:p>
        </p:txBody>
      </p:sp>
      <p:grpSp>
        <p:nvGrpSpPr>
          <p:cNvPr id="2" name="Group 6"/>
          <p:cNvGrpSpPr/>
          <p:nvPr/>
        </p:nvGrpSpPr>
        <p:grpSpPr>
          <a:xfrm>
            <a:off x="637858" y="2504440"/>
            <a:ext cx="2087562" cy="3405188"/>
            <a:chOff x="2304" y="672"/>
            <a:chExt cx="1824" cy="2252"/>
          </a:xfrm>
        </p:grpSpPr>
        <p:sp>
          <p:nvSpPr>
            <p:cNvPr id="11270" name="Rectangle 7"/>
            <p:cNvSpPr/>
            <p:nvPr/>
          </p:nvSpPr>
          <p:spPr>
            <a:xfrm>
              <a:off x="2640" y="1148"/>
              <a:ext cx="96" cy="564"/>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1271" name="Rectangle 8"/>
            <p:cNvSpPr/>
            <p:nvPr/>
          </p:nvSpPr>
          <p:spPr>
            <a:xfrm>
              <a:off x="3264" y="1798"/>
              <a:ext cx="96" cy="607"/>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1272" name="Rectangle 9"/>
            <p:cNvSpPr/>
            <p:nvPr/>
          </p:nvSpPr>
          <p:spPr>
            <a:xfrm>
              <a:off x="2640" y="1798"/>
              <a:ext cx="96" cy="607"/>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1273" name="Rectangle 10"/>
            <p:cNvSpPr/>
            <p:nvPr/>
          </p:nvSpPr>
          <p:spPr>
            <a:xfrm>
              <a:off x="3264" y="1148"/>
              <a:ext cx="96" cy="564"/>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1274" name="Rectangle 11"/>
            <p:cNvSpPr/>
            <p:nvPr/>
          </p:nvSpPr>
          <p:spPr>
            <a:xfrm>
              <a:off x="2640" y="2491"/>
              <a:ext cx="720" cy="87"/>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1275" name="Rectangle 12"/>
            <p:cNvSpPr/>
            <p:nvPr/>
          </p:nvSpPr>
          <p:spPr>
            <a:xfrm>
              <a:off x="2640" y="975"/>
              <a:ext cx="720" cy="87"/>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1276" name="Rectangle 13"/>
            <p:cNvSpPr/>
            <p:nvPr/>
          </p:nvSpPr>
          <p:spPr>
            <a:xfrm>
              <a:off x="2784" y="1712"/>
              <a:ext cx="432" cy="8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1277" name="Text Box 14"/>
            <p:cNvSpPr txBox="1"/>
            <p:nvPr/>
          </p:nvSpPr>
          <p:spPr>
            <a:xfrm>
              <a:off x="2784" y="672"/>
              <a:ext cx="191" cy="302"/>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a</a:t>
              </a:r>
            </a:p>
          </p:txBody>
        </p:sp>
        <p:sp>
          <p:nvSpPr>
            <p:cNvPr id="11278" name="Text Box 15"/>
            <p:cNvSpPr txBox="1"/>
            <p:nvPr/>
          </p:nvSpPr>
          <p:spPr>
            <a:xfrm>
              <a:off x="3457" y="1971"/>
              <a:ext cx="191" cy="302"/>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c</a:t>
              </a:r>
            </a:p>
          </p:txBody>
        </p:sp>
        <p:sp>
          <p:nvSpPr>
            <p:cNvPr id="11279" name="Text Box 16"/>
            <p:cNvSpPr txBox="1"/>
            <p:nvPr/>
          </p:nvSpPr>
          <p:spPr>
            <a:xfrm>
              <a:off x="2304" y="1971"/>
              <a:ext cx="240" cy="302"/>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e</a:t>
              </a:r>
            </a:p>
          </p:txBody>
        </p:sp>
        <p:sp>
          <p:nvSpPr>
            <p:cNvPr id="11280" name="Text Box 17"/>
            <p:cNvSpPr txBox="1"/>
            <p:nvPr/>
          </p:nvSpPr>
          <p:spPr>
            <a:xfrm>
              <a:off x="2928" y="2621"/>
              <a:ext cx="192" cy="303"/>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d</a:t>
              </a:r>
            </a:p>
          </p:txBody>
        </p:sp>
        <p:sp>
          <p:nvSpPr>
            <p:cNvPr id="11281" name="Text Box 18"/>
            <p:cNvSpPr txBox="1"/>
            <p:nvPr/>
          </p:nvSpPr>
          <p:spPr>
            <a:xfrm>
              <a:off x="3408" y="1278"/>
              <a:ext cx="192" cy="302"/>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b</a:t>
              </a:r>
            </a:p>
          </p:txBody>
        </p:sp>
        <p:sp>
          <p:nvSpPr>
            <p:cNvPr id="11282" name="Text Box 19"/>
            <p:cNvSpPr txBox="1"/>
            <p:nvPr/>
          </p:nvSpPr>
          <p:spPr>
            <a:xfrm>
              <a:off x="2880" y="1408"/>
              <a:ext cx="288" cy="302"/>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g</a:t>
              </a:r>
            </a:p>
          </p:txBody>
        </p:sp>
        <p:sp>
          <p:nvSpPr>
            <p:cNvPr id="11283" name="Text Box 20"/>
            <p:cNvSpPr txBox="1"/>
            <p:nvPr/>
          </p:nvSpPr>
          <p:spPr>
            <a:xfrm>
              <a:off x="2353" y="1322"/>
              <a:ext cx="191" cy="302"/>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f</a:t>
              </a:r>
            </a:p>
          </p:txBody>
        </p:sp>
        <p:sp>
          <p:nvSpPr>
            <p:cNvPr id="11284" name="Oval 21"/>
            <p:cNvSpPr/>
            <p:nvPr/>
          </p:nvSpPr>
          <p:spPr>
            <a:xfrm>
              <a:off x="3600" y="2448"/>
              <a:ext cx="144" cy="144"/>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1285" name="Text Box 22"/>
            <p:cNvSpPr txBox="1"/>
            <p:nvPr/>
          </p:nvSpPr>
          <p:spPr>
            <a:xfrm>
              <a:off x="3888" y="2400"/>
              <a:ext cx="240" cy="302"/>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h</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1906"/>
                                        </p:tgtEl>
                                        <p:attrNameLst>
                                          <p:attrName>style.visibility</p:attrName>
                                        </p:attrNameLst>
                                      </p:cBhvr>
                                      <p:to>
                                        <p:strVal val="visible"/>
                                      </p:to>
                                    </p:set>
                                    <p:animEffect transition="in" filter="blinds(horizontal)">
                                      <p:cBhvr>
                                        <p:cTn id="7" dur="500"/>
                                        <p:tgtEl>
                                          <p:spTgt spid="25190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51908"/>
                                        </p:tgtEl>
                                        <p:attrNameLst>
                                          <p:attrName>style.visibility</p:attrName>
                                        </p:attrNameLst>
                                      </p:cBhvr>
                                      <p:to>
                                        <p:strVal val="visible"/>
                                      </p:to>
                                    </p:set>
                                    <p:animEffect transition="in" filter="box(in)">
                                      <p:cBhvr>
                                        <p:cTn id="12" dur="500"/>
                                        <p:tgtEl>
                                          <p:spTgt spid="251908"/>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251909"/>
                                        </p:tgtEl>
                                        <p:attrNameLst>
                                          <p:attrName>style.visibility</p:attrName>
                                        </p:attrNameLst>
                                      </p:cBhvr>
                                      <p:to>
                                        <p:strVal val="visible"/>
                                      </p:to>
                                    </p:set>
                                    <p:animEffect transition="in" filter="box(in)">
                                      <p:cBhvr>
                                        <p:cTn id="15" dur="500"/>
                                        <p:tgtEl>
                                          <p:spTgt spid="251909"/>
                                        </p:tgtEl>
                                      </p:cBhvr>
                                    </p:animEffect>
                                  </p:childTnLst>
                                </p:cTn>
                              </p:par>
                              <p:par>
                                <p:cTn id="16" presetID="4" presetClass="entr" presetSubtype="16"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ox(in)">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6" grpId="0"/>
      <p:bldP spid="25190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9</a:t>
            </a:fld>
            <a:endParaRPr lang="en-US" altLang="zh-CN" sz="1400" b="0" dirty="0"/>
          </a:p>
        </p:txBody>
      </p:sp>
      <p:graphicFrame>
        <p:nvGraphicFramePr>
          <p:cNvPr id="14339" name="表格 14338"/>
          <p:cNvGraphicFramePr/>
          <p:nvPr>
            <p:custDataLst>
              <p:tags r:id="rId1"/>
            </p:custDataLst>
          </p:nvPr>
        </p:nvGraphicFramePr>
        <p:xfrm>
          <a:off x="1371600" y="4800600"/>
          <a:ext cx="6096000" cy="992188"/>
        </p:xfrm>
        <a:graphic>
          <a:graphicData uri="http://schemas.openxmlformats.org/drawingml/2006/table">
            <a:tbl>
              <a:tblPr/>
              <a:tblGrid>
                <a:gridCol w="762000"/>
                <a:gridCol w="762000"/>
                <a:gridCol w="762000"/>
                <a:gridCol w="762000"/>
                <a:gridCol w="770255"/>
                <a:gridCol w="753745"/>
                <a:gridCol w="762000"/>
                <a:gridCol w="762000"/>
              </a:tblGrid>
              <a:tr h="457200">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h</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g</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f</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e</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d</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c</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b</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a</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34988">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0</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None/>
                      </a:pPr>
                      <a:r>
                        <a:rPr lang="en-US" altLang="zh-CN" dirty="0">
                          <a:latin typeface="Times New Roman" panose="02020603050405020304" pitchFamily="18" charset="0"/>
                        </a:rPr>
                        <a:t>1</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2319" name="Text Box 48"/>
          <p:cNvSpPr txBox="1"/>
          <p:nvPr/>
        </p:nvSpPr>
        <p:spPr>
          <a:xfrm>
            <a:off x="7696200" y="5257800"/>
            <a:ext cx="838200" cy="457200"/>
          </a:xfrm>
          <a:prstGeom prst="rect">
            <a:avLst/>
          </a:prstGeom>
          <a:noFill/>
          <a:ln w="9525">
            <a:noFill/>
          </a:ln>
        </p:spPr>
        <p:txBody>
          <a:bodyPr anchor="t" anchorCtr="0">
            <a:spAutoFit/>
          </a:bodyPr>
          <a:lstStyle/>
          <a:p>
            <a:pPr>
              <a:spcBef>
                <a:spcPct val="50000"/>
              </a:spcBef>
            </a:pPr>
            <a:r>
              <a:rPr lang="en-US" altLang="zh-CN" dirty="0">
                <a:latin typeface="Times New Roman" panose="02020603050405020304" pitchFamily="18" charset="0"/>
                <a:ea typeface="宋体" panose="02010600030101010101" pitchFamily="2" charset="-122"/>
              </a:rPr>
              <a:t>3FH</a:t>
            </a:r>
          </a:p>
        </p:txBody>
      </p:sp>
      <p:grpSp>
        <p:nvGrpSpPr>
          <p:cNvPr id="12320" name="Group 49"/>
          <p:cNvGrpSpPr/>
          <p:nvPr/>
        </p:nvGrpSpPr>
        <p:grpSpPr>
          <a:xfrm>
            <a:off x="3276600" y="836613"/>
            <a:ext cx="2895600" cy="3551237"/>
            <a:chOff x="2304" y="672"/>
            <a:chExt cx="1824" cy="2237"/>
          </a:xfrm>
        </p:grpSpPr>
        <p:sp>
          <p:nvSpPr>
            <p:cNvPr id="12321" name="Rectangle 50"/>
            <p:cNvSpPr/>
            <p:nvPr/>
          </p:nvSpPr>
          <p:spPr>
            <a:xfrm>
              <a:off x="2640" y="1148"/>
              <a:ext cx="96" cy="564"/>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2322" name="Rectangle 51"/>
            <p:cNvSpPr/>
            <p:nvPr/>
          </p:nvSpPr>
          <p:spPr>
            <a:xfrm>
              <a:off x="3264" y="1798"/>
              <a:ext cx="96" cy="607"/>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2323" name="Rectangle 52"/>
            <p:cNvSpPr/>
            <p:nvPr/>
          </p:nvSpPr>
          <p:spPr>
            <a:xfrm>
              <a:off x="2640" y="1798"/>
              <a:ext cx="96" cy="607"/>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2324" name="Rectangle 53"/>
            <p:cNvSpPr/>
            <p:nvPr/>
          </p:nvSpPr>
          <p:spPr>
            <a:xfrm>
              <a:off x="3264" y="1148"/>
              <a:ext cx="96" cy="564"/>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2325" name="Rectangle 54"/>
            <p:cNvSpPr/>
            <p:nvPr/>
          </p:nvSpPr>
          <p:spPr>
            <a:xfrm>
              <a:off x="2640" y="2491"/>
              <a:ext cx="720" cy="87"/>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2326" name="Rectangle 55"/>
            <p:cNvSpPr/>
            <p:nvPr/>
          </p:nvSpPr>
          <p:spPr>
            <a:xfrm>
              <a:off x="2640" y="975"/>
              <a:ext cx="720" cy="87"/>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2327" name="Rectangle 56"/>
            <p:cNvSpPr/>
            <p:nvPr/>
          </p:nvSpPr>
          <p:spPr>
            <a:xfrm>
              <a:off x="2784" y="1712"/>
              <a:ext cx="432" cy="8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2328" name="Text Box 57"/>
            <p:cNvSpPr txBox="1"/>
            <p:nvPr/>
          </p:nvSpPr>
          <p:spPr>
            <a:xfrm>
              <a:off x="2784" y="672"/>
              <a:ext cx="192" cy="288"/>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a</a:t>
              </a:r>
            </a:p>
          </p:txBody>
        </p:sp>
        <p:sp>
          <p:nvSpPr>
            <p:cNvPr id="12329" name="Text Box 58"/>
            <p:cNvSpPr txBox="1"/>
            <p:nvPr/>
          </p:nvSpPr>
          <p:spPr>
            <a:xfrm>
              <a:off x="3456" y="1971"/>
              <a:ext cx="192" cy="288"/>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c</a:t>
              </a:r>
            </a:p>
          </p:txBody>
        </p:sp>
        <p:sp>
          <p:nvSpPr>
            <p:cNvPr id="12330" name="Text Box 59"/>
            <p:cNvSpPr txBox="1"/>
            <p:nvPr/>
          </p:nvSpPr>
          <p:spPr>
            <a:xfrm>
              <a:off x="2304" y="1971"/>
              <a:ext cx="240" cy="288"/>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e</a:t>
              </a:r>
            </a:p>
          </p:txBody>
        </p:sp>
        <p:sp>
          <p:nvSpPr>
            <p:cNvPr id="12331" name="Text Box 60"/>
            <p:cNvSpPr txBox="1"/>
            <p:nvPr/>
          </p:nvSpPr>
          <p:spPr>
            <a:xfrm>
              <a:off x="2928" y="2621"/>
              <a:ext cx="192" cy="288"/>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d</a:t>
              </a:r>
            </a:p>
          </p:txBody>
        </p:sp>
        <p:sp>
          <p:nvSpPr>
            <p:cNvPr id="12332" name="Text Box 61"/>
            <p:cNvSpPr txBox="1"/>
            <p:nvPr/>
          </p:nvSpPr>
          <p:spPr>
            <a:xfrm>
              <a:off x="3408" y="1278"/>
              <a:ext cx="192" cy="288"/>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b</a:t>
              </a:r>
            </a:p>
          </p:txBody>
        </p:sp>
        <p:sp>
          <p:nvSpPr>
            <p:cNvPr id="12333" name="Text Box 62"/>
            <p:cNvSpPr txBox="1"/>
            <p:nvPr/>
          </p:nvSpPr>
          <p:spPr>
            <a:xfrm>
              <a:off x="2880" y="1408"/>
              <a:ext cx="288" cy="288"/>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g</a:t>
              </a:r>
            </a:p>
          </p:txBody>
        </p:sp>
        <p:sp>
          <p:nvSpPr>
            <p:cNvPr id="12334" name="Text Box 63"/>
            <p:cNvSpPr txBox="1"/>
            <p:nvPr/>
          </p:nvSpPr>
          <p:spPr>
            <a:xfrm>
              <a:off x="2352" y="1322"/>
              <a:ext cx="192" cy="288"/>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f</a:t>
              </a:r>
            </a:p>
          </p:txBody>
        </p:sp>
        <p:sp>
          <p:nvSpPr>
            <p:cNvPr id="12335" name="Oval 64"/>
            <p:cNvSpPr/>
            <p:nvPr/>
          </p:nvSpPr>
          <p:spPr>
            <a:xfrm>
              <a:off x="3600" y="2448"/>
              <a:ext cx="144" cy="144"/>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12336" name="Text Box 65"/>
            <p:cNvSpPr txBox="1"/>
            <p:nvPr/>
          </p:nvSpPr>
          <p:spPr>
            <a:xfrm>
              <a:off x="3888" y="2400"/>
              <a:ext cx="240" cy="288"/>
            </a:xfrm>
            <a:prstGeom prst="rect">
              <a:avLst/>
            </a:prstGeom>
            <a:noFill/>
            <a:ln w="9525">
              <a:noFill/>
            </a:ln>
          </p:spPr>
          <p:txBody>
            <a:bodyPr anchor="t" anchorCtr="0">
              <a:spAutoFit/>
            </a:bodyPr>
            <a:lstStyle/>
            <a:p>
              <a:pPr>
                <a:spcBef>
                  <a:spcPct val="50000"/>
                </a:spcBef>
              </a:pPr>
              <a:r>
                <a:rPr lang="en-US" altLang="zh-CN" b="0" dirty="0">
                  <a:latin typeface="Times New Roman" panose="02020603050405020304" pitchFamily="18" charset="0"/>
                  <a:ea typeface="宋体" panose="02010600030101010101" pitchFamily="2" charset="-122"/>
                </a:rPr>
                <a:t>h</a:t>
              </a:r>
            </a:p>
          </p:txBody>
        </p:sp>
      </p:grpSp>
    </p:spTree>
  </p:cSld>
  <p:clrMapOvr>
    <a:masterClrMapping/>
  </p:clrMapOvr>
  <p:transition>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47625" y="514350"/>
            <a:ext cx="9048750" cy="5829300"/>
          </a:xfrm>
          <a:prstGeom prst="rect">
            <a:avLst/>
          </a:prstGeom>
        </p:spPr>
      </p:pic>
    </p:spTree>
  </p:cSld>
  <p:clrMapOvr>
    <a:masterClrMapping/>
  </p:clrMapOvr>
  <p:transition>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11</a:t>
            </a:fld>
            <a:endParaRPr lang="en-US" altLang="zh-CN" sz="1400" b="0" dirty="0"/>
          </a:p>
        </p:txBody>
      </p:sp>
      <p:sp>
        <p:nvSpPr>
          <p:cNvPr id="297988" name="Text Box 4"/>
          <p:cNvSpPr txBox="1"/>
          <p:nvPr/>
        </p:nvSpPr>
        <p:spPr>
          <a:xfrm>
            <a:off x="179388" y="620713"/>
            <a:ext cx="8964612" cy="1124585"/>
          </a:xfrm>
          <a:prstGeom prst="rect">
            <a:avLst/>
          </a:prstGeom>
          <a:noFill/>
          <a:ln w="9525">
            <a:noFill/>
          </a:ln>
        </p:spPr>
        <p:txBody>
          <a:bodyPr anchor="t" anchorCtr="0">
            <a:spAutoFit/>
          </a:bodyPr>
          <a:lstStyle/>
          <a:p>
            <a:pPr>
              <a:lnSpc>
                <a:spcPct val="140000"/>
              </a:lnSpc>
              <a:spcBef>
                <a:spcPct val="50000"/>
              </a:spcBef>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4-2  </a:t>
            </a:r>
            <a:r>
              <a:rPr lang="zh-CN" altLang="en-US" dirty="0">
                <a:latin typeface="Times New Roman" panose="02020603050405020304" pitchFamily="18" charset="0"/>
                <a:ea typeface="宋体" panose="02010600030101010101" pitchFamily="2" charset="-122"/>
              </a:rPr>
              <a:t>若内部</a:t>
            </a:r>
            <a:r>
              <a:rPr lang="en-US" altLang="zh-CN" dirty="0">
                <a:latin typeface="Times New Roman" panose="02020603050405020304" pitchFamily="18" charset="0"/>
                <a:ea typeface="宋体" panose="02010600030101010101" pitchFamily="2" charset="-122"/>
              </a:rPr>
              <a:t>RAM 30H</a:t>
            </a:r>
            <a:r>
              <a:rPr lang="zh-CN" altLang="en-US" dirty="0">
                <a:latin typeface="Times New Roman" panose="02020603050405020304" pitchFamily="18" charset="0"/>
                <a:ea typeface="宋体" panose="02010600030101010101" pitchFamily="2" charset="-122"/>
              </a:rPr>
              <a:t>中存放的是</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BCD</a:t>
            </a:r>
            <a:r>
              <a:rPr lang="zh-CN" altLang="en-US" dirty="0">
                <a:latin typeface="Times New Roman" panose="02020603050405020304" pitchFamily="18" charset="0"/>
                <a:ea typeface="宋体" panose="02010600030101010101" pitchFamily="2" charset="-122"/>
              </a:rPr>
              <a:t>码，通过查表将其转换成为相应的共阴极七段字形代码，并存入内部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31H</a:t>
            </a:r>
            <a:r>
              <a:rPr lang="zh-CN" altLang="en-US" dirty="0">
                <a:latin typeface="Times New Roman" panose="02020603050405020304" pitchFamily="18" charset="0"/>
                <a:ea typeface="宋体" panose="02010600030101010101" pitchFamily="2" charset="-122"/>
              </a:rPr>
              <a:t>中。</a:t>
            </a:r>
          </a:p>
        </p:txBody>
      </p:sp>
      <p:sp>
        <p:nvSpPr>
          <p:cNvPr id="297989" name="Text Box 5"/>
          <p:cNvSpPr txBox="1"/>
          <p:nvPr/>
        </p:nvSpPr>
        <p:spPr>
          <a:xfrm>
            <a:off x="935038" y="4724400"/>
            <a:ext cx="8208962" cy="1625600"/>
          </a:xfrm>
          <a:prstGeom prst="rect">
            <a:avLst/>
          </a:prstGeom>
          <a:solidFill>
            <a:srgbClr val="CCFFFF"/>
          </a:solidFill>
          <a:ln w="9525">
            <a:noFill/>
          </a:ln>
        </p:spPr>
        <p:txBody>
          <a:bodyPr anchor="t" anchorCtr="0">
            <a:spAutoFit/>
          </a:bodyPr>
          <a:lstStyle/>
          <a:p>
            <a:pPr>
              <a:lnSpc>
                <a:spcPct val="140000"/>
              </a:lnSpc>
            </a:pPr>
            <a:r>
              <a:rPr lang="pt-BR" altLang="zh-CN" dirty="0">
                <a:latin typeface="Times New Roman" panose="02020603050405020304" pitchFamily="18" charset="0"/>
                <a:ea typeface="宋体" panose="02010600030101010101" pitchFamily="2" charset="-122"/>
              </a:rPr>
              <a:t>TAB</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DB  3FH</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06H</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5BH</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4FH</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66H</a:t>
            </a:r>
            <a:r>
              <a:rPr lang="zh-CN" altLang="pt-BR" dirty="0">
                <a:latin typeface="Times New Roman" panose="02020603050405020304" pitchFamily="18" charset="0"/>
                <a:ea typeface="宋体" panose="02010600030101010101" pitchFamily="2" charset="-122"/>
              </a:rPr>
              <a:t>；字形代码表</a:t>
            </a:r>
          </a:p>
          <a:p>
            <a:pPr>
              <a:lnSpc>
                <a:spcPct val="140000"/>
              </a:lnSpc>
            </a:pPr>
            <a:r>
              <a:rPr lang="zh-CN" altLang="pt-BR" dirty="0">
                <a:latin typeface="Times New Roman" panose="02020603050405020304" pitchFamily="18" charset="0"/>
                <a:ea typeface="宋体" panose="02010600030101010101" pitchFamily="2" charset="-122"/>
              </a:rPr>
              <a:t>            </a:t>
            </a:r>
            <a:r>
              <a:rPr lang="pt-BR" altLang="zh-CN" dirty="0">
                <a:latin typeface="Times New Roman" panose="02020603050405020304" pitchFamily="18" charset="0"/>
                <a:ea typeface="宋体" panose="02010600030101010101" pitchFamily="2" charset="-122"/>
              </a:rPr>
              <a:t>DB  6DH</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7DH</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07H</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7FH</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6FH </a:t>
            </a:r>
          </a:p>
          <a:p>
            <a:pPr>
              <a:lnSpc>
                <a:spcPct val="140000"/>
              </a:lnSpc>
            </a:pPr>
            <a:r>
              <a:rPr lang="pt-BR" altLang="zh-CN"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END</a:t>
            </a:r>
          </a:p>
        </p:txBody>
      </p:sp>
      <p:sp>
        <p:nvSpPr>
          <p:cNvPr id="297990" name="Text Box 6"/>
          <p:cNvSpPr txBox="1"/>
          <p:nvPr/>
        </p:nvSpPr>
        <p:spPr>
          <a:xfrm>
            <a:off x="935038" y="2076450"/>
            <a:ext cx="8208962" cy="2647950"/>
          </a:xfrm>
          <a:prstGeom prst="rect">
            <a:avLst/>
          </a:prstGeom>
          <a:solidFill>
            <a:srgbClr val="FFCC99"/>
          </a:solidFill>
          <a:ln w="9525">
            <a:noFill/>
          </a:ln>
        </p:spPr>
        <p:txBody>
          <a:bodyPr anchor="t" anchorCtr="0">
            <a:spAutoFit/>
          </a:bodyPr>
          <a:lstStyle/>
          <a:p>
            <a:pPr>
              <a:lnSpc>
                <a:spcPct val="140000"/>
              </a:lnSpc>
            </a:pPr>
            <a:r>
              <a:rPr lang="pt-BR" altLang="zh-CN" dirty="0">
                <a:latin typeface="Times New Roman" panose="02020603050405020304" pitchFamily="18" charset="0"/>
                <a:ea typeface="宋体" panose="02010600030101010101" pitchFamily="2" charset="-122"/>
              </a:rPr>
              <a:t>	ORG       0</a:t>
            </a:r>
          </a:p>
          <a:p>
            <a:pPr>
              <a:lnSpc>
                <a:spcPct val="140000"/>
              </a:lnSpc>
            </a:pPr>
            <a:r>
              <a:rPr lang="pt-BR" altLang="zh-CN" dirty="0">
                <a:latin typeface="Times New Roman" panose="02020603050405020304" pitchFamily="18" charset="0"/>
                <a:ea typeface="宋体" panose="02010600030101010101" pitchFamily="2" charset="-122"/>
              </a:rPr>
              <a:t>	MOV	   A</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30H     </a:t>
            </a:r>
          </a:p>
          <a:p>
            <a:pPr>
              <a:lnSpc>
                <a:spcPct val="140000"/>
              </a:lnSpc>
            </a:pPr>
            <a:r>
              <a:rPr lang="pt-BR" altLang="zh-CN" dirty="0">
                <a:latin typeface="Times New Roman" panose="02020603050405020304" pitchFamily="18" charset="0"/>
                <a:ea typeface="宋体" panose="02010600030101010101" pitchFamily="2" charset="-122"/>
              </a:rPr>
              <a:t>	MOV  	   DPTR</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#TAB		</a:t>
            </a:r>
            <a:r>
              <a:rPr lang="zh-CN" altLang="pt-BR" dirty="0">
                <a:latin typeface="Times New Roman" panose="02020603050405020304" pitchFamily="18" charset="0"/>
                <a:ea typeface="宋体" panose="02010600030101010101" pitchFamily="2" charset="-122"/>
              </a:rPr>
              <a:t>；地址修正</a:t>
            </a:r>
          </a:p>
          <a:p>
            <a:pPr>
              <a:lnSpc>
                <a:spcPct val="140000"/>
              </a:lnSpc>
            </a:pPr>
            <a:r>
              <a:rPr lang="pt-BR" altLang="zh-CN" dirty="0">
                <a:latin typeface="Times New Roman" panose="02020603050405020304" pitchFamily="18" charset="0"/>
                <a:ea typeface="宋体" panose="02010600030101010101" pitchFamily="2" charset="-122"/>
              </a:rPr>
              <a:t>	MOVC  A</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@A+DPTR		</a:t>
            </a:r>
          </a:p>
          <a:p>
            <a:pPr>
              <a:lnSpc>
                <a:spcPct val="140000"/>
              </a:lnSpc>
            </a:pPr>
            <a:r>
              <a:rPr lang="pt-BR" altLang="zh-CN" dirty="0">
                <a:latin typeface="Times New Roman" panose="02020603050405020304" pitchFamily="18" charset="0"/>
                <a:ea typeface="宋体" panose="02010600030101010101" pitchFamily="2" charset="-122"/>
              </a:rPr>
              <a:t>	MOV	  31H</a:t>
            </a:r>
            <a:r>
              <a:rPr lang="zh-CN" altLang="pt-BR" dirty="0">
                <a:latin typeface="Times New Roman" panose="02020603050405020304" pitchFamily="18" charset="0"/>
                <a:ea typeface="宋体" panose="02010600030101010101" pitchFamily="2" charset="-122"/>
              </a:rPr>
              <a:t>，</a:t>
            </a:r>
            <a:r>
              <a:rPr lang="pt-BR" altLang="zh-CN" dirty="0">
                <a:latin typeface="Times New Roman" panose="02020603050405020304" pitchFamily="18" charset="0"/>
                <a:ea typeface="宋体" panose="02010600030101010101" pitchFamily="2" charset="-122"/>
              </a:rPr>
              <a:t>A			</a:t>
            </a:r>
            <a:r>
              <a:rPr lang="zh-CN" altLang="pt-BR" dirty="0">
                <a:latin typeface="Times New Roman" panose="02020603050405020304" pitchFamily="18" charset="0"/>
                <a:ea typeface="宋体" panose="02010600030101010101" pitchFamily="2" charset="-122"/>
              </a:rPr>
              <a:t>；双字节指令</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7988"/>
                                        </p:tgtEl>
                                        <p:attrNameLst>
                                          <p:attrName>style.visibility</p:attrName>
                                        </p:attrNameLst>
                                      </p:cBhvr>
                                      <p:to>
                                        <p:strVal val="visible"/>
                                      </p:to>
                                    </p:set>
                                    <p:animEffect transition="in" filter="blinds(horizontal)">
                                      <p:cBhvr>
                                        <p:cTn id="7" dur="500"/>
                                        <p:tgtEl>
                                          <p:spTgt spid="29798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7989"/>
                                        </p:tgtEl>
                                        <p:attrNameLst>
                                          <p:attrName>style.visibility</p:attrName>
                                        </p:attrNameLst>
                                      </p:cBhvr>
                                      <p:to>
                                        <p:strVal val="visible"/>
                                      </p:to>
                                    </p:set>
                                    <p:animEffect transition="in" filter="blinds(horizontal)">
                                      <p:cBhvr>
                                        <p:cTn id="12" dur="500"/>
                                        <p:tgtEl>
                                          <p:spTgt spid="297989"/>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97990"/>
                                        </p:tgtEl>
                                        <p:attrNameLst>
                                          <p:attrName>style.visibility</p:attrName>
                                        </p:attrNameLst>
                                      </p:cBhvr>
                                      <p:to>
                                        <p:strVal val="visible"/>
                                      </p:to>
                                    </p:set>
                                    <p:animEffect transition="in" filter="diamond(in)">
                                      <p:cBhvr>
                                        <p:cTn id="17" dur="2000"/>
                                        <p:tgtEl>
                                          <p:spTgt spid="297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8" grpId="0"/>
      <p:bldP spid="297989" grpId="0" animBg="1"/>
      <p:bldP spid="29799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12</a:t>
            </a:fld>
            <a:endParaRPr lang="en-US" altLang="zh-CN" sz="1400" b="0" dirty="0"/>
          </a:p>
        </p:txBody>
      </p:sp>
      <p:pic>
        <p:nvPicPr>
          <p:cNvPr id="15362" name="Picture 2" descr="未标题-1拷贝"/>
          <p:cNvPicPr>
            <a:picLocks noChangeAspect="1"/>
          </p:cNvPicPr>
          <p:nvPr/>
        </p:nvPicPr>
        <p:blipFill>
          <a:blip r:embed="rId2"/>
          <a:stretch>
            <a:fillRect/>
          </a:stretch>
        </p:blipFill>
        <p:spPr>
          <a:xfrm>
            <a:off x="152400" y="1371600"/>
            <a:ext cx="8763000" cy="5267325"/>
          </a:xfrm>
          <a:prstGeom prst="rect">
            <a:avLst/>
          </a:prstGeom>
          <a:noFill/>
          <a:ln w="9525">
            <a:noFill/>
          </a:ln>
        </p:spPr>
      </p:pic>
      <p:sp>
        <p:nvSpPr>
          <p:cNvPr id="15363" name="Text Box 3"/>
          <p:cNvSpPr txBox="1"/>
          <p:nvPr/>
        </p:nvSpPr>
        <p:spPr>
          <a:xfrm>
            <a:off x="3124200" y="762000"/>
            <a:ext cx="2552700" cy="460375"/>
          </a:xfrm>
          <a:prstGeom prst="rect">
            <a:avLst/>
          </a:prstGeom>
          <a:noFill/>
          <a:ln w="9525">
            <a:noFill/>
          </a:ln>
        </p:spPr>
        <p:txBody>
          <a:bodyPr wrap="none" anchor="t" anchorCtr="0">
            <a:spAutoFit/>
          </a:bodyPr>
          <a:lstStyle/>
          <a:p>
            <a:r>
              <a:rPr lang="en-US" altLang="zh-CN" dirty="0">
                <a:solidFill>
                  <a:srgbClr val="FF3300"/>
                </a:solidFill>
                <a:latin typeface="Times New Roman" panose="02020603050405020304" pitchFamily="18" charset="0"/>
                <a:ea typeface="宋体" panose="02010600030101010101" pitchFamily="2" charset="-122"/>
              </a:rPr>
              <a:t>4.2 </a:t>
            </a:r>
            <a:r>
              <a:rPr lang="zh-CN" altLang="en-US" dirty="0">
                <a:solidFill>
                  <a:srgbClr val="FF3300"/>
                </a:solidFill>
                <a:latin typeface="Times New Roman" panose="02020603050405020304" pitchFamily="18" charset="0"/>
                <a:ea typeface="宋体" panose="02010600030101010101" pitchFamily="2" charset="-122"/>
              </a:rPr>
              <a:t>循环程序设计 </a:t>
            </a:r>
          </a:p>
        </p:txBody>
      </p:sp>
      <p:grpSp>
        <p:nvGrpSpPr>
          <p:cNvPr id="15364" name="Group 8"/>
          <p:cNvGrpSpPr/>
          <p:nvPr/>
        </p:nvGrpSpPr>
        <p:grpSpPr>
          <a:xfrm>
            <a:off x="2514600" y="1752600"/>
            <a:ext cx="1905000" cy="457200"/>
            <a:chOff x="1776" y="1056"/>
            <a:chExt cx="1200" cy="288"/>
          </a:xfrm>
        </p:grpSpPr>
        <p:sp>
          <p:nvSpPr>
            <p:cNvPr id="15365" name="Line 6"/>
            <p:cNvSpPr/>
            <p:nvPr/>
          </p:nvSpPr>
          <p:spPr>
            <a:xfrm flipH="1">
              <a:off x="1776" y="1152"/>
              <a:ext cx="240" cy="192"/>
            </a:xfrm>
            <a:prstGeom prst="line">
              <a:avLst/>
            </a:prstGeom>
            <a:ln w="28575" cap="flat" cmpd="sng">
              <a:solidFill>
                <a:schemeClr val="tx1"/>
              </a:solidFill>
              <a:prstDash val="solid"/>
              <a:round/>
              <a:headEnd type="none" w="med" len="med"/>
              <a:tailEnd type="triangle" w="med" len="med"/>
            </a:ln>
          </p:spPr>
        </p:sp>
        <p:sp>
          <p:nvSpPr>
            <p:cNvPr id="15366" name="Text Box 7"/>
            <p:cNvSpPr txBox="1"/>
            <p:nvPr/>
          </p:nvSpPr>
          <p:spPr>
            <a:xfrm>
              <a:off x="2016" y="1056"/>
              <a:ext cx="960" cy="250"/>
            </a:xfrm>
            <a:prstGeom prst="rect">
              <a:avLst/>
            </a:prstGeom>
            <a:solidFill>
              <a:srgbClr val="CCFFFF"/>
            </a:solidFill>
            <a:ln w="9525">
              <a:noFill/>
            </a:ln>
          </p:spPr>
          <p:txBody>
            <a:bodyPr anchor="t" anchorCtr="0">
              <a:spAutoFit/>
            </a:bodyPr>
            <a:lstStyle/>
            <a:p>
              <a:pPr>
                <a:spcBef>
                  <a:spcPct val="50000"/>
                </a:spcBef>
              </a:pPr>
              <a:r>
                <a:rPr lang="zh-CN" altLang="en-US" sz="2000" dirty="0">
                  <a:latin typeface="Times New Roman" panose="02020603050405020304" pitchFamily="18" charset="0"/>
                  <a:ea typeface="宋体" panose="02010600030101010101" pitchFamily="2" charset="-122"/>
                </a:rPr>
                <a:t>循环初态</a:t>
              </a:r>
            </a:p>
          </p:txBody>
        </p:sp>
      </p:grpSp>
      <p:sp>
        <p:nvSpPr>
          <p:cNvPr id="15367" name="Text Box 9"/>
          <p:cNvSpPr txBox="1"/>
          <p:nvPr/>
        </p:nvSpPr>
        <p:spPr>
          <a:xfrm>
            <a:off x="2555875" y="6165850"/>
            <a:ext cx="1944688" cy="457200"/>
          </a:xfrm>
          <a:prstGeom prst="rect">
            <a:avLst/>
          </a:prstGeom>
          <a:noFill/>
          <a:ln w="9525">
            <a:noFill/>
          </a:ln>
        </p:spPr>
        <p:txBody>
          <a:bodyPr anchor="t" anchorCtr="0">
            <a:spAutoFit/>
          </a:bodyPr>
          <a:lstStyle/>
          <a:p>
            <a:pPr>
              <a:spcBef>
                <a:spcPct val="50000"/>
              </a:spcBef>
            </a:pPr>
            <a:r>
              <a:rPr lang="zh-CN" altLang="en-US" dirty="0">
                <a:solidFill>
                  <a:srgbClr val="0000CC"/>
                </a:solidFill>
                <a:latin typeface="Times New Roman" panose="02020603050405020304" pitchFamily="18" charset="0"/>
                <a:ea typeface="宋体" panose="02010600030101010101" pitchFamily="2" charset="-122"/>
              </a:rPr>
              <a:t>直到型循环</a:t>
            </a:r>
          </a:p>
        </p:txBody>
      </p:sp>
      <p:sp>
        <p:nvSpPr>
          <p:cNvPr id="15368" name="Text Box 10"/>
          <p:cNvSpPr txBox="1"/>
          <p:nvPr/>
        </p:nvSpPr>
        <p:spPr>
          <a:xfrm>
            <a:off x="4787900" y="6140450"/>
            <a:ext cx="1944688" cy="457200"/>
          </a:xfrm>
          <a:prstGeom prst="rect">
            <a:avLst/>
          </a:prstGeom>
          <a:noFill/>
          <a:ln w="9525">
            <a:noFill/>
          </a:ln>
        </p:spPr>
        <p:txBody>
          <a:bodyPr anchor="t" anchorCtr="0">
            <a:spAutoFit/>
          </a:bodyPr>
          <a:lstStyle/>
          <a:p>
            <a:pPr algn="r">
              <a:spcBef>
                <a:spcPct val="50000"/>
              </a:spcBef>
            </a:pPr>
            <a:r>
              <a:rPr lang="zh-CN" altLang="en-US" dirty="0">
                <a:solidFill>
                  <a:srgbClr val="0000CC"/>
                </a:solidFill>
                <a:latin typeface="Times New Roman" panose="02020603050405020304" pitchFamily="18" charset="0"/>
                <a:ea typeface="宋体" panose="02010600030101010101" pitchFamily="2" charset="-122"/>
              </a:rPr>
              <a:t>当型循环</a:t>
            </a:r>
          </a:p>
        </p:txBody>
      </p:sp>
    </p:spTree>
  </p:cSld>
  <p:clrMapOvr>
    <a:masterClrMapping/>
  </p:clrMapOvr>
  <p:transition>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13</a:t>
            </a:fld>
            <a:endParaRPr lang="en-US" altLang="zh-CN" sz="1400" b="0" dirty="0"/>
          </a:p>
        </p:txBody>
      </p:sp>
      <p:sp>
        <p:nvSpPr>
          <p:cNvPr id="17410" name="Rectangle 2"/>
          <p:cNvSpPr/>
          <p:nvPr/>
        </p:nvSpPr>
        <p:spPr>
          <a:xfrm>
            <a:off x="457200" y="1752600"/>
            <a:ext cx="8229600" cy="3013075"/>
          </a:xfrm>
          <a:prstGeom prst="rect">
            <a:avLst/>
          </a:prstGeom>
          <a:noFill/>
          <a:ln w="9525">
            <a:noFill/>
          </a:ln>
        </p:spPr>
        <p:txBody>
          <a:bodyPr anchor="t" anchorCtr="0">
            <a:spAutoFit/>
          </a:bodyPr>
          <a:lstStyle/>
          <a:p>
            <a:pPr algn="just">
              <a:lnSpc>
                <a:spcPct val="140000"/>
              </a:lnSpc>
            </a:pPr>
            <a:r>
              <a:rPr lang="en-US" altLang="zh-CN" sz="1000" dirty="0">
                <a:latin typeface="Times New Roman" panose="02020603050405020304" pitchFamily="18" charset="0"/>
                <a:ea typeface="宋体" panose="02010600030101010101" pitchFamily="2" charset="-122"/>
              </a:rPr>
              <a:t>	</a:t>
            </a:r>
            <a:r>
              <a:rPr lang="zh-CN" altLang="en-US" dirty="0">
                <a:solidFill>
                  <a:srgbClr val="FF3300"/>
                </a:solidFill>
                <a:latin typeface="Times New Roman" panose="02020603050405020304" pitchFamily="18" charset="0"/>
                <a:ea typeface="宋体" panose="02010600030101010101" pitchFamily="2" charset="-122"/>
              </a:rPr>
              <a:t>循环：单重循环</a:t>
            </a:r>
          </a:p>
          <a:p>
            <a:pPr algn="just">
              <a:lnSpc>
                <a:spcPct val="140000"/>
              </a:lnSpc>
            </a:pPr>
            <a:r>
              <a:rPr lang="zh-CN" altLang="en-US" dirty="0">
                <a:solidFill>
                  <a:srgbClr val="FF3300"/>
                </a:solidFill>
                <a:latin typeface="Times New Roman" panose="02020603050405020304" pitchFamily="18" charset="0"/>
                <a:ea typeface="宋体" panose="02010600030101010101" pitchFamily="2" charset="-122"/>
              </a:rPr>
              <a:t>                        多重循环（二重以上）－－循环嵌套。</a:t>
            </a:r>
          </a:p>
          <a:p>
            <a:pPr algn="just">
              <a:lnSpc>
                <a:spcPct val="140000"/>
              </a:lnSpc>
            </a:pPr>
            <a:r>
              <a:rPr lang="zh-CN" altLang="en-US" dirty="0">
                <a:latin typeface="Times New Roman" panose="02020603050405020304" pitchFamily="18" charset="0"/>
                <a:ea typeface="宋体" panose="02010600030101010101" pitchFamily="2" charset="-122"/>
              </a:rPr>
              <a:t>            在多重循环程序中，只允许外重循环嵌套内重循环程序，而不允许循环体互相交叉，另外，也不允许从循环程序的外部跳入循环程序的内部。</a:t>
            </a:r>
          </a:p>
          <a:p>
            <a:pPr eaLnBrk="0" hangingPunct="0"/>
            <a:endParaRPr lang="en-US" altLang="zh-CN" dirty="0">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14</a:t>
            </a:fld>
            <a:endParaRPr lang="en-US" altLang="zh-CN" sz="1400" b="0" dirty="0"/>
          </a:p>
        </p:txBody>
      </p:sp>
      <p:sp>
        <p:nvSpPr>
          <p:cNvPr id="163842" name="Rectangle 2"/>
          <p:cNvSpPr/>
          <p:nvPr/>
        </p:nvSpPr>
        <p:spPr>
          <a:xfrm>
            <a:off x="250825" y="620713"/>
            <a:ext cx="8610600" cy="1124585"/>
          </a:xfrm>
          <a:prstGeom prst="rect">
            <a:avLst/>
          </a:prstGeom>
          <a:noFill/>
          <a:ln w="9525">
            <a:noFill/>
          </a:ln>
        </p:spPr>
        <p:txBody>
          <a:bodyPr anchor="t" anchorCtr="0">
            <a:spAutoFit/>
          </a:bodyPr>
          <a:lstStyle/>
          <a:p>
            <a:pPr indent="266700" algn="just">
              <a:lnSpc>
                <a:spcPct val="140000"/>
              </a:lnSpc>
            </a:pPr>
            <a:r>
              <a:rPr lang="zh-CN" altLang="en-US" dirty="0">
                <a:latin typeface="Times New Roman" panose="02020603050405020304" pitchFamily="18" charset="0"/>
                <a:ea typeface="黑体" panose="02010609060101010101" pitchFamily="49" charset="-122"/>
              </a:rPr>
              <a:t>例</a:t>
            </a:r>
            <a:r>
              <a:rPr lang="en-US" altLang="zh-CN" dirty="0">
                <a:latin typeface="Times New Roman" panose="02020603050405020304" pitchFamily="18" charset="0"/>
                <a:ea typeface="黑体" panose="02010609060101010101" pitchFamily="49" charset="-122"/>
              </a:rPr>
              <a:t>4-4 </a:t>
            </a:r>
            <a:r>
              <a:rPr lang="zh-CN" altLang="en-US" dirty="0">
                <a:latin typeface="Times New Roman" panose="02020603050405020304" pitchFamily="18" charset="0"/>
                <a:ea typeface="宋体" panose="02010600030101010101" pitchFamily="2" charset="-122"/>
              </a:rPr>
              <a:t>利用</a:t>
            </a:r>
            <a:r>
              <a:rPr lang="en-US" altLang="zh-CN" dirty="0">
                <a:latin typeface="Times New Roman" panose="02020603050405020304" pitchFamily="18" charset="0"/>
                <a:ea typeface="宋体" panose="02010600030101010101" pitchFamily="2" charset="-122"/>
              </a:rPr>
              <a:t>CJNE</a:t>
            </a:r>
            <a:r>
              <a:rPr lang="zh-CN" altLang="en-US" dirty="0">
                <a:latin typeface="Times New Roman" panose="02020603050405020304" pitchFamily="18" charset="0"/>
                <a:ea typeface="宋体" panose="02010600030101010101" pitchFamily="2" charset="-122"/>
              </a:rPr>
              <a:t>指令为循环控制条件，实现将外部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2000H~201FH</a:t>
            </a:r>
            <a:r>
              <a:rPr lang="zh-CN" altLang="en-US" dirty="0">
                <a:latin typeface="Times New Roman" panose="02020603050405020304" pitchFamily="18" charset="0"/>
                <a:ea typeface="宋体" panose="02010600030101010101" pitchFamily="2" charset="-122"/>
              </a:rPr>
              <a:t>单元置为</a:t>
            </a:r>
            <a:r>
              <a:rPr lang="en-US" altLang="zh-CN" dirty="0">
                <a:latin typeface="Times New Roman" panose="02020603050405020304" pitchFamily="18" charset="0"/>
                <a:ea typeface="宋体" panose="02010600030101010101" pitchFamily="2" charset="-122"/>
              </a:rPr>
              <a:t>10H</a:t>
            </a:r>
            <a:r>
              <a:rPr lang="zh-CN" altLang="en-US" dirty="0">
                <a:latin typeface="Times New Roman" panose="02020603050405020304" pitchFamily="18" charset="0"/>
                <a:ea typeface="宋体" panose="02010600030101010101" pitchFamily="2" charset="-122"/>
              </a:rPr>
              <a:t>。</a:t>
            </a:r>
          </a:p>
        </p:txBody>
      </p:sp>
      <p:sp>
        <p:nvSpPr>
          <p:cNvPr id="162819" name="Rectangle 2"/>
          <p:cNvSpPr/>
          <p:nvPr/>
        </p:nvSpPr>
        <p:spPr>
          <a:xfrm>
            <a:off x="936625" y="1735138"/>
            <a:ext cx="7924800" cy="2862262"/>
          </a:xfrm>
          <a:prstGeom prst="rect">
            <a:avLst/>
          </a:prstGeom>
          <a:noFill/>
          <a:ln w="9525">
            <a:noFill/>
          </a:ln>
        </p:spPr>
        <p:txBody>
          <a:bodyPr anchor="t" anchorCtr="0">
            <a:spAutoFit/>
          </a:bodyPr>
          <a:lstStyle/>
          <a:p>
            <a:pPr algn="just" eaLnBrk="0" hangingPunct="0">
              <a:lnSpc>
                <a:spcPct val="150000"/>
              </a:lnSpc>
            </a:pPr>
            <a:r>
              <a:rPr lang="zh-CN" altLang="en-US" dirty="0">
                <a:solidFill>
                  <a:srgbClr val="FF0000"/>
                </a:solidFill>
                <a:latin typeface="Times New Roman" panose="02020603050405020304" pitchFamily="18" charset="0"/>
                <a:ea typeface="宋体" panose="02010600030101010101" pitchFamily="2" charset="-122"/>
              </a:rPr>
              <a:t>数值比较转移指令</a:t>
            </a:r>
            <a:r>
              <a:rPr lang="en-US" altLang="zh-CN" dirty="0">
                <a:solidFill>
                  <a:srgbClr val="FF0000"/>
                </a:solidFill>
                <a:latin typeface="Times New Roman" panose="02020603050405020304" pitchFamily="18" charset="0"/>
                <a:ea typeface="宋体" panose="02010600030101010101" pitchFamily="2" charset="-122"/>
              </a:rPr>
              <a:t>:</a:t>
            </a:r>
          </a:p>
          <a:p>
            <a:pPr algn="just" eaLnBrk="0" hangingPunct="0">
              <a:lnSpc>
                <a:spcPct val="15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CJNE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rel		</a:t>
            </a:r>
            <a:endParaRPr lang="en-US" altLang="zh-CN" b="0" dirty="0">
              <a:latin typeface="Times New Roman" panose="02020603050405020304" pitchFamily="18" charset="0"/>
              <a:ea typeface="宋体" panose="02010600030101010101" pitchFamily="2" charset="-122"/>
            </a:endParaRPr>
          </a:p>
          <a:p>
            <a:pPr algn="just" eaLnBrk="0" hangingPunct="0">
              <a:lnSpc>
                <a:spcPct val="150000"/>
              </a:lnSpc>
            </a:pPr>
            <a:r>
              <a:rPr lang="en-US" altLang="zh-CN" dirty="0">
                <a:latin typeface="Times New Roman" panose="02020603050405020304" pitchFamily="18" charset="0"/>
                <a:ea typeface="宋体" panose="02010600030101010101" pitchFamily="2" charset="-122"/>
              </a:rPr>
              <a:t>         CJNE   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direct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rel		</a:t>
            </a:r>
            <a:endParaRPr lang="en-US" altLang="zh-CN" b="0" dirty="0">
              <a:latin typeface="Times New Roman" panose="02020603050405020304" pitchFamily="18" charset="0"/>
              <a:ea typeface="宋体" panose="02010600030101010101" pitchFamily="2" charset="-122"/>
            </a:endParaRPr>
          </a:p>
          <a:p>
            <a:pPr algn="just" eaLnBrk="0" hangingPunct="0">
              <a:lnSpc>
                <a:spcPct val="150000"/>
              </a:lnSpc>
            </a:pPr>
            <a:r>
              <a:rPr lang="en-US" altLang="zh-CN" dirty="0">
                <a:latin typeface="Times New Roman" panose="02020603050405020304" pitchFamily="18" charset="0"/>
                <a:ea typeface="宋体" panose="02010600030101010101" pitchFamily="2" charset="-122"/>
              </a:rPr>
              <a:t>         CJNE   Rn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rel		</a:t>
            </a:r>
            <a:endParaRPr lang="en-US" altLang="zh-CN" b="0" dirty="0">
              <a:latin typeface="Times New Roman" panose="02020603050405020304" pitchFamily="18" charset="0"/>
              <a:ea typeface="宋体" panose="02010600030101010101" pitchFamily="2" charset="-122"/>
            </a:endParaRPr>
          </a:p>
          <a:p>
            <a:pPr eaLnBrk="0" hangingPunct="0">
              <a:lnSpc>
                <a:spcPct val="150000"/>
              </a:lnSpc>
            </a:pPr>
            <a:r>
              <a:rPr lang="en-US" altLang="zh-CN" dirty="0">
                <a:latin typeface="Times New Roman" panose="02020603050405020304" pitchFamily="18" charset="0"/>
                <a:ea typeface="宋体" panose="02010600030101010101" pitchFamily="2" charset="-122"/>
              </a:rPr>
              <a:t>         CJNE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Ri</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rel</a:t>
            </a:r>
            <a:endParaRPr lang="en-US" altLang="zh-CN" b="0" dirty="0">
              <a:solidFill>
                <a:srgbClr val="FF0000"/>
              </a:solidFill>
              <a:latin typeface="Times New Roman" panose="02020603050405020304" pitchFamily="18" charset="0"/>
              <a:ea typeface="宋体" panose="02010600030101010101" pitchFamily="2" charset="-122"/>
            </a:endParaRPr>
          </a:p>
        </p:txBody>
      </p:sp>
      <p:sp>
        <p:nvSpPr>
          <p:cNvPr id="2" name="文本框 1"/>
          <p:cNvSpPr txBox="1"/>
          <p:nvPr/>
        </p:nvSpPr>
        <p:spPr>
          <a:xfrm>
            <a:off x="1166813" y="4684713"/>
            <a:ext cx="5783262" cy="1754187"/>
          </a:xfrm>
          <a:prstGeom prst="rect">
            <a:avLst/>
          </a:prstGeom>
          <a:noFill/>
          <a:ln w="9525">
            <a:noFill/>
          </a:ln>
        </p:spPr>
        <p:txBody>
          <a:bodyPr anchor="t" anchorCtr="0">
            <a:spAutoFit/>
          </a:bodyPr>
          <a:lstStyle/>
          <a:p>
            <a:pPr eaLnBrk="0" hangingPunct="0">
              <a:lnSpc>
                <a:spcPct val="150000"/>
              </a:lnSpc>
            </a:pPr>
            <a:r>
              <a:rPr lang="zh-CN" altLang="en-US" dirty="0">
                <a:solidFill>
                  <a:schemeClr val="accent2"/>
                </a:solidFill>
                <a:latin typeface="Times New Roman" panose="02020603050405020304" pitchFamily="18" charset="0"/>
                <a:ea typeface="宋体" panose="02010600030101010101" pitchFamily="2" charset="-122"/>
              </a:rPr>
              <a:t>外部</a:t>
            </a:r>
            <a:r>
              <a:rPr lang="en-US" altLang="zh-CN" dirty="0">
                <a:solidFill>
                  <a:schemeClr val="accent2"/>
                </a:solidFill>
                <a:latin typeface="Times New Roman" panose="02020603050405020304" pitchFamily="18" charset="0"/>
                <a:ea typeface="宋体" panose="02010600030101010101" pitchFamily="2" charset="-122"/>
              </a:rPr>
              <a:t>RAM</a:t>
            </a:r>
            <a:r>
              <a:rPr lang="zh-CN" altLang="en-US" dirty="0">
                <a:solidFill>
                  <a:schemeClr val="accent2"/>
                </a:solidFill>
                <a:latin typeface="Times New Roman" panose="02020603050405020304" pitchFamily="18" charset="0"/>
                <a:ea typeface="宋体" panose="02010600030101010101" pitchFamily="2" charset="-122"/>
              </a:rPr>
              <a:t>的操作指令：</a:t>
            </a:r>
          </a:p>
          <a:p>
            <a:pPr eaLnBrk="0" hangingPunct="0">
              <a:lnSpc>
                <a:spcPct val="150000"/>
              </a:lnSpc>
            </a:pPr>
            <a:r>
              <a:rPr lang="en-US" altLang="zh-CN" dirty="0">
                <a:solidFill>
                  <a:schemeClr val="accent2"/>
                </a:solidFill>
                <a:latin typeface="Times New Roman" panose="02020603050405020304" pitchFamily="18" charset="0"/>
                <a:ea typeface="宋体" panose="02010600030101010101" pitchFamily="2" charset="-122"/>
              </a:rPr>
              <a:t>     MOVX    @DPTR,  A</a:t>
            </a:r>
          </a:p>
          <a:p>
            <a:pPr eaLnBrk="0" hangingPunct="0">
              <a:lnSpc>
                <a:spcPct val="150000"/>
              </a:lnSpc>
            </a:pPr>
            <a:r>
              <a:rPr lang="en-US" altLang="zh-CN" dirty="0">
                <a:solidFill>
                  <a:schemeClr val="accent2"/>
                </a:solidFill>
                <a:latin typeface="Times New Roman" panose="02020603050405020304" pitchFamily="18" charset="0"/>
                <a:ea typeface="宋体" panose="02010600030101010101" pitchFamily="2" charset="-122"/>
              </a:rPr>
              <a:t>     MOVX   A,</a:t>
            </a:r>
            <a:r>
              <a:rPr lang="en-US" altLang="zh-CN" dirty="0">
                <a:solidFill>
                  <a:schemeClr val="accent2"/>
                </a:solidFill>
                <a:latin typeface="Times New Roman" panose="02020603050405020304" pitchFamily="18" charset="0"/>
                <a:ea typeface="宋体" panose="02010600030101010101" pitchFamily="2" charset="-122"/>
                <a:sym typeface="宋体" panose="02010600030101010101" pitchFamily="2" charset="-122"/>
              </a:rPr>
              <a:t> @DPTR </a:t>
            </a:r>
            <a:r>
              <a:rPr lang="en-US" altLang="zh-CN" dirty="0">
                <a:solidFill>
                  <a:schemeClr val="accent2"/>
                </a:solidFill>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42"/>
                                        </p:tgtEl>
                                        <p:attrNameLst>
                                          <p:attrName>style.visibility</p:attrName>
                                        </p:attrNameLst>
                                      </p:cBhvr>
                                      <p:to>
                                        <p:strVal val="visible"/>
                                      </p:to>
                                    </p:set>
                                    <p:anim calcmode="lin" valueType="num">
                                      <p:cBhvr additive="base">
                                        <p:cTn id="7" dur="500" fill="hold"/>
                                        <p:tgtEl>
                                          <p:spTgt spid="163842"/>
                                        </p:tgtEl>
                                        <p:attrNameLst>
                                          <p:attrName>ppt_x</p:attrName>
                                        </p:attrNameLst>
                                      </p:cBhvr>
                                      <p:tavLst>
                                        <p:tav tm="0">
                                          <p:val>
                                            <p:strVal val="#ppt_x"/>
                                          </p:val>
                                        </p:tav>
                                        <p:tav tm="100000">
                                          <p:val>
                                            <p:strVal val="#ppt_x"/>
                                          </p:val>
                                        </p:tav>
                                      </p:tavLst>
                                    </p:anim>
                                    <p:anim calcmode="lin" valueType="num">
                                      <p:cBhvr additive="base">
                                        <p:cTn id="8" dur="500" fill="hold"/>
                                        <p:tgtEl>
                                          <p:spTgt spid="1638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28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2" grpId="0"/>
      <p:bldP spid="162819"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latin typeface="Times New Roman" panose="02020603050405020304" pitchFamily="18" charset="0"/>
              </a:rPr>
              <a:pPr lvl="0"/>
              <a:t>15</a:t>
            </a:fld>
            <a:endParaRPr lang="en-US" altLang="zh-CN" sz="1400" b="0" dirty="0">
              <a:latin typeface="Times New Roman" panose="02020603050405020304" pitchFamily="18" charset="0"/>
            </a:endParaRPr>
          </a:p>
        </p:txBody>
      </p:sp>
      <p:sp>
        <p:nvSpPr>
          <p:cNvPr id="163842" name="Rectangle 2"/>
          <p:cNvSpPr/>
          <p:nvPr/>
        </p:nvSpPr>
        <p:spPr>
          <a:xfrm>
            <a:off x="200025" y="577850"/>
            <a:ext cx="8610600" cy="1124585"/>
          </a:xfrm>
          <a:prstGeom prst="rect">
            <a:avLst/>
          </a:prstGeom>
          <a:noFill/>
          <a:ln w="9525">
            <a:noFill/>
          </a:ln>
        </p:spPr>
        <p:txBody>
          <a:bodyPr anchor="t" anchorCtr="0">
            <a:spAutoFit/>
          </a:bodyPr>
          <a:lstStyle/>
          <a:p>
            <a:pPr indent="266700" algn="just">
              <a:lnSpc>
                <a:spcPct val="140000"/>
              </a:lnSpc>
            </a:pPr>
            <a:r>
              <a:rPr lang="zh-CN" altLang="en-US" dirty="0">
                <a:latin typeface="Times New Roman" panose="02020603050405020304" pitchFamily="18" charset="0"/>
                <a:ea typeface="黑体" panose="02010609060101010101" pitchFamily="49" charset="-122"/>
              </a:rPr>
              <a:t>例</a:t>
            </a:r>
            <a:r>
              <a:rPr lang="en-US" altLang="zh-CN" dirty="0">
                <a:latin typeface="Times New Roman" panose="02020603050405020304" pitchFamily="18" charset="0"/>
                <a:ea typeface="黑体" panose="02010609060101010101" pitchFamily="49" charset="-122"/>
              </a:rPr>
              <a:t>4-4 </a:t>
            </a:r>
            <a:r>
              <a:rPr lang="zh-CN" altLang="en-US" dirty="0">
                <a:latin typeface="Times New Roman" panose="02020603050405020304" pitchFamily="18" charset="0"/>
                <a:ea typeface="宋体" panose="02010600030101010101" pitchFamily="2" charset="-122"/>
              </a:rPr>
              <a:t>利用</a:t>
            </a:r>
            <a:r>
              <a:rPr lang="en-US" altLang="zh-CN" dirty="0">
                <a:latin typeface="Times New Roman" panose="02020603050405020304" pitchFamily="18" charset="0"/>
                <a:ea typeface="宋体" panose="02010600030101010101" pitchFamily="2" charset="-122"/>
              </a:rPr>
              <a:t>CJNE</a:t>
            </a:r>
            <a:r>
              <a:rPr lang="zh-CN" altLang="en-US" dirty="0">
                <a:latin typeface="Times New Roman" panose="02020603050405020304" pitchFamily="18" charset="0"/>
                <a:ea typeface="宋体" panose="02010600030101010101" pitchFamily="2" charset="-122"/>
              </a:rPr>
              <a:t>指令为循环控制条件，实现将外部</a:t>
            </a:r>
            <a:r>
              <a:rPr lang="en-US" altLang="zh-CN" dirty="0">
                <a:latin typeface="Times New Roman" panose="02020603050405020304" pitchFamily="18" charset="0"/>
                <a:ea typeface="宋体" panose="02010600030101010101" pitchFamily="2" charset="-122"/>
              </a:rPr>
              <a:t>RAM</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2000H~201FH</a:t>
            </a:r>
            <a:r>
              <a:rPr lang="zh-CN" altLang="en-US" dirty="0">
                <a:latin typeface="Times New Roman" panose="02020603050405020304" pitchFamily="18" charset="0"/>
                <a:ea typeface="宋体" panose="02010600030101010101" pitchFamily="2" charset="-122"/>
              </a:rPr>
              <a:t>单元置为</a:t>
            </a:r>
            <a:r>
              <a:rPr lang="en-US" altLang="zh-CN" dirty="0">
                <a:latin typeface="Times New Roman" panose="02020603050405020304" pitchFamily="18" charset="0"/>
                <a:ea typeface="宋体" panose="02010600030101010101" pitchFamily="2" charset="-122"/>
              </a:rPr>
              <a:t>10H</a:t>
            </a:r>
            <a:r>
              <a:rPr lang="zh-CN" altLang="en-US" dirty="0">
                <a:latin typeface="Times New Roman" panose="02020603050405020304" pitchFamily="18" charset="0"/>
                <a:ea typeface="宋体" panose="02010600030101010101" pitchFamily="2" charset="-122"/>
              </a:rPr>
              <a:t>。</a:t>
            </a:r>
          </a:p>
        </p:txBody>
      </p:sp>
      <p:sp>
        <p:nvSpPr>
          <p:cNvPr id="163843" name="Rectangle 3"/>
          <p:cNvSpPr/>
          <p:nvPr/>
        </p:nvSpPr>
        <p:spPr>
          <a:xfrm>
            <a:off x="533400" y="1773238"/>
            <a:ext cx="8610600" cy="4692650"/>
          </a:xfrm>
          <a:prstGeom prst="rect">
            <a:avLst/>
          </a:prstGeom>
          <a:noFill/>
          <a:ln w="9525">
            <a:noFill/>
          </a:ln>
        </p:spPr>
        <p:txBody>
          <a:bodyPr anchor="t" anchorCtr="0">
            <a:spAutoFit/>
          </a:bodyPr>
          <a:lstStyle/>
          <a:p>
            <a:pPr indent="266700" algn="just" eaLnBrk="0" hangingPunct="0">
              <a:lnSpc>
                <a:spcPct val="140000"/>
              </a:lnSpc>
            </a:pPr>
            <a:r>
              <a:rPr lang="en-US" altLang="zh-CN" dirty="0">
                <a:latin typeface="Times New Roman" panose="02020603050405020304" pitchFamily="18" charset="0"/>
                <a:ea typeface="宋体" panose="02010600030101010101" pitchFamily="2" charset="-122"/>
              </a:rPr>
              <a:t>		ORG   4200H</a:t>
            </a:r>
            <a:endParaRPr lang="en-US" altLang="zh-CN" dirty="0">
              <a:latin typeface="宋体" panose="02010600030101010101" pitchFamily="2" charset="-122"/>
              <a:ea typeface="宋体" panose="02010600030101010101" pitchFamily="2" charset="-122"/>
            </a:endParaRPr>
          </a:p>
          <a:p>
            <a:pPr indent="266700" algn="just" eaLnBrk="0" hangingPunct="0">
              <a:lnSpc>
                <a:spcPct val="140000"/>
              </a:lnSpc>
            </a:pPr>
            <a:r>
              <a:rPr lang="en-US" altLang="zh-CN" dirty="0">
                <a:latin typeface="Times New Roman" panose="02020603050405020304" pitchFamily="18" charset="0"/>
                <a:ea typeface="宋体" panose="02010600030101010101" pitchFamily="2" charset="-122"/>
              </a:rPr>
              <a:t>START1</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R0</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；循环初始值</a:t>
            </a:r>
            <a:endParaRPr lang="zh-CN" altLang="en-US" dirty="0">
              <a:latin typeface="宋体" panose="02010600030101010101" pitchFamily="2" charset="-122"/>
              <a:ea typeface="宋体" panose="02010600030101010101" pitchFamily="2" charset="-122"/>
            </a:endParaRPr>
          </a:p>
          <a:p>
            <a:pPr indent="266700"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DPTR</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#2000H	</a:t>
            </a:r>
          </a:p>
          <a:p>
            <a:pPr indent="266700" algn="just" eaLnBrk="0" hangingPunct="0">
              <a:lnSpc>
                <a:spcPct val="140000"/>
              </a:lnSpc>
            </a:pPr>
            <a:r>
              <a:rPr lang="en-US" altLang="zh-CN" dirty="0">
                <a:latin typeface="Times New Roman" panose="02020603050405020304" pitchFamily="18" charset="0"/>
                <a:ea typeface="宋体" panose="02010600030101010101" pitchFamily="2" charset="-122"/>
              </a:rPr>
              <a:t>	            </a:t>
            </a:r>
            <a:r>
              <a:rPr lang="en-US" altLang="zh-CN" dirty="0">
                <a:solidFill>
                  <a:schemeClr val="accent2"/>
                </a:solidFill>
                <a:latin typeface="Times New Roman" panose="02020603050405020304" pitchFamily="18" charset="0"/>
                <a:ea typeface="宋体" panose="02010600030101010101" pitchFamily="2" charset="-122"/>
              </a:rPr>
              <a:t>MOV	A</a:t>
            </a:r>
            <a:r>
              <a:rPr lang="zh-CN" altLang="en-US" dirty="0">
                <a:solidFill>
                  <a:schemeClr val="accent2"/>
                </a:solidFill>
                <a:latin typeface="Times New Roman" panose="02020603050405020304" pitchFamily="18" charset="0"/>
                <a:ea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rPr>
              <a:t>#10H</a:t>
            </a:r>
            <a:endParaRPr lang="en-US" altLang="zh-CN" dirty="0">
              <a:solidFill>
                <a:schemeClr val="accent2"/>
              </a:solidFill>
              <a:latin typeface="宋体" panose="02010600030101010101" pitchFamily="2" charset="-122"/>
              <a:ea typeface="宋体" panose="02010600030101010101" pitchFamily="2" charset="-122"/>
            </a:endParaRPr>
          </a:p>
          <a:p>
            <a:pPr indent="266700" algn="just" eaLnBrk="0" hangingPunct="0">
              <a:lnSpc>
                <a:spcPct val="140000"/>
              </a:lnSpc>
            </a:pPr>
            <a:r>
              <a:rPr lang="en-US" altLang="zh-CN" dirty="0">
                <a:latin typeface="Times New Roman" panose="02020603050405020304" pitchFamily="18" charset="0"/>
                <a:ea typeface="宋体" panose="02010600030101010101" pitchFamily="2" charset="-122"/>
              </a:rPr>
              <a:t>LOOP1</a:t>
            </a:r>
            <a:r>
              <a:rPr lang="zh-CN" altLang="en-US" dirty="0">
                <a:latin typeface="Times New Roman" panose="02020603050405020304" pitchFamily="18" charset="0"/>
                <a:ea typeface="宋体" panose="02010600030101010101" pitchFamily="2" charset="-122"/>
              </a:rPr>
              <a:t>： </a:t>
            </a:r>
            <a:r>
              <a:rPr lang="zh-CN" altLang="en-US" dirty="0">
                <a:solidFill>
                  <a:schemeClr val="accent2"/>
                </a:solidFill>
                <a:latin typeface="Times New Roman" panose="02020603050405020304" pitchFamily="18" charset="0"/>
                <a:ea typeface="宋体" panose="02010600030101010101" pitchFamily="2" charset="-122"/>
              </a:rPr>
              <a:t>	</a:t>
            </a:r>
            <a:r>
              <a:rPr lang="en-US" altLang="zh-CN" dirty="0">
                <a:solidFill>
                  <a:schemeClr val="accent2"/>
                </a:solidFill>
                <a:latin typeface="Times New Roman" panose="02020603050405020304" pitchFamily="18" charset="0"/>
                <a:ea typeface="宋体" panose="02010600030101010101" pitchFamily="2" charset="-122"/>
              </a:rPr>
              <a:t>MOVX  @DPTR, A		</a:t>
            </a:r>
            <a:endParaRPr lang="en-US" altLang="zh-CN" dirty="0">
              <a:solidFill>
                <a:schemeClr val="accent2"/>
              </a:solidFill>
              <a:latin typeface="宋体" panose="02010600030101010101" pitchFamily="2" charset="-122"/>
              <a:ea typeface="宋体" panose="02010600030101010101" pitchFamily="2" charset="-122"/>
            </a:endParaRPr>
          </a:p>
          <a:p>
            <a:pPr indent="266700" algn="just" eaLnBrk="0" hangingPunct="0">
              <a:lnSpc>
                <a:spcPct val="140000"/>
              </a:lnSpc>
            </a:pPr>
            <a:r>
              <a:rPr lang="en-US" altLang="zh-CN" dirty="0">
                <a:solidFill>
                  <a:schemeClr val="accent2"/>
                </a:solidFill>
                <a:latin typeface="Times New Roman" panose="02020603050405020304" pitchFamily="18" charset="0"/>
                <a:ea typeface="宋体" panose="02010600030101010101" pitchFamily="2" charset="-122"/>
              </a:rPr>
              <a:t>		INC	DPTR			</a:t>
            </a:r>
            <a:endParaRPr lang="en-US" altLang="zh-CN" dirty="0">
              <a:solidFill>
                <a:schemeClr val="accent2"/>
              </a:solidFill>
              <a:latin typeface="宋体" panose="02010600030101010101" pitchFamily="2" charset="-122"/>
              <a:ea typeface="宋体" panose="02010600030101010101" pitchFamily="2" charset="-122"/>
            </a:endParaRPr>
          </a:p>
          <a:p>
            <a:pPr indent="266700" algn="just" eaLnBrk="0" hangingPunct="0">
              <a:lnSpc>
                <a:spcPct val="140000"/>
              </a:lnSpc>
            </a:pPr>
            <a:r>
              <a:rPr lang="en-US" altLang="zh-CN" dirty="0">
                <a:solidFill>
                  <a:schemeClr val="accent2"/>
                </a:solidFill>
                <a:latin typeface="Times New Roman" panose="02020603050405020304" pitchFamily="18" charset="0"/>
                <a:ea typeface="宋体" panose="02010600030101010101" pitchFamily="2" charset="-122"/>
              </a:rPr>
              <a:t>		INC	R0</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；循环次数加</a:t>
            </a:r>
            <a:r>
              <a:rPr lang="en-US" altLang="zh-CN" dirty="0">
                <a:latin typeface="Times New Roman" panose="02020603050405020304" pitchFamily="18" charset="0"/>
                <a:ea typeface="宋体" panose="02010600030101010101" pitchFamily="2" charset="-122"/>
              </a:rPr>
              <a:t>1</a:t>
            </a:r>
            <a:endParaRPr lang="en-US" altLang="zh-CN" dirty="0">
              <a:latin typeface="宋体" panose="02010600030101010101" pitchFamily="2" charset="-122"/>
              <a:ea typeface="宋体" panose="02010600030101010101" pitchFamily="2" charset="-122"/>
            </a:endParaRPr>
          </a:p>
          <a:p>
            <a:pPr indent="266700" algn="just" eaLnBrk="0" hangingPunct="0">
              <a:lnSpc>
                <a:spcPct val="140000"/>
              </a:lnSpc>
            </a:pPr>
            <a:r>
              <a:rPr lang="en-US" altLang="zh-CN" dirty="0">
                <a:latin typeface="Times New Roman" panose="02020603050405020304" pitchFamily="18" charset="0"/>
                <a:ea typeface="宋体" panose="02010600030101010101" pitchFamily="2" charset="-122"/>
              </a:rPr>
              <a:t>		</a:t>
            </a:r>
            <a:r>
              <a:rPr lang="en-US" altLang="zh-CN" dirty="0">
                <a:solidFill>
                  <a:srgbClr val="FF3300"/>
                </a:solidFill>
                <a:latin typeface="Times New Roman" panose="02020603050405020304" pitchFamily="18" charset="0"/>
                <a:ea typeface="宋体" panose="02010600030101010101" pitchFamily="2" charset="-122"/>
              </a:rPr>
              <a:t>CJNE	R0, #20H, LOOP1</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；循环控制</a:t>
            </a:r>
          </a:p>
          <a:p>
            <a:pPr indent="266700"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END</a:t>
            </a:r>
            <a:endParaRPr lang="en-US" altLang="zh-CN" dirty="0">
              <a:latin typeface="Times New Roman" panose="02020603050405020304" pitchFamily="18" charset="0"/>
              <a:ea typeface="Times New Roman" panose="02020603050405020304" pitchFamily="18"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42"/>
                                        </p:tgtEl>
                                        <p:attrNameLst>
                                          <p:attrName>style.visibility</p:attrName>
                                        </p:attrNameLst>
                                      </p:cBhvr>
                                      <p:to>
                                        <p:strVal val="visible"/>
                                      </p:to>
                                    </p:set>
                                    <p:anim calcmode="lin" valueType="num">
                                      <p:cBhvr>
                                        <p:cTn id="7" dur="500" fill="hold"/>
                                        <p:tgtEl>
                                          <p:spTgt spid="163842"/>
                                        </p:tgtEl>
                                        <p:attrNameLst>
                                          <p:attrName>ppt_x</p:attrName>
                                        </p:attrNameLst>
                                      </p:cBhvr>
                                      <p:tavLst>
                                        <p:tav tm="0">
                                          <p:val>
                                            <p:strVal val="#ppt_x"/>
                                          </p:val>
                                        </p:tav>
                                        <p:tav tm="100000">
                                          <p:val>
                                            <p:strVal val="#ppt_x"/>
                                          </p:val>
                                        </p:tav>
                                      </p:tavLst>
                                    </p:anim>
                                    <p:anim calcmode="lin" valueType="num">
                                      <p:cBhvr>
                                        <p:cTn id="8" dur="500" fill="hold"/>
                                        <p:tgtEl>
                                          <p:spTgt spid="16384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163843"/>
                                        </p:tgtEl>
                                        <p:attrNameLst>
                                          <p:attrName>style.visibility</p:attrName>
                                        </p:attrNameLst>
                                      </p:cBhvr>
                                      <p:to>
                                        <p:strVal val="visible"/>
                                      </p:to>
                                    </p:set>
                                    <p:animEffect transition="in" filter="diamond(in)">
                                      <p:cBhvr>
                                        <p:cTn id="13" dur="2000"/>
                                        <p:tgtEl>
                                          <p:spTgt spid="163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2" grpId="0"/>
      <p:bldP spid="16384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en-US" altLang="zh-CN" sz="1400" b="0" dirty="0">
                <a:latin typeface="Times New Roman" panose="02020603050405020304" pitchFamily="18" charset="0"/>
              </a:rPr>
              <a:pPr lvl="0" algn="r"/>
              <a:t>16</a:t>
            </a:fld>
            <a:endParaRPr lang="en-US" altLang="zh-CN" sz="1400" b="0" dirty="0">
              <a:latin typeface="Times New Roman" panose="02020603050405020304" pitchFamily="18" charset="0"/>
            </a:endParaRPr>
          </a:p>
        </p:txBody>
      </p:sp>
      <p:sp>
        <p:nvSpPr>
          <p:cNvPr id="84996" name="Rectangle 4"/>
          <p:cNvSpPr/>
          <p:nvPr/>
        </p:nvSpPr>
        <p:spPr>
          <a:xfrm>
            <a:off x="533400" y="685800"/>
            <a:ext cx="8153400" cy="4743450"/>
          </a:xfrm>
          <a:prstGeom prst="rect">
            <a:avLst/>
          </a:prstGeom>
          <a:noFill/>
          <a:ln w="9525">
            <a:noFill/>
          </a:ln>
        </p:spPr>
        <p:txBody>
          <a:bodyPr anchor="t" anchorCtr="0">
            <a:spAutoFit/>
          </a:bodyPr>
          <a:lstStyle/>
          <a:p>
            <a:pPr indent="236855" algn="just" eaLnBrk="0" hangingPunct="0">
              <a:lnSpc>
                <a:spcPct val="140000"/>
              </a:lnSpc>
            </a:pPr>
            <a:r>
              <a:rPr lang="en-US" altLang="zh-CN" dirty="0">
                <a:solidFill>
                  <a:srgbClr val="FF0000"/>
                </a:solidFill>
                <a:latin typeface="Courier New" panose="02070309020205020404" pitchFamily="49"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indent="236855" algn="just" eaLnBrk="0" hangingPunct="0">
              <a:lnSpc>
                <a:spcPct val="140000"/>
              </a:lnSpc>
            </a:pPr>
            <a:endParaRPr lang="zh-CN" altLang="en-US" dirty="0">
              <a:solidFill>
                <a:srgbClr val="FF0000"/>
              </a:solidFill>
              <a:latin typeface="Times New Roman" panose="02020603050405020304" pitchFamily="18" charset="0"/>
              <a:ea typeface="宋体" panose="02010600030101010101" pitchFamily="2" charset="-122"/>
            </a:endParaRPr>
          </a:p>
          <a:p>
            <a:pPr indent="236855" algn="just" eaLnBrk="0" hangingPunct="0">
              <a:lnSpc>
                <a:spcPct val="140000"/>
              </a:lnSpc>
            </a:pPr>
            <a:r>
              <a:rPr lang="zh-CN" altLang="en-US" dirty="0">
                <a:solidFill>
                  <a:srgbClr val="FF0000"/>
                </a:solidFill>
                <a:latin typeface="Times New Roman" panose="02020603050405020304" pitchFamily="18" charset="0"/>
                <a:ea typeface="宋体" panose="02010600030101010101" pitchFamily="2" charset="-122"/>
              </a:rPr>
              <a:t>循环转移指令（或称为减</a:t>
            </a: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solidFill>
                  <a:srgbClr val="FF0000"/>
                </a:solidFill>
                <a:latin typeface="Times New Roman" panose="02020603050405020304" pitchFamily="18" charset="0"/>
                <a:ea typeface="宋体" panose="02010600030101010101" pitchFamily="2" charset="-122"/>
              </a:rPr>
              <a:t>非零转移指令）</a:t>
            </a:r>
            <a:endParaRPr lang="zh-CN" altLang="en-US" dirty="0">
              <a:latin typeface="Times New Roman" panose="02020603050405020304" pitchFamily="18" charset="0"/>
              <a:ea typeface="宋体" panose="02010600030101010101" pitchFamily="2" charset="-122"/>
            </a:endParaRPr>
          </a:p>
          <a:p>
            <a:pPr indent="23685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zh-CN" altLang="en-US" dirty="0">
                <a:solidFill>
                  <a:schemeClr val="accent2"/>
                </a:solidFill>
                <a:latin typeface="Times New Roman" panose="02020603050405020304" pitchFamily="18" charset="0"/>
                <a:ea typeface="宋体" panose="02010600030101010101" pitchFamily="2" charset="-122"/>
              </a:rPr>
              <a:t>　</a:t>
            </a:r>
            <a:r>
              <a:rPr lang="en-US" altLang="zh-CN" dirty="0">
                <a:solidFill>
                  <a:schemeClr val="accent2"/>
                </a:solidFill>
                <a:latin typeface="Times New Roman" panose="02020603050405020304" pitchFamily="18" charset="0"/>
                <a:ea typeface="宋体" panose="02010600030101010101" pitchFamily="2" charset="-122"/>
              </a:rPr>
              <a:t>DJNZ  	Rn</a:t>
            </a:r>
            <a:r>
              <a:rPr lang="zh-CN" altLang="en-US" dirty="0">
                <a:solidFill>
                  <a:schemeClr val="accent2"/>
                </a:solidFill>
                <a:latin typeface="Times New Roman" panose="02020603050405020304" pitchFamily="18" charset="0"/>
                <a:ea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rPr>
              <a:t>rel</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；两字节指令</a:t>
            </a:r>
          </a:p>
          <a:p>
            <a:pPr indent="236855" algn="just" eaLnBrk="0" hangingPunct="0">
              <a:lnSpc>
                <a:spcPct val="140000"/>
              </a:lnSpc>
            </a:pPr>
            <a:r>
              <a:rPr lang="zh-CN" altLang="en-US" dirty="0">
                <a:latin typeface="Times New Roman" panose="02020603050405020304" pitchFamily="18" charset="0"/>
                <a:ea typeface="宋体" panose="02010600030101010101" pitchFamily="2" charset="-122"/>
              </a:rPr>
              <a:t>			</a:t>
            </a:r>
          </a:p>
          <a:p>
            <a:pPr indent="236855" algn="just" eaLnBrk="0" hangingPunct="0">
              <a:lnSpc>
                <a:spcPct val="14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p>
          <a:p>
            <a:pPr indent="236855" algn="just" eaLnBrk="0" hangingPunct="0">
              <a:lnSpc>
                <a:spcPct val="14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；若</a:t>
            </a:r>
            <a:r>
              <a:rPr lang="en-US" altLang="zh-CN" dirty="0">
                <a:latin typeface="Times New Roman" panose="02020603050405020304" pitchFamily="18" charset="0"/>
                <a:ea typeface="宋体" panose="02010600030101010101" pitchFamily="2" charset="-122"/>
              </a:rPr>
              <a:t>(Rn)≠0</a:t>
            </a:r>
            <a:r>
              <a:rPr lang="zh-CN" altLang="en-US" dirty="0">
                <a:latin typeface="Times New Roman" panose="02020603050405020304" pitchFamily="18" charset="0"/>
                <a:ea typeface="宋体" panose="02010600030101010101" pitchFamily="2" charset="-122"/>
              </a:rPr>
              <a:t>，则跳转 </a:t>
            </a:r>
          </a:p>
          <a:p>
            <a:pPr indent="236855" algn="just" eaLnBrk="0" hangingPunct="0">
              <a:lnSpc>
                <a:spcPct val="140000"/>
              </a:lnSpc>
            </a:pPr>
            <a:r>
              <a:rPr lang="zh-CN" altLang="en-US" dirty="0">
                <a:latin typeface="Times New Roman" panose="02020603050405020304" pitchFamily="18" charset="0"/>
                <a:ea typeface="宋体" panose="02010600030101010101" pitchFamily="2" charset="-122"/>
              </a:rPr>
              <a:t>			；若（</a:t>
            </a:r>
            <a:r>
              <a:rPr lang="en-US" altLang="zh-CN" dirty="0">
                <a:latin typeface="Times New Roman" panose="02020603050405020304" pitchFamily="18" charset="0"/>
                <a:ea typeface="宋体" panose="02010600030101010101" pitchFamily="2" charset="-122"/>
              </a:rPr>
              <a:t>Rn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 则顺序执行</a:t>
            </a:r>
          </a:p>
          <a:p>
            <a:pPr indent="236855" algn="just" eaLnBrk="0" hangingPunct="0">
              <a:lnSpc>
                <a:spcPct val="140000"/>
              </a:lnSpc>
            </a:pPr>
            <a:r>
              <a:rPr lang="zh-CN" altLang="en-US" dirty="0">
                <a:latin typeface="Times New Roman" panose="02020603050405020304" pitchFamily="18" charset="0"/>
                <a:ea typeface="宋体" panose="02010600030101010101" pitchFamily="2" charset="-122"/>
              </a:rPr>
              <a:t>	</a:t>
            </a:r>
          </a:p>
        </p:txBody>
      </p:sp>
      <p:sp>
        <p:nvSpPr>
          <p:cNvPr id="84997" name="Rectangle 5"/>
          <p:cNvSpPr/>
          <p:nvPr/>
        </p:nvSpPr>
        <p:spPr>
          <a:xfrm>
            <a:off x="533400" y="5372100"/>
            <a:ext cx="7775575" cy="457200"/>
          </a:xfrm>
          <a:prstGeom prst="rect">
            <a:avLst/>
          </a:prstGeom>
          <a:noFill/>
          <a:ln w="9525">
            <a:noFill/>
          </a:ln>
        </p:spPr>
        <p:txBody>
          <a:bodyPr anchor="t" anchorCtr="0">
            <a:spAutoFit/>
          </a:bodyPr>
          <a:lstStyle/>
          <a:p>
            <a:pPr eaLnBrk="0" hangingPunct="0"/>
            <a:r>
              <a:rPr lang="en-US" altLang="zh-CN" dirty="0">
                <a:latin typeface="Times New Roman" panose="02020603050405020304" pitchFamily="18" charset="0"/>
                <a:ea typeface="宋体" panose="02010600030101010101" pitchFamily="2" charset="-122"/>
              </a:rPr>
              <a:t>	   </a:t>
            </a:r>
            <a:r>
              <a:rPr lang="en-US" altLang="zh-CN" dirty="0">
                <a:solidFill>
                  <a:schemeClr val="accent2"/>
                </a:solidFill>
                <a:latin typeface="Times New Roman" panose="02020603050405020304" pitchFamily="18" charset="0"/>
                <a:ea typeface="宋体" panose="02010600030101010101" pitchFamily="2" charset="-122"/>
              </a:rPr>
              <a:t>DJNZ  direct</a:t>
            </a:r>
            <a:r>
              <a:rPr lang="zh-CN" altLang="en-US" dirty="0">
                <a:solidFill>
                  <a:schemeClr val="accent2"/>
                </a:solidFill>
                <a:latin typeface="Times New Roman" panose="02020603050405020304" pitchFamily="18" charset="0"/>
                <a:ea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rPr>
              <a:t>rel</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；三字节指令</a:t>
            </a:r>
          </a:p>
        </p:txBody>
      </p:sp>
      <p:sp>
        <p:nvSpPr>
          <p:cNvPr id="22532" name="文本框 1"/>
          <p:cNvSpPr txBox="1"/>
          <p:nvPr/>
        </p:nvSpPr>
        <p:spPr>
          <a:xfrm>
            <a:off x="539750" y="850900"/>
            <a:ext cx="6064250" cy="460375"/>
          </a:xfrm>
          <a:prstGeom prst="rect">
            <a:avLst/>
          </a:prstGeom>
          <a:noFill/>
          <a:ln w="9525">
            <a:noFill/>
          </a:ln>
        </p:spPr>
        <p:txBody>
          <a:bodyPr anchor="t" anchorCtr="0">
            <a:spAutoFit/>
          </a:bodyPr>
          <a:lstStyle/>
          <a:p>
            <a:pPr eaLnBrk="0" hangingPunct="0"/>
            <a:r>
              <a:rPr lang="en-US" altLang="zh-CN" dirty="0">
                <a:latin typeface="Times New Roman" panose="02020603050405020304" pitchFamily="18" charset="0"/>
                <a:ea typeface="宋体" panose="02010600030101010101" pitchFamily="2" charset="-122"/>
              </a:rPr>
              <a:t>循环程序中常用的指令:  DJNZ,  CJNE</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4996"/>
                                        </p:tgtEl>
                                        <p:attrNameLst>
                                          <p:attrName>style.visibility</p:attrName>
                                        </p:attrNameLst>
                                      </p:cBhvr>
                                      <p:to>
                                        <p:strVal val="visible"/>
                                      </p:to>
                                    </p:set>
                                    <p:anim calcmode="lin" valueType="num">
                                      <p:cBhvr>
                                        <p:cTn id="7" dur="500" fill="hold"/>
                                        <p:tgtEl>
                                          <p:spTgt spid="84996"/>
                                        </p:tgtEl>
                                        <p:attrNameLst>
                                          <p:attrName>ppt_x</p:attrName>
                                        </p:attrNameLst>
                                      </p:cBhvr>
                                      <p:tavLst>
                                        <p:tav tm="0">
                                          <p:val>
                                            <p:strVal val="#ppt_x"/>
                                          </p:val>
                                        </p:tav>
                                        <p:tav tm="100000">
                                          <p:val>
                                            <p:strVal val="#ppt_x"/>
                                          </p:val>
                                        </p:tav>
                                      </p:tavLst>
                                    </p:anim>
                                    <p:anim calcmode="lin" valueType="num">
                                      <p:cBhvr>
                                        <p:cTn id="8" dur="500" fill="hold"/>
                                        <p:tgtEl>
                                          <p:spTgt spid="8499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84997"/>
                                        </p:tgtEl>
                                        <p:attrNameLst>
                                          <p:attrName>style.visibility</p:attrName>
                                        </p:attrNameLst>
                                      </p:cBhvr>
                                      <p:to>
                                        <p:strVal val="visible"/>
                                      </p:to>
                                    </p:set>
                                    <p:animEffect transition="in" filter="diamond(in)">
                                      <p:cBhvr>
                                        <p:cTn id="13" dur="2000"/>
                                        <p:tgtEl>
                                          <p:spTgt spid="849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p:bldP spid="8499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15938" y="877888"/>
            <a:ext cx="5383212" cy="1938337"/>
          </a:xfrm>
          <a:prstGeom prst="rect">
            <a:avLst/>
          </a:prstGeom>
          <a:noFill/>
          <a:ln w="9525">
            <a:noFill/>
          </a:ln>
        </p:spPr>
        <p:txBody>
          <a:bodyPr wrap="none" anchor="t" anchorCtr="0">
            <a:spAutoFit/>
          </a:bodyPr>
          <a:lstStyle/>
          <a:p>
            <a:pPr eaLnBrk="0" hangingPunct="0"/>
            <a:r>
              <a:rPr lang="en-US" altLang="zh-CN" dirty="0">
                <a:solidFill>
                  <a:schemeClr val="accent2"/>
                </a:solidFill>
                <a:latin typeface="Times New Roman" panose="02020603050405020304" pitchFamily="18" charset="0"/>
                <a:ea typeface="宋体" panose="02010600030101010101" pitchFamily="2" charset="-122"/>
              </a:rPr>
              <a:t>		MOV              R1,  #10</a:t>
            </a:r>
          </a:p>
          <a:p>
            <a:pPr eaLnBrk="0" hangingPunct="0"/>
            <a:endParaRPr lang="en-US" altLang="zh-CN" dirty="0">
              <a:solidFill>
                <a:schemeClr val="accent2"/>
              </a:solidFill>
              <a:latin typeface="Times New Roman" panose="02020603050405020304" pitchFamily="18" charset="0"/>
              <a:ea typeface="宋体" panose="02010600030101010101" pitchFamily="2" charset="-122"/>
            </a:endParaRPr>
          </a:p>
          <a:p>
            <a:pPr eaLnBrk="0" hangingPunct="0"/>
            <a:r>
              <a:rPr lang="en-US" altLang="zh-CN" dirty="0">
                <a:solidFill>
                  <a:schemeClr val="accent2"/>
                </a:solidFill>
                <a:latin typeface="Times New Roman" panose="02020603050405020304" pitchFamily="18" charset="0"/>
                <a:ea typeface="宋体" panose="02010600030101010101" pitchFamily="2" charset="-122"/>
              </a:rPr>
              <a:t>LOOP:           .....</a:t>
            </a:r>
          </a:p>
          <a:p>
            <a:pPr eaLnBrk="0" hangingPunct="0"/>
            <a:endParaRPr lang="en-US" altLang="zh-CN" dirty="0">
              <a:solidFill>
                <a:schemeClr val="accent2"/>
              </a:solidFill>
              <a:latin typeface="Times New Roman" panose="02020603050405020304" pitchFamily="18" charset="0"/>
              <a:ea typeface="宋体" panose="02010600030101010101" pitchFamily="2" charset="-122"/>
            </a:endParaRPr>
          </a:p>
          <a:p>
            <a:pPr eaLnBrk="0" hangingPunct="0"/>
            <a:r>
              <a:rPr lang="en-US" altLang="zh-CN" dirty="0">
                <a:solidFill>
                  <a:schemeClr val="accent2"/>
                </a:solidFill>
                <a:latin typeface="Times New Roman" panose="02020603050405020304" pitchFamily="18" charset="0"/>
                <a:ea typeface="宋体" panose="02010600030101010101" pitchFamily="2" charset="-122"/>
              </a:rPr>
              <a:t>		DJNZ  	R1</a:t>
            </a:r>
            <a:r>
              <a:rPr lang="zh-CN" altLang="en-US" dirty="0">
                <a:solidFill>
                  <a:schemeClr val="accent2"/>
                </a:solidFill>
                <a:latin typeface="Times New Roman" panose="02020603050405020304" pitchFamily="18" charset="0"/>
                <a:ea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rPr>
              <a:t>LOOP</a:t>
            </a:r>
            <a:endParaRPr lang="zh-CN" altLang="en-US" dirty="0">
              <a:latin typeface="Times New Roman" panose="02020603050405020304" pitchFamily="18" charset="0"/>
              <a:ea typeface="宋体" panose="02010600030101010101" pitchFamily="2" charset="-122"/>
            </a:endParaRPr>
          </a:p>
        </p:txBody>
      </p:sp>
      <p:sp>
        <p:nvSpPr>
          <p:cNvPr id="3" name="文本框 2"/>
          <p:cNvSpPr txBox="1"/>
          <p:nvPr/>
        </p:nvSpPr>
        <p:spPr>
          <a:xfrm>
            <a:off x="412750" y="3605213"/>
            <a:ext cx="5381625" cy="1938337"/>
          </a:xfrm>
          <a:prstGeom prst="rect">
            <a:avLst/>
          </a:prstGeom>
          <a:noFill/>
          <a:ln w="9525">
            <a:noFill/>
          </a:ln>
        </p:spPr>
        <p:txBody>
          <a:bodyPr wrap="none" anchor="t" anchorCtr="0">
            <a:spAutoFit/>
          </a:bodyPr>
          <a:lstStyle/>
          <a:p>
            <a:pPr eaLnBrk="0" hangingPunct="0"/>
            <a:r>
              <a:rPr lang="en-US" altLang="zh-CN" dirty="0">
                <a:solidFill>
                  <a:schemeClr val="accent2"/>
                </a:solidFill>
                <a:latin typeface="Times New Roman" panose="02020603050405020304" pitchFamily="18" charset="0"/>
                <a:ea typeface="宋体" panose="02010600030101010101" pitchFamily="2" charset="-122"/>
                <a:sym typeface="宋体" panose="02010600030101010101" pitchFamily="2" charset="-122"/>
              </a:rPr>
              <a:t>		MOV              R1,  #0</a:t>
            </a:r>
          </a:p>
          <a:p>
            <a:pPr eaLnBrk="0" hangingPunct="0"/>
            <a:endParaRPr lang="en-US" altLang="zh-CN" dirty="0">
              <a:solidFill>
                <a:schemeClr val="accent2"/>
              </a:solidFill>
              <a:latin typeface="Times New Roman" panose="02020603050405020304" pitchFamily="18" charset="0"/>
              <a:ea typeface="宋体" panose="02010600030101010101" pitchFamily="2" charset="-122"/>
              <a:sym typeface="宋体" panose="02010600030101010101" pitchFamily="2" charset="-122"/>
            </a:endParaRPr>
          </a:p>
          <a:p>
            <a:pPr eaLnBrk="0" hangingPunct="0"/>
            <a:r>
              <a:rPr lang="en-US" altLang="zh-CN" dirty="0">
                <a:solidFill>
                  <a:schemeClr val="accent2"/>
                </a:solidFill>
                <a:latin typeface="Times New Roman" panose="02020603050405020304" pitchFamily="18" charset="0"/>
                <a:ea typeface="宋体" panose="02010600030101010101" pitchFamily="2" charset="-122"/>
                <a:sym typeface="宋体" panose="02010600030101010101" pitchFamily="2" charset="-122"/>
              </a:rPr>
              <a:t>LOOP:           .....</a:t>
            </a:r>
          </a:p>
          <a:p>
            <a:pPr eaLnBrk="0" hangingPunct="0"/>
            <a:endParaRPr lang="en-US" altLang="zh-CN" dirty="0">
              <a:solidFill>
                <a:schemeClr val="accent2"/>
              </a:solidFill>
              <a:latin typeface="Times New Roman" panose="02020603050405020304" pitchFamily="18" charset="0"/>
              <a:ea typeface="宋体" panose="02010600030101010101" pitchFamily="2" charset="-122"/>
              <a:sym typeface="宋体" panose="02010600030101010101" pitchFamily="2" charset="-122"/>
            </a:endParaRPr>
          </a:p>
          <a:p>
            <a:pPr eaLnBrk="0" hangingPunct="0"/>
            <a:r>
              <a:rPr lang="en-US" altLang="zh-CN" dirty="0">
                <a:solidFill>
                  <a:schemeClr val="accent2"/>
                </a:solidFill>
                <a:latin typeface="Times New Roman" panose="02020603050405020304" pitchFamily="18" charset="0"/>
                <a:ea typeface="宋体" panose="02010600030101010101" pitchFamily="2" charset="-122"/>
                <a:sym typeface="宋体" panose="02010600030101010101" pitchFamily="2" charset="-122"/>
              </a:rPr>
              <a:t>		DJNZ  	R1</a:t>
            </a:r>
            <a:r>
              <a:rPr lang="zh-CN" altLang="en-US" dirty="0">
                <a:solidFill>
                  <a:schemeClr val="accent2"/>
                </a:solidFill>
                <a:latin typeface="Times New Roman" panose="02020603050405020304" pitchFamily="18" charset="0"/>
                <a:ea typeface="宋体" panose="02010600030101010101" pitchFamily="2" charset="-122"/>
                <a:sym typeface="宋体" panose="02010600030101010101" pitchFamily="2" charset="-122"/>
              </a:rPr>
              <a:t>，</a:t>
            </a:r>
            <a:r>
              <a:rPr lang="en-US" altLang="zh-CN" dirty="0">
                <a:solidFill>
                  <a:schemeClr val="accent2"/>
                </a:solidFill>
                <a:latin typeface="Times New Roman" panose="02020603050405020304" pitchFamily="18" charset="0"/>
                <a:ea typeface="宋体" panose="02010600030101010101" pitchFamily="2" charset="-122"/>
                <a:sym typeface="宋体" panose="02010600030101010101" pitchFamily="2" charset="-122"/>
              </a:rPr>
              <a:t>LOOP</a:t>
            </a:r>
            <a:endParaRPr lang="zh-CN" altLang="en-US" dirty="0">
              <a:latin typeface="Times New Roman" panose="02020603050405020304" pitchFamily="18" charset="0"/>
              <a:ea typeface="宋体" panose="02010600030101010101" pitchFamily="2" charset="-122"/>
            </a:endParaRPr>
          </a:p>
        </p:txBody>
      </p:sp>
      <p:sp>
        <p:nvSpPr>
          <p:cNvPr id="23555" name="文本框 3"/>
          <p:cNvSpPr txBox="1"/>
          <p:nvPr/>
        </p:nvSpPr>
        <p:spPr>
          <a:xfrm>
            <a:off x="6429375" y="1289050"/>
            <a:ext cx="2501900" cy="460375"/>
          </a:xfrm>
          <a:prstGeom prst="rect">
            <a:avLst/>
          </a:prstGeom>
          <a:noFill/>
          <a:ln w="9525">
            <a:noFill/>
          </a:ln>
        </p:spPr>
        <p:txBody>
          <a:bodyPr anchor="t" anchorCtr="0">
            <a:spAutoFit/>
          </a:bodyPr>
          <a:lstStyle/>
          <a:p>
            <a:pPr eaLnBrk="0" hangingPunct="0"/>
            <a:r>
              <a:rPr lang="zh-CN" altLang="zh-CN" dirty="0">
                <a:latin typeface="Times New Roman" panose="02020603050405020304" pitchFamily="18" charset="0"/>
                <a:ea typeface="宋体" panose="02010600030101010101" pitchFamily="2" charset="-122"/>
              </a:rPr>
              <a:t>循环次数：</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次</a:t>
            </a:r>
          </a:p>
        </p:txBody>
      </p:sp>
      <p:sp>
        <p:nvSpPr>
          <p:cNvPr id="23556" name="文本框 4"/>
          <p:cNvSpPr txBox="1"/>
          <p:nvPr/>
        </p:nvSpPr>
        <p:spPr>
          <a:xfrm>
            <a:off x="6429375" y="3768725"/>
            <a:ext cx="2501900" cy="1198563"/>
          </a:xfrm>
          <a:prstGeom prst="rect">
            <a:avLst/>
          </a:prstGeom>
          <a:noFill/>
          <a:ln w="9525">
            <a:noFill/>
          </a:ln>
        </p:spPr>
        <p:txBody>
          <a:bodyPr anchor="t" anchorCtr="0">
            <a:spAutoFit/>
          </a:bodyPr>
          <a:lstStyle/>
          <a:p>
            <a:pPr eaLnBrk="0" hangingPunct="0">
              <a:lnSpc>
                <a:spcPct val="150000"/>
              </a:lnSpc>
            </a:pPr>
            <a:r>
              <a:rPr lang="en-US" altLang="zh-CN" dirty="0">
                <a:latin typeface="Times New Roman" panose="02020603050405020304" pitchFamily="18" charset="0"/>
                <a:ea typeface="宋体" panose="02010600030101010101" pitchFamily="2" charset="-122"/>
              </a:rPr>
              <a:t>0-1=-1=0FFH</a:t>
            </a:r>
            <a:endParaRPr lang="zh-CN" altLang="zh-CN" dirty="0">
              <a:latin typeface="Times New Roman" panose="02020603050405020304" pitchFamily="18" charset="0"/>
              <a:ea typeface="宋体" panose="02010600030101010101" pitchFamily="2" charset="-122"/>
            </a:endParaRPr>
          </a:p>
          <a:p>
            <a:pPr eaLnBrk="0" hangingPunct="0">
              <a:lnSpc>
                <a:spcPct val="150000"/>
              </a:lnSpc>
            </a:pPr>
            <a:r>
              <a:rPr lang="zh-CN" altLang="zh-CN" dirty="0">
                <a:latin typeface="Times New Roman" panose="02020603050405020304" pitchFamily="18" charset="0"/>
                <a:ea typeface="宋体" panose="02010600030101010101" pitchFamily="2" charset="-122"/>
              </a:rPr>
              <a:t>循环次数：</a:t>
            </a:r>
            <a:r>
              <a:rPr lang="en-US" altLang="zh-CN" dirty="0">
                <a:latin typeface="Times New Roman" panose="02020603050405020304" pitchFamily="18" charset="0"/>
                <a:ea typeface="宋体" panose="02010600030101010101" pitchFamily="2" charset="-122"/>
              </a:rPr>
              <a:t>256</a:t>
            </a:r>
            <a:r>
              <a:rPr lang="zh-CN" altLang="en-US" dirty="0">
                <a:latin typeface="Times New Roman" panose="02020603050405020304" pitchFamily="18" charset="0"/>
                <a:ea typeface="宋体" panose="02010600030101010101" pitchFamily="2" charset="-122"/>
              </a:rPr>
              <a:t>次</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555"/>
                                        </p:tgtEl>
                                        <p:attrNameLst>
                                          <p:attrName>style.visibility</p:attrName>
                                        </p:attrNameLst>
                                      </p:cBhvr>
                                      <p:to>
                                        <p:strVal val="visible"/>
                                      </p:to>
                                    </p:set>
                                    <p:anim calcmode="lin" valueType="num">
                                      <p:cBhvr additive="base">
                                        <p:cTn id="13" dur="500" fill="hold"/>
                                        <p:tgtEl>
                                          <p:spTgt spid="23555"/>
                                        </p:tgtEl>
                                        <p:attrNameLst>
                                          <p:attrName>ppt_x</p:attrName>
                                        </p:attrNameLst>
                                      </p:cBhvr>
                                      <p:tavLst>
                                        <p:tav tm="0">
                                          <p:val>
                                            <p:strVal val="#ppt_x"/>
                                          </p:val>
                                        </p:tav>
                                        <p:tav tm="100000">
                                          <p:val>
                                            <p:strVal val="#ppt_x"/>
                                          </p:val>
                                        </p:tav>
                                      </p:tavLst>
                                    </p:anim>
                                    <p:anim calcmode="lin" valueType="num">
                                      <p:cBhvr additive="base">
                                        <p:cTn id="14" dur="500" fill="hold"/>
                                        <p:tgtEl>
                                          <p:spTgt spid="2355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ox(in)">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23556"/>
                                        </p:tgtEl>
                                        <p:attrNameLst>
                                          <p:attrName>style.visibility</p:attrName>
                                        </p:attrNameLst>
                                      </p:cBhvr>
                                      <p:to>
                                        <p:strVal val="visible"/>
                                      </p:to>
                                    </p:set>
                                    <p:animEffect transition="in" filter="box(in)">
                                      <p:cBhvr>
                                        <p:cTn id="24" dur="500"/>
                                        <p:tgtEl>
                                          <p:spTgt spid="23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23555" grpId="0"/>
      <p:bldP spid="2355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18</a:t>
            </a:fld>
            <a:endParaRPr lang="en-US" altLang="zh-CN" sz="1400" b="0" dirty="0"/>
          </a:p>
        </p:txBody>
      </p:sp>
      <p:sp>
        <p:nvSpPr>
          <p:cNvPr id="171010" name="Rectangle 2"/>
          <p:cNvSpPr/>
          <p:nvPr/>
        </p:nvSpPr>
        <p:spPr>
          <a:xfrm>
            <a:off x="0" y="1773238"/>
            <a:ext cx="8534400" cy="2968625"/>
          </a:xfrm>
          <a:prstGeom prst="rect">
            <a:avLst/>
          </a:prstGeom>
          <a:noFill/>
          <a:ln w="9525">
            <a:noFill/>
          </a:ln>
        </p:spPr>
        <p:txBody>
          <a:bodyPr anchor="t" anchorCtr="0">
            <a:spAutoFit/>
          </a:bodyPr>
          <a:lstStyle/>
          <a:p>
            <a:pPr indent="266700" algn="just">
              <a:lnSpc>
                <a:spcPct val="130000"/>
              </a:lnSpc>
            </a:pPr>
            <a:r>
              <a:rPr lang="zh-CN" altLang="en-US" dirty="0">
                <a:latin typeface="Times New Roman" panose="02020603050405020304" pitchFamily="18" charset="0"/>
                <a:ea typeface="宋体" panose="02010600030101010101" pitchFamily="2" charset="-122"/>
              </a:rPr>
              <a:t>延时程序所花费的时间是该程序指令的总机器周期数与机器周期的乘积。</a:t>
            </a: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   通常，延时程序采用</a:t>
            </a:r>
            <a:r>
              <a:rPr lang="en-US" altLang="zh-CN" dirty="0">
                <a:latin typeface="Times New Roman" panose="02020603050405020304" pitchFamily="18" charset="0"/>
                <a:ea typeface="宋体" panose="02010600030101010101" pitchFamily="2" charset="-122"/>
              </a:rPr>
              <a:t>MOV</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DJNZ</a:t>
            </a:r>
            <a:r>
              <a:rPr lang="zh-CN" altLang="en-US" dirty="0">
                <a:latin typeface="Times New Roman" panose="02020603050405020304" pitchFamily="18" charset="0"/>
                <a:ea typeface="宋体" panose="02010600030101010101" pitchFamily="2" charset="-122"/>
              </a:rPr>
              <a:t>指令来实现。</a:t>
            </a: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   单循环延时程序，最大的循环次数为</a:t>
            </a:r>
            <a:r>
              <a:rPr lang="en-US" altLang="zh-CN" dirty="0">
                <a:latin typeface="Times New Roman" panose="02020603050405020304" pitchFamily="18" charset="0"/>
                <a:ea typeface="宋体" panose="02010600030101010101" pitchFamily="2" charset="-122"/>
              </a:rPr>
              <a:t>256</a:t>
            </a:r>
            <a:r>
              <a:rPr lang="zh-CN" altLang="en-US" dirty="0">
                <a:latin typeface="Times New Roman" panose="02020603050405020304" pitchFamily="18" charset="0"/>
                <a:ea typeface="宋体" panose="02010600030101010101" pitchFamily="2" charset="-122"/>
              </a:rPr>
              <a:t>，则程序段为：</a:t>
            </a: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                   </a:t>
            </a:r>
            <a:r>
              <a:rPr lang="en-US" altLang="zh-CN" dirty="0">
                <a:solidFill>
                  <a:srgbClr val="0000CC"/>
                </a:solidFill>
                <a:latin typeface="Times New Roman" panose="02020603050405020304" pitchFamily="18" charset="0"/>
                <a:ea typeface="宋体" panose="02010600030101010101" pitchFamily="2" charset="-122"/>
              </a:rPr>
              <a:t>MOV  	R0</a:t>
            </a:r>
            <a:r>
              <a:rPr lang="zh-CN" altLang="en-US" dirty="0">
                <a:solidFill>
                  <a:srgbClr val="0000CC"/>
                </a:solidFill>
                <a:latin typeface="Times New Roman" panose="02020603050405020304" pitchFamily="18" charset="0"/>
                <a:ea typeface="宋体" panose="02010600030101010101" pitchFamily="2" charset="-122"/>
              </a:rPr>
              <a:t>，</a:t>
            </a:r>
            <a:r>
              <a:rPr lang="en-US" altLang="zh-CN" dirty="0">
                <a:solidFill>
                  <a:srgbClr val="0000CC"/>
                </a:solidFill>
                <a:latin typeface="Times New Roman" panose="02020603050405020304" pitchFamily="18" charset="0"/>
                <a:ea typeface="宋体" panose="02010600030101010101" pitchFamily="2" charset="-122"/>
              </a:rPr>
              <a:t>#0    		</a:t>
            </a:r>
            <a:r>
              <a:rPr lang="zh-CN" altLang="en-US" dirty="0">
                <a:solidFill>
                  <a:srgbClr val="0000CC"/>
                </a:solidFill>
                <a:latin typeface="Times New Roman" panose="02020603050405020304" pitchFamily="18" charset="0"/>
                <a:ea typeface="宋体" panose="02010600030101010101" pitchFamily="2" charset="-122"/>
              </a:rPr>
              <a:t>；机器周期数为</a:t>
            </a:r>
            <a:r>
              <a:rPr lang="en-US" altLang="zh-CN" dirty="0">
                <a:solidFill>
                  <a:srgbClr val="0000CC"/>
                </a:solidFill>
                <a:latin typeface="Times New Roman" panose="02020603050405020304" pitchFamily="18" charset="0"/>
                <a:ea typeface="宋体" panose="02010600030101010101" pitchFamily="2" charset="-122"/>
              </a:rPr>
              <a:t>1</a:t>
            </a:r>
          </a:p>
          <a:p>
            <a:pPr indent="266700" algn="just" eaLnBrk="0" hangingPunct="0">
              <a:lnSpc>
                <a:spcPct val="130000"/>
              </a:lnSpc>
            </a:pPr>
            <a:r>
              <a:rPr lang="en-US" altLang="zh-CN" dirty="0">
                <a:solidFill>
                  <a:srgbClr val="0000CC"/>
                </a:solidFill>
                <a:latin typeface="Times New Roman" panose="02020603050405020304" pitchFamily="18" charset="0"/>
                <a:ea typeface="宋体" panose="02010600030101010101" pitchFamily="2" charset="-122"/>
              </a:rPr>
              <a:t>  HERE:     DJNZ  	R0</a:t>
            </a:r>
            <a:r>
              <a:rPr lang="zh-CN" altLang="en-US" dirty="0">
                <a:solidFill>
                  <a:srgbClr val="0000CC"/>
                </a:solidFill>
                <a:latin typeface="Times New Roman" panose="02020603050405020304" pitchFamily="18" charset="0"/>
                <a:ea typeface="宋体" panose="02010600030101010101" pitchFamily="2" charset="-122"/>
              </a:rPr>
              <a:t>，</a:t>
            </a:r>
            <a:r>
              <a:rPr lang="en-US" altLang="zh-CN" dirty="0">
                <a:solidFill>
                  <a:srgbClr val="0000CC"/>
                </a:solidFill>
                <a:latin typeface="Times New Roman" panose="02020603050405020304" pitchFamily="18" charset="0"/>
                <a:ea typeface="宋体" panose="02010600030101010101" pitchFamily="2" charset="-122"/>
              </a:rPr>
              <a:t>HERE           	</a:t>
            </a:r>
            <a:r>
              <a:rPr lang="zh-CN" altLang="en-US" dirty="0">
                <a:solidFill>
                  <a:srgbClr val="0000CC"/>
                </a:solidFill>
                <a:latin typeface="Times New Roman" panose="02020603050405020304" pitchFamily="18" charset="0"/>
                <a:ea typeface="宋体" panose="02010600030101010101" pitchFamily="2" charset="-122"/>
              </a:rPr>
              <a:t>；机器周期数为</a:t>
            </a:r>
            <a:r>
              <a:rPr lang="en-US" altLang="zh-CN" dirty="0">
                <a:solidFill>
                  <a:srgbClr val="0000CC"/>
                </a:solidFill>
                <a:latin typeface="Times New Roman" panose="02020603050405020304" pitchFamily="18" charset="0"/>
                <a:ea typeface="宋体" panose="02010600030101010101" pitchFamily="2" charset="-122"/>
              </a:rPr>
              <a:t>2</a:t>
            </a:r>
            <a:r>
              <a:rPr lang="en-US" altLang="zh-CN" dirty="0">
                <a:latin typeface="宋体" panose="02010600030101010101" pitchFamily="2" charset="-122"/>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71011" name="Text Box 3"/>
          <p:cNvSpPr txBox="1"/>
          <p:nvPr/>
        </p:nvSpPr>
        <p:spPr>
          <a:xfrm>
            <a:off x="144463" y="692150"/>
            <a:ext cx="8675687" cy="1050290"/>
          </a:xfrm>
          <a:prstGeom prst="rect">
            <a:avLst/>
          </a:prstGeom>
          <a:noFill/>
          <a:ln w="9525">
            <a:noFill/>
          </a:ln>
        </p:spPr>
        <p:txBody>
          <a:bodyPr anchor="t" anchorCtr="0">
            <a:spAutoFit/>
          </a:bodyPr>
          <a:lstStyle/>
          <a:p>
            <a:pPr algn="just">
              <a:lnSpc>
                <a:spcPct val="130000"/>
              </a:lnSpc>
            </a:pPr>
            <a:r>
              <a:rPr lang="zh-CN" altLang="en-US" dirty="0">
                <a:solidFill>
                  <a:srgbClr val="FF3300"/>
                </a:solidFill>
                <a:latin typeface="Times New Roman" panose="02020603050405020304" pitchFamily="18" charset="0"/>
                <a:ea typeface="宋体" panose="02010600030101010101" pitchFamily="2" charset="-122"/>
              </a:rPr>
              <a:t>例</a:t>
            </a:r>
            <a:r>
              <a:rPr lang="en-US" altLang="zh-CN" dirty="0">
                <a:solidFill>
                  <a:srgbClr val="FF3300"/>
                </a:solidFill>
                <a:latin typeface="Times New Roman" panose="02020603050405020304" pitchFamily="18" charset="0"/>
                <a:ea typeface="宋体" panose="02010600030101010101" pitchFamily="2" charset="-122"/>
              </a:rPr>
              <a:t>4-5  </a:t>
            </a:r>
            <a:r>
              <a:rPr lang="zh-CN" altLang="en-US" dirty="0">
                <a:solidFill>
                  <a:srgbClr val="FF3300"/>
                </a:solidFill>
                <a:latin typeface="Times New Roman" panose="02020603050405020304" pitchFamily="18" charset="0"/>
                <a:ea typeface="宋体" panose="02010600030101010101" pitchFamily="2" charset="-122"/>
              </a:rPr>
              <a:t>设</a:t>
            </a:r>
            <a:r>
              <a:rPr lang="en-US" altLang="zh-CN" dirty="0">
                <a:solidFill>
                  <a:srgbClr val="FF3300"/>
                </a:solidFill>
                <a:latin typeface="Times New Roman" panose="02020603050405020304" pitchFamily="18" charset="0"/>
                <a:ea typeface="宋体" panose="02010600030101010101" pitchFamily="2" charset="-122"/>
              </a:rPr>
              <a:t>MCS-51</a:t>
            </a:r>
            <a:r>
              <a:rPr lang="zh-CN" altLang="en-US" dirty="0">
                <a:solidFill>
                  <a:srgbClr val="FF3300"/>
                </a:solidFill>
                <a:latin typeface="Times New Roman" panose="02020603050405020304" pitchFamily="18" charset="0"/>
                <a:ea typeface="宋体" panose="02010600030101010101" pitchFamily="2" charset="-122"/>
              </a:rPr>
              <a:t>单片机的晶振频率为</a:t>
            </a:r>
            <a:r>
              <a:rPr lang="en-US" altLang="zh-CN" dirty="0">
                <a:solidFill>
                  <a:srgbClr val="FF3300"/>
                </a:solidFill>
                <a:latin typeface="Times New Roman" panose="02020603050405020304" pitchFamily="18" charset="0"/>
                <a:ea typeface="宋体" panose="02010600030101010101" pitchFamily="2" charset="-122"/>
              </a:rPr>
              <a:t>fosc =12MHz</a:t>
            </a:r>
            <a:r>
              <a:rPr lang="zh-CN" altLang="en-US" dirty="0">
                <a:solidFill>
                  <a:srgbClr val="FF3300"/>
                </a:solidFill>
                <a:latin typeface="Times New Roman" panose="02020603050405020304" pitchFamily="18" charset="0"/>
                <a:ea typeface="宋体" panose="02010600030101010101" pitchFamily="2" charset="-122"/>
              </a:rPr>
              <a:t>，试设计延时</a:t>
            </a:r>
            <a:r>
              <a:rPr lang="en-US" altLang="zh-CN" dirty="0">
                <a:solidFill>
                  <a:srgbClr val="FF3300"/>
                </a:solidFill>
                <a:latin typeface="Times New Roman" panose="02020603050405020304" pitchFamily="18" charset="0"/>
                <a:ea typeface="宋体" panose="02010600030101010101" pitchFamily="2" charset="-122"/>
              </a:rPr>
              <a:t>0.1s</a:t>
            </a:r>
            <a:r>
              <a:rPr lang="zh-CN" altLang="en-US" dirty="0">
                <a:solidFill>
                  <a:srgbClr val="FF3300"/>
                </a:solidFill>
                <a:latin typeface="Times New Roman" panose="02020603050405020304" pitchFamily="18" charset="0"/>
                <a:ea typeface="宋体" panose="02010600030101010101" pitchFamily="2" charset="-122"/>
              </a:rPr>
              <a:t>的延时程序。</a:t>
            </a:r>
            <a:endParaRPr lang="zh-CN" altLang="en-US" dirty="0">
              <a:latin typeface="Times New Roman" panose="02020603050405020304" pitchFamily="18" charset="0"/>
              <a:ea typeface="宋体" panose="02010600030101010101" pitchFamily="2" charset="-122"/>
            </a:endParaRPr>
          </a:p>
        </p:txBody>
      </p:sp>
      <p:sp>
        <p:nvSpPr>
          <p:cNvPr id="171012" name="Rectangle 4"/>
          <p:cNvSpPr/>
          <p:nvPr/>
        </p:nvSpPr>
        <p:spPr>
          <a:xfrm>
            <a:off x="214313" y="4741863"/>
            <a:ext cx="8534400" cy="1530350"/>
          </a:xfrm>
          <a:prstGeom prst="rect">
            <a:avLst/>
          </a:prstGeom>
          <a:noFill/>
          <a:ln w="9525">
            <a:noFill/>
          </a:ln>
        </p:spPr>
        <p:txBody>
          <a:bodyPr anchor="t" anchorCtr="0">
            <a:spAutoFit/>
          </a:bodyPr>
          <a:lstStyle/>
          <a:p>
            <a:pPr indent="266700" algn="just">
              <a:lnSpc>
                <a:spcPct val="130000"/>
              </a:lnSpc>
            </a:pPr>
            <a:r>
              <a:rPr lang="zh-CN" altLang="en-US" dirty="0">
                <a:latin typeface="Times New Roman" panose="02020603050405020304" pitchFamily="18" charset="0"/>
                <a:ea typeface="宋体" panose="02010600030101010101" pitchFamily="2" charset="-122"/>
              </a:rPr>
              <a:t>若单片机晶振为</a:t>
            </a:r>
            <a:r>
              <a:rPr lang="en-US" altLang="zh-CN" dirty="0">
                <a:latin typeface="Times New Roman" panose="02020603050405020304" pitchFamily="18" charset="0"/>
                <a:ea typeface="宋体" panose="02010600030101010101" pitchFamily="2" charset="-122"/>
              </a:rPr>
              <a:t>12MHz</a:t>
            </a:r>
            <a:r>
              <a:rPr lang="zh-CN" altLang="en-US" dirty="0">
                <a:latin typeface="Times New Roman" panose="02020603050405020304" pitchFamily="18" charset="0"/>
                <a:ea typeface="宋体" panose="02010600030101010101" pitchFamily="2" charset="-122"/>
              </a:rPr>
              <a:t>，则一个机器周期为</a:t>
            </a:r>
            <a:r>
              <a:rPr lang="en-US" altLang="zh-CN" dirty="0">
                <a:latin typeface="Times New Roman" panose="02020603050405020304" pitchFamily="18" charset="0"/>
                <a:ea typeface="宋体" panose="02010600030101010101" pitchFamily="2" charset="-122"/>
              </a:rPr>
              <a:t>1μs</a:t>
            </a:r>
            <a:r>
              <a:rPr lang="zh-CN" altLang="en-US" dirty="0">
                <a:latin typeface="Times New Roman" panose="02020603050405020304" pitchFamily="18" charset="0"/>
                <a:ea typeface="宋体" panose="02010600030101010101" pitchFamily="2" charset="-122"/>
              </a:rPr>
              <a:t>。</a:t>
            </a:r>
          </a:p>
          <a:p>
            <a:pPr indent="266700" eaLnBrk="0" hangingPunct="0">
              <a:lnSpc>
                <a:spcPct val="130000"/>
              </a:lnSpc>
            </a:pPr>
            <a:r>
              <a:rPr lang="zh-CN" altLang="en-US" dirty="0">
                <a:latin typeface="Times New Roman" panose="02020603050405020304" pitchFamily="18" charset="0"/>
                <a:ea typeface="宋体" panose="02010600030101010101" pitchFamily="2" charset="-122"/>
              </a:rPr>
              <a:t>  延时时间：（</a:t>
            </a:r>
            <a:r>
              <a:rPr lang="en-US" altLang="zh-CN" dirty="0">
                <a:latin typeface="Times New Roman" panose="02020603050405020304" pitchFamily="18" charset="0"/>
                <a:ea typeface="宋体" panose="02010600030101010101" pitchFamily="2" charset="-122"/>
              </a:rPr>
              <a:t>1+256×2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×1μs</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513μs</a:t>
            </a:r>
            <a:r>
              <a:rPr lang="zh-CN" altLang="en-US" dirty="0">
                <a:latin typeface="Times New Roman" panose="02020603050405020304" pitchFamily="18" charset="0"/>
                <a:ea typeface="宋体" panose="02010600030101010101" pitchFamily="2" charset="-122"/>
              </a:rPr>
              <a:t>。</a:t>
            </a:r>
          </a:p>
          <a:p>
            <a:pPr indent="266700" eaLnBrk="0" hangingPunct="0">
              <a:lnSpc>
                <a:spcPct val="130000"/>
              </a:lnSpc>
            </a:pPr>
            <a:r>
              <a:rPr lang="zh-CN" altLang="en-US" dirty="0">
                <a:latin typeface="Times New Roman" panose="02020603050405020304" pitchFamily="18" charset="0"/>
                <a:ea typeface="宋体" panose="02010600030101010101" pitchFamily="2" charset="-122"/>
              </a:rPr>
              <a:t>            </a:t>
            </a:r>
            <a:r>
              <a:rPr lang="zh-CN" altLang="en-US" dirty="0">
                <a:solidFill>
                  <a:srgbClr val="0000CC"/>
                </a:solidFill>
                <a:latin typeface="Times New Roman" panose="02020603050405020304" pitchFamily="18" charset="0"/>
                <a:ea typeface="宋体" panose="02010600030101010101" pitchFamily="2" charset="-122"/>
              </a:rPr>
              <a:t>需采用多重循环。</a:t>
            </a:r>
            <a:r>
              <a:rPr lang="zh-CN" altLang="en-US" dirty="0">
                <a:latin typeface="Times New Roman" panose="02020603050405020304" pitchFamily="18" charset="0"/>
                <a:ea typeface="宋体" panose="02010600030101010101" pitchFamily="2" charset="-122"/>
              </a:rPr>
              <a:t> </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1011"/>
                                        </p:tgtEl>
                                        <p:attrNameLst>
                                          <p:attrName>style.visibility</p:attrName>
                                        </p:attrNameLst>
                                      </p:cBhvr>
                                      <p:to>
                                        <p:strVal val="visible"/>
                                      </p:to>
                                    </p:set>
                                    <p:animEffect transition="in" filter="blinds(horizontal)">
                                      <p:cBhvr>
                                        <p:cTn id="7" dur="500"/>
                                        <p:tgtEl>
                                          <p:spTgt spid="17101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71010"/>
                                        </p:tgtEl>
                                        <p:attrNameLst>
                                          <p:attrName>style.visibility</p:attrName>
                                        </p:attrNameLst>
                                      </p:cBhvr>
                                      <p:to>
                                        <p:strVal val="visible"/>
                                      </p:to>
                                    </p:set>
                                    <p:animEffect transition="in" filter="box(in)">
                                      <p:cBhvr>
                                        <p:cTn id="12" dur="500"/>
                                        <p:tgtEl>
                                          <p:spTgt spid="17101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71012"/>
                                        </p:tgtEl>
                                        <p:attrNameLst>
                                          <p:attrName>style.visibility</p:attrName>
                                        </p:attrNameLst>
                                      </p:cBhvr>
                                      <p:to>
                                        <p:strVal val="visible"/>
                                      </p:to>
                                    </p:set>
                                    <p:animEffect transition="in" filter="box(in)">
                                      <p:cBhvr>
                                        <p:cTn id="17" dur="500"/>
                                        <p:tgtEl>
                                          <p:spTgt spid="171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p:bldP spid="171011" grpId="0"/>
      <p:bldP spid="1710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19</a:t>
            </a:fld>
            <a:endParaRPr lang="en-US" altLang="zh-CN" sz="1400" b="0" dirty="0"/>
          </a:p>
        </p:txBody>
      </p:sp>
      <p:sp>
        <p:nvSpPr>
          <p:cNvPr id="25602" name="Text Box 2"/>
          <p:cNvSpPr txBox="1"/>
          <p:nvPr/>
        </p:nvSpPr>
        <p:spPr>
          <a:xfrm>
            <a:off x="381000" y="838200"/>
            <a:ext cx="8458200" cy="4708525"/>
          </a:xfrm>
          <a:prstGeom prst="rect">
            <a:avLst/>
          </a:prstGeom>
          <a:noFill/>
          <a:ln w="9525">
            <a:noFill/>
          </a:ln>
        </p:spPr>
        <p:txBody>
          <a:bodyPr anchor="t" anchorCtr="0">
            <a:spAutoFit/>
          </a:bodyPr>
          <a:lstStyle/>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多重循环</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在一个循环体中又包含了其它的循环程序。</a:t>
            </a: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这种方式是实现延时程序的常用方法。 使用多重循环时</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必须</a:t>
            </a:r>
            <a:r>
              <a:rPr lang="zh-CN" altLang="en-US" dirty="0">
                <a:solidFill>
                  <a:srgbClr val="FF3300"/>
                </a:solidFill>
                <a:latin typeface="Times New Roman" panose="02020603050405020304" pitchFamily="18" charset="0"/>
                <a:ea typeface="宋体" panose="02010600030101010101" pitchFamily="2" charset="-122"/>
              </a:rPr>
              <a:t>注意</a:t>
            </a:r>
            <a:r>
              <a:rPr lang="en-US" altLang="zh-CN" dirty="0">
                <a:solidFill>
                  <a:srgbClr val="FF3300"/>
                </a:solidFill>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p>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(1)</a:t>
            </a:r>
            <a:r>
              <a:rPr lang="zh-CN" altLang="en-US" dirty="0">
                <a:latin typeface="Times New Roman" panose="02020603050405020304" pitchFamily="18" charset="0"/>
                <a:ea typeface="宋体" panose="02010600030101010101" pitchFamily="2" charset="-122"/>
              </a:rPr>
              <a:t> 循环嵌套</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必须层次分明</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不允许产生内外层循环交叉。 </a:t>
            </a: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外循环可以一层层向内循环进入</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结束时由里往外一层层退出。</a:t>
            </a: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a:t>
            </a:r>
          </a:p>
        </p:txBody>
      </p:sp>
    </p:spTree>
  </p:cSld>
  <p:clrMapOvr>
    <a:masterClrMapping/>
  </p:clrMapOvr>
  <p:transition>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20</a:t>
            </a:fld>
            <a:endParaRPr lang="en-US" altLang="zh-CN" sz="1400" b="0" dirty="0"/>
          </a:p>
        </p:txBody>
      </p:sp>
      <p:sp>
        <p:nvSpPr>
          <p:cNvPr id="172034" name="Rectangle 2"/>
          <p:cNvSpPr/>
          <p:nvPr/>
        </p:nvSpPr>
        <p:spPr>
          <a:xfrm>
            <a:off x="228600" y="990600"/>
            <a:ext cx="8610600" cy="2647950"/>
          </a:xfrm>
          <a:prstGeom prst="rect">
            <a:avLst/>
          </a:prstGeom>
          <a:noFill/>
          <a:ln w="9525">
            <a:noFill/>
          </a:ln>
        </p:spPr>
        <p:txBody>
          <a:bodyPr anchor="t" anchorCtr="0">
            <a:spAutoFit/>
          </a:bodyPr>
          <a:lstStyle/>
          <a:p>
            <a:pPr indent="266700" algn="just">
              <a:lnSpc>
                <a:spcPct val="140000"/>
              </a:lnSpc>
            </a:pPr>
            <a:r>
              <a:rPr lang="en-US" altLang="zh-CN" dirty="0">
                <a:latin typeface="Times New Roman" panose="02020603050405020304" pitchFamily="18" charset="0"/>
                <a:ea typeface="宋体" panose="02010600030101010101" pitchFamily="2" charset="-122"/>
              </a:rPr>
              <a:t>		MOV	R7</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#200   		</a:t>
            </a:r>
          </a:p>
          <a:p>
            <a:pPr indent="266700" algn="just" eaLnBrk="0" hangingPunct="0">
              <a:lnSpc>
                <a:spcPct val="140000"/>
              </a:lnSpc>
            </a:pPr>
            <a:r>
              <a:rPr lang="en-US" altLang="zh-CN" dirty="0">
                <a:latin typeface="Times New Roman" panose="02020603050405020304" pitchFamily="18" charset="0"/>
                <a:ea typeface="宋体" panose="02010600030101010101" pitchFamily="2" charset="-122"/>
              </a:rPr>
              <a:t>DELAY1</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R6</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#250			</a:t>
            </a:r>
          </a:p>
          <a:p>
            <a:pPr indent="266700" algn="just" eaLnBrk="0" hangingPunct="0">
              <a:lnSpc>
                <a:spcPct val="140000"/>
              </a:lnSpc>
            </a:pPr>
            <a:r>
              <a:rPr lang="en-US" altLang="zh-CN" dirty="0">
                <a:latin typeface="Times New Roman" panose="02020603050405020304" pitchFamily="18" charset="0"/>
                <a:ea typeface="宋体" panose="02010600030101010101" pitchFamily="2" charset="-122"/>
              </a:rPr>
              <a:t>DELAY2</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DJNZ	R6</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DELAY2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250×2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500μs</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0.5ms</a:t>
            </a:r>
          </a:p>
          <a:p>
            <a:pPr indent="266700" algn="just" eaLnBrk="0" hangingPunct="0">
              <a:lnSpc>
                <a:spcPct val="140000"/>
              </a:lnSpc>
            </a:pPr>
            <a:r>
              <a:rPr lang="en-US" altLang="zh-CN" dirty="0">
                <a:latin typeface="Times New Roman" panose="02020603050405020304" pitchFamily="18" charset="0"/>
                <a:ea typeface="宋体" panose="02010600030101010101" pitchFamily="2" charset="-122"/>
              </a:rPr>
              <a:t>		DJNZ	R7</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DELAY1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0.5×200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0.1s</a:t>
            </a:r>
          </a:p>
          <a:p>
            <a:pPr indent="266700" eaLnBrk="0" hangingPunct="0">
              <a:lnSpc>
                <a:spcPct val="140000"/>
              </a:lnSpc>
            </a:pPr>
            <a:endParaRPr lang="en-US" altLang="zh-CN" dirty="0">
              <a:latin typeface="Times New Roman" panose="02020603050405020304" pitchFamily="18" charset="0"/>
              <a:ea typeface="宋体" panose="02010600030101010101" pitchFamily="2" charset="-122"/>
            </a:endParaRPr>
          </a:p>
        </p:txBody>
      </p:sp>
      <p:sp>
        <p:nvSpPr>
          <p:cNvPr id="172035" name="Text Box 3"/>
          <p:cNvSpPr txBox="1"/>
          <p:nvPr/>
        </p:nvSpPr>
        <p:spPr>
          <a:xfrm>
            <a:off x="395288" y="3644900"/>
            <a:ext cx="8135937" cy="2136775"/>
          </a:xfrm>
          <a:prstGeom prst="rect">
            <a:avLst/>
          </a:prstGeom>
          <a:noFill/>
          <a:ln w="9525">
            <a:noFill/>
          </a:ln>
        </p:spPr>
        <p:txBody>
          <a:bodyPr anchor="t" anchorCtr="0">
            <a:spAutoFit/>
          </a:bodyPr>
          <a:lstStyle/>
          <a:p>
            <a:pPr>
              <a:lnSpc>
                <a:spcPct val="140000"/>
              </a:lnSpc>
            </a:pPr>
            <a:r>
              <a:rPr lang="zh-CN" altLang="en-US" dirty="0">
                <a:latin typeface="Times New Roman" panose="02020603050405020304" pitchFamily="18" charset="0"/>
                <a:ea typeface="宋体" panose="02010600030101010101" pitchFamily="2" charset="-122"/>
              </a:rPr>
              <a:t>该段程序中</a:t>
            </a:r>
            <a:r>
              <a:rPr lang="en-US" altLang="zh-CN" dirty="0">
                <a:latin typeface="Times New Roman" panose="02020603050405020304" pitchFamily="18" charset="0"/>
                <a:ea typeface="宋体" panose="02010600030101010101" pitchFamily="2" charset="-122"/>
              </a:rPr>
              <a:t>DJNZ	R6</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DELAY2</a:t>
            </a:r>
            <a:r>
              <a:rPr lang="zh-CN" altLang="en-US" dirty="0">
                <a:latin typeface="Times New Roman" panose="02020603050405020304" pitchFamily="18" charset="0"/>
                <a:ea typeface="宋体" panose="02010600030101010101" pitchFamily="2" charset="-122"/>
              </a:rPr>
              <a:t>的延时时间为</a:t>
            </a:r>
            <a:r>
              <a:rPr lang="en-US" altLang="zh-CN" dirty="0">
                <a:latin typeface="Times New Roman" panose="02020603050405020304" pitchFamily="18" charset="0"/>
                <a:ea typeface="宋体" panose="02010600030101010101" pitchFamily="2" charset="-122"/>
              </a:rPr>
              <a:t>0.1s,</a:t>
            </a:r>
            <a:r>
              <a:rPr lang="zh-CN" altLang="en-US" dirty="0">
                <a:latin typeface="Times New Roman" panose="02020603050405020304" pitchFamily="18" charset="0"/>
                <a:ea typeface="宋体" panose="02010600030101010101" pitchFamily="2" charset="-122"/>
              </a:rPr>
              <a:t>如果再加上其他指令的时间，执行本段程序的总时间是</a:t>
            </a:r>
            <a:r>
              <a:rPr lang="en-US" altLang="zh-CN" dirty="0">
                <a:latin typeface="Times New Roman" panose="02020603050405020304" pitchFamily="18" charset="0"/>
                <a:ea typeface="宋体" panose="02010600030101010101" pitchFamily="2" charset="-122"/>
              </a:rPr>
              <a:t>0.1006001s</a:t>
            </a:r>
            <a:r>
              <a:rPr lang="zh-CN" altLang="en-US" dirty="0">
                <a:latin typeface="Times New Roman" panose="02020603050405020304" pitchFamily="18" charset="0"/>
                <a:ea typeface="宋体" panose="02010600030101010101" pitchFamily="2" charset="-122"/>
              </a:rPr>
              <a:t>。若需延时更长时间，可采用多重循环，如</a:t>
            </a:r>
            <a:r>
              <a:rPr lang="en-US" altLang="zh-CN" dirty="0">
                <a:latin typeface="Times New Roman" panose="02020603050405020304" pitchFamily="18" charset="0"/>
                <a:ea typeface="宋体" panose="02010600030101010101" pitchFamily="2" charset="-122"/>
              </a:rPr>
              <a:t>1s</a:t>
            </a:r>
            <a:r>
              <a:rPr lang="zh-CN" altLang="en-US" dirty="0">
                <a:latin typeface="Times New Roman" panose="02020603050405020304" pitchFamily="18" charset="0"/>
                <a:ea typeface="宋体" panose="02010600030101010101" pitchFamily="2" charset="-122"/>
              </a:rPr>
              <a:t>延时可采用</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重循环，而用</a:t>
            </a:r>
            <a:r>
              <a:rPr lang="en-US" altLang="zh-CN" dirty="0">
                <a:latin typeface="Times New Roman" panose="02020603050405020304" pitchFamily="18" charset="0"/>
                <a:ea typeface="宋体" panose="02010600030101010101" pitchFamily="2" charset="-122"/>
              </a:rPr>
              <a:t>7</a:t>
            </a:r>
            <a:r>
              <a:rPr lang="zh-CN" altLang="en-US" dirty="0">
                <a:latin typeface="Times New Roman" panose="02020603050405020304" pitchFamily="18" charset="0"/>
                <a:ea typeface="宋体" panose="02010600030101010101" pitchFamily="2" charset="-122"/>
              </a:rPr>
              <a:t>重循环可延时几年。</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2034"/>
                                        </p:tgtEl>
                                        <p:attrNameLst>
                                          <p:attrName>style.visibility</p:attrName>
                                        </p:attrNameLst>
                                      </p:cBhvr>
                                      <p:to>
                                        <p:strVal val="visible"/>
                                      </p:to>
                                    </p:set>
                                    <p:animEffect transition="in" filter="blinds(horizontal)">
                                      <p:cBhvr>
                                        <p:cTn id="7" dur="500"/>
                                        <p:tgtEl>
                                          <p:spTgt spid="17203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2035"/>
                                        </p:tgtEl>
                                        <p:attrNameLst>
                                          <p:attrName>style.visibility</p:attrName>
                                        </p:attrNameLst>
                                      </p:cBhvr>
                                      <p:to>
                                        <p:strVal val="visible"/>
                                      </p:to>
                                    </p:set>
                                    <p:animEffect transition="in" filter="checkerboard(across)">
                                      <p:cBhvr>
                                        <p:cTn id="12" dur="500"/>
                                        <p:tgtEl>
                                          <p:spTgt spid="172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p:bldP spid="1720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21</a:t>
            </a:fld>
            <a:endParaRPr lang="en-US" altLang="zh-CN" sz="1400" b="0" dirty="0"/>
          </a:p>
        </p:txBody>
      </p:sp>
      <p:sp>
        <p:nvSpPr>
          <p:cNvPr id="27650" name="Text Box 4"/>
          <p:cNvSpPr txBox="1"/>
          <p:nvPr/>
        </p:nvSpPr>
        <p:spPr>
          <a:xfrm>
            <a:off x="323850" y="981075"/>
            <a:ext cx="8208963" cy="1641475"/>
          </a:xfrm>
          <a:prstGeom prst="rect">
            <a:avLst/>
          </a:prstGeom>
          <a:noFill/>
          <a:ln w="9525">
            <a:noFill/>
          </a:ln>
        </p:spPr>
        <p:txBody>
          <a:bodyPr anchor="t" anchorCtr="0">
            <a:spAutoFit/>
          </a:bodyPr>
          <a:lstStyle/>
          <a:p>
            <a:pPr>
              <a:lnSpc>
                <a:spcPct val="140000"/>
              </a:lnSpc>
              <a:spcBef>
                <a:spcPct val="50000"/>
              </a:spcBef>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4-6  </a:t>
            </a:r>
            <a:r>
              <a:rPr lang="zh-CN" altLang="en-US" dirty="0">
                <a:latin typeface="Times New Roman" panose="02020603050405020304" pitchFamily="18" charset="0"/>
                <a:ea typeface="宋体" panose="02010600030101010101" pitchFamily="2" charset="-122"/>
              </a:rPr>
              <a:t>如果使与</a:t>
            </a:r>
            <a:r>
              <a:rPr lang="en-US" altLang="zh-CN" dirty="0">
                <a:latin typeface="Times New Roman" panose="02020603050405020304" pitchFamily="18" charset="0"/>
                <a:ea typeface="宋体" panose="02010600030101010101" pitchFamily="2" charset="-122"/>
              </a:rPr>
              <a:t>P1</a:t>
            </a:r>
            <a:r>
              <a:rPr lang="zh-CN" altLang="en-US" dirty="0">
                <a:latin typeface="Times New Roman" panose="02020603050405020304" pitchFamily="18" charset="0"/>
                <a:ea typeface="宋体" panose="02010600030101010101" pitchFamily="2" charset="-122"/>
              </a:rPr>
              <a:t>口相连的发光二极管从</a:t>
            </a:r>
            <a:r>
              <a:rPr lang="en-US" altLang="zh-CN" dirty="0">
                <a:latin typeface="Times New Roman" panose="02020603050405020304" pitchFamily="18" charset="0"/>
                <a:ea typeface="宋体" panose="02010600030101010101" pitchFamily="2" charset="-122"/>
              </a:rPr>
              <a:t>LED0</a:t>
            </a:r>
            <a:r>
              <a:rPr lang="zh-CN" altLang="en-US" dirty="0">
                <a:latin typeface="Times New Roman" panose="02020603050405020304" pitchFamily="18" charset="0"/>
                <a:ea typeface="宋体" panose="02010600030101010101" pitchFamily="2" charset="-122"/>
              </a:rPr>
              <a:t>到</a:t>
            </a:r>
            <a:r>
              <a:rPr lang="en-US" altLang="zh-CN" dirty="0">
                <a:latin typeface="Times New Roman" panose="02020603050405020304" pitchFamily="18" charset="0"/>
                <a:ea typeface="宋体" panose="02010600030101010101" pitchFamily="2" charset="-122"/>
              </a:rPr>
              <a:t>LED7</a:t>
            </a:r>
            <a:r>
              <a:rPr lang="zh-CN" altLang="en-US" dirty="0">
                <a:latin typeface="Times New Roman" panose="02020603050405020304" pitchFamily="18" charset="0"/>
                <a:ea typeface="宋体" panose="02010600030101010101" pitchFamily="2" charset="-122"/>
              </a:rPr>
              <a:t>依次循环点亮，每次只亮</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个，且亮的时间是</a:t>
            </a:r>
            <a:r>
              <a:rPr lang="en-US" altLang="zh-CN" dirty="0">
                <a:latin typeface="Times New Roman" panose="02020603050405020304" pitchFamily="18" charset="0"/>
                <a:ea typeface="宋体" panose="02010600030101010101" pitchFamily="2" charset="-122"/>
              </a:rPr>
              <a:t>1s</a:t>
            </a:r>
            <a:r>
              <a:rPr lang="zh-CN" altLang="en-US" dirty="0">
                <a:latin typeface="Times New Roman" panose="02020603050405020304" pitchFamily="18" charset="0"/>
                <a:ea typeface="宋体" panose="02010600030101010101" pitchFamily="2" charset="-122"/>
              </a:rPr>
              <a:t>，编写汇编语言程序实现该功能。</a:t>
            </a:r>
          </a:p>
        </p:txBody>
      </p:sp>
    </p:spTree>
  </p:cSld>
  <p:clrMapOvr>
    <a:masterClrMapping/>
  </p:clrMapOvr>
  <p:transition>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22</a:t>
            </a:fld>
            <a:endParaRPr lang="en-US" altLang="zh-CN" sz="1400" b="0" dirty="0"/>
          </a:p>
        </p:txBody>
      </p:sp>
      <p:pic>
        <p:nvPicPr>
          <p:cNvPr id="24579" name="Picture 4"/>
          <p:cNvPicPr>
            <a:picLocks noChangeAspect="1"/>
          </p:cNvPicPr>
          <p:nvPr/>
        </p:nvPicPr>
        <p:blipFill>
          <a:blip r:embed="rId2"/>
          <a:srcRect l="1576" t="22118" r="44449" b="14886"/>
          <a:stretch>
            <a:fillRect/>
          </a:stretch>
        </p:blipFill>
        <p:spPr>
          <a:xfrm>
            <a:off x="836930" y="720090"/>
            <a:ext cx="7223125" cy="5925185"/>
          </a:xfrm>
          <a:prstGeom prst="rect">
            <a:avLst/>
          </a:prstGeom>
          <a:noFill/>
          <a:ln w="9525">
            <a:noFill/>
          </a:ln>
        </p:spPr>
      </p:pic>
      <p:sp>
        <p:nvSpPr>
          <p:cNvPr id="2" name="文本框 1"/>
          <p:cNvSpPr txBox="1"/>
          <p:nvPr/>
        </p:nvSpPr>
        <p:spPr>
          <a:xfrm>
            <a:off x="1416685" y="4531995"/>
            <a:ext cx="3685540" cy="460375"/>
          </a:xfrm>
          <a:prstGeom prst="rect">
            <a:avLst/>
          </a:prstGeom>
          <a:noFill/>
        </p:spPr>
        <p:txBody>
          <a:bodyPr>
            <a:spAutoFit/>
            <a:scene3d>
              <a:camera prst="orthographicFront"/>
              <a:lightRig rig="threePt" dir="t"/>
            </a:scene3d>
          </a:bodyPr>
          <a:lstStyle/>
          <a:p>
            <a:pPr marR="0" defTabSz="914400" eaLnBrk="0" hangingPunct="0">
              <a:buClrTx/>
              <a:buSzTx/>
              <a:buFontTx/>
              <a:defRPr/>
            </a:pPr>
            <a:r>
              <a:rPr kumimoji="0" lang="en-US" altLang="zh-CN" kern="1200" cap="none" spc="0" normalizeH="0" baseline="0" noProof="1">
                <a:ln w="22225">
                  <a:solidFill>
                    <a:schemeClr val="accent2"/>
                  </a:solidFill>
                  <a:prstDash val="solid"/>
                </a:ln>
                <a:solidFill>
                  <a:schemeClr val="accent2">
                    <a:lumMod val="40000"/>
                    <a:lumOff val="60000"/>
                  </a:schemeClr>
                </a:solidFill>
                <a:latin typeface="Times New Roman" panose="02020603050405020304" pitchFamily="18" charset="0"/>
                <a:ea typeface="宋体" panose="02010600030101010101" pitchFamily="2" charset="-122"/>
                <a:cs typeface="+mn-cs"/>
              </a:rPr>
              <a:t>0    1    1    1    1    1    1    1 </a:t>
            </a:r>
          </a:p>
        </p:txBody>
      </p:sp>
      <p:sp>
        <p:nvSpPr>
          <p:cNvPr id="3" name="文本框 2"/>
          <p:cNvSpPr txBox="1"/>
          <p:nvPr/>
        </p:nvSpPr>
        <p:spPr>
          <a:xfrm>
            <a:off x="6259194" y="5465445"/>
            <a:ext cx="2550160" cy="460375"/>
          </a:xfrm>
          <a:prstGeom prst="rect">
            <a:avLst/>
          </a:prstGeom>
          <a:noFill/>
        </p:spPr>
        <p:txBody>
          <a:bodyPr>
            <a:spAutoFit/>
            <a:scene3d>
              <a:camera prst="orthographicFront"/>
              <a:lightRig rig="soft" dir="t">
                <a:rot lat="0" lon="0" rev="15600000"/>
              </a:lightRig>
            </a:scene3d>
            <a:sp3d extrusionH="57150" prstMaterial="softEdge">
              <a:bevelT w="25400" h="38100"/>
            </a:sp3d>
          </a:bodyPr>
          <a:lstStyle/>
          <a:p>
            <a:pPr marR="0" defTabSz="914400" eaLnBrk="0" hangingPunct="0">
              <a:buClrTx/>
              <a:buSzTx/>
              <a:buFontTx/>
              <a:defRPr/>
            </a:pPr>
            <a:r>
              <a:rPr kumimoji="0" lang="en-US" altLang="en-US" kern="1200" cap="none" spc="0" normalizeH="0" baseline="0" noProof="1">
                <a:solidFill>
                  <a:schemeClr val="accent4"/>
                </a:solidFill>
                <a:latin typeface="Times New Roman" panose="02020603050405020304" pitchFamily="18" charset="0"/>
                <a:ea typeface="宋体" panose="02010600030101010101" pitchFamily="2" charset="-122"/>
                <a:cs typeface="+mn-cs"/>
              </a:rPr>
              <a:t>(</a:t>
            </a:r>
            <a:r>
              <a:rPr kumimoji="0" lang="en-US" altLang="zh-CN" kern="1200" cap="none" spc="0" normalizeH="0" baseline="0" noProof="1">
                <a:solidFill>
                  <a:schemeClr val="accent4"/>
                </a:solidFill>
                <a:latin typeface="Times New Roman" panose="02020603050405020304" pitchFamily="18" charset="0"/>
                <a:ea typeface="宋体" panose="02010600030101010101" pitchFamily="2" charset="-122"/>
                <a:cs typeface="+mn-cs"/>
              </a:rPr>
              <a:t>P1)=0FEH</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23</a:t>
            </a:fld>
            <a:endParaRPr lang="en-US" altLang="zh-CN" sz="1400" b="0" dirty="0"/>
          </a:p>
        </p:txBody>
      </p:sp>
      <p:sp>
        <p:nvSpPr>
          <p:cNvPr id="263172" name="Text Box 4"/>
          <p:cNvSpPr txBox="1"/>
          <p:nvPr/>
        </p:nvSpPr>
        <p:spPr>
          <a:xfrm>
            <a:off x="0" y="620713"/>
            <a:ext cx="8569325" cy="5916612"/>
          </a:xfrm>
          <a:prstGeom prst="rect">
            <a:avLst/>
          </a:prstGeom>
          <a:noFill/>
          <a:ln w="9525">
            <a:noFill/>
          </a:ln>
        </p:spPr>
        <p:txBody>
          <a:bodyPr anchor="t" anchorCtr="0">
            <a:spAutoFit/>
          </a:bodyPr>
          <a:lstStyle/>
          <a:p>
            <a:pPr>
              <a:lnSpc>
                <a:spcPct val="130000"/>
              </a:lnSpc>
            </a:pPr>
            <a:r>
              <a:rPr lang="en-US" altLang="zh-CN" dirty="0">
                <a:latin typeface="Times New Roman" panose="02020603050405020304" pitchFamily="18" charset="0"/>
                <a:ea typeface="宋体" panose="02010600030101010101" pitchFamily="2" charset="-122"/>
              </a:rPr>
              <a:t>		ORG	0</a:t>
            </a:r>
          </a:p>
          <a:p>
            <a:pPr>
              <a:lnSpc>
                <a:spcPct val="130000"/>
              </a:lnSpc>
            </a:pPr>
            <a:r>
              <a:rPr lang="en-US" altLang="zh-CN" dirty="0">
                <a:latin typeface="Times New Roman" panose="02020603050405020304" pitchFamily="18" charset="0"/>
                <a:ea typeface="宋体" panose="02010600030101010101" pitchFamily="2" charset="-122"/>
              </a:rPr>
              <a:t>	            MOV	A, #0FEH	; </a:t>
            </a:r>
            <a:r>
              <a:rPr lang="zh-CN" altLang="en-US" dirty="0">
                <a:latin typeface="Times New Roman" panose="02020603050405020304" pitchFamily="18" charset="0"/>
                <a:ea typeface="宋体" panose="02010600030101010101" pitchFamily="2" charset="-122"/>
              </a:rPr>
              <a:t>循环时的初始数据</a:t>
            </a:r>
          </a:p>
          <a:p>
            <a:pPr>
              <a:lnSpc>
                <a:spcPct val="130000"/>
              </a:lnSpc>
            </a:pPr>
            <a:r>
              <a:rPr lang="en-US" altLang="zh-CN" dirty="0">
                <a:latin typeface="Times New Roman" panose="02020603050405020304" pitchFamily="18" charset="0"/>
                <a:ea typeface="宋体" panose="02010600030101010101" pitchFamily="2" charset="-122"/>
              </a:rPr>
              <a:t>LOOP:	MOV  P1, A	            ; </a:t>
            </a:r>
            <a:r>
              <a:rPr lang="zh-CN" altLang="en-US" dirty="0">
                <a:latin typeface="Times New Roman" panose="02020603050405020304" pitchFamily="18" charset="0"/>
                <a:ea typeface="宋体" panose="02010600030101010101" pitchFamily="2" charset="-122"/>
              </a:rPr>
              <a:t>点亮</a:t>
            </a:r>
            <a:r>
              <a:rPr lang="en-US" altLang="zh-CN" dirty="0">
                <a:latin typeface="Times New Roman" panose="02020603050405020304" pitchFamily="18" charset="0"/>
                <a:ea typeface="宋体" panose="02010600030101010101" pitchFamily="2" charset="-122"/>
              </a:rPr>
              <a:t>LED0</a:t>
            </a:r>
          </a:p>
          <a:p>
            <a:pPr>
              <a:lnSpc>
                <a:spcPct val="130000"/>
              </a:lnSpc>
            </a:pPr>
            <a:r>
              <a:rPr lang="en-US" altLang="zh-CN" dirty="0">
                <a:latin typeface="Times New Roman" panose="02020603050405020304" pitchFamily="18" charset="0"/>
                <a:ea typeface="宋体" panose="02010600030101010101" pitchFamily="2" charset="-122"/>
              </a:rPr>
              <a:t>		</a:t>
            </a:r>
          </a:p>
          <a:p>
            <a:pPr>
              <a:lnSpc>
                <a:spcPct val="130000"/>
              </a:lnSpc>
            </a:pPr>
            <a:endParaRPr lang="en-US" altLang="zh-CN" dirty="0">
              <a:latin typeface="Times New Roman" panose="02020603050405020304" pitchFamily="18" charset="0"/>
              <a:ea typeface="宋体" panose="02010600030101010101" pitchFamily="2" charset="-122"/>
            </a:endParaRPr>
          </a:p>
          <a:p>
            <a:pPr>
              <a:lnSpc>
                <a:spcPct val="130000"/>
              </a:lnSpc>
            </a:pPr>
            <a:endParaRPr lang="en-US" altLang="zh-CN" dirty="0">
              <a:latin typeface="Times New Roman" panose="02020603050405020304" pitchFamily="18" charset="0"/>
              <a:ea typeface="宋体" panose="02010600030101010101" pitchFamily="2" charset="-122"/>
            </a:endParaRPr>
          </a:p>
          <a:p>
            <a:pPr>
              <a:lnSpc>
                <a:spcPct val="130000"/>
              </a:lnSpc>
            </a:pPr>
            <a:endParaRPr lang="en-US" altLang="zh-CN" dirty="0">
              <a:latin typeface="Times New Roman" panose="02020603050405020304" pitchFamily="18" charset="0"/>
              <a:ea typeface="宋体" panose="02010600030101010101" pitchFamily="2" charset="-122"/>
            </a:endParaRPr>
          </a:p>
          <a:p>
            <a:pPr>
              <a:lnSpc>
                <a:spcPct val="130000"/>
              </a:lnSpc>
            </a:pPr>
            <a:endParaRPr lang="en-US" altLang="zh-CN" dirty="0">
              <a:latin typeface="Times New Roman" panose="02020603050405020304" pitchFamily="18" charset="0"/>
              <a:ea typeface="宋体" panose="02010600030101010101" pitchFamily="2" charset="-122"/>
            </a:endParaRPr>
          </a:p>
          <a:p>
            <a:pPr>
              <a:lnSpc>
                <a:spcPct val="130000"/>
              </a:lnSpc>
            </a:pPr>
            <a:endParaRPr lang="en-US" altLang="zh-CN" dirty="0">
              <a:latin typeface="Times New Roman" panose="02020603050405020304" pitchFamily="18" charset="0"/>
              <a:ea typeface="宋体" panose="02010600030101010101" pitchFamily="2" charset="-122"/>
            </a:endParaRPr>
          </a:p>
          <a:p>
            <a:pPr>
              <a:lnSpc>
                <a:spcPct val="130000"/>
              </a:lnSpc>
              <a:spcBef>
                <a:spcPct val="35000"/>
              </a:spcBef>
            </a:pPr>
            <a:r>
              <a:rPr lang="en-US" altLang="zh-CN"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RL	A	</a:t>
            </a:r>
            <a:r>
              <a:rPr lang="en-US" altLang="zh-CN" dirty="0">
                <a:latin typeface="Times New Roman" panose="02020603050405020304" pitchFamily="18" charset="0"/>
                <a:ea typeface="宋体" panose="02010600030101010101" pitchFamily="2" charset="-122"/>
              </a:rPr>
              <a:t>				</a:t>
            </a:r>
          </a:p>
          <a:p>
            <a:pPr>
              <a:lnSpc>
                <a:spcPct val="130000"/>
              </a:lnSpc>
            </a:pPr>
            <a:r>
              <a:rPr lang="en-US" altLang="zh-CN" dirty="0">
                <a:latin typeface="Times New Roman" panose="02020603050405020304" pitchFamily="18" charset="0"/>
                <a:ea typeface="宋体" panose="02010600030101010101" pitchFamily="2" charset="-122"/>
              </a:rPr>
              <a:t>	            SJMP	LOOP		; </a:t>
            </a:r>
            <a:r>
              <a:rPr lang="zh-CN" altLang="en-US" dirty="0">
                <a:latin typeface="Times New Roman" panose="02020603050405020304" pitchFamily="18" charset="0"/>
                <a:ea typeface="宋体" panose="02010600030101010101" pitchFamily="2" charset="-122"/>
              </a:rPr>
              <a:t>控制程序的循环</a:t>
            </a:r>
          </a:p>
          <a:p>
            <a:pPr>
              <a:lnSpc>
                <a:spcPct val="13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END</a:t>
            </a:r>
          </a:p>
        </p:txBody>
      </p:sp>
      <p:sp>
        <p:nvSpPr>
          <p:cNvPr id="263174" name="Text Box 6"/>
          <p:cNvSpPr txBox="1"/>
          <p:nvPr/>
        </p:nvSpPr>
        <p:spPr>
          <a:xfrm>
            <a:off x="174625" y="2144713"/>
            <a:ext cx="8569325" cy="2940050"/>
          </a:xfrm>
          <a:prstGeom prst="rect">
            <a:avLst/>
          </a:prstGeom>
          <a:solidFill>
            <a:srgbClr val="CCFFFF"/>
          </a:solidFill>
          <a:ln w="9525">
            <a:noFill/>
          </a:ln>
        </p:spPr>
        <p:txBody>
          <a:bodyPr anchor="t" anchorCtr="0">
            <a:spAutoFit/>
          </a:bodyPr>
          <a:lstStyle/>
          <a:p>
            <a:pPr>
              <a:lnSpc>
                <a:spcPct val="130000"/>
              </a:lnSpc>
            </a:pPr>
            <a:r>
              <a:rPr lang="en-US" altLang="zh-CN" dirty="0">
                <a:latin typeface="Times New Roman" panose="02020603050405020304" pitchFamily="18" charset="0"/>
                <a:ea typeface="宋体" panose="02010600030101010101" pitchFamily="2" charset="-122"/>
              </a:rPr>
              <a:t>		MOV	R5, #10	;1s</a:t>
            </a:r>
            <a:r>
              <a:rPr lang="zh-CN" altLang="en-US" dirty="0">
                <a:latin typeface="Times New Roman" panose="02020603050405020304" pitchFamily="18" charset="0"/>
                <a:ea typeface="宋体" panose="02010600030101010101" pitchFamily="2" charset="-122"/>
              </a:rPr>
              <a:t>延时程序，</a:t>
            </a:r>
            <a:r>
              <a:rPr lang="en-US" altLang="zh-CN" i="1" dirty="0">
                <a:latin typeface="Times New Roman" panose="02020603050405020304" pitchFamily="18" charset="0"/>
                <a:ea typeface="宋体" panose="02010600030101010101" pitchFamily="2" charset="-122"/>
              </a:rPr>
              <a:t>f</a:t>
            </a:r>
            <a:r>
              <a:rPr lang="en-US" altLang="zh-CN" baseline="-25000" dirty="0">
                <a:latin typeface="Times New Roman" panose="02020603050405020304" pitchFamily="18" charset="0"/>
                <a:ea typeface="宋体" panose="02010600030101010101" pitchFamily="2" charset="-122"/>
              </a:rPr>
              <a:t>OSC</a:t>
            </a:r>
            <a:r>
              <a:rPr lang="en-US" altLang="zh-CN" dirty="0">
                <a:latin typeface="Times New Roman" panose="02020603050405020304" pitchFamily="18" charset="0"/>
                <a:ea typeface="宋体" panose="02010600030101010101" pitchFamily="2" charset="-122"/>
              </a:rPr>
              <a:t>=12MHz</a:t>
            </a:r>
          </a:p>
          <a:p>
            <a:pPr>
              <a:lnSpc>
                <a:spcPct val="130000"/>
              </a:lnSpc>
            </a:pPr>
            <a:r>
              <a:rPr lang="en-US" altLang="zh-CN" dirty="0">
                <a:latin typeface="Times New Roman" panose="02020603050405020304" pitchFamily="18" charset="0"/>
                <a:ea typeface="宋体" panose="02010600030101010101" pitchFamily="2" charset="-122"/>
              </a:rPr>
              <a:t>DELAY0:</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R6, #200   		    </a:t>
            </a:r>
          </a:p>
          <a:p>
            <a:pPr>
              <a:lnSpc>
                <a:spcPct val="130000"/>
              </a:lnSpc>
            </a:pPr>
            <a:r>
              <a:rPr lang="en-US" altLang="zh-CN" dirty="0">
                <a:latin typeface="Times New Roman" panose="02020603050405020304" pitchFamily="18" charset="0"/>
                <a:ea typeface="宋体" panose="02010600030101010101" pitchFamily="2" charset="-122"/>
              </a:rPr>
              <a:t>DELAY1:</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R7, #250			</a:t>
            </a:r>
          </a:p>
          <a:p>
            <a:pPr>
              <a:lnSpc>
                <a:spcPct val="130000"/>
              </a:lnSpc>
            </a:pPr>
            <a:r>
              <a:rPr lang="en-US" altLang="zh-CN" dirty="0">
                <a:latin typeface="Times New Roman" panose="02020603050405020304" pitchFamily="18" charset="0"/>
                <a:ea typeface="宋体" panose="02010600030101010101" pitchFamily="2" charset="-122"/>
              </a:rPr>
              <a:t>DELAY2:</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DJNZ	R7, DELAY2			</a:t>
            </a:r>
          </a:p>
          <a:p>
            <a:pPr>
              <a:lnSpc>
                <a:spcPct val="130000"/>
              </a:lnSpc>
            </a:pPr>
            <a:r>
              <a:rPr lang="en-US" altLang="zh-CN" dirty="0">
                <a:latin typeface="Times New Roman" panose="02020603050405020304" pitchFamily="18" charset="0"/>
                <a:ea typeface="宋体" panose="02010600030101010101" pitchFamily="2" charset="-122"/>
              </a:rPr>
              <a:t>		</a:t>
            </a:r>
            <a:r>
              <a:rPr lang="pt-BR" altLang="zh-CN" dirty="0">
                <a:latin typeface="Times New Roman" panose="02020603050405020304" pitchFamily="18" charset="0"/>
                <a:ea typeface="宋体" panose="02010600030101010101" pitchFamily="2" charset="-122"/>
              </a:rPr>
              <a:t>DJNZ	R6, DELAY1			</a:t>
            </a:r>
          </a:p>
          <a:p>
            <a:pPr>
              <a:lnSpc>
                <a:spcPct val="130000"/>
              </a:lnSpc>
            </a:pPr>
            <a:r>
              <a:rPr lang="pt-BR" altLang="zh-CN" dirty="0">
                <a:latin typeface="Times New Roman" panose="02020603050405020304" pitchFamily="18" charset="0"/>
                <a:ea typeface="宋体" panose="02010600030101010101" pitchFamily="2" charset="-122"/>
              </a:rPr>
              <a:t>	            DJNZ	R5, DELAY0</a:t>
            </a:r>
            <a:r>
              <a:rPr lang="en-US" altLang="zh-CN" dirty="0">
                <a:latin typeface="Times New Roman" panose="02020603050405020304" pitchFamily="18" charset="0"/>
                <a:ea typeface="宋体" panose="02010600030101010101" pitchFamily="2" charset="-122"/>
              </a:rPr>
              <a:t>     		</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3174"/>
                                        </p:tgtEl>
                                        <p:attrNameLst>
                                          <p:attrName>style.visibility</p:attrName>
                                        </p:attrNameLst>
                                      </p:cBhvr>
                                      <p:to>
                                        <p:strVal val="visible"/>
                                      </p:to>
                                    </p:set>
                                    <p:anim calcmode="lin" valueType="num">
                                      <p:cBhvr additive="base">
                                        <p:cTn id="7" dur="500" fill="hold"/>
                                        <p:tgtEl>
                                          <p:spTgt spid="263174"/>
                                        </p:tgtEl>
                                        <p:attrNameLst>
                                          <p:attrName>ppt_x</p:attrName>
                                        </p:attrNameLst>
                                      </p:cBhvr>
                                      <p:tavLst>
                                        <p:tav tm="0">
                                          <p:val>
                                            <p:strVal val="#ppt_x"/>
                                          </p:val>
                                        </p:tav>
                                        <p:tav tm="100000">
                                          <p:val>
                                            <p:strVal val="#ppt_x"/>
                                          </p:val>
                                        </p:tav>
                                      </p:tavLst>
                                    </p:anim>
                                    <p:anim calcmode="lin" valueType="num">
                                      <p:cBhvr additive="base">
                                        <p:cTn id="8" dur="500" fill="hold"/>
                                        <p:tgtEl>
                                          <p:spTgt spid="2631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63172"/>
                                        </p:tgtEl>
                                        <p:attrNameLst>
                                          <p:attrName>style.visibility</p:attrName>
                                        </p:attrNameLst>
                                      </p:cBhvr>
                                      <p:to>
                                        <p:strVal val="visible"/>
                                      </p:to>
                                    </p:set>
                                    <p:animEffect transition="in" filter="blinds(horizontal)">
                                      <p:cBhvr>
                                        <p:cTn id="13" dur="500"/>
                                        <p:tgtEl>
                                          <p:spTgt spid="263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2" grpId="0"/>
      <p:bldP spid="26317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24</a:t>
            </a:fld>
            <a:endParaRPr lang="en-US" altLang="zh-CN" sz="1400" b="0" dirty="0"/>
          </a:p>
        </p:txBody>
      </p:sp>
      <p:sp>
        <p:nvSpPr>
          <p:cNvPr id="30722" name="Rectangle 2"/>
          <p:cNvSpPr/>
          <p:nvPr/>
        </p:nvSpPr>
        <p:spPr>
          <a:xfrm>
            <a:off x="304800" y="914400"/>
            <a:ext cx="8534400" cy="2009775"/>
          </a:xfrm>
          <a:prstGeom prst="rect">
            <a:avLst/>
          </a:prstGeom>
          <a:noFill/>
          <a:ln w="9525">
            <a:noFill/>
          </a:ln>
        </p:spPr>
        <p:txBody>
          <a:bodyPr anchor="t" anchorCtr="0">
            <a:spAutoFit/>
          </a:bodyPr>
          <a:lstStyle/>
          <a:p>
            <a:pPr indent="266700" algn="ctr">
              <a:lnSpc>
                <a:spcPct val="130000"/>
              </a:lnSpc>
            </a:pPr>
            <a:r>
              <a:rPr lang="en-US" altLang="zh-CN" dirty="0">
                <a:solidFill>
                  <a:srgbClr val="FF3300"/>
                </a:solidFill>
                <a:latin typeface="Times New Roman" panose="02020603050405020304" pitchFamily="18" charset="0"/>
                <a:ea typeface="黑体" panose="02010609060101010101" pitchFamily="49" charset="-122"/>
              </a:rPr>
              <a:t>4.3 </a:t>
            </a:r>
            <a:r>
              <a:rPr lang="zh-CN" altLang="en-US" dirty="0">
                <a:solidFill>
                  <a:srgbClr val="FF3300"/>
                </a:solidFill>
                <a:latin typeface="Times New Roman" panose="02020603050405020304" pitchFamily="18" charset="0"/>
                <a:ea typeface="黑体" panose="02010609060101010101" pitchFamily="49" charset="-122"/>
              </a:rPr>
              <a:t>分支程序</a:t>
            </a:r>
            <a:endParaRPr lang="zh-CN" altLang="en-US" dirty="0">
              <a:solidFill>
                <a:srgbClr val="FF3300"/>
              </a:solidFill>
              <a:latin typeface="Times New Roman" panose="02020603050405020304" pitchFamily="18" charset="0"/>
              <a:ea typeface="宋体" panose="02010600030101010101" pitchFamily="2" charset="-122"/>
            </a:endParaRPr>
          </a:p>
          <a:p>
            <a:pPr indent="266700" algn="just" eaLnBrk="0" hangingPunct="0">
              <a:lnSpc>
                <a:spcPct val="130000"/>
              </a:lnSpc>
            </a:pPr>
            <a:endParaRPr lang="zh-CN" altLang="en-US" dirty="0">
              <a:latin typeface="Times New Roman" panose="02020603050405020304" pitchFamily="18" charset="0"/>
              <a:ea typeface="宋体" panose="02010600030101010101" pitchFamily="2" charset="-122"/>
            </a:endParaRP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 分支程序的基本结构：单分支和多分支。</a:t>
            </a:r>
          </a:p>
          <a:p>
            <a:pPr indent="266700" algn="just" eaLnBrk="0" hangingPunct="0">
              <a:lnSpc>
                <a:spcPct val="130000"/>
              </a:lnSpc>
            </a:pPr>
            <a:r>
              <a:rPr lang="zh-CN" altLang="en-US" dirty="0">
                <a:latin typeface="Times New Roman" panose="02020603050405020304" pitchFamily="18" charset="0"/>
                <a:ea typeface="宋体" panose="02010600030101010101" pitchFamily="2" charset="-122"/>
              </a:rPr>
              <a:t>		其特点是：各处理模块是相互排斥的。</a:t>
            </a:r>
          </a:p>
        </p:txBody>
      </p:sp>
      <p:sp>
        <p:nvSpPr>
          <p:cNvPr id="30723" name="Text Box 5"/>
          <p:cNvSpPr txBox="1"/>
          <p:nvPr/>
        </p:nvSpPr>
        <p:spPr>
          <a:xfrm>
            <a:off x="1547813" y="5949950"/>
            <a:ext cx="5600700" cy="438150"/>
          </a:xfrm>
          <a:prstGeom prst="rect">
            <a:avLst/>
          </a:prstGeom>
          <a:solidFill>
            <a:srgbClr val="FFFFFF"/>
          </a:solidFill>
          <a:ln w="9525">
            <a:noFill/>
          </a:ln>
        </p:spPr>
        <p:txBody>
          <a:bodyPr lIns="0" tIns="0" rIns="0" bIns="0" anchor="t" anchorCtr="0"/>
          <a:lstStyle/>
          <a:p>
            <a:pPr algn="ctr" eaLnBrk="0" hangingPunct="0"/>
            <a:r>
              <a:rPr lang="zh-CN" altLang="en-US" b="0" dirty="0">
                <a:latin typeface="Times New Roman" panose="02020603050405020304" pitchFamily="18" charset="0"/>
                <a:ea typeface="黑体" panose="02010609060101010101" pitchFamily="49" charset="-122"/>
              </a:rPr>
              <a:t>分支程序流程图</a:t>
            </a:r>
          </a:p>
        </p:txBody>
      </p:sp>
      <p:sp>
        <p:nvSpPr>
          <p:cNvPr id="30724" name="Rectangle 8"/>
          <p:cNvSpPr/>
          <p:nvPr/>
        </p:nvSpPr>
        <p:spPr>
          <a:xfrm>
            <a:off x="0" y="2790825"/>
            <a:ext cx="9144000" cy="0"/>
          </a:xfrm>
          <a:prstGeom prst="rect">
            <a:avLst/>
          </a:prstGeom>
          <a:noFill/>
          <a:ln w="9525">
            <a:noFill/>
          </a:ln>
        </p:spPr>
        <p:txBody>
          <a:bodyPr wrap="none" anchor="ctr" anchorCtr="0">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30725" name="Object 7"/>
          <p:cNvGraphicFramePr>
            <a:graphicFrameLocks/>
          </p:cNvGraphicFramePr>
          <p:nvPr/>
        </p:nvGraphicFramePr>
        <p:xfrm>
          <a:off x="0" y="3141663"/>
          <a:ext cx="3635375" cy="2587625"/>
        </p:xfrm>
        <a:graphic>
          <a:graphicData uri="http://schemas.openxmlformats.org/presentationml/2006/ole">
            <p:oleObj spid="_x0000_s3078" r:id="rId3" imgW="5206701" imgH="1272558" progId="">
              <p:embed/>
            </p:oleObj>
          </a:graphicData>
        </a:graphic>
      </p:graphicFrame>
      <p:graphicFrame>
        <p:nvGraphicFramePr>
          <p:cNvPr id="30726" name="Object 9"/>
          <p:cNvGraphicFramePr>
            <a:graphicFrameLocks/>
          </p:cNvGraphicFramePr>
          <p:nvPr/>
        </p:nvGraphicFramePr>
        <p:xfrm>
          <a:off x="3492500" y="3284538"/>
          <a:ext cx="5651500" cy="2495550"/>
        </p:xfrm>
        <a:graphic>
          <a:graphicData uri="http://schemas.openxmlformats.org/presentationml/2006/ole">
            <p:oleObj spid="_x0000_s3077" r:id="rId4" imgW="5206701" imgH="1272558" progId="">
              <p:embed/>
            </p:oleObj>
          </a:graphicData>
        </a:graphic>
      </p:graphicFrame>
    </p:spTree>
  </p:cSld>
  <p:clrMapOvr>
    <a:masterClrMapping/>
  </p:clrMapOvr>
  <p:transition>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25</a:t>
            </a:fld>
            <a:endParaRPr lang="en-US" altLang="zh-CN" sz="1400" b="0" dirty="0"/>
          </a:p>
        </p:txBody>
      </p:sp>
      <p:sp>
        <p:nvSpPr>
          <p:cNvPr id="31746" name="Rectangle 2"/>
          <p:cNvSpPr/>
          <p:nvPr/>
        </p:nvSpPr>
        <p:spPr>
          <a:xfrm>
            <a:off x="573088" y="844550"/>
            <a:ext cx="8229600" cy="5220970"/>
          </a:xfrm>
          <a:prstGeom prst="rect">
            <a:avLst/>
          </a:prstGeom>
          <a:noFill/>
          <a:ln w="9525">
            <a:noFill/>
          </a:ln>
        </p:spPr>
        <p:txBody>
          <a:bodyPr anchor="t" anchorCtr="0">
            <a:spAutoFit/>
          </a:bodyPr>
          <a:lstStyle/>
          <a:p>
            <a:pPr eaLnBrk="0" hangingPunct="0">
              <a:lnSpc>
                <a:spcPct val="130000"/>
              </a:lnSpc>
              <a:spcBef>
                <a:spcPct val="50000"/>
              </a:spcBef>
            </a:pPr>
            <a:r>
              <a:rPr lang="zh-CN" altLang="en-US" dirty="0">
                <a:solidFill>
                  <a:srgbClr val="0000CC"/>
                </a:solidFill>
                <a:latin typeface="Times New Roman" panose="02020603050405020304" pitchFamily="18" charset="0"/>
                <a:ea typeface="宋体" panose="02010600030101010101" pitchFamily="2" charset="-122"/>
              </a:rPr>
              <a:t>实现单分支指令：</a:t>
            </a:r>
          </a:p>
          <a:p>
            <a:pPr eaLnBrk="0" hangingPunct="0">
              <a:lnSpc>
                <a:spcPct val="130000"/>
              </a:lnSpc>
              <a:spcBef>
                <a:spcPct val="50000"/>
              </a:spcBef>
            </a:pPr>
            <a:r>
              <a:rPr lang="en-US" altLang="zh-CN" dirty="0">
                <a:solidFill>
                  <a:srgbClr val="FF3300"/>
                </a:solidFill>
                <a:latin typeface="Times New Roman" panose="02020603050405020304" pitchFamily="18" charset="0"/>
                <a:ea typeface="宋体" panose="02010600030101010101" pitchFamily="2" charset="-122"/>
              </a:rPr>
              <a:t>13</a:t>
            </a:r>
            <a:r>
              <a:rPr lang="zh-CN" altLang="en-US" dirty="0">
                <a:solidFill>
                  <a:srgbClr val="FF3300"/>
                </a:solidFill>
                <a:latin typeface="Times New Roman" panose="02020603050405020304" pitchFamily="18" charset="0"/>
                <a:ea typeface="宋体" panose="02010600030101010101" pitchFamily="2" charset="-122"/>
              </a:rPr>
              <a:t>条条件转移指令，</a:t>
            </a:r>
            <a:r>
              <a:rPr lang="zh-CN" altLang="en-US" dirty="0">
                <a:latin typeface="Times New Roman" panose="02020603050405020304" pitchFamily="18" charset="0"/>
                <a:ea typeface="宋体" panose="02010600030101010101" pitchFamily="2" charset="-122"/>
              </a:rPr>
              <a:t>分别为</a:t>
            </a:r>
            <a:r>
              <a:rPr lang="en-US" altLang="zh-CN" dirty="0">
                <a:latin typeface="Times New Roman" panose="02020603050405020304" pitchFamily="18" charset="0"/>
                <a:ea typeface="宋体" panose="02010600030101010101" pitchFamily="2" charset="-122"/>
              </a:rPr>
              <a:t>: </a:t>
            </a:r>
          </a:p>
          <a:p>
            <a:pPr eaLnBrk="0" hangingPunct="0">
              <a:lnSpc>
                <a:spcPct val="130000"/>
              </a:lnSpc>
              <a:spcBef>
                <a:spcPct val="50000"/>
              </a:spcBef>
            </a:pPr>
            <a:r>
              <a:rPr lang="en-US" altLang="zh-CN" dirty="0">
                <a:latin typeface="Times New Roman" panose="02020603050405020304" pitchFamily="18" charset="0"/>
                <a:ea typeface="宋体" panose="02010600030101010101" pitchFamily="2" charset="-122"/>
              </a:rPr>
              <a:t>    JZ</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JNZ:  </a:t>
            </a:r>
            <a:r>
              <a:rPr lang="zh-CN" altLang="en-US" dirty="0">
                <a:latin typeface="Times New Roman" panose="02020603050405020304" pitchFamily="18" charset="0"/>
                <a:ea typeface="宋体" panose="02010600030101010101" pitchFamily="2" charset="-122"/>
              </a:rPr>
              <a:t>累加器判零转移指令；</a:t>
            </a:r>
          </a:p>
          <a:p>
            <a:pPr eaLnBrk="0" hangingPunct="0">
              <a:lnSpc>
                <a:spcPct val="130000"/>
              </a:lnSpc>
              <a:spcBef>
                <a:spcPct val="50000"/>
              </a:spcBef>
            </a:pPr>
            <a:r>
              <a:rPr lang="en-US" altLang="zh-CN" dirty="0">
                <a:latin typeface="Times New Roman" panose="02020603050405020304" pitchFamily="18" charset="0"/>
                <a:ea typeface="宋体" panose="02010600030101010101" pitchFamily="2" charset="-122"/>
              </a:rPr>
              <a:t>    CJNE</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条）</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比较条件转移指令；</a:t>
            </a:r>
          </a:p>
          <a:p>
            <a:pPr eaLnBrk="0" hangingPunct="0">
              <a:lnSpc>
                <a:spcPct val="130000"/>
              </a:lnSpc>
              <a:spcBef>
                <a:spcPct val="50000"/>
              </a:spcBef>
            </a:pPr>
            <a:r>
              <a:rPr lang="en-US" altLang="zh-CN" dirty="0">
                <a:latin typeface="Times New Roman" panose="02020603050405020304" pitchFamily="18" charset="0"/>
                <a:ea typeface="宋体" panose="02010600030101010101" pitchFamily="2" charset="-122"/>
              </a:rPr>
              <a:t>    DJNZ</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条）</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减</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条件转移指令</a:t>
            </a:r>
            <a:r>
              <a:rPr lang="en-US" altLang="zh-CN" dirty="0">
                <a:latin typeface="Times New Roman" panose="02020603050405020304" pitchFamily="18" charset="0"/>
                <a:ea typeface="宋体" panose="02010600030101010101" pitchFamily="2" charset="-122"/>
              </a:rPr>
              <a:t>;</a:t>
            </a:r>
          </a:p>
          <a:p>
            <a:pPr eaLnBrk="0" hangingPunct="0">
              <a:lnSpc>
                <a:spcPct val="130000"/>
              </a:lnSpc>
              <a:spcBef>
                <a:spcPct val="50000"/>
              </a:spcBef>
            </a:pPr>
            <a:r>
              <a:rPr lang="en-US" altLang="zh-CN" dirty="0">
                <a:latin typeface="Times New Roman" panose="02020603050405020304" pitchFamily="18" charset="0"/>
                <a:ea typeface="宋体" panose="02010600030101010101" pitchFamily="2" charset="-122"/>
              </a:rPr>
              <a:t>    JC, JNC,  JB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JNB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JBC: </a:t>
            </a:r>
            <a:r>
              <a:rPr lang="zh-CN" altLang="en-US" dirty="0">
                <a:latin typeface="Times New Roman" panose="02020603050405020304" pitchFamily="18" charset="0"/>
                <a:ea typeface="宋体" panose="02010600030101010101" pitchFamily="2" charset="-122"/>
              </a:rPr>
              <a:t>位控制条件转移指令等四类。</a:t>
            </a:r>
          </a:p>
          <a:p>
            <a:pPr eaLnBrk="0" hangingPunct="0">
              <a:lnSpc>
                <a:spcPct val="130000"/>
              </a:lnSpc>
              <a:spcBef>
                <a:spcPct val="50000"/>
              </a:spcBef>
            </a:pPr>
            <a:r>
              <a:rPr lang="zh-CN" altLang="en-US" dirty="0">
                <a:solidFill>
                  <a:srgbClr val="0000CC"/>
                </a:solidFill>
                <a:latin typeface="Times New Roman" panose="02020603050405020304" pitchFamily="18" charset="0"/>
                <a:ea typeface="宋体" panose="02010600030101010101" pitchFamily="2" charset="-122"/>
              </a:rPr>
              <a:t>实现多分支的指令：</a:t>
            </a:r>
          </a:p>
          <a:p>
            <a:pPr eaLnBrk="0" hangingPunct="0">
              <a:lnSpc>
                <a:spcPct val="130000"/>
              </a:lnSpc>
              <a:spcBef>
                <a:spcPct val="50000"/>
              </a:spcBef>
            </a:pPr>
            <a:r>
              <a:rPr lang="en-US" altLang="zh-CN" dirty="0">
                <a:solidFill>
                  <a:schemeClr val="folHlink"/>
                </a:solidFill>
                <a:latin typeface="Times New Roman" panose="02020603050405020304" pitchFamily="18" charset="0"/>
                <a:ea typeface="宋体" panose="02010600030101010101" pitchFamily="2" charset="-122"/>
              </a:rPr>
              <a:t>    JMP  @A+DPTR </a:t>
            </a:r>
          </a:p>
        </p:txBody>
      </p:sp>
    </p:spTree>
  </p:cSld>
  <p:clrMapOvr>
    <a:masterClrMapping/>
  </p:clrMapOvr>
  <p:transition>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26</a:t>
            </a:fld>
            <a:endParaRPr lang="en-US" altLang="zh-CN" sz="1400" b="0" dirty="0"/>
          </a:p>
        </p:txBody>
      </p:sp>
      <p:sp>
        <p:nvSpPr>
          <p:cNvPr id="32770" name="Text Box 4"/>
          <p:cNvSpPr txBox="1"/>
          <p:nvPr/>
        </p:nvSpPr>
        <p:spPr>
          <a:xfrm>
            <a:off x="381000" y="838200"/>
            <a:ext cx="8361680" cy="1714500"/>
          </a:xfrm>
          <a:prstGeom prst="rect">
            <a:avLst/>
          </a:prstGeom>
          <a:noFill/>
          <a:ln w="9525">
            <a:noFill/>
          </a:ln>
        </p:spPr>
        <p:txBody>
          <a:bodyPr wrap="square" anchor="t" anchorCtr="0">
            <a:spAutoFit/>
          </a:bodyPr>
          <a:lstStyle/>
          <a:p>
            <a:pPr>
              <a:lnSpc>
                <a:spcPct val="130000"/>
              </a:lnSpc>
            </a:pPr>
            <a:r>
              <a:rPr lang="zh-CN" altLang="en-US" dirty="0">
                <a:solidFill>
                  <a:srgbClr val="FF3300"/>
                </a:solidFill>
                <a:latin typeface="Times New Roman" panose="02020603050405020304" pitchFamily="18" charset="0"/>
                <a:ea typeface="宋体" panose="02010600030101010101" pitchFamily="2" charset="-122"/>
              </a:rPr>
              <a:t>单分支程序举例</a:t>
            </a:r>
          </a:p>
          <a:p>
            <a:pPr>
              <a:lnSpc>
                <a:spcPct val="130000"/>
              </a:lnSpc>
              <a:spcBef>
                <a:spcPct val="50000"/>
              </a:spcBef>
            </a:pPr>
            <a:r>
              <a:rPr lang="zh-CN" altLang="en-US" dirty="0">
                <a:latin typeface="Times New Roman" panose="02020603050405020304" pitchFamily="18" charset="0"/>
                <a:ea typeface="宋体" panose="02010600030101010101" pitchFamily="2" charset="-122"/>
              </a:rPr>
              <a:t>题</a:t>
            </a:r>
            <a:r>
              <a:rPr lang="en-US" altLang="zh-CN" dirty="0">
                <a:latin typeface="Times New Roman" panose="02020603050405020304" pitchFamily="18" charset="0"/>
                <a:ea typeface="宋体" panose="02010600030101010101" pitchFamily="2" charset="-122"/>
              </a:rPr>
              <a:t>4-6  x, y</a:t>
            </a:r>
            <a:r>
              <a:rPr lang="zh-CN" altLang="en-US" dirty="0">
                <a:latin typeface="Times New Roman" panose="02020603050405020304" pitchFamily="18" charset="0"/>
                <a:ea typeface="宋体" panose="02010600030101010101" pitchFamily="2" charset="-122"/>
              </a:rPr>
              <a:t>均为</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位二进制数</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x</a:t>
            </a:r>
            <a:r>
              <a:rPr lang="zh-CN" altLang="en-US" dirty="0">
                <a:latin typeface="Times New Roman" panose="02020603050405020304" pitchFamily="18" charset="0"/>
                <a:ea typeface="宋体" panose="02010600030101010101" pitchFamily="2" charset="-122"/>
              </a:rPr>
              <a:t>存放在</a:t>
            </a:r>
            <a:r>
              <a:rPr lang="en-US" altLang="zh-CN" dirty="0">
                <a:latin typeface="Times New Roman" panose="02020603050405020304" pitchFamily="18" charset="0"/>
                <a:ea typeface="宋体" panose="02010600030101010101" pitchFamily="2" charset="-122"/>
              </a:rPr>
              <a:t>40H</a:t>
            </a:r>
            <a:r>
              <a:rPr lang="zh-CN" altLang="en-US" dirty="0">
                <a:latin typeface="Times New Roman" panose="02020603050405020304" pitchFamily="18" charset="0"/>
                <a:ea typeface="宋体" panose="02010600030101010101" pitchFamily="2" charset="-122"/>
              </a:rPr>
              <a:t>单元中，函数值</a:t>
            </a:r>
            <a:r>
              <a:rPr lang="en-US" altLang="zh-CN" i="1"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存放在</a:t>
            </a:r>
            <a:r>
              <a:rPr lang="en-US" altLang="zh-CN" dirty="0">
                <a:latin typeface="Times New Roman" panose="02020603050405020304" pitchFamily="18" charset="0"/>
                <a:ea typeface="宋体" panose="02010600030101010101" pitchFamily="2" charset="-122"/>
              </a:rPr>
              <a:t>50H</a:t>
            </a:r>
            <a:r>
              <a:rPr lang="zh-CN" altLang="en-US" dirty="0">
                <a:latin typeface="Times New Roman" panose="02020603050405020304" pitchFamily="18" charset="0"/>
                <a:ea typeface="宋体" panose="02010600030101010101" pitchFamily="2" charset="-122"/>
              </a:rPr>
              <a:t>单元中， 按下式给</a:t>
            </a:r>
            <a:r>
              <a:rPr lang="en-US" altLang="zh-CN" dirty="0">
                <a:latin typeface="Times New Roman" panose="02020603050405020304" pitchFamily="18" charset="0"/>
                <a:ea typeface="宋体" panose="02010600030101010101" pitchFamily="2" charset="-122"/>
              </a:rPr>
              <a:t>y</a:t>
            </a:r>
            <a:r>
              <a:rPr lang="zh-CN" altLang="en-US" dirty="0">
                <a:latin typeface="Times New Roman" panose="02020603050405020304" pitchFamily="18" charset="0"/>
                <a:ea typeface="宋体" panose="02010600030101010101" pitchFamily="2" charset="-122"/>
              </a:rPr>
              <a:t>赋值</a:t>
            </a:r>
            <a:r>
              <a:rPr lang="en-US" altLang="zh-CN" dirty="0">
                <a:latin typeface="Times New Roman" panose="02020603050405020304" pitchFamily="18" charset="0"/>
                <a:ea typeface="宋体" panose="02010600030101010101" pitchFamily="2" charset="-122"/>
              </a:rPr>
              <a:t>. </a:t>
            </a:r>
          </a:p>
        </p:txBody>
      </p:sp>
      <p:grpSp>
        <p:nvGrpSpPr>
          <p:cNvPr id="32771" name="Group 8"/>
          <p:cNvGrpSpPr/>
          <p:nvPr/>
        </p:nvGrpSpPr>
        <p:grpSpPr>
          <a:xfrm>
            <a:off x="2667000" y="3048000"/>
            <a:ext cx="2586038" cy="1828800"/>
            <a:chOff x="2112" y="996"/>
            <a:chExt cx="1629" cy="1152"/>
          </a:xfrm>
        </p:grpSpPr>
        <p:graphicFrame>
          <p:nvGraphicFramePr>
            <p:cNvPr id="32772" name="Object 5"/>
            <p:cNvGraphicFramePr>
              <a:graphicFrameLocks/>
            </p:cNvGraphicFramePr>
            <p:nvPr/>
          </p:nvGraphicFramePr>
          <p:xfrm>
            <a:off x="2112" y="996"/>
            <a:ext cx="728" cy="1152"/>
          </p:xfrm>
          <a:graphic>
            <a:graphicData uri="http://schemas.openxmlformats.org/presentationml/2006/ole">
              <p:oleObj spid="_x0000_s53250" r:id="rId3" imgW="545863" imgH="863225" progId="Equation.3">
                <p:embed/>
              </p:oleObj>
            </a:graphicData>
          </a:graphic>
        </p:graphicFrame>
        <p:graphicFrame>
          <p:nvGraphicFramePr>
            <p:cNvPr id="32773" name="Object 6"/>
            <p:cNvGraphicFramePr>
              <a:graphicFrameLocks/>
            </p:cNvGraphicFramePr>
            <p:nvPr/>
          </p:nvGraphicFramePr>
          <p:xfrm>
            <a:off x="3264" y="1008"/>
            <a:ext cx="477" cy="1056"/>
          </p:xfrm>
          <a:graphic>
            <a:graphicData uri="http://schemas.openxmlformats.org/presentationml/2006/ole">
              <p:oleObj spid="_x0000_s53249" r:id="rId4" imgW="355446" imgH="787058" progId="Equation.3">
                <p:embed/>
              </p:oleObj>
            </a:graphicData>
          </a:graphic>
        </p:graphicFrame>
      </p:grpSp>
    </p:spTree>
  </p:cSld>
  <p:clrMapOvr>
    <a:masterClrMapping/>
  </p:clrMapOvr>
  <p:transition>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27</a:t>
            </a:fld>
            <a:endParaRPr lang="en-US" altLang="zh-CN" sz="1400" b="0" dirty="0"/>
          </a:p>
        </p:txBody>
      </p:sp>
      <p:pic>
        <p:nvPicPr>
          <p:cNvPr id="33794" name="Picture 5" descr="未标题-1拷贝"/>
          <p:cNvPicPr>
            <a:picLocks noChangeAspect="1"/>
          </p:cNvPicPr>
          <p:nvPr/>
        </p:nvPicPr>
        <p:blipFill>
          <a:blip r:embed="rId2"/>
          <a:stretch>
            <a:fillRect/>
          </a:stretch>
        </p:blipFill>
        <p:spPr>
          <a:xfrm>
            <a:off x="2667000" y="990600"/>
            <a:ext cx="3557588" cy="5334000"/>
          </a:xfrm>
          <a:prstGeom prst="rect">
            <a:avLst/>
          </a:prstGeom>
          <a:noFill/>
          <a:ln w="9525">
            <a:noFill/>
          </a:ln>
        </p:spPr>
      </p:pic>
      <p:sp>
        <p:nvSpPr>
          <p:cNvPr id="2" name="文本框 1"/>
          <p:cNvSpPr txBox="1"/>
          <p:nvPr/>
        </p:nvSpPr>
        <p:spPr>
          <a:xfrm>
            <a:off x="2339975" y="2276475"/>
            <a:ext cx="836295" cy="460375"/>
          </a:xfrm>
          <a:prstGeom prst="rect">
            <a:avLst/>
          </a:prstGeom>
          <a:noFill/>
        </p:spPr>
        <p:txBody>
          <a:bodyPr wrap="square" rtlCol="0">
            <a:spAutoFit/>
          </a:bodyPr>
          <a:lstStyle/>
          <a:p>
            <a:r>
              <a:rPr lang="en-US" altLang="zh-CN">
                <a:solidFill>
                  <a:srgbClr val="FF0000"/>
                </a:solidFill>
              </a:rPr>
              <a:t>JZ</a:t>
            </a:r>
          </a:p>
        </p:txBody>
      </p:sp>
      <p:sp>
        <p:nvSpPr>
          <p:cNvPr id="3" name="文本框 2"/>
          <p:cNvSpPr txBox="1"/>
          <p:nvPr/>
        </p:nvSpPr>
        <p:spPr>
          <a:xfrm>
            <a:off x="6012180" y="3140710"/>
            <a:ext cx="2165350" cy="460375"/>
          </a:xfrm>
          <a:prstGeom prst="rect">
            <a:avLst/>
          </a:prstGeom>
          <a:noFill/>
        </p:spPr>
        <p:txBody>
          <a:bodyPr wrap="square" rtlCol="0">
            <a:spAutoFit/>
          </a:bodyPr>
          <a:lstStyle/>
          <a:p>
            <a:r>
              <a:rPr lang="en-US" altLang="zh-CN">
                <a:solidFill>
                  <a:srgbClr val="FF0000"/>
                </a:solidFill>
              </a:rPr>
              <a:t>JB </a:t>
            </a:r>
            <a:r>
              <a:rPr lang="zh-CN" altLang="en-US">
                <a:solidFill>
                  <a:srgbClr val="FF0000"/>
                </a:solidFill>
              </a:rPr>
              <a:t>（或</a:t>
            </a:r>
            <a:r>
              <a:rPr lang="en-US" altLang="zh-CN">
                <a:solidFill>
                  <a:srgbClr val="FF0000"/>
                </a:solidFill>
              </a:rPr>
              <a:t>JNB</a:t>
            </a:r>
            <a:r>
              <a:rPr lang="zh-CN" altLang="en-US">
                <a:solidFill>
                  <a:srgbClr val="FF0000"/>
                </a:solidFill>
              </a:rPr>
              <a:t>）</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28</a:t>
            </a:fld>
            <a:endParaRPr lang="en-US" altLang="zh-CN" sz="1400" b="0" dirty="0"/>
          </a:p>
        </p:txBody>
      </p:sp>
      <p:pic>
        <p:nvPicPr>
          <p:cNvPr id="2" name="图片 1"/>
          <p:cNvPicPr>
            <a:picLocks noChangeAspect="1"/>
          </p:cNvPicPr>
          <p:nvPr/>
        </p:nvPicPr>
        <p:blipFill>
          <a:blip r:embed="rId2"/>
          <a:stretch>
            <a:fillRect/>
          </a:stretch>
        </p:blipFill>
        <p:spPr>
          <a:xfrm>
            <a:off x="314325" y="581025"/>
            <a:ext cx="8515350" cy="5695950"/>
          </a:xfrm>
          <a:prstGeom prst="rect">
            <a:avLst/>
          </a:prstGeom>
        </p:spPr>
      </p:pic>
    </p:spTree>
  </p:cSld>
  <p:clrMapOvr>
    <a:masterClrMapping/>
  </p:clrMapOvr>
  <p:transition>
    <p:blinds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29</a:t>
            </a:fld>
            <a:endParaRPr lang="en-US" altLang="zh-CN" sz="1400" b="0" dirty="0"/>
          </a:p>
        </p:txBody>
      </p:sp>
      <p:sp>
        <p:nvSpPr>
          <p:cNvPr id="16391" name="Rectangle 7"/>
          <p:cNvSpPr/>
          <p:nvPr/>
        </p:nvSpPr>
        <p:spPr>
          <a:xfrm>
            <a:off x="228600" y="631825"/>
            <a:ext cx="8610600" cy="2647950"/>
          </a:xfrm>
          <a:prstGeom prst="rect">
            <a:avLst/>
          </a:prstGeom>
          <a:noFill/>
          <a:ln w="9525">
            <a:noFill/>
          </a:ln>
        </p:spPr>
        <p:txBody>
          <a:bodyPr anchor="t" anchorCtr="0">
            <a:spAutoFit/>
          </a:bodyPr>
          <a:lstStyle/>
          <a:p>
            <a:pPr algn="just">
              <a:lnSpc>
                <a:spcPct val="140000"/>
              </a:lnSpc>
            </a:pPr>
            <a:r>
              <a:rPr lang="en-US" altLang="zh-CN" dirty="0">
                <a:solidFill>
                  <a:srgbClr val="FF3300"/>
                </a:solidFill>
                <a:latin typeface="Times New Roman" panose="02020603050405020304" pitchFamily="18" charset="0"/>
                <a:ea typeface="黑体" panose="02010609060101010101" pitchFamily="49" charset="-122"/>
              </a:rPr>
              <a:t>(2) </a:t>
            </a:r>
            <a:r>
              <a:rPr lang="zh-CN" altLang="en-US" dirty="0">
                <a:solidFill>
                  <a:srgbClr val="FF3300"/>
                </a:solidFill>
                <a:latin typeface="Times New Roman" panose="02020603050405020304" pitchFamily="18" charset="0"/>
                <a:ea typeface="黑体" panose="02010609060101010101" pitchFamily="49" charset="-122"/>
              </a:rPr>
              <a:t>多分支（散转）程序举例</a:t>
            </a:r>
            <a:endParaRPr lang="zh-CN" altLang="en-US" dirty="0">
              <a:solidFill>
                <a:srgbClr val="FF3300"/>
              </a:solidFill>
              <a:latin typeface="Times New Roman" panose="02020603050405020304" pitchFamily="18" charset="0"/>
              <a:ea typeface="宋体" panose="02010600030101010101" pitchFamily="2" charset="-122"/>
            </a:endParaRPr>
          </a:p>
          <a:p>
            <a:pPr algn="just">
              <a:lnSpc>
                <a:spcPct val="140000"/>
              </a:lnSpc>
            </a:pPr>
            <a:r>
              <a:rPr lang="zh-CN" altLang="en-US" dirty="0">
                <a:solidFill>
                  <a:srgbClr val="0000CC"/>
                </a:solidFill>
                <a:latin typeface="Times New Roman" panose="02020603050405020304" pitchFamily="18" charset="0"/>
                <a:ea typeface="宋体" panose="02010600030101010101" pitchFamily="2" charset="-122"/>
              </a:rPr>
              <a:t>     跳转方法：逐个比较，类似</a:t>
            </a:r>
            <a:r>
              <a:rPr lang="en-US" altLang="zh-CN" dirty="0">
                <a:solidFill>
                  <a:srgbClr val="0000CC"/>
                </a:solidFill>
                <a:latin typeface="Times New Roman" panose="02020603050405020304" pitchFamily="18" charset="0"/>
                <a:ea typeface="宋体" panose="02010600030101010101" pitchFamily="2" charset="-122"/>
              </a:rPr>
              <a:t>CASE</a:t>
            </a:r>
            <a:r>
              <a:rPr lang="zh-CN" altLang="en-US" dirty="0">
                <a:solidFill>
                  <a:srgbClr val="0000CC"/>
                </a:solidFill>
                <a:latin typeface="Times New Roman" panose="02020603050405020304" pitchFamily="18" charset="0"/>
                <a:ea typeface="宋体" panose="02010600030101010101" pitchFamily="2" charset="-122"/>
              </a:rPr>
              <a:t>。</a:t>
            </a:r>
          </a:p>
          <a:p>
            <a:pPr algn="just">
              <a:lnSpc>
                <a:spcPct val="140000"/>
              </a:lnSpc>
            </a:pPr>
            <a:r>
              <a:rPr lang="zh-CN" altLang="en-US" dirty="0">
                <a:solidFill>
                  <a:srgbClr val="0000CC"/>
                </a:solidFill>
                <a:latin typeface="Times New Roman" panose="02020603050405020304" pitchFamily="18" charset="0"/>
                <a:ea typeface="宋体" panose="02010600030101010101" pitchFamily="2" charset="-122"/>
              </a:rPr>
              <a:t>		 使用散转指令</a:t>
            </a:r>
            <a:r>
              <a:rPr lang="en-US" altLang="zh-CN" dirty="0">
                <a:solidFill>
                  <a:srgbClr val="0000CC"/>
                </a:solidFill>
                <a:latin typeface="Times New Roman" panose="02020603050405020304" pitchFamily="18" charset="0"/>
                <a:ea typeface="宋体" panose="02010600030101010101" pitchFamily="2" charset="-122"/>
              </a:rPr>
              <a:t>JMP  @A+DPTR </a:t>
            </a:r>
            <a:r>
              <a:rPr lang="zh-CN" altLang="en-US" dirty="0">
                <a:solidFill>
                  <a:srgbClr val="0000CC"/>
                </a:solidFill>
                <a:latin typeface="Times New Roman" panose="02020603050405020304" pitchFamily="18" charset="0"/>
                <a:ea typeface="宋体" panose="02010600030101010101" pitchFamily="2" charset="-122"/>
              </a:rPr>
              <a:t>。</a:t>
            </a:r>
          </a:p>
          <a:p>
            <a:pPr algn="just">
              <a:lnSpc>
                <a:spcPct val="140000"/>
              </a:lnSpc>
            </a:pPr>
            <a:r>
              <a:rPr lang="zh-CN" altLang="en-US" dirty="0">
                <a:latin typeface="Times New Roman" panose="02020603050405020304" pitchFamily="18" charset="0"/>
                <a:ea typeface="宋体" panose="02010600030101010101" pitchFamily="2" charset="-122"/>
              </a:rPr>
              <a:t>     利用</a:t>
            </a:r>
            <a:r>
              <a:rPr lang="en-US" altLang="zh-CN" dirty="0">
                <a:latin typeface="Times New Roman" panose="02020603050405020304" pitchFamily="18" charset="0"/>
                <a:ea typeface="宋体" panose="02010600030101010101" pitchFamily="2" charset="-122"/>
              </a:rPr>
              <a:t>JMP @A+DPTR</a:t>
            </a:r>
            <a:r>
              <a:rPr lang="zh-CN" altLang="en-US" dirty="0">
                <a:latin typeface="Times New Roman" panose="02020603050405020304" pitchFamily="18" charset="0"/>
                <a:ea typeface="宋体" panose="02010600030101010101" pitchFamily="2" charset="-122"/>
              </a:rPr>
              <a:t>指令，根据指令中</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值的不同而转向不同的处理程序。  </a:t>
            </a:r>
            <a:r>
              <a:rPr lang="zh-CN" altLang="en-US" dirty="0">
                <a:latin typeface="宋体" panose="02010600030101010101" pitchFamily="2" charset="-122"/>
                <a:ea typeface="宋体" panose="02010600030101010101" pitchFamily="2" charset="-122"/>
              </a:rPr>
              <a:t> </a:t>
            </a:r>
          </a:p>
        </p:txBody>
      </p:sp>
      <p:sp>
        <p:nvSpPr>
          <p:cNvPr id="16392" name="Rectangle 8"/>
          <p:cNvSpPr/>
          <p:nvPr/>
        </p:nvSpPr>
        <p:spPr>
          <a:xfrm>
            <a:off x="250825" y="3429000"/>
            <a:ext cx="8610600" cy="2675255"/>
          </a:xfrm>
          <a:prstGeom prst="rect">
            <a:avLst/>
          </a:prstGeom>
          <a:noFill/>
          <a:ln w="9525">
            <a:noFill/>
          </a:ln>
        </p:spPr>
        <p:txBody>
          <a:bodyPr anchor="t" anchorCtr="0">
            <a:spAutoFit/>
          </a:bodyPr>
          <a:lstStyle/>
          <a:p>
            <a:pPr algn="just">
              <a:lnSpc>
                <a:spcPct val="140000"/>
              </a:lnSpc>
            </a:pPr>
            <a:r>
              <a:rPr lang="en-US" altLang="zh-CN" dirty="0">
                <a:solidFill>
                  <a:srgbClr val="FF3300"/>
                </a:solidFill>
                <a:ea typeface="宋体" panose="02010600030101010101" pitchFamily="2" charset="-122"/>
              </a:rPr>
              <a:t>例4</a:t>
            </a:r>
            <a:r>
              <a:rPr lang="en-US" altLang="zh-CN" dirty="0">
                <a:solidFill>
                  <a:srgbClr val="FF3300"/>
                </a:solidFill>
                <a:latin typeface="Times New Roman" panose="02020603050405020304" pitchFamily="18" charset="0"/>
                <a:ea typeface="宋体" panose="02010600030101010101" pitchFamily="2" charset="-122"/>
              </a:rPr>
              <a:t>-7</a:t>
            </a:r>
            <a:r>
              <a:rPr lang="en-US" altLang="zh-CN" dirty="0">
                <a:latin typeface="Times New Roman" panose="02020603050405020304" pitchFamily="18" charset="0"/>
                <a:ea typeface="宋体" panose="02010600030101010101" pitchFamily="2" charset="-122"/>
              </a:rPr>
              <a:t>   </a:t>
            </a:r>
            <a:r>
              <a:rPr lang="zh-CN" altLang="en-US" dirty="0">
                <a:latin typeface="宋体" panose="02010600030101010101" pitchFamily="2" charset="-122"/>
                <a:ea typeface="宋体" panose="02010600030101010101" pitchFamily="2" charset="-122"/>
              </a:rPr>
              <a:t>在内部</a:t>
            </a:r>
            <a:r>
              <a:rPr lang="en-US" altLang="zh-CN" dirty="0">
                <a:latin typeface="Times New Roman" panose="02020603050405020304" pitchFamily="18" charset="0"/>
                <a:ea typeface="宋体" panose="02010600030101010101" pitchFamily="2" charset="-122"/>
              </a:rPr>
              <a:t>RAM 20H</a:t>
            </a:r>
            <a:r>
              <a:rPr lang="zh-CN" altLang="en-US" dirty="0">
                <a:latin typeface="宋体" panose="02010600030101010101" pitchFamily="2" charset="-122"/>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21H</a:t>
            </a:r>
            <a:r>
              <a:rPr lang="zh-CN" altLang="en-US" dirty="0">
                <a:latin typeface="宋体" panose="02010600030101010101" pitchFamily="2" charset="-122"/>
                <a:ea typeface="宋体" panose="02010600030101010101" pitchFamily="2" charset="-122"/>
              </a:rPr>
              <a:t>单元中有两个无符号的数，由</a:t>
            </a:r>
            <a:r>
              <a:rPr lang="en-US" altLang="zh-CN" dirty="0">
                <a:latin typeface="Times New Roman" panose="02020603050405020304" pitchFamily="18" charset="0"/>
                <a:ea typeface="宋体" panose="02010600030101010101" pitchFamily="2" charset="-122"/>
              </a:rPr>
              <a:t>22H</a:t>
            </a:r>
            <a:r>
              <a:rPr lang="zh-CN" altLang="en-US" dirty="0">
                <a:latin typeface="宋体" panose="02010600030101010101" pitchFamily="2" charset="-122"/>
                <a:ea typeface="宋体" panose="02010600030101010101" pitchFamily="2" charset="-122"/>
              </a:rPr>
              <a:t>中的值决定对该数完成加、减、乘或除运算（</a:t>
            </a:r>
            <a:r>
              <a:rPr lang="en-US" altLang="zh-CN" dirty="0">
                <a:latin typeface="Times New Roman" panose="02020603050405020304" pitchFamily="18" charset="0"/>
                <a:ea typeface="宋体" panose="02010600030101010101" pitchFamily="2" charset="-122"/>
              </a:rPr>
              <a:t>20H</a:t>
            </a:r>
            <a:r>
              <a:rPr lang="zh-CN" altLang="en-US" dirty="0">
                <a:latin typeface="宋体" panose="02010600030101010101" pitchFamily="2" charset="-122"/>
                <a:ea typeface="宋体" panose="02010600030101010101" pitchFamily="2" charset="-122"/>
              </a:rPr>
              <a:t>单元的数为被减数或被除数），运算规则及结果保存处见表。</a:t>
            </a:r>
            <a:r>
              <a:rPr lang="zh-CN" altLang="en-US" dirty="0">
                <a:latin typeface="Times New Roman" panose="02020603050405020304" pitchFamily="18" charset="0"/>
                <a:ea typeface="宋体" panose="02010600030101010101" pitchFamily="2" charset="-122"/>
              </a:rPr>
              <a:t> </a:t>
            </a:r>
          </a:p>
          <a:p>
            <a:pPr algn="just">
              <a:lnSpc>
                <a:spcPct val="140000"/>
              </a:lnSpc>
            </a:pPr>
            <a:endParaRPr lang="zh-CN" altLang="en-US" dirty="0">
              <a:latin typeface="Times New Roman" panose="02020603050405020304" pitchFamily="18" charset="0"/>
              <a:ea typeface="宋体" panose="02010600030101010101" pitchFamily="2" charset="-122"/>
            </a:endParaRPr>
          </a:p>
          <a:p>
            <a:pPr algn="just">
              <a:lnSpc>
                <a:spcPct val="140000"/>
              </a:lnSpc>
            </a:pPr>
            <a:r>
              <a:rPr lang="zh-CN" altLang="en-US" dirty="0">
                <a:latin typeface="Times New Roman" panose="02020603050405020304" pitchFamily="18" charset="0"/>
                <a:ea typeface="宋体" panose="02010600030101010101" pitchFamily="2" charset="-122"/>
              </a:rPr>
              <a:t>  </a:t>
            </a:r>
            <a:r>
              <a:rPr lang="zh-CN" altLang="en-US" dirty="0">
                <a:latin typeface="宋体" panose="02010600030101010101" pitchFamily="2" charset="-122"/>
                <a:ea typeface="宋体" panose="02010600030101010101" pitchFamily="2" charset="-122"/>
              </a:rPr>
              <a:t> </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91"/>
                                        </p:tgtEl>
                                        <p:attrNameLst>
                                          <p:attrName>style.visibility</p:attrName>
                                        </p:attrNameLst>
                                      </p:cBhvr>
                                      <p:to>
                                        <p:strVal val="visible"/>
                                      </p:to>
                                    </p:set>
                                    <p:animEffect transition="in" filter="blinds(horizontal)">
                                      <p:cBhvr>
                                        <p:cTn id="7" dur="500"/>
                                        <p:tgtEl>
                                          <p:spTgt spid="1639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6392"/>
                                        </p:tgtEl>
                                        <p:attrNameLst>
                                          <p:attrName>style.visibility</p:attrName>
                                        </p:attrNameLst>
                                      </p:cBhvr>
                                      <p:to>
                                        <p:strVal val="visible"/>
                                      </p:to>
                                    </p:set>
                                    <p:animEffect transition="in" filter="box(in)">
                                      <p:cBhvr>
                                        <p:cTn id="12" dur="500"/>
                                        <p:tgtEl>
                                          <p:spTgt spid="16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1" grpId="0"/>
      <p:bldP spid="1639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30</a:t>
            </a:fld>
            <a:endParaRPr lang="en-US" altLang="zh-CN" sz="1400" b="0" dirty="0"/>
          </a:p>
        </p:txBody>
      </p:sp>
      <p:sp>
        <p:nvSpPr>
          <p:cNvPr id="18437" name="Rectangle 5"/>
          <p:cNvSpPr/>
          <p:nvPr/>
        </p:nvSpPr>
        <p:spPr>
          <a:xfrm>
            <a:off x="395288" y="1125538"/>
            <a:ext cx="8458200" cy="48879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marR="0" lvl="0" indent="266700" algn="ctr" defTabSz="914400" rtl="0" eaLnBrk="1" fontAlgn="base" latinLnBrk="0" hangingPunct="1">
              <a:lnSpc>
                <a:spcPct val="130000"/>
              </a:lnSpc>
              <a:spcBef>
                <a:spcPct val="0"/>
              </a:spcBef>
              <a:spcAft>
                <a:spcPct val="0"/>
              </a:spcAft>
              <a:buClrTx/>
              <a:buSzTx/>
              <a:buFontTx/>
              <a:buNone/>
              <a:defRPr/>
            </a:pPr>
            <a:r>
              <a:rPr kumimoji="1" lang="en-US" altLang="zh-CN" sz="2400" b="1" i="0" u="none" strike="noStrike" kern="1200" cap="none" spc="0" normalizeH="0" baseline="0" noProof="1">
                <a:ln>
                  <a:noFill/>
                </a:ln>
                <a:solidFill>
                  <a:schemeClr val="tx1"/>
                </a:solidFill>
                <a:effectLst/>
                <a:uLnTx/>
                <a:uFillTx/>
                <a:latin typeface="+mn-lt"/>
                <a:ea typeface="+mn-ea"/>
                <a:cs typeface="+mn-cs"/>
              </a:rPr>
              <a:t>     </a:t>
            </a:r>
            <a:r>
              <a:rPr kumimoji="1" lang="zh-CN" altLang="en-US" sz="2400" b="1" i="0" u="none" strike="noStrike" kern="1200" cap="none" spc="0" normalizeH="0" baseline="0" noProof="1">
                <a:ln>
                  <a:noFill/>
                </a:ln>
                <a:solidFill>
                  <a:schemeClr val="tx1"/>
                </a:solidFill>
                <a:effectLst/>
                <a:uLnTx/>
                <a:uFillTx/>
                <a:latin typeface="+mn-lt"/>
                <a:ea typeface="+mn-ea"/>
                <a:cs typeface="+mn-cs"/>
              </a:rPr>
              <a:t>子程序与一般程序的主要区别是在子程序的末尾有一条子程序返回指令（</a:t>
            </a:r>
            <a:r>
              <a:rPr kumimoji="1" lang="en-US" altLang="zh-CN" sz="2400" b="1" i="0" u="none" strike="noStrike" kern="1200" cap="none" spc="0" normalizeH="0" baseline="0" noProof="1">
                <a:ln>
                  <a:noFill/>
                </a:ln>
                <a:solidFill>
                  <a:schemeClr val="tx1"/>
                </a:solidFill>
                <a:effectLst/>
                <a:uLnTx/>
                <a:uFillTx/>
                <a:latin typeface="+mn-lt"/>
                <a:ea typeface="+mn-ea"/>
                <a:cs typeface="+mn-cs"/>
              </a:rPr>
              <a:t>RET</a:t>
            </a:r>
            <a:r>
              <a:rPr kumimoji="1" lang="zh-CN" altLang="en-US" sz="2400" b="1" i="0" u="none" strike="noStrike" kern="1200" cap="none" spc="0" normalizeH="0" baseline="0" noProof="1">
                <a:ln>
                  <a:noFill/>
                </a:ln>
                <a:solidFill>
                  <a:schemeClr val="tx1"/>
                </a:solidFill>
                <a:effectLst/>
                <a:uLnTx/>
                <a:uFillTx/>
                <a:latin typeface="+mn-lt"/>
                <a:ea typeface="+mn-ea"/>
                <a:cs typeface="+mn-cs"/>
              </a:rPr>
              <a:t>），其功能是执行完子程序后通过将堆栈内的断点地址弹出到</a:t>
            </a:r>
            <a:r>
              <a:rPr kumimoji="1" lang="en-US" altLang="zh-CN" sz="2400" b="1" i="0" u="none" strike="noStrike" kern="1200" cap="none" spc="0" normalizeH="0" baseline="0" noProof="1">
                <a:ln>
                  <a:noFill/>
                </a:ln>
                <a:solidFill>
                  <a:schemeClr val="tx1"/>
                </a:solidFill>
                <a:effectLst/>
                <a:uLnTx/>
                <a:uFillTx/>
                <a:latin typeface="+mn-lt"/>
                <a:ea typeface="+mn-ea"/>
                <a:cs typeface="+mn-cs"/>
              </a:rPr>
              <a:t>PC</a:t>
            </a:r>
            <a:r>
              <a:rPr kumimoji="1" lang="zh-CN" altLang="en-US" sz="2400" b="1" i="0" u="none" strike="noStrike" kern="1200" cap="none" spc="0" normalizeH="0" baseline="0" noProof="1">
                <a:ln>
                  <a:noFill/>
                </a:ln>
                <a:solidFill>
                  <a:schemeClr val="tx1"/>
                </a:solidFill>
                <a:effectLst/>
                <a:uLnTx/>
                <a:uFillTx/>
                <a:latin typeface="+mn-lt"/>
                <a:ea typeface="+mn-ea"/>
                <a:cs typeface="+mn-cs"/>
              </a:rPr>
              <a:t>而返回到主程序中。</a:t>
            </a:r>
          </a:p>
          <a:p>
            <a:pPr marL="0" marR="0" lvl="0" indent="266700" algn="just" defTabSz="914400" rtl="0" eaLnBrk="0" fontAlgn="base" latinLnBrk="0" hangingPunct="0">
              <a:lnSpc>
                <a:spcPct val="130000"/>
              </a:lnSpc>
              <a:spcBef>
                <a:spcPct val="0"/>
              </a:spcBef>
              <a:spcAft>
                <a:spcPct val="0"/>
              </a:spcAft>
              <a:buClrTx/>
              <a:buSzTx/>
              <a:buFontTx/>
              <a:buNone/>
              <a:defRPr/>
            </a:pPr>
            <a:r>
              <a:rPr kumimoji="1" lang="zh-CN" altLang="en-US" sz="2400" b="1" i="0" u="none" strike="noStrike" kern="1200" cap="none" spc="0" normalizeH="0" baseline="0" noProof="1">
                <a:ln>
                  <a:noFill/>
                </a:ln>
                <a:solidFill>
                  <a:schemeClr val="tx1"/>
                </a:solidFill>
                <a:effectLst/>
                <a:uLnTx/>
                <a:uFillTx/>
                <a:latin typeface="+mn-lt"/>
                <a:ea typeface="+mn-ea"/>
                <a:cs typeface="+mn-cs"/>
              </a:rPr>
              <a:t>     </a:t>
            </a:r>
            <a:r>
              <a:rPr kumimoji="1" lang="zh-CN" altLang="en-US" sz="2400" b="1" i="0" u="none" strike="noStrike" kern="1200" cap="none" spc="0" normalizeH="0" baseline="0" noProof="1">
                <a:solidFill>
                  <a:schemeClr val="accent1"/>
                </a:solidFill>
                <a:effectLst>
                  <a:outerShdw blurRad="38100" dist="25400" dir="5400000" algn="ctr" rotWithShape="0">
                    <a:srgbClr val="6E747A">
                      <a:alpha val="43000"/>
                    </a:srgbClr>
                  </a:outerShdw>
                </a:effectLst>
                <a:uLnTx/>
                <a:uFillTx/>
                <a:latin typeface="+mn-lt"/>
                <a:ea typeface="+mn-ea"/>
                <a:cs typeface="+mn-cs"/>
              </a:rPr>
              <a:t>在编写子程序时应注意以下几点：</a:t>
            </a:r>
          </a:p>
          <a:p>
            <a:pPr marL="0" marR="0" lvl="0" indent="266700" algn="just" defTabSz="914400" rtl="0" eaLnBrk="0" fontAlgn="base" latinLnBrk="0" hangingPunct="0">
              <a:lnSpc>
                <a:spcPct val="130000"/>
              </a:lnSpc>
              <a:spcBef>
                <a:spcPct val="0"/>
              </a:spcBef>
              <a:spcAft>
                <a:spcPct val="0"/>
              </a:spcAft>
              <a:buClrTx/>
              <a:buSzTx/>
              <a:buFontTx/>
              <a:buNone/>
              <a:defRPr/>
            </a:pPr>
            <a:r>
              <a:rPr kumimoji="1" lang="zh-CN" altLang="en-US" sz="2400" b="1" i="0" u="none" strike="noStrike" kern="1200" cap="none" spc="0" normalizeH="0" baseline="0" noProof="1">
                <a:ln>
                  <a:noFill/>
                </a:ln>
                <a:solidFill>
                  <a:schemeClr val="tx1"/>
                </a:solidFill>
                <a:effectLst/>
                <a:uLnTx/>
                <a:uFillTx/>
                <a:latin typeface="+mn-lt"/>
                <a:ea typeface="+mn-ea"/>
                <a:cs typeface="+mn-cs"/>
              </a:rPr>
              <a:t>  </a:t>
            </a:r>
            <a:r>
              <a:rPr kumimoji="1" lang="zh-CN" altLang="en-US" sz="2400" b="1" i="0" u="none" strike="noStrike" kern="1200" cap="none" spc="0" normalizeH="0" baseline="0" noProof="1">
                <a:ln>
                  <a:noFill/>
                </a:ln>
                <a:solidFill>
                  <a:srgbClr val="0000CC"/>
                </a:solidFill>
                <a:effectLst/>
                <a:uLnTx/>
                <a:uFillTx/>
                <a:latin typeface="+mn-lt"/>
                <a:ea typeface="+mn-ea"/>
                <a:cs typeface="+mn-cs"/>
              </a:rPr>
              <a:t>（</a:t>
            </a:r>
            <a:r>
              <a:rPr kumimoji="1" lang="en-US" altLang="zh-CN" sz="2400" b="1" i="0" u="none" strike="noStrike" kern="1200" cap="none" spc="0" normalizeH="0" baseline="0" noProof="1">
                <a:ln>
                  <a:noFill/>
                </a:ln>
                <a:solidFill>
                  <a:srgbClr val="0000CC"/>
                </a:solidFill>
                <a:effectLst/>
                <a:uLnTx/>
                <a:uFillTx/>
                <a:latin typeface="+mn-lt"/>
                <a:ea typeface="+mn-ea"/>
                <a:cs typeface="+mn-cs"/>
              </a:rPr>
              <a:t>1</a:t>
            </a:r>
            <a:r>
              <a:rPr kumimoji="1" lang="zh-CN" altLang="en-US" sz="2400" b="1" i="0" u="none" strike="noStrike" kern="1200" cap="none" spc="0" normalizeH="0" baseline="0" noProof="1">
                <a:ln>
                  <a:noFill/>
                </a:ln>
                <a:solidFill>
                  <a:srgbClr val="0000CC"/>
                </a:solidFill>
                <a:effectLst/>
                <a:uLnTx/>
                <a:uFillTx/>
                <a:latin typeface="+mn-lt"/>
                <a:ea typeface="+mn-ea"/>
                <a:cs typeface="+mn-cs"/>
              </a:rPr>
              <a:t>） 要给每个子程序赋一个名字。</a:t>
            </a:r>
          </a:p>
          <a:p>
            <a:pPr marL="0" marR="0" lvl="0" indent="266700" algn="just" defTabSz="914400" rtl="0" eaLnBrk="0" fontAlgn="base" latinLnBrk="0" hangingPunct="0">
              <a:lnSpc>
                <a:spcPct val="130000"/>
              </a:lnSpc>
              <a:spcBef>
                <a:spcPct val="0"/>
              </a:spcBef>
              <a:spcAft>
                <a:spcPct val="0"/>
              </a:spcAft>
              <a:buClrTx/>
              <a:buSzTx/>
              <a:buFontTx/>
              <a:buNone/>
              <a:defRPr/>
            </a:pPr>
            <a:r>
              <a:rPr kumimoji="1" lang="zh-CN" altLang="en-US" sz="2400" b="1" i="0" u="none" strike="noStrike" kern="1200" cap="none" spc="0" normalizeH="0" baseline="0" noProof="1">
                <a:ln>
                  <a:noFill/>
                </a:ln>
                <a:solidFill>
                  <a:srgbClr val="0000CC"/>
                </a:solidFill>
                <a:effectLst/>
                <a:uLnTx/>
                <a:uFillTx/>
                <a:latin typeface="+mn-lt"/>
                <a:ea typeface="+mn-ea"/>
                <a:cs typeface="+mn-cs"/>
              </a:rPr>
              <a:t>             </a:t>
            </a:r>
            <a:r>
              <a:rPr kumimoji="1" lang="zh-CN" altLang="en-US" sz="2400" b="1" i="0" u="none" strike="noStrike" kern="1200" cap="none" spc="0" normalizeH="0" baseline="0" noProof="1">
                <a:ln>
                  <a:noFill/>
                </a:ln>
                <a:solidFill>
                  <a:schemeClr val="tx1"/>
                </a:solidFill>
                <a:effectLst/>
                <a:uLnTx/>
                <a:uFillTx/>
                <a:latin typeface="+mn-lt"/>
                <a:ea typeface="+mn-ea"/>
                <a:cs typeface="+mn-cs"/>
              </a:rPr>
              <a:t>实际上是一个入口地址的代号。</a:t>
            </a:r>
          </a:p>
          <a:p>
            <a:pPr marL="0" marR="0" lvl="0" indent="266700" algn="just" defTabSz="914400" rtl="0" eaLnBrk="0" fontAlgn="base" latinLnBrk="0" hangingPunct="0">
              <a:lnSpc>
                <a:spcPct val="130000"/>
              </a:lnSpc>
              <a:spcBef>
                <a:spcPct val="0"/>
              </a:spcBef>
              <a:spcAft>
                <a:spcPct val="0"/>
              </a:spcAft>
              <a:buClrTx/>
              <a:buSzTx/>
              <a:buFontTx/>
              <a:buNone/>
              <a:defRPr/>
            </a:pPr>
            <a:r>
              <a:rPr kumimoji="1" lang="zh-CN" altLang="en-US" sz="2400" b="1" i="0" u="none" strike="noStrike" kern="1200" cap="none" spc="0" normalizeH="0" baseline="0" noProof="1">
                <a:ln>
                  <a:noFill/>
                </a:ln>
                <a:solidFill>
                  <a:schemeClr val="tx1"/>
                </a:solidFill>
                <a:effectLst/>
                <a:uLnTx/>
                <a:uFillTx/>
                <a:latin typeface="+mn-lt"/>
                <a:ea typeface="+mn-ea"/>
                <a:cs typeface="+mn-cs"/>
              </a:rPr>
              <a:t>  </a:t>
            </a:r>
            <a:r>
              <a:rPr kumimoji="1" lang="zh-CN" altLang="en-US" sz="2400" b="1" i="0" u="none" strike="noStrike" kern="1200" cap="none" spc="0" normalizeH="0" baseline="0" noProof="1">
                <a:ln>
                  <a:noFill/>
                </a:ln>
                <a:solidFill>
                  <a:srgbClr val="0000CC"/>
                </a:solidFill>
                <a:effectLst/>
                <a:uLnTx/>
                <a:uFillTx/>
                <a:latin typeface="+mn-lt"/>
                <a:ea typeface="+mn-ea"/>
                <a:cs typeface="+mn-cs"/>
              </a:rPr>
              <a:t>（</a:t>
            </a:r>
            <a:r>
              <a:rPr kumimoji="1" lang="en-US" altLang="zh-CN" sz="2400" b="1" i="0" u="none" strike="noStrike" kern="1200" cap="none" spc="0" normalizeH="0" baseline="0" noProof="1">
                <a:ln>
                  <a:noFill/>
                </a:ln>
                <a:solidFill>
                  <a:srgbClr val="0000CC"/>
                </a:solidFill>
                <a:effectLst/>
                <a:uLnTx/>
                <a:uFillTx/>
                <a:latin typeface="+mn-lt"/>
                <a:ea typeface="+mn-ea"/>
                <a:cs typeface="+mn-cs"/>
              </a:rPr>
              <a:t>2</a:t>
            </a:r>
            <a:r>
              <a:rPr kumimoji="1" lang="zh-CN" altLang="en-US" sz="2400" b="1" i="0" u="none" strike="noStrike" kern="1200" cap="none" spc="0" normalizeH="0" baseline="0" noProof="1">
                <a:ln>
                  <a:noFill/>
                </a:ln>
                <a:solidFill>
                  <a:srgbClr val="0000CC"/>
                </a:solidFill>
                <a:effectLst/>
                <a:uLnTx/>
                <a:uFillTx/>
                <a:latin typeface="+mn-lt"/>
                <a:ea typeface="+mn-ea"/>
                <a:cs typeface="+mn-cs"/>
              </a:rPr>
              <a:t>） 要能正确地传递参数。</a:t>
            </a:r>
          </a:p>
          <a:p>
            <a:pPr marL="0" marR="0" lvl="0" indent="266700" algn="just" defTabSz="914400" rtl="0" eaLnBrk="0" fontAlgn="base" latinLnBrk="0" hangingPunct="0">
              <a:lnSpc>
                <a:spcPct val="130000"/>
              </a:lnSpc>
              <a:spcBef>
                <a:spcPct val="0"/>
              </a:spcBef>
              <a:spcAft>
                <a:spcPct val="0"/>
              </a:spcAft>
              <a:buClrTx/>
              <a:buSzTx/>
              <a:buFontTx/>
              <a:buNone/>
              <a:defRPr/>
            </a:pPr>
            <a:r>
              <a:rPr kumimoji="1" lang="zh-CN" altLang="en-US" sz="2400" b="1" i="0" u="none" strike="noStrike" kern="1200" cap="none" spc="0" normalizeH="0" baseline="0" noProof="1">
                <a:ln>
                  <a:noFill/>
                </a:ln>
                <a:solidFill>
                  <a:schemeClr val="tx1"/>
                </a:solidFill>
                <a:effectLst/>
                <a:uLnTx/>
                <a:uFillTx/>
                <a:latin typeface="+mn-lt"/>
                <a:ea typeface="+mn-ea"/>
                <a:cs typeface="+mn-cs"/>
              </a:rPr>
              <a:t>            首先要有入口条件，说明进入子程序时它所要处理的数据如何得到，另外，要有出口条件，即处理的结果是如何存放的。</a:t>
            </a:r>
          </a:p>
        </p:txBody>
      </p:sp>
      <p:sp>
        <p:nvSpPr>
          <p:cNvPr id="18438" name="Rectangle 6"/>
          <p:cNvSpPr/>
          <p:nvPr/>
        </p:nvSpPr>
        <p:spPr>
          <a:xfrm>
            <a:off x="3132138" y="692150"/>
            <a:ext cx="2322830" cy="460375"/>
          </a:xfrm>
          <a:prstGeom prst="rect">
            <a:avLst/>
          </a:prstGeom>
          <a:noFill/>
          <a:ln w="9525">
            <a:noFill/>
          </a:ln>
        </p:spPr>
        <p:txBody>
          <a:bodyPr wrap="none" anchor="t" anchorCtr="0">
            <a:spAutoFit/>
          </a:bodyPr>
          <a:lstStyle/>
          <a:p>
            <a:r>
              <a:rPr lang="en-US" altLang="zh-CN" dirty="0">
                <a:solidFill>
                  <a:srgbClr val="FF3300"/>
                </a:solidFill>
                <a:latin typeface="Times New Roman" panose="02020603050405020304" pitchFamily="18" charset="0"/>
                <a:ea typeface="宋体" panose="02010600030101010101" pitchFamily="2" charset="-122"/>
              </a:rPr>
              <a:t>4.4   </a:t>
            </a:r>
            <a:r>
              <a:rPr lang="zh-CN" altLang="en-US" dirty="0">
                <a:solidFill>
                  <a:srgbClr val="FF3300"/>
                </a:solidFill>
                <a:latin typeface="Times New Roman" panose="02020603050405020304" pitchFamily="18" charset="0"/>
                <a:ea typeface="宋体" panose="02010600030101010101" pitchFamily="2" charset="-122"/>
              </a:rPr>
              <a:t>子程序设计</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8"/>
                                        </p:tgtEl>
                                        <p:attrNameLst>
                                          <p:attrName>style.visibility</p:attrName>
                                        </p:attrNameLst>
                                      </p:cBhvr>
                                      <p:to>
                                        <p:strVal val="visible"/>
                                      </p:to>
                                    </p:set>
                                    <p:anim calcmode="lin" valueType="num">
                                      <p:cBhvr additive="base">
                                        <p:cTn id="7" dur="500" fill="hold"/>
                                        <p:tgtEl>
                                          <p:spTgt spid="18438"/>
                                        </p:tgtEl>
                                        <p:attrNameLst>
                                          <p:attrName>ppt_x</p:attrName>
                                        </p:attrNameLst>
                                      </p:cBhvr>
                                      <p:tavLst>
                                        <p:tav tm="0">
                                          <p:val>
                                            <p:strVal val="#ppt_x"/>
                                          </p:val>
                                        </p:tav>
                                        <p:tav tm="100000">
                                          <p:val>
                                            <p:strVal val="#ppt_x"/>
                                          </p:val>
                                        </p:tav>
                                      </p:tavLst>
                                    </p:anim>
                                    <p:anim calcmode="lin" valueType="num">
                                      <p:cBhvr additive="base">
                                        <p:cTn id="8" dur="500" fill="hold"/>
                                        <p:tgtEl>
                                          <p:spTgt spid="184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18437"/>
                                        </p:tgtEl>
                                        <p:attrNameLst>
                                          <p:attrName>style.visibility</p:attrName>
                                        </p:attrNameLst>
                                      </p:cBhvr>
                                      <p:to>
                                        <p:strVal val="visible"/>
                                      </p:to>
                                    </p:set>
                                    <p:animEffect transition="in" filter="diamond(in)">
                                      <p:cBhvr>
                                        <p:cTn id="13" dur="2000"/>
                                        <p:tgtEl>
                                          <p:spTgt spid="18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p:bldP spid="1843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31</a:t>
            </a:fld>
            <a:endParaRPr lang="en-US" altLang="zh-CN" sz="1400" b="0" dirty="0"/>
          </a:p>
        </p:txBody>
      </p:sp>
      <p:sp>
        <p:nvSpPr>
          <p:cNvPr id="20485" name="Rectangle 5"/>
          <p:cNvSpPr/>
          <p:nvPr/>
        </p:nvSpPr>
        <p:spPr>
          <a:xfrm>
            <a:off x="381000" y="838200"/>
            <a:ext cx="8763000" cy="2465388"/>
          </a:xfrm>
          <a:prstGeom prst="rect">
            <a:avLst/>
          </a:prstGeom>
          <a:noFill/>
          <a:ln w="9525">
            <a:noFill/>
          </a:ln>
        </p:spPr>
        <p:txBody>
          <a:bodyPr anchor="t" anchorCtr="0">
            <a:spAutoFit/>
          </a:bodyPr>
          <a:lstStyle/>
          <a:p>
            <a:pPr eaLnBrk="0" hangingPunct="0">
              <a:spcBef>
                <a:spcPct val="50000"/>
              </a:spcBef>
            </a:pPr>
            <a:r>
              <a:rPr lang="zh-CN" altLang="en-US" dirty="0">
                <a:solidFill>
                  <a:srgbClr val="0000CC"/>
                </a:solidFill>
                <a:latin typeface="Times New Roman" panose="02020603050405020304" pitchFamily="18" charset="0"/>
                <a:ea typeface="宋体" panose="02010600030101010101" pitchFamily="2" charset="-122"/>
              </a:rPr>
              <a:t>（</a:t>
            </a:r>
            <a:r>
              <a:rPr lang="en-US" altLang="zh-CN" dirty="0">
                <a:solidFill>
                  <a:srgbClr val="0000CC"/>
                </a:solidFill>
                <a:latin typeface="Times New Roman" panose="02020603050405020304" pitchFamily="18" charset="0"/>
                <a:ea typeface="宋体" panose="02010600030101010101" pitchFamily="2" charset="-122"/>
              </a:rPr>
              <a:t>3</a:t>
            </a:r>
            <a:r>
              <a:rPr lang="zh-CN" altLang="en-US" dirty="0">
                <a:solidFill>
                  <a:srgbClr val="0000CC"/>
                </a:solidFill>
                <a:latin typeface="Times New Roman" panose="02020603050405020304" pitchFamily="18" charset="0"/>
                <a:ea typeface="宋体" panose="02010600030101010101" pitchFamily="2" charset="-122"/>
              </a:rPr>
              <a:t>） 注意保护现场和恢复现场。</a:t>
            </a:r>
          </a:p>
          <a:p>
            <a:pPr eaLnBrk="0" hangingPunct="0">
              <a:spcBef>
                <a:spcPct val="50000"/>
              </a:spcBef>
            </a:pPr>
            <a:r>
              <a:rPr lang="zh-CN" altLang="en-US" dirty="0">
                <a:latin typeface="Times New Roman" panose="02020603050405020304" pitchFamily="18" charset="0"/>
                <a:ea typeface="宋体" panose="02010600030101010101" pitchFamily="2" charset="-122"/>
              </a:rPr>
              <a:t>        注意保存主程序和子程序共同涉及的，但值不同的累加器、寄存器和单元的内容。</a:t>
            </a:r>
          </a:p>
          <a:p>
            <a:pPr eaLnBrk="0" hangingPunct="0">
              <a:spcBef>
                <a:spcPct val="50000"/>
              </a:spcBef>
            </a:pPr>
            <a:r>
              <a:rPr lang="zh-CN" altLang="en-US" dirty="0">
                <a:latin typeface="Times New Roman" panose="02020603050405020304" pitchFamily="18" charset="0"/>
                <a:ea typeface="宋体" panose="02010600030101010101" pitchFamily="2" charset="-122"/>
              </a:rPr>
              <a:t>           保护现场： </a:t>
            </a:r>
            <a:r>
              <a:rPr lang="en-US" altLang="zh-CN" dirty="0">
                <a:latin typeface="Times New Roman" panose="02020603050405020304" pitchFamily="18" charset="0"/>
                <a:ea typeface="宋体" panose="02010600030101010101" pitchFamily="2" charset="-122"/>
              </a:rPr>
              <a:t>PUSH</a:t>
            </a:r>
          </a:p>
          <a:p>
            <a:pPr eaLnBrk="0" hangingPunct="0">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恢复现场：</a:t>
            </a:r>
            <a:r>
              <a:rPr lang="en-US" altLang="zh-CN" dirty="0">
                <a:latin typeface="Times New Roman" panose="02020603050405020304" pitchFamily="18" charset="0"/>
                <a:ea typeface="宋体" panose="02010600030101010101" pitchFamily="2" charset="-122"/>
              </a:rPr>
              <a:t>POP</a:t>
            </a:r>
          </a:p>
        </p:txBody>
      </p:sp>
      <p:sp>
        <p:nvSpPr>
          <p:cNvPr id="20486" name="Rectangle 6"/>
          <p:cNvSpPr/>
          <p:nvPr/>
        </p:nvSpPr>
        <p:spPr>
          <a:xfrm>
            <a:off x="323850" y="3357563"/>
            <a:ext cx="8763000" cy="3268662"/>
          </a:xfrm>
          <a:prstGeom prst="rect">
            <a:avLst/>
          </a:prstGeom>
          <a:noFill/>
          <a:ln w="9525">
            <a:noFill/>
          </a:ln>
        </p:spPr>
        <p:txBody>
          <a:bodyPr anchor="t" anchorCtr="0">
            <a:spAutoFit/>
          </a:bodyPr>
          <a:lstStyle/>
          <a:p>
            <a:pPr eaLnBrk="0" hangingPunct="0">
              <a:spcBef>
                <a:spcPct val="50000"/>
              </a:spcBef>
            </a:pPr>
            <a:r>
              <a:rPr lang="zh-CN" altLang="en-US" dirty="0">
                <a:solidFill>
                  <a:srgbClr val="0000CC"/>
                </a:solidFill>
                <a:latin typeface="Times New Roman" panose="02020603050405020304" pitchFamily="18" charset="0"/>
                <a:ea typeface="宋体" panose="02010600030101010101" pitchFamily="2" charset="-122"/>
              </a:rPr>
              <a:t>（</a:t>
            </a:r>
            <a:r>
              <a:rPr lang="en-US" altLang="zh-CN" dirty="0">
                <a:solidFill>
                  <a:srgbClr val="0000CC"/>
                </a:solidFill>
                <a:latin typeface="Times New Roman" panose="02020603050405020304" pitchFamily="18" charset="0"/>
                <a:ea typeface="宋体" panose="02010600030101010101" pitchFamily="2" charset="-122"/>
              </a:rPr>
              <a:t>4</a:t>
            </a:r>
            <a:r>
              <a:rPr lang="zh-CN" altLang="en-US" dirty="0">
                <a:solidFill>
                  <a:srgbClr val="0000CC"/>
                </a:solidFill>
                <a:latin typeface="Times New Roman" panose="02020603050405020304" pitchFamily="18" charset="0"/>
                <a:ea typeface="宋体" panose="02010600030101010101" pitchFamily="2" charset="-122"/>
              </a:rPr>
              <a:t>） 注意子程序的通用性。</a:t>
            </a:r>
          </a:p>
          <a:p>
            <a:pPr eaLnBrk="0" hangingPunct="0">
              <a:spcBef>
                <a:spcPct val="50000"/>
              </a:spcBef>
            </a:pPr>
            <a:r>
              <a:rPr lang="zh-CN" altLang="en-US" dirty="0">
                <a:solidFill>
                  <a:srgbClr val="FF3300"/>
                </a:solidFill>
                <a:latin typeface="Times New Roman" panose="02020603050405020304" pitchFamily="18" charset="0"/>
                <a:ea typeface="宋体" panose="02010600030101010101" pitchFamily="2" charset="-122"/>
              </a:rPr>
              <a:t>        主程序调用子程序的指令： “</a:t>
            </a:r>
            <a:r>
              <a:rPr lang="en-US" altLang="zh-CN" dirty="0">
                <a:solidFill>
                  <a:srgbClr val="FF3300"/>
                </a:solidFill>
                <a:latin typeface="Times New Roman" panose="02020603050405020304" pitchFamily="18" charset="0"/>
                <a:ea typeface="宋体" panose="02010600030101010101" pitchFamily="2" charset="-122"/>
              </a:rPr>
              <a:t>LCALL”</a:t>
            </a:r>
            <a:r>
              <a:rPr lang="zh-CN" altLang="en-US" dirty="0">
                <a:solidFill>
                  <a:srgbClr val="FF3300"/>
                </a:solidFill>
                <a:latin typeface="Times New Roman" panose="02020603050405020304" pitchFamily="18" charset="0"/>
                <a:ea typeface="宋体" panose="02010600030101010101" pitchFamily="2" charset="-122"/>
              </a:rPr>
              <a:t>，“</a:t>
            </a:r>
            <a:r>
              <a:rPr lang="en-US" altLang="zh-CN" dirty="0">
                <a:solidFill>
                  <a:srgbClr val="FF3300"/>
                </a:solidFill>
                <a:latin typeface="Times New Roman" panose="02020603050405020304" pitchFamily="18" charset="0"/>
                <a:ea typeface="宋体" panose="02010600030101010101" pitchFamily="2" charset="-122"/>
              </a:rPr>
              <a:t>ACALL”</a:t>
            </a:r>
            <a:r>
              <a:rPr lang="zh-CN" altLang="en-US" dirty="0">
                <a:solidFill>
                  <a:srgbClr val="FF3300"/>
                </a:solidFill>
                <a:latin typeface="Times New Roman" panose="02020603050405020304" pitchFamily="18" charset="0"/>
                <a:ea typeface="宋体" panose="02010600030101010101" pitchFamily="2" charset="-122"/>
              </a:rPr>
              <a:t>。</a:t>
            </a:r>
          </a:p>
          <a:p>
            <a:pPr eaLnBrk="0" hangingPunct="0">
              <a:spcBef>
                <a:spcPct val="50000"/>
              </a:spcBef>
            </a:pPr>
            <a:r>
              <a:rPr lang="zh-CN" altLang="en-US" dirty="0">
                <a:solidFill>
                  <a:srgbClr val="FF3300"/>
                </a:solidFill>
                <a:latin typeface="Times New Roman" panose="02020603050405020304" pitchFamily="18" charset="0"/>
                <a:ea typeface="宋体" panose="02010600030101010101" pitchFamily="2" charset="-122"/>
              </a:rPr>
              <a:t>        子程序返回指令：</a:t>
            </a:r>
            <a:r>
              <a:rPr lang="en-US" altLang="zh-CN" dirty="0">
                <a:solidFill>
                  <a:srgbClr val="FF3300"/>
                </a:solidFill>
                <a:latin typeface="Times New Roman" panose="02020603050405020304" pitchFamily="18" charset="0"/>
                <a:ea typeface="宋体" panose="02010600030101010101" pitchFamily="2" charset="-122"/>
              </a:rPr>
              <a:t>RET</a:t>
            </a:r>
            <a:r>
              <a:rPr lang="zh-CN" altLang="en-US" dirty="0">
                <a:solidFill>
                  <a:srgbClr val="FF3300"/>
                </a:solidFill>
                <a:latin typeface="Times New Roman" panose="02020603050405020304" pitchFamily="18" charset="0"/>
                <a:ea typeface="宋体" panose="02010600030101010101" pitchFamily="2" charset="-122"/>
              </a:rPr>
              <a:t>。</a:t>
            </a:r>
          </a:p>
          <a:p>
            <a:pPr eaLnBrk="0" hangingPunct="0">
              <a:lnSpc>
                <a:spcPct val="140000"/>
              </a:lnSpc>
              <a:spcBef>
                <a:spcPct val="50000"/>
              </a:spcBef>
            </a:pPr>
            <a:r>
              <a:rPr lang="zh-CN" altLang="en-US" dirty="0">
                <a:solidFill>
                  <a:schemeClr val="hlink"/>
                </a:solidFill>
                <a:latin typeface="Times New Roman" panose="02020603050405020304" pitchFamily="18" charset="0"/>
                <a:ea typeface="宋体" panose="02010600030101010101" pitchFamily="2" charset="-122"/>
              </a:rPr>
              <a:t>        子程序可以嵌套，</a:t>
            </a:r>
            <a:r>
              <a:rPr lang="zh-CN" altLang="en-US" dirty="0">
                <a:latin typeface="Times New Roman" panose="02020603050405020304" pitchFamily="18" charset="0"/>
                <a:ea typeface="宋体" panose="02010600030101010101" pitchFamily="2" charset="-122"/>
              </a:rPr>
              <a:t>嵌套次数从理论上说是无限的，但实际上由于受堆栈深度的影响，嵌套次数是有限的；另外主、子程序是相对的。</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85"/>
                                        </p:tgtEl>
                                        <p:attrNameLst>
                                          <p:attrName>style.visibility</p:attrName>
                                        </p:attrNameLst>
                                      </p:cBhvr>
                                      <p:to>
                                        <p:strVal val="visible"/>
                                      </p:to>
                                    </p:set>
                                    <p:animEffect transition="in" filter="blinds(horizontal)">
                                      <p:cBhvr>
                                        <p:cTn id="7" dur="500"/>
                                        <p:tgtEl>
                                          <p:spTgt spid="2048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0486"/>
                                        </p:tgtEl>
                                        <p:attrNameLst>
                                          <p:attrName>style.visibility</p:attrName>
                                        </p:attrNameLst>
                                      </p:cBhvr>
                                      <p:to>
                                        <p:strVal val="visible"/>
                                      </p:to>
                                    </p:set>
                                    <p:animEffect transition="in" filter="box(in)">
                                      <p:cBhvr>
                                        <p:cTn id="12" dur="500"/>
                                        <p:tgtEl>
                                          <p:spTgt spid="20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P spid="2048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32</a:t>
            </a:fld>
            <a:endParaRPr lang="en-US" altLang="zh-CN" sz="1400" b="0" dirty="0"/>
          </a:p>
        </p:txBody>
      </p:sp>
      <p:sp>
        <p:nvSpPr>
          <p:cNvPr id="44034" name="Text Box 7"/>
          <p:cNvSpPr txBox="1"/>
          <p:nvPr/>
        </p:nvSpPr>
        <p:spPr>
          <a:xfrm>
            <a:off x="323850" y="1196975"/>
            <a:ext cx="8496300" cy="1641475"/>
          </a:xfrm>
          <a:prstGeom prst="rect">
            <a:avLst/>
          </a:prstGeom>
          <a:noFill/>
          <a:ln w="9525">
            <a:noFill/>
          </a:ln>
        </p:spPr>
        <p:txBody>
          <a:bodyPr anchor="t" anchorCtr="0">
            <a:spAutoFit/>
          </a:bodyPr>
          <a:lstStyle/>
          <a:p>
            <a:pPr>
              <a:lnSpc>
                <a:spcPct val="140000"/>
              </a:lnSpc>
              <a:spcBef>
                <a:spcPct val="50000"/>
              </a:spcBef>
            </a:pP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4-6  </a:t>
            </a: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P1</a:t>
            </a:r>
            <a:r>
              <a:rPr lang="zh-CN" altLang="en-US" dirty="0">
                <a:latin typeface="Times New Roman" panose="02020603050405020304" pitchFamily="18" charset="0"/>
                <a:ea typeface="宋体" panose="02010600030101010101" pitchFamily="2" charset="-122"/>
              </a:rPr>
              <a:t>口与</a:t>
            </a:r>
            <a:r>
              <a:rPr lang="en-US" altLang="zh-CN" dirty="0">
                <a:latin typeface="Times New Roman" panose="02020603050405020304" pitchFamily="18" charset="0"/>
                <a:ea typeface="宋体" panose="02010600030101010101" pitchFamily="2" charset="-122"/>
              </a:rPr>
              <a:t>LED</a:t>
            </a:r>
            <a:r>
              <a:rPr lang="zh-CN" altLang="en-US" dirty="0">
                <a:latin typeface="Times New Roman" panose="02020603050405020304" pitchFamily="18" charset="0"/>
                <a:ea typeface="宋体" panose="02010600030101010101" pitchFamily="2" charset="-122"/>
              </a:rPr>
              <a:t>的连接示意图中，若使</a:t>
            </a:r>
            <a:r>
              <a:rPr lang="en-US" altLang="zh-CN" dirty="0">
                <a:latin typeface="Times New Roman" panose="02020603050405020304" pitchFamily="18" charset="0"/>
                <a:ea typeface="宋体" panose="02010600030101010101" pitchFamily="2" charset="-122"/>
              </a:rPr>
              <a:t>LED0~LED7</a:t>
            </a:r>
            <a:r>
              <a:rPr lang="zh-CN" altLang="en-US" dirty="0">
                <a:latin typeface="Times New Roman" panose="02020603050405020304" pitchFamily="18" charset="0"/>
                <a:ea typeface="宋体" panose="02010600030101010101" pitchFamily="2" charset="-122"/>
              </a:rPr>
              <a:t>的偶数灯亮</a:t>
            </a:r>
            <a:r>
              <a:rPr lang="en-US" altLang="zh-CN" dirty="0">
                <a:latin typeface="Times New Roman" panose="02020603050405020304" pitchFamily="18" charset="0"/>
                <a:ea typeface="宋体" panose="02010600030101010101" pitchFamily="2" charset="-122"/>
              </a:rPr>
              <a:t>1s</a:t>
            </a:r>
            <a:r>
              <a:rPr lang="zh-CN" altLang="en-US" dirty="0">
                <a:latin typeface="Times New Roman" panose="02020603050405020304" pitchFamily="18" charset="0"/>
                <a:ea typeface="宋体" panose="02010600030101010101" pitchFamily="2" charset="-122"/>
              </a:rPr>
              <a:t>，再使奇数灯亮</a:t>
            </a:r>
            <a:r>
              <a:rPr lang="en-US" altLang="zh-CN" dirty="0">
                <a:latin typeface="Times New Roman" panose="02020603050405020304" pitchFamily="18" charset="0"/>
                <a:ea typeface="宋体" panose="02010600030101010101" pitchFamily="2" charset="-122"/>
              </a:rPr>
              <a:t>1s</a:t>
            </a:r>
            <a:r>
              <a:rPr lang="zh-CN" altLang="en-US" dirty="0">
                <a:latin typeface="Times New Roman" panose="02020603050405020304" pitchFamily="18" charset="0"/>
                <a:ea typeface="宋体" panose="02010600030101010101" pitchFamily="2" charset="-122"/>
              </a:rPr>
              <a:t>，如此循环，使用子程序结构实现该功能。</a:t>
            </a:r>
          </a:p>
        </p:txBody>
      </p:sp>
      <p:sp>
        <p:nvSpPr>
          <p:cNvPr id="44035" name="Rectangle 8"/>
          <p:cNvSpPr/>
          <p:nvPr/>
        </p:nvSpPr>
        <p:spPr>
          <a:xfrm>
            <a:off x="395288" y="3068638"/>
            <a:ext cx="6769100" cy="460375"/>
          </a:xfrm>
          <a:prstGeom prst="rect">
            <a:avLst/>
          </a:prstGeom>
          <a:noFill/>
          <a:ln w="9525">
            <a:noFill/>
          </a:ln>
        </p:spPr>
        <p:txBody>
          <a:bodyPr anchor="t" anchorCtr="0">
            <a:spAutoFit/>
          </a:bodyPr>
          <a:lstStyle/>
          <a:p>
            <a:r>
              <a:rPr lang="zh-CN" altLang="en-US" dirty="0">
                <a:latin typeface="Times New Roman" panose="02020603050405020304" pitchFamily="18" charset="0"/>
                <a:ea typeface="宋体" panose="02010600030101010101" pitchFamily="2" charset="-122"/>
              </a:rPr>
              <a:t>解：假设</a:t>
            </a:r>
            <a:r>
              <a:rPr lang="en-US" altLang="zh-CN" i="1" dirty="0">
                <a:latin typeface="Times New Roman" panose="02020603050405020304" pitchFamily="18" charset="0"/>
                <a:ea typeface="宋体" panose="02010600030101010101" pitchFamily="2" charset="-122"/>
              </a:rPr>
              <a:t>f</a:t>
            </a:r>
            <a:r>
              <a:rPr lang="en-US" altLang="zh-CN" dirty="0">
                <a:latin typeface="Times New Roman" panose="02020603050405020304" pitchFamily="18" charset="0"/>
                <a:ea typeface="宋体" panose="02010600030101010101" pitchFamily="2" charset="-122"/>
              </a:rPr>
              <a:t>osc =12MHz</a:t>
            </a:r>
            <a:r>
              <a:rPr lang="zh-CN" altLang="en-US" dirty="0">
                <a:latin typeface="Times New Roman" panose="02020603050405020304" pitchFamily="18" charset="0"/>
                <a:ea typeface="宋体" panose="02010600030101010101" pitchFamily="2" charset="-122"/>
              </a:rPr>
              <a:t>，则机器周期为</a:t>
            </a:r>
            <a:r>
              <a:rPr lang="en-US" altLang="zh-CN" dirty="0">
                <a:latin typeface="Times New Roman" panose="02020603050405020304" pitchFamily="18" charset="0"/>
                <a:ea typeface="宋体" panose="02010600030101010101" pitchFamily="2" charset="-122"/>
              </a:rPr>
              <a:t>1µs</a:t>
            </a:r>
            <a:r>
              <a:rPr lang="zh-CN" altLang="en-US" dirty="0">
                <a:latin typeface="Times New Roman" panose="02020603050405020304" pitchFamily="18" charset="0"/>
                <a:ea typeface="宋体" panose="02010600030101010101" pitchFamily="2" charset="-122"/>
              </a:rPr>
              <a:t>。</a:t>
            </a:r>
          </a:p>
        </p:txBody>
      </p:sp>
    </p:spTree>
  </p:cSld>
  <p:clrMapOvr>
    <a:masterClrMapping/>
  </p:clrMapOvr>
  <p:transition>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5"/>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33</a:t>
            </a:fld>
            <a:endParaRPr lang="en-US" altLang="zh-CN" sz="1400" b="0" dirty="0"/>
          </a:p>
        </p:txBody>
      </p:sp>
      <p:pic>
        <p:nvPicPr>
          <p:cNvPr id="45058" name="Picture 4"/>
          <p:cNvPicPr>
            <a:picLocks noChangeAspect="1"/>
          </p:cNvPicPr>
          <p:nvPr/>
        </p:nvPicPr>
        <p:blipFill>
          <a:blip r:embed="rId2"/>
          <a:srcRect l="1576" t="22118" r="44449" b="14886"/>
          <a:stretch>
            <a:fillRect/>
          </a:stretch>
        </p:blipFill>
        <p:spPr>
          <a:xfrm>
            <a:off x="684530" y="824230"/>
            <a:ext cx="7356475" cy="6033770"/>
          </a:xfrm>
          <a:prstGeom prst="rect">
            <a:avLst/>
          </a:prstGeom>
          <a:noFill/>
          <a:ln w="9525">
            <a:noFill/>
          </a:ln>
        </p:spPr>
      </p:pic>
    </p:spTree>
  </p:cSld>
  <p:clrMapOvr>
    <a:masterClrMapping/>
  </p:clrMapOvr>
  <p:transition>
    <p:blinds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34</a:t>
            </a:fld>
            <a:endParaRPr lang="en-US" altLang="zh-CN" sz="1400" b="0" dirty="0"/>
          </a:p>
        </p:txBody>
      </p:sp>
      <p:graphicFrame>
        <p:nvGraphicFramePr>
          <p:cNvPr id="46082" name="Object 5"/>
          <p:cNvGraphicFramePr>
            <a:graphicFrameLocks/>
          </p:cNvGraphicFramePr>
          <p:nvPr/>
        </p:nvGraphicFramePr>
        <p:xfrm>
          <a:off x="0" y="4054475"/>
          <a:ext cx="104775" cy="190500"/>
        </p:xfrm>
        <a:graphic>
          <a:graphicData uri="http://schemas.openxmlformats.org/presentationml/2006/ole">
            <p:oleObj spid="_x0000_s55297" r:id="rId3" imgW="101556" imgH="190417" progId="Equation.3">
              <p:embed/>
            </p:oleObj>
          </a:graphicData>
        </a:graphic>
      </p:graphicFrame>
      <p:sp>
        <p:nvSpPr>
          <p:cNvPr id="22535" name="Text Box 7"/>
          <p:cNvSpPr txBox="1"/>
          <p:nvPr/>
        </p:nvSpPr>
        <p:spPr>
          <a:xfrm>
            <a:off x="323850" y="631825"/>
            <a:ext cx="8569325" cy="6226175"/>
          </a:xfrm>
          <a:prstGeom prst="rect">
            <a:avLst/>
          </a:prstGeom>
          <a:noFill/>
          <a:ln w="9525">
            <a:noFill/>
          </a:ln>
        </p:spPr>
        <p:txBody>
          <a:bodyPr anchor="t" anchorCtr="0">
            <a:spAutoFit/>
          </a:bodyPr>
          <a:lstStyle/>
          <a:p>
            <a:pPr>
              <a:lnSpc>
                <a:spcPct val="120000"/>
              </a:lnSpc>
            </a:pPr>
            <a:r>
              <a:rPr lang="en-US" altLang="zh-CN" dirty="0">
                <a:latin typeface="Times New Roman" panose="02020603050405020304" pitchFamily="18" charset="0"/>
                <a:ea typeface="宋体" panose="02010600030101010101" pitchFamily="2" charset="-122"/>
              </a:rPr>
              <a:t>		ORG	0</a:t>
            </a:r>
          </a:p>
          <a:p>
            <a:pPr>
              <a:lnSpc>
                <a:spcPct val="120000"/>
              </a:lnSpc>
            </a:pPr>
            <a:r>
              <a:rPr lang="en-US" altLang="zh-CN" dirty="0">
                <a:latin typeface="Times New Roman" panose="02020603050405020304" pitchFamily="18" charset="0"/>
                <a:ea typeface="宋体" panose="02010600030101010101" pitchFamily="2" charset="-122"/>
              </a:rPr>
              <a:t>MAIN:            MOV	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#0AAH</a:t>
            </a:r>
          </a:p>
          <a:p>
            <a:pPr>
              <a:lnSpc>
                <a:spcPct val="120000"/>
              </a:lnSpc>
            </a:pPr>
            <a:r>
              <a:rPr lang="en-US" altLang="zh-CN" dirty="0">
                <a:latin typeface="Times New Roman" panose="02020603050405020304" pitchFamily="18" charset="0"/>
                <a:ea typeface="宋体" panose="02010600030101010101" pitchFamily="2" charset="-122"/>
              </a:rPr>
              <a:t>		</a:t>
            </a:r>
            <a:r>
              <a:rPr lang="en-US" altLang="zh-CN" dirty="0">
                <a:solidFill>
                  <a:srgbClr val="FF3300"/>
                </a:solidFill>
                <a:latin typeface="Times New Roman" panose="02020603050405020304" pitchFamily="18" charset="0"/>
                <a:ea typeface="宋体" panose="02010600030101010101" pitchFamily="2" charset="-122"/>
              </a:rPr>
              <a:t>LCALL      DELAY1S</a:t>
            </a:r>
          </a:p>
          <a:p>
            <a:pPr>
              <a:lnSpc>
                <a:spcPct val="120000"/>
              </a:lnSpc>
            </a:pPr>
            <a:r>
              <a:rPr lang="en-US" altLang="zh-CN" dirty="0">
                <a:latin typeface="Times New Roman" panose="02020603050405020304" pitchFamily="18" charset="0"/>
                <a:ea typeface="宋体" panose="02010600030101010101" pitchFamily="2" charset="-122"/>
              </a:rPr>
              <a:t>		MOV	P1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#55H</a:t>
            </a:r>
          </a:p>
          <a:p>
            <a:pPr>
              <a:lnSpc>
                <a:spcPct val="120000"/>
              </a:lnSpc>
            </a:pPr>
            <a:r>
              <a:rPr lang="en-US" altLang="zh-CN" dirty="0">
                <a:latin typeface="Times New Roman" panose="02020603050405020304" pitchFamily="18" charset="0"/>
                <a:ea typeface="宋体" panose="02010600030101010101" pitchFamily="2" charset="-122"/>
              </a:rPr>
              <a:t>		</a:t>
            </a:r>
            <a:r>
              <a:rPr lang="en-US" altLang="zh-CN" dirty="0">
                <a:solidFill>
                  <a:srgbClr val="FF3300"/>
                </a:solidFill>
                <a:latin typeface="Times New Roman" panose="02020603050405020304" pitchFamily="18" charset="0"/>
                <a:ea typeface="宋体" panose="02010600030101010101" pitchFamily="2" charset="-122"/>
              </a:rPr>
              <a:t>LCALL      DELAY1S</a:t>
            </a:r>
          </a:p>
          <a:p>
            <a:pPr>
              <a:lnSpc>
                <a:spcPct val="120000"/>
              </a:lnSpc>
            </a:pPr>
            <a:r>
              <a:rPr lang="en-US" altLang="zh-CN" dirty="0">
                <a:latin typeface="Times New Roman" panose="02020603050405020304" pitchFamily="18" charset="0"/>
                <a:ea typeface="宋体" panose="02010600030101010101" pitchFamily="2" charset="-122"/>
              </a:rPr>
              <a:t>		AJMP	MAIN</a:t>
            </a:r>
          </a:p>
          <a:p>
            <a:pPr>
              <a:lnSpc>
                <a:spcPct val="120000"/>
              </a:lnSpc>
            </a:pPr>
            <a:endParaRPr lang="pt-BR" altLang="zh-CN" dirty="0">
              <a:latin typeface="Times New Roman" panose="02020603050405020304" pitchFamily="18" charset="0"/>
              <a:ea typeface="宋体" panose="02010600030101010101" pitchFamily="2" charset="-122"/>
            </a:endParaRPr>
          </a:p>
          <a:p>
            <a:pPr>
              <a:lnSpc>
                <a:spcPct val="120000"/>
              </a:lnSpc>
            </a:pPr>
            <a:endParaRPr lang="pt-BR" altLang="zh-CN" dirty="0">
              <a:latin typeface="Times New Roman" panose="02020603050405020304" pitchFamily="18" charset="0"/>
              <a:ea typeface="宋体" panose="02010600030101010101" pitchFamily="2" charset="-122"/>
            </a:endParaRPr>
          </a:p>
          <a:p>
            <a:pPr>
              <a:lnSpc>
                <a:spcPct val="120000"/>
              </a:lnSpc>
            </a:pPr>
            <a:endParaRPr lang="pt-BR" altLang="zh-CN" dirty="0">
              <a:latin typeface="Times New Roman" panose="02020603050405020304" pitchFamily="18" charset="0"/>
              <a:ea typeface="宋体" panose="02010600030101010101" pitchFamily="2" charset="-122"/>
            </a:endParaRPr>
          </a:p>
          <a:p>
            <a:pPr>
              <a:lnSpc>
                <a:spcPct val="120000"/>
              </a:lnSpc>
            </a:pPr>
            <a:endParaRPr lang="pt-BR" altLang="zh-CN" dirty="0">
              <a:latin typeface="Times New Roman" panose="02020603050405020304" pitchFamily="18" charset="0"/>
              <a:ea typeface="宋体" panose="02010600030101010101" pitchFamily="2" charset="-122"/>
            </a:endParaRPr>
          </a:p>
          <a:p>
            <a:pPr>
              <a:lnSpc>
                <a:spcPct val="120000"/>
              </a:lnSpc>
            </a:pPr>
            <a:endParaRPr lang="pt-BR" altLang="zh-CN" dirty="0">
              <a:latin typeface="Times New Roman" panose="02020603050405020304" pitchFamily="18" charset="0"/>
              <a:ea typeface="宋体" panose="02010600030101010101" pitchFamily="2" charset="-122"/>
            </a:endParaRPr>
          </a:p>
          <a:p>
            <a:pPr>
              <a:lnSpc>
                <a:spcPct val="120000"/>
              </a:lnSpc>
            </a:pPr>
            <a:endParaRPr lang="pt-BR" altLang="zh-CN" dirty="0">
              <a:latin typeface="Times New Roman" panose="02020603050405020304" pitchFamily="18" charset="0"/>
              <a:ea typeface="宋体" panose="02010600030101010101" pitchFamily="2" charset="-122"/>
            </a:endParaRPr>
          </a:p>
          <a:p>
            <a:pPr>
              <a:lnSpc>
                <a:spcPct val="120000"/>
              </a:lnSpc>
            </a:pPr>
            <a:endParaRPr lang="pt-BR" altLang="zh-CN" dirty="0">
              <a:latin typeface="Times New Roman" panose="02020603050405020304" pitchFamily="18" charset="0"/>
              <a:ea typeface="宋体" panose="02010600030101010101" pitchFamily="2" charset="-122"/>
            </a:endParaRPr>
          </a:p>
          <a:p>
            <a:pPr>
              <a:lnSpc>
                <a:spcPct val="120000"/>
              </a:lnSpc>
            </a:pPr>
            <a:r>
              <a:rPr lang="pt-BR" altLang="zh-CN" dirty="0">
                <a:latin typeface="Times New Roman" panose="02020603050405020304" pitchFamily="18" charset="0"/>
                <a:ea typeface="宋体" panose="02010600030101010101" pitchFamily="2" charset="-122"/>
              </a:rPr>
              <a:t>		END</a:t>
            </a:r>
            <a:endParaRPr lang="en-US" altLang="zh-CN" dirty="0">
              <a:latin typeface="Times New Roman" panose="02020603050405020304" pitchFamily="18" charset="0"/>
              <a:ea typeface="宋体" panose="02010600030101010101" pitchFamily="2" charset="-122"/>
            </a:endParaRPr>
          </a:p>
        </p:txBody>
      </p:sp>
      <p:sp>
        <p:nvSpPr>
          <p:cNvPr id="22536" name="Text Box 8"/>
          <p:cNvSpPr txBox="1"/>
          <p:nvPr/>
        </p:nvSpPr>
        <p:spPr>
          <a:xfrm>
            <a:off x="323850" y="3213100"/>
            <a:ext cx="9144000" cy="3159125"/>
          </a:xfrm>
          <a:prstGeom prst="rect">
            <a:avLst/>
          </a:prstGeom>
          <a:noFill/>
          <a:ln w="9525">
            <a:noFill/>
          </a:ln>
        </p:spPr>
        <p:txBody>
          <a:bodyPr anchor="t" anchorCtr="0">
            <a:spAutoFit/>
          </a:bodyPr>
          <a:lstStyle/>
          <a:p>
            <a:pPr>
              <a:lnSpc>
                <a:spcPct val="120000"/>
              </a:lnSpc>
            </a:pPr>
            <a:r>
              <a:rPr lang="en-US" altLang="zh-CN" dirty="0">
                <a:solidFill>
                  <a:srgbClr val="0000CC"/>
                </a:solidFill>
                <a:latin typeface="Times New Roman" panose="02020603050405020304" pitchFamily="18" charset="0"/>
                <a:ea typeface="宋体" panose="02010600030101010101" pitchFamily="2" charset="-122"/>
              </a:rPr>
              <a:t>DELAY1S:	MOV	R5</a:t>
            </a:r>
            <a:r>
              <a:rPr lang="zh-CN" altLang="en-US" dirty="0">
                <a:solidFill>
                  <a:srgbClr val="0000CC"/>
                </a:solidFill>
                <a:latin typeface="Times New Roman" panose="02020603050405020304" pitchFamily="18" charset="0"/>
                <a:ea typeface="宋体" panose="02010600030101010101" pitchFamily="2" charset="-122"/>
              </a:rPr>
              <a:t>，</a:t>
            </a:r>
            <a:r>
              <a:rPr lang="en-US" altLang="zh-CN" dirty="0">
                <a:solidFill>
                  <a:srgbClr val="0000CC"/>
                </a:solidFill>
                <a:latin typeface="Times New Roman" panose="02020603050405020304" pitchFamily="18" charset="0"/>
                <a:ea typeface="宋体" panose="02010600030101010101" pitchFamily="2" charset="-122"/>
              </a:rPr>
              <a:t>#10	1s</a:t>
            </a:r>
            <a:r>
              <a:rPr lang="zh-CN" altLang="en-US" dirty="0">
                <a:solidFill>
                  <a:srgbClr val="0000CC"/>
                </a:solidFill>
                <a:latin typeface="Times New Roman" panose="02020603050405020304" pitchFamily="18" charset="0"/>
                <a:ea typeface="宋体" panose="02010600030101010101" pitchFamily="2" charset="-122"/>
              </a:rPr>
              <a:t>延时子程序</a:t>
            </a:r>
          </a:p>
          <a:p>
            <a:pPr>
              <a:lnSpc>
                <a:spcPct val="120000"/>
              </a:lnSpc>
            </a:pPr>
            <a:r>
              <a:rPr lang="en-US" altLang="zh-CN" dirty="0">
                <a:solidFill>
                  <a:srgbClr val="0000CC"/>
                </a:solidFill>
                <a:latin typeface="Times New Roman" panose="02020603050405020304" pitchFamily="18" charset="0"/>
                <a:ea typeface="宋体" panose="02010600030101010101" pitchFamily="2" charset="-122"/>
              </a:rPr>
              <a:t>DELAY0</a:t>
            </a:r>
            <a:r>
              <a:rPr lang="zh-CN" altLang="en-US" dirty="0">
                <a:solidFill>
                  <a:srgbClr val="0000CC"/>
                </a:solidFill>
                <a:latin typeface="Times New Roman" panose="02020603050405020304" pitchFamily="18" charset="0"/>
                <a:ea typeface="宋体" panose="02010600030101010101" pitchFamily="2" charset="-122"/>
              </a:rPr>
              <a:t>：	</a:t>
            </a:r>
            <a:r>
              <a:rPr lang="en-US" altLang="zh-CN" dirty="0">
                <a:solidFill>
                  <a:srgbClr val="0000CC"/>
                </a:solidFill>
                <a:latin typeface="Times New Roman" panose="02020603050405020304" pitchFamily="18" charset="0"/>
                <a:ea typeface="宋体" panose="02010600030101010101" pitchFamily="2" charset="-122"/>
              </a:rPr>
              <a:t>MOV	R6</a:t>
            </a:r>
            <a:r>
              <a:rPr lang="zh-CN" altLang="en-US" dirty="0">
                <a:solidFill>
                  <a:srgbClr val="0000CC"/>
                </a:solidFill>
                <a:latin typeface="Times New Roman" panose="02020603050405020304" pitchFamily="18" charset="0"/>
                <a:ea typeface="宋体" panose="02010600030101010101" pitchFamily="2" charset="-122"/>
              </a:rPr>
              <a:t>，</a:t>
            </a:r>
            <a:r>
              <a:rPr lang="en-US" altLang="zh-CN" dirty="0">
                <a:solidFill>
                  <a:srgbClr val="0000CC"/>
                </a:solidFill>
                <a:latin typeface="Times New Roman" panose="02020603050405020304" pitchFamily="18" charset="0"/>
                <a:ea typeface="宋体" panose="02010600030101010101" pitchFamily="2" charset="-122"/>
              </a:rPr>
              <a:t>#200   		    </a:t>
            </a:r>
          </a:p>
          <a:p>
            <a:pPr>
              <a:lnSpc>
                <a:spcPct val="120000"/>
              </a:lnSpc>
            </a:pPr>
            <a:r>
              <a:rPr lang="en-US" altLang="zh-CN" dirty="0">
                <a:solidFill>
                  <a:srgbClr val="0000CC"/>
                </a:solidFill>
                <a:latin typeface="Times New Roman" panose="02020603050405020304" pitchFamily="18" charset="0"/>
                <a:ea typeface="宋体" panose="02010600030101010101" pitchFamily="2" charset="-122"/>
              </a:rPr>
              <a:t>DELAY1</a:t>
            </a:r>
            <a:r>
              <a:rPr lang="zh-CN" altLang="en-US" dirty="0">
                <a:solidFill>
                  <a:srgbClr val="0000CC"/>
                </a:solidFill>
                <a:latin typeface="Times New Roman" panose="02020603050405020304" pitchFamily="18" charset="0"/>
                <a:ea typeface="宋体" panose="02010600030101010101" pitchFamily="2" charset="-122"/>
              </a:rPr>
              <a:t>：	</a:t>
            </a:r>
            <a:r>
              <a:rPr lang="en-US" altLang="zh-CN" dirty="0">
                <a:solidFill>
                  <a:srgbClr val="0000CC"/>
                </a:solidFill>
                <a:latin typeface="Times New Roman" panose="02020603050405020304" pitchFamily="18" charset="0"/>
                <a:ea typeface="宋体" panose="02010600030101010101" pitchFamily="2" charset="-122"/>
              </a:rPr>
              <a:t>MOV 	R7</a:t>
            </a:r>
            <a:r>
              <a:rPr lang="zh-CN" altLang="en-US" dirty="0">
                <a:solidFill>
                  <a:srgbClr val="0000CC"/>
                </a:solidFill>
                <a:latin typeface="Times New Roman" panose="02020603050405020304" pitchFamily="18" charset="0"/>
                <a:ea typeface="宋体" panose="02010600030101010101" pitchFamily="2" charset="-122"/>
              </a:rPr>
              <a:t>，</a:t>
            </a:r>
            <a:r>
              <a:rPr lang="en-US" altLang="zh-CN" dirty="0">
                <a:solidFill>
                  <a:srgbClr val="0000CC"/>
                </a:solidFill>
                <a:latin typeface="Times New Roman" panose="02020603050405020304" pitchFamily="18" charset="0"/>
                <a:ea typeface="宋体" panose="02010600030101010101" pitchFamily="2" charset="-122"/>
              </a:rPr>
              <a:t>#250			</a:t>
            </a:r>
          </a:p>
          <a:p>
            <a:pPr>
              <a:lnSpc>
                <a:spcPct val="120000"/>
              </a:lnSpc>
            </a:pPr>
            <a:r>
              <a:rPr lang="en-US" altLang="zh-CN" dirty="0">
                <a:solidFill>
                  <a:srgbClr val="0000CC"/>
                </a:solidFill>
                <a:latin typeface="Times New Roman" panose="02020603050405020304" pitchFamily="18" charset="0"/>
                <a:ea typeface="宋体" panose="02010600030101010101" pitchFamily="2" charset="-122"/>
              </a:rPr>
              <a:t>DELAY2</a:t>
            </a:r>
            <a:r>
              <a:rPr lang="zh-CN" altLang="en-US" dirty="0">
                <a:solidFill>
                  <a:srgbClr val="0000CC"/>
                </a:solidFill>
                <a:latin typeface="Times New Roman" panose="02020603050405020304" pitchFamily="18" charset="0"/>
                <a:ea typeface="宋体" panose="02010600030101010101" pitchFamily="2" charset="-122"/>
              </a:rPr>
              <a:t>：	</a:t>
            </a:r>
            <a:r>
              <a:rPr lang="en-US" altLang="zh-CN" dirty="0">
                <a:solidFill>
                  <a:srgbClr val="0000CC"/>
                </a:solidFill>
                <a:latin typeface="Times New Roman" panose="02020603050405020304" pitchFamily="18" charset="0"/>
                <a:ea typeface="宋体" panose="02010600030101010101" pitchFamily="2" charset="-122"/>
              </a:rPr>
              <a:t>DJNZ	R7</a:t>
            </a:r>
            <a:r>
              <a:rPr lang="zh-CN" altLang="en-US" dirty="0">
                <a:solidFill>
                  <a:srgbClr val="0000CC"/>
                </a:solidFill>
                <a:latin typeface="Times New Roman" panose="02020603050405020304" pitchFamily="18" charset="0"/>
                <a:ea typeface="宋体" panose="02010600030101010101" pitchFamily="2" charset="-122"/>
              </a:rPr>
              <a:t>，</a:t>
            </a:r>
            <a:r>
              <a:rPr lang="en-US" altLang="zh-CN" dirty="0">
                <a:solidFill>
                  <a:srgbClr val="0000CC"/>
                </a:solidFill>
                <a:latin typeface="Times New Roman" panose="02020603050405020304" pitchFamily="18" charset="0"/>
                <a:ea typeface="宋体" panose="02010600030101010101" pitchFamily="2" charset="-122"/>
              </a:rPr>
              <a:t>DELAY2			</a:t>
            </a:r>
          </a:p>
          <a:p>
            <a:pPr>
              <a:lnSpc>
                <a:spcPct val="120000"/>
              </a:lnSpc>
            </a:pPr>
            <a:r>
              <a:rPr lang="en-US" altLang="zh-CN" dirty="0">
                <a:solidFill>
                  <a:srgbClr val="0000CC"/>
                </a:solidFill>
                <a:latin typeface="Times New Roman" panose="02020603050405020304" pitchFamily="18" charset="0"/>
                <a:ea typeface="宋体" panose="02010600030101010101" pitchFamily="2" charset="-122"/>
              </a:rPr>
              <a:t>		DJNZ	R6</a:t>
            </a:r>
            <a:r>
              <a:rPr lang="zh-CN" altLang="en-US" dirty="0">
                <a:solidFill>
                  <a:srgbClr val="0000CC"/>
                </a:solidFill>
                <a:latin typeface="Times New Roman" panose="02020603050405020304" pitchFamily="18" charset="0"/>
                <a:ea typeface="宋体" panose="02010600030101010101" pitchFamily="2" charset="-122"/>
              </a:rPr>
              <a:t>，</a:t>
            </a:r>
            <a:r>
              <a:rPr lang="en-US" altLang="zh-CN" dirty="0">
                <a:solidFill>
                  <a:srgbClr val="0000CC"/>
                </a:solidFill>
                <a:latin typeface="Times New Roman" panose="02020603050405020304" pitchFamily="18" charset="0"/>
                <a:ea typeface="宋体" panose="02010600030101010101" pitchFamily="2" charset="-122"/>
              </a:rPr>
              <a:t>DEL</a:t>
            </a:r>
            <a:r>
              <a:rPr lang="pt-BR" altLang="zh-CN" dirty="0">
                <a:solidFill>
                  <a:srgbClr val="0000CC"/>
                </a:solidFill>
                <a:latin typeface="Times New Roman" panose="02020603050405020304" pitchFamily="18" charset="0"/>
                <a:ea typeface="宋体" panose="02010600030101010101" pitchFamily="2" charset="-122"/>
              </a:rPr>
              <a:t>AY1			</a:t>
            </a:r>
          </a:p>
          <a:p>
            <a:pPr>
              <a:lnSpc>
                <a:spcPct val="120000"/>
              </a:lnSpc>
            </a:pPr>
            <a:r>
              <a:rPr lang="pt-BR" altLang="zh-CN" dirty="0">
                <a:solidFill>
                  <a:srgbClr val="0000CC"/>
                </a:solidFill>
                <a:latin typeface="Times New Roman" panose="02020603050405020304" pitchFamily="18" charset="0"/>
                <a:ea typeface="宋体" panose="02010600030101010101" pitchFamily="2" charset="-122"/>
              </a:rPr>
              <a:t>		DJNZ	R5</a:t>
            </a:r>
            <a:r>
              <a:rPr lang="zh-CN" altLang="pt-BR" dirty="0">
                <a:solidFill>
                  <a:srgbClr val="0000CC"/>
                </a:solidFill>
                <a:latin typeface="Times New Roman" panose="02020603050405020304" pitchFamily="18" charset="0"/>
                <a:ea typeface="宋体" panose="02010600030101010101" pitchFamily="2" charset="-122"/>
              </a:rPr>
              <a:t>，</a:t>
            </a:r>
            <a:r>
              <a:rPr lang="pt-BR" altLang="zh-CN" dirty="0">
                <a:solidFill>
                  <a:srgbClr val="0000CC"/>
                </a:solidFill>
                <a:latin typeface="Times New Roman" panose="02020603050405020304" pitchFamily="18" charset="0"/>
                <a:ea typeface="宋体" panose="02010600030101010101" pitchFamily="2" charset="-122"/>
              </a:rPr>
              <a:t>DELAY0</a:t>
            </a:r>
          </a:p>
          <a:p>
            <a:pPr>
              <a:lnSpc>
                <a:spcPct val="120000"/>
              </a:lnSpc>
            </a:pPr>
            <a:r>
              <a:rPr lang="pt-BR" altLang="zh-CN" dirty="0">
                <a:solidFill>
                  <a:srgbClr val="0000CC"/>
                </a:solidFill>
                <a:latin typeface="Times New Roman" panose="02020603050405020304" pitchFamily="18" charset="0"/>
                <a:ea typeface="宋体" panose="02010600030101010101" pitchFamily="2" charset="-122"/>
              </a:rPr>
              <a:t>		</a:t>
            </a:r>
            <a:r>
              <a:rPr lang="pt-BR" altLang="zh-CN" dirty="0">
                <a:solidFill>
                  <a:srgbClr val="FF3300"/>
                </a:solidFill>
                <a:latin typeface="Times New Roman" panose="02020603050405020304" pitchFamily="18" charset="0"/>
                <a:ea typeface="宋体" panose="02010600030101010101" pitchFamily="2" charset="-122"/>
              </a:rPr>
              <a:t>RET</a:t>
            </a:r>
            <a:r>
              <a:rPr lang="pt-BR"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6"/>
                                        </p:tgtEl>
                                        <p:attrNameLst>
                                          <p:attrName>style.visibility</p:attrName>
                                        </p:attrNameLst>
                                      </p:cBhvr>
                                      <p:to>
                                        <p:strVal val="visible"/>
                                      </p:to>
                                    </p:set>
                                    <p:anim calcmode="lin" valueType="num">
                                      <p:cBhvr additive="base">
                                        <p:cTn id="7" dur="500" fill="hold"/>
                                        <p:tgtEl>
                                          <p:spTgt spid="22536"/>
                                        </p:tgtEl>
                                        <p:attrNameLst>
                                          <p:attrName>ppt_x</p:attrName>
                                        </p:attrNameLst>
                                      </p:cBhvr>
                                      <p:tavLst>
                                        <p:tav tm="0">
                                          <p:val>
                                            <p:strVal val="#ppt_x"/>
                                          </p:val>
                                        </p:tav>
                                        <p:tav tm="100000">
                                          <p:val>
                                            <p:strVal val="#ppt_x"/>
                                          </p:val>
                                        </p:tav>
                                      </p:tavLst>
                                    </p:anim>
                                    <p:anim calcmode="lin" valueType="num">
                                      <p:cBhvr additive="base">
                                        <p:cTn id="8" dur="500" fill="hold"/>
                                        <p:tgtEl>
                                          <p:spTgt spid="225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22535"/>
                                        </p:tgtEl>
                                        <p:attrNameLst>
                                          <p:attrName>style.visibility</p:attrName>
                                        </p:attrNameLst>
                                      </p:cBhvr>
                                      <p:to>
                                        <p:strVal val="visible"/>
                                      </p:to>
                                    </p:set>
                                    <p:animEffect transition="in" filter="diamond(in)">
                                      <p:cBhvr>
                                        <p:cTn id="13" dur="2000"/>
                                        <p:tgtEl>
                                          <p:spTgt spid="22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p:bldP spid="2253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35</a:t>
            </a:fld>
            <a:endParaRPr lang="en-US" altLang="zh-CN" sz="1400" b="0" dirty="0"/>
          </a:p>
        </p:txBody>
      </p:sp>
      <p:sp>
        <p:nvSpPr>
          <p:cNvPr id="204802" name="Text Box 2"/>
          <p:cNvSpPr txBox="1"/>
          <p:nvPr/>
        </p:nvSpPr>
        <p:spPr>
          <a:xfrm>
            <a:off x="395288" y="2133600"/>
            <a:ext cx="8458200" cy="1755775"/>
          </a:xfrm>
          <a:prstGeom prst="rect">
            <a:avLst/>
          </a:prstGeom>
          <a:solidFill>
            <a:srgbClr val="66CCFF"/>
          </a:solidFill>
          <a:ln w="9525">
            <a:noFill/>
          </a:ln>
        </p:spPr>
        <p:txBody>
          <a:bodyPr anchor="t" anchorCtr="0">
            <a:spAutoFit/>
          </a:bodyPr>
          <a:lstStyle/>
          <a:p>
            <a:pPr>
              <a:lnSpc>
                <a:spcPct val="135000"/>
              </a:lnSpc>
              <a:spcBef>
                <a:spcPct val="50000"/>
              </a:spcBef>
            </a:pPr>
            <a:r>
              <a:rPr lang="en-US" altLang="zh-CN" dirty="0">
                <a:solidFill>
                  <a:srgbClr val="FF3300"/>
                </a:solidFill>
                <a:latin typeface="Times New Roman" panose="02020603050405020304" pitchFamily="18" charset="0"/>
                <a:ea typeface="宋体" panose="02010600030101010101" pitchFamily="2" charset="-122"/>
              </a:rPr>
              <a:t>1. </a:t>
            </a:r>
            <a:r>
              <a:rPr lang="zh-CN" altLang="en-US" dirty="0">
                <a:solidFill>
                  <a:srgbClr val="FF3300"/>
                </a:solidFill>
                <a:latin typeface="Times New Roman" panose="02020603050405020304" pitchFamily="18" charset="0"/>
                <a:ea typeface="宋体" panose="02010600030101010101" pitchFamily="2" charset="-122"/>
              </a:rPr>
              <a:t>介绍了汇编语言源程序的编写步骤</a:t>
            </a:r>
            <a:r>
              <a:rPr lang="en-US" altLang="zh-CN" dirty="0">
                <a:solidFill>
                  <a:srgbClr val="FF3300"/>
                </a:solidFill>
                <a:latin typeface="Times New Roman" panose="02020603050405020304" pitchFamily="18" charset="0"/>
                <a:ea typeface="宋体" panose="02010600030101010101" pitchFamily="2" charset="-122"/>
              </a:rPr>
              <a:t>:</a:t>
            </a:r>
          </a:p>
          <a:p>
            <a:pPr>
              <a:lnSpc>
                <a:spcPct val="135000"/>
              </a:lnSpc>
              <a:spcBef>
                <a:spcPct val="50000"/>
              </a:spcBef>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分析问题、确定算法、资源分配、画流程图、写源程序和上机调试 六个部分。</a:t>
            </a:r>
            <a:endParaRPr lang="zh-CN" altLang="en-US" dirty="0">
              <a:latin typeface="Times New Roman" panose="02020603050405020304" pitchFamily="18" charset="0"/>
              <a:ea typeface="宋体" panose="02010600030101010101" pitchFamily="2" charset="-122"/>
            </a:endParaRPr>
          </a:p>
        </p:txBody>
      </p:sp>
      <p:sp>
        <p:nvSpPr>
          <p:cNvPr id="51203" name="Rectangle 4"/>
          <p:cNvSpPr/>
          <p:nvPr/>
        </p:nvSpPr>
        <p:spPr>
          <a:xfrm>
            <a:off x="3352800" y="990600"/>
            <a:ext cx="2286000" cy="749300"/>
          </a:xfrm>
          <a:prstGeom prst="rect">
            <a:avLst/>
          </a:prstGeom>
          <a:solidFill>
            <a:schemeClr val="bg1"/>
          </a:solidFill>
          <a:ln w="9525">
            <a:noFill/>
          </a:ln>
        </p:spPr>
        <p:txBody>
          <a:bodyPr anchor="t" anchorCtr="0">
            <a:spAutoFit/>
          </a:bodyPr>
          <a:lstStyle/>
          <a:p>
            <a:pPr>
              <a:lnSpc>
                <a:spcPct val="135000"/>
              </a:lnSpc>
              <a:spcBef>
                <a:spcPct val="50000"/>
              </a:spcBef>
            </a:pPr>
            <a:r>
              <a:rPr lang="zh-CN" altLang="en-US" sz="3200" dirty="0">
                <a:solidFill>
                  <a:srgbClr val="FF3300"/>
                </a:solidFill>
                <a:latin typeface="Times New Roman" panose="02020603050405020304" pitchFamily="18" charset="0"/>
                <a:ea typeface="宋体" panose="02010600030101010101" pitchFamily="2" charset="-122"/>
              </a:rPr>
              <a:t>本 章 小 结</a:t>
            </a:r>
          </a:p>
        </p:txBody>
      </p:sp>
      <p:sp>
        <p:nvSpPr>
          <p:cNvPr id="267266" name="Text Box 2"/>
          <p:cNvSpPr txBox="1"/>
          <p:nvPr/>
        </p:nvSpPr>
        <p:spPr>
          <a:xfrm>
            <a:off x="395288" y="4437063"/>
            <a:ext cx="8534400" cy="1262062"/>
          </a:xfrm>
          <a:prstGeom prst="rect">
            <a:avLst/>
          </a:prstGeom>
          <a:solidFill>
            <a:srgbClr val="CCFFFF"/>
          </a:solidFill>
          <a:ln w="9525">
            <a:noFill/>
          </a:ln>
        </p:spPr>
        <p:txBody>
          <a:bodyPr anchor="t" anchorCtr="0">
            <a:spAutoFit/>
          </a:bodyPr>
          <a:lstStyle/>
          <a:p>
            <a:pPr>
              <a:lnSpc>
                <a:spcPct val="135000"/>
              </a:lnSpc>
              <a:spcBef>
                <a:spcPct val="50000"/>
              </a:spcBef>
            </a:pPr>
            <a:r>
              <a:rPr lang="en-US" altLang="zh-CN" dirty="0">
                <a:solidFill>
                  <a:srgbClr val="FF3300"/>
                </a:solidFill>
                <a:latin typeface="宋体" panose="02010600030101010101" pitchFamily="2" charset="-122"/>
                <a:ea typeface="宋体" panose="02010600030101010101" pitchFamily="2" charset="-122"/>
              </a:rPr>
              <a:t>2.</a:t>
            </a:r>
            <a:r>
              <a:rPr lang="zh-CN" altLang="en-US" dirty="0">
                <a:solidFill>
                  <a:srgbClr val="FF3300"/>
                </a:solidFill>
                <a:latin typeface="宋体" panose="02010600030101010101" pitchFamily="2" charset="-122"/>
                <a:ea typeface="宋体" panose="02010600030101010101" pitchFamily="2" charset="-122"/>
              </a:rPr>
              <a:t>汇编语言程序的结构： </a:t>
            </a:r>
          </a:p>
          <a:p>
            <a:pPr>
              <a:lnSpc>
                <a:spcPct val="135000"/>
              </a:lnSpc>
              <a:spcBef>
                <a:spcPct val="50000"/>
              </a:spcBef>
            </a:pPr>
            <a:r>
              <a:rPr lang="zh-CN" altLang="en-US" dirty="0">
                <a:solidFill>
                  <a:srgbClr val="009900"/>
                </a:solidFill>
                <a:latin typeface="宋体" panose="02010600030101010101" pitchFamily="2" charset="-122"/>
                <a:ea typeface="宋体" panose="02010600030101010101" pitchFamily="2" charset="-122"/>
              </a:rPr>
              <a:t>     顺序程序、循环结构、分支结构和子程序结构。</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4802"/>
                                        </p:tgtEl>
                                        <p:attrNameLst>
                                          <p:attrName>style.visibility</p:attrName>
                                        </p:attrNameLst>
                                      </p:cBhvr>
                                      <p:to>
                                        <p:strVal val="visible"/>
                                      </p:to>
                                    </p:set>
                                    <p:anim calcmode="lin" valueType="num">
                                      <p:cBhvr additive="base">
                                        <p:cTn id="7" dur="500" fill="hold"/>
                                        <p:tgtEl>
                                          <p:spTgt spid="204802"/>
                                        </p:tgtEl>
                                        <p:attrNameLst>
                                          <p:attrName>ppt_x</p:attrName>
                                        </p:attrNameLst>
                                      </p:cBhvr>
                                      <p:tavLst>
                                        <p:tav tm="0">
                                          <p:val>
                                            <p:strVal val="0-#ppt_w/2"/>
                                          </p:val>
                                        </p:tav>
                                        <p:tav tm="100000">
                                          <p:val>
                                            <p:strVal val="#ppt_x"/>
                                          </p:val>
                                        </p:tav>
                                      </p:tavLst>
                                    </p:anim>
                                    <p:anim calcmode="lin" valueType="num">
                                      <p:cBhvr additive="base">
                                        <p:cTn id="8" dur="500" fill="hold"/>
                                        <p:tgtEl>
                                          <p:spTgt spid="20480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7266"/>
                                        </p:tgtEl>
                                        <p:attrNameLst>
                                          <p:attrName>style.visibility</p:attrName>
                                        </p:attrNameLst>
                                      </p:cBhvr>
                                      <p:to>
                                        <p:strVal val="visible"/>
                                      </p:to>
                                    </p:set>
                                    <p:anim calcmode="lin" valueType="num">
                                      <p:cBhvr additive="base">
                                        <p:cTn id="13" dur="500" fill="hold"/>
                                        <p:tgtEl>
                                          <p:spTgt spid="267266"/>
                                        </p:tgtEl>
                                        <p:attrNameLst>
                                          <p:attrName>ppt_x</p:attrName>
                                        </p:attrNameLst>
                                      </p:cBhvr>
                                      <p:tavLst>
                                        <p:tav tm="0">
                                          <p:val>
                                            <p:strVal val="0-#ppt_w/2"/>
                                          </p:val>
                                        </p:tav>
                                        <p:tav tm="100000">
                                          <p:val>
                                            <p:strVal val="#ppt_x"/>
                                          </p:val>
                                        </p:tav>
                                      </p:tavLst>
                                    </p:anim>
                                    <p:anim calcmode="lin" valueType="num">
                                      <p:cBhvr additive="base">
                                        <p:cTn id="14" dur="500" fill="hold"/>
                                        <p:tgtEl>
                                          <p:spTgt spid="2672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animBg="1"/>
      <p:bldP spid="26726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36</a:t>
            </a:fld>
            <a:endParaRPr lang="en-US" altLang="zh-CN" sz="1400" b="0" dirty="0"/>
          </a:p>
        </p:txBody>
      </p:sp>
      <p:sp>
        <p:nvSpPr>
          <p:cNvPr id="242690" name="Rectangle 2"/>
          <p:cNvSpPr/>
          <p:nvPr/>
        </p:nvSpPr>
        <p:spPr>
          <a:xfrm>
            <a:off x="304800" y="1557338"/>
            <a:ext cx="8839200" cy="2136775"/>
          </a:xfrm>
          <a:prstGeom prst="rect">
            <a:avLst/>
          </a:prstGeom>
          <a:noFill/>
          <a:ln w="9525">
            <a:noFill/>
          </a:ln>
        </p:spPr>
        <p:txBody>
          <a:bodyPr anchor="t" anchorCtr="0">
            <a:spAutoFit/>
          </a:bodyPr>
          <a:lstStyle/>
          <a:p>
            <a:pPr>
              <a:lnSpc>
                <a:spcPct val="140000"/>
              </a:lnSpc>
            </a:pPr>
            <a:r>
              <a:rPr lang="zh-CN" altLang="en-US" i="1" dirty="0">
                <a:solidFill>
                  <a:srgbClr val="FF3300"/>
                </a:solidFill>
                <a:latin typeface="宋体" panose="02010600030101010101" pitchFamily="2" charset="-122"/>
                <a:ea typeface="宋体" panose="02010600030101010101" pitchFamily="2" charset="-122"/>
              </a:rPr>
              <a:t>循环结构：</a:t>
            </a:r>
          </a:p>
          <a:p>
            <a:pPr>
              <a:lnSpc>
                <a:spcPct val="140000"/>
              </a:lnSpc>
            </a:pPr>
            <a:r>
              <a:rPr lang="zh-CN" altLang="en-US" dirty="0">
                <a:solidFill>
                  <a:srgbClr val="000000"/>
                </a:solidFill>
                <a:latin typeface="宋体" panose="02010600030101010101" pitchFamily="2" charset="-122"/>
                <a:ea typeface="宋体" panose="02010600030101010101" pitchFamily="2" charset="-122"/>
              </a:rPr>
              <a:t>    结构分类：</a:t>
            </a:r>
            <a:r>
              <a:rPr lang="zh-CN" altLang="en-US" dirty="0">
                <a:solidFill>
                  <a:srgbClr val="0000CC"/>
                </a:solidFill>
                <a:latin typeface="Times New Roman" panose="02020603050405020304" pitchFamily="18" charset="0"/>
                <a:ea typeface="宋体" panose="02010600030101010101" pitchFamily="2" charset="-122"/>
              </a:rPr>
              <a:t>“</a:t>
            </a:r>
            <a:r>
              <a:rPr lang="zh-CN" altLang="en-US" dirty="0">
                <a:solidFill>
                  <a:srgbClr val="0000CC"/>
                </a:solidFill>
                <a:latin typeface="宋体" panose="02010600030101010101" pitchFamily="2" charset="-122"/>
                <a:ea typeface="宋体" panose="02010600030101010101" pitchFamily="2" charset="-122"/>
              </a:rPr>
              <a:t>先判断后执行</a:t>
            </a:r>
            <a:r>
              <a:rPr lang="zh-CN" altLang="en-US" dirty="0">
                <a:solidFill>
                  <a:srgbClr val="0000CC"/>
                </a:solidFill>
                <a:latin typeface="Times New Roman" panose="02020603050405020304" pitchFamily="18" charset="0"/>
                <a:ea typeface="宋体" panose="02010600030101010101" pitchFamily="2" charset="-122"/>
              </a:rPr>
              <a:t>”</a:t>
            </a:r>
            <a:r>
              <a:rPr lang="zh-CN" altLang="en-US" dirty="0">
                <a:solidFill>
                  <a:srgbClr val="000000"/>
                </a:solidFill>
                <a:latin typeface="宋体" panose="02010600030101010101" pitchFamily="2" charset="-122"/>
                <a:ea typeface="宋体" panose="02010600030101010101" pitchFamily="2" charset="-122"/>
              </a:rPr>
              <a:t>和</a:t>
            </a:r>
            <a:r>
              <a:rPr lang="zh-CN" altLang="en-US" dirty="0">
                <a:solidFill>
                  <a:srgbClr val="0000CC"/>
                </a:solidFill>
                <a:latin typeface="Times New Roman" panose="02020603050405020304" pitchFamily="18" charset="0"/>
                <a:ea typeface="宋体" panose="02010600030101010101" pitchFamily="2" charset="-122"/>
              </a:rPr>
              <a:t>“</a:t>
            </a:r>
            <a:r>
              <a:rPr lang="zh-CN" altLang="en-US" dirty="0">
                <a:solidFill>
                  <a:srgbClr val="0000CC"/>
                </a:solidFill>
                <a:latin typeface="宋体" panose="02010600030101010101" pitchFamily="2" charset="-122"/>
                <a:ea typeface="宋体" panose="02010600030101010101" pitchFamily="2" charset="-122"/>
              </a:rPr>
              <a:t>先执行后判断</a:t>
            </a:r>
            <a:r>
              <a:rPr lang="zh-CN" altLang="en-US" dirty="0">
                <a:solidFill>
                  <a:srgbClr val="0000CC"/>
                </a:solidFill>
                <a:latin typeface="Times New Roman" panose="02020603050405020304" pitchFamily="18" charset="0"/>
                <a:ea typeface="宋体" panose="02010600030101010101" pitchFamily="2" charset="-122"/>
              </a:rPr>
              <a:t>”</a:t>
            </a:r>
            <a:r>
              <a:rPr lang="zh-CN" altLang="en-US" dirty="0">
                <a:solidFill>
                  <a:srgbClr val="000000"/>
                </a:solidFill>
                <a:latin typeface="宋体" panose="02010600030101010101" pitchFamily="2" charset="-122"/>
                <a:ea typeface="宋体" panose="02010600030101010101" pitchFamily="2" charset="-122"/>
              </a:rPr>
              <a:t> ；</a:t>
            </a:r>
          </a:p>
          <a:p>
            <a:pPr>
              <a:lnSpc>
                <a:spcPct val="140000"/>
              </a:lnSpc>
            </a:pPr>
            <a:r>
              <a:rPr lang="zh-CN" altLang="en-US" dirty="0">
                <a:solidFill>
                  <a:srgbClr val="000000"/>
                </a:solidFill>
                <a:latin typeface="宋体" panose="02010600030101010101" pitchFamily="2" charset="-122"/>
                <a:ea typeface="宋体" panose="02010600030101010101" pitchFamily="2" charset="-122"/>
              </a:rPr>
              <a:t>    循环层数：有</a:t>
            </a:r>
            <a:r>
              <a:rPr lang="zh-CN" altLang="en-US" dirty="0">
                <a:solidFill>
                  <a:srgbClr val="0000CC"/>
                </a:solidFill>
                <a:latin typeface="宋体" panose="02010600030101010101" pitchFamily="2" charset="-122"/>
                <a:ea typeface="宋体" panose="02010600030101010101" pitchFamily="2" charset="-122"/>
              </a:rPr>
              <a:t>单重循环</a:t>
            </a:r>
            <a:r>
              <a:rPr lang="zh-CN" altLang="en-US" dirty="0">
                <a:solidFill>
                  <a:srgbClr val="000000"/>
                </a:solidFill>
                <a:latin typeface="宋体" panose="02010600030101010101" pitchFamily="2" charset="-122"/>
                <a:ea typeface="宋体" panose="02010600030101010101" pitchFamily="2" charset="-122"/>
              </a:rPr>
              <a:t>和</a:t>
            </a:r>
            <a:r>
              <a:rPr lang="zh-CN" altLang="en-US" dirty="0">
                <a:solidFill>
                  <a:srgbClr val="0000CC"/>
                </a:solidFill>
                <a:latin typeface="宋体" panose="02010600030101010101" pitchFamily="2" charset="-122"/>
                <a:ea typeface="宋体" panose="02010600030101010101" pitchFamily="2" charset="-122"/>
              </a:rPr>
              <a:t>多重循环</a:t>
            </a:r>
            <a:r>
              <a:rPr lang="zh-CN" altLang="en-US" dirty="0">
                <a:solidFill>
                  <a:srgbClr val="000000"/>
                </a:solidFill>
                <a:latin typeface="宋体" panose="02010600030101010101" pitchFamily="2" charset="-122"/>
                <a:ea typeface="宋体" panose="02010600030101010101" pitchFamily="2" charset="-122"/>
              </a:rPr>
              <a:t>之分。</a:t>
            </a:r>
          </a:p>
          <a:p>
            <a:pPr>
              <a:lnSpc>
                <a:spcPct val="140000"/>
              </a:lnSpc>
            </a:pPr>
            <a:r>
              <a:rPr lang="zh-CN" altLang="en-US" dirty="0">
                <a:solidFill>
                  <a:srgbClr val="000000"/>
                </a:solidFill>
                <a:latin typeface="宋体" panose="02010600030101010101" pitchFamily="2" charset="-122"/>
                <a:ea typeface="宋体" panose="02010600030101010101" pitchFamily="2" charset="-122"/>
              </a:rPr>
              <a:t>    常用的循环控制指令：</a:t>
            </a:r>
            <a:r>
              <a:rPr lang="en-US" altLang="zh-CN" dirty="0">
                <a:solidFill>
                  <a:srgbClr val="0000CC"/>
                </a:solidFill>
                <a:latin typeface="Times New Roman" panose="02020603050405020304" pitchFamily="18" charset="0"/>
                <a:ea typeface="宋体" panose="02010600030101010101" pitchFamily="2" charset="-122"/>
              </a:rPr>
              <a:t>DJNZ</a:t>
            </a:r>
            <a:r>
              <a:rPr lang="zh-CN" altLang="en-US" dirty="0">
                <a:solidFill>
                  <a:srgbClr val="0000CC"/>
                </a:solidFill>
                <a:latin typeface="宋体" panose="02010600030101010101" pitchFamily="2" charset="-122"/>
                <a:ea typeface="宋体" panose="02010600030101010101" pitchFamily="2" charset="-122"/>
              </a:rPr>
              <a:t>、</a:t>
            </a:r>
            <a:r>
              <a:rPr lang="en-US" altLang="zh-CN" dirty="0">
                <a:solidFill>
                  <a:srgbClr val="0000CC"/>
                </a:solidFill>
                <a:latin typeface="Times New Roman" panose="02020603050405020304" pitchFamily="18" charset="0"/>
                <a:ea typeface="宋体" panose="02010600030101010101" pitchFamily="2" charset="-122"/>
              </a:rPr>
              <a:t>CJNE</a:t>
            </a:r>
            <a:r>
              <a:rPr lang="zh-CN" altLang="en-US" dirty="0">
                <a:latin typeface="宋体" panose="02010600030101010101" pitchFamily="2" charset="-122"/>
                <a:ea typeface="宋体" panose="02010600030101010101" pitchFamily="2" charset="-122"/>
              </a:rPr>
              <a:t>和</a:t>
            </a:r>
            <a:r>
              <a:rPr lang="zh-CN" altLang="en-US" dirty="0">
                <a:solidFill>
                  <a:srgbClr val="0000CC"/>
                </a:solidFill>
                <a:latin typeface="宋体" panose="02010600030101010101" pitchFamily="2" charset="-122"/>
                <a:ea typeface="宋体" panose="02010600030101010101" pitchFamily="2" charset="-122"/>
              </a:rPr>
              <a:t>位条件转移指令。</a:t>
            </a:r>
            <a:r>
              <a:rPr lang="zh-CN" altLang="en-US" dirty="0">
                <a:latin typeface="Times New Roman" panose="02020603050405020304" pitchFamily="18" charset="0"/>
                <a:ea typeface="宋体" panose="02010600030101010101" pitchFamily="2" charset="-122"/>
              </a:rPr>
              <a:t> </a:t>
            </a:r>
          </a:p>
        </p:txBody>
      </p:sp>
      <p:grpSp>
        <p:nvGrpSpPr>
          <p:cNvPr id="2" name="Group 7"/>
          <p:cNvGrpSpPr/>
          <p:nvPr/>
        </p:nvGrpSpPr>
        <p:grpSpPr>
          <a:xfrm>
            <a:off x="0" y="4076700"/>
            <a:ext cx="8458200" cy="2057400"/>
            <a:chOff x="96" y="2832"/>
            <a:chExt cx="5328" cy="1296"/>
          </a:xfrm>
        </p:grpSpPr>
        <p:sp>
          <p:nvSpPr>
            <p:cNvPr id="52228" name="Text Box 4"/>
            <p:cNvSpPr txBox="1"/>
            <p:nvPr/>
          </p:nvSpPr>
          <p:spPr>
            <a:xfrm>
              <a:off x="192" y="2832"/>
              <a:ext cx="5232" cy="680"/>
            </a:xfrm>
            <a:prstGeom prst="rect">
              <a:avLst/>
            </a:prstGeom>
            <a:noFill/>
            <a:ln w="9525">
              <a:noFill/>
            </a:ln>
          </p:spPr>
          <p:txBody>
            <a:bodyPr anchor="t" anchorCtr="0">
              <a:spAutoFit/>
            </a:bodyPr>
            <a:lstStyle/>
            <a:p>
              <a:pPr>
                <a:lnSpc>
                  <a:spcPct val="135000"/>
                </a:lnSpc>
              </a:pPr>
              <a:r>
                <a:rPr lang="zh-CN" altLang="en-US" i="1" dirty="0">
                  <a:solidFill>
                    <a:srgbClr val="FF3300"/>
                  </a:solidFill>
                  <a:latin typeface="Times New Roman" panose="02020603050405020304" pitchFamily="18" charset="0"/>
                  <a:ea typeface="宋体" panose="02010600030101010101" pitchFamily="2" charset="-122"/>
                </a:rPr>
                <a:t>分支结构：</a:t>
              </a:r>
            </a:p>
            <a:p>
              <a:pPr>
                <a:lnSpc>
                  <a:spcPct val="135000"/>
                </a:lnSpc>
              </a:pPr>
              <a:r>
                <a:rPr lang="zh-CN" altLang="en-US" dirty="0">
                  <a:solidFill>
                    <a:srgbClr val="000000"/>
                  </a:solidFill>
                  <a:latin typeface="Times New Roman" panose="02020603050405020304" pitchFamily="18" charset="0"/>
                  <a:ea typeface="宋体" panose="02010600030101010101" pitchFamily="2" charset="-122"/>
                </a:rPr>
                <a:t>        分类：</a:t>
              </a:r>
              <a:r>
                <a:rPr lang="zh-CN" altLang="en-US" dirty="0">
                  <a:solidFill>
                    <a:srgbClr val="0000CC"/>
                  </a:solidFill>
                  <a:latin typeface="Times New Roman" panose="02020603050405020304" pitchFamily="18" charset="0"/>
                  <a:ea typeface="宋体" panose="02010600030101010101" pitchFamily="2" charset="-122"/>
                </a:rPr>
                <a:t>单分支结构</a:t>
              </a:r>
              <a:r>
                <a:rPr lang="zh-CN" altLang="en-US" dirty="0">
                  <a:solidFill>
                    <a:srgbClr val="000000"/>
                  </a:solidFill>
                  <a:latin typeface="Times New Roman" panose="02020603050405020304" pitchFamily="18" charset="0"/>
                  <a:ea typeface="宋体" panose="02010600030101010101" pitchFamily="2" charset="-122"/>
                </a:rPr>
                <a:t>和</a:t>
              </a:r>
              <a:r>
                <a:rPr lang="zh-CN" altLang="en-US" dirty="0">
                  <a:solidFill>
                    <a:srgbClr val="0000CC"/>
                  </a:solidFill>
                  <a:latin typeface="Times New Roman" panose="02020603050405020304" pitchFamily="18" charset="0"/>
                  <a:ea typeface="宋体" panose="02010600030101010101" pitchFamily="2" charset="-122"/>
                </a:rPr>
                <a:t>多分支（散转）</a:t>
              </a:r>
              <a:r>
                <a:rPr lang="zh-CN" altLang="en-US" dirty="0">
                  <a:solidFill>
                    <a:srgbClr val="000000"/>
                  </a:solidFill>
                  <a:latin typeface="Times New Roman" panose="02020603050405020304" pitchFamily="18" charset="0"/>
                  <a:ea typeface="宋体" panose="02010600030101010101" pitchFamily="2" charset="-122"/>
                </a:rPr>
                <a:t>结构。        </a:t>
              </a:r>
              <a:endParaRPr lang="zh-CN" altLang="en-US" dirty="0">
                <a:latin typeface="Times New Roman" panose="02020603050405020304" pitchFamily="18" charset="0"/>
                <a:ea typeface="宋体" panose="02010600030101010101" pitchFamily="2" charset="-122"/>
              </a:endParaRPr>
            </a:p>
          </p:txBody>
        </p:sp>
        <p:sp>
          <p:nvSpPr>
            <p:cNvPr id="52229" name="AutoShape 5"/>
            <p:cNvSpPr/>
            <p:nvPr/>
          </p:nvSpPr>
          <p:spPr>
            <a:xfrm>
              <a:off x="96" y="3792"/>
              <a:ext cx="1968" cy="336"/>
            </a:xfrm>
            <a:prstGeom prst="wedgeRoundRectCallout">
              <a:avLst>
                <a:gd name="adj1" fmla="val 34755"/>
                <a:gd name="adj2" fmla="val -155356"/>
                <a:gd name="adj3" fmla="val 16667"/>
              </a:avLst>
            </a:prstGeom>
            <a:solidFill>
              <a:srgbClr val="CCFFFF"/>
            </a:solidFill>
            <a:ln w="9525" cap="flat" cmpd="sng">
              <a:solidFill>
                <a:schemeClr val="tx1"/>
              </a:solidFill>
              <a:prstDash val="solid"/>
              <a:miter/>
              <a:headEnd type="none" w="med" len="med"/>
              <a:tailEnd type="none" w="med" len="med"/>
            </a:ln>
          </p:spPr>
          <p:txBody>
            <a:bodyPr anchor="t" anchorCtr="0"/>
            <a:lstStyle/>
            <a:p>
              <a:r>
                <a:rPr lang="zh-CN" altLang="en-US" dirty="0">
                  <a:latin typeface="Times New Roman" panose="02020603050405020304" pitchFamily="18" charset="0"/>
                  <a:ea typeface="宋体" panose="02010600030101010101" pitchFamily="2" charset="-122"/>
                </a:rPr>
                <a:t>条件转移指令实现</a:t>
              </a:r>
            </a:p>
          </p:txBody>
        </p:sp>
        <p:sp>
          <p:nvSpPr>
            <p:cNvPr id="52230" name="AutoShape 6"/>
            <p:cNvSpPr/>
            <p:nvPr/>
          </p:nvSpPr>
          <p:spPr>
            <a:xfrm>
              <a:off x="2352" y="3744"/>
              <a:ext cx="2832" cy="336"/>
            </a:xfrm>
            <a:prstGeom prst="wedgeRoundRectCallout">
              <a:avLst>
                <a:gd name="adj1" fmla="val -34782"/>
                <a:gd name="adj2" fmla="val -144644"/>
                <a:gd name="adj3" fmla="val 16667"/>
              </a:avLst>
            </a:prstGeom>
            <a:solidFill>
              <a:srgbClr val="CCFFFF"/>
            </a:solidFill>
            <a:ln w="9525" cap="flat" cmpd="sng">
              <a:solidFill>
                <a:schemeClr val="tx1"/>
              </a:solidFill>
              <a:prstDash val="solid"/>
              <a:miter/>
              <a:headEnd type="none" w="med" len="med"/>
              <a:tailEnd type="none" w="med" len="med"/>
            </a:ln>
          </p:spPr>
          <p:txBody>
            <a:bodyPr anchor="t" anchorCtr="0"/>
            <a:lstStyle/>
            <a:p>
              <a:pPr>
                <a:lnSpc>
                  <a:spcPct val="135000"/>
                </a:lnSpc>
              </a:pPr>
              <a:r>
                <a:rPr lang="zh-CN" altLang="en-US" dirty="0">
                  <a:latin typeface="Times New Roman" panose="02020603050405020304" pitchFamily="18" charset="0"/>
                  <a:ea typeface="宋体" panose="02010600030101010101" pitchFamily="2" charset="-122"/>
                </a:rPr>
                <a:t>散转指令</a:t>
              </a:r>
              <a:r>
                <a:rPr lang="en-US" altLang="zh-CN" dirty="0">
                  <a:latin typeface="Times New Roman" panose="02020603050405020304" pitchFamily="18" charset="0"/>
                  <a:ea typeface="宋体" panose="02010600030101010101" pitchFamily="2" charset="-122"/>
                </a:rPr>
                <a:t>JMP  @A+DPTR</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2690"/>
                                        </p:tgtEl>
                                        <p:attrNameLst>
                                          <p:attrName>style.visibility</p:attrName>
                                        </p:attrNameLst>
                                      </p:cBhvr>
                                      <p:to>
                                        <p:strVal val="visible"/>
                                      </p:to>
                                    </p:set>
                                    <p:animEffect transition="in" filter="blinds(horizontal)">
                                      <p:cBhvr>
                                        <p:cTn id="7" dur="500"/>
                                        <p:tgtEl>
                                          <p:spTgt spid="242690"/>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amond(in)">
                                      <p:cBhvr>
                                        <p:cTn id="1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37</a:t>
            </a:fld>
            <a:endParaRPr lang="en-US" altLang="zh-CN" sz="1400" b="0" dirty="0"/>
          </a:p>
        </p:txBody>
      </p:sp>
      <p:sp>
        <p:nvSpPr>
          <p:cNvPr id="53250" name="Text Box 4"/>
          <p:cNvSpPr txBox="1"/>
          <p:nvPr/>
        </p:nvSpPr>
        <p:spPr>
          <a:xfrm>
            <a:off x="381000" y="1143000"/>
            <a:ext cx="8305800" cy="3548063"/>
          </a:xfrm>
          <a:prstGeom prst="rect">
            <a:avLst/>
          </a:prstGeom>
          <a:noFill/>
          <a:ln w="9525">
            <a:noFill/>
          </a:ln>
        </p:spPr>
        <p:txBody>
          <a:bodyPr anchor="t" anchorCtr="0">
            <a:spAutoFit/>
          </a:bodyPr>
          <a:lstStyle/>
          <a:p>
            <a:pPr>
              <a:lnSpc>
                <a:spcPct val="135000"/>
              </a:lnSpc>
            </a:pPr>
            <a:r>
              <a:rPr lang="zh-CN" altLang="en-US" i="1" dirty="0">
                <a:solidFill>
                  <a:srgbClr val="FF3300"/>
                </a:solidFill>
                <a:latin typeface="Times New Roman" panose="02020603050405020304" pitchFamily="18" charset="0"/>
                <a:ea typeface="宋体" panose="02010600030101010101" pitchFamily="2" charset="-122"/>
              </a:rPr>
              <a:t>子程序结构：</a:t>
            </a:r>
          </a:p>
          <a:p>
            <a:pPr>
              <a:lnSpc>
                <a:spcPct val="135000"/>
              </a:lnSpc>
            </a:pPr>
            <a:r>
              <a:rPr lang="zh-CN" altLang="en-US" dirty="0">
                <a:solidFill>
                  <a:srgbClr val="000000"/>
                </a:solidFill>
                <a:latin typeface="Times New Roman" panose="02020603050405020304" pitchFamily="18" charset="0"/>
                <a:ea typeface="宋体" panose="02010600030101010101" pitchFamily="2" charset="-122"/>
              </a:rPr>
              <a:t>         指令： </a:t>
            </a:r>
            <a:r>
              <a:rPr lang="en-US" altLang="zh-CN" dirty="0">
                <a:solidFill>
                  <a:srgbClr val="0000CC"/>
                </a:solidFill>
                <a:latin typeface="Times New Roman" panose="02020603050405020304" pitchFamily="18" charset="0"/>
                <a:ea typeface="宋体" panose="02010600030101010101" pitchFamily="2" charset="-122"/>
              </a:rPr>
              <a:t>RET</a:t>
            </a:r>
            <a:r>
              <a:rPr lang="zh-CN" altLang="en-US" dirty="0">
                <a:solidFill>
                  <a:srgbClr val="0000CC"/>
                </a:solidFill>
                <a:latin typeface="宋体" panose="02010600030101010101" pitchFamily="2" charset="-122"/>
                <a:ea typeface="宋体" panose="02010600030101010101" pitchFamily="2" charset="-122"/>
              </a:rPr>
              <a:t>或</a:t>
            </a:r>
            <a:r>
              <a:rPr lang="en-US" altLang="zh-CN" dirty="0">
                <a:solidFill>
                  <a:srgbClr val="0000CC"/>
                </a:solidFill>
                <a:latin typeface="Times New Roman" panose="02020603050405020304" pitchFamily="18" charset="0"/>
                <a:ea typeface="宋体" panose="02010600030101010101" pitchFamily="2" charset="-122"/>
              </a:rPr>
              <a:t>RETI</a:t>
            </a:r>
            <a:r>
              <a:rPr lang="zh-CN" altLang="en-US" dirty="0">
                <a:solidFill>
                  <a:srgbClr val="0000CC"/>
                </a:solidFill>
                <a:latin typeface="Times New Roman" panose="02020603050405020304" pitchFamily="18" charset="0"/>
                <a:ea typeface="宋体" panose="02010600030101010101" pitchFamily="2" charset="-122"/>
              </a:rPr>
              <a:t>。</a:t>
            </a:r>
          </a:p>
          <a:p>
            <a:pPr>
              <a:lnSpc>
                <a:spcPct val="135000"/>
              </a:lnSpc>
            </a:pPr>
            <a:r>
              <a:rPr lang="zh-CN" altLang="en-US" dirty="0">
                <a:solidFill>
                  <a:srgbClr val="000000"/>
                </a:solidFill>
                <a:latin typeface="Times New Roman" panose="02020603050405020304" pitchFamily="18" charset="0"/>
                <a:ea typeface="宋体" panose="02010600030101010101" pitchFamily="2" charset="-122"/>
              </a:rPr>
              <a:t>         注意事项：</a:t>
            </a:r>
          </a:p>
          <a:p>
            <a:pPr>
              <a:lnSpc>
                <a:spcPct val="135000"/>
              </a:lnSpc>
            </a:pPr>
            <a:r>
              <a:rPr lang="zh-CN" altLang="en-US" dirty="0">
                <a:solidFill>
                  <a:srgbClr val="000000"/>
                </a:solidFill>
                <a:latin typeface="Times New Roman" panose="02020603050405020304" pitchFamily="18" charset="0"/>
                <a:ea typeface="宋体" panose="02010600030101010101" pitchFamily="2" charset="-122"/>
              </a:rPr>
              <a:t>               </a:t>
            </a:r>
            <a:r>
              <a:rPr lang="zh-CN" altLang="en-US" dirty="0">
                <a:solidFill>
                  <a:srgbClr val="0000CC"/>
                </a:solidFill>
                <a:latin typeface="Times New Roman" panose="02020603050405020304" pitchFamily="18" charset="0"/>
                <a:ea typeface="宋体" panose="02010600030101010101" pitchFamily="2" charset="-122"/>
              </a:rPr>
              <a:t>（</a:t>
            </a:r>
            <a:r>
              <a:rPr lang="en-US" altLang="zh-CN" dirty="0">
                <a:solidFill>
                  <a:srgbClr val="0000CC"/>
                </a:solidFill>
                <a:latin typeface="Times New Roman" panose="02020603050405020304" pitchFamily="18" charset="0"/>
                <a:ea typeface="宋体" panose="02010600030101010101" pitchFamily="2" charset="-122"/>
              </a:rPr>
              <a:t>1</a:t>
            </a:r>
            <a:r>
              <a:rPr lang="zh-CN" altLang="en-US" dirty="0">
                <a:solidFill>
                  <a:srgbClr val="0000CC"/>
                </a:solidFill>
                <a:latin typeface="Times New Roman" panose="02020603050405020304" pitchFamily="18" charset="0"/>
                <a:ea typeface="宋体" panose="02010600030101010101" pitchFamily="2" charset="-122"/>
              </a:rPr>
              <a:t>）子程序有自己的名字</a:t>
            </a:r>
            <a:r>
              <a:rPr lang="en-US" altLang="zh-CN" dirty="0">
                <a:solidFill>
                  <a:srgbClr val="0000CC"/>
                </a:solidFill>
                <a:latin typeface="Times New Roman" panose="02020603050405020304" pitchFamily="18" charset="0"/>
                <a:ea typeface="宋体" panose="02010600030101010101" pitchFamily="2" charset="-122"/>
              </a:rPr>
              <a:t>;</a:t>
            </a:r>
          </a:p>
          <a:p>
            <a:pPr>
              <a:lnSpc>
                <a:spcPct val="135000"/>
              </a:lnSpc>
            </a:pPr>
            <a:r>
              <a:rPr lang="en-US" altLang="zh-CN" dirty="0">
                <a:solidFill>
                  <a:srgbClr val="0000CC"/>
                </a:solidFill>
                <a:latin typeface="Times New Roman" panose="02020603050405020304" pitchFamily="18" charset="0"/>
                <a:ea typeface="宋体" panose="02010600030101010101" pitchFamily="2" charset="-122"/>
              </a:rPr>
              <a:t>               </a:t>
            </a:r>
            <a:r>
              <a:rPr lang="zh-CN" altLang="en-US" dirty="0">
                <a:solidFill>
                  <a:srgbClr val="0000CC"/>
                </a:solidFill>
                <a:latin typeface="Times New Roman" panose="02020603050405020304" pitchFamily="18" charset="0"/>
                <a:ea typeface="宋体" panose="02010600030101010101" pitchFamily="2" charset="-122"/>
              </a:rPr>
              <a:t>（</a:t>
            </a:r>
            <a:r>
              <a:rPr lang="en-US" altLang="zh-CN" dirty="0">
                <a:solidFill>
                  <a:srgbClr val="0000CC"/>
                </a:solidFill>
                <a:latin typeface="Times New Roman" panose="02020603050405020304" pitchFamily="18" charset="0"/>
                <a:ea typeface="宋体" panose="02010600030101010101" pitchFamily="2" charset="-122"/>
              </a:rPr>
              <a:t>2</a:t>
            </a:r>
            <a:r>
              <a:rPr lang="zh-CN" altLang="en-US" dirty="0">
                <a:solidFill>
                  <a:srgbClr val="0000CC"/>
                </a:solidFill>
                <a:latin typeface="Times New Roman" panose="02020603050405020304" pitchFamily="18" charset="0"/>
                <a:ea typeface="宋体" panose="02010600030101010101" pitchFamily="2" charset="-122"/>
              </a:rPr>
              <a:t>）保护现场和</a:t>
            </a:r>
            <a:r>
              <a:rPr lang="zh-CN" altLang="en-US" dirty="0">
                <a:solidFill>
                  <a:srgbClr val="0000CC"/>
                </a:solidFill>
                <a:latin typeface="宋体" panose="02010600030101010101" pitchFamily="2" charset="-122"/>
                <a:ea typeface="宋体" panose="02010600030101010101" pitchFamily="2" charset="-122"/>
              </a:rPr>
              <a:t>恢复现场；</a:t>
            </a:r>
          </a:p>
          <a:p>
            <a:pPr>
              <a:lnSpc>
                <a:spcPct val="135000"/>
              </a:lnSpc>
            </a:pPr>
            <a:r>
              <a:rPr lang="zh-CN" altLang="en-US" dirty="0">
                <a:solidFill>
                  <a:srgbClr val="0000CC"/>
                </a:solidFill>
                <a:latin typeface="Times New Roman" panose="02020603050405020304" pitchFamily="18" charset="0"/>
                <a:ea typeface="宋体" panose="02010600030101010101" pitchFamily="2" charset="-122"/>
              </a:rPr>
              <a:t>               （</a:t>
            </a:r>
            <a:r>
              <a:rPr lang="en-US" altLang="zh-CN" dirty="0">
                <a:solidFill>
                  <a:srgbClr val="0000CC"/>
                </a:solidFill>
                <a:latin typeface="Times New Roman" panose="02020603050405020304" pitchFamily="18" charset="0"/>
                <a:ea typeface="宋体" panose="02010600030101010101" pitchFamily="2" charset="-122"/>
              </a:rPr>
              <a:t>3</a:t>
            </a:r>
            <a:r>
              <a:rPr lang="zh-CN" altLang="en-US" dirty="0">
                <a:solidFill>
                  <a:srgbClr val="0000CC"/>
                </a:solidFill>
                <a:latin typeface="Times New Roman" panose="02020603050405020304" pitchFamily="18" charset="0"/>
                <a:ea typeface="宋体" panose="02010600030101010101" pitchFamily="2" charset="-122"/>
              </a:rPr>
              <a:t>）正确地传递参数</a:t>
            </a:r>
            <a:r>
              <a:rPr lang="zh-CN" altLang="en-US" dirty="0">
                <a:solidFill>
                  <a:srgbClr val="0000CC"/>
                </a:solidFill>
                <a:latin typeface="宋体" panose="02010600030101010101" pitchFamily="2" charset="-122"/>
                <a:ea typeface="宋体" panose="02010600030101010101" pitchFamily="2" charset="-122"/>
              </a:rPr>
              <a:t>；</a:t>
            </a:r>
          </a:p>
          <a:p>
            <a:pPr>
              <a:lnSpc>
                <a:spcPct val="135000"/>
              </a:lnSpc>
            </a:pPr>
            <a:r>
              <a:rPr lang="zh-CN" altLang="en-US" dirty="0">
                <a:solidFill>
                  <a:srgbClr val="0000CC"/>
                </a:solidFill>
                <a:latin typeface="Times New Roman" panose="02020603050405020304" pitchFamily="18" charset="0"/>
                <a:ea typeface="宋体" panose="02010600030101010101" pitchFamily="2" charset="-122"/>
              </a:rPr>
              <a:t>               （</a:t>
            </a:r>
            <a:r>
              <a:rPr lang="en-US" altLang="zh-CN" dirty="0">
                <a:solidFill>
                  <a:srgbClr val="0000CC"/>
                </a:solidFill>
                <a:latin typeface="Times New Roman" panose="02020603050405020304" pitchFamily="18" charset="0"/>
                <a:ea typeface="宋体" panose="02010600030101010101" pitchFamily="2" charset="-122"/>
              </a:rPr>
              <a:t>4</a:t>
            </a:r>
            <a:r>
              <a:rPr lang="zh-CN" altLang="en-US" dirty="0">
                <a:solidFill>
                  <a:srgbClr val="0000CC"/>
                </a:solidFill>
                <a:latin typeface="Times New Roman" panose="02020603050405020304" pitchFamily="18" charset="0"/>
                <a:ea typeface="宋体" panose="02010600030101010101" pitchFamily="2" charset="-122"/>
              </a:rPr>
              <a:t>）</a:t>
            </a:r>
            <a:r>
              <a:rPr lang="zh-CN" altLang="en-US" dirty="0">
                <a:solidFill>
                  <a:srgbClr val="0000CC"/>
                </a:solidFill>
                <a:latin typeface="宋体" panose="02010600030101010101" pitchFamily="2" charset="-122"/>
                <a:ea typeface="宋体" panose="02010600030101010101" pitchFamily="2" charset="-122"/>
              </a:rPr>
              <a:t>子程序和主程序是相对的两个概念。</a:t>
            </a:r>
          </a:p>
        </p:txBody>
      </p:sp>
    </p:spTree>
  </p:cSld>
  <p:clrMapOvr>
    <a:masterClrMapping/>
  </p:clrMapOvr>
  <p:transition>
    <p:blinds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3"/>
          <p:cNvSpPr>
            <a:spLocks noGrp="1"/>
          </p:cNvSpPr>
          <p:nvPr>
            <p:ph type="sldNum" sz="quarter" idx="12"/>
          </p:nvPr>
        </p:nvSpPr>
        <p:spPr/>
        <p:txBody>
          <a:bodyPr wrap="square" lIns="91440" tIns="45720" rIns="91440" bIns="45720" anchor="t" anchorCtr="0"/>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fld id="{9A0DB2DC-4C9A-4742-B13C-FB6460FD3503}" type="slidenum">
              <a:rPr lang="en-US" altLang="zh-CN" sz="1400" b="0" dirty="0"/>
              <a:pPr lvl="0"/>
              <a:t>38</a:t>
            </a:fld>
            <a:endParaRPr lang="en-US" altLang="zh-CN" sz="1400" b="0" dirty="0"/>
          </a:p>
        </p:txBody>
      </p:sp>
      <p:sp>
        <p:nvSpPr>
          <p:cNvPr id="246786" name="AutoShape 2"/>
          <p:cNvSpPr/>
          <p:nvPr/>
        </p:nvSpPr>
        <p:spPr>
          <a:xfrm>
            <a:off x="323850" y="3573463"/>
            <a:ext cx="8458200" cy="2362200"/>
          </a:xfrm>
          <a:prstGeom prst="horizontalScroll">
            <a:avLst>
              <a:gd name="adj" fmla="val 12500"/>
            </a:avLst>
          </a:prstGeom>
          <a:solidFill>
            <a:srgbClr val="FFCC99"/>
          </a:solidFill>
          <a:ln w="9525" cap="flat" cmpd="sng">
            <a:solidFill>
              <a:schemeClr val="tx1"/>
            </a:solidFill>
            <a:prstDash val="solid"/>
            <a:round/>
            <a:headEnd type="none" w="med" len="med"/>
            <a:tailEnd type="none" w="med" len="med"/>
          </a:ln>
        </p:spPr>
        <p:txBody>
          <a:bodyPr wrap="none" anchor="ctr" anchorCtr="0"/>
          <a:lstStyle/>
          <a:p>
            <a:pPr>
              <a:lnSpc>
                <a:spcPct val="145000"/>
              </a:lnSpc>
            </a:pPr>
            <a:r>
              <a:rPr lang="zh-CN" altLang="en-US" sz="2800" dirty="0">
                <a:solidFill>
                  <a:srgbClr val="0000CC"/>
                </a:solidFill>
                <a:latin typeface="Times New Roman" panose="02020603050405020304" pitchFamily="18" charset="0"/>
                <a:ea typeface="宋体" panose="02010600030101010101" pitchFamily="2" charset="-122"/>
              </a:rPr>
              <a:t>重点和难点：</a:t>
            </a:r>
          </a:p>
          <a:p>
            <a:pPr>
              <a:lnSpc>
                <a:spcPct val="145000"/>
              </a:lnSpc>
            </a:pPr>
            <a:r>
              <a:rPr lang="zh-CN" altLang="en-US" sz="2800" dirty="0">
                <a:solidFill>
                  <a:srgbClr val="0000CC"/>
                </a:solidFill>
                <a:latin typeface="Times New Roman" panose="02020603050405020304" pitchFamily="18" charset="0"/>
                <a:ea typeface="宋体" panose="02010600030101010101" pitchFamily="2" charset="-122"/>
              </a:rPr>
              <a:t>        四种程序的结构及其编程方法。</a:t>
            </a:r>
          </a:p>
        </p:txBody>
      </p:sp>
      <p:sp>
        <p:nvSpPr>
          <p:cNvPr id="54275" name="Text Box 4"/>
          <p:cNvSpPr txBox="1"/>
          <p:nvPr/>
        </p:nvSpPr>
        <p:spPr>
          <a:xfrm>
            <a:off x="533400" y="914400"/>
            <a:ext cx="7848600" cy="457200"/>
          </a:xfrm>
          <a:prstGeom prst="rect">
            <a:avLst/>
          </a:prstGeom>
          <a:noFill/>
          <a:ln w="9525">
            <a:noFill/>
          </a:ln>
        </p:spPr>
        <p:txBody>
          <a:bodyPr anchor="t" anchorCtr="0">
            <a:spAutoFit/>
          </a:bodyPr>
          <a:lstStyle/>
          <a:p>
            <a:pPr>
              <a:spcBef>
                <a:spcPct val="50000"/>
              </a:spcBef>
            </a:pPr>
            <a:endParaRPr lang="zh-CN" altLang="zh-CN" dirty="0">
              <a:latin typeface="Times New Roman" panose="02020603050405020304" pitchFamily="18" charset="0"/>
              <a:ea typeface="宋体" panose="02010600030101010101" pitchFamily="2" charset="-122"/>
            </a:endParaRPr>
          </a:p>
        </p:txBody>
      </p:sp>
      <p:sp>
        <p:nvSpPr>
          <p:cNvPr id="246789" name="Text Box 5"/>
          <p:cNvSpPr txBox="1"/>
          <p:nvPr/>
        </p:nvSpPr>
        <p:spPr>
          <a:xfrm>
            <a:off x="395288" y="981075"/>
            <a:ext cx="8382000" cy="2368550"/>
          </a:xfrm>
          <a:prstGeom prst="rect">
            <a:avLst/>
          </a:prstGeom>
          <a:solidFill>
            <a:srgbClr val="CCFFFF"/>
          </a:solidFill>
          <a:ln w="9525">
            <a:noFill/>
          </a:ln>
        </p:spPr>
        <p:txBody>
          <a:bodyPr anchor="t" anchorCtr="0">
            <a:spAutoFit/>
          </a:bodyPr>
          <a:lstStyle/>
          <a:p>
            <a:pPr>
              <a:lnSpc>
                <a:spcPct val="135000"/>
              </a:lnSpc>
            </a:pPr>
            <a:r>
              <a:rPr lang="zh-CN" altLang="en-US" sz="2800" dirty="0">
                <a:solidFill>
                  <a:srgbClr val="FF3300"/>
                </a:solidFill>
                <a:latin typeface="宋体" panose="02010600030101010101" pitchFamily="2" charset="-122"/>
                <a:ea typeface="宋体" panose="02010600030101010101" pitchFamily="2" charset="-122"/>
              </a:rPr>
              <a:t>要求：</a:t>
            </a:r>
            <a:r>
              <a:rPr lang="zh-CN" altLang="en-US" dirty="0">
                <a:solidFill>
                  <a:srgbClr val="000000"/>
                </a:solidFill>
                <a:latin typeface="宋体" panose="02010600030101010101" pitchFamily="2" charset="-122"/>
                <a:ea typeface="宋体" panose="02010600030101010101" pitchFamily="2" charset="-122"/>
              </a:rPr>
              <a:t> </a:t>
            </a:r>
            <a:r>
              <a:rPr lang="zh-CN" altLang="en-US" dirty="0">
                <a:solidFill>
                  <a:srgbClr val="009900"/>
                </a:solidFill>
                <a:latin typeface="宋体" panose="02010600030101010101" pitchFamily="2" charset="-122"/>
                <a:ea typeface="宋体" panose="02010600030101010101" pitchFamily="2" charset="-122"/>
              </a:rPr>
              <a:t>    </a:t>
            </a:r>
          </a:p>
          <a:p>
            <a:pPr>
              <a:lnSpc>
                <a:spcPct val="155000"/>
              </a:lnSpc>
            </a:pPr>
            <a:r>
              <a:rPr lang="zh-CN" altLang="en-US" dirty="0">
                <a:solidFill>
                  <a:srgbClr val="009900"/>
                </a:solidFill>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了解汇编程序的编写过程和编译方法；</a:t>
            </a:r>
          </a:p>
          <a:p>
            <a:pPr>
              <a:lnSpc>
                <a:spcPct val="155000"/>
              </a:lnSpc>
            </a:pPr>
            <a:r>
              <a:rPr lang="zh-CN" altLang="en-US" dirty="0">
                <a:latin typeface="宋体" panose="02010600030101010101" pitchFamily="2" charset="-122"/>
                <a:ea typeface="宋体" panose="02010600030101010101" pitchFamily="2" charset="-122"/>
              </a:rPr>
              <a:t>     掌握汇编程序的四种结构及其编程方法；</a:t>
            </a:r>
          </a:p>
          <a:p>
            <a:pPr>
              <a:lnSpc>
                <a:spcPct val="155000"/>
              </a:lnSpc>
            </a:pPr>
            <a:r>
              <a:rPr lang="zh-CN" altLang="en-US" dirty="0">
                <a:latin typeface="宋体" panose="02010600030101010101" pitchFamily="2" charset="-122"/>
                <a:ea typeface="宋体" panose="02010600030101010101" pitchFamily="2" charset="-122"/>
              </a:rPr>
              <a:t>     掌握常用程序的编程方法和编程技巧。</a:t>
            </a:r>
            <a:r>
              <a:rPr lang="zh-CN" altLang="en-US" dirty="0">
                <a:solidFill>
                  <a:srgbClr val="009900"/>
                </a:solidFill>
                <a:latin typeface="宋体" panose="02010600030101010101" pitchFamily="2" charset="-122"/>
                <a:ea typeface="宋体" panose="02010600030101010101" pitchFamily="2" charset="-122"/>
              </a:rPr>
              <a:t>    </a:t>
            </a:r>
            <a:endParaRPr lang="zh-CN" altLang="en-US" dirty="0">
              <a:solidFill>
                <a:srgbClr val="0000CC"/>
              </a:solidFill>
              <a:latin typeface="宋体" panose="02010600030101010101" pitchFamily="2" charset="-122"/>
              <a:ea typeface="宋体" panose="02010600030101010101" pitchFamily="2"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6789"/>
                                        </p:tgtEl>
                                        <p:attrNameLst>
                                          <p:attrName>style.visibility</p:attrName>
                                        </p:attrNameLst>
                                      </p:cBhvr>
                                      <p:to>
                                        <p:strVal val="visible"/>
                                      </p:to>
                                    </p:set>
                                    <p:anim calcmode="lin" valueType="num">
                                      <p:cBhvr additive="base">
                                        <p:cTn id="7" dur="500" fill="hold"/>
                                        <p:tgtEl>
                                          <p:spTgt spid="246789"/>
                                        </p:tgtEl>
                                        <p:attrNameLst>
                                          <p:attrName>ppt_x</p:attrName>
                                        </p:attrNameLst>
                                      </p:cBhvr>
                                      <p:tavLst>
                                        <p:tav tm="0">
                                          <p:val>
                                            <p:strVal val="0-#ppt_w/2"/>
                                          </p:val>
                                        </p:tav>
                                        <p:tav tm="100000">
                                          <p:val>
                                            <p:strVal val="#ppt_x"/>
                                          </p:val>
                                        </p:tav>
                                      </p:tavLst>
                                    </p:anim>
                                    <p:anim calcmode="lin" valueType="num">
                                      <p:cBhvr additive="base">
                                        <p:cTn id="8" dur="500" fill="hold"/>
                                        <p:tgtEl>
                                          <p:spTgt spid="24678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246786"/>
                                        </p:tgtEl>
                                        <p:attrNameLst>
                                          <p:attrName>style.visibility</p:attrName>
                                        </p:attrNameLst>
                                      </p:cBhvr>
                                      <p:to>
                                        <p:strVal val="visible"/>
                                      </p:to>
                                    </p:set>
                                    <p:animEffect transition="in" filter="diamond(in)">
                                      <p:cBhvr>
                                        <p:cTn id="13" dur="2000"/>
                                        <p:tgtEl>
                                          <p:spTgt spid="246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6" grpId="0" animBg="1"/>
      <p:bldP spid="246789"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155a0ecf-db5d-403e-b401-45538b4acbef}"/>
</p:tagLst>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9900CC"/>
      </a:hlink>
      <a:folHlink>
        <a:srgbClr val="660066"/>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1428</Words>
  <Application>WPS 演示</Application>
  <PresentationFormat>全屏显示(4:3)</PresentationFormat>
  <Paragraphs>287</Paragraphs>
  <Slides>38</Slides>
  <Notes>0</Notes>
  <HiddenSlides>0</HiddenSlides>
  <MMClips>0</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38</vt:i4>
      </vt:variant>
    </vt:vector>
  </HeadingPairs>
  <TitlesOfParts>
    <vt:vector size="41" baseType="lpstr">
      <vt:lpstr>1_默认设计模板</vt:lpstr>
      <vt:lpstr>暗香扑面</vt:lpstr>
      <vt:lpstr>Microsoft 公式 3.0</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vector>
  </TitlesOfParts>
  <Company>西安火炬电脑公司</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guowenchuan</dc:creator>
  <cp:lastModifiedBy>asus</cp:lastModifiedBy>
  <cp:revision>111</cp:revision>
  <dcterms:created xsi:type="dcterms:W3CDTF">2003-01-20T06:42:00Z</dcterms:created>
  <dcterms:modified xsi:type="dcterms:W3CDTF">2022-09-04T13:10:18Z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E53D4DBBC6174E6FAEC7662C6112CDEF</vt:lpwstr>
  </property>
</Properties>
</file>