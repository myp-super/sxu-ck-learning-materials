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emf" ContentType="image/x-emf"/>
  <Override PartName="/ppt/tags/tag3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  <p:sldMasterId id="2147483674" r:id="rId2"/>
  </p:sldMasterIdLst>
  <p:notesMasterIdLst>
    <p:notesMasterId r:id="rId52"/>
  </p:notesMasterIdLst>
  <p:handoutMasterIdLst>
    <p:handoutMasterId r:id="rId53"/>
  </p:handoutMasterIdLst>
  <p:sldIdLst>
    <p:sldId id="256" r:id="rId3"/>
    <p:sldId id="258" r:id="rId4"/>
    <p:sldId id="261" r:id="rId5"/>
    <p:sldId id="262" r:id="rId6"/>
    <p:sldId id="264" r:id="rId7"/>
    <p:sldId id="266" r:id="rId8"/>
    <p:sldId id="456" r:id="rId9"/>
    <p:sldId id="267" r:id="rId10"/>
    <p:sldId id="324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319" r:id="rId20"/>
    <p:sldId id="277" r:id="rId21"/>
    <p:sldId id="278" r:id="rId22"/>
    <p:sldId id="281" r:id="rId23"/>
    <p:sldId id="279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2" r:id="rId33"/>
    <p:sldId id="430" r:id="rId34"/>
    <p:sldId id="431" r:id="rId35"/>
    <p:sldId id="295" r:id="rId36"/>
    <p:sldId id="296" r:id="rId37"/>
    <p:sldId id="320" r:id="rId38"/>
    <p:sldId id="321" r:id="rId39"/>
    <p:sldId id="322" r:id="rId40"/>
    <p:sldId id="297" r:id="rId41"/>
    <p:sldId id="307" r:id="rId42"/>
    <p:sldId id="302" r:id="rId43"/>
    <p:sldId id="303" r:id="rId44"/>
    <p:sldId id="304" r:id="rId45"/>
    <p:sldId id="301" r:id="rId46"/>
    <p:sldId id="300" r:id="rId47"/>
    <p:sldId id="299" r:id="rId48"/>
    <p:sldId id="308" r:id="rId49"/>
    <p:sldId id="315" r:id="rId50"/>
    <p:sldId id="314" r:id="rId51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DE3"/>
    <a:srgbClr val="D1FFFF"/>
    <a:srgbClr val="99FFCC"/>
    <a:srgbClr val="FFCCFF"/>
    <a:srgbClr val="008000"/>
    <a:srgbClr val="00CC00"/>
    <a:srgbClr val="CCCCFF"/>
    <a:srgbClr val="CC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325"/>
    <p:restoredTop sz="94854"/>
  </p:normalViewPr>
  <p:slideViewPr>
    <p:cSldViewPr showGuides="1">
      <p:cViewPr varScale="1">
        <p:scale>
          <a:sx n="64" d="100"/>
          <a:sy n="64" d="100"/>
        </p:scale>
        <p:origin x="-1312" y="-72"/>
      </p:cViewPr>
      <p:guideLst>
        <p:guide orient="horz" pos="2163"/>
        <p:guide pos="28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pPr/>
              <a:t>2022/9/4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17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317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3317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17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en-US" altLang="zh-CN" sz="1200" b="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algn="r" eaLnBrk="1" fontAlgn="base" hangingPunct="1"/>
              <a:t>‹#›</a:t>
            </a:fld>
            <a:endParaRPr lang="en-US" altLang="zh-CN" sz="1200" b="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b="0" dirty="0"/>
              <a:pPr lvl="0" algn="r"/>
              <a:t>1</a:t>
            </a:fld>
            <a:endParaRPr lang="en-US" altLang="zh-CN" sz="1200" b="0" dirty="0"/>
          </a:p>
        </p:txBody>
      </p:sp>
      <p:sp>
        <p:nvSpPr>
          <p:cNvPr id="614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b="0" dirty="0"/>
              <a:pPr lvl="0" algn="r"/>
              <a:t>48</a:t>
            </a:fld>
            <a:endParaRPr lang="en-US" altLang="zh-CN" sz="1200" b="0" dirty="0"/>
          </a:p>
        </p:txBody>
      </p:sp>
      <p:sp>
        <p:nvSpPr>
          <p:cNvPr id="7168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68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gi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5" name="Rectangle 3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kumimoji="1"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8" name="Picture 7" descr="GIF-396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457200"/>
            <a:ext cx="4495800" cy="123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Text Box 10"/>
          <p:cNvSpPr txBox="1">
            <a:spLocks noChangeArrowheads="1"/>
          </p:cNvSpPr>
          <p:nvPr/>
        </p:nvSpPr>
        <p:spPr bwMode="auto">
          <a:xfrm>
            <a:off x="533400" y="84138"/>
            <a:ext cx="475932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第</a:t>
            </a: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5</a:t>
            </a:r>
            <a:r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章 单片机的</a:t>
            </a: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C51</a:t>
            </a:r>
            <a:r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语言编程 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29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b="0"/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  <p:sp>
        <p:nvSpPr>
          <p:cNvPr id="2" name="Text Box 19"/>
          <p:cNvSpPr txBox="1">
            <a:spLocks noChangeArrowheads="1"/>
          </p:cNvSpPr>
          <p:nvPr/>
        </p:nvSpPr>
        <p:spPr bwMode="auto">
          <a:xfrm>
            <a:off x="5724525" y="6521450"/>
            <a:ext cx="3419475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MCS-51</a:t>
            </a:r>
            <a:r>
              <a:rPr kumimoji="1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单片机原理、接口及应用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>
    <p:zo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lvl="0" eaLnBrk="1" fontAlgn="base" hangingPunct="1"/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Picture 7" descr="GIF-396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457200"/>
            <a:ext cx="4495800" cy="1238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ransition>
    <p:zoom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1</a:t>
            </a:fld>
            <a:endParaRPr lang="en-US" altLang="zh-CN" sz="1400" b="0" dirty="0"/>
          </a:p>
        </p:txBody>
      </p:sp>
      <p:sp>
        <p:nvSpPr>
          <p:cNvPr id="5122" name="Text Box 5"/>
          <p:cNvSpPr txBox="1"/>
          <p:nvPr/>
        </p:nvSpPr>
        <p:spPr>
          <a:xfrm>
            <a:off x="2057400" y="1066800"/>
            <a:ext cx="5715000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章  单片机的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C51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语言编程 </a:t>
            </a:r>
          </a:p>
        </p:txBody>
      </p:sp>
      <p:sp>
        <p:nvSpPr>
          <p:cNvPr id="5123" name="Text Box 6"/>
          <p:cNvSpPr txBox="1"/>
          <p:nvPr/>
        </p:nvSpPr>
        <p:spPr>
          <a:xfrm>
            <a:off x="1331913" y="2205038"/>
            <a:ext cx="7416800" cy="3415030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5.1  C51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源程序的基本结构和常用的头文件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5.2  C51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的基本数据类型、数据存储类型和存储模式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5.3  C51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的运算符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5.4  C51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的函数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5.5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单片机的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C51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语言编程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5.6  C51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和汇编语言的混合编程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2</a:t>
            </a:fld>
            <a:endParaRPr lang="en-US" altLang="zh-CN" sz="1400" b="0" dirty="0"/>
          </a:p>
        </p:txBody>
      </p:sp>
      <p:sp>
        <p:nvSpPr>
          <p:cNvPr id="8194" name="Text Box 2"/>
          <p:cNvSpPr txBox="1"/>
          <p:nvPr/>
        </p:nvSpPr>
        <p:spPr>
          <a:xfrm>
            <a:off x="755650" y="1268730"/>
            <a:ext cx="6588125" cy="31921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采用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Keil C51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语言编程的优点：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不需要了解汇编语言指令系统；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不需要考虑数据的存储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 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程序的结构规范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 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自带的库中包含许多标准子函数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语言和汇编语言可以联合使用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3</a:t>
            </a:fld>
            <a:endParaRPr lang="en-US" altLang="zh-CN" sz="1400" b="0" dirty="0"/>
          </a:p>
        </p:txBody>
      </p:sp>
      <p:sp>
        <p:nvSpPr>
          <p:cNvPr id="9218" name="Text Box 2"/>
          <p:cNvSpPr txBox="1"/>
          <p:nvPr/>
        </p:nvSpPr>
        <p:spPr>
          <a:xfrm>
            <a:off x="144463" y="765175"/>
            <a:ext cx="8027987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5.1 C51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源程序的基本结构和常用的头文件</a:t>
            </a:r>
          </a:p>
        </p:txBody>
      </p:sp>
      <p:sp>
        <p:nvSpPr>
          <p:cNvPr id="9219" name="Text Box 3"/>
          <p:cNvSpPr txBox="1"/>
          <p:nvPr/>
        </p:nvSpPr>
        <p:spPr>
          <a:xfrm>
            <a:off x="323850" y="1628775"/>
            <a:ext cx="8640763" cy="466979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5.1.1 C51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源程序的基本结构</a:t>
            </a:r>
          </a:p>
          <a:p>
            <a:endParaRPr lang="zh-CN" altLang="en-US" dirty="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文件的扩展名为“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.c”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。由主函数和若干子函数组成。</a:t>
            </a:r>
          </a:p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预处理命令	      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例如：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include, define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等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全局变量说明     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例如：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a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main()				 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局部变量说明				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执行语句（包括子函数的调用语句）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4</a:t>
            </a:fld>
            <a:endParaRPr lang="en-US" altLang="zh-CN" sz="1400" b="0" dirty="0"/>
          </a:p>
        </p:txBody>
      </p:sp>
      <p:sp>
        <p:nvSpPr>
          <p:cNvPr id="8195" name="Rectangle 2"/>
          <p:cNvSpPr/>
          <p:nvPr/>
        </p:nvSpPr>
        <p:spPr>
          <a:xfrm>
            <a:off x="295275" y="860425"/>
            <a:ext cx="5822950" cy="533400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func1(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形式参数及说明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	//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子函数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295275" y="1570038"/>
            <a:ext cx="5822950" cy="1863725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 </a:t>
            </a:r>
            <a:r>
              <a:rPr kumimoji="1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局部变量说明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执行语句（包括调用其它子函数语句）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		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311900" y="792163"/>
            <a:ext cx="2509838" cy="1752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函数说明部分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函数体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  <p:bldLst>
      <p:bldP spid="8195" grpId="1" animBg="1"/>
      <p:bldP spid="2" grpId="1" animBg="1"/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5</a:t>
            </a:fld>
            <a:endParaRPr lang="en-US" altLang="zh-CN" sz="1400" b="0" dirty="0"/>
          </a:p>
        </p:txBody>
      </p:sp>
      <p:sp>
        <p:nvSpPr>
          <p:cNvPr id="283650" name="Text Box 2"/>
          <p:cNvSpPr txBox="1"/>
          <p:nvPr/>
        </p:nvSpPr>
        <p:spPr>
          <a:xfrm>
            <a:off x="250825" y="908050"/>
            <a:ext cx="7921625" cy="1863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5.1.2  C51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中常用的头文件</a:t>
            </a:r>
          </a:p>
          <a:p>
            <a:pPr>
              <a:lnSpc>
                <a:spcPct val="120000"/>
              </a:lnSpc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reg51.h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reg52.h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math.h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ctype.h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stdio.h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stdlib.h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absacc.h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intrins.h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283651" name="Text Box 3"/>
          <p:cNvSpPr txBox="1"/>
          <p:nvPr/>
        </p:nvSpPr>
        <p:spPr>
          <a:xfrm>
            <a:off x="250825" y="2924175"/>
            <a:ext cx="8569325" cy="1828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reg51.h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reg52.h</a:t>
            </a:r>
          </a:p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（定义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51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52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子系列单片机特殊功能寄存器和特殊位）</a:t>
            </a:r>
          </a:p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reg52.h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比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reg51.h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多了几行定义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T2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寄存器的内容。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6</a:t>
            </a:fld>
            <a:endParaRPr lang="en-US" altLang="zh-CN" sz="1400" b="0" dirty="0"/>
          </a:p>
        </p:txBody>
      </p:sp>
      <p:sp>
        <p:nvSpPr>
          <p:cNvPr id="281602" name="Text Box 2"/>
          <p:cNvSpPr txBox="1"/>
          <p:nvPr/>
        </p:nvSpPr>
        <p:spPr>
          <a:xfrm>
            <a:off x="250825" y="700088"/>
            <a:ext cx="8253413" cy="20097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absacc.h</a:t>
            </a: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访问绝对地址头文件。当用绝对地址访问内部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RAM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data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）、外部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RAM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的一页（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pdata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）、整个外部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RAM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xdata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ROM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code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）时，需包含此文件。</a:t>
            </a:r>
          </a:p>
        </p:txBody>
      </p:sp>
      <p:graphicFrame>
        <p:nvGraphicFramePr>
          <p:cNvPr id="3" name="表格 2"/>
          <p:cNvGraphicFramePr/>
          <p:nvPr/>
        </p:nvGraphicFramePr>
        <p:xfrm>
          <a:off x="1881188" y="2984500"/>
          <a:ext cx="5581015" cy="268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220"/>
                <a:gridCol w="1663065"/>
                <a:gridCol w="1903730"/>
              </a:tblGrid>
              <a:tr h="472440">
                <a:tc>
                  <a:txBody>
                    <a:bodyPr/>
                    <a:lstStyle/>
                    <a:p>
                      <a:pPr fontAlgn="auto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外部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RAM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地址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</a:rPr>
                        <a:t>高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</a:rPr>
                        <a:t>位地址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sym typeface="+mn-ea"/>
                        </a:rPr>
                        <a:t>低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sym typeface="+mn-ea"/>
                        </a:rPr>
                        <a:t>8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sym typeface="+mn-ea"/>
                        </a:rPr>
                        <a:t>位地址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fontAlgn="auto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0000~00FFH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</a:rPr>
                        <a:t>   00H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00~0FFH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fontAlgn="auto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0100~01FFH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   01H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</a:rPr>
                        <a:t>00~0FFH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fontAlgn="auto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sym typeface="+mn-ea"/>
                        </a:rPr>
                        <a:t>0200~02FFH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   02H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</a:rPr>
                        <a:t>00~0FFH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fontAlgn="auto">
                        <a:lnSpc>
                          <a:spcPct val="125000"/>
                        </a:lnSpc>
                        <a:buNone/>
                      </a:pPr>
                      <a:endParaRPr lang="zh-CN" altLang="en-US" sz="20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   ...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5000"/>
                        </a:lnSpc>
                        <a:buNone/>
                      </a:pP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fontAlgn="auto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</a:rPr>
                        <a:t>0FF00-0FFFFH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</a:rPr>
                        <a:t>  0FFH</a:t>
                      </a:r>
                      <a:endParaRPr lang="en-US" altLang="zh-CN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00~0FFH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972560" y="6169025"/>
            <a:ext cx="1776095" cy="4603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/>
          <a:p>
            <a:pPr marR="0" algn="ctr" defTabSz="914400" eaLnBrk="0" hangingPunct="0">
              <a:buClrTx/>
              <a:buSzTx/>
              <a:buFontTx/>
              <a:defRPr/>
            </a:pPr>
            <a:r>
              <a:rPr kumimoji="0" lang="zh-CN" altLang="zh-CN" kern="120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页地址</a:t>
            </a:r>
          </a:p>
        </p:txBody>
      </p:sp>
      <p:sp>
        <p:nvSpPr>
          <p:cNvPr id="5" name="上箭头 4"/>
          <p:cNvSpPr/>
          <p:nvPr/>
        </p:nvSpPr>
        <p:spPr>
          <a:xfrm>
            <a:off x="4716463" y="5819775"/>
            <a:ext cx="287337" cy="287338"/>
          </a:xfrm>
          <a:prstGeom prst="upArrow">
            <a:avLst>
              <a:gd name="adj1" fmla="val 50000"/>
              <a:gd name="adj2" fmla="val 4999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0825" y="3187065"/>
            <a:ext cx="1507489" cy="119888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defRPr/>
            </a:pPr>
            <a:r>
              <a:rPr kumimoji="0" lang="zh-CN" altLang="en-US" kern="1200" cap="none" spc="0" normalizeH="0" baseline="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知识点：</a:t>
            </a:r>
            <a:endParaRPr kumimoji="0" lang="zh-CN" altLang="en-US" kern="1200" cap="none" spc="0" normalizeH="0" baseline="0" noProof="1">
              <a:ln w="22225">
                <a:solidFill>
                  <a:schemeClr val="accent2"/>
                </a:solidFill>
                <a:prstDash val="solid"/>
              </a:ln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eaLnBrk="0" hangingPunct="0">
              <a:buClrTx/>
              <a:buSzTx/>
              <a:buFontTx/>
              <a:defRPr/>
            </a:pPr>
            <a:endParaRPr kumimoji="0" lang="zh-CN" altLang="en-US" kern="1200" cap="none" spc="0" normalizeH="0" baseline="0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eaLnBrk="0" hangingPunct="0">
              <a:buClrTx/>
              <a:buSzTx/>
              <a:buFontTx/>
              <a:defRPr/>
            </a:pPr>
            <a:r>
              <a:rPr kumimoji="0" lang="zh-CN" altLang="en-US" kern="120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页地址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  <p:bldLst>
      <p:bldP spid="281602" grpId="1"/>
      <p:bldP spid="4" grpId="1"/>
      <p:bldP spid="5" grpId="1" animBg="1"/>
      <p:bldP spid="6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Text Box 3"/>
          <p:cNvSpPr txBox="1"/>
          <p:nvPr/>
        </p:nvSpPr>
        <p:spPr>
          <a:xfrm>
            <a:off x="323533" y="1196023"/>
            <a:ext cx="8748712" cy="2968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命令有：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CBYTE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CWORD 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（以字节型、字型访问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ROM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DBYTE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DWORD 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（访问内部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RAM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                </a:t>
            </a:r>
            <a:endParaRPr lang="en-US" altLang="zh-CN" dirty="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PBYTE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PWORD  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（外部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RAM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的一页空间（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256B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））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XBYTE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XWORD 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（访问外部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RAM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                  </a:t>
            </a:r>
            <a:r>
              <a:rPr lang="en-US" altLang="zh-CN">
                <a:sym typeface="+mn-ea"/>
              </a:rPr>
              <a:t>      </a:t>
            </a:r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             </a:t>
            </a:r>
            <a:endParaRPr lang="en-US" altLang="zh-CN" dirty="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en-US" altLang="zh-CN" dirty="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8</a:t>
            </a:fld>
            <a:endParaRPr lang="en-US" altLang="zh-CN" sz="1400" b="0" dirty="0"/>
          </a:p>
        </p:txBody>
      </p:sp>
      <p:sp>
        <p:nvSpPr>
          <p:cNvPr id="12291" name="Text Box 2"/>
          <p:cNvSpPr txBox="1"/>
          <p:nvPr/>
        </p:nvSpPr>
        <p:spPr>
          <a:xfrm>
            <a:off x="4860925" y="2400300"/>
            <a:ext cx="3959225" cy="26479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#include &lt;absacc.h&gt;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main( )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{     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DBYTE[0x30]=0xff;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XBYTE[0x1000]=0x12; 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2292" name="Text Box 3"/>
          <p:cNvSpPr txBox="1"/>
          <p:nvPr/>
        </p:nvSpPr>
        <p:spPr>
          <a:xfrm>
            <a:off x="395288" y="908050"/>
            <a:ext cx="8424862" cy="11239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编程将片内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RAM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30H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单元赋值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0FFH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，将片外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RAM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1000H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单元赋值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12H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2294" name="Text Box 2"/>
          <p:cNvSpPr txBox="1"/>
          <p:nvPr/>
        </p:nvSpPr>
        <p:spPr>
          <a:xfrm>
            <a:off x="468313" y="2276475"/>
            <a:ext cx="3959225" cy="3159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ORG  0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	30H, #0FFH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	DPTR, #1000H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	A, #12H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MOVX  @DPTR, A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END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灯片编号占位符 5"/>
          <p:cNvSpPr txBox="1">
            <a:spLocks noGrp="1"/>
          </p:cNvSpPr>
          <p:nvPr/>
        </p:nvSpPr>
        <p:spPr>
          <a:xfrm>
            <a:off x="0" y="6629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9</a:t>
            </a:fld>
            <a:endParaRPr lang="en-US" altLang="zh-CN" sz="1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3" name="Text Box 2"/>
          <p:cNvSpPr txBox="1"/>
          <p:nvPr/>
        </p:nvSpPr>
        <p:spPr>
          <a:xfrm>
            <a:off x="320675" y="2032000"/>
            <a:ext cx="4694238" cy="37099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#include &lt;absacc.h&gt;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char  a;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main( )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{    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a=XBYTE[0x6fff];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XBYTE[0x7fff]=a; 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DBYTE[0x30]=a; 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5364" name="Text Box 3"/>
          <p:cNvSpPr txBox="1"/>
          <p:nvPr/>
        </p:nvSpPr>
        <p:spPr>
          <a:xfrm>
            <a:off x="395288" y="908050"/>
            <a:ext cx="8424862" cy="11239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: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将外部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RAM 6FFFH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单元的内容送给外部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RAM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7FFFH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及内部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RAM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30H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单元。 </a:t>
            </a:r>
          </a:p>
        </p:txBody>
      </p:sp>
      <p:sp>
        <p:nvSpPr>
          <p:cNvPr id="2" name="Text Box 2"/>
          <p:cNvSpPr txBox="1"/>
          <p:nvPr/>
        </p:nvSpPr>
        <p:spPr>
          <a:xfrm>
            <a:off x="4021138" y="3489325"/>
            <a:ext cx="4799012" cy="164352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</a:t>
            </a:r>
            <a:r>
              <a:rPr kumimoji="1" lang="en-US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XBYTE[0x7fff</a:t>
            </a:r>
            <a:r>
              <a:rPr kumimoji="1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]=</a:t>
            </a:r>
            <a:r>
              <a:rPr kumimoji="1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XBYTE[0x6fff]</a:t>
            </a:r>
            <a:r>
              <a:rPr kumimoji="1" lang="en-US" altLang="zh-CN" sz="24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r>
              <a:rPr kumimoji="1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DBYTE[0x30]</a:t>
            </a:r>
            <a:r>
              <a:rPr kumimoji="1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1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XBYTE[0x6fff]</a:t>
            </a:r>
            <a:r>
              <a:rPr kumimoji="1" lang="en-US" altLang="zh-CN" sz="24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r>
              <a:rPr kumimoji="1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  <p:bldLst>
      <p:bldP spid="15363" grpId="1"/>
      <p:bldP spid="15364" grpId="1"/>
      <p:bldP spid="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10</a:t>
            </a:fld>
            <a:endParaRPr lang="en-US" altLang="zh-CN" sz="1400" b="0" dirty="0"/>
          </a:p>
        </p:txBody>
      </p:sp>
      <p:sp>
        <p:nvSpPr>
          <p:cNvPr id="279554" name="Text Box 2"/>
          <p:cNvSpPr txBox="1"/>
          <p:nvPr/>
        </p:nvSpPr>
        <p:spPr>
          <a:xfrm>
            <a:off x="250825" y="836613"/>
            <a:ext cx="8497888" cy="18081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）其它头文件</a:t>
            </a:r>
          </a:p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math.h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数学运算函数，如求绝对值、平方根、指数、正弦等函数。</a:t>
            </a:r>
          </a:p>
        </p:txBody>
      </p:sp>
      <p:sp>
        <p:nvSpPr>
          <p:cNvPr id="279555" name="Text Box 3"/>
          <p:cNvSpPr txBox="1"/>
          <p:nvPr/>
        </p:nvSpPr>
        <p:spPr>
          <a:xfrm>
            <a:off x="250825" y="2781300"/>
            <a:ext cx="8497888" cy="162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ctype.h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提供两类重要的函数：字符测试函数和字符大小转化函数。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例如，判断一个整型变量是数字、字母、换行符、控制符等。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11</a:t>
            </a:fld>
            <a:endParaRPr lang="en-US" altLang="zh-CN" sz="1400" b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787400"/>
            <a:ext cx="8190230" cy="5283200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12</a:t>
            </a:fld>
            <a:endParaRPr lang="en-US" altLang="zh-CN" sz="1400" b="0" dirty="0"/>
          </a:p>
        </p:txBody>
      </p:sp>
      <p:sp>
        <p:nvSpPr>
          <p:cNvPr id="277506" name="Rectangle 2"/>
          <p:cNvSpPr/>
          <p:nvPr/>
        </p:nvSpPr>
        <p:spPr>
          <a:xfrm>
            <a:off x="395288" y="835501"/>
            <a:ext cx="8209915" cy="581660"/>
          </a:xfrm>
          <a:prstGeom prst="rect">
            <a:avLst/>
          </a:prstGeom>
          <a:noFill/>
          <a:ln w="9525">
            <a:noFill/>
          </a:ln>
        </p:spPr>
        <p:txBody>
          <a:bodyPr wrap="none" tIns="76176" bIns="76176" anchor="ctr" anchorCtr="0">
            <a:spAutoFit/>
          </a:bodyPr>
          <a:lstStyle/>
          <a:p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5.2  C51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的基本数据类型、数据存储类型和存储模式</a:t>
            </a:r>
          </a:p>
        </p:txBody>
      </p:sp>
      <p:sp>
        <p:nvSpPr>
          <p:cNvPr id="277507" name="Text Box 3"/>
          <p:cNvSpPr txBox="1"/>
          <p:nvPr/>
        </p:nvSpPr>
        <p:spPr>
          <a:xfrm>
            <a:off x="179388" y="1700213"/>
            <a:ext cx="5689600" cy="101473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5.2.1 C51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的基本数据类型</a:t>
            </a:r>
          </a:p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常量和变量</a:t>
            </a:r>
          </a:p>
        </p:txBody>
      </p:sp>
      <p:grpSp>
        <p:nvGrpSpPr>
          <p:cNvPr id="2" name="Group 7"/>
          <p:cNvGrpSpPr/>
          <p:nvPr/>
        </p:nvGrpSpPr>
        <p:grpSpPr>
          <a:xfrm>
            <a:off x="179388" y="3068638"/>
            <a:ext cx="8604250" cy="2136775"/>
            <a:chOff x="113" y="1752"/>
            <a:chExt cx="5420" cy="1346"/>
          </a:xfrm>
        </p:grpSpPr>
        <p:sp>
          <p:nvSpPr>
            <p:cNvPr id="22533" name="Text Box 4"/>
            <p:cNvSpPr txBox="1"/>
            <p:nvPr/>
          </p:nvSpPr>
          <p:spPr>
            <a:xfrm>
              <a:off x="793" y="1752"/>
              <a:ext cx="4740" cy="134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数值型常量： 十进制数或十六进制数（用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0x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表示）</a:t>
              </a:r>
            </a:p>
            <a:p>
              <a:pPr>
                <a:lnSpc>
                  <a:spcPct val="140000"/>
                </a:lnSpc>
              </a:pP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符号型常量：需用宏定义指令（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#define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）对其进行定义。   </a:t>
              </a:r>
            </a:p>
            <a:p>
              <a:pPr>
                <a:lnSpc>
                  <a:spcPct val="140000"/>
                </a:lnSpc>
              </a:pP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如：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#define  PI  3.14159</a:t>
              </a:r>
            </a:p>
          </p:txBody>
        </p:sp>
        <p:sp>
          <p:nvSpPr>
            <p:cNvPr id="22534" name="AutoShape 5"/>
            <p:cNvSpPr/>
            <p:nvPr/>
          </p:nvSpPr>
          <p:spPr>
            <a:xfrm>
              <a:off x="612" y="1843"/>
              <a:ext cx="273" cy="1224"/>
            </a:xfrm>
            <a:prstGeom prst="leftBrace">
              <a:avLst>
                <a:gd name="adj1" fmla="val 37321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35" name="Text Box 6"/>
            <p:cNvSpPr txBox="1"/>
            <p:nvPr/>
          </p:nvSpPr>
          <p:spPr>
            <a:xfrm>
              <a:off x="113" y="2296"/>
              <a:ext cx="63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常量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13</a:t>
            </a:fld>
            <a:endParaRPr lang="en-US" altLang="zh-CN" sz="1400" b="0" dirty="0"/>
          </a:p>
        </p:txBody>
      </p:sp>
      <p:sp>
        <p:nvSpPr>
          <p:cNvPr id="23554" name="Text Box 62"/>
          <p:cNvSpPr txBox="1"/>
          <p:nvPr/>
        </p:nvSpPr>
        <p:spPr>
          <a:xfrm>
            <a:off x="287338" y="869950"/>
            <a:ext cx="727233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变量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          char  i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    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 x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   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bit  y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</a:p>
        </p:txBody>
      </p:sp>
      <p:sp>
        <p:nvSpPr>
          <p:cNvPr id="23555" name="Line 279"/>
          <p:cNvSpPr/>
          <p:nvPr/>
        </p:nvSpPr>
        <p:spPr>
          <a:xfrm>
            <a:off x="5387975" y="3292475"/>
            <a:ext cx="0" cy="0"/>
          </a:xfrm>
          <a:prstGeom prst="line">
            <a:avLst/>
          </a:prstGeom>
          <a:ln w="12700" cap="rnd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628775"/>
            <a:ext cx="8728710" cy="4549775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5539" name="Group 83"/>
          <p:cNvGraphicFramePr>
            <a:graphicFrameLocks noGrp="1"/>
          </p:cNvGraphicFramePr>
          <p:nvPr>
            <p:ph/>
            <p:custDataLst>
              <p:tags r:id="rId1"/>
            </p:custDataLst>
          </p:nvPr>
        </p:nvGraphicFramePr>
        <p:xfrm>
          <a:off x="179388" y="1268413"/>
          <a:ext cx="8785225" cy="4389410"/>
        </p:xfrm>
        <a:graphic>
          <a:graphicData uri="http://schemas.openxmlformats.org/drawingml/2006/table">
            <a:tbl>
              <a:tblPr/>
              <a:tblGrid>
                <a:gridCol w="1611312"/>
                <a:gridCol w="2487613"/>
                <a:gridCol w="1300162"/>
                <a:gridCol w="417513"/>
                <a:gridCol w="2968625"/>
              </a:tblGrid>
              <a:tr h="45720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数据类型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长度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值域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457233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指针型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data/idata/pdata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1B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字节地址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45723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code/xdata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2B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字节地址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118880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通用指针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3B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其中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字节为存储器类型编码，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2﹑3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字节为地址偏移量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457233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访问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SFR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的数据类型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sbit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1bit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45723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sfr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1B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255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45723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sfr16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2B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65535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57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14</a:t>
            </a:fld>
            <a:endParaRPr lang="en-US" altLang="zh-CN" sz="1400" b="0" dirty="0"/>
          </a:p>
        </p:txBody>
      </p:sp>
      <p:sp>
        <p:nvSpPr>
          <p:cNvPr id="24622" name="文本框 1"/>
          <p:cNvSpPr txBox="1"/>
          <p:nvPr/>
        </p:nvSpPr>
        <p:spPr>
          <a:xfrm>
            <a:off x="350838" y="808038"/>
            <a:ext cx="114458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变量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15</a:t>
            </a:fld>
            <a:endParaRPr lang="en-US" altLang="zh-CN" sz="1400" b="0" dirty="0"/>
          </a:p>
        </p:txBody>
      </p:sp>
      <p:sp>
        <p:nvSpPr>
          <p:cNvPr id="274434" name="Rectangle 2"/>
          <p:cNvSpPr/>
          <p:nvPr/>
        </p:nvSpPr>
        <p:spPr>
          <a:xfrm>
            <a:off x="60325" y="628651"/>
            <a:ext cx="4249738" cy="533400"/>
          </a:xfrm>
          <a:prstGeom prst="rect">
            <a:avLst/>
          </a:prstGeom>
          <a:noFill/>
          <a:ln w="9525">
            <a:noFill/>
          </a:ln>
        </p:spPr>
        <p:txBody>
          <a:bodyPr tIns="165048" bIns="0" anchor="ctr" anchorCtr="0">
            <a:spAutoFit/>
          </a:bodyPr>
          <a:lstStyle/>
          <a:p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5.2.2  C51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数据的存储类型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05" y="1556385"/>
            <a:ext cx="8065770" cy="4611370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16</a:t>
            </a:fld>
            <a:endParaRPr lang="en-US" altLang="zh-CN" sz="1400" b="0" dirty="0"/>
          </a:p>
        </p:txBody>
      </p:sp>
      <p:sp>
        <p:nvSpPr>
          <p:cNvPr id="273410" name="Text Box 2"/>
          <p:cNvSpPr txBox="1"/>
          <p:nvPr/>
        </p:nvSpPr>
        <p:spPr>
          <a:xfrm>
            <a:off x="179388" y="765175"/>
            <a:ext cx="5472112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5.2.3 C51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数据的存储模式</a:t>
            </a:r>
          </a:p>
        </p:txBody>
      </p:sp>
      <p:sp>
        <p:nvSpPr>
          <p:cNvPr id="273411" name="Text Box 3"/>
          <p:cNvSpPr txBox="1"/>
          <p:nvPr/>
        </p:nvSpPr>
        <p:spPr>
          <a:xfrm>
            <a:off x="250825" y="1628775"/>
            <a:ext cx="8496300" cy="11144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存储模式决定了变量的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默认存储类型、参数传递区和无明确存储区类型的说明。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5" name="Text Box 4"/>
          <p:cNvSpPr txBox="1"/>
          <p:nvPr/>
        </p:nvSpPr>
        <p:spPr>
          <a:xfrm>
            <a:off x="179705" y="2924175"/>
            <a:ext cx="8963660" cy="26752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small 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模式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所有参数及局部变量都放在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可直接寻址的内部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RAM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（最大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128B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），这和用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data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定义变量所起的作用是相同的。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优点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访问速度快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缺点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空间有限，只适用于对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RAM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需求小的程序。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17</a:t>
            </a:fld>
            <a:endParaRPr lang="en-US" altLang="zh-CN" sz="1400" b="0" dirty="0"/>
          </a:p>
        </p:txBody>
      </p:sp>
      <p:sp>
        <p:nvSpPr>
          <p:cNvPr id="27650" name="Text Box 31"/>
          <p:cNvSpPr txBox="1"/>
          <p:nvPr/>
        </p:nvSpPr>
        <p:spPr>
          <a:xfrm>
            <a:off x="179388" y="1196975"/>
            <a:ext cx="8640762" cy="3670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compact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模式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所有参数及局部变量都放在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外部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RAM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区的一页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（最大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256B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），这和用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pdata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定义变量的作用相同。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具体哪一页，可由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口定义，并在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STARTUP.A51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文件中说明。一般默认的是外部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RAM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的低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256B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特点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存储器空间比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small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模式大，但速度较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small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模式慢，却比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large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模式快。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18</a:t>
            </a:fld>
            <a:endParaRPr lang="en-US" altLang="zh-CN" sz="1400" b="0" dirty="0"/>
          </a:p>
        </p:txBody>
      </p:sp>
      <p:sp>
        <p:nvSpPr>
          <p:cNvPr id="28674" name="Text Box 4"/>
          <p:cNvSpPr txBox="1"/>
          <p:nvPr/>
        </p:nvSpPr>
        <p:spPr>
          <a:xfrm>
            <a:off x="323850" y="1773238"/>
            <a:ext cx="8280400" cy="30130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large 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模式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所有参数及局部变量都放在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外部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RAM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区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（最大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64KB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），这和用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xdata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定义变量的作用是相同的。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用数据指针（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DPTR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）寻址。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该模式优点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其空间足够大，可存放变量多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缺点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速度较慢。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19</a:t>
            </a:fld>
            <a:endParaRPr lang="en-US" altLang="zh-CN" sz="1400" b="0" dirty="0"/>
          </a:p>
        </p:txBody>
      </p:sp>
      <p:sp>
        <p:nvSpPr>
          <p:cNvPr id="271362" name="Rectangle 2"/>
          <p:cNvSpPr/>
          <p:nvPr/>
        </p:nvSpPr>
        <p:spPr>
          <a:xfrm>
            <a:off x="250825" y="763588"/>
            <a:ext cx="3311525" cy="533400"/>
          </a:xfrm>
          <a:prstGeom prst="rect">
            <a:avLst/>
          </a:prstGeom>
          <a:noFill/>
          <a:ln w="9525">
            <a:noFill/>
          </a:ln>
        </p:spPr>
        <p:txBody>
          <a:bodyPr tIns="165048" bIns="0" anchor="ctr" anchorCtr="0">
            <a:spAutoFit/>
          </a:bodyPr>
          <a:lstStyle/>
          <a:p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5.2.4 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变量声明举例</a:t>
            </a:r>
          </a:p>
        </p:txBody>
      </p:sp>
      <p:sp>
        <p:nvSpPr>
          <p:cNvPr id="271363" name="Text Box 3"/>
          <p:cNvSpPr txBox="1"/>
          <p:nvPr/>
        </p:nvSpPr>
        <p:spPr>
          <a:xfrm>
            <a:off x="250825" y="1412875"/>
            <a:ext cx="8893175" cy="46926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）字符型、整型、实型变量的声明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声明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存储类型和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signed/unsigned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属性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char data i;			/*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字符型变量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定位在内部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RAM*/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unsigned char code Tab[ ]=”key in number”;	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long xdata array[10];	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float idata m,n;		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unsigned int pdata j;		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unsigned char xdata score[10][4][4];	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char bdata flag;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20</a:t>
            </a:fld>
            <a:endParaRPr lang="en-US" altLang="zh-CN" sz="1400" b="0" dirty="0"/>
          </a:p>
        </p:txBody>
      </p:sp>
      <p:sp>
        <p:nvSpPr>
          <p:cNvPr id="30722" name="Text Box 2"/>
          <p:cNvSpPr txBox="1"/>
          <p:nvPr/>
        </p:nvSpPr>
        <p:spPr>
          <a:xfrm>
            <a:off x="250825" y="1412875"/>
            <a:ext cx="8424863" cy="18081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如果在变量说明时略去存储器类型标志符，编译器会自动选择默认的存储器类型。</a:t>
            </a:r>
          </a:p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默认的存储器类型由控制指令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small﹑compact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large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限制。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21</a:t>
            </a:fld>
            <a:endParaRPr lang="en-US" altLang="zh-CN" sz="1400" b="0" dirty="0"/>
          </a:p>
        </p:txBody>
      </p:sp>
      <p:sp>
        <p:nvSpPr>
          <p:cNvPr id="295940" name="Text Box 4"/>
          <p:cNvSpPr txBox="1"/>
          <p:nvPr/>
        </p:nvSpPr>
        <p:spPr>
          <a:xfrm>
            <a:off x="179388" y="620713"/>
            <a:ext cx="8353425" cy="11144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）位变量声明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指定义的变量为内部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RAM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中可位寻址的位。</a:t>
            </a:r>
          </a:p>
        </p:txBody>
      </p:sp>
      <p:sp>
        <p:nvSpPr>
          <p:cNvPr id="295941" name="Text Box 5"/>
          <p:cNvSpPr txBox="1"/>
          <p:nvPr/>
        </p:nvSpPr>
        <p:spPr>
          <a:xfrm>
            <a:off x="971550" y="1844675"/>
            <a:ext cx="6913563" cy="213677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普通位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bit flag;	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bit flag=0x40;			/*AAA  bit  40H*/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bit flag=0x20^0;	</a:t>
            </a:r>
          </a:p>
        </p:txBody>
      </p:sp>
      <p:sp>
        <p:nvSpPr>
          <p:cNvPr id="295942" name="Text Box 6"/>
          <p:cNvSpPr txBox="1"/>
          <p:nvPr/>
        </p:nvSpPr>
        <p:spPr>
          <a:xfrm>
            <a:off x="971550" y="4149725"/>
            <a:ext cx="7705725" cy="1990725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特殊功能寄存器的位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#include &lt;reg51.h&gt;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sbit  led=P1^0;		/*led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表示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P1.0*/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sbit  led=0x90^0;	/*90H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口的地址，结果同上*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22</a:t>
            </a:fld>
            <a:endParaRPr lang="en-US" altLang="zh-CN" sz="1400" b="0" dirty="0"/>
          </a:p>
        </p:txBody>
      </p:sp>
      <p:sp>
        <p:nvSpPr>
          <p:cNvPr id="32770" name="Text Box 3"/>
          <p:cNvSpPr txBox="1"/>
          <p:nvPr/>
        </p:nvSpPr>
        <p:spPr>
          <a:xfrm>
            <a:off x="0" y="836613"/>
            <a:ext cx="8713788" cy="21367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）指针变量声明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指针变量的应用类似于汇编语言中的寄存器间接寻址。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指针变量的声明格式为：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数据类型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存储器类型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1]  *[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存储器类型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2] 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标识符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23</a:t>
            </a:fld>
            <a:endParaRPr lang="en-US" altLang="zh-CN" sz="1400" b="0" dirty="0"/>
          </a:p>
        </p:txBody>
      </p:sp>
      <p:grpSp>
        <p:nvGrpSpPr>
          <p:cNvPr id="35842" name="Group 13"/>
          <p:cNvGrpSpPr/>
          <p:nvPr/>
        </p:nvGrpSpPr>
        <p:grpSpPr>
          <a:xfrm>
            <a:off x="395288" y="549275"/>
            <a:ext cx="8562975" cy="6021388"/>
            <a:chOff x="113" y="527"/>
            <a:chExt cx="5394" cy="3793"/>
          </a:xfrm>
        </p:grpSpPr>
        <p:sp>
          <p:nvSpPr>
            <p:cNvPr id="35843" name="Text Box 2"/>
            <p:cNvSpPr txBox="1"/>
            <p:nvPr/>
          </p:nvSpPr>
          <p:spPr>
            <a:xfrm>
              <a:off x="975" y="756"/>
              <a:ext cx="4532" cy="356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85000"/>
                </a:lnSpc>
                <a:spcBef>
                  <a:spcPct val="50000"/>
                </a:spcBef>
              </a:pPr>
              <a:endParaRPr lang="en-US" altLang="zh-CN" sz="2800" dirty="0">
                <a:latin typeface="仿宋_GB2312" panose="02010609030101010101" pitchFamily="49" charset="-122"/>
                <a:ea typeface="仿宋_GB2312" panose="02010609030101010101" pitchFamily="49" charset="-122"/>
              </a:endParaRPr>
            </a:p>
            <a:p>
              <a:pPr>
                <a:lnSpc>
                  <a:spcPct val="85000"/>
                </a:lnSpc>
                <a:spcBef>
                  <a:spcPct val="50000"/>
                </a:spcBef>
              </a:pPr>
              <a:endParaRPr lang="en-US" altLang="zh-CN" sz="2800" dirty="0">
                <a:latin typeface="仿宋_GB2312" panose="02010609030101010101" pitchFamily="49" charset="-122"/>
                <a:ea typeface="仿宋_GB2312" panose="02010609030101010101" pitchFamily="49" charset="-122"/>
              </a:endParaRP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   -   *   /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%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（加 减 乘 除 余）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&gt;   &gt;=  &lt;  &lt;=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（大于  大于等于  小于  小于等于）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==  !=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（等于  不等于）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&amp;&amp;  ||  !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（逻辑与    逻辑或  逻辑非 ）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&gt;&gt;  &lt;&lt;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（位右移    位左移）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&amp;     |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(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按位与    按位或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^     ~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(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按位异或  按位取反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35844" name="AutoShape 3"/>
            <p:cNvSpPr/>
            <p:nvPr/>
          </p:nvSpPr>
          <p:spPr>
            <a:xfrm>
              <a:off x="839" y="3249"/>
              <a:ext cx="96" cy="960"/>
            </a:xfrm>
            <a:prstGeom prst="leftBrace">
              <a:avLst>
                <a:gd name="adj1" fmla="val 83240"/>
                <a:gd name="adj2" fmla="val 50000"/>
              </a:avLst>
            </a:pr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zh-CN" sz="1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45" name="AutoShape 4"/>
            <p:cNvSpPr/>
            <p:nvPr/>
          </p:nvSpPr>
          <p:spPr>
            <a:xfrm>
              <a:off x="831" y="1572"/>
              <a:ext cx="96" cy="912"/>
            </a:xfrm>
            <a:prstGeom prst="leftBrace">
              <a:avLst>
                <a:gd name="adj1" fmla="val 79078"/>
                <a:gd name="adj2" fmla="val 50000"/>
              </a:avLst>
            </a:pr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zh-CN" sz="1800" b="0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46" name="Text Box 5"/>
            <p:cNvSpPr txBox="1"/>
            <p:nvPr/>
          </p:nvSpPr>
          <p:spPr>
            <a:xfrm>
              <a:off x="113" y="3294"/>
              <a:ext cx="722" cy="97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按位</a:t>
              </a:r>
            </a:p>
            <a:p>
              <a:pPr algn="ctr">
                <a:spcBef>
                  <a:spcPct val="50000"/>
                </a:spcBef>
              </a:pPr>
              <a:r>
                <a:rPr lang="zh-CN" altLang="en-US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操作</a:t>
              </a:r>
            </a:p>
            <a:p>
              <a:pPr algn="ctr">
                <a:spcBef>
                  <a:spcPct val="50000"/>
                </a:spcBef>
              </a:pPr>
              <a:r>
                <a:rPr lang="zh-CN" altLang="en-US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运算符</a:t>
              </a:r>
            </a:p>
          </p:txBody>
        </p:sp>
        <p:sp>
          <p:nvSpPr>
            <p:cNvPr id="35847" name="Text Box 6"/>
            <p:cNvSpPr txBox="1"/>
            <p:nvPr/>
          </p:nvSpPr>
          <p:spPr>
            <a:xfrm>
              <a:off x="158" y="1071"/>
              <a:ext cx="19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与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语言基本相同：</a:t>
              </a:r>
            </a:p>
          </p:txBody>
        </p:sp>
        <p:sp>
          <p:nvSpPr>
            <p:cNvPr id="35848" name="Text Box 7"/>
            <p:cNvSpPr txBox="1"/>
            <p:nvPr/>
          </p:nvSpPr>
          <p:spPr>
            <a:xfrm>
              <a:off x="246" y="1506"/>
              <a:ext cx="681" cy="97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算术</a:t>
              </a:r>
            </a:p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关系</a:t>
              </a:r>
            </a:p>
            <a:p>
              <a:pPr>
                <a:spcBef>
                  <a:spcPct val="50000"/>
                </a:spcBef>
              </a:pPr>
              <a:endPara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49" name="Text Box 9"/>
            <p:cNvSpPr txBox="1"/>
            <p:nvPr/>
          </p:nvSpPr>
          <p:spPr>
            <a:xfrm>
              <a:off x="204" y="2734"/>
              <a:ext cx="68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逻辑</a:t>
              </a:r>
            </a:p>
          </p:txBody>
        </p:sp>
        <p:sp>
          <p:nvSpPr>
            <p:cNvPr id="35850" name="Text Box 10"/>
            <p:cNvSpPr txBox="1"/>
            <p:nvPr/>
          </p:nvSpPr>
          <p:spPr>
            <a:xfrm>
              <a:off x="1338" y="527"/>
              <a:ext cx="326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1" name="Text Box 12"/>
            <p:cNvSpPr txBox="1"/>
            <p:nvPr/>
          </p:nvSpPr>
          <p:spPr>
            <a:xfrm>
              <a:off x="1429" y="527"/>
              <a:ext cx="254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5.3 C51</a:t>
              </a:r>
              <a:r>
                <a:rPr lang="zh-CN" altLang="en-US" sz="28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的运算符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24</a:t>
            </a:fld>
            <a:endParaRPr lang="en-US" altLang="zh-CN" sz="1400" b="0" dirty="0"/>
          </a:p>
        </p:txBody>
      </p:sp>
      <p:sp>
        <p:nvSpPr>
          <p:cNvPr id="36866" name="Text Box 4"/>
          <p:cNvSpPr txBox="1"/>
          <p:nvPr/>
        </p:nvSpPr>
        <p:spPr>
          <a:xfrm>
            <a:off x="250825" y="908050"/>
            <a:ext cx="8893175" cy="4406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自增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﹑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自减运算符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++i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--i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i++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i--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135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复合赋值运算符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+=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，－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，*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/=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%=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&lt;&lt;=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&gt;&gt;=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&amp;=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^=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|=</a:t>
            </a:r>
          </a:p>
          <a:p>
            <a:pPr>
              <a:lnSpc>
                <a:spcPct val="135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对指针操作的运算符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&amp;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、*</a:t>
            </a:r>
          </a:p>
          <a:p>
            <a:pPr>
              <a:lnSpc>
                <a:spcPct val="135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分别表示取地址运算符和间接寻址运算符。</a:t>
            </a:r>
          </a:p>
          <a:p>
            <a:pPr>
              <a:lnSpc>
                <a:spcPct val="135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例如：</a:t>
            </a:r>
          </a:p>
          <a:p>
            <a:pPr>
              <a:lnSpc>
                <a:spcPct val="135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pd=&amp;m;	/*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将变量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的地址赋给指针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pd*/</a:t>
            </a:r>
          </a:p>
          <a:p>
            <a:pPr>
              <a:lnSpc>
                <a:spcPct val="135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n=*pd;   /*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使用指针变量进行间接访问，将变量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的值赋给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n*/</a:t>
            </a:r>
          </a:p>
        </p:txBody>
      </p:sp>
      <p:sp>
        <p:nvSpPr>
          <p:cNvPr id="36867" name="Text Box 5"/>
          <p:cNvSpPr txBox="1"/>
          <p:nvPr/>
        </p:nvSpPr>
        <p:spPr>
          <a:xfrm>
            <a:off x="323850" y="5661025"/>
            <a:ext cx="7416800" cy="457200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注意：与运算符“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&amp;”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的两边必须为变量 。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25</a:t>
            </a:fld>
            <a:endParaRPr lang="en-US" altLang="zh-CN" sz="1400" b="0" dirty="0"/>
          </a:p>
        </p:txBody>
      </p:sp>
      <p:sp>
        <p:nvSpPr>
          <p:cNvPr id="37890" name="Text Box 2"/>
          <p:cNvSpPr txBox="1"/>
          <p:nvPr/>
        </p:nvSpPr>
        <p:spPr>
          <a:xfrm>
            <a:off x="2484438" y="692150"/>
            <a:ext cx="3744912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5.4 C51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的函数</a:t>
            </a:r>
          </a:p>
        </p:txBody>
      </p:sp>
      <p:sp>
        <p:nvSpPr>
          <p:cNvPr id="37891" name="Text Box 3"/>
          <p:cNvSpPr txBox="1"/>
          <p:nvPr/>
        </p:nvSpPr>
        <p:spPr>
          <a:xfrm>
            <a:off x="250825" y="1143000"/>
            <a:ext cx="8713788" cy="5203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int addfunc(int a, int b) 	/*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加法子函数*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{  int c;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c=a+b;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return(c);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void delay( )	/*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延时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10ms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子函数，假设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OSC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11.0592MHz*/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{  int ms=10;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while (ms--)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{   for (i=0; i&lt;115; i++); }  	/*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延时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1ms*/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26</a:t>
            </a:fld>
            <a:endParaRPr lang="en-US" altLang="zh-CN" sz="1400" b="0" dirty="0"/>
          </a:p>
        </p:txBody>
      </p:sp>
      <p:sp>
        <p:nvSpPr>
          <p:cNvPr id="38914" name="Text Box 2"/>
          <p:cNvSpPr txBox="1"/>
          <p:nvPr/>
        </p:nvSpPr>
        <p:spPr>
          <a:xfrm>
            <a:off x="611188" y="1268413"/>
            <a:ext cx="7416800" cy="33416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void main()				/*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主函数*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{  int x=10, y=3, z;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z=addfunc(x, y);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delay();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  <a:p>
            <a:pPr>
              <a:lnSpc>
                <a:spcPct val="140000"/>
              </a:lnSpc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27</a:t>
            </a:fld>
            <a:endParaRPr lang="en-US" altLang="zh-CN" sz="1400" b="0" dirty="0"/>
          </a:p>
        </p:txBody>
      </p:sp>
      <p:sp>
        <p:nvSpPr>
          <p:cNvPr id="310274" name="Text Box 2"/>
          <p:cNvSpPr txBox="1"/>
          <p:nvPr/>
        </p:nvSpPr>
        <p:spPr>
          <a:xfrm>
            <a:off x="250825" y="908050"/>
            <a:ext cx="8713788" cy="6076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5.4.1 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函数的分类</a:t>
            </a:r>
          </a:p>
        </p:txBody>
      </p:sp>
      <p:sp>
        <p:nvSpPr>
          <p:cNvPr id="310275" name="Text Box 3"/>
          <p:cNvSpPr txBox="1"/>
          <p:nvPr/>
        </p:nvSpPr>
        <p:spPr>
          <a:xfrm>
            <a:off x="323850" y="3573463"/>
            <a:ext cx="7993063" cy="162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函数的形式上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看，函数分两类：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）无参函数。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）有参函数。</a:t>
            </a:r>
          </a:p>
        </p:txBody>
      </p:sp>
      <p:sp>
        <p:nvSpPr>
          <p:cNvPr id="310277" name="Text Box 5"/>
          <p:cNvSpPr txBox="1"/>
          <p:nvPr/>
        </p:nvSpPr>
        <p:spPr>
          <a:xfrm>
            <a:off x="250825" y="1628775"/>
            <a:ext cx="8713788" cy="16414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从用户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使用的角度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看，函数有两种：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）标准函数，即库函数。如“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math.h”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、“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intrins.h”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等。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）用户自己定义的函数。如例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5-1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中的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addfunc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delay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28</a:t>
            </a:fld>
            <a:endParaRPr lang="en-US" altLang="zh-CN" sz="1400" b="0" dirty="0"/>
          </a:p>
        </p:txBody>
      </p:sp>
      <p:sp>
        <p:nvSpPr>
          <p:cNvPr id="40962" name="Text Box 2"/>
          <p:cNvSpPr txBox="1"/>
          <p:nvPr/>
        </p:nvSpPr>
        <p:spPr>
          <a:xfrm>
            <a:off x="250825" y="765175"/>
            <a:ext cx="2592388" cy="5708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5.4.2 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函数的定义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3" name="Rectangle 3"/>
          <p:cNvSpPr/>
          <p:nvPr/>
        </p:nvSpPr>
        <p:spPr>
          <a:xfrm>
            <a:off x="4572000" y="4575175"/>
            <a:ext cx="4572000" cy="1917700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int addfunc(int a, int b) 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{  int c;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c=a+b;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return(c);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40964" name="Text Box 4"/>
          <p:cNvSpPr txBox="1"/>
          <p:nvPr/>
        </p:nvSpPr>
        <p:spPr>
          <a:xfrm>
            <a:off x="179388" y="3141663"/>
            <a:ext cx="5257800" cy="1516062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有参函数定义的一般形式：</a:t>
            </a: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类型标识符 函数名（形式参数列表）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{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函数体语句；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40965" name="Text Box 5"/>
          <p:cNvSpPr txBox="1"/>
          <p:nvPr/>
        </p:nvSpPr>
        <p:spPr>
          <a:xfrm>
            <a:off x="179388" y="1484313"/>
            <a:ext cx="5257800" cy="1516062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无参函数的定义形式：</a:t>
            </a: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类型标识符 函数名（）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函数体语句；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29</a:t>
            </a:fld>
            <a:endParaRPr lang="en-US" altLang="zh-CN" sz="1400" b="0" dirty="0"/>
          </a:p>
        </p:txBody>
      </p:sp>
      <p:sp>
        <p:nvSpPr>
          <p:cNvPr id="41986" name="Text Box 2"/>
          <p:cNvSpPr txBox="1"/>
          <p:nvPr/>
        </p:nvSpPr>
        <p:spPr>
          <a:xfrm>
            <a:off x="71438" y="836613"/>
            <a:ext cx="9072562" cy="42259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5.4.3 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函数的调用</a:t>
            </a:r>
          </a:p>
          <a:p>
            <a:pPr>
              <a:lnSpc>
                <a:spcPct val="140000"/>
              </a:lnSpc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三种函数调用方式：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）函数语句：如 “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delay();” 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）函数表达式：如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z=addfunc(x,y);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）函数参数：如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m= addfunc(z, addfunc(x,y));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此时函数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addfunc(x,y)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的值作为函数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addfunc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的另一个形参，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的值为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z+(x+y)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30</a:t>
            </a:fld>
            <a:endParaRPr lang="en-US" altLang="zh-CN" sz="1400" b="0" dirty="0"/>
          </a:p>
        </p:txBody>
      </p:sp>
      <p:sp>
        <p:nvSpPr>
          <p:cNvPr id="43010" name="Text Box 2"/>
          <p:cNvSpPr txBox="1"/>
          <p:nvPr/>
        </p:nvSpPr>
        <p:spPr>
          <a:xfrm>
            <a:off x="323850" y="981075"/>
            <a:ext cx="820896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5.4.4 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对被调用函数的说明</a:t>
            </a:r>
          </a:p>
        </p:txBody>
      </p:sp>
      <p:sp>
        <p:nvSpPr>
          <p:cNvPr id="43011" name="Text Box 3"/>
          <p:cNvSpPr txBox="1"/>
          <p:nvPr/>
        </p:nvSpPr>
        <p:spPr>
          <a:xfrm>
            <a:off x="395288" y="1773238"/>
            <a:ext cx="8353425" cy="3670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若被调用函数出现在主调函数之前，可以不对被调用函数说明。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若被调用函数出现在主调函数之后，在主调函数前应对被调用函数做出说明，形式为：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返回值类型   被调函数名（形参列表）；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如：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void delay( );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int addfunc(int, int);       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31</a:t>
            </a:fld>
            <a:endParaRPr lang="en-US" altLang="zh-CN" sz="1400" b="0" dirty="0"/>
          </a:p>
        </p:txBody>
      </p:sp>
      <p:sp>
        <p:nvSpPr>
          <p:cNvPr id="305154" name="Text Box 2"/>
          <p:cNvSpPr txBox="1"/>
          <p:nvPr/>
        </p:nvSpPr>
        <p:spPr>
          <a:xfrm>
            <a:off x="2124075" y="692150"/>
            <a:ext cx="4608513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5.5 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单片机的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C51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语言编程</a:t>
            </a:r>
          </a:p>
        </p:txBody>
      </p:sp>
      <p:sp>
        <p:nvSpPr>
          <p:cNvPr id="305156" name="Rectangle 4"/>
          <p:cNvSpPr/>
          <p:nvPr/>
        </p:nvSpPr>
        <p:spPr>
          <a:xfrm>
            <a:off x="250825" y="1630680"/>
            <a:ext cx="8496300" cy="9772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5-2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40H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单元的高、低半字节的两个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BCD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码拆开，转换成相对应的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ASCII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码后分别存入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41H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42H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单元。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013" y="26988"/>
            <a:ext cx="5572125" cy="68310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6724650" y="1108075"/>
            <a:ext cx="1812925" cy="19383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    19H</a:t>
            </a:r>
          </a:p>
          <a:p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01H     09H</a:t>
            </a:r>
          </a:p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31H      39H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>
                <a:latin typeface="Times New Roman" panose="02020603050405020304" pitchFamily="18" charset="0"/>
              </a:rPr>
              <a:pPr lvl="0"/>
              <a:t>33</a:t>
            </a:fld>
            <a:endParaRPr lang="en-US" altLang="zh-CN" sz="1400" b="0" dirty="0">
              <a:latin typeface="Times New Roman" panose="02020603050405020304" pitchFamily="18" charset="0"/>
            </a:endParaRPr>
          </a:p>
        </p:txBody>
      </p:sp>
      <p:sp>
        <p:nvSpPr>
          <p:cNvPr id="305156" name="Rectangle 4"/>
          <p:cNvSpPr/>
          <p:nvPr/>
        </p:nvSpPr>
        <p:spPr>
          <a:xfrm>
            <a:off x="139700" y="573405"/>
            <a:ext cx="8496300" cy="9772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5-2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40H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单元的高、低半字节的两个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BCD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码拆开，转换成相对应的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ASCII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码后分别存入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41H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42H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单元。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05" y="1772920"/>
            <a:ext cx="8217535" cy="4609465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34</a:t>
            </a:fld>
            <a:endParaRPr lang="en-US" altLang="zh-CN" sz="1400" b="0" dirty="0"/>
          </a:p>
        </p:txBody>
      </p:sp>
      <p:sp>
        <p:nvSpPr>
          <p:cNvPr id="302082" name="Text Box 2"/>
          <p:cNvSpPr txBox="1"/>
          <p:nvPr/>
        </p:nvSpPr>
        <p:spPr>
          <a:xfrm>
            <a:off x="755650" y="2349500"/>
            <a:ext cx="5905500" cy="2940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#include &lt;absacc.h&gt;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void main()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{  char </a:t>
            </a: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xdata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i;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for (i=0; i&lt;0x20; i++) 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	  { XBYTE[0x2000+i]=0x10; } 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302083" name="Text Box 3"/>
          <p:cNvSpPr txBox="1"/>
          <p:nvPr/>
        </p:nvSpPr>
        <p:spPr>
          <a:xfrm>
            <a:off x="539750" y="1700213"/>
            <a:ext cx="20891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C51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源程序：</a:t>
            </a:r>
          </a:p>
        </p:txBody>
      </p:sp>
      <p:sp>
        <p:nvSpPr>
          <p:cNvPr id="302084" name="Text Box 4"/>
          <p:cNvSpPr txBox="1"/>
          <p:nvPr/>
        </p:nvSpPr>
        <p:spPr>
          <a:xfrm>
            <a:off x="179388" y="908050"/>
            <a:ext cx="8640762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5-3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把外部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RAM 2000H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201FH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单元的内容置为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10H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35</a:t>
            </a:fld>
            <a:endParaRPr lang="en-US" altLang="zh-CN" sz="1400" b="0" dirty="0"/>
          </a:p>
        </p:txBody>
      </p:sp>
      <p:sp>
        <p:nvSpPr>
          <p:cNvPr id="301058" name="Text Box 2"/>
          <p:cNvSpPr txBox="1"/>
          <p:nvPr/>
        </p:nvSpPr>
        <p:spPr>
          <a:xfrm>
            <a:off x="323850" y="836613"/>
            <a:ext cx="8208963" cy="101473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5-4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把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ROM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2000H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单元开始的数据块传送到外部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RAM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1000H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开始的存储区中，当数据为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时停止传送。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2542540"/>
            <a:ext cx="8143240" cy="4035425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36</a:t>
            </a:fld>
            <a:endParaRPr lang="en-US" altLang="zh-CN" sz="1400" b="0" dirty="0"/>
          </a:p>
        </p:txBody>
      </p:sp>
      <p:sp>
        <p:nvSpPr>
          <p:cNvPr id="52226" name="Text Box 2"/>
          <p:cNvSpPr txBox="1"/>
          <p:nvPr/>
        </p:nvSpPr>
        <p:spPr>
          <a:xfrm>
            <a:off x="250825" y="765175"/>
            <a:ext cx="8642350" cy="11988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5-5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如果使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LED0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LED7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依次被点亮，其延时时间分别为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1s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LED7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点亮之后又从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LED0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开始循环。试编写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C51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程序实现此功能，设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OSC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=11.0592MHz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pic>
        <p:nvPicPr>
          <p:cNvPr id="52227" name="Picture 3"/>
          <p:cNvPicPr>
            <a:picLocks noChangeAspect="1"/>
          </p:cNvPicPr>
          <p:nvPr/>
        </p:nvPicPr>
        <p:blipFill>
          <a:blip r:embed="rId2"/>
          <a:srcRect l="1576" t="37784" r="44449" b="14886"/>
          <a:stretch>
            <a:fillRect/>
          </a:stretch>
        </p:blipFill>
        <p:spPr>
          <a:xfrm>
            <a:off x="827088" y="2197100"/>
            <a:ext cx="7561262" cy="4660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6259194" y="5465445"/>
            <a:ext cx="2550160" cy="4603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R="0" defTabSz="914400" eaLnBrk="0" hangingPunct="0">
              <a:buClrTx/>
              <a:buSzTx/>
              <a:buFontTx/>
              <a:defRPr/>
            </a:pPr>
            <a:r>
              <a:rPr kumimoji="0" lang="en-US" altLang="en-US" kern="1200" cap="none" spc="0" normalizeH="0" baseline="0" noProof="1">
                <a:solidFill>
                  <a:schemeClr val="accent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kern="1200" cap="none" spc="0" normalizeH="0" baseline="0" noProof="1">
                <a:solidFill>
                  <a:schemeClr val="accent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P1)=0FEH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86715" y="5300980"/>
            <a:ext cx="1131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LED0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860290" y="5300980"/>
            <a:ext cx="1131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LED7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37</a:t>
            </a:fld>
            <a:endParaRPr lang="en-US" altLang="zh-CN" sz="1400" b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1052830"/>
            <a:ext cx="8100060" cy="4996815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38</a:t>
            </a:fld>
            <a:endParaRPr lang="en-US" altLang="zh-CN" sz="1400" b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05" y="1613535"/>
            <a:ext cx="8141970" cy="3630930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39</a:t>
            </a:fld>
            <a:endParaRPr lang="en-US" altLang="zh-CN" sz="1400" b="0" dirty="0"/>
          </a:p>
        </p:txBody>
      </p:sp>
      <p:sp>
        <p:nvSpPr>
          <p:cNvPr id="59394" name="Text Box 2"/>
          <p:cNvSpPr txBox="1"/>
          <p:nvPr/>
        </p:nvSpPr>
        <p:spPr>
          <a:xfrm>
            <a:off x="250825" y="765175"/>
            <a:ext cx="8642350" cy="11988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5-6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如果使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LED0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LED7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依次被点亮，其延时时间分别为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1s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2s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…8s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LED7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点亮之后又从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LED0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开始循环。试编写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C51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程序实现此功能，设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OSC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=11.0592MHz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pic>
        <p:nvPicPr>
          <p:cNvPr id="59395" name="Picture 3"/>
          <p:cNvPicPr>
            <a:picLocks noChangeAspect="1"/>
          </p:cNvPicPr>
          <p:nvPr/>
        </p:nvPicPr>
        <p:blipFill>
          <a:blip r:embed="rId2"/>
          <a:srcRect l="1576" t="37784" r="44449" b="14886"/>
          <a:stretch>
            <a:fillRect/>
          </a:stretch>
        </p:blipFill>
        <p:spPr>
          <a:xfrm>
            <a:off x="900113" y="2197100"/>
            <a:ext cx="7561262" cy="4660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86715" y="5300980"/>
            <a:ext cx="1131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LED0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860290" y="5300980"/>
            <a:ext cx="1131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LED7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40</a:t>
            </a:fld>
            <a:endParaRPr lang="en-US" altLang="zh-CN" sz="1400" b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836295"/>
            <a:ext cx="8364220" cy="5628640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41</a:t>
            </a:fld>
            <a:endParaRPr lang="en-US" altLang="zh-CN" sz="1400" b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15" y="1268730"/>
            <a:ext cx="8214995" cy="4442460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42</a:t>
            </a:fld>
            <a:endParaRPr lang="en-US" altLang="zh-CN" sz="1400" b="0" dirty="0"/>
          </a:p>
        </p:txBody>
      </p:sp>
      <p:sp>
        <p:nvSpPr>
          <p:cNvPr id="319490" name="Rectangle 2"/>
          <p:cNvSpPr/>
          <p:nvPr/>
        </p:nvSpPr>
        <p:spPr>
          <a:xfrm>
            <a:off x="2051050" y="835501"/>
            <a:ext cx="5184775" cy="581660"/>
          </a:xfrm>
          <a:prstGeom prst="rect">
            <a:avLst/>
          </a:prstGeom>
          <a:noFill/>
          <a:ln w="9525">
            <a:noFill/>
          </a:ln>
        </p:spPr>
        <p:txBody>
          <a:bodyPr tIns="76176" bIns="76176" anchor="ctr" anchorCtr="0">
            <a:spAutoFit/>
          </a:bodyPr>
          <a:lstStyle/>
          <a:p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5.6  C51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和汇编语言的混合编程</a:t>
            </a:r>
          </a:p>
        </p:txBody>
      </p:sp>
      <p:sp>
        <p:nvSpPr>
          <p:cNvPr id="319491" name="Rectangle 3"/>
          <p:cNvSpPr/>
          <p:nvPr/>
        </p:nvSpPr>
        <p:spPr>
          <a:xfrm>
            <a:off x="2124075" y="1844675"/>
            <a:ext cx="4824413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algn="ctr"/>
            <a:r>
              <a:rPr lang="zh-CN" altLang="en-US" b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参数传递的寄存器选择</a:t>
            </a:r>
            <a:endParaRPr lang="zh-CN" altLang="en-US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19625" name="Group 13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23850" y="2420938"/>
          <a:ext cx="8820150" cy="1828800"/>
        </p:xfrm>
        <a:graphic>
          <a:graphicData uri="http://schemas.openxmlformats.org/drawingml/2006/table">
            <a:tbl>
              <a:tblPr/>
              <a:tblGrid>
                <a:gridCol w="2016125"/>
                <a:gridCol w="1293813"/>
                <a:gridCol w="1528762"/>
                <a:gridCol w="1816100"/>
                <a:gridCol w="216535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参数类型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char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int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long,float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一般指针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第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个参数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R6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R4-R7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R1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R2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第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个参数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R4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R4-R7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R1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R2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第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个参数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R2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无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R1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R2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</a:tbl>
          </a:graphicData>
        </a:graphic>
      </p:graphicFrame>
      <p:sp>
        <p:nvSpPr>
          <p:cNvPr id="62500" name="Text Box 138"/>
          <p:cNvSpPr txBox="1"/>
          <p:nvPr/>
        </p:nvSpPr>
        <p:spPr>
          <a:xfrm>
            <a:off x="611188" y="4437063"/>
            <a:ext cx="453707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9627" name="Text Box 139"/>
          <p:cNvSpPr txBox="1"/>
          <p:nvPr/>
        </p:nvSpPr>
        <p:spPr>
          <a:xfrm>
            <a:off x="323850" y="4292600"/>
            <a:ext cx="8640763" cy="1990725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如果定义：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char a=10, b=20;</a:t>
            </a: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参数传递给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R7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参数传递给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R5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。如果传递参数寄存器不够用，可以使用存储器传送，通过指针取得参数。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43</a:t>
            </a:fld>
            <a:endParaRPr lang="en-US" altLang="zh-CN" sz="1400" b="0" dirty="0"/>
          </a:p>
        </p:txBody>
      </p:sp>
      <p:sp>
        <p:nvSpPr>
          <p:cNvPr id="63490" name="Text Box 3"/>
          <p:cNvSpPr txBox="1"/>
          <p:nvPr/>
        </p:nvSpPr>
        <p:spPr>
          <a:xfrm>
            <a:off x="179388" y="908050"/>
            <a:ext cx="7848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对于有参函数的参数返回值与寄存器之间的传递规律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</a:p>
        </p:txBody>
      </p:sp>
      <p:sp>
        <p:nvSpPr>
          <p:cNvPr id="63491" name="Rectangle 4"/>
          <p:cNvSpPr/>
          <p:nvPr/>
        </p:nvSpPr>
        <p:spPr>
          <a:xfrm>
            <a:off x="2268538" y="1771650"/>
            <a:ext cx="5602287" cy="4603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表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5-4 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函数返回值的寄存器</a:t>
            </a:r>
            <a:endParaRPr lang="zh-CN" altLang="en-US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18606" name="Group 14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0" y="2420938"/>
          <a:ext cx="8748713" cy="3932237"/>
        </p:xfrm>
        <a:graphic>
          <a:graphicData uri="http://schemas.openxmlformats.org/drawingml/2006/table">
            <a:tbl>
              <a:tblPr/>
              <a:tblGrid>
                <a:gridCol w="2481263"/>
                <a:gridCol w="1752600"/>
                <a:gridCol w="4514850"/>
              </a:tblGrid>
              <a:tr h="4572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返回值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寄存器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说明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4572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bit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进位标志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CY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4572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(unsigned) char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4572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(unsigned) int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R6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高位在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R6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，低位在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4572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(unsigned) long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R4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高位在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R4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，低位在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8230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float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R4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32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IEEE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格式，指数和符号位在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8230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指针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R1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R2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R3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放存储器类型，高位在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R2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，低位在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44</a:t>
            </a:fld>
            <a:endParaRPr lang="en-US" altLang="zh-CN" sz="1400" b="0" dirty="0"/>
          </a:p>
        </p:txBody>
      </p:sp>
      <p:sp>
        <p:nvSpPr>
          <p:cNvPr id="64514" name="Text Box 2"/>
          <p:cNvSpPr txBox="1"/>
          <p:nvPr/>
        </p:nvSpPr>
        <p:spPr>
          <a:xfrm>
            <a:off x="395288" y="908050"/>
            <a:ext cx="78486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5-5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采用混合编程方法实现例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5-4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的功能。</a:t>
            </a:r>
          </a:p>
        </p:txBody>
      </p:sp>
      <p:sp>
        <p:nvSpPr>
          <p:cNvPr id="64515" name="Text Box 3"/>
          <p:cNvSpPr txBox="1"/>
          <p:nvPr/>
        </p:nvSpPr>
        <p:spPr>
          <a:xfrm>
            <a:off x="323850" y="1628775"/>
            <a:ext cx="8424863" cy="26479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第一步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：在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keil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中编写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C51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程序，在需要汇编的地方先写两行代码：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#pragma asm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…….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汇编程序内容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#pragma endasm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45</a:t>
            </a:fld>
            <a:endParaRPr lang="en-US" altLang="zh-CN" sz="1400" b="0" dirty="0"/>
          </a:p>
        </p:txBody>
      </p:sp>
      <p:sp>
        <p:nvSpPr>
          <p:cNvPr id="65538" name="Text Box 2"/>
          <p:cNvSpPr txBox="1"/>
          <p:nvPr/>
        </p:nvSpPr>
        <p:spPr>
          <a:xfrm>
            <a:off x="323850" y="692150"/>
            <a:ext cx="8208963" cy="57499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#include &lt;reg51.h&gt;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#include &lt;intrins.h&gt;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unsigned char x;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unsigned char led;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#define led P1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void delayxs(char);			//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子函数声明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void main()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 led=0xfe;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while(1)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{   for (x=1;x&lt;9;x++)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{ delayxs(x);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led=_crol_(led,1);}		//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循环左移函数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46</a:t>
            </a:fld>
            <a:endParaRPr lang="en-US" altLang="zh-CN" sz="1400" b="0" dirty="0"/>
          </a:p>
        </p:txBody>
      </p:sp>
      <p:sp>
        <p:nvSpPr>
          <p:cNvPr id="66562" name="Text Box 2"/>
          <p:cNvSpPr txBox="1"/>
          <p:nvPr/>
        </p:nvSpPr>
        <p:spPr>
          <a:xfrm>
            <a:off x="250825" y="631825"/>
            <a:ext cx="8064500" cy="6226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void delayxs( char y)				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endParaRPr lang="pt-BR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pt-BR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#pragma asm</a:t>
            </a:r>
          </a:p>
          <a:p>
            <a:pPr>
              <a:lnSpc>
                <a:spcPct val="140000"/>
              </a:lnSpc>
            </a:pPr>
            <a:r>
              <a:rPr lang="pt-BR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DELAY: 	MOV  R6, #10  		//1s</a:t>
            </a:r>
            <a:r>
              <a:rPr lang="zh-CN" altLang="pt-BR" dirty="0">
                <a:latin typeface="Times New Roman" panose="02020603050405020304" pitchFamily="18" charset="0"/>
                <a:ea typeface="宋体" panose="02010600030101010101" pitchFamily="2" charset="-122"/>
              </a:rPr>
              <a:t>延时程序</a:t>
            </a:r>
          </a:p>
          <a:p>
            <a:pPr>
              <a:lnSpc>
                <a:spcPct val="140000"/>
              </a:lnSpc>
            </a:pPr>
            <a:r>
              <a:rPr lang="pt-BR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DELAY0: 	MOV  R5, #200    </a:t>
            </a:r>
          </a:p>
          <a:p>
            <a:pPr>
              <a:lnSpc>
                <a:spcPct val="140000"/>
              </a:lnSpc>
            </a:pPr>
            <a:r>
              <a:rPr lang="pt-BR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DELAY1: 	MOV  R4, #230                  //11.0592MHz</a:t>
            </a:r>
            <a:r>
              <a:rPr lang="zh-CN" altLang="pt-BR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>
              <a:lnSpc>
                <a:spcPct val="140000"/>
              </a:lnSpc>
            </a:pPr>
            <a:r>
              <a:rPr lang="pt-BR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DELAY2: 	DJNZ  R4, DELAY2 </a:t>
            </a:r>
          </a:p>
          <a:p>
            <a:pPr>
              <a:lnSpc>
                <a:spcPct val="140000"/>
              </a:lnSpc>
            </a:pPr>
            <a:r>
              <a:rPr lang="pt-BR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DJNZ  R5, DELAY1 </a:t>
            </a:r>
          </a:p>
          <a:p>
            <a:pPr>
              <a:lnSpc>
                <a:spcPct val="140000"/>
              </a:lnSpc>
            </a:pPr>
            <a:r>
              <a:rPr lang="pt-BR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DJNZ  R6, DELAY0</a:t>
            </a:r>
          </a:p>
          <a:p>
            <a:pPr>
              <a:lnSpc>
                <a:spcPct val="140000"/>
              </a:lnSpc>
            </a:pPr>
            <a:r>
              <a:rPr lang="pt-BR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DJNZ  R7, DELAY</a:t>
            </a:r>
          </a:p>
          <a:p>
            <a:pPr>
              <a:lnSpc>
                <a:spcPct val="140000"/>
              </a:lnSpc>
            </a:pPr>
            <a:r>
              <a:rPr lang="pt-BR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#pragma endasm</a:t>
            </a:r>
          </a:p>
          <a:p>
            <a:pPr>
              <a:lnSpc>
                <a:spcPct val="140000"/>
              </a:lnSpc>
            </a:pPr>
            <a:r>
              <a:rPr lang="pt-BR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47</a:t>
            </a:fld>
            <a:endParaRPr lang="en-US" altLang="zh-CN" sz="1400" b="0" dirty="0"/>
          </a:p>
        </p:txBody>
      </p:sp>
      <p:sp>
        <p:nvSpPr>
          <p:cNvPr id="67586" name="Text Box 4"/>
          <p:cNvSpPr txBox="1"/>
          <p:nvPr/>
        </p:nvSpPr>
        <p:spPr>
          <a:xfrm>
            <a:off x="251143" y="980440"/>
            <a:ext cx="8064500" cy="24653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第二步</a:t>
            </a:r>
            <a:r>
              <a:rPr lang="zh-CN" altLang="pt-BR" dirty="0">
                <a:latin typeface="Times New Roman" panose="02020603050405020304" pitchFamily="18" charset="0"/>
                <a:ea typeface="宋体" panose="02010600030101010101" pitchFamily="2" charset="-122"/>
              </a:rPr>
              <a:t>：保存文件名为</a:t>
            </a:r>
            <a:r>
              <a:rPr lang="zh-CN" altLang="pt-BR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“*</a:t>
            </a:r>
            <a:r>
              <a:rPr lang="pt-BR" altLang="zh-CN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.c”</a:t>
            </a:r>
            <a:r>
              <a:rPr lang="zh-CN" altLang="pt-BR" dirty="0">
                <a:latin typeface="Times New Roman" panose="02020603050405020304" pitchFamily="18" charset="0"/>
                <a:ea typeface="宋体" panose="02010600030101010101" pitchFamily="2" charset="-122"/>
              </a:rPr>
              <a:t>。假设该文件名为“</a:t>
            </a:r>
            <a:r>
              <a:rPr lang="pt-BR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li6-5.c”</a:t>
            </a:r>
            <a:r>
              <a:rPr lang="zh-CN" altLang="pt-BR" dirty="0">
                <a:latin typeface="Times New Roman" panose="02020603050405020304" pitchFamily="18" charset="0"/>
                <a:ea typeface="宋体" panose="02010600030101010101" pitchFamily="2" charset="-122"/>
              </a:rPr>
              <a:t>，在项目中加入含汇编语言的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.c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文件，鼠标点在“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li6-5.c”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处后右击，在出现的菜单中选择“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options for file ***”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，在弹出的对话框中将“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Generate Assembler SRC File”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和“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Assemble SRC File”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两项选实。</a:t>
            </a:r>
          </a:p>
        </p:txBody>
      </p:sp>
      <p:sp>
        <p:nvSpPr>
          <p:cNvPr id="68610" name="Text Box 4"/>
          <p:cNvSpPr txBox="1"/>
          <p:nvPr/>
        </p:nvSpPr>
        <p:spPr>
          <a:xfrm>
            <a:off x="179388" y="3860800"/>
            <a:ext cx="8424862" cy="20097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第三步：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装入库文件。根据所选择的编译模式，在工程中添加相应的库文件（如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small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模式下，库文件为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C51S.Lib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）。该文件在安装盘下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:keil\C51\LIB\C51S.Lib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。含有汇编语言的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.c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文件与其它文件的图标不一样。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48</a:t>
            </a:fld>
            <a:endParaRPr lang="en-US" altLang="zh-CN" sz="1400" b="0" dirty="0"/>
          </a:p>
        </p:txBody>
      </p:sp>
      <p:sp>
        <p:nvSpPr>
          <p:cNvPr id="70658" name="Text Box 2"/>
          <p:cNvSpPr txBox="1"/>
          <p:nvPr/>
        </p:nvSpPr>
        <p:spPr>
          <a:xfrm>
            <a:off x="251460" y="1124585"/>
            <a:ext cx="8207375" cy="21583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最后一步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：编译与连接。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将程序生成的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li6-5.hex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文件加载到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Proteus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中仿真，在软件运行中按“”暂停，然后在“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Debug”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菜单下点击“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8051 CPU registers-U1”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，可以查看各个寄存器的参数传递状态。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en-US" altLang="zh-CN" sz="1400" b="0" dirty="0"/>
              <a:pPr lvl="0"/>
              <a:t>49</a:t>
            </a:fld>
            <a:endParaRPr lang="en-US" altLang="zh-CN" sz="1400" b="0" dirty="0"/>
          </a:p>
        </p:txBody>
      </p:sp>
      <p:sp>
        <p:nvSpPr>
          <p:cNvPr id="72706" name="Text Box 2"/>
          <p:cNvSpPr txBox="1"/>
          <p:nvPr/>
        </p:nvSpPr>
        <p:spPr>
          <a:xfrm>
            <a:off x="250825" y="1052513"/>
            <a:ext cx="8496300" cy="34147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本章小结</a:t>
            </a: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    本章介绍了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C51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的基本结构、基本数据类型、存储类型以及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C51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的变量定义和对单片机内部功能寄存器及引脚等的定义，并简要介绍了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C51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语言的运算符号等基础知识，最后通过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C51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以及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语言与汇编语言的混合编程介绍了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C51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语言运用的基本方法。除了本章列举的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while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for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语句外，还有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if…else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语句、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switch/case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语句等，其用法同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ANSI C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相同。</a:t>
            </a:r>
          </a:p>
        </p:txBody>
      </p:sp>
      <p:sp>
        <p:nvSpPr>
          <p:cNvPr id="72707" name="Rectangle 3"/>
          <p:cNvSpPr/>
          <p:nvPr/>
        </p:nvSpPr>
        <p:spPr>
          <a:xfrm>
            <a:off x="323850" y="4941888"/>
            <a:ext cx="5400675" cy="6451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本章的重点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Keil C51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的编程方法。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d6cb427-fede-49fb-84b6-07c7af29ccb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483101460"/>
  <p:tag name="KSO_WM_UNIT_PLACING_PICTURE_USER_VIEWPORT" val="{&quot;height&quot;:10260,&quot;width&quot;:837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dc40bb1-d6d0-4739-8636-9723a170598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5451acf-6942-42ea-9b77-7447df1189d4}"/>
</p:tagLst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99"/>
      </a:hlink>
      <a:folHlink>
        <a:srgbClr val="0000FF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2277</Words>
  <Application>WPS 演示</Application>
  <PresentationFormat>全屏显示(4:3)</PresentationFormat>
  <Paragraphs>401</Paragraphs>
  <Slides>49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51" baseType="lpstr">
      <vt:lpstr>2_默认设计模板</vt:lpstr>
      <vt:lpstr>暗香扑面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幻灯片 40</vt:lpstr>
      <vt:lpstr>幻灯片 41</vt:lpstr>
      <vt:lpstr>幻灯片 42</vt:lpstr>
      <vt:lpstr>幻灯片 43</vt:lpstr>
      <vt:lpstr>幻灯片 44</vt:lpstr>
      <vt:lpstr>幻灯片 45</vt:lpstr>
      <vt:lpstr>幻灯片 46</vt:lpstr>
      <vt:lpstr>幻灯片 47</vt:lpstr>
      <vt:lpstr>幻灯片 48</vt:lpstr>
      <vt:lpstr>幻灯片 49</vt:lpstr>
    </vt:vector>
  </TitlesOfParts>
  <Company>西安火炬电脑公司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guowenchuan</dc:creator>
  <cp:lastModifiedBy>asus</cp:lastModifiedBy>
  <cp:revision>129</cp:revision>
  <dcterms:created xsi:type="dcterms:W3CDTF">2003-01-20T06:37:00Z</dcterms:created>
  <dcterms:modified xsi:type="dcterms:W3CDTF">2022-09-04T13:10:52Z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2052-11.1.0.11194</vt:lpwstr>
  </property>
  <property fmtid="{D5CDD505-2E9C-101B-9397-08002B2CF9AE}" pid="3" name="ICV">
    <vt:lpwstr>3CF78600CC6B47B39FBC89AC7BFA611B</vt:lpwstr>
  </property>
</Properties>
</file>