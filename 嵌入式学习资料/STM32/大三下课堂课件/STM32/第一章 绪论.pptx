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44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6EAF-4E52-4A92-A49A-B6BE8FD9D4E1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8B386-C275-4654-B8B8-803DE09840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88904EE1-6BA2-4432-B4A4-8EE150C804F7}" type="datetimeFigureOut">
              <a:rPr lang="zh-CN" altLang="en-US" smtClean="0"/>
              <a:t>2020/9/8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单片机原理与应用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第一章 嵌入式系统概述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dirty="0" smtClean="0"/>
              <a:t>1.1 </a:t>
            </a:r>
            <a:r>
              <a:rPr lang="zh-CN" altLang="en-US" sz="3200" b="1" dirty="0" smtClean="0"/>
              <a:t>嵌入式系统简介</a:t>
            </a:r>
            <a:r>
              <a:rPr lang="en-US" altLang="zh-CN" sz="3200" b="1" dirty="0" smtClean="0"/>
              <a:t/>
            </a:r>
            <a:br>
              <a:rPr lang="en-US" altLang="zh-CN" sz="3200" b="1" dirty="0" smtClean="0"/>
            </a:br>
            <a:r>
              <a:rPr lang="en-US" altLang="zh-CN" sz="3200" b="1" dirty="0" smtClean="0"/>
              <a:t>1.</a:t>
            </a:r>
            <a:r>
              <a:rPr lang="zh-CN" altLang="en-US" sz="3200" b="1" dirty="0" smtClean="0"/>
              <a:t>定义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800" b="1" dirty="0" smtClean="0"/>
              <a:t>        嵌入式</a:t>
            </a:r>
            <a:r>
              <a:rPr lang="zh-CN" altLang="en-US" sz="1800" b="1" dirty="0" smtClean="0"/>
              <a:t>系统通常定义为以应用为中心，以计算机技术为基础，软件、硬件可裁剪，对功能、可靠性、成本、体积、功耗严格要求的专用计算机系统。他主要有嵌入式微处理器、外围硬件车陂、嵌入式操作系统以及用户应用软件等部分组成，勇于实现对其他设备的控制、监视和管理等功能，嵌入式系统通常嵌入在主要设备中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endParaRPr lang="en-US" altLang="zh-CN" sz="1800" b="1" dirty="0" smtClean="0"/>
          </a:p>
          <a:p>
            <a:r>
              <a:rPr lang="zh-CN" altLang="en-US" sz="1800" b="1" dirty="0" smtClean="0"/>
              <a:t>        嵌入式</a:t>
            </a:r>
            <a:r>
              <a:rPr lang="zh-CN" altLang="en-US" sz="1800" b="1" dirty="0" smtClean="0"/>
              <a:t>系统是一个针对特定的应用而量身定做的专用计算机系统，它具有嵌入性、专业性、计算机系统的特点。</a:t>
            </a:r>
            <a:endParaRPr lang="zh-CN" altLang="en-US" sz="1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928934"/>
            <a:ext cx="3857652" cy="2618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dirty="0" smtClean="0"/>
              <a:t>2.</a:t>
            </a:r>
            <a:r>
              <a:rPr lang="zh-CN" altLang="en-US" sz="3200" b="1" dirty="0" smtClean="0"/>
              <a:t>特点</a:t>
            </a:r>
            <a:endParaRPr lang="zh-CN" alt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9" y="1428736"/>
            <a:ext cx="8685551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1" dirty="0" smtClean="0"/>
              <a:t>三个</a:t>
            </a:r>
            <a:r>
              <a:rPr lang="zh-CN" altLang="en-US" b="1" dirty="0" smtClean="0"/>
              <a:t>基本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 smtClean="0"/>
              <a:t>“嵌入性”的特点：由于是嵌入到对象系统中，必须满足对象系统的环境要求，如物理环境</a:t>
            </a:r>
            <a:r>
              <a:rPr lang="en-US" b="1" dirty="0" smtClean="0"/>
              <a:t>(</a:t>
            </a:r>
            <a:r>
              <a:rPr lang="zh-CN" altLang="en-US" b="1" dirty="0" smtClean="0"/>
              <a:t>小型</a:t>
            </a:r>
            <a:r>
              <a:rPr lang="en-US" b="1" dirty="0" smtClean="0"/>
              <a:t>)</a:t>
            </a:r>
            <a:r>
              <a:rPr lang="zh-CN" altLang="en-US" b="1" dirty="0" smtClean="0"/>
              <a:t>、电气环境</a:t>
            </a:r>
            <a:r>
              <a:rPr lang="en-US" b="1" dirty="0" smtClean="0"/>
              <a:t>(</a:t>
            </a:r>
            <a:r>
              <a:rPr lang="zh-CN" altLang="en-US" b="1" dirty="0" smtClean="0"/>
              <a:t>可靠</a:t>
            </a:r>
            <a:r>
              <a:rPr lang="en-US" b="1" dirty="0" smtClean="0"/>
              <a:t>)</a:t>
            </a:r>
            <a:r>
              <a:rPr lang="zh-CN" altLang="en-US" b="1" dirty="0" smtClean="0"/>
              <a:t>、成本</a:t>
            </a:r>
            <a:r>
              <a:rPr lang="en-US" b="1" dirty="0" smtClean="0"/>
              <a:t>(</a:t>
            </a:r>
            <a:r>
              <a:rPr lang="zh-CN" altLang="en-US" b="1" dirty="0" smtClean="0"/>
              <a:t>低廉</a:t>
            </a:r>
            <a:r>
              <a:rPr lang="en-US" b="1" dirty="0" smtClean="0"/>
              <a:t>)</a:t>
            </a:r>
            <a:r>
              <a:rPr lang="zh-CN" altLang="en-US" b="1" dirty="0" smtClean="0"/>
              <a:t>等要求。</a:t>
            </a:r>
          </a:p>
          <a:p>
            <a:r>
              <a:rPr lang="zh-CN" altLang="en-US" b="1" dirty="0" smtClean="0"/>
              <a:t>“专用型”的特点：软硬件的裁剪性，满足对象要求的最小软、硬件配置等。</a:t>
            </a:r>
          </a:p>
          <a:p>
            <a:r>
              <a:rPr lang="zh-CN" altLang="en-US" b="1" dirty="0" smtClean="0"/>
              <a:t>“计算机系统”的特点：嵌入式系统必须是能满足对象系统控制要求的计算机系统。与上两个特点相呼应，这样的计算机必须配置有与对象相适应的接口电路。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 smtClean="0"/>
              <a:t>从用户和开发方的角度看嵌入式系统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 smtClean="0"/>
              <a:t>用户的要求：功能简单；专门完成一个或几个任务；要考虑体积、功耗、价格和开发周期等因素；实时与环境交互，安全可靠，软硬件的错误不能使系统崩溃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endParaRPr lang="en-US" altLang="zh-CN" sz="2400" b="1" dirty="0" smtClean="0"/>
          </a:p>
          <a:p>
            <a:endParaRPr lang="en-US" altLang="zh-CN" sz="2400" b="1" dirty="0" smtClean="0"/>
          </a:p>
          <a:p>
            <a:endParaRPr lang="en-US" altLang="zh-CN" sz="2400" b="1" dirty="0" smtClean="0"/>
          </a:p>
          <a:p>
            <a:endParaRPr lang="zh-CN" altLang="en-US" sz="2400" b="1" dirty="0" smtClean="0"/>
          </a:p>
          <a:p>
            <a:r>
              <a:rPr lang="zh-CN" altLang="en-US" sz="2400" b="1" dirty="0" smtClean="0"/>
              <a:t>开发方的要求：软硬件协同并行开发；多种多样的微处理器；实时操作系统的多样性</a:t>
            </a:r>
            <a:r>
              <a:rPr lang="en-US" sz="2400" b="1" dirty="0" smtClean="0"/>
              <a:t>(RTOS)</a:t>
            </a:r>
            <a:r>
              <a:rPr lang="zh-CN" altLang="en-US" sz="2400" b="1" dirty="0" smtClean="0"/>
              <a:t>；与台式机相比，克利用的系统组员很少；应用支持很少；要求特殊的开发工具；调试容易；软件、硬件都应很健壮。</a:t>
            </a:r>
            <a:endParaRPr lang="zh-CN" altLang="en-US" sz="24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753276"/>
            <a:ext cx="5572164" cy="1761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05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3.</a:t>
            </a:r>
            <a:r>
              <a:rPr lang="zh-CN" altLang="en-US" sz="3600" dirty="0" smtClean="0"/>
              <a:t>嵌入式系统</a:t>
            </a:r>
            <a:r>
              <a:rPr lang="zh-CN" altLang="en-US" sz="3600" dirty="0" smtClean="0"/>
              <a:t>分类</a:t>
            </a:r>
            <a:r>
              <a:rPr lang="en-US" altLang="zh-CN" sz="3600" dirty="0" smtClean="0"/>
              <a:t/>
            </a:r>
            <a:br>
              <a:rPr lang="en-US" altLang="zh-CN" sz="3600" dirty="0" smtClean="0"/>
            </a:br>
            <a:r>
              <a:rPr lang="en-US" sz="3600" b="1" dirty="0" smtClean="0">
                <a:solidFill>
                  <a:srgbClr val="C00000"/>
                </a:solidFill>
              </a:rPr>
              <a:t>(1).</a:t>
            </a:r>
            <a:r>
              <a:rPr lang="zh-CN" altLang="en-US" sz="3600" b="1" dirty="0" smtClean="0">
                <a:solidFill>
                  <a:srgbClr val="C00000"/>
                </a:solidFill>
              </a:rPr>
              <a:t>普林斯顿结构和哈佛结构</a:t>
            </a:r>
            <a:r>
              <a:rPr lang="en-US" altLang="zh-CN" sz="3600" dirty="0" smtClean="0">
                <a:solidFill>
                  <a:srgbClr val="C00000"/>
                </a:solidFill>
              </a:rPr>
              <a:t/>
            </a:r>
            <a:br>
              <a:rPr lang="en-US" altLang="zh-CN" sz="3600" dirty="0" smtClean="0">
                <a:solidFill>
                  <a:srgbClr val="C00000"/>
                </a:solidFill>
              </a:rPr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2000" b="1" dirty="0" smtClean="0">
                <a:solidFill>
                  <a:srgbClr val="7030A0"/>
                </a:solidFill>
              </a:rPr>
              <a:t>普林斯顿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结构</a:t>
            </a:r>
            <a:r>
              <a:rPr lang="zh-CN" altLang="en-US" sz="2000" dirty="0" smtClean="0"/>
              <a:t>是由一个</a:t>
            </a:r>
            <a:r>
              <a:rPr lang="en-US" sz="2000" dirty="0" smtClean="0"/>
              <a:t>CPU</a:t>
            </a:r>
            <a:r>
              <a:rPr lang="zh-CN" altLang="en-US" sz="2000" dirty="0" smtClean="0"/>
              <a:t>和单存储空间组成的</a:t>
            </a:r>
            <a:r>
              <a:rPr lang="zh-CN" altLang="en-US" sz="2000" dirty="0" smtClean="0"/>
              <a:t>，也</a:t>
            </a:r>
            <a:r>
              <a:rPr lang="zh-CN" altLang="en-US" sz="2000" dirty="0" smtClean="0"/>
              <a:t>称为冯诺依曼结构。这样由于在取指令和取数据时都是通过一条总线分时进行的，所以要根据所给的地址对其进行读</a:t>
            </a:r>
            <a:r>
              <a:rPr lang="en-US" sz="2000" dirty="0" smtClean="0"/>
              <a:t>\</a:t>
            </a:r>
            <a:r>
              <a:rPr lang="zh-CN" altLang="en-US" sz="2000" dirty="0" smtClean="0"/>
              <a:t>写操作。</a:t>
            </a:r>
          </a:p>
          <a:p>
            <a:pPr>
              <a:buNone/>
            </a:pPr>
            <a:r>
              <a:rPr lang="zh-CN" altLang="en-US" sz="2000" dirty="0" smtClean="0"/>
              <a:t>            当</a:t>
            </a:r>
            <a:r>
              <a:rPr lang="zh-CN" altLang="en-US" sz="2000" dirty="0" smtClean="0"/>
              <a:t>进行高速运算时，普林斯顿结构计算机不仅不能同时进行取指令和取数据，而且还会造成数据传输通道的瓶颈现象，其工作速度较慢。通常使用的</a:t>
            </a:r>
            <a:r>
              <a:rPr lang="en-US" sz="2000" dirty="0" smtClean="0"/>
              <a:t>ARM7</a:t>
            </a:r>
            <a:r>
              <a:rPr lang="zh-CN" altLang="en-US" sz="2000" dirty="0" smtClean="0"/>
              <a:t>就是属于普林斯顿结构。</a:t>
            </a:r>
            <a:endParaRPr lang="zh-CN" alt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000504"/>
            <a:ext cx="4857784" cy="2414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785794"/>
            <a:ext cx="8229600" cy="4686320"/>
          </a:xfr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rgbClr val="7030A0"/>
                </a:solidFill>
              </a:rPr>
              <a:t>哈佛体系结构</a:t>
            </a:r>
            <a:r>
              <a:rPr lang="en-US" altLang="zh-CN" dirty="0" smtClean="0">
                <a:solidFill>
                  <a:srgbClr val="C00000"/>
                </a:solidFill>
              </a:rPr>
              <a:t>.</a:t>
            </a:r>
            <a:r>
              <a:rPr lang="zh-CN" altLang="en-US" dirty="0" smtClean="0"/>
              <a:t>存储器</a:t>
            </a:r>
            <a:r>
              <a:rPr lang="zh-CN" altLang="en-US" dirty="0" smtClean="0"/>
              <a:t>分为数据和程序两个存储空间，有各自独立的程序总线和数据总线，可进行独立编址和独立访问。程序和数据可以并行完成。数据的吞吐量比普林斯顿结构提高了大约</a:t>
            </a:r>
            <a:r>
              <a:rPr lang="en-US" dirty="0" smtClean="0"/>
              <a:t>1</a:t>
            </a:r>
            <a:r>
              <a:rPr lang="zh-CN" altLang="en-US" dirty="0" smtClean="0"/>
              <a:t>倍。目前大部分</a:t>
            </a:r>
            <a:r>
              <a:rPr lang="en-US" dirty="0" smtClean="0"/>
              <a:t>DSP</a:t>
            </a:r>
            <a:r>
              <a:rPr lang="zh-CN" altLang="en-US" dirty="0" smtClean="0"/>
              <a:t>和</a:t>
            </a:r>
            <a:r>
              <a:rPr lang="en-US" dirty="0" smtClean="0"/>
              <a:t>ARM9</a:t>
            </a:r>
            <a:r>
              <a:rPr lang="zh-CN" altLang="en-US" dirty="0" smtClean="0"/>
              <a:t>微处理器都是采用哈佛结构。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714752"/>
            <a:ext cx="4286280" cy="3027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C00000"/>
                </a:solidFill>
              </a:rPr>
              <a:t>(2).CISC</a:t>
            </a:r>
            <a:r>
              <a:rPr lang="zh-CN" altLang="en-US" b="1" dirty="0" smtClean="0">
                <a:solidFill>
                  <a:srgbClr val="C00000"/>
                </a:solidFill>
              </a:rPr>
              <a:t>和</a:t>
            </a:r>
            <a:r>
              <a:rPr lang="en-US" b="1" dirty="0" smtClean="0">
                <a:solidFill>
                  <a:srgbClr val="C00000"/>
                </a:solidFill>
              </a:rPr>
              <a:t>RISC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u"/>
            </a:pPr>
            <a:r>
              <a:rPr lang="en-US" dirty="0" smtClean="0"/>
              <a:t>CISC(Complex Instruction Set Computers</a:t>
            </a:r>
            <a:r>
              <a:rPr lang="zh-CN" altLang="en-US" dirty="0" smtClean="0"/>
              <a:t>，复杂指令集计算集</a:t>
            </a:r>
            <a:r>
              <a:rPr lang="en-US" dirty="0" smtClean="0"/>
              <a:t>)</a:t>
            </a:r>
            <a:r>
              <a:rPr lang="zh-CN" altLang="en-US" dirty="0" smtClean="0"/>
              <a:t>和</a:t>
            </a:r>
            <a:r>
              <a:rPr lang="en-US" dirty="0" smtClean="0"/>
              <a:t>RISC(Reduced Instruction Set Computers)</a:t>
            </a:r>
            <a:r>
              <a:rPr lang="zh-CN" altLang="en-US" dirty="0" smtClean="0"/>
              <a:t>是两大类主流的</a:t>
            </a:r>
            <a:r>
              <a:rPr lang="en-US" dirty="0" smtClean="0"/>
              <a:t>CPU</a:t>
            </a:r>
            <a:r>
              <a:rPr lang="zh-CN" altLang="en-US" dirty="0" smtClean="0"/>
              <a:t>指令集类型，其中</a:t>
            </a:r>
            <a:r>
              <a:rPr lang="en-US" dirty="0" smtClean="0"/>
              <a:t>CISC</a:t>
            </a:r>
            <a:r>
              <a:rPr lang="zh-CN" altLang="en-US" dirty="0" smtClean="0"/>
              <a:t>以</a:t>
            </a:r>
            <a:r>
              <a:rPr lang="en-US" dirty="0" smtClean="0"/>
              <a:t>Intel</a:t>
            </a:r>
            <a:r>
              <a:rPr lang="zh-CN" altLang="en-US" dirty="0" smtClean="0"/>
              <a:t>，</a:t>
            </a:r>
            <a:r>
              <a:rPr lang="en-US" dirty="0" smtClean="0"/>
              <a:t>AMD</a:t>
            </a:r>
            <a:r>
              <a:rPr lang="zh-CN" altLang="en-US" dirty="0" smtClean="0"/>
              <a:t>的</a:t>
            </a:r>
            <a:r>
              <a:rPr lang="en-US" dirty="0" smtClean="0"/>
              <a:t>X86 CPU</a:t>
            </a:r>
            <a:r>
              <a:rPr lang="zh-CN" altLang="en-US" dirty="0" smtClean="0"/>
              <a:t>为代表，而</a:t>
            </a:r>
            <a:r>
              <a:rPr lang="en-US" dirty="0" smtClean="0"/>
              <a:t>RISC</a:t>
            </a:r>
            <a:r>
              <a:rPr lang="zh-CN" altLang="en-US" dirty="0" smtClean="0"/>
              <a:t>以</a:t>
            </a:r>
            <a:r>
              <a:rPr lang="en-US" dirty="0" smtClean="0"/>
              <a:t>ARM</a:t>
            </a:r>
            <a:r>
              <a:rPr lang="zh-CN" altLang="en-US" dirty="0" smtClean="0"/>
              <a:t>，</a:t>
            </a:r>
            <a:r>
              <a:rPr lang="en-US" dirty="0" smtClean="0"/>
              <a:t>IBM Power</a:t>
            </a:r>
            <a:r>
              <a:rPr lang="zh-CN" altLang="en-US" dirty="0" smtClean="0"/>
              <a:t>为代表。</a:t>
            </a:r>
            <a:r>
              <a:rPr lang="en-US" dirty="0" smtClean="0"/>
              <a:t>RISC</a:t>
            </a:r>
            <a:r>
              <a:rPr lang="zh-CN" altLang="en-US" dirty="0" smtClean="0"/>
              <a:t>的设计初衷针对</a:t>
            </a:r>
            <a:r>
              <a:rPr lang="en-US" dirty="0" smtClean="0"/>
              <a:t>CISC CPU</a:t>
            </a:r>
            <a:r>
              <a:rPr lang="zh-CN" altLang="en-US" dirty="0" smtClean="0"/>
              <a:t>复杂的弊端，选择一些可以在单个</a:t>
            </a:r>
            <a:r>
              <a:rPr lang="en-US" dirty="0" smtClean="0"/>
              <a:t>CPU</a:t>
            </a:r>
            <a:r>
              <a:rPr lang="zh-CN" altLang="en-US" dirty="0" smtClean="0"/>
              <a:t>周期完成的指令，以降低</a:t>
            </a:r>
            <a:r>
              <a:rPr lang="en-US" dirty="0" smtClean="0"/>
              <a:t>CPU</a:t>
            </a:r>
            <a:r>
              <a:rPr lang="zh-CN" altLang="en-US" dirty="0" smtClean="0"/>
              <a:t>的复杂度，将复杂性交给编译器。举一个例子，</a:t>
            </a:r>
            <a:r>
              <a:rPr lang="en-US" dirty="0" smtClean="0"/>
              <a:t>CISC</a:t>
            </a:r>
            <a:r>
              <a:rPr lang="zh-CN" altLang="en-US" dirty="0" smtClean="0"/>
              <a:t>提供的乘法指令，调用时可完成内存</a:t>
            </a:r>
            <a:r>
              <a:rPr lang="en-US" dirty="0" smtClean="0"/>
              <a:t>a</a:t>
            </a:r>
            <a:r>
              <a:rPr lang="zh-CN" altLang="en-US" dirty="0" smtClean="0"/>
              <a:t>和内存</a:t>
            </a:r>
            <a:r>
              <a:rPr lang="en-US" dirty="0" smtClean="0"/>
              <a:t>b</a:t>
            </a:r>
            <a:r>
              <a:rPr lang="zh-CN" altLang="en-US" dirty="0" smtClean="0"/>
              <a:t>中的两个数相乘，结果存入内存</a:t>
            </a:r>
            <a:r>
              <a:rPr lang="en-US" dirty="0" smtClean="0"/>
              <a:t>a</a:t>
            </a:r>
            <a:r>
              <a:rPr lang="zh-CN" altLang="en-US" dirty="0" smtClean="0"/>
              <a:t>，需要多个</a:t>
            </a:r>
            <a:r>
              <a:rPr lang="en-US" dirty="0" smtClean="0"/>
              <a:t>CPU</a:t>
            </a:r>
            <a:r>
              <a:rPr lang="zh-CN" altLang="en-US" dirty="0" smtClean="0"/>
              <a:t>周期才可以完成；而</a:t>
            </a:r>
            <a:r>
              <a:rPr lang="en-US" dirty="0" smtClean="0"/>
              <a:t>RISC</a:t>
            </a:r>
            <a:r>
              <a:rPr lang="zh-CN" altLang="en-US" dirty="0" smtClean="0"/>
              <a:t>不提供“一站式”的乘法指令，需调用四条单</a:t>
            </a:r>
            <a:r>
              <a:rPr lang="en-US" dirty="0" smtClean="0"/>
              <a:t>CPU</a:t>
            </a:r>
            <a:r>
              <a:rPr lang="zh-CN" altLang="en-US" dirty="0" smtClean="0"/>
              <a:t>周期指令完成两数相乘：内存</a:t>
            </a:r>
            <a:r>
              <a:rPr lang="en-US" dirty="0" smtClean="0"/>
              <a:t>a</a:t>
            </a:r>
            <a:r>
              <a:rPr lang="zh-CN" altLang="en-US" dirty="0" smtClean="0"/>
              <a:t>加载到寄存器，内存</a:t>
            </a:r>
            <a:r>
              <a:rPr lang="en-US" dirty="0" smtClean="0"/>
              <a:t>b</a:t>
            </a:r>
            <a:r>
              <a:rPr lang="zh-CN" altLang="en-US" dirty="0" smtClean="0"/>
              <a:t>加载到寄存器，两个寄存器中数相乘，寄存器结果存入内存</a:t>
            </a:r>
            <a:r>
              <a:rPr lang="en-US" dirty="0" smtClean="0"/>
              <a:t>a</a:t>
            </a:r>
            <a:r>
              <a:rPr lang="zh-CN" altLang="en-US" dirty="0" smtClean="0"/>
              <a:t>。按照此思路，早期的设计出的</a:t>
            </a:r>
            <a:r>
              <a:rPr lang="en-US" dirty="0" smtClean="0"/>
              <a:t>RISC</a:t>
            </a:r>
            <a:r>
              <a:rPr lang="zh-CN" altLang="en-US" dirty="0" smtClean="0"/>
              <a:t>指令集，指令数是比</a:t>
            </a:r>
            <a:r>
              <a:rPr lang="en-US" dirty="0" smtClean="0"/>
              <a:t>CISC</a:t>
            </a:r>
            <a:r>
              <a:rPr lang="zh-CN" altLang="en-US" dirty="0" smtClean="0"/>
              <a:t>少些，单后来，很多</a:t>
            </a:r>
            <a:r>
              <a:rPr lang="en-US" dirty="0" smtClean="0"/>
              <a:t>RISC</a:t>
            </a:r>
            <a:r>
              <a:rPr lang="zh-CN" altLang="en-US" dirty="0" smtClean="0"/>
              <a:t>的指令集中指令数反超了</a:t>
            </a:r>
            <a:r>
              <a:rPr lang="en-US" dirty="0" smtClean="0"/>
              <a:t>CISC</a:t>
            </a:r>
            <a:r>
              <a:rPr lang="zh-CN" altLang="en-US" dirty="0" smtClean="0"/>
              <a:t>，因此，引用指令的复杂度而非数量来区分两种指令集。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C00000"/>
                </a:solidFill>
              </a:rPr>
              <a:t>(3).</a:t>
            </a:r>
            <a:r>
              <a:rPr lang="zh-CN" altLang="en-US" b="1" dirty="0" smtClean="0">
                <a:solidFill>
                  <a:srgbClr val="C00000"/>
                </a:solidFill>
              </a:rPr>
              <a:t>嵌入式系统内核种类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dirty="0" smtClean="0"/>
              <a:t>嵌入式微处理器的基础是通用计算机中的</a:t>
            </a:r>
            <a:r>
              <a:rPr lang="en-US" dirty="0" smtClean="0"/>
              <a:t>CPU</a:t>
            </a:r>
            <a:r>
              <a:rPr lang="zh-CN" altLang="en-US" dirty="0" smtClean="0"/>
              <a:t>。在应用中保留与嵌入式应用紧密相关的功能硬件，去除其他冗余部分，大幅削减系统体积和功耗，并在工作温度，抗电磁干扰，可靠性等方面进行增强。</a:t>
            </a:r>
          </a:p>
          <a:p>
            <a:pPr>
              <a:buFont typeface="Wingdings" pitchFamily="2" charset="2"/>
              <a:buChar char="u"/>
            </a:pPr>
            <a:r>
              <a:rPr lang="zh-CN" altLang="en-US" dirty="0" smtClean="0"/>
              <a:t>微控制器又称单片机。一般以某种微处理器内核为核心，集成存储器、</a:t>
            </a:r>
            <a:r>
              <a:rPr lang="en-US" dirty="0" smtClean="0"/>
              <a:t>I/O</a:t>
            </a:r>
            <a:r>
              <a:rPr lang="zh-CN" altLang="en-US" dirty="0" smtClean="0"/>
              <a:t>等必要功能。具有较丰富的外设，适合于控制，所以称微控制器。为适应不同的应用需求，一般一个系列的单片机有多种衍生产品，具有不同的外设配置。</a:t>
            </a:r>
          </a:p>
          <a:p>
            <a:pPr>
              <a:buFont typeface="Wingdings" pitchFamily="2" charset="2"/>
              <a:buChar char="u"/>
            </a:pPr>
            <a:r>
              <a:rPr lang="zh-CN" altLang="en-US" dirty="0" smtClean="0"/>
              <a:t>数字信号处理器对系统结构和指令进行了特殊设计，适合于执行</a:t>
            </a:r>
            <a:r>
              <a:rPr lang="en-US" dirty="0" smtClean="0"/>
              <a:t>DSP</a:t>
            </a:r>
            <a:r>
              <a:rPr lang="zh-CN" altLang="en-US" dirty="0" smtClean="0"/>
              <a:t>算法，在数字滤波，</a:t>
            </a:r>
            <a:r>
              <a:rPr lang="en-US" dirty="0" smtClean="0"/>
              <a:t>FFT</a:t>
            </a:r>
            <a:r>
              <a:rPr lang="zh-CN" altLang="en-US" dirty="0" smtClean="0"/>
              <a:t>，谱分析等方面，</a:t>
            </a:r>
            <a:r>
              <a:rPr lang="en-US" dirty="0" smtClean="0"/>
              <a:t>DSP</a:t>
            </a:r>
            <a:r>
              <a:rPr lang="zh-CN" altLang="en-US" dirty="0" smtClean="0"/>
              <a:t>算法正在大量进入嵌入式领域。特点是运算量大。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571612"/>
            <a:ext cx="61436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14488"/>
            <a:ext cx="8521520" cy="35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1.2 ARM</a:t>
            </a:r>
            <a:r>
              <a:rPr lang="zh-CN" altLang="en-US" dirty="0" smtClean="0"/>
              <a:t>体系结构及微处理器系列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214422"/>
            <a:ext cx="8715436" cy="542928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</a:rPr>
              <a:t>、</a:t>
            </a:r>
            <a:r>
              <a:rPr lang="en-US" b="1" dirty="0" smtClean="0">
                <a:solidFill>
                  <a:srgbClr val="C00000"/>
                </a:solidFill>
              </a:rPr>
              <a:t>ARM</a:t>
            </a:r>
            <a:r>
              <a:rPr lang="zh-CN" altLang="en-US" b="1" dirty="0" smtClean="0">
                <a:solidFill>
                  <a:srgbClr val="C00000"/>
                </a:solidFill>
              </a:rPr>
              <a:t>处理器简介：</a:t>
            </a:r>
          </a:p>
          <a:p>
            <a:r>
              <a:rPr lang="en-US" dirty="0" smtClean="0"/>
              <a:t>ARM</a:t>
            </a:r>
            <a:r>
              <a:rPr lang="zh-CN" altLang="en-US" dirty="0" smtClean="0"/>
              <a:t>（</a:t>
            </a:r>
            <a:r>
              <a:rPr lang="en-US" dirty="0" smtClean="0"/>
              <a:t>Advanced RISC Machines</a:t>
            </a:r>
            <a:r>
              <a:rPr lang="zh-CN" altLang="en-US" dirty="0" smtClean="0"/>
              <a:t>）是一个</a:t>
            </a:r>
            <a:r>
              <a:rPr lang="en-US" dirty="0" smtClean="0"/>
              <a:t>32</a:t>
            </a:r>
            <a:r>
              <a:rPr lang="zh-CN" altLang="en-US" dirty="0" smtClean="0"/>
              <a:t>位</a:t>
            </a:r>
            <a:r>
              <a:rPr lang="en-US" dirty="0" smtClean="0"/>
              <a:t>RISC</a:t>
            </a:r>
            <a:r>
              <a:rPr lang="zh-CN" altLang="en-US" dirty="0" smtClean="0"/>
              <a:t>（精简指令集）处理器架构，</a:t>
            </a:r>
            <a:r>
              <a:rPr lang="en-US" dirty="0" smtClean="0"/>
              <a:t>ARM</a:t>
            </a:r>
            <a:r>
              <a:rPr lang="zh-CN" altLang="en-US" dirty="0" smtClean="0"/>
              <a:t>处理器则是</a:t>
            </a:r>
            <a:r>
              <a:rPr lang="en-US" dirty="0" smtClean="0"/>
              <a:t>ARM</a:t>
            </a:r>
            <a:r>
              <a:rPr lang="zh-CN" altLang="en-US" dirty="0" smtClean="0"/>
              <a:t>架构下的微处理器。</a:t>
            </a:r>
            <a:r>
              <a:rPr lang="en-US" dirty="0" smtClean="0"/>
              <a:t>ARM</a:t>
            </a:r>
            <a:r>
              <a:rPr lang="zh-CN" altLang="en-US" dirty="0" smtClean="0"/>
              <a:t>处理器广泛的使用在许多嵌入式系统。</a:t>
            </a:r>
            <a:r>
              <a:rPr lang="en-US" dirty="0" smtClean="0"/>
              <a:t>ARM</a:t>
            </a:r>
            <a:r>
              <a:rPr lang="zh-CN" altLang="en-US" dirty="0" smtClean="0"/>
              <a:t>处理器的特点有指令长度固定，执行效率高，低成本等。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2.ARM</a:t>
            </a:r>
            <a:r>
              <a:rPr lang="zh-CN" altLang="en-US" b="1" dirty="0" smtClean="0">
                <a:solidFill>
                  <a:srgbClr val="C00000"/>
                </a:solidFill>
              </a:rPr>
              <a:t>微处理器主要特征如下所述：</a:t>
            </a:r>
          </a:p>
          <a:p>
            <a:r>
              <a:rPr lang="zh-CN" altLang="en-US" dirty="0" smtClean="0"/>
              <a:t>１）指令集</a:t>
            </a:r>
            <a:r>
              <a:rPr lang="en-US" altLang="zh-CN" dirty="0" smtClean="0"/>
              <a:t>——</a:t>
            </a:r>
            <a:r>
              <a:rPr lang="en-US" dirty="0" smtClean="0"/>
              <a:t>RISC</a:t>
            </a:r>
            <a:r>
              <a:rPr lang="zh-CN" altLang="en-US" dirty="0" smtClean="0"/>
              <a:t>减少了指令集的种类，通常一个周期一条指令，采用固定长度的指令格式，编译器或程序员通过几条指令完成一个复杂的操作。而</a:t>
            </a:r>
            <a:r>
              <a:rPr lang="en-US" dirty="0" smtClean="0"/>
              <a:t>CISC</a:t>
            </a:r>
            <a:r>
              <a:rPr lang="zh-CN" altLang="en-US" dirty="0" smtClean="0"/>
              <a:t>指令集的指令长度通常不固定；</a:t>
            </a:r>
          </a:p>
          <a:p>
            <a:r>
              <a:rPr lang="zh-CN" altLang="en-US" dirty="0" smtClean="0"/>
              <a:t>２）流水线</a:t>
            </a:r>
            <a:r>
              <a:rPr lang="en-US" altLang="zh-CN" dirty="0" smtClean="0"/>
              <a:t>——</a:t>
            </a:r>
            <a:r>
              <a:rPr lang="en-US" dirty="0" smtClean="0"/>
              <a:t>RISC</a:t>
            </a:r>
            <a:r>
              <a:rPr lang="zh-CN" altLang="en-US" dirty="0" smtClean="0"/>
              <a:t>采用单周期指令，且指令长度固定，便于流水线操作执行</a:t>
            </a:r>
            <a:r>
              <a:rPr lang="zh-CN" altLang="en-US" dirty="0" smtClean="0"/>
              <a:t>；</a:t>
            </a:r>
            <a:r>
              <a:rPr lang="zh-CN" altLang="en-US" dirty="0" smtClean="0"/>
              <a:t>取指令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译码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缓冲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回写</a:t>
            </a:r>
          </a:p>
          <a:p>
            <a:r>
              <a:rPr lang="zh-CN" altLang="en-US" dirty="0" smtClean="0"/>
              <a:t>３）寄存器</a:t>
            </a:r>
            <a:r>
              <a:rPr lang="en-US" altLang="zh-CN" dirty="0" smtClean="0"/>
              <a:t>——</a:t>
            </a:r>
            <a:r>
              <a:rPr lang="en-US" dirty="0" smtClean="0"/>
              <a:t>RISC</a:t>
            </a:r>
            <a:r>
              <a:rPr lang="zh-CN" altLang="en-US" dirty="0" smtClean="0"/>
              <a:t>的处理器拥有更多的通用寄存器，寄存器操作较多。例如</a:t>
            </a:r>
            <a:r>
              <a:rPr lang="en-US" dirty="0" smtClean="0"/>
              <a:t>ARM</a:t>
            </a:r>
            <a:r>
              <a:rPr lang="zh-CN" altLang="en-US" dirty="0" smtClean="0"/>
              <a:t>处理器具有</a:t>
            </a:r>
            <a:r>
              <a:rPr lang="en-US" dirty="0" smtClean="0"/>
              <a:t>40</a:t>
            </a:r>
            <a:r>
              <a:rPr lang="zh-CN" altLang="en-US" dirty="0" smtClean="0"/>
              <a:t>个寄存器；</a:t>
            </a:r>
          </a:p>
          <a:p>
            <a:r>
              <a:rPr lang="zh-CN" altLang="en-US" dirty="0" smtClean="0"/>
              <a:t>４）</a:t>
            </a:r>
            <a:r>
              <a:rPr lang="en-US" dirty="0" smtClean="0"/>
              <a:t>Load/Store</a:t>
            </a:r>
            <a:r>
              <a:rPr lang="zh-CN" altLang="en-US" dirty="0" smtClean="0"/>
              <a:t>结构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使用加载</a:t>
            </a:r>
            <a:r>
              <a:rPr lang="en-US" dirty="0" smtClean="0"/>
              <a:t>/</a:t>
            </a:r>
            <a:r>
              <a:rPr lang="zh-CN" altLang="en-US" dirty="0" smtClean="0"/>
              <a:t>存储指令批量从内存中读写数据，提高数据的传输效率；</a:t>
            </a:r>
          </a:p>
          <a:p>
            <a:r>
              <a:rPr lang="zh-CN" altLang="en-US" dirty="0" smtClean="0"/>
              <a:t>５）寻址方式简化，指令长度固定，指令格式和寻址方式种类减少。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1.3  Cortex-M3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Cortex-M3(CM3)</a:t>
            </a:r>
            <a:r>
              <a:rPr lang="zh-CN" altLang="en-US" sz="2400" dirty="0" smtClean="0"/>
              <a:t>处理器内核是嵌入式微控制器的中央处理单元。完整的基于</a:t>
            </a:r>
            <a:r>
              <a:rPr lang="en-US" sz="2400" dirty="0" smtClean="0"/>
              <a:t>CM3</a:t>
            </a:r>
            <a:r>
              <a:rPr lang="zh-CN" altLang="en-US" sz="2400" dirty="0" smtClean="0"/>
              <a:t>的微控制器还需要很多其他组件。芯片制造商得到</a:t>
            </a:r>
            <a:r>
              <a:rPr lang="en-US" sz="2400" dirty="0" smtClean="0"/>
              <a:t>CM3</a:t>
            </a:r>
            <a:r>
              <a:rPr lang="zh-CN" altLang="en-US" sz="2400" dirty="0" smtClean="0"/>
              <a:t>处理器内核的使用授权后，可以把</a:t>
            </a:r>
            <a:r>
              <a:rPr lang="en-US" sz="2400" dirty="0" smtClean="0"/>
              <a:t>CM3</a:t>
            </a:r>
            <a:r>
              <a:rPr lang="zh-CN" altLang="en-US" sz="2400" dirty="0" smtClean="0"/>
              <a:t>内核用在自己的硅片设计中，添加存储器、外设、</a:t>
            </a:r>
            <a:r>
              <a:rPr lang="en-US" sz="2400" dirty="0" smtClean="0"/>
              <a:t>I/O</a:t>
            </a:r>
            <a:r>
              <a:rPr lang="zh-CN" altLang="en-US" sz="2400" dirty="0" smtClean="0"/>
              <a:t>及其他模块。不同厂家设计的单片机会有不同的配置，包括存储器容量、类型、外设等都各具特色。</a:t>
            </a:r>
            <a:endParaRPr lang="zh-CN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5526" y="3865702"/>
            <a:ext cx="4005266" cy="2855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C00000"/>
                </a:solidFill>
              </a:rPr>
              <a:t>CM3</a:t>
            </a:r>
            <a:r>
              <a:rPr lang="zh-CN" altLang="en-US" sz="3100" b="1" dirty="0" smtClean="0">
                <a:solidFill>
                  <a:srgbClr val="C00000"/>
                </a:solidFill>
              </a:rPr>
              <a:t>与</a:t>
            </a:r>
            <a:r>
              <a:rPr lang="en-US" sz="3100" b="1" dirty="0" smtClean="0">
                <a:solidFill>
                  <a:srgbClr val="C00000"/>
                </a:solidFill>
              </a:rPr>
              <a:t>ARM</a:t>
            </a:r>
            <a:r>
              <a:rPr lang="zh-CN" altLang="en-US" sz="3100" b="1" dirty="0" smtClean="0">
                <a:solidFill>
                  <a:srgbClr val="C00000"/>
                </a:solidFill>
              </a:rPr>
              <a:t>系列微控制器相比，具有以下优势</a:t>
            </a:r>
            <a:r>
              <a:rPr lang="zh-CN" altLang="en-US" sz="3100" b="1" dirty="0" smtClean="0">
                <a:solidFill>
                  <a:srgbClr val="C00000"/>
                </a:solidFill>
              </a:rPr>
              <a:t>：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1.</a:t>
            </a:r>
            <a:r>
              <a:rPr lang="zh-CN" altLang="en-US" b="1" dirty="0" smtClean="0">
                <a:solidFill>
                  <a:srgbClr val="7030A0"/>
                </a:solidFill>
              </a:rPr>
              <a:t>位绑定操作。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2.</a:t>
            </a:r>
            <a:r>
              <a:rPr lang="zh-CN" altLang="en-US" b="1" dirty="0" smtClean="0">
                <a:solidFill>
                  <a:srgbClr val="7030A0"/>
                </a:solidFill>
              </a:rPr>
              <a:t>支持非对起数据访问。</a:t>
            </a:r>
            <a:r>
              <a:rPr lang="zh-CN" altLang="en-US" dirty="0" smtClean="0"/>
              <a:t>它可以访问存储在一个</a:t>
            </a:r>
            <a:r>
              <a:rPr lang="en-US" dirty="0" smtClean="0"/>
              <a:t>32</a:t>
            </a:r>
            <a:r>
              <a:rPr lang="zh-CN" altLang="en-US" dirty="0" smtClean="0"/>
              <a:t>位单元中的字节</a:t>
            </a:r>
            <a:r>
              <a:rPr lang="en-US" dirty="0" smtClean="0"/>
              <a:t>/</a:t>
            </a:r>
            <a:r>
              <a:rPr lang="zh-CN" altLang="en-US" dirty="0" smtClean="0"/>
              <a:t>半字类型数据，这样四个字节类型或</a:t>
            </a:r>
            <a:r>
              <a:rPr lang="en-US" dirty="0" smtClean="0"/>
              <a:t>2</a:t>
            </a:r>
            <a:r>
              <a:rPr lang="zh-CN" altLang="en-US" dirty="0" smtClean="0"/>
              <a:t>个半字类型数据可以被分配在一个</a:t>
            </a:r>
            <a:r>
              <a:rPr lang="en-US" dirty="0" smtClean="0"/>
              <a:t>32</a:t>
            </a:r>
            <a:r>
              <a:rPr lang="zh-CN" altLang="en-US" dirty="0" smtClean="0"/>
              <a:t>位单元中，提高存储器的利用率。对于一般的程序而言，这种技术可以节省约</a:t>
            </a:r>
            <a:r>
              <a:rPr lang="en-US" dirty="0" smtClean="0"/>
              <a:t>25%</a:t>
            </a:r>
            <a:r>
              <a:rPr lang="zh-CN" altLang="en-US" dirty="0" smtClean="0"/>
              <a:t>的</a:t>
            </a:r>
            <a:r>
              <a:rPr lang="en-US" dirty="0" smtClean="0"/>
              <a:t>SRAM</a:t>
            </a:r>
            <a:r>
              <a:rPr lang="zh-CN" altLang="en-US" dirty="0" smtClean="0"/>
              <a:t>使用量。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 smtClean="0">
                <a:solidFill>
                  <a:srgbClr val="0070C0"/>
                </a:solidFill>
              </a:rPr>
              <a:t>Arm</a:t>
            </a:r>
            <a:r>
              <a:rPr lang="zh-CN" altLang="en-US" b="1" dirty="0" smtClean="0">
                <a:solidFill>
                  <a:srgbClr val="0070C0"/>
                </a:solidFill>
              </a:rPr>
              <a:t>的基本数据类型：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双</a:t>
            </a:r>
            <a:r>
              <a:rPr lang="zh-CN" altLang="en-US" dirty="0" smtClean="0"/>
              <a:t>字节（</a:t>
            </a:r>
            <a:r>
              <a:rPr lang="en-US" dirty="0" err="1" smtClean="0"/>
              <a:t>DoubleWord</a:t>
            </a:r>
            <a:r>
              <a:rPr lang="zh-CN" altLang="en-US" dirty="0" smtClean="0"/>
              <a:t>）：</a:t>
            </a:r>
            <a:r>
              <a:rPr lang="en-US" dirty="0" smtClean="0"/>
              <a:t>64</a:t>
            </a:r>
            <a:r>
              <a:rPr lang="zh-CN" altLang="en-US" dirty="0" smtClean="0"/>
              <a:t>位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字</a:t>
            </a:r>
            <a:r>
              <a:rPr lang="zh-CN" altLang="en-US" dirty="0" smtClean="0"/>
              <a:t>（</a:t>
            </a:r>
            <a:r>
              <a:rPr lang="en-US" dirty="0" smtClean="0"/>
              <a:t>Word</a:t>
            </a:r>
            <a:r>
              <a:rPr lang="zh-CN" altLang="en-US" dirty="0" smtClean="0"/>
              <a:t>）：在</a:t>
            </a:r>
            <a:r>
              <a:rPr lang="en-US" dirty="0" smtClean="0"/>
              <a:t>ARM</a:t>
            </a:r>
            <a:r>
              <a:rPr lang="zh-CN" altLang="en-US" dirty="0" smtClean="0"/>
              <a:t>体系结构中，字的长度为</a:t>
            </a:r>
            <a:r>
              <a:rPr lang="en-US" dirty="0" smtClean="0"/>
              <a:t>32</a:t>
            </a:r>
            <a:r>
              <a:rPr lang="zh-CN" altLang="en-US" dirty="0" smtClean="0"/>
              <a:t>位。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半</a:t>
            </a:r>
            <a:r>
              <a:rPr lang="zh-CN" altLang="en-US" dirty="0" smtClean="0"/>
              <a:t>字（</a:t>
            </a:r>
            <a:r>
              <a:rPr lang="en-US" dirty="0" smtClean="0"/>
              <a:t>Half-Word</a:t>
            </a:r>
            <a:r>
              <a:rPr lang="zh-CN" altLang="en-US" dirty="0" smtClean="0"/>
              <a:t>）：在</a:t>
            </a:r>
            <a:r>
              <a:rPr lang="en-US" dirty="0" smtClean="0"/>
              <a:t>ARM</a:t>
            </a:r>
            <a:r>
              <a:rPr lang="zh-CN" altLang="en-US" dirty="0" smtClean="0"/>
              <a:t>体系结构中，半字的长度为</a:t>
            </a:r>
            <a:r>
              <a:rPr lang="en-US" dirty="0" smtClean="0"/>
              <a:t>16</a:t>
            </a:r>
            <a:r>
              <a:rPr lang="zh-CN" altLang="en-US" dirty="0" smtClean="0"/>
              <a:t>位。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 smtClean="0"/>
              <a:t>字节</a:t>
            </a:r>
            <a:r>
              <a:rPr lang="zh-CN" altLang="en-US" dirty="0" smtClean="0"/>
              <a:t>（</a:t>
            </a:r>
            <a:r>
              <a:rPr lang="en-US" dirty="0" smtClean="0"/>
              <a:t>Byte</a:t>
            </a:r>
            <a:r>
              <a:rPr lang="zh-CN" altLang="en-US" dirty="0" smtClean="0"/>
              <a:t>）：在</a:t>
            </a:r>
            <a:r>
              <a:rPr lang="en-US" dirty="0" smtClean="0"/>
              <a:t>ARM</a:t>
            </a:r>
            <a:r>
              <a:rPr lang="zh-CN" altLang="en-US" dirty="0" smtClean="0"/>
              <a:t>体系结构中，字节的长度为</a:t>
            </a:r>
            <a:r>
              <a:rPr lang="en-US" dirty="0" smtClean="0"/>
              <a:t>8</a:t>
            </a:r>
            <a:r>
              <a:rPr lang="zh-CN" altLang="en-US" dirty="0" smtClean="0"/>
              <a:t>位。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57166"/>
            <a:ext cx="8229600" cy="6286544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3.</a:t>
            </a:r>
            <a:r>
              <a:rPr lang="zh-CN" altLang="en-US" b="1" dirty="0" smtClean="0">
                <a:solidFill>
                  <a:srgbClr val="7030A0"/>
                </a:solidFill>
              </a:rPr>
              <a:t>支持低功耗模式。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4.</a:t>
            </a:r>
            <a:r>
              <a:rPr lang="zh-CN" altLang="en-US" b="1" dirty="0" smtClean="0">
                <a:solidFill>
                  <a:srgbClr val="7030A0"/>
                </a:solidFill>
              </a:rPr>
              <a:t>高效的</a:t>
            </a:r>
            <a:r>
              <a:rPr lang="en-US" b="1" dirty="0" smtClean="0">
                <a:solidFill>
                  <a:srgbClr val="7030A0"/>
                </a:solidFill>
              </a:rPr>
              <a:t>Thumb-2</a:t>
            </a:r>
            <a:r>
              <a:rPr lang="zh-CN" altLang="en-US" b="1" dirty="0" smtClean="0">
                <a:solidFill>
                  <a:srgbClr val="7030A0"/>
                </a:solidFill>
              </a:rPr>
              <a:t>指令集。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 smtClean="0">
                <a:solidFill>
                  <a:srgbClr val="0070C0"/>
                </a:solidFill>
              </a:rPr>
              <a:t>ARM</a:t>
            </a:r>
            <a:r>
              <a:rPr lang="zh-CN" altLang="en-US" b="1" dirty="0" smtClean="0">
                <a:solidFill>
                  <a:srgbClr val="0070C0"/>
                </a:solidFill>
              </a:rPr>
              <a:t>指令集：</a:t>
            </a:r>
            <a:r>
              <a:rPr lang="zh-CN" altLang="en-US" dirty="0" smtClean="0"/>
              <a:t>编代码全部是</a:t>
            </a:r>
            <a:r>
              <a:rPr lang="en-US" dirty="0" smtClean="0"/>
              <a:t> 32bits </a:t>
            </a:r>
            <a:r>
              <a:rPr lang="zh-CN" altLang="en-US" dirty="0" smtClean="0"/>
              <a:t>的，每条指令能承载更多的信息，因此使用最少的指令完成功能， 所以在相同频率下运行速度也是最快的， 但也因为每条指令是</a:t>
            </a:r>
            <a:r>
              <a:rPr lang="en-US" dirty="0" smtClean="0"/>
              <a:t>32bits </a:t>
            </a:r>
            <a:r>
              <a:rPr lang="zh-CN" altLang="en-US" dirty="0" smtClean="0"/>
              <a:t>的而占用了最多的程序空间。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 smtClean="0">
                <a:solidFill>
                  <a:srgbClr val="0070C0"/>
                </a:solidFill>
              </a:rPr>
              <a:t>Thumb</a:t>
            </a:r>
            <a:r>
              <a:rPr lang="zh-CN" altLang="en-US" b="1" dirty="0" smtClean="0">
                <a:solidFill>
                  <a:srgbClr val="0070C0"/>
                </a:solidFill>
              </a:rPr>
              <a:t>指令集：</a:t>
            </a:r>
            <a:r>
              <a:rPr lang="zh-CN" altLang="en-US" dirty="0" smtClean="0"/>
              <a:t>编代码全部是</a:t>
            </a:r>
            <a:r>
              <a:rPr lang="en-US" dirty="0" smtClean="0"/>
              <a:t> 16bits </a:t>
            </a:r>
            <a:r>
              <a:rPr lang="zh-CN" altLang="en-US" dirty="0" smtClean="0"/>
              <a:t>的，每条指令所能承载的信息少，因此它需要使用更多的指令才能完成功能， 因此运行速度慢， 但它也占用了最少的程序空间</a:t>
            </a:r>
          </a:p>
          <a:p>
            <a:pPr>
              <a:buFont typeface="Wingdings" pitchFamily="2" charset="2"/>
              <a:buChar char="u"/>
            </a:pPr>
            <a:r>
              <a:rPr lang="en-US" b="1" dirty="0" smtClean="0">
                <a:solidFill>
                  <a:srgbClr val="0070C0"/>
                </a:solidFill>
              </a:rPr>
              <a:t>Thumb-2</a:t>
            </a:r>
            <a:r>
              <a:rPr lang="zh-CN" altLang="en-US" b="1" dirty="0" smtClean="0">
                <a:solidFill>
                  <a:srgbClr val="0070C0"/>
                </a:solidFill>
              </a:rPr>
              <a:t>指令集：</a:t>
            </a:r>
            <a:r>
              <a:rPr lang="zh-CN" altLang="en-US" dirty="0" smtClean="0"/>
              <a:t>在前面两者之间取了一个平衡， 兼有二者的优势， 当一个 操作可以使用一条</a:t>
            </a:r>
            <a:r>
              <a:rPr lang="en-US" dirty="0" smtClean="0"/>
              <a:t> 32bits</a:t>
            </a:r>
            <a:r>
              <a:rPr lang="zh-CN" altLang="en-US" dirty="0" smtClean="0"/>
              <a:t>指令完成时就使用</a:t>
            </a:r>
            <a:r>
              <a:rPr lang="en-US" dirty="0" smtClean="0"/>
              <a:t> 32bits </a:t>
            </a:r>
            <a:r>
              <a:rPr lang="zh-CN" altLang="en-US" dirty="0" smtClean="0"/>
              <a:t>的指令， 加快运行速度， 而当一次操作只需要一条</a:t>
            </a:r>
            <a:r>
              <a:rPr lang="en-US" dirty="0" smtClean="0"/>
              <a:t>16bits </a:t>
            </a:r>
            <a:r>
              <a:rPr lang="zh-CN" altLang="en-US" dirty="0" smtClean="0"/>
              <a:t>指令完成时就使用</a:t>
            </a:r>
            <a:r>
              <a:rPr lang="en-US" dirty="0" smtClean="0"/>
              <a:t>16bits </a:t>
            </a:r>
            <a:r>
              <a:rPr lang="zh-CN" altLang="en-US" dirty="0" smtClean="0"/>
              <a:t>的指令，节约存储空间。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929718" cy="635798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5.32</a:t>
            </a:r>
            <a:r>
              <a:rPr lang="zh-CN" altLang="en-US" b="1" dirty="0" smtClean="0">
                <a:solidFill>
                  <a:srgbClr val="7030A0"/>
                </a:solidFill>
              </a:rPr>
              <a:t>位硬件除法和单周期乘法。</a:t>
            </a:r>
            <a:r>
              <a:rPr lang="zh-CN" altLang="en-US" dirty="0" smtClean="0"/>
              <a:t>增加除法指令，</a:t>
            </a:r>
            <a:r>
              <a:rPr lang="en-US" dirty="0" smtClean="0"/>
              <a:t>32</a:t>
            </a:r>
            <a:r>
              <a:rPr lang="zh-CN" altLang="en-US" dirty="0" smtClean="0"/>
              <a:t>位乘法只需一个时钟周期。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6.</a:t>
            </a:r>
            <a:r>
              <a:rPr lang="zh-CN" altLang="en-US" b="1" dirty="0" smtClean="0">
                <a:solidFill>
                  <a:srgbClr val="7030A0"/>
                </a:solidFill>
              </a:rPr>
              <a:t>定义</a:t>
            </a:r>
            <a:r>
              <a:rPr lang="zh-CN" altLang="en-US" b="1" dirty="0" smtClean="0">
                <a:solidFill>
                  <a:srgbClr val="7030A0"/>
                </a:solidFill>
              </a:rPr>
              <a:t>了统一的</a:t>
            </a:r>
            <a:r>
              <a:rPr lang="zh-CN" altLang="en-US" b="1" dirty="0" smtClean="0">
                <a:solidFill>
                  <a:srgbClr val="7030A0"/>
                </a:solidFill>
              </a:rPr>
              <a:t>存储器映射。</a:t>
            </a:r>
            <a:r>
              <a:rPr lang="zh-CN" altLang="en-US" dirty="0" smtClean="0"/>
              <a:t>各厂家生产的基于</a:t>
            </a:r>
            <a:r>
              <a:rPr lang="en-US" dirty="0" smtClean="0"/>
              <a:t>CM3</a:t>
            </a:r>
            <a:r>
              <a:rPr lang="zh-CN" altLang="en-US" dirty="0" smtClean="0"/>
              <a:t>内核的微控制具有一致的存储器映射。方便移植。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7.</a:t>
            </a:r>
            <a:r>
              <a:rPr lang="zh-CN" altLang="en-US" b="1" dirty="0" smtClean="0">
                <a:solidFill>
                  <a:srgbClr val="7030A0"/>
                </a:solidFill>
              </a:rPr>
              <a:t>引入分组堆栈指针机制。</a:t>
            </a:r>
            <a:r>
              <a:rPr lang="zh-CN" altLang="en-US" dirty="0" smtClean="0"/>
              <a:t>把系统程序使用的堆栈和用户程序使用的堆栈分开。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8.</a:t>
            </a:r>
            <a:r>
              <a:rPr lang="zh-CN" altLang="en-US" b="1" dirty="0" smtClean="0">
                <a:solidFill>
                  <a:srgbClr val="7030A0"/>
                </a:solidFill>
              </a:rPr>
              <a:t>三级流水线和转移预测。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9.</a:t>
            </a:r>
            <a:r>
              <a:rPr lang="zh-CN" altLang="en-US" b="1" dirty="0" smtClean="0">
                <a:solidFill>
                  <a:srgbClr val="7030A0"/>
                </a:solidFill>
              </a:rPr>
              <a:t>哈佛结构。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10.</a:t>
            </a:r>
            <a:r>
              <a:rPr lang="zh-CN" altLang="en-US" b="1" dirty="0" smtClean="0">
                <a:solidFill>
                  <a:srgbClr val="7030A0"/>
                </a:solidFill>
              </a:rPr>
              <a:t>内置嵌套向量中断控制器。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11.</a:t>
            </a:r>
            <a:r>
              <a:rPr lang="zh-CN" altLang="en-US" b="1" dirty="0" smtClean="0">
                <a:solidFill>
                  <a:srgbClr val="7030A0"/>
                </a:solidFill>
              </a:rPr>
              <a:t>拥有先进的</a:t>
            </a:r>
            <a:r>
              <a:rPr lang="zh-CN" altLang="en-US" b="1" dirty="0" smtClean="0">
                <a:solidFill>
                  <a:srgbClr val="7030A0"/>
                </a:solidFill>
              </a:rPr>
              <a:t>故障处理机制。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12.</a:t>
            </a:r>
            <a:r>
              <a:rPr lang="zh-CN" altLang="en-US" b="1" dirty="0" smtClean="0">
                <a:solidFill>
                  <a:srgbClr val="7030A0"/>
                </a:solidFill>
              </a:rPr>
              <a:t>支持串行调试。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13.</a:t>
            </a:r>
            <a:r>
              <a:rPr lang="zh-CN" altLang="en-US" b="1" dirty="0" smtClean="0">
                <a:solidFill>
                  <a:srgbClr val="7030A0"/>
                </a:solidFill>
              </a:rPr>
              <a:t>极高性价比。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429</TotalTime>
  <Words>1619</Words>
  <Application>Microsoft Office PowerPoint</Application>
  <PresentationFormat>全屏显示(4:3)</PresentationFormat>
  <Paragraphs>69</Paragraphs>
  <Slides>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暗香扑面</vt:lpstr>
      <vt:lpstr>单片机原理与应用</vt:lpstr>
      <vt:lpstr>1.1 嵌入式系统简介 1.定义</vt:lpstr>
      <vt:lpstr>2.特点</vt:lpstr>
      <vt:lpstr>三个基本</vt:lpstr>
      <vt:lpstr>从用户和开发方的角度看嵌入式系统</vt:lpstr>
      <vt:lpstr>3.嵌入式系统分类 (1).普林斯顿结构和哈佛结构 </vt:lpstr>
      <vt:lpstr>幻灯片 7</vt:lpstr>
      <vt:lpstr>(2).CISC和RISC</vt:lpstr>
      <vt:lpstr>(3).嵌入式系统内核种类</vt:lpstr>
      <vt:lpstr>幻灯片 10</vt:lpstr>
      <vt:lpstr>幻灯片 11</vt:lpstr>
      <vt:lpstr>1.2 ARM体系结构及微处理器系列</vt:lpstr>
      <vt:lpstr>1.3  Cortex-M3简介</vt:lpstr>
      <vt:lpstr>CM3与ARM系列微控制器相比，具有以下优势：</vt:lpstr>
      <vt:lpstr>幻灯片 15</vt:lpstr>
      <vt:lpstr>幻灯片 16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单片机原理与应用</dc:title>
  <dc:creator>asus</dc:creator>
  <cp:lastModifiedBy>asus</cp:lastModifiedBy>
  <cp:revision>33</cp:revision>
  <dcterms:created xsi:type="dcterms:W3CDTF">2020-09-08T07:38:39Z</dcterms:created>
  <dcterms:modified xsi:type="dcterms:W3CDTF">2020-09-08T14:48:35Z</dcterms:modified>
</cp:coreProperties>
</file>