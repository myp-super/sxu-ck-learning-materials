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Default Extension="wdp" ContentType="image/vnd.ms-photo"/>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tags/tag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22"/>
  </p:notesMasterIdLst>
  <p:sldIdLst>
    <p:sldId id="256" r:id="rId3"/>
    <p:sldId id="400" r:id="rId4"/>
    <p:sldId id="432" r:id="rId5"/>
    <p:sldId id="401" r:id="rId6"/>
    <p:sldId id="433" r:id="rId7"/>
    <p:sldId id="434" r:id="rId8"/>
    <p:sldId id="435" r:id="rId9"/>
    <p:sldId id="437" r:id="rId10"/>
    <p:sldId id="402" r:id="rId11"/>
    <p:sldId id="436" r:id="rId12"/>
    <p:sldId id="405" r:id="rId13"/>
    <p:sldId id="406" r:id="rId14"/>
    <p:sldId id="407" r:id="rId15"/>
    <p:sldId id="415" r:id="rId16"/>
    <p:sldId id="431" r:id="rId17"/>
    <p:sldId id="408" r:id="rId18"/>
    <p:sldId id="409" r:id="rId19"/>
    <p:sldId id="410" r:id="rId20"/>
    <p:sldId id="411" r:id="rId21"/>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4529E"/>
    <a:srgbClr val="5494C3"/>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94660" autoAdjust="0"/>
  </p:normalViewPr>
  <p:slideViewPr>
    <p:cSldViewPr snapToGrid="0" showGuides="1">
      <p:cViewPr varScale="1">
        <p:scale>
          <a:sx n="68" d="100"/>
          <a:sy n="68" d="100"/>
        </p:scale>
        <p:origin x="-552" y="-60"/>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2020/10/18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2020/10/18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2020/10/18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2020/10/18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2020/10/18</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smtClean="0">
                <a:solidFill>
                  <a:schemeClr val="tx1"/>
                </a:solidFill>
              </a:rPr>
              <a:t>第三章</a:t>
            </a:r>
            <a:r>
              <a:rPr lang="en-US" altLang="zh-CN" sz="6000" dirty="0" smtClean="0">
                <a:solidFill>
                  <a:schemeClr val="tx1"/>
                </a:solidFill>
              </a:rPr>
              <a:t/>
            </a:r>
            <a:br>
              <a:rPr lang="en-US" altLang="zh-CN" sz="6000" dirty="0" smtClean="0">
                <a:solidFill>
                  <a:schemeClr val="tx1"/>
                </a:solidFill>
              </a:rPr>
            </a:br>
            <a:r>
              <a:rPr lang="en-US" altLang="zh-CN" sz="6000" dirty="0" smtClean="0">
                <a:solidFill>
                  <a:schemeClr val="tx1"/>
                </a:solidFill>
              </a:rPr>
              <a:t>STM32</a:t>
            </a:r>
            <a:r>
              <a:rPr lang="zh-CN" altLang="en-US" sz="6000" dirty="0" smtClean="0">
                <a:solidFill>
                  <a:schemeClr val="tx1"/>
                </a:solidFill>
              </a:rPr>
              <a:t>最小系统</a:t>
            </a:r>
            <a:endParaRPr lang="zh-CN" altLang="en-US" sz="6000" dirty="0">
              <a:solidFill>
                <a:schemeClr val="tx1"/>
              </a:solidFill>
            </a:endParaRP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 xmlns:a14="http://schemas.microsoft.com/office/drawing/2010/main">
                  <a14:imgLayer r:embed="rId4">
                    <a14:imgEffect>
                      <a14:saturation sat="173000"/>
                    </a14:imgEffect>
                  </a14:imgLayer>
                </a14:imgProps>
              </a:ext>
              <a:ext uri="{28A0092B-C50C-407E-A947-70E740481C1C}">
                <a14:useLocalDpi xmlns="" xmlns:a14="http://schemas.microsoft.com/office/drawing/2010/main" val="0"/>
              </a:ext>
            </a:extLst>
          </a:blip>
          <a:stretch>
            <a:fillRect/>
          </a:stretch>
        </p:blipFill>
        <p:spPr bwMode="auto">
          <a:xfrm>
            <a:off x="1077273" y="763659"/>
            <a:ext cx="1352760" cy="135276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40702" y="529440"/>
            <a:ext cx="9912220" cy="3341620"/>
          </a:xfrm>
          <a:prstGeom prst="rect">
            <a:avLst/>
          </a:prstGeom>
        </p:spPr>
        <p:txBody>
          <a:bodyPr wrap="square">
            <a:spAutoFit/>
          </a:bodyPr>
          <a:lstStyle/>
          <a:p>
            <a:pPr>
              <a:lnSpc>
                <a:spcPct val="150000"/>
              </a:lnSpc>
            </a:pPr>
            <a:r>
              <a:rPr lang="en-US" sz="2400" b="1" dirty="0" smtClean="0"/>
              <a:t>ARM Cortex-M</a:t>
            </a:r>
            <a:r>
              <a:rPr lang="zh-CN" altLang="en-US" sz="2400" b="1" dirty="0" smtClean="0"/>
              <a:t>系列内核主要用于对功耗和成本非常敏感且对性能要求不断增加的嵌入式应用，与</a:t>
            </a:r>
            <a:r>
              <a:rPr lang="en-US" sz="2400" b="1" dirty="0" smtClean="0"/>
              <a:t>51</a:t>
            </a:r>
            <a:r>
              <a:rPr lang="zh-CN" altLang="en-US" sz="2400" b="1" dirty="0" smtClean="0"/>
              <a:t>内核相比，若要达到相同的处理能力，其功耗约为</a:t>
            </a:r>
            <a:r>
              <a:rPr lang="en-US" sz="2400" b="1" dirty="0" smtClean="0"/>
              <a:t>CM3</a:t>
            </a:r>
            <a:r>
              <a:rPr lang="zh-CN" altLang="en-US" sz="2400" b="1" dirty="0" smtClean="0"/>
              <a:t>内核的</a:t>
            </a:r>
            <a:r>
              <a:rPr lang="en-US" sz="2400" b="1" dirty="0" smtClean="0"/>
              <a:t>40</a:t>
            </a:r>
            <a:r>
              <a:rPr lang="zh-CN" altLang="en-US" sz="2400" b="1" dirty="0" smtClean="0"/>
              <a:t>倍。</a:t>
            </a:r>
            <a:endParaRPr lang="zh-CN" altLang="en-US" sz="2400" dirty="0" smtClean="0"/>
          </a:p>
          <a:p>
            <a:pPr>
              <a:lnSpc>
                <a:spcPct val="150000"/>
              </a:lnSpc>
            </a:pPr>
            <a:r>
              <a:rPr lang="zh-CN" altLang="en-US" sz="2400" b="1" dirty="0" smtClean="0">
                <a:solidFill>
                  <a:schemeClr val="accent2">
                    <a:lumMod val="50000"/>
                  </a:schemeClr>
                </a:solidFill>
              </a:rPr>
              <a:t>最小系统包括：</a:t>
            </a:r>
            <a:r>
              <a:rPr lang="zh-CN" altLang="en-US" sz="2400" b="1" dirty="0" smtClean="0"/>
              <a:t>电源、时钟源、复位电路、启动电路、调试接口、</a:t>
            </a:r>
            <a:r>
              <a:rPr lang="en-US" sz="2400" b="1" dirty="0" smtClean="0"/>
              <a:t>ARM</a:t>
            </a:r>
            <a:r>
              <a:rPr lang="zh-CN" altLang="en-US" sz="2400" b="1" dirty="0" smtClean="0"/>
              <a:t>处理器</a:t>
            </a:r>
            <a:endParaRPr lang="zh-CN" altLang="en-US" sz="2400" dirty="0" smtClean="0"/>
          </a:p>
          <a:p>
            <a:pPr>
              <a:lnSpc>
                <a:spcPct val="150000"/>
              </a:lnSpc>
            </a:pPr>
            <a:endParaRPr lang="zh-CN" altLang="en-US" sz="2400" dirty="0"/>
          </a:p>
        </p:txBody>
      </p:sp>
      <p:sp>
        <p:nvSpPr>
          <p:cNvPr id="5" name="矩形 4"/>
          <p:cNvSpPr/>
          <p:nvPr/>
        </p:nvSpPr>
        <p:spPr>
          <a:xfrm>
            <a:off x="4702628" y="4385398"/>
            <a:ext cx="2313991" cy="737119"/>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400" b="1" dirty="0" smtClean="0">
                <a:solidFill>
                  <a:srgbClr val="5494C3"/>
                </a:solidFill>
              </a:rPr>
              <a:t>ARM</a:t>
            </a:r>
            <a:r>
              <a:rPr lang="zh-CN" altLang="en-US" sz="2400" b="1" dirty="0" smtClean="0">
                <a:solidFill>
                  <a:srgbClr val="5494C3"/>
                </a:solidFill>
              </a:rPr>
              <a:t>处理器</a:t>
            </a:r>
          </a:p>
        </p:txBody>
      </p:sp>
      <p:sp>
        <p:nvSpPr>
          <p:cNvPr id="6" name="矩形 5"/>
          <p:cNvSpPr/>
          <p:nvPr/>
        </p:nvSpPr>
        <p:spPr>
          <a:xfrm>
            <a:off x="4537789" y="5685462"/>
            <a:ext cx="957942" cy="622041"/>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solidFill>
                  <a:srgbClr val="5494C3"/>
                </a:solidFill>
              </a:rPr>
              <a:t>电源</a:t>
            </a:r>
          </a:p>
        </p:txBody>
      </p:sp>
      <p:sp>
        <p:nvSpPr>
          <p:cNvPr id="9" name="矩形 8"/>
          <p:cNvSpPr/>
          <p:nvPr/>
        </p:nvSpPr>
        <p:spPr>
          <a:xfrm>
            <a:off x="6040017" y="5682352"/>
            <a:ext cx="1340497" cy="653143"/>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solidFill>
                  <a:srgbClr val="5494C3"/>
                </a:solidFill>
              </a:rPr>
              <a:t>时钟源</a:t>
            </a:r>
          </a:p>
        </p:txBody>
      </p:sp>
      <p:sp>
        <p:nvSpPr>
          <p:cNvPr id="10" name="矩形 9"/>
          <p:cNvSpPr/>
          <p:nvPr/>
        </p:nvSpPr>
        <p:spPr>
          <a:xfrm>
            <a:off x="4917229" y="3097774"/>
            <a:ext cx="1894114" cy="755780"/>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solidFill>
                  <a:srgbClr val="5494C3"/>
                </a:solidFill>
              </a:rPr>
              <a:t>复位电路</a:t>
            </a:r>
          </a:p>
        </p:txBody>
      </p:sp>
      <p:sp>
        <p:nvSpPr>
          <p:cNvPr id="11" name="矩形 10"/>
          <p:cNvSpPr/>
          <p:nvPr/>
        </p:nvSpPr>
        <p:spPr>
          <a:xfrm>
            <a:off x="8005670" y="4301449"/>
            <a:ext cx="1894114" cy="755780"/>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solidFill>
                  <a:srgbClr val="5494C3"/>
                </a:solidFill>
              </a:rPr>
              <a:t>启动电路</a:t>
            </a:r>
          </a:p>
        </p:txBody>
      </p:sp>
      <p:sp>
        <p:nvSpPr>
          <p:cNvPr id="13" name="矩形 12"/>
          <p:cNvSpPr/>
          <p:nvPr/>
        </p:nvSpPr>
        <p:spPr>
          <a:xfrm>
            <a:off x="1810139" y="4376066"/>
            <a:ext cx="1894114" cy="755780"/>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smtClean="0">
                <a:solidFill>
                  <a:srgbClr val="5494C3"/>
                </a:solidFill>
              </a:rPr>
              <a:t>调试接口</a:t>
            </a:r>
          </a:p>
        </p:txBody>
      </p:sp>
      <p:sp>
        <p:nvSpPr>
          <p:cNvPr id="14" name="右箭头 13"/>
          <p:cNvSpPr/>
          <p:nvPr/>
        </p:nvSpPr>
        <p:spPr>
          <a:xfrm>
            <a:off x="3713584" y="4674647"/>
            <a:ext cx="970383" cy="270588"/>
          </a:xfrm>
          <a:prstGeom prst="rightArrow">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smtClean="0">
              <a:solidFill>
                <a:srgbClr val="5494C3"/>
              </a:solidFill>
            </a:endParaRPr>
          </a:p>
        </p:txBody>
      </p:sp>
      <p:sp>
        <p:nvSpPr>
          <p:cNvPr id="15" name="下箭头 14"/>
          <p:cNvSpPr/>
          <p:nvPr/>
        </p:nvSpPr>
        <p:spPr>
          <a:xfrm>
            <a:off x="5850294" y="3881545"/>
            <a:ext cx="251926" cy="494523"/>
          </a:xfrm>
          <a:prstGeom prst="downArrow">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smtClean="0">
              <a:solidFill>
                <a:srgbClr val="5494C3"/>
              </a:solidFill>
            </a:endParaRPr>
          </a:p>
        </p:txBody>
      </p:sp>
      <p:sp>
        <p:nvSpPr>
          <p:cNvPr id="16" name="右箭头 15"/>
          <p:cNvSpPr/>
          <p:nvPr/>
        </p:nvSpPr>
        <p:spPr>
          <a:xfrm>
            <a:off x="7038391" y="4584451"/>
            <a:ext cx="970383" cy="270588"/>
          </a:xfrm>
          <a:prstGeom prst="rightArrow">
            <a:avLst/>
          </a:prstGeom>
          <a:solidFill>
            <a:schemeClr val="bg1">
              <a:lumMod val="95000"/>
            </a:schemeClr>
          </a:solidFill>
          <a:ln>
            <a:solidFill>
              <a:schemeClr val="accent1"/>
            </a:solidFill>
          </a:ln>
          <a:scene3d>
            <a:camera prst="orthographicFront">
              <a:rot lat="0" lon="0" rev="10800000"/>
            </a:camera>
            <a:lightRig rig="threePt" dir="t"/>
          </a:scene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smtClean="0">
              <a:solidFill>
                <a:srgbClr val="5494C3"/>
              </a:solidFill>
            </a:endParaRPr>
          </a:p>
        </p:txBody>
      </p:sp>
      <p:sp>
        <p:nvSpPr>
          <p:cNvPr id="17" name="下箭头 16"/>
          <p:cNvSpPr/>
          <p:nvPr/>
        </p:nvSpPr>
        <p:spPr>
          <a:xfrm>
            <a:off x="4948335" y="5172280"/>
            <a:ext cx="251926" cy="494523"/>
          </a:xfrm>
          <a:prstGeom prst="downArrow">
            <a:avLst/>
          </a:prstGeom>
          <a:solidFill>
            <a:schemeClr val="bg1">
              <a:lumMod val="95000"/>
            </a:schemeClr>
          </a:solidFill>
          <a:ln>
            <a:solidFill>
              <a:schemeClr val="accent1"/>
            </a:solidFill>
          </a:ln>
          <a:scene3d>
            <a:camera prst="orthographicFront">
              <a:rot lat="0" lon="0" rev="10800000"/>
            </a:camera>
            <a:lightRig rig="threePt" dir="t"/>
          </a:scene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smtClean="0">
              <a:solidFill>
                <a:srgbClr val="5494C3"/>
              </a:solidFill>
            </a:endParaRPr>
          </a:p>
        </p:txBody>
      </p:sp>
      <p:sp>
        <p:nvSpPr>
          <p:cNvPr id="18" name="下箭头 17"/>
          <p:cNvSpPr/>
          <p:nvPr/>
        </p:nvSpPr>
        <p:spPr>
          <a:xfrm>
            <a:off x="6518988" y="5166060"/>
            <a:ext cx="251926" cy="494523"/>
          </a:xfrm>
          <a:prstGeom prst="downArrow">
            <a:avLst/>
          </a:prstGeom>
          <a:solidFill>
            <a:schemeClr val="bg1">
              <a:lumMod val="95000"/>
            </a:schemeClr>
          </a:solidFill>
          <a:ln>
            <a:solidFill>
              <a:schemeClr val="accent1"/>
            </a:solidFill>
          </a:ln>
          <a:scene3d>
            <a:camera prst="orthographicFront">
              <a:rot lat="0" lon="0" rev="10800000"/>
            </a:camera>
            <a:lightRig rig="threePt" dir="t"/>
          </a:scene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smtClean="0">
              <a:solidFill>
                <a:srgbClr val="5494C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733386" y="45456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3.1 </a:t>
            </a:r>
            <a:r>
              <a:rPr lang="zh-CN" altLang="en-US" sz="2800" b="1" dirty="0" smtClean="0">
                <a:solidFill>
                  <a:srgbClr val="14529E"/>
                </a:solidFill>
              </a:rPr>
              <a:t>电源电路</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smtClean="0">
                <a:solidFill>
                  <a:srgbClr val="C00000"/>
                </a:solidFill>
              </a:rPr>
              <a:t>3.1.1 </a:t>
            </a:r>
            <a:r>
              <a:rPr lang="zh-CN" altLang="en-US" sz="2800" b="1" dirty="0" smtClean="0">
                <a:solidFill>
                  <a:srgbClr val="C00000"/>
                </a:solidFill>
              </a:rPr>
              <a:t>供电方案</a:t>
            </a:r>
          </a:p>
        </p:txBody>
      </p:sp>
      <p:pic>
        <p:nvPicPr>
          <p:cNvPr id="146434" name="Picture 2"/>
          <p:cNvPicPr>
            <a:picLocks noChangeAspect="1" noChangeArrowheads="1"/>
          </p:cNvPicPr>
          <p:nvPr/>
        </p:nvPicPr>
        <p:blipFill>
          <a:blip r:embed="rId3"/>
          <a:srcRect/>
          <a:stretch>
            <a:fillRect/>
          </a:stretch>
        </p:blipFill>
        <p:spPr bwMode="auto">
          <a:xfrm>
            <a:off x="409285" y="1421734"/>
            <a:ext cx="3248315" cy="3253984"/>
          </a:xfrm>
          <a:prstGeom prst="rect">
            <a:avLst/>
          </a:prstGeom>
          <a:noFill/>
          <a:ln w="9525">
            <a:noFill/>
            <a:miter lim="800000"/>
            <a:headEnd/>
            <a:tailEnd/>
          </a:ln>
          <a:effectLst/>
        </p:spPr>
      </p:pic>
      <p:sp>
        <p:nvSpPr>
          <p:cNvPr id="146435" name="Rectangle 3"/>
          <p:cNvSpPr>
            <a:spLocks noChangeArrowheads="1"/>
          </p:cNvSpPr>
          <p:nvPr/>
        </p:nvSpPr>
        <p:spPr bwMode="auto">
          <a:xfrm>
            <a:off x="3676261" y="1390261"/>
            <a:ext cx="7744408"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1.</a:t>
            </a:r>
            <a:r>
              <a:rPr kumimoji="0" lang="zh-CN" altLang="en-US" sz="1600" b="1" i="0" u="none" strike="noStrike" cap="none" normalizeH="0" baseline="0" dirty="0" smtClean="0">
                <a:ln>
                  <a:noFill/>
                </a:ln>
                <a:solidFill>
                  <a:schemeClr val="accent4">
                    <a:lumMod val="75000"/>
                  </a:schemeClr>
                </a:solidFill>
                <a:effectLst/>
                <a:latin typeface="+mn-ea"/>
                <a:cs typeface="Arial" pitchFamily="34" charset="0"/>
              </a:rPr>
              <a:t>数字部分</a:t>
            </a:r>
            <a:endParaRPr kumimoji="0" lang="zh-CN" altLang="en-US" sz="1600" b="1" i="0" u="none" strike="noStrike" cap="none" normalizeH="0" baseline="0" dirty="0" smtClean="0">
              <a:ln>
                <a:noFill/>
              </a:ln>
              <a:solidFill>
                <a:schemeClr val="accent4">
                  <a:lumMod val="75000"/>
                </a:schemeClr>
              </a:solidFill>
              <a:effectLst/>
              <a:latin typeface="+mn-ea"/>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接</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2.0~3.6V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的直流电源。</a:t>
            </a:r>
            <a:r>
              <a:rPr kumimoji="0" lang="zh-CN" altLang="en-US" sz="1600" b="1" i="0" u="none" strike="noStrike" cap="none" normalizeH="0" baseline="0" dirty="0" smtClean="0">
                <a:ln>
                  <a:noFill/>
                </a:ln>
                <a:solidFill>
                  <a:srgbClr val="7030A0"/>
                </a:solidFill>
                <a:effectLst/>
                <a:latin typeface="+mj-ea"/>
                <a:ea typeface="+mj-ea"/>
                <a:cs typeface="Arial" pitchFamily="34" charset="0"/>
              </a:rPr>
              <a:t>通常接</a:t>
            </a:r>
            <a:r>
              <a:rPr kumimoji="0" lang="en-US" altLang="zh-CN" sz="1600" b="1" i="0" u="none" strike="noStrike" cap="none" normalizeH="0" baseline="0" dirty="0" smtClean="0">
                <a:ln>
                  <a:noFill/>
                </a:ln>
                <a:solidFill>
                  <a:srgbClr val="7030A0"/>
                </a:solidFill>
                <a:effectLst/>
                <a:latin typeface="+mj-ea"/>
                <a:ea typeface="+mj-ea"/>
                <a:cs typeface="Arial" pitchFamily="34" charset="0"/>
              </a:rPr>
              <a:t>3.3V</a:t>
            </a:r>
            <a:r>
              <a:rPr kumimoji="0" lang="zh-CN" altLang="en-US" sz="1600" b="1" i="0" u="none" strike="noStrike" cap="none" normalizeH="0" baseline="0" dirty="0" smtClean="0">
                <a:ln>
                  <a:noFill/>
                </a:ln>
                <a:solidFill>
                  <a:srgbClr val="7030A0"/>
                </a:solidFill>
                <a:effectLst/>
                <a:latin typeface="+mj-ea"/>
                <a:ea typeface="+mj-ea"/>
                <a:cs typeface="Arial" pitchFamily="34" charset="0"/>
              </a:rPr>
              <a:t>，供</a:t>
            </a:r>
            <a:r>
              <a:rPr kumimoji="0" lang="en-US" altLang="zh-CN" sz="1600" b="1" i="0" u="none" strike="noStrike" cap="none" normalizeH="0" baseline="0" dirty="0" smtClean="0">
                <a:ln>
                  <a:noFill/>
                </a:ln>
                <a:solidFill>
                  <a:srgbClr val="7030A0"/>
                </a:solidFill>
                <a:effectLst/>
                <a:latin typeface="+mj-ea"/>
                <a:ea typeface="+mj-ea"/>
                <a:cs typeface="Arial" pitchFamily="34" charset="0"/>
              </a:rPr>
              <a:t>I/O</a:t>
            </a:r>
            <a:r>
              <a:rPr kumimoji="0" lang="zh-CN" altLang="en-US" sz="1600" b="1" i="0" u="none" strike="noStrike" cap="none" normalizeH="0" baseline="0" dirty="0" smtClean="0">
                <a:ln>
                  <a:noFill/>
                </a:ln>
                <a:solidFill>
                  <a:srgbClr val="7030A0"/>
                </a:solidFill>
                <a:effectLst/>
                <a:latin typeface="+mj-ea"/>
                <a:ea typeface="+mj-ea"/>
                <a:cs typeface="Arial" pitchFamily="34" charset="0"/>
              </a:rPr>
              <a:t>等接口使用</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。内置电压调节器提高</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CM3</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处理器所需的</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电源。电压调节器有三种工作模式：</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运行模式：提供</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电源</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处理器、内存、外设</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。在此模式下，可以通过降低系统时钟或关闭总线上未被使用的</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CM3</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处理器外的外设时钟来降低功耗。</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停止模式：调节器以低功耗模式提供</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电源，以保存寄存器和</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SRAM</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的内容。</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待机模式：调节器停止供电，除了备用电路和备份域外，寄存器和</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SRAM</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的内容全部丢失。</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8" name="Rectangle 1"/>
          <p:cNvSpPr>
            <a:spLocks noChangeArrowheads="1"/>
          </p:cNvSpPr>
          <p:nvPr/>
        </p:nvSpPr>
        <p:spPr bwMode="auto">
          <a:xfrm>
            <a:off x="494524" y="4702629"/>
            <a:ext cx="10767525"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2.</a:t>
            </a:r>
            <a:r>
              <a:rPr kumimoji="0" lang="zh-CN" altLang="en-US" sz="1600" b="1" i="0" u="none" strike="noStrike" cap="none" normalizeH="0" baseline="0" dirty="0" smtClean="0">
                <a:ln>
                  <a:noFill/>
                </a:ln>
                <a:solidFill>
                  <a:schemeClr val="accent4">
                    <a:lumMod val="75000"/>
                  </a:schemeClr>
                </a:solidFill>
                <a:effectLst/>
                <a:latin typeface="+mn-ea"/>
                <a:cs typeface="Arial" pitchFamily="34" charset="0"/>
              </a:rPr>
              <a:t>模拟部分</a:t>
            </a:r>
            <a:endParaRPr kumimoji="0" lang="zh-CN" altLang="en-US" sz="1600" b="0" i="0" u="none" strike="noStrike" cap="none" normalizeH="0" baseline="0" dirty="0" smtClean="0">
              <a:ln>
                <a:noFill/>
              </a:ln>
              <a:solidFill>
                <a:schemeClr val="accent4">
                  <a:lumMod val="75000"/>
                </a:schemeClr>
              </a:solidFill>
              <a:effectLst/>
              <a:latin typeface="+mn-ea"/>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VSSA</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为独立电源地，</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接</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2.0~36V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ADC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、复位模块、</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RC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振荡器和</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PLL</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的模拟部分供电。当</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VDD≥2.4V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时，</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ADC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工作，当</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VDD≥2.7V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时，</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USB</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开始工作。</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VREF+</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的电压范围为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2.4V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至</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之间。</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3.</a:t>
            </a:r>
            <a:r>
              <a:rPr kumimoji="0" lang="zh-CN" altLang="en-US" sz="1600" b="1" i="0" u="none" strike="noStrike" cap="none" normalizeH="0" baseline="0" dirty="0" smtClean="0">
                <a:ln>
                  <a:noFill/>
                </a:ln>
                <a:solidFill>
                  <a:schemeClr val="accent4">
                    <a:lumMod val="75000"/>
                  </a:schemeClr>
                </a:solidFill>
                <a:effectLst/>
                <a:latin typeface="+mn-ea"/>
                <a:cs typeface="Arial" pitchFamily="34" charset="0"/>
              </a:rPr>
              <a:t>备份部分</a:t>
            </a: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VBAT</a:t>
            </a:r>
            <a:endParaRPr kumimoji="0" lang="zh-CN" altLang="en-US" sz="1600" b="0" i="0" u="none" strike="noStrike" cap="none" normalizeH="0" baseline="0" dirty="0" smtClean="0">
              <a:ln>
                <a:noFill/>
              </a:ln>
              <a:solidFill>
                <a:schemeClr val="accent4">
                  <a:lumMod val="75000"/>
                </a:schemeClr>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备份电压指的是备份域使用的供电电源。</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VBAT</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1.8~3.6V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，当</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断电时，为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RTC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、外部</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32kHz</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振荡器和后备寄存器供电。</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a:srcRect/>
          <a:stretch>
            <a:fillRect/>
          </a:stretch>
        </p:blipFill>
        <p:spPr bwMode="auto">
          <a:xfrm>
            <a:off x="2405063" y="442913"/>
            <a:ext cx="7381875" cy="59721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733386" y="45456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smtClean="0">
                <a:solidFill>
                  <a:srgbClr val="14529E"/>
                </a:solidFill>
              </a:rPr>
              <a:t>3.1 </a:t>
            </a:r>
            <a:r>
              <a:rPr lang="zh-CN" altLang="en-US" sz="2800" b="1" dirty="0" smtClean="0">
                <a:solidFill>
                  <a:srgbClr val="14529E"/>
                </a:solidFill>
              </a:rPr>
              <a:t>电源电路</a:t>
            </a:r>
            <a:endParaRPr lang="en-US" altLang="zh-CN" sz="2800" b="1" dirty="0" smtClean="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smtClean="0">
                <a:solidFill>
                  <a:srgbClr val="C00000"/>
                </a:solidFill>
              </a:rPr>
              <a:t>3.1.1 </a:t>
            </a:r>
            <a:r>
              <a:rPr lang="zh-CN" altLang="en-US" sz="2800" b="1" dirty="0" smtClean="0">
                <a:solidFill>
                  <a:srgbClr val="C00000"/>
                </a:solidFill>
              </a:rPr>
              <a:t>供电方案</a:t>
            </a:r>
          </a:p>
        </p:txBody>
      </p:sp>
      <p:pic>
        <p:nvPicPr>
          <p:cNvPr id="146434" name="Picture 2"/>
          <p:cNvPicPr>
            <a:picLocks noChangeAspect="1" noChangeArrowheads="1"/>
          </p:cNvPicPr>
          <p:nvPr/>
        </p:nvPicPr>
        <p:blipFill>
          <a:blip r:embed="rId3"/>
          <a:srcRect/>
          <a:stretch>
            <a:fillRect/>
          </a:stretch>
        </p:blipFill>
        <p:spPr bwMode="auto">
          <a:xfrm>
            <a:off x="409285" y="1421734"/>
            <a:ext cx="3248315" cy="3253984"/>
          </a:xfrm>
          <a:prstGeom prst="rect">
            <a:avLst/>
          </a:prstGeom>
          <a:noFill/>
          <a:ln w="9525">
            <a:noFill/>
            <a:miter lim="800000"/>
            <a:headEnd/>
            <a:tailEnd/>
          </a:ln>
          <a:effectLst/>
        </p:spPr>
      </p:pic>
      <p:sp>
        <p:nvSpPr>
          <p:cNvPr id="146435" name="Rectangle 3"/>
          <p:cNvSpPr>
            <a:spLocks noChangeArrowheads="1"/>
          </p:cNvSpPr>
          <p:nvPr/>
        </p:nvSpPr>
        <p:spPr bwMode="auto">
          <a:xfrm>
            <a:off x="3676261" y="1390261"/>
            <a:ext cx="7744408"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1.</a:t>
            </a:r>
            <a:r>
              <a:rPr kumimoji="0" lang="zh-CN" altLang="en-US" sz="1600" b="1" i="0" u="none" strike="noStrike" cap="none" normalizeH="0" baseline="0" dirty="0" smtClean="0">
                <a:ln>
                  <a:noFill/>
                </a:ln>
                <a:solidFill>
                  <a:schemeClr val="accent4">
                    <a:lumMod val="75000"/>
                  </a:schemeClr>
                </a:solidFill>
                <a:effectLst/>
                <a:latin typeface="+mn-ea"/>
                <a:cs typeface="Arial" pitchFamily="34" charset="0"/>
              </a:rPr>
              <a:t>数字部分</a:t>
            </a:r>
            <a:endParaRPr kumimoji="0" lang="zh-CN" altLang="en-US" sz="1600" b="1" i="0" u="none" strike="noStrike" cap="none" normalizeH="0" baseline="0" dirty="0" smtClean="0">
              <a:ln>
                <a:noFill/>
              </a:ln>
              <a:solidFill>
                <a:schemeClr val="accent4">
                  <a:lumMod val="75000"/>
                </a:schemeClr>
              </a:solidFill>
              <a:effectLst/>
              <a:latin typeface="+mn-ea"/>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接</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2.0~3.6V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的直流电源。</a:t>
            </a:r>
            <a:r>
              <a:rPr kumimoji="0" lang="zh-CN" altLang="en-US" sz="1600" b="1" i="0" u="none" strike="noStrike" cap="none" normalizeH="0" baseline="0" dirty="0" smtClean="0">
                <a:ln>
                  <a:noFill/>
                </a:ln>
                <a:solidFill>
                  <a:srgbClr val="7030A0"/>
                </a:solidFill>
                <a:effectLst/>
                <a:latin typeface="+mj-ea"/>
                <a:ea typeface="+mj-ea"/>
                <a:cs typeface="Arial" pitchFamily="34" charset="0"/>
              </a:rPr>
              <a:t>通常接</a:t>
            </a:r>
            <a:r>
              <a:rPr kumimoji="0" lang="en-US" altLang="zh-CN" sz="1600" b="1" i="0" u="none" strike="noStrike" cap="none" normalizeH="0" baseline="0" dirty="0" smtClean="0">
                <a:ln>
                  <a:noFill/>
                </a:ln>
                <a:solidFill>
                  <a:srgbClr val="7030A0"/>
                </a:solidFill>
                <a:effectLst/>
                <a:latin typeface="+mj-ea"/>
                <a:ea typeface="+mj-ea"/>
                <a:cs typeface="Arial" pitchFamily="34" charset="0"/>
              </a:rPr>
              <a:t>3.3V</a:t>
            </a:r>
            <a:r>
              <a:rPr kumimoji="0" lang="zh-CN" altLang="en-US" sz="1600" b="1" i="0" u="none" strike="noStrike" cap="none" normalizeH="0" baseline="0" dirty="0" smtClean="0">
                <a:ln>
                  <a:noFill/>
                </a:ln>
                <a:solidFill>
                  <a:srgbClr val="7030A0"/>
                </a:solidFill>
                <a:effectLst/>
                <a:latin typeface="+mj-ea"/>
                <a:ea typeface="+mj-ea"/>
                <a:cs typeface="Arial" pitchFamily="34" charset="0"/>
              </a:rPr>
              <a:t>，供</a:t>
            </a:r>
            <a:r>
              <a:rPr kumimoji="0" lang="en-US" altLang="zh-CN" sz="1600" b="1" i="0" u="none" strike="noStrike" cap="none" normalizeH="0" baseline="0" dirty="0" smtClean="0">
                <a:ln>
                  <a:noFill/>
                </a:ln>
                <a:solidFill>
                  <a:srgbClr val="7030A0"/>
                </a:solidFill>
                <a:effectLst/>
                <a:latin typeface="+mj-ea"/>
                <a:ea typeface="+mj-ea"/>
                <a:cs typeface="Arial" pitchFamily="34" charset="0"/>
              </a:rPr>
              <a:t>I/O</a:t>
            </a:r>
            <a:r>
              <a:rPr kumimoji="0" lang="zh-CN" altLang="en-US" sz="1600" b="1" i="0" u="none" strike="noStrike" cap="none" normalizeH="0" baseline="0" dirty="0" smtClean="0">
                <a:ln>
                  <a:noFill/>
                </a:ln>
                <a:solidFill>
                  <a:srgbClr val="7030A0"/>
                </a:solidFill>
                <a:effectLst/>
                <a:latin typeface="+mj-ea"/>
                <a:ea typeface="+mj-ea"/>
                <a:cs typeface="Arial" pitchFamily="34" charset="0"/>
              </a:rPr>
              <a:t>等接口使用</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。内置电压调节器提高</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CM3</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处理器所需的</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电源。电压调节器有三种工作模式：</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运行模式：提供</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电源</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处理器、内存、外设</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。在此模式下，可以通过降低系统时钟或关闭总线上未被使用的</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CM3</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处理器外的外设时钟来降低功耗。</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停止模式：调节器以低功耗模式提供</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电源，以保存寄存器和</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SRAM</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的内容。</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待机模式：调节器停止供电，除了备用电路和备份域外，寄存器和</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SRAM</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的内容全部丢失。</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8" name="Rectangle 1"/>
          <p:cNvSpPr>
            <a:spLocks noChangeArrowheads="1"/>
          </p:cNvSpPr>
          <p:nvPr/>
        </p:nvSpPr>
        <p:spPr bwMode="auto">
          <a:xfrm>
            <a:off x="494524" y="4702629"/>
            <a:ext cx="10767525"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2.</a:t>
            </a:r>
            <a:r>
              <a:rPr kumimoji="0" lang="zh-CN" altLang="en-US" sz="1600" b="1" i="0" u="none" strike="noStrike" cap="none" normalizeH="0" baseline="0" dirty="0" smtClean="0">
                <a:ln>
                  <a:noFill/>
                </a:ln>
                <a:solidFill>
                  <a:schemeClr val="accent4">
                    <a:lumMod val="75000"/>
                  </a:schemeClr>
                </a:solidFill>
                <a:effectLst/>
                <a:latin typeface="+mn-ea"/>
                <a:cs typeface="Arial" pitchFamily="34" charset="0"/>
              </a:rPr>
              <a:t>模拟部分</a:t>
            </a:r>
            <a:endParaRPr kumimoji="0" lang="zh-CN" altLang="en-US" sz="1600" b="0" i="0" u="none" strike="noStrike" cap="none" normalizeH="0" baseline="0" dirty="0" smtClean="0">
              <a:ln>
                <a:noFill/>
              </a:ln>
              <a:solidFill>
                <a:schemeClr val="accent4">
                  <a:lumMod val="75000"/>
                </a:schemeClr>
              </a:solidFill>
              <a:effectLst/>
              <a:latin typeface="+mn-ea"/>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VSSA</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为独立电源地，</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接</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2.0~36V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ADC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、复位模块、</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RC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振荡器和</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PLL</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的模拟部分供电。当</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VDD≥2.4V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时，</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ADC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工作，当</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VDD≥2.7V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时，</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USB</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开始工作。</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VREF+</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的电压范围为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2.4V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至</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之间。</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3.</a:t>
            </a:r>
            <a:r>
              <a:rPr kumimoji="0" lang="zh-CN" altLang="en-US" sz="1600" b="1" i="0" u="none" strike="noStrike" cap="none" normalizeH="0" baseline="0" dirty="0" smtClean="0">
                <a:ln>
                  <a:noFill/>
                </a:ln>
                <a:solidFill>
                  <a:schemeClr val="accent4">
                    <a:lumMod val="75000"/>
                  </a:schemeClr>
                </a:solidFill>
                <a:effectLst/>
                <a:latin typeface="+mn-ea"/>
                <a:cs typeface="Arial" pitchFamily="34" charset="0"/>
              </a:rPr>
              <a:t>备份部分</a:t>
            </a:r>
            <a:r>
              <a:rPr kumimoji="0" lang="en-US" altLang="zh-CN" sz="1600" b="1" i="0" u="none" strike="noStrike" cap="none" normalizeH="0" baseline="0" dirty="0" smtClean="0">
                <a:ln>
                  <a:noFill/>
                </a:ln>
                <a:solidFill>
                  <a:schemeClr val="accent4">
                    <a:lumMod val="75000"/>
                  </a:schemeClr>
                </a:solidFill>
                <a:effectLst/>
                <a:latin typeface="+mn-ea"/>
                <a:cs typeface="Arial" pitchFamily="34" charset="0"/>
              </a:rPr>
              <a:t>VBAT</a:t>
            </a:r>
            <a:endParaRPr kumimoji="0" lang="zh-CN" altLang="en-US" sz="1600" b="0" i="0" u="none" strike="noStrike" cap="none" normalizeH="0" baseline="0" dirty="0" smtClean="0">
              <a:ln>
                <a:noFill/>
              </a:ln>
              <a:solidFill>
                <a:schemeClr val="accent4">
                  <a:lumMod val="75000"/>
                </a:schemeClr>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备份电压指的是备份域使用的供电电源。</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VBAT</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1.8~3.6V</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，当</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断电时，为</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RTC</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、外部</a:t>
            </a:r>
            <a:r>
              <a:rPr kumimoji="0" lang="en-US" altLang="zh-CN"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32kHz</a:t>
            </a:r>
            <a:r>
              <a:rPr kumimoji="0" lang="zh-CN" altLang="en-US" sz="16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振荡器和后备寄存器供电。</a:t>
            </a:r>
            <a:endParaRPr kumimoji="0" lang="zh-CN" altLang="en-US"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sz="2800" b="1" dirty="0" smtClean="0">
                <a:solidFill>
                  <a:srgbClr val="C00000"/>
                </a:solidFill>
              </a:rPr>
              <a:t>3.1.2 </a:t>
            </a:r>
            <a:r>
              <a:rPr lang="zh-CN" altLang="en-US" sz="2800" b="1" dirty="0" smtClean="0">
                <a:solidFill>
                  <a:srgbClr val="C00000"/>
                </a:solidFill>
              </a:rPr>
              <a:t>电源管理器</a:t>
            </a:r>
          </a:p>
        </p:txBody>
      </p:sp>
      <p:sp>
        <p:nvSpPr>
          <p:cNvPr id="147457" name="Rectangle 1"/>
          <p:cNvSpPr>
            <a:spLocks noChangeArrowheads="1"/>
          </p:cNvSpPr>
          <p:nvPr/>
        </p:nvSpPr>
        <p:spPr bwMode="auto">
          <a:xfrm>
            <a:off x="839754" y="1408922"/>
            <a:ext cx="5449078" cy="4651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1.</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上电复位</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(POR)</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和掉电复位</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(PDR)</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STM32</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内部又一个完整的上电复位</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(POR)</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和掉电复位</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(PDR)</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电路，当供电电压达到</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2V</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时，系统就能正常工作。当</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VDD/VDDA</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低于指定的限位电压</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VPOR/PDR</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时，系统保持为复位状态，无需外部复位电路。</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2.</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可编程电压检测器</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(PVD)</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当</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下降到</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PVD</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阈值以下和</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或</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当</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VDD</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上升到</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PVD</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阈值之上时，会产生</a:t>
            </a:r>
            <a:r>
              <a:rPr kumimoji="0" lang="en-US" altLang="zh-CN"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PVD</a:t>
            </a:r>
            <a:r>
              <a:rPr kumimoji="0" lang="zh-CN" altLang="en-US" sz="2000" b="1" i="0" u="none" strike="noStrike" cap="none" normalizeH="0" baseline="0" dirty="0" smtClean="0">
                <a:ln>
                  <a:noFill/>
                </a:ln>
                <a:solidFill>
                  <a:srgbClr val="4D4D4D"/>
                </a:solidFill>
                <a:effectLst/>
                <a:latin typeface="Arial" pitchFamily="34" charset="0"/>
                <a:ea typeface="宋体" pitchFamily="2" charset="-122"/>
                <a:cs typeface="Arial" pitchFamily="34" charset="0"/>
              </a:rPr>
              <a:t>中断。</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147458" name="Picture 2"/>
          <p:cNvPicPr>
            <a:picLocks noChangeAspect="1" noChangeArrowheads="1"/>
          </p:cNvPicPr>
          <p:nvPr/>
        </p:nvPicPr>
        <p:blipFill>
          <a:blip r:embed="rId3"/>
          <a:srcRect/>
          <a:stretch>
            <a:fillRect/>
          </a:stretch>
        </p:blipFill>
        <p:spPr bwMode="auto">
          <a:xfrm>
            <a:off x="6397012" y="1418352"/>
            <a:ext cx="4517762" cy="2164604"/>
          </a:xfrm>
          <a:prstGeom prst="rect">
            <a:avLst/>
          </a:prstGeom>
          <a:noFill/>
          <a:ln w="9525">
            <a:noFill/>
            <a:miter lim="800000"/>
            <a:headEnd/>
            <a:tailEnd/>
          </a:ln>
          <a:effectLst/>
        </p:spPr>
      </p:pic>
      <p:pic>
        <p:nvPicPr>
          <p:cNvPr id="147459" name="Picture 3"/>
          <p:cNvPicPr>
            <a:picLocks noChangeAspect="1" noChangeArrowheads="1"/>
          </p:cNvPicPr>
          <p:nvPr/>
        </p:nvPicPr>
        <p:blipFill>
          <a:blip r:embed="rId4"/>
          <a:srcRect/>
          <a:stretch>
            <a:fillRect/>
          </a:stretch>
        </p:blipFill>
        <p:spPr bwMode="auto">
          <a:xfrm>
            <a:off x="6440650" y="3928382"/>
            <a:ext cx="4677930" cy="230446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sz="2800" b="1" dirty="0" smtClean="0">
                <a:solidFill>
                  <a:srgbClr val="C00000"/>
                </a:solidFill>
              </a:rPr>
              <a:t>3.1.3 </a:t>
            </a:r>
            <a:r>
              <a:rPr lang="zh-CN" altLang="en-US" sz="2800" b="1" dirty="0" smtClean="0">
                <a:solidFill>
                  <a:srgbClr val="C00000"/>
                </a:solidFill>
              </a:rPr>
              <a:t>低功耗模式</a:t>
            </a:r>
          </a:p>
        </p:txBody>
      </p:sp>
      <p:sp>
        <p:nvSpPr>
          <p:cNvPr id="147457" name="Rectangle 1"/>
          <p:cNvSpPr>
            <a:spLocks noChangeArrowheads="1"/>
          </p:cNvSpPr>
          <p:nvPr/>
        </p:nvSpPr>
        <p:spPr bwMode="auto">
          <a:xfrm>
            <a:off x="849084" y="1318022"/>
            <a:ext cx="10245013" cy="553997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b="1" dirty="0" smtClean="0"/>
              <a:t>      </a:t>
            </a:r>
            <a:r>
              <a:rPr lang="zh-CN" altLang="en-US" sz="2400" dirty="0" smtClean="0">
                <a:latin typeface="Times New Roman" pitchFamily="18" charset="0"/>
                <a:cs typeface="Times New Roman" pitchFamily="18" charset="0"/>
              </a:rPr>
              <a:t>在系统或电源复位后，微控制处于运行模式。当处理器不需继续运行时</a:t>
            </a:r>
            <a:r>
              <a:rPr lang="en-US" sz="2400" dirty="0" smtClean="0">
                <a:latin typeface="Times New Roman" pitchFamily="18" charset="0"/>
                <a:cs typeface="Times New Roman" pitchFamily="18" charset="0"/>
              </a:rPr>
              <a:t>(</a:t>
            </a:r>
            <a:r>
              <a:rPr lang="zh-CN" altLang="en-US" sz="2400" dirty="0" smtClean="0">
                <a:latin typeface="Times New Roman" pitchFamily="18" charset="0"/>
                <a:cs typeface="Times New Roman" pitchFamily="18" charset="0"/>
              </a:rPr>
              <a:t>如等待某个外部事件</a:t>
            </a:r>
            <a:r>
              <a:rPr lang="en-US" sz="2400" dirty="0" smtClean="0">
                <a:latin typeface="Times New Roman" pitchFamily="18" charset="0"/>
                <a:cs typeface="Times New Roman" pitchFamily="18" charset="0"/>
              </a:rPr>
              <a:t>)</a:t>
            </a:r>
            <a:r>
              <a:rPr lang="zh-CN" altLang="en-US" sz="2400" dirty="0" smtClean="0">
                <a:latin typeface="Times New Roman" pitchFamily="18" charset="0"/>
                <a:cs typeface="Times New Roman" pitchFamily="18" charset="0"/>
              </a:rPr>
              <a:t>，可以利用多种低功耗模式来节省功耗。用户需要根据最低电源消耗，最快速启动事件和可用的唤醒源等条件，选定一个最佳低功耗卯时。低功耗模式主要是对处理器、处理器外部外设、</a:t>
            </a:r>
            <a:r>
              <a:rPr lang="en-US" sz="2400" dirty="0" smtClean="0">
                <a:latin typeface="Times New Roman" pitchFamily="18" charset="0"/>
                <a:cs typeface="Times New Roman" pitchFamily="18" charset="0"/>
              </a:rPr>
              <a:t>SRAM</a:t>
            </a:r>
            <a:r>
              <a:rPr lang="zh-CN" altLang="en-US" sz="2400" dirty="0" smtClean="0">
                <a:latin typeface="Times New Roman" pitchFamily="18" charset="0"/>
                <a:cs typeface="Times New Roman" pitchFamily="18" charset="0"/>
              </a:rPr>
              <a:t>和寄存器等的供电电源和时钟进行控制操作。</a:t>
            </a:r>
          </a:p>
          <a:p>
            <a:pPr>
              <a:lnSpc>
                <a:spcPct val="150000"/>
              </a:lnSpc>
            </a:pPr>
            <a:r>
              <a:rPr lang="en-US" sz="2400" dirty="0" smtClean="0">
                <a:latin typeface="Times New Roman" pitchFamily="18" charset="0"/>
                <a:cs typeface="Times New Roman" pitchFamily="18" charset="0"/>
              </a:rPr>
              <a:t>STM32F10x</a:t>
            </a:r>
            <a:r>
              <a:rPr lang="zh-CN" altLang="en-US" sz="2400" dirty="0" smtClean="0">
                <a:latin typeface="Times New Roman" pitchFamily="18" charset="0"/>
                <a:cs typeface="Times New Roman" pitchFamily="18" charset="0"/>
              </a:rPr>
              <a:t>系列处理器有三种低功耗模式：</a:t>
            </a:r>
          </a:p>
          <a:p>
            <a:pPr>
              <a:lnSpc>
                <a:spcPct val="150000"/>
              </a:lnSpc>
              <a:buClr>
                <a:schemeClr val="accent2">
                  <a:lumMod val="50000"/>
                </a:schemeClr>
              </a:buClr>
              <a:buFont typeface="Wingdings" pitchFamily="2" charset="2"/>
              <a:buChar char="u"/>
            </a:pPr>
            <a:r>
              <a:rPr lang="zh-CN" altLang="en-US" sz="2400" dirty="0" smtClean="0">
                <a:latin typeface="Times New Roman" pitchFamily="18" charset="0"/>
                <a:cs typeface="Times New Roman" pitchFamily="18" charset="0"/>
              </a:rPr>
              <a:t>睡眠模式：</a:t>
            </a:r>
            <a:r>
              <a:rPr lang="en-US" sz="2400" dirty="0" smtClean="0">
                <a:latin typeface="Times New Roman" pitchFamily="18" charset="0"/>
                <a:cs typeface="Times New Roman" pitchFamily="18" charset="0"/>
              </a:rPr>
              <a:t>CM3</a:t>
            </a:r>
            <a:r>
              <a:rPr lang="zh-CN" altLang="en-US" sz="2400" dirty="0" smtClean="0">
                <a:latin typeface="Times New Roman" pitchFamily="18" charset="0"/>
                <a:cs typeface="Times New Roman" pitchFamily="18" charset="0"/>
              </a:rPr>
              <a:t>内核停止，外设仍在运行</a:t>
            </a:r>
          </a:p>
          <a:p>
            <a:pPr>
              <a:lnSpc>
                <a:spcPct val="150000"/>
              </a:lnSpc>
              <a:buClr>
                <a:schemeClr val="accent2">
                  <a:lumMod val="50000"/>
                </a:schemeClr>
              </a:buClr>
              <a:buFont typeface="Wingdings" pitchFamily="2" charset="2"/>
              <a:buChar char="u"/>
            </a:pPr>
            <a:r>
              <a:rPr lang="zh-CN" altLang="en-US" sz="2400" dirty="0" smtClean="0">
                <a:latin typeface="Times New Roman" pitchFamily="18" charset="0"/>
                <a:cs typeface="Times New Roman" pitchFamily="18" charset="0"/>
              </a:rPr>
              <a:t>停止模式：所有时钟都已停止</a:t>
            </a:r>
          </a:p>
          <a:p>
            <a:pPr>
              <a:lnSpc>
                <a:spcPct val="150000"/>
              </a:lnSpc>
              <a:buClr>
                <a:schemeClr val="accent2">
                  <a:lumMod val="50000"/>
                </a:schemeClr>
              </a:buClr>
              <a:buFont typeface="Wingdings" pitchFamily="2" charset="2"/>
              <a:buChar char="u"/>
            </a:pPr>
            <a:r>
              <a:rPr lang="zh-CN" altLang="en-US" sz="2400" dirty="0" smtClean="0">
                <a:latin typeface="Times New Roman" pitchFamily="18" charset="0"/>
                <a:cs typeface="Times New Roman" pitchFamily="18" charset="0"/>
              </a:rPr>
              <a:t>待机模式：</a:t>
            </a:r>
            <a:r>
              <a:rPr lang="en-US" sz="2400" dirty="0" smtClean="0">
                <a:latin typeface="Times New Roman" pitchFamily="18" charset="0"/>
                <a:cs typeface="Times New Roman" pitchFamily="18" charset="0"/>
              </a:rPr>
              <a:t>1.8V</a:t>
            </a:r>
            <a:r>
              <a:rPr lang="zh-CN" altLang="en-US" sz="2400" dirty="0" smtClean="0">
                <a:latin typeface="Times New Roman" pitchFamily="18" charset="0"/>
                <a:cs typeface="Times New Roman" pitchFamily="18" charset="0"/>
              </a:rPr>
              <a:t>电源关闭</a:t>
            </a:r>
          </a:p>
          <a:p>
            <a:pPr>
              <a:lnSpc>
                <a:spcPct val="150000"/>
              </a:lnSpc>
            </a:pPr>
            <a:r>
              <a:rPr lang="en-US" sz="2000" dirty="0" smtClean="0"/>
              <a:t> </a:t>
            </a:r>
            <a:endParaRPr lang="zh-CN" alt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sz="2800" b="1" dirty="0" smtClean="0">
                <a:solidFill>
                  <a:srgbClr val="C00000"/>
                </a:solidFill>
              </a:rPr>
              <a:t>3.2 </a:t>
            </a:r>
            <a:r>
              <a:rPr lang="zh-CN" altLang="en-US" sz="2800" b="1" dirty="0" smtClean="0">
                <a:solidFill>
                  <a:srgbClr val="C00000"/>
                </a:solidFill>
              </a:rPr>
              <a:t>时钟电路</a:t>
            </a:r>
          </a:p>
        </p:txBody>
      </p:sp>
      <p:sp>
        <p:nvSpPr>
          <p:cNvPr id="147457" name="Rectangle 1"/>
          <p:cNvSpPr>
            <a:spLocks noChangeArrowheads="1"/>
          </p:cNvSpPr>
          <p:nvPr/>
        </p:nvSpPr>
        <p:spPr bwMode="auto">
          <a:xfrm>
            <a:off x="849084" y="1318022"/>
            <a:ext cx="10245013" cy="4985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b="1" dirty="0" smtClean="0"/>
              <a:t>       </a:t>
            </a:r>
            <a:r>
              <a:rPr lang="en-US" altLang="zh-CN" sz="2400" dirty="0" smtClean="0">
                <a:latin typeface="Times New Roman" pitchFamily="18" charset="0"/>
                <a:cs typeface="Times New Roman" pitchFamily="18" charset="0"/>
              </a:rPr>
              <a:t>STM32</a:t>
            </a:r>
            <a:r>
              <a:rPr lang="zh-CN" altLang="en-US" sz="2400" dirty="0" smtClean="0">
                <a:latin typeface="Times New Roman" pitchFamily="18" charset="0"/>
                <a:cs typeface="Times New Roman" pitchFamily="18" charset="0"/>
              </a:rPr>
              <a:t>时钟系统中的时钟源在不是用时可以单独打开或关闭，以优化系统功耗。</a:t>
            </a:r>
            <a:endParaRPr lang="en-US" altLang="zh-CN" sz="2400" dirty="0" smtClean="0">
              <a:latin typeface="Times New Roman" pitchFamily="18" charset="0"/>
              <a:cs typeface="Times New Roman" pitchFamily="18" charset="0"/>
            </a:endParaRPr>
          </a:p>
          <a:p>
            <a:pPr>
              <a:lnSpc>
                <a:spcPct val="150000"/>
              </a:lnSpc>
            </a:pPr>
            <a:r>
              <a:rPr lang="en-US" altLang="zh-CN" sz="2400" dirty="0" smtClean="0">
                <a:latin typeface="Times New Roman" pitchFamily="18" charset="0"/>
                <a:cs typeface="Times New Roman" pitchFamily="18" charset="0"/>
              </a:rPr>
              <a:t>        STM32</a:t>
            </a:r>
            <a:r>
              <a:rPr lang="zh-CN" altLang="en-US" sz="2400" dirty="0" smtClean="0"/>
              <a:t>本身十分复杂，外设非常多  但我们实际使用的时候只会用到有限的几个外设，使用任何外设都需要时钟才能启动，但并不是所有的外设都需要系统时钟那么高的频率，为了兼容不同速度的设备，有些高速，有些低速，如果都用高速时钟，势必造成浪费   并且，同一个电路，时钟越快功耗越快，同时抗电磁干扰能力也就越弱，所以较为复杂的</a:t>
            </a:r>
            <a:r>
              <a:rPr lang="en-US" altLang="zh-CN" sz="2400" dirty="0" smtClean="0"/>
              <a:t>MCU</a:t>
            </a:r>
            <a:r>
              <a:rPr lang="zh-CN" altLang="en-US" sz="2400" dirty="0" smtClean="0"/>
              <a:t>都是采用多时钟源的方法来解决这些问题。</a:t>
            </a:r>
            <a:endParaRPr lang="zh-CN" altLang="en-US" sz="2400" dirty="0" smtClean="0">
              <a:latin typeface="Times New Roman" pitchFamily="18" charset="0"/>
              <a:cs typeface="Times New Roman" pitchFamily="18" charset="0"/>
            </a:endParaRPr>
          </a:p>
          <a:p>
            <a:pPr>
              <a:lnSpc>
                <a:spcPct val="150000"/>
              </a:lnSpc>
            </a:pPr>
            <a:r>
              <a:rPr lang="en-US" sz="2000" dirty="0" smtClean="0"/>
              <a:t> </a:t>
            </a:r>
            <a:endParaRPr lang="zh-CN"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809681" y="-111968"/>
            <a:ext cx="6591300" cy="7327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1"/>
          <p:cNvSpPr>
            <a:spLocks noChangeArrowheads="1"/>
          </p:cNvSpPr>
          <p:nvPr/>
        </p:nvSpPr>
        <p:spPr bwMode="auto">
          <a:xfrm>
            <a:off x="485190" y="599565"/>
            <a:ext cx="10636900" cy="56706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dirty="0" smtClean="0"/>
              <a:t>STM32</a:t>
            </a:r>
            <a:r>
              <a:rPr lang="zh-CN" altLang="en-US" sz="2000" dirty="0" smtClean="0"/>
              <a:t>时钟系统主要的目的就是</a:t>
            </a:r>
            <a:r>
              <a:rPr lang="zh-CN" altLang="en-US" sz="2000" b="1" dirty="0" smtClean="0">
                <a:solidFill>
                  <a:srgbClr val="FF0000"/>
                </a:solidFill>
              </a:rPr>
              <a:t>给相对独立的外设模块提供时钟</a:t>
            </a:r>
            <a:r>
              <a:rPr lang="zh-CN" altLang="en-US" sz="2000" dirty="0" smtClean="0"/>
              <a:t>，也是为了</a:t>
            </a:r>
            <a:r>
              <a:rPr lang="zh-CN" altLang="en-US" sz="2000" b="1" dirty="0" smtClean="0"/>
              <a:t>降低整个芯片的耗能</a:t>
            </a:r>
            <a:r>
              <a:rPr lang="zh-CN" altLang="en-US" sz="2000" dirty="0" smtClean="0"/>
              <a:t>。</a:t>
            </a:r>
          </a:p>
          <a:p>
            <a:pPr>
              <a:lnSpc>
                <a:spcPct val="150000"/>
              </a:lnSpc>
            </a:pPr>
            <a:r>
              <a:rPr lang="zh-CN" altLang="en-US" sz="2000" dirty="0" smtClean="0"/>
              <a:t>系统时钟，是处理器运行时间基准（每一条机器指令一个时钟周期）</a:t>
            </a:r>
          </a:p>
          <a:p>
            <a:pPr>
              <a:lnSpc>
                <a:spcPct val="150000"/>
              </a:lnSpc>
            </a:pPr>
            <a:r>
              <a:rPr lang="zh-CN" altLang="en-US" sz="2000" b="1" dirty="0" smtClean="0"/>
              <a:t>时钟是单片机运行的基础，时钟信号推动单片机内各个部分执行相应的指令。</a:t>
            </a:r>
            <a:endParaRPr lang="zh-CN" altLang="en-US" sz="2000" dirty="0" smtClean="0"/>
          </a:p>
          <a:p>
            <a:pPr>
              <a:lnSpc>
                <a:spcPct val="150000"/>
              </a:lnSpc>
            </a:pPr>
            <a:r>
              <a:rPr lang="zh-CN" altLang="en-US" sz="2000" b="1" dirty="0" smtClean="0"/>
              <a:t>一个单片机内提供多个不同的系统时钟，可以适应更多的应用场合。</a:t>
            </a:r>
            <a:endParaRPr lang="zh-CN" altLang="en-US" sz="2000" dirty="0" smtClean="0"/>
          </a:p>
          <a:p>
            <a:pPr>
              <a:lnSpc>
                <a:spcPct val="150000"/>
              </a:lnSpc>
            </a:pPr>
            <a:r>
              <a:rPr lang="zh-CN" altLang="en-US" sz="2000" b="1" dirty="0" smtClean="0"/>
              <a:t>不同的功能模块会有不同的时钟上限，因此提供不同的时钟，也能在一个单片机内放置更多的功能模块。</a:t>
            </a:r>
            <a:br>
              <a:rPr lang="zh-CN" altLang="en-US" sz="2000" b="1" dirty="0" smtClean="0"/>
            </a:br>
            <a:r>
              <a:rPr lang="zh-CN" altLang="en-US" sz="2000" b="1" dirty="0" smtClean="0"/>
              <a:t>对不同模块的时钟增加开启和关闭功能，可以降低单片机的功耗</a:t>
            </a:r>
            <a:endParaRPr lang="zh-CN" altLang="en-US" sz="2000" dirty="0" smtClean="0"/>
          </a:p>
          <a:p>
            <a:pPr>
              <a:lnSpc>
                <a:spcPct val="150000"/>
              </a:lnSpc>
            </a:pPr>
            <a:r>
              <a:rPr lang="en-US" altLang="zh-CN" sz="2000" dirty="0" smtClean="0"/>
              <a:t>STM32</a:t>
            </a:r>
            <a:r>
              <a:rPr lang="zh-CN" altLang="en-US" sz="2000" dirty="0" smtClean="0"/>
              <a:t>为了低功耗，</a:t>
            </a:r>
            <a:r>
              <a:rPr lang="zh-CN" altLang="en-US" sz="2000" b="1" dirty="0" smtClean="0">
                <a:solidFill>
                  <a:srgbClr val="FF0000"/>
                </a:solidFill>
              </a:rPr>
              <a:t>他将所有的外设时钟都设置为</a:t>
            </a:r>
            <a:r>
              <a:rPr lang="en-US" altLang="zh-CN" sz="2000" b="1" dirty="0" smtClean="0">
                <a:solidFill>
                  <a:srgbClr val="FF0000"/>
                </a:solidFill>
              </a:rPr>
              <a:t>disable(</a:t>
            </a:r>
            <a:r>
              <a:rPr lang="zh-CN" altLang="en-US" sz="2000" b="1" dirty="0" smtClean="0">
                <a:solidFill>
                  <a:srgbClr val="FF0000"/>
                </a:solidFill>
              </a:rPr>
              <a:t>不使能</a:t>
            </a:r>
            <a:r>
              <a:rPr lang="en-US" altLang="zh-CN" sz="2000" b="1" dirty="0" smtClean="0">
                <a:solidFill>
                  <a:srgbClr val="FF0000"/>
                </a:solidFill>
              </a:rPr>
              <a:t>)</a:t>
            </a:r>
            <a:r>
              <a:rPr lang="zh-CN" altLang="en-US" sz="2000" dirty="0" smtClean="0"/>
              <a:t>，用到什么外设，只要打开对应外设的时钟就可以， 其他的没用到的可以还是</a:t>
            </a:r>
            <a:r>
              <a:rPr lang="en-US" altLang="zh-CN" sz="2000" dirty="0" smtClean="0"/>
              <a:t>disable(</a:t>
            </a:r>
            <a:r>
              <a:rPr lang="zh-CN" altLang="en-US" sz="2000" dirty="0" smtClean="0"/>
              <a:t>不使能</a:t>
            </a:r>
            <a:r>
              <a:rPr lang="en-US" altLang="zh-CN" sz="2000" dirty="0" smtClean="0"/>
              <a:t>)</a:t>
            </a:r>
            <a:r>
              <a:rPr lang="zh-CN" altLang="en-US" sz="2000" dirty="0" smtClean="0"/>
              <a:t>，这样耗能就会减少。  这就是为什么</a:t>
            </a:r>
            <a:r>
              <a:rPr lang="zh-CN" altLang="en-US" sz="2000" b="1" dirty="0" smtClean="0"/>
              <a:t>不管你配置什么功能都需要先打开对应的时钟</a:t>
            </a:r>
            <a:r>
              <a:rPr lang="zh-CN" altLang="en-US" sz="2000" dirty="0" smtClean="0"/>
              <a:t>的原因</a:t>
            </a:r>
          </a:p>
          <a:p>
            <a:pPr>
              <a:lnSpc>
                <a:spcPct val="150000"/>
              </a:lnSpc>
            </a:pPr>
            <a:endParaRPr lang="zh-CN" alt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82082" y="718086"/>
            <a:ext cx="10854612" cy="5170646"/>
          </a:xfrm>
          <a:prstGeom prst="rect">
            <a:avLst/>
          </a:prstGeom>
        </p:spPr>
        <p:txBody>
          <a:bodyPr wrap="square">
            <a:spAutoFit/>
          </a:bodyPr>
          <a:lstStyle/>
          <a:p>
            <a:pPr>
              <a:lnSpc>
                <a:spcPct val="150000"/>
              </a:lnSpc>
            </a:pPr>
            <a:r>
              <a:rPr lang="en-US" altLang="zh-CN" sz="2000" b="1" dirty="0" smtClean="0">
                <a:solidFill>
                  <a:srgbClr val="FF0000"/>
                </a:solidFill>
              </a:rPr>
              <a:t>STM32 </a:t>
            </a:r>
            <a:r>
              <a:rPr lang="zh-CN" altLang="en-US" sz="2000" b="1" dirty="0" smtClean="0">
                <a:solidFill>
                  <a:srgbClr val="FF0000"/>
                </a:solidFill>
              </a:rPr>
              <a:t>有</a:t>
            </a:r>
            <a:r>
              <a:rPr lang="en-US" altLang="zh-CN" sz="2000" b="1" dirty="0" smtClean="0">
                <a:solidFill>
                  <a:srgbClr val="FF0000"/>
                </a:solidFill>
              </a:rPr>
              <a:t>4</a:t>
            </a:r>
            <a:r>
              <a:rPr lang="zh-CN" altLang="en-US" sz="2000" b="1" dirty="0" smtClean="0">
                <a:solidFill>
                  <a:srgbClr val="FF0000"/>
                </a:solidFill>
              </a:rPr>
              <a:t>个独立时钟源</a:t>
            </a:r>
            <a:r>
              <a:rPr lang="en-US" altLang="zh-CN" sz="2000" b="1" dirty="0" smtClean="0">
                <a:solidFill>
                  <a:srgbClr val="FF0000"/>
                </a:solidFill>
              </a:rPr>
              <a:t>:HSI</a:t>
            </a:r>
            <a:r>
              <a:rPr lang="zh-CN" altLang="en-US" sz="2000" b="1" dirty="0" smtClean="0">
                <a:solidFill>
                  <a:srgbClr val="FF0000"/>
                </a:solidFill>
              </a:rPr>
              <a:t>、</a:t>
            </a:r>
            <a:r>
              <a:rPr lang="en-US" altLang="zh-CN" sz="2000" b="1" dirty="0" smtClean="0">
                <a:solidFill>
                  <a:srgbClr val="FF0000"/>
                </a:solidFill>
              </a:rPr>
              <a:t>HSE</a:t>
            </a:r>
            <a:r>
              <a:rPr lang="zh-CN" altLang="en-US" sz="2000" b="1" dirty="0" smtClean="0">
                <a:solidFill>
                  <a:srgbClr val="FF0000"/>
                </a:solidFill>
              </a:rPr>
              <a:t>、</a:t>
            </a:r>
            <a:r>
              <a:rPr lang="en-US" altLang="zh-CN" sz="2000" b="1" dirty="0" smtClean="0">
                <a:solidFill>
                  <a:srgbClr val="FF0000"/>
                </a:solidFill>
              </a:rPr>
              <a:t>LSI</a:t>
            </a:r>
            <a:r>
              <a:rPr lang="zh-CN" altLang="en-US" sz="2000" b="1" dirty="0" smtClean="0">
                <a:solidFill>
                  <a:srgbClr val="FF0000"/>
                </a:solidFill>
              </a:rPr>
              <a:t>、</a:t>
            </a:r>
            <a:r>
              <a:rPr lang="en-US" altLang="zh-CN" sz="2000" b="1" dirty="0" smtClean="0">
                <a:solidFill>
                  <a:srgbClr val="FF0000"/>
                </a:solidFill>
              </a:rPr>
              <a:t>LSE</a:t>
            </a:r>
            <a:r>
              <a:rPr lang="zh-CN" altLang="en-US" sz="2000" b="1" dirty="0" smtClean="0">
                <a:solidFill>
                  <a:srgbClr val="FF0000"/>
                </a:solidFill>
              </a:rPr>
              <a:t>。</a:t>
            </a:r>
            <a:r>
              <a:rPr lang="zh-CN" altLang="en-US" sz="2000" dirty="0" smtClean="0"/>
              <a:t/>
            </a:r>
            <a:br>
              <a:rPr lang="zh-CN" altLang="en-US" sz="2000" dirty="0" smtClean="0"/>
            </a:br>
            <a:r>
              <a:rPr lang="zh-CN" altLang="en-US" sz="2000" dirty="0" smtClean="0"/>
              <a:t>①、</a:t>
            </a:r>
            <a:r>
              <a:rPr lang="en-US" altLang="zh-CN" sz="2000" dirty="0" smtClean="0"/>
              <a:t>HSI</a:t>
            </a:r>
            <a:r>
              <a:rPr lang="zh-CN" altLang="en-US" sz="2000" dirty="0" smtClean="0"/>
              <a:t>是高速内部时钟，</a:t>
            </a:r>
            <a:r>
              <a:rPr lang="en-US" altLang="zh-CN" sz="2000" dirty="0" smtClean="0"/>
              <a:t>RC</a:t>
            </a:r>
            <a:r>
              <a:rPr lang="zh-CN" altLang="en-US" sz="2000" dirty="0" smtClean="0"/>
              <a:t>振荡器，频率为</a:t>
            </a:r>
            <a:r>
              <a:rPr lang="en-US" altLang="zh-CN" sz="2000" dirty="0" smtClean="0"/>
              <a:t>8MHz</a:t>
            </a:r>
            <a:r>
              <a:rPr lang="zh-CN" altLang="en-US" sz="2000" dirty="0" smtClean="0"/>
              <a:t>，精度不高。</a:t>
            </a:r>
            <a:br>
              <a:rPr lang="zh-CN" altLang="en-US" sz="2000" dirty="0" smtClean="0"/>
            </a:br>
            <a:r>
              <a:rPr lang="zh-CN" altLang="en-US" sz="2000" dirty="0" smtClean="0"/>
              <a:t>②、</a:t>
            </a:r>
            <a:r>
              <a:rPr lang="en-US" altLang="zh-CN" sz="2000" dirty="0" smtClean="0"/>
              <a:t>HSE</a:t>
            </a:r>
            <a:r>
              <a:rPr lang="zh-CN" altLang="en-US" sz="2000" dirty="0" smtClean="0"/>
              <a:t>是高速外部时钟，可接石英</a:t>
            </a:r>
            <a:r>
              <a:rPr lang="en-US" altLang="zh-CN" sz="2000" dirty="0" smtClean="0"/>
              <a:t>/</a:t>
            </a:r>
            <a:r>
              <a:rPr lang="zh-CN" altLang="en-US" sz="2000" dirty="0" smtClean="0"/>
              <a:t>陶瓷谐振器，或者接外部时钟源，频率范围为</a:t>
            </a:r>
            <a:r>
              <a:rPr lang="en-US" altLang="zh-CN" sz="2000" b="1" dirty="0" smtClean="0"/>
              <a:t>4MHz~16MHz</a:t>
            </a:r>
            <a:r>
              <a:rPr lang="zh-CN" altLang="en-US" sz="2000" dirty="0" smtClean="0"/>
              <a:t>。</a:t>
            </a:r>
            <a:br>
              <a:rPr lang="zh-CN" altLang="en-US" sz="2000" dirty="0" smtClean="0"/>
            </a:br>
            <a:r>
              <a:rPr lang="zh-CN" altLang="en-US" sz="2000" dirty="0" smtClean="0"/>
              <a:t>③、</a:t>
            </a:r>
            <a:r>
              <a:rPr lang="en-US" altLang="zh-CN" sz="2000" dirty="0" smtClean="0"/>
              <a:t>LSI</a:t>
            </a:r>
            <a:r>
              <a:rPr lang="zh-CN" altLang="en-US" sz="2000" dirty="0" smtClean="0"/>
              <a:t>是低速内部时钟，</a:t>
            </a:r>
            <a:r>
              <a:rPr lang="en-US" altLang="zh-CN" sz="2000" dirty="0" smtClean="0"/>
              <a:t>RC</a:t>
            </a:r>
            <a:r>
              <a:rPr lang="zh-CN" altLang="en-US" sz="2000" dirty="0" smtClean="0"/>
              <a:t>振荡器，频率为</a:t>
            </a:r>
            <a:r>
              <a:rPr lang="en-US" altLang="zh-CN" sz="2000" dirty="0" smtClean="0"/>
              <a:t>40kHz</a:t>
            </a:r>
            <a:r>
              <a:rPr lang="zh-CN" altLang="en-US" sz="2000" dirty="0" smtClean="0"/>
              <a:t>，提供低功耗时钟。　 </a:t>
            </a:r>
            <a:br>
              <a:rPr lang="zh-CN" altLang="en-US" sz="2000" dirty="0" smtClean="0"/>
            </a:br>
            <a:r>
              <a:rPr lang="zh-CN" altLang="en-US" sz="2000" dirty="0" smtClean="0"/>
              <a:t>④、</a:t>
            </a:r>
            <a:r>
              <a:rPr lang="en-US" altLang="zh-CN" sz="2000" dirty="0" smtClean="0"/>
              <a:t>LSE</a:t>
            </a:r>
            <a:r>
              <a:rPr lang="zh-CN" altLang="en-US" sz="2000" dirty="0" smtClean="0"/>
              <a:t>是低速外部时钟，接频率为</a:t>
            </a:r>
            <a:r>
              <a:rPr lang="en-US" altLang="zh-CN" sz="2000" dirty="0" smtClean="0"/>
              <a:t>32.768kHz</a:t>
            </a:r>
            <a:r>
              <a:rPr lang="zh-CN" altLang="en-US" sz="2000" dirty="0" smtClean="0"/>
              <a:t>的石英晶体。</a:t>
            </a:r>
            <a:endParaRPr lang="en-US" altLang="zh-CN" sz="2000" dirty="0" smtClean="0"/>
          </a:p>
          <a:p>
            <a:pPr>
              <a:lnSpc>
                <a:spcPct val="150000"/>
              </a:lnSpc>
            </a:pPr>
            <a:r>
              <a:rPr lang="zh-CN" altLang="en-US" sz="2000" b="1" dirty="0" smtClean="0"/>
              <a:t>其中</a:t>
            </a:r>
            <a:r>
              <a:rPr lang="en-US" altLang="zh-CN" sz="2000" b="1" dirty="0" smtClean="0"/>
              <a:t>LSI</a:t>
            </a:r>
            <a:r>
              <a:rPr lang="zh-CN" altLang="en-US" sz="2000" b="1" dirty="0" smtClean="0"/>
              <a:t>是作为</a:t>
            </a:r>
            <a:r>
              <a:rPr lang="en-US" altLang="zh-CN" sz="2000" b="1" dirty="0" smtClean="0"/>
              <a:t>IWDGCLK(</a:t>
            </a:r>
            <a:r>
              <a:rPr lang="zh-CN" altLang="en-US" sz="2000" b="1" dirty="0" smtClean="0"/>
              <a:t>独立看门狗</a:t>
            </a:r>
            <a:r>
              <a:rPr lang="en-US" altLang="zh-CN" sz="2000" b="1" dirty="0" smtClean="0"/>
              <a:t>)</a:t>
            </a:r>
            <a:r>
              <a:rPr lang="zh-CN" altLang="en-US" sz="2000" b="1" dirty="0" smtClean="0"/>
              <a:t>时钟源和</a:t>
            </a:r>
            <a:r>
              <a:rPr lang="en-US" altLang="zh-CN" sz="2000" b="1" dirty="0" smtClean="0"/>
              <a:t>RTC</a:t>
            </a:r>
            <a:r>
              <a:rPr lang="zh-CN" altLang="en-US" sz="2000" b="1" dirty="0" smtClean="0"/>
              <a:t>时钟源</a:t>
            </a:r>
            <a:r>
              <a:rPr lang="zh-CN" altLang="en-US" sz="2000" dirty="0" smtClean="0"/>
              <a:t> </a:t>
            </a:r>
            <a:r>
              <a:rPr lang="zh-CN" altLang="en-US" sz="2000" b="1" dirty="0" smtClean="0"/>
              <a:t>而独立使用</a:t>
            </a:r>
            <a:endParaRPr lang="en-US" altLang="zh-CN" sz="2000" b="1" dirty="0" smtClean="0"/>
          </a:p>
          <a:p>
            <a:pPr>
              <a:lnSpc>
                <a:spcPct val="150000"/>
              </a:lnSpc>
            </a:pPr>
            <a:r>
              <a:rPr lang="zh-CN" altLang="en-US" sz="2000" b="1" dirty="0" smtClean="0"/>
              <a:t>而</a:t>
            </a:r>
            <a:r>
              <a:rPr lang="en-US" altLang="zh-CN" sz="2000" b="1" dirty="0" smtClean="0">
                <a:solidFill>
                  <a:srgbClr val="FF0000"/>
                </a:solidFill>
              </a:rPr>
              <a:t>HSI</a:t>
            </a:r>
            <a:r>
              <a:rPr lang="zh-CN" altLang="en-US" sz="2000" b="1" dirty="0" smtClean="0">
                <a:solidFill>
                  <a:srgbClr val="FF0000"/>
                </a:solidFill>
              </a:rPr>
              <a:t>高速内部时钟、</a:t>
            </a:r>
            <a:r>
              <a:rPr lang="en-US" altLang="zh-CN" sz="2000" b="1" dirty="0" smtClean="0">
                <a:solidFill>
                  <a:srgbClr val="FF0000"/>
                </a:solidFill>
              </a:rPr>
              <a:t>HSE</a:t>
            </a:r>
            <a:r>
              <a:rPr lang="zh-CN" altLang="en-US" sz="2000" b="1" dirty="0" smtClean="0">
                <a:solidFill>
                  <a:srgbClr val="FF0000"/>
                </a:solidFill>
              </a:rPr>
              <a:t>高速外部时钟、</a:t>
            </a:r>
            <a:r>
              <a:rPr lang="en-US" altLang="zh-CN" sz="2000" b="1" dirty="0" smtClean="0">
                <a:solidFill>
                  <a:srgbClr val="FF0000"/>
                </a:solidFill>
              </a:rPr>
              <a:t>PLL</a:t>
            </a:r>
            <a:r>
              <a:rPr lang="zh-CN" altLang="en-US" sz="2000" b="1" dirty="0" smtClean="0">
                <a:solidFill>
                  <a:srgbClr val="FF0000"/>
                </a:solidFill>
              </a:rPr>
              <a:t>锁相环时钟这三个经过分频或者倍频作为系统时钟来使用</a:t>
            </a:r>
            <a:endParaRPr lang="en-US" altLang="zh-CN" sz="2000" b="1" dirty="0" smtClean="0">
              <a:solidFill>
                <a:srgbClr val="FF0000"/>
              </a:solidFill>
            </a:endParaRPr>
          </a:p>
          <a:p>
            <a:pPr>
              <a:lnSpc>
                <a:spcPct val="150000"/>
              </a:lnSpc>
            </a:pPr>
            <a:r>
              <a:rPr lang="en-US" altLang="zh-CN" sz="2000" dirty="0" smtClean="0"/>
              <a:t>PLL</a:t>
            </a:r>
            <a:r>
              <a:rPr lang="zh-CN" altLang="en-US" sz="2000" dirty="0" smtClean="0"/>
              <a:t>为锁相环倍频输出，其时钟输入源可选择为</a:t>
            </a:r>
            <a:r>
              <a:rPr lang="en-US" altLang="zh-CN" sz="2000" b="1" dirty="0" smtClean="0"/>
              <a:t>HSI/2</a:t>
            </a:r>
            <a:r>
              <a:rPr lang="zh-CN" altLang="en-US" sz="2000" b="1" dirty="0" smtClean="0"/>
              <a:t>、</a:t>
            </a:r>
            <a:r>
              <a:rPr lang="en-US" altLang="zh-CN" sz="2000" b="1" dirty="0" smtClean="0"/>
              <a:t>HSE</a:t>
            </a:r>
            <a:r>
              <a:rPr lang="zh-CN" altLang="en-US" sz="2000" b="1" dirty="0" smtClean="0"/>
              <a:t>或者</a:t>
            </a:r>
            <a:r>
              <a:rPr lang="en-US" altLang="zh-CN" sz="2000" b="1" dirty="0" smtClean="0"/>
              <a:t>HSE/2</a:t>
            </a:r>
            <a:r>
              <a:rPr lang="zh-CN" altLang="en-US" sz="2000" dirty="0" smtClean="0"/>
              <a:t>。倍频可选择为</a:t>
            </a:r>
            <a:r>
              <a:rPr lang="en-US" altLang="zh-CN" sz="2000" b="1" dirty="0" smtClean="0"/>
              <a:t>2~16</a:t>
            </a:r>
            <a:r>
              <a:rPr lang="zh-CN" altLang="en-US" sz="2000" dirty="0" smtClean="0"/>
              <a:t>倍，但是其输出频率最大不得超过</a:t>
            </a:r>
            <a:r>
              <a:rPr lang="en-US" altLang="zh-CN" sz="2000" dirty="0" smtClean="0"/>
              <a:t>72MHz</a:t>
            </a:r>
            <a:r>
              <a:rPr lang="zh-CN" altLang="en-US" sz="2000" dirty="0" smtClean="0"/>
              <a:t>。  </a:t>
            </a:r>
            <a:r>
              <a:rPr lang="zh-CN" altLang="en-US" sz="2000" b="1" dirty="0" smtClean="0"/>
              <a:t>通过倍频之后作为系统时钟的时钟源</a:t>
            </a:r>
            <a:endParaRPr lang="zh-CN" altLang="en-US"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55305" y="844335"/>
            <a:ext cx="10192139" cy="3970318"/>
          </a:xfrm>
          <a:prstGeom prst="rect">
            <a:avLst/>
          </a:prstGeom>
        </p:spPr>
        <p:txBody>
          <a:bodyPr wrap="square">
            <a:spAutoFit/>
          </a:bodyPr>
          <a:lstStyle/>
          <a:p>
            <a:pPr>
              <a:lnSpc>
                <a:spcPct val="150000"/>
              </a:lnSpc>
            </a:pPr>
            <a:r>
              <a:rPr lang="zh-CN" altLang="en-US" sz="2400" b="1" dirty="0" smtClean="0">
                <a:solidFill>
                  <a:srgbClr val="FF0000"/>
                </a:solidFill>
              </a:rPr>
              <a:t>例：</a:t>
            </a:r>
            <a:r>
              <a:rPr lang="en-US" altLang="zh-CN" sz="2400" dirty="0" err="1" smtClean="0"/>
              <a:t>Keil</a:t>
            </a:r>
            <a:r>
              <a:rPr lang="zh-CN" altLang="en-US" sz="2400" dirty="0" smtClean="0"/>
              <a:t>编写程序是默认的时钟为</a:t>
            </a:r>
            <a:r>
              <a:rPr lang="en-US" altLang="zh-CN" sz="2400" dirty="0" smtClean="0"/>
              <a:t>72Mhz</a:t>
            </a:r>
            <a:r>
              <a:rPr lang="zh-CN" altLang="en-US" sz="2400" dirty="0" smtClean="0"/>
              <a:t>，其实是这么来的：外部晶振</a:t>
            </a:r>
            <a:r>
              <a:rPr lang="en-US" altLang="zh-CN" sz="2400" dirty="0" smtClean="0"/>
              <a:t>(</a:t>
            </a:r>
            <a:r>
              <a:rPr lang="en-US" altLang="zh-CN" sz="2400" b="1" dirty="0" smtClean="0"/>
              <a:t>HSE</a:t>
            </a:r>
            <a:r>
              <a:rPr lang="en-US" altLang="zh-CN" sz="2400" dirty="0" smtClean="0"/>
              <a:t>)</a:t>
            </a:r>
            <a:r>
              <a:rPr lang="zh-CN" altLang="en-US" sz="2400" dirty="0" smtClean="0"/>
              <a:t>提供的</a:t>
            </a:r>
            <a:r>
              <a:rPr lang="en-US" altLang="zh-CN" sz="2400" dirty="0" smtClean="0"/>
              <a:t>8MHz</a:t>
            </a:r>
            <a:r>
              <a:rPr lang="zh-CN" altLang="en-US" sz="2400" dirty="0" smtClean="0"/>
              <a:t>（与电路板上的晶振的相关）通过</a:t>
            </a:r>
            <a:r>
              <a:rPr lang="en-US" altLang="zh-CN" sz="2400" b="1" dirty="0" smtClean="0"/>
              <a:t>PLLXTPRE</a:t>
            </a:r>
            <a:r>
              <a:rPr lang="zh-CN" altLang="en-US" sz="2400" b="1" dirty="0" smtClean="0"/>
              <a:t>分频器</a:t>
            </a:r>
            <a:r>
              <a:rPr lang="zh-CN" altLang="en-US" sz="2400" dirty="0" smtClean="0"/>
              <a:t>后，进入</a:t>
            </a:r>
            <a:r>
              <a:rPr lang="en-US" altLang="zh-CN" sz="2400" b="1" dirty="0" smtClean="0"/>
              <a:t>PLLSRC</a:t>
            </a:r>
            <a:r>
              <a:rPr lang="zh-CN" altLang="en-US" sz="2400" b="1" dirty="0" smtClean="0"/>
              <a:t>选择开关</a:t>
            </a:r>
            <a:r>
              <a:rPr lang="zh-CN" altLang="en-US" sz="2400" dirty="0" smtClean="0"/>
              <a:t>，进而通过</a:t>
            </a:r>
            <a:r>
              <a:rPr lang="en-US" altLang="zh-CN" sz="2400" b="1" dirty="0" smtClean="0"/>
              <a:t>PLLMUL</a:t>
            </a:r>
            <a:r>
              <a:rPr lang="zh-CN" altLang="en-US" sz="2400" b="1" dirty="0" smtClean="0"/>
              <a:t>锁相环</a:t>
            </a:r>
            <a:r>
              <a:rPr lang="zh-CN" altLang="en-US" sz="2400" dirty="0" smtClean="0"/>
              <a:t>进行倍频（</a:t>
            </a:r>
            <a:r>
              <a:rPr lang="en-US" altLang="zh-CN" sz="2400" dirty="0" smtClean="0"/>
              <a:t>x9</a:t>
            </a:r>
            <a:r>
              <a:rPr lang="zh-CN" altLang="en-US" sz="2400" dirty="0" smtClean="0"/>
              <a:t>）后，为系统提供</a:t>
            </a:r>
            <a:r>
              <a:rPr lang="en-US" altLang="zh-CN" sz="2400" dirty="0" smtClean="0"/>
              <a:t>72MHz</a:t>
            </a:r>
            <a:r>
              <a:rPr lang="zh-CN" altLang="en-US" sz="2400" dirty="0" smtClean="0"/>
              <a:t>的系统时钟（</a:t>
            </a:r>
            <a:r>
              <a:rPr lang="en-US" altLang="zh-CN" sz="2400" dirty="0" smtClean="0"/>
              <a:t>SYSCLK</a:t>
            </a:r>
            <a:r>
              <a:rPr lang="zh-CN" altLang="en-US" sz="2400" dirty="0" smtClean="0"/>
              <a:t>）。之后是</a:t>
            </a:r>
            <a:r>
              <a:rPr lang="en-US" altLang="zh-CN" sz="2400" dirty="0" smtClean="0"/>
              <a:t>AHB</a:t>
            </a:r>
            <a:r>
              <a:rPr lang="zh-CN" altLang="en-US" sz="2400" dirty="0" smtClean="0"/>
              <a:t>预分频器对时钟信号进行分频，然后为低速外设提供时钟。</a:t>
            </a:r>
            <a:endParaRPr lang="en-US" altLang="zh-CN" sz="2400" dirty="0" smtClean="0"/>
          </a:p>
          <a:p>
            <a:pPr>
              <a:lnSpc>
                <a:spcPct val="150000"/>
              </a:lnSpc>
            </a:pPr>
            <a:r>
              <a:rPr lang="zh-CN" altLang="en-US" sz="2400" dirty="0" smtClean="0"/>
              <a:t>或者</a:t>
            </a:r>
            <a:r>
              <a:rPr lang="zh-CN" altLang="en-US" sz="2400" b="1" dirty="0" smtClean="0"/>
              <a:t>内部</a:t>
            </a:r>
            <a:r>
              <a:rPr lang="en-US" altLang="zh-CN" sz="2400" b="1" dirty="0" smtClean="0"/>
              <a:t>RC</a:t>
            </a:r>
            <a:r>
              <a:rPr lang="zh-CN" altLang="en-US" sz="2400" b="1" dirty="0" smtClean="0"/>
              <a:t>振荡器</a:t>
            </a:r>
            <a:r>
              <a:rPr lang="en-US" altLang="zh-CN" sz="2400" b="1" dirty="0" smtClean="0"/>
              <a:t>(HSI) </a:t>
            </a:r>
            <a:r>
              <a:rPr lang="zh-CN" altLang="en-US" sz="2400" b="1" dirty="0" smtClean="0"/>
              <a:t>为</a:t>
            </a:r>
            <a:r>
              <a:rPr lang="en-US" altLang="zh-CN" sz="2400" dirty="0" smtClean="0"/>
              <a:t>8MHz  /2 </a:t>
            </a:r>
            <a:r>
              <a:rPr lang="zh-CN" altLang="en-US" sz="2400" dirty="0" smtClean="0"/>
              <a:t>为</a:t>
            </a:r>
            <a:r>
              <a:rPr lang="en-US" altLang="zh-CN" sz="2400" dirty="0" smtClean="0"/>
              <a:t>4MHz </a:t>
            </a:r>
            <a:r>
              <a:rPr lang="zh-CN" altLang="en-US" sz="2400" dirty="0" smtClean="0"/>
              <a:t>进入</a:t>
            </a:r>
            <a:r>
              <a:rPr lang="en-US" altLang="zh-CN" sz="2400" b="1" dirty="0" smtClean="0"/>
              <a:t>PLLSRC</a:t>
            </a:r>
            <a:r>
              <a:rPr lang="zh-CN" altLang="en-US" sz="2400" b="1" dirty="0" smtClean="0"/>
              <a:t>选择开关</a:t>
            </a:r>
            <a:r>
              <a:rPr lang="zh-CN" altLang="en-US" sz="2400" dirty="0" smtClean="0"/>
              <a:t>，通过</a:t>
            </a:r>
            <a:r>
              <a:rPr lang="en-US" altLang="zh-CN" sz="2400" b="1" dirty="0" smtClean="0"/>
              <a:t>PLLMUL</a:t>
            </a:r>
            <a:r>
              <a:rPr lang="zh-CN" altLang="en-US" sz="2400" b="1" dirty="0" smtClean="0"/>
              <a:t>锁相环</a:t>
            </a:r>
            <a:r>
              <a:rPr lang="zh-CN" altLang="en-US" sz="2400" dirty="0" smtClean="0"/>
              <a:t>进行倍频（</a:t>
            </a:r>
            <a:r>
              <a:rPr lang="en-US" altLang="zh-CN" sz="2400" dirty="0" smtClean="0"/>
              <a:t>x18</a:t>
            </a:r>
            <a:r>
              <a:rPr lang="zh-CN" altLang="en-US" sz="2400" dirty="0" smtClean="0"/>
              <a:t>）后 为</a:t>
            </a:r>
            <a:r>
              <a:rPr lang="en-US" altLang="zh-CN" sz="2400" dirty="0" smtClean="0"/>
              <a:t>72MHz</a:t>
            </a:r>
            <a:endParaRPr lang="zh-CN"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a:spLocks/>
          </p:cNvSpPr>
          <p:nvPr/>
        </p:nvSpPr>
        <p:spPr>
          <a:xfrm>
            <a:off x="630748" y="436783"/>
            <a:ext cx="10058400" cy="4023360"/>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99329" name="Rectangle 1"/>
          <p:cNvSpPr>
            <a:spLocks noChangeArrowheads="1"/>
          </p:cNvSpPr>
          <p:nvPr/>
        </p:nvSpPr>
        <p:spPr bwMode="auto">
          <a:xfrm>
            <a:off x="429209" y="503835"/>
            <a:ext cx="10649069" cy="464191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nSpc>
                <a:spcPct val="150000"/>
              </a:lnSpc>
            </a:pPr>
            <a:r>
              <a:rPr lang="zh-CN" altLang="en-US" sz="3200" b="1" dirty="0" smtClean="0">
                <a:solidFill>
                  <a:srgbClr val="7030A0"/>
                </a:solidFill>
              </a:rPr>
              <a:t>系统时钟</a:t>
            </a:r>
            <a:r>
              <a:rPr lang="en-US" sz="3200" b="1" dirty="0" smtClean="0">
                <a:solidFill>
                  <a:srgbClr val="7030A0"/>
                </a:solidFill>
              </a:rPr>
              <a:t>SYSCLK</a:t>
            </a:r>
          </a:p>
          <a:p>
            <a:pPr>
              <a:lnSpc>
                <a:spcPct val="150000"/>
              </a:lnSpc>
            </a:pPr>
            <a:r>
              <a:rPr lang="zh-CN" altLang="en-US" sz="2400" dirty="0" smtClean="0"/>
              <a:t>大部分外设时钟都是用的高速时钟。系统内核和外设时钟的时钟只有一个源，</a:t>
            </a:r>
            <a:endParaRPr lang="en-US" altLang="zh-CN" sz="2400" dirty="0" smtClean="0"/>
          </a:p>
          <a:p>
            <a:pPr>
              <a:lnSpc>
                <a:spcPct val="150000"/>
              </a:lnSpc>
            </a:pPr>
            <a:r>
              <a:rPr lang="zh-CN" altLang="en-US" sz="2400" dirty="0" smtClean="0"/>
              <a:t>那就是</a:t>
            </a:r>
            <a:r>
              <a:rPr lang="en-US" altLang="zh-CN" sz="2400" dirty="0" smtClean="0"/>
              <a:t>SYSCLK</a:t>
            </a:r>
            <a:r>
              <a:rPr lang="zh-CN" altLang="en-US" sz="2400" dirty="0" smtClean="0"/>
              <a:t>， 即常说的系统时钟，系统时钟</a:t>
            </a:r>
            <a:r>
              <a:rPr lang="en-US" altLang="zh-CN" sz="2400" dirty="0" smtClean="0"/>
              <a:t>SYSCLK</a:t>
            </a:r>
            <a:r>
              <a:rPr lang="zh-CN" altLang="en-US" sz="2400" dirty="0" smtClean="0"/>
              <a:t>可来源于三个时钟</a:t>
            </a:r>
            <a:endParaRPr lang="en-US" altLang="zh-CN" sz="2400" dirty="0" smtClean="0"/>
          </a:p>
          <a:p>
            <a:pPr>
              <a:lnSpc>
                <a:spcPct val="150000"/>
              </a:lnSpc>
            </a:pPr>
            <a:r>
              <a:rPr lang="zh-CN" altLang="en-US" sz="2400" dirty="0" smtClean="0"/>
              <a:t>源，由一个选择器</a:t>
            </a:r>
            <a:r>
              <a:rPr lang="en-US" altLang="zh-CN" sz="2400" dirty="0" smtClean="0"/>
              <a:t>SW</a:t>
            </a:r>
            <a:r>
              <a:rPr lang="zh-CN" altLang="en-US" sz="2400" dirty="0" smtClean="0"/>
              <a:t>来做选择：</a:t>
            </a:r>
            <a:br>
              <a:rPr lang="zh-CN" altLang="en-US" sz="2400" dirty="0" smtClean="0"/>
            </a:br>
            <a:r>
              <a:rPr lang="zh-CN" altLang="en-US" sz="2400" dirty="0" smtClean="0"/>
              <a:t>①、</a:t>
            </a:r>
            <a:r>
              <a:rPr lang="en-US" altLang="zh-CN" sz="2400" dirty="0" smtClean="0"/>
              <a:t>HSI</a:t>
            </a:r>
            <a:r>
              <a:rPr lang="zh-CN" altLang="en-US" sz="2400" dirty="0" smtClean="0"/>
              <a:t>振荡器时钟</a:t>
            </a:r>
            <a:br>
              <a:rPr lang="zh-CN" altLang="en-US" sz="2400" dirty="0" smtClean="0"/>
            </a:br>
            <a:r>
              <a:rPr lang="zh-CN" altLang="en-US" sz="2400" dirty="0" smtClean="0"/>
              <a:t>②、</a:t>
            </a:r>
            <a:r>
              <a:rPr lang="en-US" altLang="zh-CN" sz="2400" dirty="0" smtClean="0"/>
              <a:t>HSE</a:t>
            </a:r>
            <a:r>
              <a:rPr lang="zh-CN" altLang="en-US" sz="2400" dirty="0" smtClean="0"/>
              <a:t>振荡器时钟</a:t>
            </a:r>
            <a:br>
              <a:rPr lang="zh-CN" altLang="en-US" sz="2400" dirty="0" smtClean="0"/>
            </a:br>
            <a:r>
              <a:rPr lang="zh-CN" altLang="en-US" sz="2400" dirty="0" smtClean="0"/>
              <a:t>③、</a:t>
            </a:r>
            <a:r>
              <a:rPr lang="en-US" altLang="zh-CN" sz="2400" dirty="0" smtClean="0"/>
              <a:t>PLL</a:t>
            </a:r>
            <a:r>
              <a:rPr lang="zh-CN" altLang="en-US" sz="2400" dirty="0" smtClean="0"/>
              <a:t>时钟</a:t>
            </a:r>
            <a:br>
              <a:rPr lang="zh-CN" altLang="en-US" sz="2400" dirty="0" smtClean="0"/>
            </a:br>
            <a:r>
              <a:rPr lang="zh-CN" altLang="en-US" sz="2400" dirty="0" smtClean="0"/>
              <a:t>最大为</a:t>
            </a:r>
            <a:r>
              <a:rPr lang="en-US" altLang="zh-CN" sz="2400" dirty="0" smtClean="0"/>
              <a:t>72Mhz</a:t>
            </a:r>
            <a:endParaRPr lang="en-US" sz="2400" b="1" dirty="0"/>
          </a:p>
        </p:txBody>
      </p:sp>
      <p:pic>
        <p:nvPicPr>
          <p:cNvPr id="3074" name="Picture 2"/>
          <p:cNvPicPr>
            <a:picLocks noChangeAspect="1" noChangeArrowheads="1"/>
          </p:cNvPicPr>
          <p:nvPr/>
        </p:nvPicPr>
        <p:blipFill>
          <a:blip r:embed="rId2"/>
          <a:srcRect/>
          <a:stretch>
            <a:fillRect/>
          </a:stretch>
        </p:blipFill>
        <p:spPr bwMode="auto">
          <a:xfrm>
            <a:off x="5351300" y="2433716"/>
            <a:ext cx="3624749" cy="362474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6098" y="599707"/>
            <a:ext cx="11246498" cy="2950551"/>
          </a:xfrm>
          <a:prstGeom prst="rect">
            <a:avLst/>
          </a:prstGeom>
        </p:spPr>
        <p:txBody>
          <a:bodyPr wrap="square">
            <a:spAutoFit/>
          </a:bodyPr>
          <a:lstStyle/>
          <a:p>
            <a:pPr>
              <a:lnSpc>
                <a:spcPct val="150000"/>
              </a:lnSpc>
            </a:pPr>
            <a:r>
              <a:rPr lang="en-US" b="1" dirty="0" smtClean="0">
                <a:solidFill>
                  <a:srgbClr val="7030A0"/>
                </a:solidFill>
              </a:rPr>
              <a:t>USB</a:t>
            </a:r>
            <a:r>
              <a:rPr lang="zh-CN" altLang="en-US" b="1" dirty="0" smtClean="0">
                <a:solidFill>
                  <a:srgbClr val="7030A0"/>
                </a:solidFill>
              </a:rPr>
              <a:t>时钟</a:t>
            </a:r>
            <a:endParaRPr lang="en-US" altLang="zh-CN" b="1" dirty="0" smtClean="0">
              <a:solidFill>
                <a:srgbClr val="7030A0"/>
              </a:solidFill>
            </a:endParaRPr>
          </a:p>
          <a:p>
            <a:pPr>
              <a:lnSpc>
                <a:spcPct val="150000"/>
              </a:lnSpc>
            </a:pPr>
            <a:r>
              <a:rPr lang="en-US" altLang="zh-CN" dirty="0" smtClean="0"/>
              <a:t>      STM32</a:t>
            </a:r>
            <a:r>
              <a:rPr lang="zh-CN" altLang="en-US" dirty="0" smtClean="0"/>
              <a:t>中有一个全速功能的</a:t>
            </a:r>
            <a:r>
              <a:rPr lang="en-US" altLang="zh-CN" dirty="0" smtClean="0"/>
              <a:t>USB</a:t>
            </a:r>
            <a:r>
              <a:rPr lang="zh-CN" altLang="en-US" dirty="0" smtClean="0"/>
              <a:t>模块，其串行接口引擎需要一个频率为</a:t>
            </a:r>
            <a:r>
              <a:rPr lang="en-US" altLang="zh-CN" dirty="0" smtClean="0"/>
              <a:t>48MHz</a:t>
            </a:r>
            <a:r>
              <a:rPr lang="zh-CN" altLang="en-US" dirty="0" smtClean="0"/>
              <a:t>的时钟源。该时钟源只能从</a:t>
            </a:r>
            <a:r>
              <a:rPr lang="en-US" altLang="zh-CN" dirty="0" smtClean="0"/>
              <a:t>PLL</a:t>
            </a:r>
            <a:r>
              <a:rPr lang="zh-CN" altLang="en-US" dirty="0" smtClean="0"/>
              <a:t>输出端获取（唯一的），，可以选择为</a:t>
            </a:r>
            <a:r>
              <a:rPr lang="en-US" altLang="zh-CN" dirty="0" smtClean="0"/>
              <a:t>1.5</a:t>
            </a:r>
            <a:r>
              <a:rPr lang="zh-CN" altLang="en-US" dirty="0" smtClean="0"/>
              <a:t>分频或者</a:t>
            </a:r>
            <a:r>
              <a:rPr lang="en-US" altLang="zh-CN" dirty="0" smtClean="0"/>
              <a:t>1</a:t>
            </a:r>
            <a:r>
              <a:rPr lang="zh-CN" altLang="en-US" dirty="0" smtClean="0"/>
              <a:t>分频，也就是，当需要使用</a:t>
            </a:r>
            <a:r>
              <a:rPr lang="en-US" altLang="zh-CN" dirty="0" smtClean="0"/>
              <a:t>USB</a:t>
            </a:r>
            <a:r>
              <a:rPr lang="zh-CN" altLang="en-US" dirty="0" smtClean="0"/>
              <a:t>模块时，</a:t>
            </a:r>
            <a:r>
              <a:rPr lang="en-US" altLang="zh-CN" dirty="0" smtClean="0"/>
              <a:t>PLL</a:t>
            </a:r>
            <a:r>
              <a:rPr lang="zh-CN" altLang="en-US" dirty="0" smtClean="0"/>
              <a:t>必须使能，并且时钟频率配置为</a:t>
            </a:r>
            <a:r>
              <a:rPr lang="en-US" altLang="zh-CN" dirty="0" smtClean="0"/>
              <a:t>48MHz</a:t>
            </a:r>
            <a:r>
              <a:rPr lang="zh-CN" altLang="en-US" dirty="0" smtClean="0"/>
              <a:t>或</a:t>
            </a:r>
            <a:r>
              <a:rPr lang="en-US" altLang="zh-CN" dirty="0" smtClean="0"/>
              <a:t>72MHz</a:t>
            </a:r>
          </a:p>
          <a:p>
            <a:pPr>
              <a:lnSpc>
                <a:spcPct val="150000"/>
              </a:lnSpc>
            </a:pPr>
            <a:r>
              <a:rPr lang="zh-CN" altLang="en-US" b="1" dirty="0" smtClean="0">
                <a:solidFill>
                  <a:srgbClr val="7030A0"/>
                </a:solidFill>
              </a:rPr>
              <a:t>时钟信号输出</a:t>
            </a:r>
            <a:endParaRPr lang="en-US" altLang="zh-CN" b="1" dirty="0" smtClean="0">
              <a:solidFill>
                <a:srgbClr val="7030A0"/>
              </a:solidFill>
            </a:endParaRPr>
          </a:p>
          <a:p>
            <a:pPr>
              <a:lnSpc>
                <a:spcPct val="150000"/>
              </a:lnSpc>
            </a:pPr>
            <a:r>
              <a:rPr lang="zh-CN" altLang="en-US" dirty="0" smtClean="0"/>
              <a:t>另外，</a:t>
            </a:r>
            <a:r>
              <a:rPr lang="en-US" altLang="zh-CN" dirty="0" smtClean="0"/>
              <a:t>STM32</a:t>
            </a:r>
            <a:r>
              <a:rPr lang="zh-CN" altLang="en-US" dirty="0" smtClean="0"/>
              <a:t>还可以选择一个时钟信号输出到</a:t>
            </a:r>
            <a:r>
              <a:rPr lang="en-US" altLang="zh-CN" dirty="0" smtClean="0"/>
              <a:t>MCO</a:t>
            </a:r>
            <a:r>
              <a:rPr lang="zh-CN" altLang="en-US" dirty="0" smtClean="0"/>
              <a:t>脚</a:t>
            </a:r>
            <a:r>
              <a:rPr lang="en-US" altLang="zh-CN" dirty="0" smtClean="0"/>
              <a:t>(PA8)</a:t>
            </a:r>
            <a:r>
              <a:rPr lang="zh-CN" altLang="en-US" dirty="0" smtClean="0"/>
              <a:t>上，可以选择为</a:t>
            </a:r>
            <a:r>
              <a:rPr lang="en-US" altLang="zh-CN" dirty="0" smtClean="0"/>
              <a:t>PLL</a:t>
            </a:r>
            <a:r>
              <a:rPr lang="zh-CN" altLang="en-US" dirty="0" smtClean="0"/>
              <a:t>输出的</a:t>
            </a:r>
            <a:r>
              <a:rPr lang="en-US" altLang="zh-CN" dirty="0" smtClean="0"/>
              <a:t>2</a:t>
            </a:r>
            <a:r>
              <a:rPr lang="zh-CN" altLang="en-US" dirty="0" smtClean="0"/>
              <a:t>分频、</a:t>
            </a:r>
            <a:r>
              <a:rPr lang="en-US" altLang="zh-CN" dirty="0" smtClean="0"/>
              <a:t>HSI</a:t>
            </a:r>
            <a:r>
              <a:rPr lang="zh-CN" altLang="en-US" dirty="0" smtClean="0"/>
              <a:t>、</a:t>
            </a:r>
            <a:r>
              <a:rPr lang="en-US" altLang="zh-CN" dirty="0" smtClean="0"/>
              <a:t>HSE</a:t>
            </a:r>
            <a:r>
              <a:rPr lang="zh-CN" altLang="en-US" dirty="0" smtClean="0"/>
              <a:t>、或者系统时钟。</a:t>
            </a:r>
            <a:endParaRPr lang="zh-CN" altLang="en-US" b="1" dirty="0"/>
          </a:p>
        </p:txBody>
      </p:sp>
      <p:pic>
        <p:nvPicPr>
          <p:cNvPr id="4099" name="Picture 3"/>
          <p:cNvPicPr>
            <a:picLocks noChangeAspect="1" noChangeArrowheads="1"/>
          </p:cNvPicPr>
          <p:nvPr/>
        </p:nvPicPr>
        <p:blipFill>
          <a:blip r:embed="rId2"/>
          <a:srcRect/>
          <a:stretch>
            <a:fillRect/>
          </a:stretch>
        </p:blipFill>
        <p:spPr bwMode="auto">
          <a:xfrm>
            <a:off x="1120840" y="3855196"/>
            <a:ext cx="3992336" cy="1815307"/>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5919107" y="3140722"/>
            <a:ext cx="4910942" cy="323208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1"/>
          <p:cNvSpPr>
            <a:spLocks noChangeArrowheads="1"/>
          </p:cNvSpPr>
          <p:nvPr/>
        </p:nvSpPr>
        <p:spPr bwMode="auto">
          <a:xfrm>
            <a:off x="326571" y="354553"/>
            <a:ext cx="6949659" cy="655564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indent="261938" fontAlgn="base">
              <a:lnSpc>
                <a:spcPct val="150000"/>
              </a:lnSpc>
              <a:spcBef>
                <a:spcPct val="0"/>
              </a:spcBef>
              <a:spcAft>
                <a:spcPct val="0"/>
              </a:spcAft>
            </a:pPr>
            <a:r>
              <a:rPr lang="zh-CN" altLang="en-US" sz="2000" b="1" dirty="0" smtClean="0">
                <a:solidFill>
                  <a:srgbClr val="7030A0"/>
                </a:solidFill>
              </a:rPr>
              <a:t>系统时钟</a:t>
            </a:r>
            <a:r>
              <a:rPr lang="en-US" altLang="zh-CN" sz="2000" b="1" dirty="0" smtClean="0">
                <a:solidFill>
                  <a:srgbClr val="7030A0"/>
                </a:solidFill>
              </a:rPr>
              <a:t>SYSCLK</a:t>
            </a:r>
            <a:r>
              <a:rPr lang="zh-CN" altLang="en-US" sz="2000" b="1" dirty="0" smtClean="0">
                <a:solidFill>
                  <a:srgbClr val="7030A0"/>
                </a:solidFill>
              </a:rPr>
              <a:t>分配</a:t>
            </a:r>
            <a:endParaRPr lang="en-US" altLang="zh-CN" sz="2000" b="1" dirty="0" smtClean="0">
              <a:solidFill>
                <a:srgbClr val="7030A0"/>
              </a:solidFill>
            </a:endParaRPr>
          </a:p>
          <a:p>
            <a:pPr lvl="0" indent="261938" fontAlgn="base">
              <a:lnSpc>
                <a:spcPct val="150000"/>
              </a:lnSpc>
              <a:spcBef>
                <a:spcPct val="0"/>
              </a:spcBef>
              <a:spcAft>
                <a:spcPct val="0"/>
              </a:spcAft>
            </a:pPr>
            <a:r>
              <a:rPr lang="zh-CN" altLang="en-US" sz="2000" dirty="0" smtClean="0"/>
              <a:t>系统时钟</a:t>
            </a:r>
            <a:r>
              <a:rPr lang="en-US" altLang="zh-CN" sz="2000" dirty="0" smtClean="0"/>
              <a:t>SYSCLK</a:t>
            </a:r>
            <a:r>
              <a:rPr lang="zh-CN" altLang="en-US" sz="2000" dirty="0" smtClean="0"/>
              <a:t>，它是供</a:t>
            </a:r>
            <a:r>
              <a:rPr lang="en-US" altLang="zh-CN" sz="2000" dirty="0" smtClean="0"/>
              <a:t>STM32</a:t>
            </a:r>
            <a:r>
              <a:rPr lang="zh-CN" altLang="en-US" sz="2000" dirty="0" smtClean="0"/>
              <a:t>中绝大部分部件工作的</a:t>
            </a:r>
            <a:endParaRPr lang="en-US" altLang="zh-CN" sz="2000" dirty="0" smtClean="0"/>
          </a:p>
          <a:p>
            <a:pPr lvl="0" indent="261938" fontAlgn="base">
              <a:lnSpc>
                <a:spcPct val="150000"/>
              </a:lnSpc>
              <a:spcBef>
                <a:spcPct val="0"/>
              </a:spcBef>
              <a:spcAft>
                <a:spcPct val="0"/>
              </a:spcAft>
            </a:pPr>
            <a:r>
              <a:rPr lang="zh-CN" altLang="en-US" sz="2000" dirty="0" smtClean="0"/>
              <a:t>时钟源。系统时钟最大频率为</a:t>
            </a:r>
            <a:r>
              <a:rPr lang="en-US" altLang="zh-CN" sz="2000" dirty="0" smtClean="0"/>
              <a:t>72MHz</a:t>
            </a:r>
            <a:r>
              <a:rPr lang="zh-CN" altLang="en-US" sz="2000" dirty="0" smtClean="0"/>
              <a:t>，供给</a:t>
            </a:r>
            <a:r>
              <a:rPr lang="en-US" altLang="zh-CN" sz="2000" dirty="0" smtClean="0"/>
              <a:t>I</a:t>
            </a:r>
            <a:r>
              <a:rPr lang="en-US" altLang="zh-CN" sz="2000" baseline="30000" dirty="0" smtClean="0"/>
              <a:t>2</a:t>
            </a:r>
            <a:r>
              <a:rPr lang="en-US" altLang="zh-CN" sz="2000" dirty="0" smtClean="0"/>
              <a:t>S</a:t>
            </a:r>
            <a:r>
              <a:rPr lang="zh-CN" altLang="en-US" sz="2000" dirty="0" smtClean="0"/>
              <a:t>音频总线</a:t>
            </a:r>
            <a:endParaRPr lang="en-US" altLang="zh-CN" sz="2000" dirty="0" smtClean="0"/>
          </a:p>
          <a:p>
            <a:pPr lvl="0" indent="261938" fontAlgn="base">
              <a:lnSpc>
                <a:spcPct val="150000"/>
              </a:lnSpc>
              <a:spcBef>
                <a:spcPct val="0"/>
              </a:spcBef>
              <a:spcAft>
                <a:spcPct val="0"/>
              </a:spcAft>
            </a:pPr>
            <a:r>
              <a:rPr lang="zh-CN" altLang="en-US" sz="2000" dirty="0" smtClean="0"/>
              <a:t>和</a:t>
            </a:r>
            <a:r>
              <a:rPr lang="en-US" altLang="zh-CN" sz="2000" dirty="0" smtClean="0"/>
              <a:t>AHB</a:t>
            </a:r>
            <a:r>
              <a:rPr lang="zh-CN" altLang="en-US" sz="2000" dirty="0" smtClean="0"/>
              <a:t>总线时钟。它通过</a:t>
            </a:r>
            <a:r>
              <a:rPr lang="en-US" altLang="zh-CN" sz="2000" dirty="0" smtClean="0"/>
              <a:t>AHB</a:t>
            </a:r>
            <a:r>
              <a:rPr lang="zh-CN" altLang="en-US" sz="2000" dirty="0" smtClean="0"/>
              <a:t>分频器分频后送给各模块使</a:t>
            </a:r>
            <a:endParaRPr lang="en-US" altLang="zh-CN" sz="2000" dirty="0" smtClean="0"/>
          </a:p>
          <a:p>
            <a:pPr lvl="0" indent="261938" fontAlgn="base">
              <a:lnSpc>
                <a:spcPct val="150000"/>
              </a:lnSpc>
              <a:spcBef>
                <a:spcPct val="0"/>
              </a:spcBef>
              <a:spcAft>
                <a:spcPct val="0"/>
              </a:spcAft>
            </a:pPr>
            <a:r>
              <a:rPr lang="zh-CN" altLang="en-US" sz="2000" dirty="0" smtClean="0"/>
              <a:t>用，</a:t>
            </a:r>
            <a:r>
              <a:rPr lang="en-US" altLang="zh-CN" sz="2000" dirty="0" smtClean="0"/>
              <a:t>AHB</a:t>
            </a:r>
            <a:r>
              <a:rPr lang="zh-CN" altLang="en-US" sz="2000" dirty="0" smtClean="0"/>
              <a:t>分频器可选择</a:t>
            </a:r>
            <a:r>
              <a:rPr lang="en-US" altLang="zh-CN" sz="2000" dirty="0" smtClean="0"/>
              <a:t>1</a:t>
            </a:r>
            <a:r>
              <a:rPr lang="zh-CN" altLang="en-US" sz="2000" dirty="0" smtClean="0"/>
              <a:t>、</a:t>
            </a:r>
            <a:r>
              <a:rPr lang="en-US" altLang="zh-CN" sz="2000" dirty="0" smtClean="0"/>
              <a:t>2</a:t>
            </a:r>
            <a:r>
              <a:rPr lang="zh-CN" altLang="en-US" sz="2000" dirty="0" smtClean="0"/>
              <a:t>、</a:t>
            </a:r>
            <a:r>
              <a:rPr lang="en-US" altLang="zh-CN" sz="2000" dirty="0" smtClean="0"/>
              <a:t>4</a:t>
            </a:r>
            <a:r>
              <a:rPr lang="zh-CN" altLang="en-US" sz="2000" dirty="0" smtClean="0"/>
              <a:t>、</a:t>
            </a:r>
            <a:r>
              <a:rPr lang="en-US" altLang="zh-CN" sz="2000" dirty="0" smtClean="0"/>
              <a:t>8</a:t>
            </a:r>
            <a:r>
              <a:rPr lang="zh-CN" altLang="en-US" sz="2000" dirty="0" smtClean="0"/>
              <a:t>、</a:t>
            </a:r>
            <a:r>
              <a:rPr lang="en-US" altLang="zh-CN" sz="2000" dirty="0" smtClean="0"/>
              <a:t>16</a:t>
            </a:r>
            <a:r>
              <a:rPr lang="zh-CN" altLang="en-US" sz="2000" dirty="0" smtClean="0"/>
              <a:t>、</a:t>
            </a:r>
            <a:r>
              <a:rPr lang="en-US" altLang="zh-CN" sz="2000" dirty="0" smtClean="0"/>
              <a:t>64</a:t>
            </a:r>
            <a:r>
              <a:rPr lang="zh-CN" altLang="en-US" sz="2000" dirty="0" smtClean="0"/>
              <a:t>、</a:t>
            </a:r>
            <a:r>
              <a:rPr lang="en-US" altLang="zh-CN" sz="2000" dirty="0" smtClean="0"/>
              <a:t>128</a:t>
            </a:r>
            <a:r>
              <a:rPr lang="zh-CN" altLang="en-US" sz="2000" dirty="0" smtClean="0"/>
              <a:t>、</a:t>
            </a:r>
            <a:endParaRPr lang="en-US" altLang="zh-CN" sz="2000" dirty="0" smtClean="0"/>
          </a:p>
          <a:p>
            <a:pPr lvl="0" indent="261938" fontAlgn="base">
              <a:lnSpc>
                <a:spcPct val="150000"/>
              </a:lnSpc>
              <a:spcBef>
                <a:spcPct val="0"/>
              </a:spcBef>
              <a:spcAft>
                <a:spcPct val="0"/>
              </a:spcAft>
            </a:pPr>
            <a:r>
              <a:rPr lang="en-US" altLang="zh-CN" sz="2000" dirty="0" smtClean="0"/>
              <a:t>256</a:t>
            </a:r>
            <a:r>
              <a:rPr lang="zh-CN" altLang="en-US" sz="2000" dirty="0" smtClean="0"/>
              <a:t>、</a:t>
            </a:r>
            <a:r>
              <a:rPr lang="en-US" altLang="zh-CN" sz="2000" dirty="0" smtClean="0"/>
              <a:t>512</a:t>
            </a:r>
            <a:r>
              <a:rPr lang="zh-CN" altLang="en-US" sz="2000" dirty="0" smtClean="0"/>
              <a:t>分频。其中</a:t>
            </a:r>
            <a:r>
              <a:rPr lang="en-US" altLang="zh-CN" sz="2000" dirty="0" smtClean="0"/>
              <a:t>AHB</a:t>
            </a:r>
            <a:r>
              <a:rPr lang="zh-CN" altLang="en-US" sz="2000" dirty="0" smtClean="0"/>
              <a:t>分频器输出的时钟送给</a:t>
            </a:r>
            <a:r>
              <a:rPr lang="en-US" altLang="zh-CN" sz="2000" dirty="0" smtClean="0"/>
              <a:t>8</a:t>
            </a:r>
            <a:r>
              <a:rPr lang="zh-CN" altLang="en-US" sz="2000" dirty="0" smtClean="0"/>
              <a:t>大模</a:t>
            </a:r>
            <a:endParaRPr lang="en-US" altLang="zh-CN" sz="2000" dirty="0" smtClean="0"/>
          </a:p>
          <a:p>
            <a:pPr lvl="0" indent="261938" fontAlgn="base">
              <a:lnSpc>
                <a:spcPct val="150000"/>
              </a:lnSpc>
              <a:spcBef>
                <a:spcPct val="0"/>
              </a:spcBef>
              <a:spcAft>
                <a:spcPct val="0"/>
              </a:spcAft>
            </a:pPr>
            <a:r>
              <a:rPr lang="zh-CN" altLang="en-US" sz="2000" dirty="0" smtClean="0"/>
              <a:t>块使用：</a:t>
            </a:r>
            <a:endParaRPr lang="en-US" altLang="zh-CN" sz="2000" dirty="0" smtClean="0"/>
          </a:p>
          <a:p>
            <a:pPr>
              <a:lnSpc>
                <a:spcPct val="150000"/>
              </a:lnSpc>
            </a:pPr>
            <a:r>
              <a:rPr lang="zh-CN" altLang="en-US" sz="2000" dirty="0" smtClean="0"/>
              <a:t>①、送给</a:t>
            </a:r>
            <a:r>
              <a:rPr lang="en-US" altLang="zh-CN" sz="2000" dirty="0" smtClean="0"/>
              <a:t>AHB</a:t>
            </a:r>
            <a:r>
              <a:rPr lang="zh-CN" altLang="en-US" sz="2000" dirty="0" smtClean="0"/>
              <a:t>总线、内核、内存和</a:t>
            </a:r>
            <a:r>
              <a:rPr lang="en-US" altLang="zh-CN" sz="2000" dirty="0" smtClean="0"/>
              <a:t>DMA</a:t>
            </a:r>
            <a:r>
              <a:rPr lang="zh-CN" altLang="en-US" sz="2000" dirty="0" smtClean="0"/>
              <a:t>使用的</a:t>
            </a:r>
            <a:r>
              <a:rPr lang="en-US" altLang="zh-CN" sz="2000" dirty="0" smtClean="0"/>
              <a:t>HCLK</a:t>
            </a:r>
            <a:r>
              <a:rPr lang="zh-CN" altLang="en-US" sz="2000" dirty="0" smtClean="0"/>
              <a:t>时钟。</a:t>
            </a:r>
          </a:p>
          <a:p>
            <a:pPr>
              <a:lnSpc>
                <a:spcPct val="150000"/>
              </a:lnSpc>
            </a:pPr>
            <a:r>
              <a:rPr lang="zh-CN" altLang="en-US" sz="2000" dirty="0" smtClean="0"/>
              <a:t>②、通过</a:t>
            </a:r>
            <a:r>
              <a:rPr lang="en-US" altLang="zh-CN" sz="2000" dirty="0" smtClean="0"/>
              <a:t>8</a:t>
            </a:r>
            <a:r>
              <a:rPr lang="zh-CN" altLang="en-US" sz="2000" dirty="0" smtClean="0"/>
              <a:t>分频后送给</a:t>
            </a:r>
            <a:r>
              <a:rPr lang="en-US" altLang="zh-CN" sz="2000" dirty="0" smtClean="0"/>
              <a:t>Cortex</a:t>
            </a:r>
            <a:r>
              <a:rPr lang="zh-CN" altLang="en-US" sz="2000" dirty="0" smtClean="0"/>
              <a:t>的系统定时器时钟。</a:t>
            </a:r>
          </a:p>
          <a:p>
            <a:pPr>
              <a:lnSpc>
                <a:spcPct val="150000"/>
              </a:lnSpc>
            </a:pPr>
            <a:r>
              <a:rPr lang="zh-CN" altLang="en-US" sz="2000" dirty="0" smtClean="0"/>
              <a:t>③、直接送给</a:t>
            </a:r>
            <a:r>
              <a:rPr lang="en-US" altLang="zh-CN" sz="2000" dirty="0" smtClean="0"/>
              <a:t>Cortex</a:t>
            </a:r>
            <a:r>
              <a:rPr lang="zh-CN" altLang="en-US" sz="2000" dirty="0" smtClean="0"/>
              <a:t>的空闲运行时钟</a:t>
            </a:r>
            <a:r>
              <a:rPr lang="en-US" altLang="zh-CN" sz="2000" dirty="0" smtClean="0"/>
              <a:t>FCLK</a:t>
            </a:r>
            <a:r>
              <a:rPr lang="zh-CN" altLang="en-US" sz="2000" dirty="0" smtClean="0"/>
              <a:t>。</a:t>
            </a:r>
            <a:endParaRPr lang="en-US" altLang="zh-CN" sz="2000" dirty="0" smtClean="0"/>
          </a:p>
          <a:p>
            <a:pPr>
              <a:lnSpc>
                <a:spcPct val="150000"/>
              </a:lnSpc>
            </a:pPr>
            <a:r>
              <a:rPr lang="zh-CN" altLang="en-US" sz="2000" dirty="0" smtClean="0"/>
              <a:t>④、送给</a:t>
            </a:r>
            <a:r>
              <a:rPr lang="en-US" altLang="zh-CN" sz="2000" dirty="0" smtClean="0"/>
              <a:t>SDIO</a:t>
            </a:r>
            <a:r>
              <a:rPr lang="zh-CN" altLang="en-US" sz="2000" dirty="0" smtClean="0"/>
              <a:t>使用的</a:t>
            </a:r>
            <a:r>
              <a:rPr lang="en-US" altLang="zh-CN" sz="2000" dirty="0" smtClean="0"/>
              <a:t>SDIOCLK</a:t>
            </a:r>
            <a:r>
              <a:rPr lang="zh-CN" altLang="en-US" sz="2000" dirty="0" smtClean="0"/>
              <a:t>时钟</a:t>
            </a:r>
            <a:endParaRPr lang="en-US" altLang="zh-CN" sz="2000" dirty="0" smtClean="0"/>
          </a:p>
          <a:p>
            <a:pPr>
              <a:lnSpc>
                <a:spcPct val="150000"/>
              </a:lnSpc>
            </a:pPr>
            <a:r>
              <a:rPr lang="zh-CN" altLang="en-US" sz="2000" dirty="0" smtClean="0"/>
              <a:t>⑤、送给</a:t>
            </a:r>
            <a:r>
              <a:rPr lang="en-US" altLang="zh-CN" sz="2000" dirty="0" smtClean="0"/>
              <a:t>FSMC</a:t>
            </a:r>
            <a:r>
              <a:rPr lang="zh-CN" altLang="en-US" sz="2000" dirty="0" smtClean="0"/>
              <a:t>使用的</a:t>
            </a:r>
            <a:r>
              <a:rPr lang="en-US" altLang="zh-CN" sz="2000" dirty="0" smtClean="0"/>
              <a:t>FSMC</a:t>
            </a:r>
            <a:r>
              <a:rPr lang="zh-CN" altLang="en-US" sz="2000" dirty="0" smtClean="0"/>
              <a:t>时钟</a:t>
            </a:r>
            <a:endParaRPr lang="en-US" altLang="zh-CN" sz="2000" dirty="0" smtClean="0"/>
          </a:p>
          <a:p>
            <a:pPr>
              <a:lnSpc>
                <a:spcPct val="150000"/>
              </a:lnSpc>
            </a:pPr>
            <a:r>
              <a:rPr lang="en-US" altLang="zh-CN" sz="2000" dirty="0" smtClean="0"/>
              <a:t>⑥ </a:t>
            </a:r>
            <a:r>
              <a:rPr lang="zh-CN" altLang="en-US" sz="2000" dirty="0" smtClean="0"/>
              <a:t>、</a:t>
            </a:r>
            <a:r>
              <a:rPr lang="en-US" altLang="zh-CN" sz="2000" dirty="0" smtClean="0"/>
              <a:t>2</a:t>
            </a:r>
            <a:r>
              <a:rPr lang="zh-CN" altLang="en-US" sz="2000" dirty="0" smtClean="0"/>
              <a:t>分频后送给</a:t>
            </a:r>
            <a:r>
              <a:rPr lang="en-US" altLang="zh-CN" sz="2000" dirty="0" smtClean="0"/>
              <a:t>SDIO AHB</a:t>
            </a:r>
            <a:r>
              <a:rPr lang="zh-CN" altLang="en-US" sz="2000" dirty="0" smtClean="0"/>
              <a:t>接口使用</a:t>
            </a:r>
            <a:r>
              <a:rPr lang="en-US" altLang="zh-CN" sz="2000" dirty="0" smtClean="0"/>
              <a:t>(HCLK/2)</a:t>
            </a:r>
            <a:endParaRPr lang="zh-CN" altLang="en-US" sz="2000" dirty="0" smtClean="0"/>
          </a:p>
          <a:p>
            <a:pPr lvl="0" indent="261938" fontAlgn="base">
              <a:lnSpc>
                <a:spcPct val="150000"/>
              </a:lnSpc>
              <a:spcBef>
                <a:spcPct val="0"/>
              </a:spcBef>
              <a:spcAft>
                <a:spcPct val="0"/>
              </a:spcAft>
            </a:pP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5122" name="Picture 2"/>
          <p:cNvPicPr>
            <a:picLocks noChangeAspect="1" noChangeArrowheads="1"/>
          </p:cNvPicPr>
          <p:nvPr/>
        </p:nvPicPr>
        <p:blipFill>
          <a:blip r:embed="rId2"/>
          <a:srcRect/>
          <a:stretch>
            <a:fillRect/>
          </a:stretch>
        </p:blipFill>
        <p:spPr bwMode="auto">
          <a:xfrm>
            <a:off x="7112313" y="323851"/>
            <a:ext cx="4876800" cy="62103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8105" y="330575"/>
            <a:ext cx="10901266" cy="6274538"/>
          </a:xfrm>
          <a:prstGeom prst="rect">
            <a:avLst/>
          </a:prstGeom>
        </p:spPr>
        <p:txBody>
          <a:bodyPr wrap="square">
            <a:spAutoFit/>
          </a:bodyPr>
          <a:lstStyle/>
          <a:p>
            <a:pPr>
              <a:lnSpc>
                <a:spcPct val="150000"/>
              </a:lnSpc>
            </a:pPr>
            <a:r>
              <a:rPr lang="zh-CN" altLang="en-US" dirty="0" smtClean="0"/>
              <a:t>⑦ 、</a:t>
            </a:r>
            <a:r>
              <a:rPr lang="en-US" altLang="zh-CN" b="1" dirty="0" smtClean="0"/>
              <a:t>APB1</a:t>
            </a:r>
            <a:r>
              <a:rPr lang="zh-CN" altLang="en-US" b="1" dirty="0" smtClean="0"/>
              <a:t>外设：</a:t>
            </a:r>
            <a:r>
              <a:rPr lang="zh-CN" altLang="en-US" dirty="0" smtClean="0"/>
              <a:t>送给</a:t>
            </a:r>
            <a:r>
              <a:rPr lang="en-US" altLang="zh-CN" dirty="0" smtClean="0"/>
              <a:t>APB1</a:t>
            </a:r>
            <a:r>
              <a:rPr lang="zh-CN" altLang="en-US" dirty="0" smtClean="0"/>
              <a:t>分频器。</a:t>
            </a:r>
            <a:r>
              <a:rPr lang="en-US" altLang="zh-CN" dirty="0" smtClean="0"/>
              <a:t>APB1</a:t>
            </a:r>
            <a:r>
              <a:rPr lang="zh-CN" altLang="en-US" dirty="0" smtClean="0"/>
              <a:t>分频器可选择</a:t>
            </a:r>
            <a:r>
              <a:rPr lang="en-US" altLang="zh-CN" dirty="0" smtClean="0"/>
              <a:t>1</a:t>
            </a:r>
            <a:r>
              <a:rPr lang="zh-CN" altLang="en-US" dirty="0" smtClean="0"/>
              <a:t>、</a:t>
            </a:r>
            <a:r>
              <a:rPr lang="en-US" altLang="zh-CN" dirty="0" smtClean="0"/>
              <a:t>2</a:t>
            </a:r>
            <a:r>
              <a:rPr lang="zh-CN" altLang="en-US" dirty="0" smtClean="0"/>
              <a:t>、</a:t>
            </a:r>
            <a:r>
              <a:rPr lang="en-US" altLang="zh-CN" dirty="0" smtClean="0"/>
              <a:t>4</a:t>
            </a:r>
            <a:r>
              <a:rPr lang="zh-CN" altLang="en-US" dirty="0" smtClean="0"/>
              <a:t>、</a:t>
            </a:r>
            <a:r>
              <a:rPr lang="en-US" altLang="zh-CN" dirty="0" smtClean="0"/>
              <a:t>8</a:t>
            </a:r>
            <a:r>
              <a:rPr lang="zh-CN" altLang="en-US" dirty="0" smtClean="0"/>
              <a:t>、</a:t>
            </a:r>
            <a:r>
              <a:rPr lang="en-US" altLang="zh-CN" dirty="0" smtClean="0"/>
              <a:t>16</a:t>
            </a:r>
            <a:r>
              <a:rPr lang="zh-CN" altLang="en-US" dirty="0" smtClean="0"/>
              <a:t>分频，其输出一路供</a:t>
            </a:r>
            <a:r>
              <a:rPr lang="en-US" altLang="zh-CN" dirty="0" smtClean="0"/>
              <a:t>APB1</a:t>
            </a:r>
            <a:r>
              <a:rPr lang="zh-CN" altLang="en-US" dirty="0" smtClean="0"/>
              <a:t>外设使用</a:t>
            </a:r>
            <a:r>
              <a:rPr lang="en-US" altLang="zh-CN" dirty="0" smtClean="0"/>
              <a:t>(PCLK1</a:t>
            </a:r>
            <a:r>
              <a:rPr lang="zh-CN" altLang="en-US" dirty="0" smtClean="0"/>
              <a:t>，最大频率</a:t>
            </a:r>
            <a:r>
              <a:rPr lang="en-US" altLang="zh-CN" dirty="0" smtClean="0"/>
              <a:t>36MHz)</a:t>
            </a:r>
            <a:r>
              <a:rPr lang="zh-CN" altLang="en-US" dirty="0" smtClean="0"/>
              <a:t>，另一路送给定时器</a:t>
            </a:r>
            <a:r>
              <a:rPr lang="en-US" altLang="zh-CN" dirty="0" smtClean="0"/>
              <a:t>(Timer)2</a:t>
            </a:r>
            <a:r>
              <a:rPr lang="zh-CN" altLang="en-US" dirty="0" smtClean="0"/>
              <a:t>、</a:t>
            </a:r>
            <a:r>
              <a:rPr lang="en-US" altLang="zh-CN" dirty="0" smtClean="0"/>
              <a:t>3</a:t>
            </a:r>
            <a:r>
              <a:rPr lang="zh-CN" altLang="en-US" dirty="0" smtClean="0"/>
              <a:t>、</a:t>
            </a:r>
            <a:r>
              <a:rPr lang="en-US" altLang="zh-CN" dirty="0" smtClean="0"/>
              <a:t>4</a:t>
            </a:r>
            <a:r>
              <a:rPr lang="zh-CN" altLang="en-US" dirty="0" smtClean="0"/>
              <a:t>倍频器使用。该倍频器可选择</a:t>
            </a:r>
            <a:r>
              <a:rPr lang="en-US" altLang="zh-CN" dirty="0" smtClean="0"/>
              <a:t>1</a:t>
            </a:r>
            <a:r>
              <a:rPr lang="zh-CN" altLang="en-US" dirty="0" smtClean="0"/>
              <a:t>或者</a:t>
            </a:r>
            <a:r>
              <a:rPr lang="en-US" altLang="zh-CN" dirty="0" smtClean="0"/>
              <a:t>2</a:t>
            </a:r>
            <a:r>
              <a:rPr lang="zh-CN" altLang="en-US" dirty="0" smtClean="0"/>
              <a:t>倍频，时钟输出供定时器</a:t>
            </a:r>
            <a:r>
              <a:rPr lang="en-US" altLang="zh-CN" dirty="0" smtClean="0"/>
              <a:t>2</a:t>
            </a:r>
            <a:r>
              <a:rPr lang="zh-CN" altLang="en-US" dirty="0" smtClean="0"/>
              <a:t>、</a:t>
            </a:r>
            <a:r>
              <a:rPr lang="en-US" altLang="zh-CN" dirty="0" smtClean="0"/>
              <a:t>3</a:t>
            </a:r>
            <a:r>
              <a:rPr lang="zh-CN" altLang="en-US" dirty="0" smtClean="0"/>
              <a:t>、</a:t>
            </a:r>
            <a:r>
              <a:rPr lang="en-US" altLang="zh-CN" dirty="0" smtClean="0"/>
              <a:t>4</a:t>
            </a:r>
            <a:r>
              <a:rPr lang="zh-CN" altLang="en-US" dirty="0" smtClean="0"/>
              <a:t>使用。</a:t>
            </a:r>
          </a:p>
          <a:p>
            <a:pPr>
              <a:lnSpc>
                <a:spcPct val="150000"/>
              </a:lnSpc>
            </a:pPr>
            <a:r>
              <a:rPr lang="zh-CN" altLang="en-US" dirty="0" smtClean="0"/>
              <a:t>⑧ 、</a:t>
            </a:r>
            <a:r>
              <a:rPr lang="en-US" altLang="zh-CN" b="1" dirty="0" smtClean="0"/>
              <a:t>APB2</a:t>
            </a:r>
            <a:r>
              <a:rPr lang="zh-CN" altLang="en-US" b="1" dirty="0" smtClean="0"/>
              <a:t>外设：</a:t>
            </a:r>
            <a:r>
              <a:rPr lang="zh-CN" altLang="en-US" dirty="0" smtClean="0"/>
              <a:t>送给</a:t>
            </a:r>
            <a:r>
              <a:rPr lang="en-US" altLang="zh-CN" dirty="0" smtClean="0"/>
              <a:t>APB2</a:t>
            </a:r>
            <a:r>
              <a:rPr lang="zh-CN" altLang="en-US" dirty="0" smtClean="0"/>
              <a:t>分频器。</a:t>
            </a:r>
            <a:r>
              <a:rPr lang="en-US" altLang="zh-CN" dirty="0" smtClean="0"/>
              <a:t>APB2</a:t>
            </a:r>
            <a:r>
              <a:rPr lang="zh-CN" altLang="en-US" dirty="0" smtClean="0"/>
              <a:t>分频器可选择</a:t>
            </a:r>
            <a:r>
              <a:rPr lang="en-US" altLang="zh-CN" dirty="0" smtClean="0"/>
              <a:t>1</a:t>
            </a:r>
            <a:r>
              <a:rPr lang="zh-CN" altLang="en-US" dirty="0" smtClean="0"/>
              <a:t>、</a:t>
            </a:r>
            <a:r>
              <a:rPr lang="en-US" altLang="zh-CN" dirty="0" smtClean="0"/>
              <a:t>2</a:t>
            </a:r>
            <a:r>
              <a:rPr lang="zh-CN" altLang="en-US" dirty="0" smtClean="0"/>
              <a:t>、</a:t>
            </a:r>
            <a:r>
              <a:rPr lang="en-US" altLang="zh-CN" dirty="0" smtClean="0"/>
              <a:t>4</a:t>
            </a:r>
            <a:r>
              <a:rPr lang="zh-CN" altLang="en-US" dirty="0" smtClean="0"/>
              <a:t>、</a:t>
            </a:r>
            <a:r>
              <a:rPr lang="en-US" altLang="zh-CN" dirty="0" smtClean="0"/>
              <a:t>8</a:t>
            </a:r>
            <a:r>
              <a:rPr lang="zh-CN" altLang="en-US" dirty="0" smtClean="0"/>
              <a:t>、</a:t>
            </a:r>
            <a:r>
              <a:rPr lang="en-US" altLang="zh-CN" dirty="0" smtClean="0"/>
              <a:t>16</a:t>
            </a:r>
            <a:r>
              <a:rPr lang="zh-CN" altLang="en-US" dirty="0" smtClean="0"/>
              <a:t>分频，其输出一路供</a:t>
            </a:r>
            <a:r>
              <a:rPr lang="en-US" altLang="zh-CN" dirty="0" smtClean="0"/>
              <a:t>APB2</a:t>
            </a:r>
            <a:r>
              <a:rPr lang="zh-CN" altLang="en-US" dirty="0" smtClean="0"/>
              <a:t>外设使用</a:t>
            </a:r>
            <a:r>
              <a:rPr lang="en-US" altLang="zh-CN" dirty="0" smtClean="0"/>
              <a:t>(PCLK2</a:t>
            </a:r>
            <a:r>
              <a:rPr lang="zh-CN" altLang="en-US" dirty="0" smtClean="0"/>
              <a:t>，最大频率</a:t>
            </a:r>
            <a:r>
              <a:rPr lang="en-US" altLang="zh-CN" dirty="0" smtClean="0"/>
              <a:t>72MHz)</a:t>
            </a:r>
            <a:r>
              <a:rPr lang="zh-CN" altLang="en-US" dirty="0" smtClean="0"/>
              <a:t>，另一路送给定时器</a:t>
            </a:r>
            <a:r>
              <a:rPr lang="en-US" altLang="zh-CN" dirty="0" smtClean="0"/>
              <a:t>(Timer)1</a:t>
            </a:r>
            <a:r>
              <a:rPr lang="zh-CN" altLang="en-US" dirty="0" smtClean="0"/>
              <a:t>倍频器使用。该倍频器可选择</a:t>
            </a:r>
            <a:r>
              <a:rPr lang="en-US" altLang="zh-CN" dirty="0" smtClean="0"/>
              <a:t>1</a:t>
            </a:r>
            <a:r>
              <a:rPr lang="zh-CN" altLang="en-US" dirty="0" smtClean="0"/>
              <a:t>或者</a:t>
            </a:r>
            <a:r>
              <a:rPr lang="en-US" altLang="zh-CN" dirty="0" smtClean="0"/>
              <a:t>2</a:t>
            </a:r>
            <a:r>
              <a:rPr lang="zh-CN" altLang="en-US" dirty="0" smtClean="0"/>
              <a:t>倍频，时钟输出供定时器</a:t>
            </a:r>
            <a:r>
              <a:rPr lang="en-US" altLang="zh-CN" dirty="0" smtClean="0"/>
              <a:t>1</a:t>
            </a:r>
            <a:r>
              <a:rPr lang="zh-CN" altLang="en-US" dirty="0" smtClean="0"/>
              <a:t>使用。另外，</a:t>
            </a:r>
            <a:r>
              <a:rPr lang="en-US" altLang="zh-CN" dirty="0" smtClean="0"/>
              <a:t>APB2</a:t>
            </a:r>
            <a:r>
              <a:rPr lang="zh-CN" altLang="en-US" dirty="0" smtClean="0"/>
              <a:t>分频器还有一路输出供</a:t>
            </a:r>
            <a:r>
              <a:rPr lang="en-US" altLang="zh-CN" dirty="0" smtClean="0"/>
              <a:t>ADC</a:t>
            </a:r>
            <a:r>
              <a:rPr lang="zh-CN" altLang="en-US" dirty="0" smtClean="0"/>
              <a:t>分频器使用，分频后送给</a:t>
            </a:r>
            <a:r>
              <a:rPr lang="en-US" altLang="zh-CN" dirty="0" smtClean="0"/>
              <a:t>ADC</a:t>
            </a:r>
            <a:r>
              <a:rPr lang="zh-CN" altLang="en-US" dirty="0" smtClean="0"/>
              <a:t>模块使用。</a:t>
            </a:r>
            <a:r>
              <a:rPr lang="en-US" altLang="zh-CN" dirty="0" smtClean="0"/>
              <a:t>ADC</a:t>
            </a:r>
            <a:r>
              <a:rPr lang="zh-CN" altLang="en-US" dirty="0" smtClean="0"/>
              <a:t>分频器可选择为</a:t>
            </a:r>
            <a:r>
              <a:rPr lang="en-US" altLang="zh-CN" dirty="0" smtClean="0"/>
              <a:t>2</a:t>
            </a:r>
            <a:r>
              <a:rPr lang="zh-CN" altLang="en-US" dirty="0" smtClean="0"/>
              <a:t>、</a:t>
            </a:r>
            <a:r>
              <a:rPr lang="en-US" altLang="zh-CN" dirty="0" smtClean="0"/>
              <a:t>4</a:t>
            </a:r>
            <a:r>
              <a:rPr lang="zh-CN" altLang="en-US" dirty="0" smtClean="0"/>
              <a:t>、</a:t>
            </a:r>
            <a:r>
              <a:rPr lang="en-US" altLang="zh-CN" dirty="0" smtClean="0"/>
              <a:t>6</a:t>
            </a:r>
            <a:r>
              <a:rPr lang="zh-CN" altLang="en-US" dirty="0" smtClean="0"/>
              <a:t>、</a:t>
            </a:r>
            <a:r>
              <a:rPr lang="en-US" altLang="zh-CN" dirty="0" smtClean="0"/>
              <a:t>8</a:t>
            </a:r>
            <a:r>
              <a:rPr lang="zh-CN" altLang="en-US" dirty="0" smtClean="0"/>
              <a:t>分频。</a:t>
            </a:r>
            <a:endParaRPr lang="en-US" altLang="zh-CN" dirty="0" smtClean="0"/>
          </a:p>
          <a:p>
            <a:pPr>
              <a:lnSpc>
                <a:spcPct val="150000"/>
              </a:lnSpc>
            </a:pPr>
            <a:r>
              <a:rPr lang="zh-CN" altLang="en-US" b="1" dirty="0" smtClean="0"/>
              <a:t>连接在</a:t>
            </a:r>
            <a:r>
              <a:rPr lang="en-US" altLang="zh-CN" b="1" dirty="0" smtClean="0"/>
              <a:t>APB1(</a:t>
            </a:r>
            <a:r>
              <a:rPr lang="zh-CN" altLang="en-US" b="1" dirty="0" smtClean="0"/>
              <a:t>低速外设</a:t>
            </a:r>
            <a:r>
              <a:rPr lang="en-US" altLang="zh-CN" b="1" dirty="0" smtClean="0"/>
              <a:t>)</a:t>
            </a:r>
            <a:r>
              <a:rPr lang="zh-CN" altLang="en-US" b="1" dirty="0" smtClean="0"/>
              <a:t>上的设备有</a:t>
            </a:r>
            <a:r>
              <a:rPr lang="zh-CN" altLang="en-US" dirty="0" smtClean="0"/>
              <a:t>：电源接口、备份接口、</a:t>
            </a:r>
            <a:r>
              <a:rPr lang="en-US" altLang="zh-CN" dirty="0" smtClean="0"/>
              <a:t>CAN</a:t>
            </a:r>
            <a:r>
              <a:rPr lang="zh-CN" altLang="en-US" dirty="0" smtClean="0"/>
              <a:t>、</a:t>
            </a:r>
            <a:r>
              <a:rPr lang="en-US" altLang="zh-CN" dirty="0" smtClean="0"/>
              <a:t>USB</a:t>
            </a:r>
            <a:r>
              <a:rPr lang="zh-CN" altLang="en-US" dirty="0" smtClean="0"/>
              <a:t>、</a:t>
            </a:r>
            <a:r>
              <a:rPr lang="en-US" altLang="zh-CN" dirty="0" smtClean="0"/>
              <a:t>I2C1</a:t>
            </a:r>
            <a:r>
              <a:rPr lang="zh-CN" altLang="en-US" dirty="0" smtClean="0"/>
              <a:t>、</a:t>
            </a:r>
            <a:r>
              <a:rPr lang="en-US" altLang="zh-CN" dirty="0" smtClean="0"/>
              <a:t>I2C2</a:t>
            </a:r>
            <a:r>
              <a:rPr lang="zh-CN" altLang="en-US" dirty="0" smtClean="0"/>
              <a:t>、</a:t>
            </a:r>
            <a:r>
              <a:rPr lang="en-US" altLang="zh-CN" dirty="0" smtClean="0"/>
              <a:t>UART2</a:t>
            </a:r>
            <a:r>
              <a:rPr lang="zh-CN" altLang="en-US" dirty="0" smtClean="0"/>
              <a:t>、</a:t>
            </a:r>
            <a:r>
              <a:rPr lang="en-US" altLang="zh-CN" dirty="0" smtClean="0"/>
              <a:t>UART3</a:t>
            </a:r>
            <a:r>
              <a:rPr lang="zh-CN" altLang="en-US" dirty="0" smtClean="0"/>
              <a:t>、</a:t>
            </a:r>
            <a:r>
              <a:rPr lang="en-US" altLang="zh-CN" dirty="0" smtClean="0"/>
              <a:t>SPI2</a:t>
            </a:r>
            <a:r>
              <a:rPr lang="zh-CN" altLang="en-US" dirty="0" smtClean="0"/>
              <a:t>、窗口看门狗、</a:t>
            </a:r>
            <a:r>
              <a:rPr lang="en-US" altLang="zh-CN" dirty="0" smtClean="0"/>
              <a:t>Timer2</a:t>
            </a:r>
            <a:r>
              <a:rPr lang="zh-CN" altLang="en-US" dirty="0" smtClean="0"/>
              <a:t>、</a:t>
            </a:r>
            <a:r>
              <a:rPr lang="en-US" altLang="zh-CN" dirty="0" smtClean="0"/>
              <a:t>Timer3</a:t>
            </a:r>
            <a:r>
              <a:rPr lang="zh-CN" altLang="en-US" dirty="0" smtClean="0"/>
              <a:t>、</a:t>
            </a:r>
            <a:r>
              <a:rPr lang="en-US" altLang="zh-CN" dirty="0" smtClean="0"/>
              <a:t>Timer4</a:t>
            </a:r>
            <a:r>
              <a:rPr lang="zh-CN" altLang="en-US" dirty="0" smtClean="0"/>
              <a:t>。注意</a:t>
            </a:r>
            <a:r>
              <a:rPr lang="en-US" altLang="zh-CN" dirty="0" smtClean="0"/>
              <a:t>USB</a:t>
            </a:r>
            <a:r>
              <a:rPr lang="zh-CN" altLang="en-US" dirty="0" smtClean="0"/>
              <a:t>模块虽然需要一个单独的</a:t>
            </a:r>
            <a:r>
              <a:rPr lang="en-US" altLang="zh-CN" dirty="0" smtClean="0"/>
              <a:t>48MHz</a:t>
            </a:r>
            <a:r>
              <a:rPr lang="zh-CN" altLang="en-US" dirty="0" smtClean="0"/>
              <a:t>时钟信号，但它不是供</a:t>
            </a:r>
            <a:r>
              <a:rPr lang="en-US" altLang="zh-CN" dirty="0" smtClean="0"/>
              <a:t>USB</a:t>
            </a:r>
            <a:r>
              <a:rPr lang="zh-CN" altLang="en-US" dirty="0" smtClean="0"/>
              <a:t>模块工作的时钟，而只是提供给串行接口引擎</a:t>
            </a:r>
            <a:r>
              <a:rPr lang="en-US" altLang="zh-CN" dirty="0" smtClean="0"/>
              <a:t>(SIE)</a:t>
            </a:r>
            <a:r>
              <a:rPr lang="zh-CN" altLang="en-US" dirty="0" smtClean="0"/>
              <a:t>使用的时钟。</a:t>
            </a:r>
            <a:r>
              <a:rPr lang="en-US" altLang="zh-CN" dirty="0" smtClean="0"/>
              <a:t>USB</a:t>
            </a:r>
            <a:r>
              <a:rPr lang="zh-CN" altLang="en-US" dirty="0" smtClean="0"/>
              <a:t>模块工作的时钟应该是由</a:t>
            </a:r>
            <a:r>
              <a:rPr lang="en-US" altLang="zh-CN" dirty="0" smtClean="0"/>
              <a:t>APB1</a:t>
            </a:r>
            <a:r>
              <a:rPr lang="zh-CN" altLang="en-US" dirty="0" smtClean="0"/>
              <a:t>提供的。</a:t>
            </a:r>
            <a:endParaRPr lang="en-US" altLang="zh-CN" dirty="0" smtClean="0"/>
          </a:p>
          <a:p>
            <a:pPr>
              <a:lnSpc>
                <a:spcPct val="150000"/>
              </a:lnSpc>
            </a:pPr>
            <a:r>
              <a:rPr lang="zh-CN" altLang="en-US" b="1" dirty="0" smtClean="0"/>
              <a:t>连接在</a:t>
            </a:r>
            <a:r>
              <a:rPr lang="en-US" b="1" dirty="0" smtClean="0"/>
              <a:t>APB2(</a:t>
            </a:r>
            <a:r>
              <a:rPr lang="zh-CN" altLang="en-US" b="1" dirty="0" smtClean="0"/>
              <a:t>高速外设</a:t>
            </a:r>
            <a:r>
              <a:rPr lang="en-US" altLang="zh-CN" b="1" dirty="0" smtClean="0"/>
              <a:t>)</a:t>
            </a:r>
            <a:r>
              <a:rPr lang="zh-CN" altLang="en-US" b="1" dirty="0" smtClean="0"/>
              <a:t>上的设备有</a:t>
            </a:r>
            <a:r>
              <a:rPr lang="zh-CN" altLang="en-US" dirty="0" smtClean="0"/>
              <a:t>：</a:t>
            </a:r>
            <a:r>
              <a:rPr lang="en-US" dirty="0" smtClean="0"/>
              <a:t>UART1、SPI1、Timer1、ADC1、ADC2、</a:t>
            </a:r>
            <a:r>
              <a:rPr lang="zh-CN" altLang="en-US" dirty="0" smtClean="0"/>
              <a:t>所有普通</a:t>
            </a:r>
            <a:r>
              <a:rPr lang="en-US" dirty="0" smtClean="0"/>
              <a:t>IO</a:t>
            </a:r>
            <a:r>
              <a:rPr lang="zh-CN" altLang="en-US" dirty="0" smtClean="0"/>
              <a:t>口</a:t>
            </a:r>
            <a:r>
              <a:rPr lang="en-US" altLang="zh-CN" dirty="0" smtClean="0"/>
              <a:t>(</a:t>
            </a:r>
            <a:r>
              <a:rPr lang="en-US" dirty="0" smtClean="0"/>
              <a:t>PA~PE)、</a:t>
            </a:r>
            <a:r>
              <a:rPr lang="zh-CN" altLang="en-US" dirty="0" smtClean="0"/>
              <a:t>第二功能</a:t>
            </a:r>
            <a:r>
              <a:rPr lang="en-US" dirty="0" smtClean="0"/>
              <a:t>IO</a:t>
            </a:r>
            <a:r>
              <a:rPr lang="zh-CN" altLang="en-US" dirty="0" smtClean="0"/>
              <a:t>口。</a:t>
            </a:r>
            <a:endParaRPr lang="en-US" altLang="zh-CN" dirty="0" smtClean="0"/>
          </a:p>
          <a:p>
            <a:pPr>
              <a:lnSpc>
                <a:spcPct val="150000"/>
              </a:lnSpc>
            </a:pPr>
            <a:r>
              <a:rPr lang="zh-CN" altLang="en-US" dirty="0" smtClean="0"/>
              <a:t>在以上的时钟输出中，有很多是带使能控制的，例如</a:t>
            </a:r>
            <a:r>
              <a:rPr lang="en-US" altLang="zh-CN" dirty="0" smtClean="0"/>
              <a:t>AHB</a:t>
            </a:r>
            <a:r>
              <a:rPr lang="zh-CN" altLang="en-US" dirty="0" smtClean="0"/>
              <a:t>总线时钟、内核时钟、各种</a:t>
            </a:r>
            <a:r>
              <a:rPr lang="en-US" altLang="zh-CN" dirty="0" smtClean="0"/>
              <a:t>APB1</a:t>
            </a:r>
            <a:r>
              <a:rPr lang="zh-CN" altLang="en-US" dirty="0" smtClean="0"/>
              <a:t>外设、</a:t>
            </a:r>
            <a:r>
              <a:rPr lang="en-US" altLang="zh-CN" dirty="0" smtClean="0"/>
              <a:t>APB2</a:t>
            </a:r>
            <a:r>
              <a:rPr lang="zh-CN" altLang="en-US" dirty="0" smtClean="0"/>
              <a:t>外设等等。当需要使用某模块时，记得一定要先使能对应的时钟。</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4776" y="1031848"/>
            <a:ext cx="6469224" cy="5909310"/>
          </a:xfrm>
          <a:prstGeom prst="rect">
            <a:avLst/>
          </a:prstGeom>
        </p:spPr>
        <p:txBody>
          <a:bodyPr wrap="square">
            <a:spAutoFit/>
          </a:bodyPr>
          <a:lstStyle/>
          <a:p>
            <a:pPr>
              <a:lnSpc>
                <a:spcPct val="150000"/>
              </a:lnSpc>
            </a:pPr>
            <a:r>
              <a:rPr lang="en-US" dirty="0" err="1" smtClean="0"/>
              <a:t>typedef</a:t>
            </a:r>
            <a:r>
              <a:rPr lang="en-US" dirty="0" smtClean="0"/>
              <a:t> </a:t>
            </a:r>
            <a:r>
              <a:rPr lang="en-US" dirty="0" err="1" smtClean="0"/>
              <a:t>struct</a:t>
            </a:r>
            <a:r>
              <a:rPr lang="en-US" dirty="0" smtClean="0"/>
              <a:t> </a:t>
            </a:r>
          </a:p>
          <a:p>
            <a:pPr>
              <a:lnSpc>
                <a:spcPct val="150000"/>
              </a:lnSpc>
            </a:pPr>
            <a:r>
              <a:rPr lang="en-US" dirty="0" smtClean="0"/>
              <a:t>{ </a:t>
            </a:r>
          </a:p>
          <a:p>
            <a:pPr>
              <a:lnSpc>
                <a:spcPct val="150000"/>
              </a:lnSpc>
            </a:pPr>
            <a:r>
              <a:rPr lang="en-US" dirty="0" smtClean="0"/>
              <a:t>vu32 CR; //</a:t>
            </a:r>
            <a:r>
              <a:rPr lang="en-US" dirty="0" smtClean="0">
                <a:solidFill>
                  <a:srgbClr val="FF0000"/>
                </a:solidFill>
              </a:rPr>
              <a:t>HSI,HSE,CSS,PLL</a:t>
            </a:r>
            <a:r>
              <a:rPr lang="zh-CN" altLang="en-US" dirty="0" smtClean="0">
                <a:solidFill>
                  <a:srgbClr val="FF0000"/>
                </a:solidFill>
              </a:rPr>
              <a:t>等的使能 </a:t>
            </a:r>
          </a:p>
          <a:p>
            <a:pPr>
              <a:lnSpc>
                <a:spcPct val="150000"/>
              </a:lnSpc>
            </a:pPr>
            <a:r>
              <a:rPr lang="en-US" dirty="0" smtClean="0"/>
              <a:t>vu32 CFGR; //</a:t>
            </a:r>
            <a:r>
              <a:rPr lang="en-US" dirty="0" smtClean="0">
                <a:solidFill>
                  <a:srgbClr val="FF0000"/>
                </a:solidFill>
              </a:rPr>
              <a:t>PLL</a:t>
            </a:r>
            <a:r>
              <a:rPr lang="zh-CN" altLang="en-US" dirty="0" smtClean="0">
                <a:solidFill>
                  <a:srgbClr val="FF0000"/>
                </a:solidFill>
              </a:rPr>
              <a:t>等的时钟源选择以及分频</a:t>
            </a:r>
            <a:r>
              <a:rPr lang="zh-CN" altLang="en-US" dirty="0" smtClean="0">
                <a:solidFill>
                  <a:srgbClr val="FF0000"/>
                </a:solidFill>
              </a:rPr>
              <a:t>系</a:t>
            </a:r>
            <a:endParaRPr lang="en-US" altLang="zh-CN" dirty="0" smtClean="0">
              <a:solidFill>
                <a:srgbClr val="FF0000"/>
              </a:solidFill>
            </a:endParaRPr>
          </a:p>
          <a:p>
            <a:pPr>
              <a:lnSpc>
                <a:spcPct val="150000"/>
              </a:lnSpc>
            </a:pPr>
            <a:r>
              <a:rPr lang="en-US" altLang="zh-CN" dirty="0" smtClean="0">
                <a:solidFill>
                  <a:srgbClr val="FF0000"/>
                </a:solidFill>
              </a:rPr>
              <a:t> </a:t>
            </a:r>
            <a:r>
              <a:rPr lang="en-US" altLang="zh-CN" dirty="0" smtClean="0">
                <a:solidFill>
                  <a:srgbClr val="FF0000"/>
                </a:solidFill>
              </a:rPr>
              <a:t>                    </a:t>
            </a:r>
            <a:r>
              <a:rPr lang="zh-CN" altLang="en-US" dirty="0" smtClean="0">
                <a:solidFill>
                  <a:srgbClr val="FF0000"/>
                </a:solidFill>
              </a:rPr>
              <a:t>数</a:t>
            </a:r>
            <a:r>
              <a:rPr lang="zh-CN" altLang="en-US" dirty="0" smtClean="0">
                <a:solidFill>
                  <a:srgbClr val="FF0000"/>
                </a:solidFill>
              </a:rPr>
              <a:t>设定 </a:t>
            </a:r>
          </a:p>
          <a:p>
            <a:pPr>
              <a:lnSpc>
                <a:spcPct val="150000"/>
              </a:lnSpc>
            </a:pPr>
            <a:r>
              <a:rPr lang="en-US" dirty="0" smtClean="0"/>
              <a:t>vu32 CIR; // </a:t>
            </a:r>
            <a:r>
              <a:rPr lang="zh-CN" altLang="en-US" dirty="0" smtClean="0">
                <a:solidFill>
                  <a:srgbClr val="FF0000"/>
                </a:solidFill>
              </a:rPr>
              <a:t>清除</a:t>
            </a:r>
            <a:r>
              <a:rPr lang="en-US" altLang="zh-CN" dirty="0" smtClean="0">
                <a:solidFill>
                  <a:srgbClr val="FF0000"/>
                </a:solidFill>
              </a:rPr>
              <a:t>/</a:t>
            </a:r>
            <a:r>
              <a:rPr lang="zh-CN" altLang="en-US" dirty="0" smtClean="0">
                <a:solidFill>
                  <a:srgbClr val="FF0000"/>
                </a:solidFill>
              </a:rPr>
              <a:t>使能 时钟就绪中断 </a:t>
            </a:r>
          </a:p>
          <a:p>
            <a:pPr>
              <a:lnSpc>
                <a:spcPct val="150000"/>
              </a:lnSpc>
            </a:pPr>
            <a:r>
              <a:rPr lang="en-US" dirty="0" smtClean="0"/>
              <a:t>vu32 APB2RSTR; //</a:t>
            </a:r>
            <a:r>
              <a:rPr lang="en-US" dirty="0" smtClean="0">
                <a:solidFill>
                  <a:srgbClr val="FF0000"/>
                </a:solidFill>
              </a:rPr>
              <a:t>APB2</a:t>
            </a:r>
            <a:r>
              <a:rPr lang="zh-CN" altLang="en-US" dirty="0" smtClean="0">
                <a:solidFill>
                  <a:srgbClr val="FF0000"/>
                </a:solidFill>
              </a:rPr>
              <a:t>线上外设复位寄存器 </a:t>
            </a:r>
          </a:p>
          <a:p>
            <a:pPr>
              <a:lnSpc>
                <a:spcPct val="150000"/>
              </a:lnSpc>
            </a:pPr>
            <a:r>
              <a:rPr lang="en-US" dirty="0" smtClean="0"/>
              <a:t>vu32 APB1RSTR; //</a:t>
            </a:r>
            <a:r>
              <a:rPr lang="en-US" dirty="0" smtClean="0">
                <a:solidFill>
                  <a:srgbClr val="FF0000"/>
                </a:solidFill>
              </a:rPr>
              <a:t>APB1</a:t>
            </a:r>
            <a:r>
              <a:rPr lang="zh-CN" altLang="en-US" dirty="0" smtClean="0">
                <a:solidFill>
                  <a:srgbClr val="FF0000"/>
                </a:solidFill>
              </a:rPr>
              <a:t>线上外设复位寄存器 </a:t>
            </a:r>
          </a:p>
          <a:p>
            <a:pPr>
              <a:lnSpc>
                <a:spcPct val="150000"/>
              </a:lnSpc>
            </a:pPr>
            <a:r>
              <a:rPr lang="en-US" dirty="0" smtClean="0"/>
              <a:t>vu32 AHBENR; //</a:t>
            </a:r>
            <a:r>
              <a:rPr lang="en-US" dirty="0" smtClean="0">
                <a:solidFill>
                  <a:srgbClr val="FF0000"/>
                </a:solidFill>
              </a:rPr>
              <a:t>DMA，SDIO</a:t>
            </a:r>
            <a:r>
              <a:rPr lang="zh-CN" altLang="en-US" dirty="0" smtClean="0">
                <a:solidFill>
                  <a:srgbClr val="FF0000"/>
                </a:solidFill>
              </a:rPr>
              <a:t>等时钟使能 </a:t>
            </a:r>
          </a:p>
          <a:p>
            <a:pPr>
              <a:lnSpc>
                <a:spcPct val="150000"/>
              </a:lnSpc>
            </a:pPr>
            <a:r>
              <a:rPr lang="en-US" dirty="0" smtClean="0"/>
              <a:t>vu32 APB2ENR; //</a:t>
            </a:r>
            <a:r>
              <a:rPr lang="en-US" dirty="0" smtClean="0">
                <a:solidFill>
                  <a:srgbClr val="FF0000"/>
                </a:solidFill>
              </a:rPr>
              <a:t>APB2</a:t>
            </a:r>
            <a:r>
              <a:rPr lang="zh-CN" altLang="en-US" dirty="0" smtClean="0">
                <a:solidFill>
                  <a:srgbClr val="FF0000"/>
                </a:solidFill>
              </a:rPr>
              <a:t>线上外设时钟使能 </a:t>
            </a:r>
          </a:p>
          <a:p>
            <a:pPr>
              <a:lnSpc>
                <a:spcPct val="150000"/>
              </a:lnSpc>
            </a:pPr>
            <a:r>
              <a:rPr lang="en-US" dirty="0" smtClean="0"/>
              <a:t>vu32 APB1ENR; //</a:t>
            </a:r>
            <a:r>
              <a:rPr lang="en-US" dirty="0" smtClean="0">
                <a:solidFill>
                  <a:srgbClr val="FF0000"/>
                </a:solidFill>
              </a:rPr>
              <a:t>APB1</a:t>
            </a:r>
            <a:r>
              <a:rPr lang="zh-CN" altLang="en-US" dirty="0" smtClean="0">
                <a:solidFill>
                  <a:srgbClr val="FF0000"/>
                </a:solidFill>
              </a:rPr>
              <a:t>线上外设时钟使能 </a:t>
            </a:r>
          </a:p>
          <a:p>
            <a:pPr>
              <a:lnSpc>
                <a:spcPct val="150000"/>
              </a:lnSpc>
            </a:pPr>
            <a:r>
              <a:rPr lang="en-US" dirty="0" smtClean="0"/>
              <a:t>vu32 BDCR; //</a:t>
            </a:r>
            <a:r>
              <a:rPr lang="zh-CN" altLang="en-US" dirty="0" smtClean="0">
                <a:solidFill>
                  <a:srgbClr val="FF0000"/>
                </a:solidFill>
              </a:rPr>
              <a:t>备份域控制寄存器 </a:t>
            </a:r>
          </a:p>
          <a:p>
            <a:pPr>
              <a:lnSpc>
                <a:spcPct val="150000"/>
              </a:lnSpc>
            </a:pPr>
            <a:r>
              <a:rPr lang="en-US" dirty="0" smtClean="0"/>
              <a:t>vu32 CSR; } </a:t>
            </a:r>
            <a:r>
              <a:rPr lang="en-US" dirty="0" err="1" smtClean="0"/>
              <a:t>RCC_TypeDef</a:t>
            </a:r>
            <a:r>
              <a:rPr lang="en-US" dirty="0" smtClean="0"/>
              <a:t>; </a:t>
            </a:r>
          </a:p>
          <a:p>
            <a:pPr>
              <a:lnSpc>
                <a:spcPct val="150000"/>
              </a:lnSpc>
            </a:pPr>
            <a:endParaRPr lang="en-US" dirty="0" smtClean="0"/>
          </a:p>
        </p:txBody>
      </p:sp>
      <p:sp>
        <p:nvSpPr>
          <p:cNvPr id="4" name="TextBox 3"/>
          <p:cNvSpPr txBox="1"/>
          <p:nvPr/>
        </p:nvSpPr>
        <p:spPr>
          <a:xfrm>
            <a:off x="5410931" y="992623"/>
            <a:ext cx="7707113" cy="4247317"/>
          </a:xfrm>
          <a:prstGeom prst="rect">
            <a:avLst/>
          </a:prstGeom>
          <a:noFill/>
        </p:spPr>
        <p:txBody>
          <a:bodyPr wrap="square" rtlCol="0">
            <a:spAutoFit/>
          </a:bodyPr>
          <a:lstStyle/>
          <a:p>
            <a:pPr>
              <a:lnSpc>
                <a:spcPct val="150000"/>
              </a:lnSpc>
            </a:pPr>
            <a:r>
              <a:rPr lang="en-US" dirty="0" smtClean="0"/>
              <a:t>#define PHRIPH_BASE   ((u32)0x40000000)</a:t>
            </a:r>
            <a:endParaRPr lang="zh-CN" altLang="en-US" dirty="0" smtClean="0"/>
          </a:p>
          <a:p>
            <a:pPr>
              <a:lnSpc>
                <a:spcPct val="150000"/>
              </a:lnSpc>
            </a:pPr>
            <a:r>
              <a:rPr lang="en-US" dirty="0" smtClean="0"/>
              <a:t>…</a:t>
            </a:r>
            <a:endParaRPr lang="zh-CN" altLang="en-US" dirty="0" smtClean="0"/>
          </a:p>
          <a:p>
            <a:pPr>
              <a:lnSpc>
                <a:spcPct val="150000"/>
              </a:lnSpc>
            </a:pPr>
            <a:r>
              <a:rPr lang="en-US" dirty="0" smtClean="0"/>
              <a:t>#define AHBPHRIPH_BASE   (PHRIPH_BASE+0x20000)</a:t>
            </a:r>
            <a:endParaRPr lang="zh-CN" altLang="en-US" dirty="0" smtClean="0"/>
          </a:p>
          <a:p>
            <a:pPr>
              <a:lnSpc>
                <a:spcPct val="150000"/>
              </a:lnSpc>
            </a:pPr>
            <a:r>
              <a:rPr lang="en-US" dirty="0" smtClean="0"/>
              <a:t>…</a:t>
            </a:r>
            <a:endParaRPr lang="zh-CN" altLang="en-US" dirty="0" smtClean="0"/>
          </a:p>
          <a:p>
            <a:pPr>
              <a:lnSpc>
                <a:spcPct val="150000"/>
              </a:lnSpc>
            </a:pPr>
            <a:r>
              <a:rPr lang="en-US" dirty="0" smtClean="0"/>
              <a:t>#define RCC_BASE    (AHBPHRIPH_BASE+0x1000)</a:t>
            </a:r>
            <a:endParaRPr lang="zh-CN" altLang="en-US" dirty="0" smtClean="0"/>
          </a:p>
          <a:p>
            <a:pPr>
              <a:lnSpc>
                <a:spcPct val="150000"/>
              </a:lnSpc>
            </a:pPr>
            <a:r>
              <a:rPr lang="en-US" dirty="0" smtClean="0"/>
              <a:t>…</a:t>
            </a:r>
            <a:endParaRPr lang="zh-CN" altLang="en-US" dirty="0" smtClean="0"/>
          </a:p>
          <a:p>
            <a:pPr>
              <a:lnSpc>
                <a:spcPct val="150000"/>
              </a:lnSpc>
            </a:pPr>
            <a:r>
              <a:rPr lang="en-US" dirty="0" smtClean="0"/>
              <a:t>#</a:t>
            </a:r>
            <a:r>
              <a:rPr lang="en-US" dirty="0" err="1" smtClean="0"/>
              <a:t>ifdef</a:t>
            </a:r>
            <a:r>
              <a:rPr lang="en-US" dirty="0" smtClean="0"/>
              <a:t> _RCC</a:t>
            </a:r>
            <a:endParaRPr lang="zh-CN" altLang="en-US" dirty="0" smtClean="0"/>
          </a:p>
          <a:p>
            <a:pPr>
              <a:lnSpc>
                <a:spcPct val="150000"/>
              </a:lnSpc>
            </a:pPr>
            <a:r>
              <a:rPr lang="en-US" dirty="0" smtClean="0"/>
              <a:t>  #define </a:t>
            </a:r>
            <a:r>
              <a:rPr lang="en-US" dirty="0" smtClean="0"/>
              <a:t>RCC   </a:t>
            </a:r>
            <a:r>
              <a:rPr lang="en-US" dirty="0" smtClean="0"/>
              <a:t>((</a:t>
            </a:r>
            <a:r>
              <a:rPr lang="en-US" dirty="0" err="1" smtClean="0"/>
              <a:t>RCC_TypeDef</a:t>
            </a:r>
            <a:r>
              <a:rPr lang="en-US" dirty="0" smtClean="0"/>
              <a:t> *) RCC_BASE))</a:t>
            </a:r>
            <a:endParaRPr lang="zh-CN" altLang="en-US" dirty="0" smtClean="0"/>
          </a:p>
          <a:p>
            <a:pPr>
              <a:lnSpc>
                <a:spcPct val="150000"/>
              </a:lnSpc>
            </a:pPr>
            <a:r>
              <a:rPr lang="en-US" dirty="0" smtClean="0"/>
              <a:t>#</a:t>
            </a:r>
            <a:r>
              <a:rPr lang="en-US" dirty="0" err="1" smtClean="0"/>
              <a:t>endif</a:t>
            </a:r>
            <a:r>
              <a:rPr lang="en-US" dirty="0" smtClean="0"/>
              <a:t> /*_RCC*/</a:t>
            </a:r>
            <a:endParaRPr lang="zh-CN" altLang="en-US" dirty="0" smtClean="0"/>
          </a:p>
          <a:p>
            <a:pPr>
              <a:lnSpc>
                <a:spcPct val="150000"/>
              </a:lnSpc>
            </a:pPr>
            <a:endParaRPr lang="zh-CN" altLang="en-US" dirty="0"/>
          </a:p>
        </p:txBody>
      </p:sp>
      <p:sp>
        <p:nvSpPr>
          <p:cNvPr id="5" name="TextBox 4"/>
          <p:cNvSpPr txBox="1"/>
          <p:nvPr/>
        </p:nvSpPr>
        <p:spPr>
          <a:xfrm>
            <a:off x="5437762" y="4649821"/>
            <a:ext cx="6186791" cy="1704056"/>
          </a:xfrm>
          <a:prstGeom prst="rect">
            <a:avLst/>
          </a:prstGeom>
          <a:noFill/>
        </p:spPr>
        <p:txBody>
          <a:bodyPr wrap="square" rtlCol="0">
            <a:spAutoFit/>
          </a:bodyPr>
          <a:lstStyle/>
          <a:p>
            <a:pPr>
              <a:lnSpc>
                <a:spcPct val="150000"/>
              </a:lnSpc>
            </a:pPr>
            <a:r>
              <a:rPr lang="zh-CN" altLang="en-US" dirty="0" smtClean="0">
                <a:solidFill>
                  <a:srgbClr val="FF0000"/>
                </a:solidFill>
              </a:rPr>
              <a:t>从宏定义看出，对于程序中所有的</a:t>
            </a:r>
            <a:r>
              <a:rPr lang="en-US" altLang="zh-CN" dirty="0" smtClean="0">
                <a:solidFill>
                  <a:srgbClr val="FF0000"/>
                </a:solidFill>
              </a:rPr>
              <a:t>RCC</a:t>
            </a:r>
            <a:r>
              <a:rPr lang="zh-CN" altLang="en-US" dirty="0" smtClean="0">
                <a:solidFill>
                  <a:srgbClr val="FF0000"/>
                </a:solidFill>
              </a:rPr>
              <a:t>，编译器预处理程序将它替换成</a:t>
            </a:r>
            <a:r>
              <a:rPr lang="en-US" dirty="0" smtClean="0">
                <a:solidFill>
                  <a:srgbClr val="FF0000"/>
                </a:solidFill>
              </a:rPr>
              <a:t>RCC   ((</a:t>
            </a:r>
            <a:r>
              <a:rPr lang="en-US" dirty="0" err="1" smtClean="0">
                <a:solidFill>
                  <a:srgbClr val="FF0000"/>
                </a:solidFill>
              </a:rPr>
              <a:t>RCC_TypeDef</a:t>
            </a:r>
            <a:r>
              <a:rPr lang="en-US" dirty="0" smtClean="0">
                <a:solidFill>
                  <a:srgbClr val="FF0000"/>
                </a:solidFill>
              </a:rPr>
              <a:t> *) </a:t>
            </a:r>
            <a:r>
              <a:rPr lang="en-US" dirty="0" smtClean="0">
                <a:solidFill>
                  <a:srgbClr val="FF0000"/>
                </a:solidFill>
              </a:rPr>
              <a:t>0x40021000),</a:t>
            </a:r>
            <a:r>
              <a:rPr lang="en-US" dirty="0" smtClean="0">
                <a:solidFill>
                  <a:srgbClr val="FF0000"/>
                </a:solidFill>
              </a:rPr>
              <a:t> </a:t>
            </a:r>
            <a:r>
              <a:rPr lang="en-US" dirty="0" smtClean="0">
                <a:solidFill>
                  <a:srgbClr val="FF0000"/>
                </a:solidFill>
              </a:rPr>
              <a:t>0x40021000</a:t>
            </a:r>
            <a:r>
              <a:rPr lang="zh-CN" altLang="en-US" dirty="0" smtClean="0">
                <a:solidFill>
                  <a:srgbClr val="FF0000"/>
                </a:solidFill>
              </a:rPr>
              <a:t>是</a:t>
            </a:r>
            <a:r>
              <a:rPr lang="en-US" altLang="zh-CN" dirty="0" smtClean="0">
                <a:solidFill>
                  <a:srgbClr val="FF0000"/>
                </a:solidFill>
              </a:rPr>
              <a:t>RCC</a:t>
            </a:r>
            <a:r>
              <a:rPr lang="zh-CN" altLang="en-US" dirty="0" smtClean="0">
                <a:solidFill>
                  <a:srgbClr val="FF0000"/>
                </a:solidFill>
              </a:rPr>
              <a:t>寄存器的存储映射首地址，首地址加上表</a:t>
            </a:r>
            <a:r>
              <a:rPr lang="en-US" altLang="zh-CN" dirty="0" smtClean="0">
                <a:solidFill>
                  <a:srgbClr val="FF0000"/>
                </a:solidFill>
              </a:rPr>
              <a:t>3-2</a:t>
            </a:r>
            <a:r>
              <a:rPr lang="zh-CN" altLang="en-US" dirty="0" smtClean="0">
                <a:solidFill>
                  <a:srgbClr val="FF0000"/>
                </a:solidFill>
              </a:rPr>
              <a:t>中各寄存器偏移就是寄存器在存储器中的地址。</a:t>
            </a:r>
            <a:endParaRPr lang="zh-CN" altLang="en-US" dirty="0">
              <a:solidFill>
                <a:srgbClr val="FF0000"/>
              </a:solidFill>
            </a:endParaRPr>
          </a:p>
        </p:txBody>
      </p:sp>
      <p:sp>
        <p:nvSpPr>
          <p:cNvPr id="6" name="矩形 5"/>
          <p:cNvSpPr/>
          <p:nvPr/>
        </p:nvSpPr>
        <p:spPr>
          <a:xfrm>
            <a:off x="304799" y="227941"/>
            <a:ext cx="10901266" cy="969496"/>
          </a:xfrm>
          <a:prstGeom prst="rect">
            <a:avLst/>
          </a:prstGeom>
        </p:spPr>
        <p:txBody>
          <a:bodyPr wrap="square">
            <a:spAutoFit/>
          </a:bodyPr>
          <a:lstStyle/>
          <a:p>
            <a:pPr>
              <a:lnSpc>
                <a:spcPct val="150000"/>
              </a:lnSpc>
            </a:pPr>
            <a:r>
              <a:rPr lang="en-US" altLang="zh-CN" sz="2000" b="1" dirty="0" smtClean="0">
                <a:solidFill>
                  <a:srgbClr val="7030A0"/>
                </a:solidFill>
              </a:rPr>
              <a:t>RCC</a:t>
            </a:r>
            <a:r>
              <a:rPr lang="zh-CN" altLang="en-US" sz="2000" b="1" dirty="0" smtClean="0">
                <a:solidFill>
                  <a:srgbClr val="7030A0"/>
                </a:solidFill>
              </a:rPr>
              <a:t>寄存器</a:t>
            </a:r>
            <a:endParaRPr lang="en-US" altLang="zh-CN" sz="2000" b="1" dirty="0" smtClean="0">
              <a:solidFill>
                <a:srgbClr val="7030A0"/>
              </a:solidFill>
            </a:endParaRPr>
          </a:p>
          <a:p>
            <a:pPr>
              <a:lnSpc>
                <a:spcPct val="150000"/>
              </a:lnSpc>
            </a:pPr>
            <a:r>
              <a:rPr lang="zh-CN" altLang="en-US" b="1" dirty="0" smtClean="0"/>
              <a:t>        时钟配置与</a:t>
            </a:r>
            <a:r>
              <a:rPr lang="en-US" altLang="zh-CN" b="1" dirty="0" smtClean="0"/>
              <a:t>RCC</a:t>
            </a:r>
            <a:r>
              <a:rPr lang="zh-CN" altLang="en-US" b="1" dirty="0" smtClean="0"/>
              <a:t>寄存器密切相关，它能管理处理器内部和外部的外设时钟。</a:t>
            </a:r>
            <a:endParaRPr lang="zh-CN" alt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73223" y="289233"/>
            <a:ext cx="11402009" cy="6740307"/>
          </a:xfrm>
          <a:prstGeom prst="rect">
            <a:avLst/>
          </a:prstGeom>
          <a:noFill/>
        </p:spPr>
        <p:txBody>
          <a:bodyPr wrap="square" rtlCol="0">
            <a:spAutoFit/>
          </a:bodyPr>
          <a:lstStyle/>
          <a:p>
            <a:pPr>
              <a:lnSpc>
                <a:spcPct val="150000"/>
              </a:lnSpc>
            </a:pPr>
            <a:r>
              <a:rPr lang="zh-CN" altLang="en-US" dirty="0" smtClean="0"/>
              <a:t>      在</a:t>
            </a:r>
            <a:r>
              <a:rPr lang="en-US" dirty="0" smtClean="0"/>
              <a:t>stm32</a:t>
            </a:r>
            <a:r>
              <a:rPr lang="zh-CN" altLang="en-US" dirty="0" smtClean="0"/>
              <a:t>固件库</a:t>
            </a:r>
            <a:r>
              <a:rPr lang="en-US" dirty="0" smtClean="0"/>
              <a:t>3.0</a:t>
            </a:r>
            <a:r>
              <a:rPr lang="zh-CN" altLang="en-US" dirty="0" smtClean="0"/>
              <a:t>中对时钟频率的选择进行了大大的简化，原先的一大堆操作都在后台进行。系统给出的函数为</a:t>
            </a:r>
            <a:r>
              <a:rPr lang="en-US" dirty="0" err="1" smtClean="0"/>
              <a:t>SystemInit</a:t>
            </a:r>
            <a:r>
              <a:rPr lang="en-US" dirty="0" smtClean="0"/>
              <a:t>()</a:t>
            </a:r>
            <a:r>
              <a:rPr lang="zh-CN" altLang="en-US" dirty="0" smtClean="0"/>
              <a:t>。但在调用前还需要进行一些宏定义的设置，具体的设置在</a:t>
            </a:r>
            <a:r>
              <a:rPr lang="en-US" dirty="0" smtClean="0"/>
              <a:t>system_stm32f10x.c</a:t>
            </a:r>
            <a:r>
              <a:rPr lang="zh-CN" altLang="en-US" dirty="0" smtClean="0"/>
              <a:t>文件中</a:t>
            </a:r>
            <a:r>
              <a:rPr lang="zh-CN" altLang="en-US" dirty="0" smtClean="0"/>
              <a:t>。</a:t>
            </a:r>
            <a:endParaRPr lang="zh-CN" altLang="en-US" dirty="0" smtClean="0"/>
          </a:p>
          <a:p>
            <a:pPr>
              <a:lnSpc>
                <a:spcPct val="150000"/>
              </a:lnSpc>
              <a:buClr>
                <a:srgbClr val="C00000"/>
              </a:buClr>
              <a:buFont typeface="Wingdings" pitchFamily="2" charset="2"/>
              <a:buChar char="u"/>
            </a:pPr>
            <a:r>
              <a:rPr lang="en-US" dirty="0" smtClean="0"/>
              <a:t> </a:t>
            </a:r>
            <a:r>
              <a:rPr lang="en-US" dirty="0" smtClean="0"/>
              <a:t>system_stm32f10x.c </a:t>
            </a:r>
            <a:r>
              <a:rPr lang="zh-CN" altLang="en-US" dirty="0" smtClean="0"/>
              <a:t>中，有这样一个宏定义：</a:t>
            </a:r>
            <a:endParaRPr lang="en-US" altLang="zh-CN" dirty="0" smtClean="0"/>
          </a:p>
          <a:p>
            <a:pPr>
              <a:lnSpc>
                <a:spcPct val="150000"/>
              </a:lnSpc>
            </a:pPr>
            <a:r>
              <a:rPr lang="en-US" dirty="0" smtClean="0"/>
              <a:t>//#</a:t>
            </a:r>
            <a:r>
              <a:rPr lang="en-US" dirty="0" smtClean="0"/>
              <a:t>define SYSCLK_FREQ_24MHz </a:t>
            </a:r>
            <a:r>
              <a:rPr lang="en-US" dirty="0" smtClean="0"/>
              <a:t>24000000</a:t>
            </a:r>
          </a:p>
          <a:p>
            <a:pPr>
              <a:lnSpc>
                <a:spcPct val="150000"/>
              </a:lnSpc>
            </a:pPr>
            <a:r>
              <a:rPr lang="en-US" dirty="0" smtClean="0"/>
              <a:t>//#</a:t>
            </a:r>
            <a:r>
              <a:rPr lang="en-US" dirty="0" smtClean="0"/>
              <a:t>define </a:t>
            </a:r>
            <a:r>
              <a:rPr lang="en-US" dirty="0" smtClean="0"/>
              <a:t>SYSCLK_FREQ_36MHz 36000000</a:t>
            </a:r>
            <a:endParaRPr lang="en-US" dirty="0" smtClean="0"/>
          </a:p>
          <a:p>
            <a:pPr>
              <a:lnSpc>
                <a:spcPct val="150000"/>
              </a:lnSpc>
            </a:pPr>
            <a:r>
              <a:rPr lang="en-US" dirty="0" smtClean="0"/>
              <a:t>//#</a:t>
            </a:r>
            <a:r>
              <a:rPr lang="en-US" dirty="0" smtClean="0"/>
              <a:t>define </a:t>
            </a:r>
            <a:r>
              <a:rPr lang="en-US" dirty="0" smtClean="0"/>
              <a:t>SYSCLK_FREQ_48MHz 48000000</a:t>
            </a:r>
            <a:endParaRPr lang="en-US" dirty="0" smtClean="0"/>
          </a:p>
          <a:p>
            <a:pPr>
              <a:lnSpc>
                <a:spcPct val="150000"/>
              </a:lnSpc>
            </a:pPr>
            <a:r>
              <a:rPr lang="en-US" dirty="0" smtClean="0"/>
              <a:t>//#</a:t>
            </a:r>
            <a:r>
              <a:rPr lang="en-US" dirty="0" smtClean="0"/>
              <a:t>define </a:t>
            </a:r>
            <a:r>
              <a:rPr lang="en-US" dirty="0" smtClean="0"/>
              <a:t>SYSCLK_FREQ_56MHz 56000000</a:t>
            </a:r>
            <a:endParaRPr lang="en-US" dirty="0" smtClean="0"/>
          </a:p>
          <a:p>
            <a:pPr>
              <a:lnSpc>
                <a:spcPct val="150000"/>
              </a:lnSpc>
            </a:pPr>
            <a:r>
              <a:rPr lang="en-US" b="1" dirty="0" smtClean="0">
                <a:solidFill>
                  <a:srgbClr val="C00000"/>
                </a:solidFill>
              </a:rPr>
              <a:t>#</a:t>
            </a:r>
            <a:r>
              <a:rPr lang="en-US" b="1" dirty="0" smtClean="0">
                <a:solidFill>
                  <a:srgbClr val="C00000"/>
                </a:solidFill>
              </a:rPr>
              <a:t>define SYSCLK_FREQ_72MHz 72000000</a:t>
            </a:r>
            <a:r>
              <a:rPr lang="en-US" dirty="0" smtClean="0"/>
              <a:t> </a:t>
            </a:r>
            <a:endParaRPr lang="zh-CN" altLang="en-US" dirty="0" smtClean="0"/>
          </a:p>
          <a:p>
            <a:pPr>
              <a:lnSpc>
                <a:spcPct val="150000"/>
              </a:lnSpc>
              <a:buClr>
                <a:srgbClr val="C00000"/>
              </a:buClr>
              <a:buFont typeface="Wingdings" pitchFamily="2" charset="2"/>
              <a:buChar char="u"/>
            </a:pPr>
            <a:r>
              <a:rPr lang="zh-CN" altLang="en-US" dirty="0" smtClean="0"/>
              <a:t>以下代码定义微处理器频率为</a:t>
            </a:r>
            <a:r>
              <a:rPr lang="en-US" altLang="zh-CN" dirty="0" smtClean="0"/>
              <a:t>72MHz</a:t>
            </a:r>
            <a:r>
              <a:rPr lang="zh-CN" altLang="en-US" dirty="0" smtClean="0"/>
              <a:t>时各系统的速度，</a:t>
            </a:r>
            <a:r>
              <a:rPr lang="en-US" altLang="zh-CN" dirty="0" smtClean="0"/>
              <a:t>.</a:t>
            </a:r>
            <a:r>
              <a:rPr lang="zh-CN" altLang="en-US" dirty="0" smtClean="0"/>
              <a:t>他们分别是</a:t>
            </a:r>
            <a:r>
              <a:rPr lang="en-US" altLang="zh-CN" dirty="0" smtClean="0"/>
              <a:t>:</a:t>
            </a:r>
            <a:r>
              <a:rPr lang="zh-CN" altLang="en-US" dirty="0" smtClean="0"/>
              <a:t>硬件频率</a:t>
            </a:r>
            <a:r>
              <a:rPr lang="en-US" altLang="zh-CN" dirty="0" smtClean="0"/>
              <a:t>,</a:t>
            </a:r>
            <a:r>
              <a:rPr lang="zh-CN" altLang="en-US" dirty="0" smtClean="0"/>
              <a:t>系统时钟</a:t>
            </a:r>
            <a:r>
              <a:rPr lang="en-US" altLang="zh-CN" dirty="0" smtClean="0"/>
              <a:t>,AHB</a:t>
            </a:r>
            <a:r>
              <a:rPr lang="zh-CN" altLang="en-US" dirty="0" smtClean="0"/>
              <a:t>总线频率</a:t>
            </a:r>
            <a:r>
              <a:rPr lang="en-US" altLang="zh-CN" dirty="0" smtClean="0"/>
              <a:t>,APB1</a:t>
            </a:r>
            <a:r>
              <a:rPr lang="zh-CN" altLang="en-US" dirty="0" smtClean="0"/>
              <a:t>总线频率</a:t>
            </a:r>
            <a:r>
              <a:rPr lang="en-US" altLang="zh-CN" dirty="0" smtClean="0"/>
              <a:t>,APB2</a:t>
            </a:r>
            <a:r>
              <a:rPr lang="zh-CN" altLang="en-US" dirty="0" smtClean="0"/>
              <a:t>总线频率</a:t>
            </a:r>
            <a:r>
              <a:rPr lang="en-US" altLang="zh-CN" dirty="0" smtClean="0"/>
              <a:t>.</a:t>
            </a:r>
            <a:endParaRPr lang="en-US" altLang="zh-CN" dirty="0" smtClean="0"/>
          </a:p>
          <a:p>
            <a:pPr>
              <a:lnSpc>
                <a:spcPct val="150000"/>
              </a:lnSpc>
            </a:pPr>
            <a:r>
              <a:rPr lang="en-US" dirty="0" smtClean="0"/>
              <a:t>const uint32_t </a:t>
            </a:r>
            <a:r>
              <a:rPr lang="en-US" dirty="0" err="1" smtClean="0"/>
              <a:t>SystemFrequency</a:t>
            </a:r>
            <a:r>
              <a:rPr lang="en-US" dirty="0" smtClean="0"/>
              <a:t>         = SYSCLK_FREQ_72MHz;    </a:t>
            </a:r>
          </a:p>
          <a:p>
            <a:pPr>
              <a:lnSpc>
                <a:spcPct val="150000"/>
              </a:lnSpc>
            </a:pPr>
            <a:r>
              <a:rPr lang="en-US" dirty="0" smtClean="0"/>
              <a:t>const uint32_t </a:t>
            </a:r>
            <a:r>
              <a:rPr lang="en-US" dirty="0" err="1" smtClean="0"/>
              <a:t>SystemFrequency_SysClk</a:t>
            </a:r>
            <a:r>
              <a:rPr lang="en-US" dirty="0" smtClean="0"/>
              <a:t>   = SYSCLK_FREQ_72MHz;    </a:t>
            </a:r>
          </a:p>
          <a:p>
            <a:pPr>
              <a:lnSpc>
                <a:spcPct val="150000"/>
              </a:lnSpc>
            </a:pPr>
            <a:r>
              <a:rPr lang="en-US" dirty="0" smtClean="0"/>
              <a:t>const uint32_t </a:t>
            </a:r>
            <a:r>
              <a:rPr lang="en-US" dirty="0" err="1" smtClean="0"/>
              <a:t>SystemFrequency_AHBClk</a:t>
            </a:r>
            <a:r>
              <a:rPr lang="en-US" dirty="0" smtClean="0"/>
              <a:t>   = SYSCLK_FREQ_72MHz;    </a:t>
            </a:r>
          </a:p>
          <a:p>
            <a:pPr>
              <a:lnSpc>
                <a:spcPct val="150000"/>
              </a:lnSpc>
            </a:pPr>
            <a:r>
              <a:rPr lang="en-US" dirty="0" smtClean="0"/>
              <a:t>const uint32_t SystemFrequency_APB1Clk  = (SYSCLK_FREQ_72MHz/2);</a:t>
            </a:r>
          </a:p>
          <a:p>
            <a:pPr>
              <a:lnSpc>
                <a:spcPct val="150000"/>
              </a:lnSpc>
            </a:pPr>
            <a:r>
              <a:rPr lang="en-US" dirty="0" smtClean="0"/>
              <a:t>const uint32_t SystemFrequency_APB2Clk  = SYSCLK_FREQ_72MHz;</a:t>
            </a:r>
          </a:p>
          <a:p>
            <a:pPr>
              <a:lnSpc>
                <a:spcPct val="150000"/>
              </a:lnSpc>
              <a:buClr>
                <a:srgbClr val="C00000"/>
              </a:buClr>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63895" y="597159"/>
            <a:ext cx="11105541" cy="59093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dirty="0" smtClean="0"/>
              <a:t>      以下</a:t>
            </a:r>
            <a:r>
              <a:rPr lang="zh-CN" altLang="en-US" dirty="0" smtClean="0"/>
              <a:t>代码定义微处理器频率为</a:t>
            </a:r>
            <a:r>
              <a:rPr lang="en-US" altLang="zh-CN" dirty="0" smtClean="0"/>
              <a:t>72MHz</a:t>
            </a:r>
            <a:r>
              <a:rPr lang="zh-CN" altLang="en-US" dirty="0" smtClean="0"/>
              <a:t>时，设置时钟的函数。此函数被</a:t>
            </a:r>
            <a:r>
              <a:rPr lang="en-US" altLang="zh-CN" dirty="0" err="1" smtClean="0"/>
              <a:t>SetSysClock</a:t>
            </a:r>
            <a:r>
              <a:rPr lang="en-US" altLang="zh-CN" dirty="0" smtClean="0"/>
              <a:t>()</a:t>
            </a:r>
            <a:r>
              <a:rPr lang="zh-CN" altLang="en-US" dirty="0" smtClean="0"/>
              <a:t>函数调用，而</a:t>
            </a:r>
            <a:endParaRPr lang="en-US" altLang="zh-CN" dirty="0" smtClean="0"/>
          </a:p>
          <a:p>
            <a:pPr lvl="0" fontAlgn="base">
              <a:lnSpc>
                <a:spcPct val="150000"/>
              </a:lnSpc>
              <a:spcBef>
                <a:spcPct val="0"/>
              </a:spcBef>
              <a:spcAft>
                <a:spcPct val="0"/>
              </a:spcAft>
            </a:pPr>
            <a:r>
              <a:rPr lang="en-US" altLang="zh-CN" dirty="0" err="1" smtClean="0"/>
              <a:t>SetSysClock</a:t>
            </a:r>
            <a:r>
              <a:rPr lang="en-US" altLang="zh-CN" dirty="0" smtClean="0"/>
              <a:t>()</a:t>
            </a:r>
            <a:r>
              <a:rPr lang="zh-CN" altLang="en-US" dirty="0" smtClean="0"/>
              <a:t>函数被</a:t>
            </a:r>
            <a:r>
              <a:rPr lang="en-US" altLang="zh-CN" dirty="0" err="1" smtClean="0"/>
              <a:t>SystemInit</a:t>
            </a:r>
            <a:r>
              <a:rPr lang="en-US" altLang="zh-CN" dirty="0" smtClean="0"/>
              <a:t>()</a:t>
            </a:r>
            <a:r>
              <a:rPr lang="zh-CN" altLang="en-US" dirty="0" smtClean="0"/>
              <a:t>函数调用。最后在主函数中调用</a:t>
            </a:r>
            <a:r>
              <a:rPr lang="en-US" altLang="zh-CN" dirty="0" err="1" smtClean="0"/>
              <a:t>SystemInit</a:t>
            </a:r>
            <a:r>
              <a:rPr lang="en-US" altLang="zh-CN" dirty="0" smtClean="0"/>
              <a:t>()</a:t>
            </a:r>
            <a:r>
              <a:rPr lang="zh-CN" altLang="en-US" dirty="0" smtClean="0"/>
              <a:t>函数实现时钟的设置。</a:t>
            </a:r>
            <a:endParaRPr lang="en-US" altLang="zh-CN" dirty="0" smtClean="0"/>
          </a:p>
          <a:p>
            <a:pPr>
              <a:lnSpc>
                <a:spcPct val="150000"/>
              </a:lnSpc>
            </a:pPr>
            <a:r>
              <a:rPr lang="en-US" altLang="en-US" dirty="0" smtClean="0"/>
              <a:t>#</a:t>
            </a:r>
            <a:r>
              <a:rPr lang="en-US" altLang="en-US" dirty="0" err="1" smtClean="0"/>
              <a:t>elif</a:t>
            </a:r>
            <a:r>
              <a:rPr lang="en-US" altLang="en-US" dirty="0" smtClean="0"/>
              <a:t> defined SYSCLK_FREQ_72MHz </a:t>
            </a:r>
          </a:p>
          <a:p>
            <a:pPr>
              <a:lnSpc>
                <a:spcPct val="150000"/>
              </a:lnSpc>
            </a:pPr>
            <a:r>
              <a:rPr lang="en-US" dirty="0" smtClean="0"/>
              <a:t>static void SetSysClockTo72(void</a:t>
            </a:r>
            <a:r>
              <a:rPr lang="en-US" dirty="0" smtClean="0"/>
              <a:t>);</a:t>
            </a:r>
          </a:p>
          <a:p>
            <a:pPr>
              <a:lnSpc>
                <a:spcPct val="150000"/>
              </a:lnSpc>
            </a:pPr>
            <a:r>
              <a:rPr lang="zh-CN" altLang="en-US" dirty="0" smtClean="0"/>
              <a:t>下面是​</a:t>
            </a:r>
            <a:r>
              <a:rPr lang="en-US" dirty="0" smtClean="0"/>
              <a:t>SetSysClockTo72(void)</a:t>
            </a:r>
            <a:r>
              <a:rPr lang="zh-CN" altLang="en-US" dirty="0" smtClean="0"/>
              <a:t>函数中的一部分：</a:t>
            </a:r>
          </a:p>
          <a:p>
            <a:pPr>
              <a:lnSpc>
                <a:spcPct val="150000"/>
              </a:lnSpc>
            </a:pPr>
            <a:r>
              <a:rPr lang="zh-CN" altLang="en-US" dirty="0" smtClean="0"/>
              <a:t>    </a:t>
            </a:r>
            <a:r>
              <a:rPr lang="en-US" dirty="0" smtClean="0"/>
              <a:t>RCC-&gt;CFGR |= (uint32_t)RCC_CFGR_HPRE_DIV1;</a:t>
            </a:r>
          </a:p>
          <a:p>
            <a:pPr>
              <a:lnSpc>
                <a:spcPct val="150000"/>
              </a:lnSpc>
            </a:pPr>
            <a:r>
              <a:rPr lang="en-US" dirty="0" smtClean="0"/>
              <a:t>    RCC-&gt;CFGR |= (uint32_t)RCC_CFGR_PPRE2_DIV1;</a:t>
            </a:r>
          </a:p>
          <a:p>
            <a:pPr>
              <a:lnSpc>
                <a:spcPct val="150000"/>
              </a:lnSpc>
            </a:pPr>
            <a:r>
              <a:rPr lang="en-US" dirty="0" smtClean="0"/>
              <a:t>    RCC-&gt;CFGR |= (uint32_t)RCC_CFGR_PPRE1_DIV2;</a:t>
            </a:r>
          </a:p>
          <a:p>
            <a:pPr>
              <a:lnSpc>
                <a:spcPct val="150000"/>
              </a:lnSpc>
            </a:pPr>
            <a:r>
              <a:rPr lang="zh-CN" altLang="en-US" b="1" dirty="0" smtClean="0">
                <a:solidFill>
                  <a:srgbClr val="C00000"/>
                </a:solidFill>
              </a:rPr>
              <a:t>所以设置系统时钟的流程就是</a:t>
            </a:r>
            <a:r>
              <a:rPr lang="en-US" altLang="zh-CN" b="1" dirty="0" smtClean="0">
                <a:solidFill>
                  <a:srgbClr val="C00000"/>
                </a:solidFill>
              </a:rPr>
              <a:t>:</a:t>
            </a:r>
          </a:p>
          <a:p>
            <a:pPr>
              <a:lnSpc>
                <a:spcPct val="150000"/>
              </a:lnSpc>
            </a:pPr>
            <a:r>
              <a:rPr lang="en-US" altLang="zh-CN" dirty="0" smtClean="0"/>
              <a:t> </a:t>
            </a:r>
            <a:r>
              <a:rPr lang="en-US" altLang="zh-CN" dirty="0" smtClean="0"/>
              <a:t>    </a:t>
            </a:r>
            <a:r>
              <a:rPr lang="zh-CN" altLang="en-US" dirty="0" smtClean="0"/>
              <a:t>首先</a:t>
            </a:r>
            <a:r>
              <a:rPr lang="zh-CN" altLang="en-US" dirty="0" smtClean="0"/>
              <a:t>用户程序调用 </a:t>
            </a:r>
            <a:r>
              <a:rPr lang="en-US" dirty="0" err="1" smtClean="0"/>
              <a:t>SystemInit</a:t>
            </a:r>
            <a:r>
              <a:rPr lang="en-US" dirty="0" smtClean="0"/>
              <a:t>()</a:t>
            </a:r>
            <a:r>
              <a:rPr lang="zh-CN" altLang="en-US" dirty="0" smtClean="0"/>
              <a:t>函数</a:t>
            </a:r>
            <a:r>
              <a:rPr lang="en-US" altLang="zh-CN" dirty="0" smtClean="0"/>
              <a:t>,</a:t>
            </a:r>
            <a:r>
              <a:rPr lang="zh-CN" altLang="en-US" dirty="0" smtClean="0"/>
              <a:t>这是一个库函数</a:t>
            </a:r>
            <a:r>
              <a:rPr lang="en-US" altLang="zh-CN" dirty="0" smtClean="0"/>
              <a:t>,</a:t>
            </a:r>
            <a:r>
              <a:rPr lang="zh-CN" altLang="en-US" dirty="0" smtClean="0"/>
              <a:t>然后 </a:t>
            </a:r>
            <a:r>
              <a:rPr lang="en-US" dirty="0" err="1" smtClean="0"/>
              <a:t>SystemInit</a:t>
            </a:r>
            <a:r>
              <a:rPr lang="en-US" dirty="0" smtClean="0"/>
              <a:t>()</a:t>
            </a:r>
            <a:r>
              <a:rPr lang="zh-CN" altLang="en-US" dirty="0" smtClean="0"/>
              <a:t>函数里面</a:t>
            </a:r>
            <a:r>
              <a:rPr lang="en-US" altLang="zh-CN" dirty="0" smtClean="0"/>
              <a:t>,</a:t>
            </a:r>
            <a:r>
              <a:rPr lang="zh-CN" altLang="en-US" dirty="0" smtClean="0"/>
              <a:t>进行了一些</a:t>
            </a:r>
            <a:r>
              <a:rPr lang="zh-CN" altLang="en-US" dirty="0" smtClean="0"/>
              <a:t>寄存器</a:t>
            </a:r>
            <a:endParaRPr lang="en-US" altLang="zh-CN" dirty="0" smtClean="0"/>
          </a:p>
          <a:p>
            <a:pPr>
              <a:lnSpc>
                <a:spcPct val="150000"/>
              </a:lnSpc>
            </a:pPr>
            <a:r>
              <a:rPr lang="zh-CN" altLang="en-US" dirty="0" smtClean="0"/>
              <a:t>必要</a:t>
            </a:r>
            <a:r>
              <a:rPr lang="zh-CN" altLang="en-US" dirty="0" smtClean="0"/>
              <a:t>的初始化后</a:t>
            </a:r>
            <a:r>
              <a:rPr lang="en-US" altLang="zh-CN" dirty="0" smtClean="0"/>
              <a:t>,</a:t>
            </a:r>
            <a:r>
              <a:rPr lang="zh-CN" altLang="en-US" dirty="0" smtClean="0"/>
              <a:t>就调用 </a:t>
            </a:r>
            <a:r>
              <a:rPr lang="en-US" dirty="0" err="1" smtClean="0"/>
              <a:t>SetSysClock</a:t>
            </a:r>
            <a:r>
              <a:rPr lang="en-US" dirty="0" smtClean="0"/>
              <a:t>()</a:t>
            </a:r>
            <a:r>
              <a:rPr lang="zh-CN" altLang="en-US" dirty="0" smtClean="0"/>
              <a:t>函数</a:t>
            </a:r>
            <a:r>
              <a:rPr lang="en-US" altLang="zh-CN" dirty="0" smtClean="0"/>
              <a:t>.</a:t>
            </a:r>
            <a:r>
              <a:rPr lang="en-US" dirty="0" err="1" smtClean="0"/>
              <a:t>SetSysClock</a:t>
            </a:r>
            <a:r>
              <a:rPr lang="en-US" dirty="0" smtClean="0"/>
              <a:t>()</a:t>
            </a:r>
            <a:r>
              <a:rPr lang="zh-CN" altLang="en-US" dirty="0" smtClean="0"/>
              <a:t>函数根据</a:t>
            </a:r>
            <a:r>
              <a:rPr lang="zh-CN" altLang="en-US" dirty="0" smtClean="0"/>
              <a:t>那个</a:t>
            </a:r>
            <a:endParaRPr lang="en-US" altLang="zh-CN" dirty="0" smtClean="0"/>
          </a:p>
          <a:p>
            <a:pPr>
              <a:lnSpc>
                <a:spcPct val="150000"/>
              </a:lnSpc>
            </a:pPr>
            <a:r>
              <a:rPr lang="en-US" altLang="zh-CN" dirty="0" smtClean="0"/>
              <a:t>#</a:t>
            </a:r>
            <a:r>
              <a:rPr lang="en-US" dirty="0" smtClean="0"/>
              <a:t>define SYSCLK_FREQ_72MHz 72000000 </a:t>
            </a:r>
            <a:r>
              <a:rPr lang="zh-CN" altLang="en-US" dirty="0" smtClean="0"/>
              <a:t>的宏定义</a:t>
            </a:r>
            <a:r>
              <a:rPr lang="en-US" altLang="zh-CN" dirty="0" smtClean="0"/>
              <a:t>,</a:t>
            </a:r>
            <a:r>
              <a:rPr lang="zh-CN" altLang="en-US" dirty="0" smtClean="0"/>
              <a:t>知道了</a:t>
            </a:r>
            <a:r>
              <a:rPr lang="zh-CN" altLang="en-US" dirty="0" smtClean="0"/>
              <a:t>要调用</a:t>
            </a:r>
            <a:r>
              <a:rPr lang="en-US" dirty="0" smtClean="0"/>
              <a:t>SetSysClockTo72()</a:t>
            </a:r>
            <a:r>
              <a:rPr lang="zh-CN" altLang="en-US" dirty="0" smtClean="0"/>
              <a:t>这个函数</a:t>
            </a:r>
            <a:r>
              <a:rPr lang="en-US" altLang="zh-CN" dirty="0" smtClean="0"/>
              <a:t>,</a:t>
            </a:r>
          </a:p>
          <a:p>
            <a:pPr>
              <a:lnSpc>
                <a:spcPct val="150000"/>
              </a:lnSpc>
            </a:pPr>
            <a:endParaRPr lang="en-US" dirty="0" smtClean="0"/>
          </a:p>
          <a:p>
            <a:pPr lvl="0" eaLnBrk="0" fontAlgn="base" hangingPunct="0">
              <a:lnSpc>
                <a:spcPct val="150000"/>
              </a:lnSpc>
              <a:spcBef>
                <a:spcPct val="0"/>
              </a:spcBef>
              <a:spcAft>
                <a:spcPct val="0"/>
              </a:spcAft>
            </a:pPr>
            <a:endParaRPr kumimoji="0" lang="en-US" altLang="zh-CN"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2538</TotalTime>
  <Words>2012</Words>
  <Application>Microsoft Office PowerPoint</Application>
  <PresentationFormat>自定义</PresentationFormat>
  <Paragraphs>135</Paragraphs>
  <Slides>19</Slides>
  <Notes>0</Notes>
  <HiddenSlides>0</HiddenSlides>
  <MMClips>0</MMClips>
  <ScaleCrop>false</ScaleCrop>
  <HeadingPairs>
    <vt:vector size="4" baseType="variant">
      <vt:variant>
        <vt:lpstr>主题</vt:lpstr>
      </vt:variant>
      <vt:variant>
        <vt:i4>2</vt:i4>
      </vt:variant>
      <vt:variant>
        <vt:lpstr>幻灯片标题</vt:lpstr>
      </vt:variant>
      <vt:variant>
        <vt:i4>19</vt:i4>
      </vt:variant>
    </vt:vector>
  </HeadingPairs>
  <TitlesOfParts>
    <vt:vector size="21" baseType="lpstr">
      <vt:lpstr>Office 主题</vt:lpstr>
      <vt:lpstr>mjwangyu</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asus</cp:lastModifiedBy>
  <cp:revision>277</cp:revision>
  <dcterms:created xsi:type="dcterms:W3CDTF">2017-06-03T01:25:00Z</dcterms:created>
  <dcterms:modified xsi:type="dcterms:W3CDTF">2020-10-18T13:21:51Z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