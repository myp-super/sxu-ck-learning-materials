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6"/>
  </p:notesMasterIdLst>
  <p:sldIdLst>
    <p:sldId id="256" r:id="rId3"/>
    <p:sldId id="400" r:id="rId4"/>
    <p:sldId id="401" r:id="rId5"/>
    <p:sldId id="402" r:id="rId6"/>
    <p:sldId id="405" r:id="rId7"/>
    <p:sldId id="461" r:id="rId8"/>
    <p:sldId id="462" r:id="rId9"/>
    <p:sldId id="465" r:id="rId10"/>
    <p:sldId id="477" r:id="rId11"/>
    <p:sldId id="478" r:id="rId12"/>
    <p:sldId id="479" r:id="rId13"/>
    <p:sldId id="480" r:id="rId14"/>
    <p:sldId id="474" r:id="rId15"/>
    <p:sldId id="481" r:id="rId16"/>
    <p:sldId id="476" r:id="rId17"/>
    <p:sldId id="483" r:id="rId18"/>
    <p:sldId id="484" r:id="rId19"/>
    <p:sldId id="485" r:id="rId20"/>
    <p:sldId id="406" r:id="rId21"/>
    <p:sldId id="407" r:id="rId22"/>
    <p:sldId id="466" r:id="rId23"/>
    <p:sldId id="467" r:id="rId24"/>
    <p:sldId id="415" r:id="rId25"/>
    <p:sldId id="470" r:id="rId26"/>
    <p:sldId id="471" r:id="rId27"/>
    <p:sldId id="487" r:id="rId28"/>
    <p:sldId id="472" r:id="rId29"/>
    <p:sldId id="473" r:id="rId30"/>
    <p:sldId id="431" r:id="rId31"/>
    <p:sldId id="409" r:id="rId32"/>
    <p:sldId id="410" r:id="rId33"/>
    <p:sldId id="488" r:id="rId34"/>
    <p:sldId id="489" r:id="rId35"/>
    <p:sldId id="411" r:id="rId36"/>
    <p:sldId id="412" r:id="rId37"/>
    <p:sldId id="413" r:id="rId38"/>
    <p:sldId id="414" r:id="rId39"/>
    <p:sldId id="416" r:id="rId40"/>
    <p:sldId id="417" r:id="rId41"/>
    <p:sldId id="418" r:id="rId42"/>
    <p:sldId id="419" r:id="rId43"/>
    <p:sldId id="420" r:id="rId44"/>
    <p:sldId id="421" r:id="rId4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4529E"/>
    <a:srgbClr val="5494C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autoAdjust="0"/>
  </p:normalViewPr>
  <p:slideViewPr>
    <p:cSldViewPr snapToGrid="0" showGuides="1">
      <p:cViewPr varScale="1">
        <p:scale>
          <a:sx n="68" d="100"/>
          <a:sy n="68" d="100"/>
        </p:scale>
        <p:origin x="-552" y="-60"/>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2021/4/19</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2021/4/19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2021/4/19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2021/4/19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2021/4/19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2021/4/19</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smtClean="0">
                <a:solidFill>
                  <a:schemeClr val="tx1"/>
                </a:solidFill>
              </a:rPr>
              <a:t>第九章</a:t>
            </a:r>
            <a:r>
              <a:rPr lang="en-US" altLang="zh-CN" sz="6000" dirty="0" smtClean="0">
                <a:solidFill>
                  <a:schemeClr val="tx1"/>
                </a:solidFill>
              </a:rPr>
              <a:t/>
            </a:r>
            <a:br>
              <a:rPr lang="en-US" altLang="zh-CN" sz="6000" dirty="0" smtClean="0">
                <a:solidFill>
                  <a:schemeClr val="tx1"/>
                </a:solidFill>
              </a:rPr>
            </a:br>
            <a:r>
              <a:rPr lang="en-US" altLang="zh-CN" sz="6000" dirty="0" smtClean="0">
                <a:solidFill>
                  <a:schemeClr val="tx1"/>
                </a:solidFill>
              </a:rPr>
              <a:t>ADC</a:t>
            </a:r>
            <a:r>
              <a:rPr lang="zh-CN" altLang="en-US" sz="6000" dirty="0" smtClean="0">
                <a:solidFill>
                  <a:schemeClr val="tx1"/>
                </a:solidFill>
              </a:rPr>
              <a:t>原理及应用 </a:t>
            </a:r>
            <a:endParaRPr lang="zh-CN" altLang="en-US" sz="6000" dirty="0">
              <a:solidFill>
                <a:schemeClr val="tx1"/>
              </a:solidFill>
            </a:endParaRP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xmlns="">
                  <a14:imgLayer r:embed="rId4">
                    <a14:imgEffect>
                      <a14:saturation sat="173000"/>
                    </a14:imgEffect>
                  </a14:imgLayer>
                </a14:imgProps>
              </a:ext>
              <a:ext uri="{28A0092B-C50C-407E-A947-70E740481C1C}">
                <a14:useLocalDpi xmlns:a14="http://schemas.microsoft.com/office/drawing/2010/main" xmlns=""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12" name="标题 1"/>
          <p:cNvSpPr txBox="1">
            <a:spLocks/>
          </p:cNvSpPr>
          <p:nvPr/>
        </p:nvSpPr>
        <p:spPr>
          <a:xfrm>
            <a:off x="1097280" y="538540"/>
            <a:ext cx="10058400" cy="1450757"/>
          </a:xfrm>
          <a:prstGeom prst="rect">
            <a:avLst/>
          </a:prstGeom>
        </p:spPr>
        <p:txBody>
          <a:bodyPr/>
          <a:lstStyle/>
          <a:p>
            <a:pPr>
              <a:lnSpc>
                <a:spcPct val="90000"/>
              </a:lnSpc>
              <a:spcBef>
                <a:spcPct val="0"/>
              </a:spcBef>
              <a:defRPr/>
            </a:pPr>
            <a:r>
              <a:rPr lang="en-US" altLang="zh-CN" sz="4400" b="1" dirty="0" smtClean="0">
                <a:solidFill>
                  <a:srgbClr val="14529E"/>
                </a:solidFill>
              </a:rPr>
              <a:t>9.1 ADC</a:t>
            </a:r>
            <a:r>
              <a:rPr lang="zh-CN" altLang="en-US" sz="4400" b="1" dirty="0" smtClean="0">
                <a:solidFill>
                  <a:srgbClr val="14529E"/>
                </a:solidFill>
              </a:rPr>
              <a:t>的功能及结构</a:t>
            </a:r>
            <a:endParaRPr lang="zh-CN" altLang="en-US" sz="4400" b="1" dirty="0">
              <a:solidFill>
                <a:srgbClr val="14529E"/>
              </a:solidFill>
            </a:endParaRPr>
          </a:p>
        </p:txBody>
      </p:sp>
      <p:sp>
        <p:nvSpPr>
          <p:cNvPr id="8" name="矩形 7"/>
          <p:cNvSpPr/>
          <p:nvPr/>
        </p:nvSpPr>
        <p:spPr>
          <a:xfrm>
            <a:off x="1228531" y="1486687"/>
            <a:ext cx="10033518" cy="4247317"/>
          </a:xfrm>
          <a:prstGeom prst="rect">
            <a:avLst/>
          </a:prstGeom>
        </p:spPr>
        <p:txBody>
          <a:bodyPr wrap="square">
            <a:spAutoFit/>
          </a:bodyPr>
          <a:lstStyle/>
          <a:p>
            <a:pPr>
              <a:lnSpc>
                <a:spcPct val="150000"/>
              </a:lnSpc>
            </a:pPr>
            <a:r>
              <a:rPr lang="en-US" altLang="zh-CN" sz="2000" dirty="0" smtClean="0"/>
              <a:t>      Analog-to-Digital Converter</a:t>
            </a:r>
            <a:r>
              <a:rPr lang="zh-CN" altLang="en-US" sz="2000" dirty="0" smtClean="0"/>
              <a:t>的缩写。指模</a:t>
            </a:r>
            <a:r>
              <a:rPr lang="en-US" altLang="zh-CN" sz="2000" dirty="0" smtClean="0"/>
              <a:t>/</a:t>
            </a:r>
            <a:r>
              <a:rPr lang="zh-CN" altLang="en-US" sz="2000" dirty="0" smtClean="0"/>
              <a:t>数转换器或者模拟</a:t>
            </a:r>
            <a:r>
              <a:rPr lang="en-US" altLang="zh-CN" sz="2000" dirty="0" smtClean="0"/>
              <a:t>/</a:t>
            </a:r>
            <a:r>
              <a:rPr lang="zh-CN" altLang="en-US" sz="2000" dirty="0" smtClean="0"/>
              <a:t>数字转换器。是指将</a:t>
            </a:r>
            <a:r>
              <a:rPr lang="zh-CN" altLang="en-US" sz="2000" b="1" dirty="0" smtClean="0">
                <a:solidFill>
                  <a:srgbClr val="C00000"/>
                </a:solidFill>
              </a:rPr>
              <a:t>连续变量的模拟信号转换为离散的数字信号的器件。</a:t>
            </a:r>
            <a:endParaRPr lang="zh-CN" altLang="en-US" sz="2000" dirty="0" smtClean="0">
              <a:solidFill>
                <a:srgbClr val="C00000"/>
              </a:solidFill>
            </a:endParaRPr>
          </a:p>
          <a:p>
            <a:pPr>
              <a:lnSpc>
                <a:spcPct val="150000"/>
              </a:lnSpc>
            </a:pPr>
            <a:r>
              <a:rPr lang="zh-CN" altLang="en-US" sz="2000" dirty="0" smtClean="0"/>
              <a:t>      典型的模拟数字转换器将模拟信号转换为表示一定比例电压值的数字信号。</a:t>
            </a:r>
            <a:endParaRPr lang="en-US" altLang="zh-CN" sz="2000" dirty="0" smtClean="0"/>
          </a:p>
          <a:p>
            <a:pPr>
              <a:lnSpc>
                <a:spcPct val="150000"/>
              </a:lnSpc>
            </a:pPr>
            <a:r>
              <a:rPr lang="en-US" altLang="zh-CN" sz="2000" dirty="0" smtClean="0"/>
              <a:t>      STM32F103ZET6 </a:t>
            </a:r>
            <a:r>
              <a:rPr lang="zh-CN" altLang="en-US" sz="2000" dirty="0" smtClean="0"/>
              <a:t>拥有</a:t>
            </a:r>
            <a:r>
              <a:rPr lang="en-US" altLang="zh-CN" sz="2000" dirty="0" smtClean="0"/>
              <a:t>12</a:t>
            </a:r>
            <a:r>
              <a:rPr lang="zh-CN" altLang="en-US" sz="2000" dirty="0" smtClean="0"/>
              <a:t>位</a:t>
            </a:r>
            <a:r>
              <a:rPr lang="en-US" altLang="zh-CN" sz="2000" dirty="0" smtClean="0"/>
              <a:t>ADC</a:t>
            </a:r>
            <a:r>
              <a:rPr lang="zh-CN" altLang="en-US" sz="2000" dirty="0" smtClean="0"/>
              <a:t>，是一种逐次逼近型模拟数字转换器。</a:t>
            </a:r>
            <a:endParaRPr lang="en-US" altLang="zh-CN" sz="2000" dirty="0" smtClean="0"/>
          </a:p>
          <a:p>
            <a:pPr>
              <a:lnSpc>
                <a:spcPct val="150000"/>
              </a:lnSpc>
            </a:pPr>
            <a:r>
              <a:rPr lang="en-US" altLang="zh-CN" sz="2000" dirty="0" smtClean="0"/>
              <a:t>      12bits ADC </a:t>
            </a:r>
            <a:r>
              <a:rPr lang="zh-CN" altLang="en-US" sz="2000" dirty="0" smtClean="0"/>
              <a:t>代表了 </a:t>
            </a:r>
            <a:r>
              <a:rPr lang="en-US" altLang="zh-CN" sz="2000" dirty="0" smtClean="0"/>
              <a:t>ADC </a:t>
            </a:r>
            <a:r>
              <a:rPr lang="zh-CN" altLang="en-US" sz="2000" dirty="0" smtClean="0"/>
              <a:t>的转换精度。存在输入参考电压的情况下，</a:t>
            </a:r>
            <a:r>
              <a:rPr lang="en-US" altLang="zh-CN" sz="2000" dirty="0" smtClean="0"/>
              <a:t>ADC </a:t>
            </a:r>
            <a:r>
              <a:rPr lang="zh-CN" altLang="en-US" sz="2000" dirty="0" smtClean="0"/>
              <a:t>将模拟信号经信号线输入，进行模拟信号的采样，再将采样后的数字信号存放于数据寄存器中，以供软件进行读取（</a:t>
            </a:r>
            <a:r>
              <a:rPr lang="en-US" altLang="zh-CN" sz="2000" dirty="0" smtClean="0"/>
              <a:t>CPU</a:t>
            </a:r>
            <a:r>
              <a:rPr lang="zh-CN" altLang="en-US" sz="2000" dirty="0" smtClean="0"/>
              <a:t>或者</a:t>
            </a:r>
            <a:r>
              <a:rPr lang="en-US" altLang="zh-CN" sz="2000" dirty="0" smtClean="0"/>
              <a:t>DMA</a:t>
            </a:r>
            <a:r>
              <a:rPr lang="zh-CN" altLang="en-US" sz="2000" dirty="0" smtClean="0"/>
              <a:t>方式），存储的数据是经过参考电压比较后，按照</a:t>
            </a:r>
            <a:r>
              <a:rPr lang="en-US" altLang="zh-CN" sz="2000" dirty="0" smtClean="0"/>
              <a:t>12bits </a:t>
            </a:r>
            <a:r>
              <a:rPr lang="zh-CN" altLang="en-US" sz="2000" dirty="0" smtClean="0"/>
              <a:t>进行换算得到。</a:t>
            </a:r>
            <a:endParaRPr lang="en-US" altLang="zh-CN" sz="2000" dirty="0" smtClean="0"/>
          </a:p>
          <a:p>
            <a:pPr>
              <a:lnSpc>
                <a:spcPct val="150000"/>
              </a:lnSpc>
            </a:pPr>
            <a:r>
              <a:rPr lang="en-US" sz="2000" dirty="0" smtClean="0"/>
              <a:t>      </a:t>
            </a:r>
            <a:r>
              <a:rPr lang="en-US" sz="2000" b="1" dirty="0" smtClean="0">
                <a:solidFill>
                  <a:srgbClr val="C00000"/>
                </a:solidFill>
              </a:rPr>
              <a:t>ADC</a:t>
            </a:r>
            <a:r>
              <a:rPr lang="zh-CN" altLang="en-US" sz="2000" b="1" dirty="0" smtClean="0">
                <a:solidFill>
                  <a:srgbClr val="C00000"/>
                </a:solidFill>
              </a:rPr>
              <a:t>输入范围：</a:t>
            </a:r>
            <a:r>
              <a:rPr lang="en-US" sz="2000" b="1" dirty="0" err="1" smtClean="0">
                <a:solidFill>
                  <a:srgbClr val="C00000"/>
                </a:solidFill>
              </a:rPr>
              <a:t>Vref</a:t>
            </a:r>
            <a:r>
              <a:rPr lang="en-US" sz="2000" b="1" dirty="0" smtClean="0">
                <a:solidFill>
                  <a:srgbClr val="C00000"/>
                </a:solidFill>
              </a:rPr>
              <a:t>- ≤ Vin ≤ </a:t>
            </a:r>
            <a:r>
              <a:rPr lang="en-US" sz="2000" b="1" dirty="0" err="1" smtClean="0">
                <a:solidFill>
                  <a:srgbClr val="C00000"/>
                </a:solidFill>
              </a:rPr>
              <a:t>Vref</a:t>
            </a:r>
            <a:r>
              <a:rPr lang="en-US" sz="2000" b="1" dirty="0" smtClean="0">
                <a:solidFill>
                  <a:srgbClr val="C00000"/>
                </a:solidFill>
              </a:rPr>
              <a:t>+</a:t>
            </a:r>
            <a:endParaRPr lang="zh-CN" altLang="en-US" sz="2000" b="1"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914296" y="1071077"/>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949175" y="547787"/>
            <a:ext cx="2440092" cy="461665"/>
          </a:xfrm>
          <a:prstGeom prst="rect">
            <a:avLst/>
          </a:prstGeom>
        </p:spPr>
        <p:txBody>
          <a:bodyPr wrap="none">
            <a:spAutoFit/>
          </a:bodyPr>
          <a:lstStyle/>
          <a:p>
            <a:r>
              <a:rPr lang="en-US" sz="2400" b="1" dirty="0" smtClean="0">
                <a:solidFill>
                  <a:srgbClr val="C00000"/>
                </a:solidFill>
              </a:rPr>
              <a:t>ADC</a:t>
            </a:r>
            <a:r>
              <a:rPr lang="zh-CN" altLang="en-US" sz="2400" b="1" dirty="0" smtClean="0">
                <a:solidFill>
                  <a:srgbClr val="C00000"/>
                </a:solidFill>
              </a:rPr>
              <a:t>的主要特征</a:t>
            </a:r>
            <a:endParaRPr lang="zh-CN" altLang="en-US" sz="2400" b="1" dirty="0">
              <a:solidFill>
                <a:srgbClr val="C00000"/>
              </a:solidFill>
            </a:endParaRPr>
          </a:p>
        </p:txBody>
      </p:sp>
      <p:sp>
        <p:nvSpPr>
          <p:cNvPr id="6" name="矩形 5"/>
          <p:cNvSpPr/>
          <p:nvPr/>
        </p:nvSpPr>
        <p:spPr>
          <a:xfrm>
            <a:off x="836644" y="1057790"/>
            <a:ext cx="10136155" cy="5853269"/>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smtClean="0"/>
              <a:t>逐次逼近型的模拟数字转换器；</a:t>
            </a:r>
            <a:endParaRPr lang="en-US" altLang="zh-CN" dirty="0" smtClean="0"/>
          </a:p>
          <a:p>
            <a:pPr>
              <a:lnSpc>
                <a:spcPct val="150000"/>
              </a:lnSpc>
              <a:buClr>
                <a:srgbClr val="C00000"/>
              </a:buClr>
              <a:buFont typeface="Wingdings" pitchFamily="2" charset="2"/>
              <a:buChar char="u"/>
            </a:pPr>
            <a:r>
              <a:rPr lang="zh-CN" altLang="en-US" dirty="0" smtClean="0"/>
              <a:t>最多带</a:t>
            </a:r>
            <a:r>
              <a:rPr lang="en-US" altLang="zh-CN" dirty="0" smtClean="0"/>
              <a:t>3</a:t>
            </a:r>
            <a:r>
              <a:rPr lang="zh-CN" altLang="en-US" dirty="0" smtClean="0"/>
              <a:t>个</a:t>
            </a:r>
            <a:r>
              <a:rPr lang="en-US" altLang="zh-CN" dirty="0" smtClean="0"/>
              <a:t>ADC</a:t>
            </a:r>
            <a:r>
              <a:rPr lang="zh-CN" altLang="en-US" dirty="0" smtClean="0"/>
              <a:t>控制器，可以单独使用，也可以使用双重模式提高采样率；最多支持</a:t>
            </a:r>
            <a:r>
              <a:rPr lang="en-US" altLang="zh-CN" dirty="0" smtClean="0"/>
              <a:t>23</a:t>
            </a:r>
            <a:r>
              <a:rPr lang="zh-CN" altLang="en-US" dirty="0" smtClean="0"/>
              <a:t>个通道，可最多测量</a:t>
            </a:r>
            <a:r>
              <a:rPr lang="en-US" altLang="zh-CN" dirty="0" smtClean="0"/>
              <a:t>21</a:t>
            </a:r>
            <a:r>
              <a:rPr lang="zh-CN" altLang="en-US" dirty="0" smtClean="0"/>
              <a:t>个外部和</a:t>
            </a:r>
            <a:r>
              <a:rPr lang="en-US" altLang="zh-CN" dirty="0" smtClean="0"/>
              <a:t>2</a:t>
            </a:r>
            <a:r>
              <a:rPr lang="zh-CN" altLang="en-US" dirty="0" smtClean="0"/>
              <a:t>个内部信号源；</a:t>
            </a:r>
            <a:endParaRPr lang="en-US" altLang="zh-CN" dirty="0" smtClean="0"/>
          </a:p>
          <a:p>
            <a:pPr>
              <a:lnSpc>
                <a:spcPct val="150000"/>
              </a:lnSpc>
              <a:buClr>
                <a:srgbClr val="C00000"/>
              </a:buClr>
              <a:buFont typeface="Wingdings" pitchFamily="2" charset="2"/>
              <a:buChar char="u"/>
            </a:pPr>
            <a:r>
              <a:rPr lang="zh-CN" altLang="en-US" dirty="0" smtClean="0"/>
              <a:t>支持单次和连续转换模式；</a:t>
            </a:r>
            <a:endParaRPr lang="en-US" altLang="zh-CN" dirty="0" smtClean="0"/>
          </a:p>
          <a:p>
            <a:pPr>
              <a:lnSpc>
                <a:spcPct val="150000"/>
              </a:lnSpc>
              <a:buClr>
                <a:srgbClr val="C00000"/>
              </a:buClr>
              <a:buFont typeface="Wingdings" pitchFamily="2" charset="2"/>
              <a:buChar char="u"/>
            </a:pPr>
            <a:r>
              <a:rPr lang="zh-CN" altLang="en-US" dirty="0" smtClean="0"/>
              <a:t>转换结束，注入转换结束，和发生模拟看门狗事件时产生中断；</a:t>
            </a:r>
            <a:endParaRPr lang="en-US" altLang="zh-CN" dirty="0" smtClean="0"/>
          </a:p>
          <a:p>
            <a:pPr>
              <a:lnSpc>
                <a:spcPct val="150000"/>
              </a:lnSpc>
              <a:buClr>
                <a:srgbClr val="C00000"/>
              </a:buClr>
              <a:buFont typeface="Wingdings" pitchFamily="2" charset="2"/>
              <a:buChar char="u"/>
            </a:pPr>
            <a:r>
              <a:rPr lang="zh-CN" altLang="en-US" dirty="0" smtClean="0"/>
              <a:t>通道</a:t>
            </a:r>
            <a:r>
              <a:rPr lang="en-US" altLang="zh-CN" dirty="0" smtClean="0"/>
              <a:t>0</a:t>
            </a:r>
            <a:r>
              <a:rPr lang="zh-CN" altLang="en-US" dirty="0" smtClean="0"/>
              <a:t>到通道</a:t>
            </a:r>
            <a:r>
              <a:rPr lang="en-US" altLang="zh-CN" dirty="0" smtClean="0"/>
              <a:t>n</a:t>
            </a:r>
            <a:r>
              <a:rPr lang="zh-CN" altLang="en-US" dirty="0" smtClean="0"/>
              <a:t>的自动扫描模式；</a:t>
            </a:r>
            <a:endParaRPr lang="en-US" altLang="zh-CN" dirty="0" smtClean="0"/>
          </a:p>
          <a:p>
            <a:pPr>
              <a:lnSpc>
                <a:spcPct val="150000"/>
              </a:lnSpc>
              <a:buClr>
                <a:srgbClr val="C00000"/>
              </a:buClr>
              <a:buFont typeface="Wingdings" pitchFamily="2" charset="2"/>
              <a:buChar char="u"/>
            </a:pPr>
            <a:r>
              <a:rPr lang="zh-CN" altLang="en-US" dirty="0" smtClean="0"/>
              <a:t>自动校准；</a:t>
            </a:r>
            <a:endParaRPr lang="en-US" altLang="zh-CN" dirty="0" smtClean="0"/>
          </a:p>
          <a:p>
            <a:pPr>
              <a:lnSpc>
                <a:spcPct val="150000"/>
              </a:lnSpc>
              <a:buClr>
                <a:srgbClr val="C00000"/>
              </a:buClr>
              <a:buFont typeface="Wingdings" pitchFamily="2" charset="2"/>
              <a:buChar char="u"/>
            </a:pPr>
            <a:r>
              <a:rPr lang="zh-CN" altLang="en-US" dirty="0" smtClean="0"/>
              <a:t>采样间隔可以按通道编程；</a:t>
            </a:r>
            <a:endParaRPr lang="en-US" altLang="zh-CN" dirty="0" smtClean="0"/>
          </a:p>
          <a:p>
            <a:pPr>
              <a:lnSpc>
                <a:spcPct val="150000"/>
              </a:lnSpc>
              <a:buClr>
                <a:srgbClr val="C00000"/>
              </a:buClr>
              <a:buFont typeface="Wingdings" pitchFamily="2" charset="2"/>
              <a:buChar char="u"/>
            </a:pPr>
            <a:r>
              <a:rPr lang="zh-CN" altLang="en-US" dirty="0" smtClean="0"/>
              <a:t>规则通道和注入通道均有外部触发选项；</a:t>
            </a:r>
            <a:endParaRPr lang="en-US" altLang="zh-CN" dirty="0" smtClean="0"/>
          </a:p>
          <a:p>
            <a:pPr>
              <a:lnSpc>
                <a:spcPct val="150000"/>
              </a:lnSpc>
              <a:buClr>
                <a:srgbClr val="C00000"/>
              </a:buClr>
              <a:buFont typeface="Wingdings" pitchFamily="2" charset="2"/>
              <a:buChar char="u"/>
            </a:pPr>
            <a:r>
              <a:rPr lang="zh-CN" altLang="en-US" dirty="0" smtClean="0"/>
              <a:t>转换结果支持左对齐或右对齐方式存储在</a:t>
            </a:r>
            <a:r>
              <a:rPr lang="en-US" altLang="zh-CN" dirty="0" smtClean="0"/>
              <a:t>16</a:t>
            </a:r>
            <a:r>
              <a:rPr lang="zh-CN" altLang="en-US" dirty="0" smtClean="0"/>
              <a:t>位数据寄存器；</a:t>
            </a:r>
            <a:endParaRPr lang="en-US" altLang="zh-CN" dirty="0" smtClean="0"/>
          </a:p>
          <a:p>
            <a:pPr>
              <a:lnSpc>
                <a:spcPct val="150000"/>
              </a:lnSpc>
              <a:buClr>
                <a:srgbClr val="C00000"/>
              </a:buClr>
              <a:buFont typeface="Wingdings" pitchFamily="2" charset="2"/>
              <a:buChar char="u"/>
            </a:pPr>
            <a:r>
              <a:rPr lang="en-US" altLang="zh-CN" dirty="0" smtClean="0"/>
              <a:t>ADC</a:t>
            </a:r>
            <a:r>
              <a:rPr lang="zh-CN" altLang="en-US" dirty="0" smtClean="0"/>
              <a:t>转换时间：最大转换速率 </a:t>
            </a:r>
            <a:r>
              <a:rPr lang="en-US" altLang="zh-CN" dirty="0" smtClean="0"/>
              <a:t>1us</a:t>
            </a:r>
            <a:r>
              <a:rPr lang="zh-CN" altLang="en-US" dirty="0" smtClean="0"/>
              <a:t>（最大转换速度为</a:t>
            </a:r>
            <a:r>
              <a:rPr lang="en-US" altLang="zh-CN" dirty="0" smtClean="0"/>
              <a:t>1MHz</a:t>
            </a:r>
            <a:r>
              <a:rPr lang="zh-CN" altLang="en-US" dirty="0" smtClean="0"/>
              <a:t>，在</a:t>
            </a:r>
            <a:r>
              <a:rPr lang="en-US" altLang="zh-CN" dirty="0" smtClean="0"/>
              <a:t>ADCCLK=14M</a:t>
            </a:r>
            <a:r>
              <a:rPr lang="zh-CN" altLang="en-US" dirty="0" smtClean="0"/>
              <a:t>，采样周期为</a:t>
            </a:r>
            <a:r>
              <a:rPr lang="en-US" altLang="zh-CN" dirty="0" smtClean="0"/>
              <a:t>1.5</a:t>
            </a:r>
            <a:r>
              <a:rPr lang="zh-CN" altLang="en-US" dirty="0" smtClean="0"/>
              <a:t>个</a:t>
            </a:r>
            <a:r>
              <a:rPr lang="en-US" altLang="zh-CN" dirty="0" smtClean="0"/>
              <a:t>ADC</a:t>
            </a:r>
            <a:r>
              <a:rPr lang="zh-CN" altLang="en-US" dirty="0" smtClean="0"/>
              <a:t>时钟下得到）；</a:t>
            </a:r>
            <a:endParaRPr lang="en-US" altLang="zh-CN" dirty="0" smtClean="0"/>
          </a:p>
          <a:p>
            <a:pPr>
              <a:lnSpc>
                <a:spcPct val="150000"/>
              </a:lnSpc>
              <a:buClr>
                <a:srgbClr val="C00000"/>
              </a:buClr>
              <a:buFont typeface="Wingdings" pitchFamily="2" charset="2"/>
              <a:buChar char="u"/>
            </a:pPr>
            <a:r>
              <a:rPr lang="en-US" altLang="zh-CN" dirty="0" smtClean="0"/>
              <a:t>ADC</a:t>
            </a:r>
            <a:r>
              <a:rPr lang="zh-CN" altLang="en-US" dirty="0" smtClean="0"/>
              <a:t>供电要求：</a:t>
            </a:r>
            <a:r>
              <a:rPr lang="en-US" altLang="zh-CN" dirty="0" smtClean="0"/>
              <a:t>2.4V-3.6V</a:t>
            </a:r>
            <a:r>
              <a:rPr lang="zh-CN" altLang="en-US" dirty="0" smtClean="0"/>
              <a:t>；</a:t>
            </a:r>
            <a:r>
              <a:rPr lang="en-US" altLang="zh-CN" dirty="0" smtClean="0"/>
              <a:t>ADC</a:t>
            </a:r>
            <a:r>
              <a:rPr lang="zh-CN" altLang="en-US" dirty="0" smtClean="0"/>
              <a:t>输入范围：</a:t>
            </a:r>
            <a:r>
              <a:rPr lang="en-US" altLang="zh-CN" dirty="0" smtClean="0"/>
              <a:t>VREF- ≤  VIN  ≤  VREF+</a:t>
            </a:r>
            <a:r>
              <a:rPr lang="zh-CN" altLang="en-US" dirty="0" smtClean="0"/>
              <a:t>。</a:t>
            </a:r>
          </a:p>
          <a:p>
            <a:pPr>
              <a:lnSpc>
                <a:spcPct val="150000"/>
              </a:lnSpc>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descr="https://img-blog.csdn.net/20180424220221833"/>
          <p:cNvPicPr>
            <a:picLocks noChangeAspect="1" noChangeArrowheads="1"/>
          </p:cNvPicPr>
          <p:nvPr/>
        </p:nvPicPr>
        <p:blipFill>
          <a:blip r:embed="rId2"/>
          <a:srcRect/>
          <a:stretch>
            <a:fillRect/>
          </a:stretch>
        </p:blipFill>
        <p:spPr bwMode="auto">
          <a:xfrm>
            <a:off x="3290661" y="445699"/>
            <a:ext cx="5106890" cy="4984717"/>
          </a:xfrm>
          <a:prstGeom prst="rect">
            <a:avLst/>
          </a:prstGeom>
          <a:noFill/>
        </p:spPr>
      </p:pic>
      <p:sp>
        <p:nvSpPr>
          <p:cNvPr id="9" name="矩形 8"/>
          <p:cNvSpPr/>
          <p:nvPr/>
        </p:nvSpPr>
        <p:spPr>
          <a:xfrm>
            <a:off x="482081" y="5376094"/>
            <a:ext cx="10556034" cy="873060"/>
          </a:xfrm>
          <a:prstGeom prst="rect">
            <a:avLst/>
          </a:prstGeom>
        </p:spPr>
        <p:txBody>
          <a:bodyPr wrap="square">
            <a:spAutoFit/>
          </a:bodyPr>
          <a:lstStyle/>
          <a:p>
            <a:pPr>
              <a:lnSpc>
                <a:spcPct val="150000"/>
              </a:lnSpc>
            </a:pPr>
            <a:r>
              <a:rPr lang="zh-CN" altLang="en-US" b="1" dirty="0" smtClean="0">
                <a:solidFill>
                  <a:srgbClr val="C00000"/>
                </a:solidFill>
              </a:rPr>
              <a:t>由上图中可以看出，</a:t>
            </a:r>
            <a:r>
              <a:rPr lang="en-US" altLang="zh-CN" b="1" dirty="0" smtClean="0">
                <a:solidFill>
                  <a:srgbClr val="C00000"/>
                </a:solidFill>
              </a:rPr>
              <a:t>STM32F103ZET6</a:t>
            </a:r>
            <a:r>
              <a:rPr lang="zh-CN" altLang="en-US" b="1" dirty="0" smtClean="0">
                <a:solidFill>
                  <a:srgbClr val="C00000"/>
                </a:solidFill>
              </a:rPr>
              <a:t>带</a:t>
            </a:r>
            <a:r>
              <a:rPr lang="en-US" altLang="zh-CN" b="1" dirty="0" smtClean="0">
                <a:solidFill>
                  <a:srgbClr val="C00000"/>
                </a:solidFill>
              </a:rPr>
              <a:t>3</a:t>
            </a:r>
            <a:r>
              <a:rPr lang="zh-CN" altLang="en-US" b="1" dirty="0" smtClean="0">
                <a:solidFill>
                  <a:srgbClr val="C00000"/>
                </a:solidFill>
              </a:rPr>
              <a:t>个</a:t>
            </a:r>
            <a:r>
              <a:rPr lang="en-US" altLang="zh-CN" b="1" dirty="0" smtClean="0">
                <a:solidFill>
                  <a:srgbClr val="C00000"/>
                </a:solidFill>
              </a:rPr>
              <a:t>ADC</a:t>
            </a:r>
            <a:r>
              <a:rPr lang="zh-CN" altLang="en-US" b="1" dirty="0" smtClean="0">
                <a:solidFill>
                  <a:srgbClr val="C00000"/>
                </a:solidFill>
              </a:rPr>
              <a:t>控制器，一共支持</a:t>
            </a:r>
            <a:r>
              <a:rPr lang="en-US" altLang="zh-CN" b="1" dirty="0" smtClean="0">
                <a:solidFill>
                  <a:srgbClr val="C00000"/>
                </a:solidFill>
              </a:rPr>
              <a:t>23</a:t>
            </a:r>
            <a:r>
              <a:rPr lang="zh-CN" altLang="en-US" b="1" dirty="0" smtClean="0">
                <a:solidFill>
                  <a:srgbClr val="C00000"/>
                </a:solidFill>
              </a:rPr>
              <a:t>个通道，包括</a:t>
            </a:r>
            <a:r>
              <a:rPr lang="en-US" altLang="zh-CN" b="1" dirty="0" smtClean="0">
                <a:solidFill>
                  <a:srgbClr val="C00000"/>
                </a:solidFill>
              </a:rPr>
              <a:t>21</a:t>
            </a:r>
            <a:r>
              <a:rPr lang="zh-CN" altLang="en-US" b="1" dirty="0" smtClean="0">
                <a:solidFill>
                  <a:srgbClr val="C00000"/>
                </a:solidFill>
              </a:rPr>
              <a:t>个外部和</a:t>
            </a:r>
            <a:r>
              <a:rPr lang="en-US" altLang="zh-CN" b="1" dirty="0" smtClean="0">
                <a:solidFill>
                  <a:srgbClr val="C00000"/>
                </a:solidFill>
              </a:rPr>
              <a:t>2</a:t>
            </a:r>
            <a:r>
              <a:rPr lang="zh-CN" altLang="en-US" b="1" dirty="0" smtClean="0">
                <a:solidFill>
                  <a:srgbClr val="C00000"/>
                </a:solidFill>
              </a:rPr>
              <a:t>个内部信号源；但是每个</a:t>
            </a:r>
            <a:r>
              <a:rPr lang="en-US" altLang="zh-CN" b="1" dirty="0" smtClean="0">
                <a:solidFill>
                  <a:srgbClr val="C00000"/>
                </a:solidFill>
              </a:rPr>
              <a:t>ADC</a:t>
            </a:r>
            <a:r>
              <a:rPr lang="zh-CN" altLang="en-US" b="1" dirty="0" smtClean="0">
                <a:solidFill>
                  <a:srgbClr val="C00000"/>
                </a:solidFill>
              </a:rPr>
              <a:t>控制器最多只可以有</a:t>
            </a:r>
            <a:r>
              <a:rPr lang="en-US" altLang="zh-CN" b="1" dirty="0" smtClean="0">
                <a:solidFill>
                  <a:srgbClr val="C00000"/>
                </a:solidFill>
              </a:rPr>
              <a:t>18</a:t>
            </a:r>
            <a:r>
              <a:rPr lang="zh-CN" altLang="en-US" b="1" dirty="0" smtClean="0">
                <a:solidFill>
                  <a:srgbClr val="C00000"/>
                </a:solidFill>
              </a:rPr>
              <a:t>个通道，包括</a:t>
            </a:r>
            <a:r>
              <a:rPr lang="en-US" altLang="zh-CN" b="1" dirty="0" smtClean="0">
                <a:solidFill>
                  <a:srgbClr val="C00000"/>
                </a:solidFill>
              </a:rPr>
              <a:t>16</a:t>
            </a:r>
            <a:r>
              <a:rPr lang="zh-CN" altLang="en-US" b="1" dirty="0" smtClean="0">
                <a:solidFill>
                  <a:srgbClr val="C00000"/>
                </a:solidFill>
              </a:rPr>
              <a:t>个外部和</a:t>
            </a:r>
            <a:r>
              <a:rPr lang="en-US" altLang="zh-CN" b="1" dirty="0" smtClean="0">
                <a:solidFill>
                  <a:srgbClr val="C00000"/>
                </a:solidFill>
              </a:rPr>
              <a:t>2</a:t>
            </a:r>
            <a:r>
              <a:rPr lang="zh-CN" altLang="en-US" b="1" dirty="0" smtClean="0">
                <a:solidFill>
                  <a:srgbClr val="C00000"/>
                </a:solidFill>
              </a:rPr>
              <a:t>个内部信号源。</a:t>
            </a:r>
            <a:endParaRPr lang="zh-CN" altLang="en-US" b="1"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43431" y="501134"/>
            <a:ext cx="11197296" cy="5493812"/>
          </a:xfrm>
          <a:prstGeom prst="rect">
            <a:avLst/>
          </a:prstGeom>
        </p:spPr>
        <p:txBody>
          <a:bodyPr wrap="none">
            <a:spAutoFit/>
          </a:bodyPr>
          <a:lstStyle/>
          <a:p>
            <a:pPr>
              <a:lnSpc>
                <a:spcPct val="150000"/>
              </a:lnSpc>
            </a:pPr>
            <a:r>
              <a:rPr lang="zh-CN" altLang="en-US" b="1" dirty="0" smtClean="0">
                <a:solidFill>
                  <a:srgbClr val="C00000"/>
                </a:solidFill>
              </a:rPr>
              <a:t>转换模式：</a:t>
            </a:r>
            <a:endParaRPr lang="en-US" altLang="zh-CN" b="1" dirty="0" smtClean="0">
              <a:solidFill>
                <a:srgbClr val="C00000"/>
              </a:solidFill>
            </a:endParaRPr>
          </a:p>
          <a:p>
            <a:pPr>
              <a:lnSpc>
                <a:spcPct val="150000"/>
              </a:lnSpc>
            </a:pPr>
            <a:r>
              <a:rPr lang="zh-CN" altLang="en-US" dirty="0" smtClean="0"/>
              <a:t>      支持单次转换和连续转换，顾名思义，单次转换就仅仅只进行一次转换，然后就将值写入数据寄存器，</a:t>
            </a:r>
            <a:endParaRPr lang="en-US" altLang="zh-CN" dirty="0" smtClean="0"/>
          </a:p>
          <a:p>
            <a:pPr>
              <a:lnSpc>
                <a:spcPct val="150000"/>
              </a:lnSpc>
            </a:pPr>
            <a:r>
              <a:rPr lang="zh-CN" altLang="en-US" dirty="0" smtClean="0"/>
              <a:t>连续转换时不间断的进行</a:t>
            </a:r>
            <a:r>
              <a:rPr lang="en-US" altLang="zh-CN" dirty="0" smtClean="0"/>
              <a:t>ADC</a:t>
            </a:r>
            <a:r>
              <a:rPr lang="zh-CN" altLang="en-US" dirty="0" smtClean="0"/>
              <a:t>操作，并将值写入到数据寄存器。</a:t>
            </a:r>
            <a:endParaRPr lang="en-US" altLang="zh-CN" dirty="0" smtClean="0"/>
          </a:p>
          <a:p>
            <a:pPr>
              <a:lnSpc>
                <a:spcPct val="150000"/>
              </a:lnSpc>
            </a:pPr>
            <a:r>
              <a:rPr lang="zh-CN" altLang="en-US" b="1" dirty="0" smtClean="0">
                <a:solidFill>
                  <a:srgbClr val="C00000"/>
                </a:solidFill>
              </a:rPr>
              <a:t>通道描述：</a:t>
            </a:r>
            <a:endParaRPr lang="en-US" altLang="zh-CN" b="1" dirty="0" smtClean="0">
              <a:solidFill>
                <a:srgbClr val="C00000"/>
              </a:solidFill>
            </a:endParaRPr>
          </a:p>
          <a:p>
            <a:pPr>
              <a:lnSpc>
                <a:spcPct val="150000"/>
              </a:lnSpc>
            </a:pPr>
            <a:r>
              <a:rPr lang="en-US" altLang="zh-CN" dirty="0" smtClean="0"/>
              <a:t>      ADC</a:t>
            </a:r>
            <a:r>
              <a:rPr lang="zh-CN" altLang="en-US" dirty="0" smtClean="0"/>
              <a:t>有两组通道：规则通道组和注入通道组。</a:t>
            </a:r>
            <a:endParaRPr lang="en-US" altLang="zh-CN" dirty="0" smtClean="0"/>
          </a:p>
          <a:p>
            <a:pPr>
              <a:lnSpc>
                <a:spcPct val="150000"/>
              </a:lnSpc>
            </a:pPr>
            <a:r>
              <a:rPr lang="zh-CN" altLang="en-US" b="1" dirty="0" smtClean="0">
                <a:solidFill>
                  <a:srgbClr val="7030A0"/>
                </a:solidFill>
              </a:rPr>
              <a:t>规则通道组：</a:t>
            </a:r>
            <a:r>
              <a:rPr lang="zh-CN" altLang="en-US" dirty="0" smtClean="0"/>
              <a:t>相当于你正常运行的程序。</a:t>
            </a:r>
            <a:endParaRPr lang="en-US" altLang="zh-CN" dirty="0" smtClean="0"/>
          </a:p>
          <a:p>
            <a:pPr>
              <a:lnSpc>
                <a:spcPct val="150000"/>
              </a:lnSpc>
            </a:pPr>
            <a:r>
              <a:rPr lang="zh-CN" altLang="en-US" b="1" dirty="0" smtClean="0">
                <a:solidFill>
                  <a:srgbClr val="7030A0"/>
                </a:solidFill>
              </a:rPr>
              <a:t>注入通道组：</a:t>
            </a:r>
            <a:r>
              <a:rPr lang="zh-CN" altLang="en-US" dirty="0" smtClean="0"/>
              <a:t>就相当于中断。在你程序正常执行的时候，中断是可以打断你的执行的。同这个类似，注入</a:t>
            </a:r>
            <a:endParaRPr lang="en-US" altLang="zh-CN" dirty="0" smtClean="0"/>
          </a:p>
          <a:p>
            <a:pPr>
              <a:lnSpc>
                <a:spcPct val="150000"/>
              </a:lnSpc>
            </a:pPr>
            <a:r>
              <a:rPr lang="zh-CN" altLang="en-US" dirty="0" smtClean="0"/>
              <a:t>通道的转换可以打断规则通道的转换， 在注入通道被转换完成之后，规则通道才得以继续转换。 也就是说，</a:t>
            </a:r>
            <a:endParaRPr lang="en-US" altLang="zh-CN" dirty="0" smtClean="0"/>
          </a:p>
          <a:p>
            <a:pPr>
              <a:lnSpc>
                <a:spcPct val="150000"/>
              </a:lnSpc>
            </a:pPr>
            <a:r>
              <a:rPr lang="zh-CN" altLang="en-US" dirty="0" smtClean="0"/>
              <a:t>注入通道可以来打断当前正在进行的规则的 </a:t>
            </a:r>
            <a:r>
              <a:rPr lang="en-US" altLang="zh-CN" dirty="0" smtClean="0"/>
              <a:t>ADC </a:t>
            </a:r>
            <a:r>
              <a:rPr lang="zh-CN" altLang="en-US" dirty="0" smtClean="0"/>
              <a:t>数据转换，暂时理解成为优先级的概念即可。</a:t>
            </a:r>
            <a:endParaRPr lang="en-US" altLang="zh-CN" dirty="0" smtClean="0"/>
          </a:p>
          <a:p>
            <a:pPr>
              <a:lnSpc>
                <a:spcPct val="150000"/>
              </a:lnSpc>
            </a:pPr>
            <a:r>
              <a:rPr lang="zh-CN" altLang="en-US" b="1" dirty="0" smtClean="0">
                <a:solidFill>
                  <a:srgbClr val="C00000"/>
                </a:solidFill>
              </a:rPr>
              <a:t>双重模式：</a:t>
            </a:r>
            <a:endParaRPr lang="en-US" altLang="zh-CN" b="1" dirty="0" smtClean="0">
              <a:solidFill>
                <a:srgbClr val="C00000"/>
              </a:solidFill>
            </a:endParaRPr>
          </a:p>
          <a:p>
            <a:pPr>
              <a:lnSpc>
                <a:spcPct val="150000"/>
              </a:lnSpc>
            </a:pPr>
            <a:r>
              <a:rPr lang="zh-CN" altLang="en-US" dirty="0" smtClean="0"/>
              <a:t>      双 </a:t>
            </a:r>
            <a:r>
              <a:rPr lang="en-US" altLang="zh-CN" dirty="0" smtClean="0"/>
              <a:t>ADC </a:t>
            </a:r>
            <a:r>
              <a:rPr lang="zh-CN" altLang="en-US" dirty="0" smtClean="0"/>
              <a:t>的机制就是使用两个 </a:t>
            </a:r>
            <a:r>
              <a:rPr lang="en-US" altLang="zh-CN" dirty="0" smtClean="0"/>
              <a:t>ADC </a:t>
            </a:r>
            <a:r>
              <a:rPr lang="zh-CN" altLang="en-US" dirty="0" smtClean="0"/>
              <a:t>同时采样一个或者多个通道。双重</a:t>
            </a:r>
            <a:r>
              <a:rPr lang="en-US" altLang="zh-CN" dirty="0" smtClean="0"/>
              <a:t>ADC </a:t>
            </a:r>
            <a:r>
              <a:rPr lang="zh-CN" altLang="en-US" dirty="0" smtClean="0"/>
              <a:t>模式较独立模式一个最大</a:t>
            </a:r>
            <a:endParaRPr lang="en-US" altLang="zh-CN" dirty="0" smtClean="0"/>
          </a:p>
          <a:p>
            <a:pPr>
              <a:lnSpc>
                <a:spcPct val="150000"/>
              </a:lnSpc>
            </a:pPr>
            <a:r>
              <a:rPr lang="zh-CN" altLang="en-US" dirty="0" smtClean="0"/>
              <a:t>的优势就是提高了采样率，弥补了单个 </a:t>
            </a:r>
            <a:r>
              <a:rPr lang="en-US" altLang="zh-CN" dirty="0" smtClean="0"/>
              <a:t>ADC </a:t>
            </a:r>
            <a:r>
              <a:rPr lang="zh-CN" altLang="en-US" dirty="0" smtClean="0"/>
              <a:t>采样不够快的缺点。</a:t>
            </a:r>
          </a:p>
          <a:p>
            <a:pPr>
              <a:lnSpc>
                <a:spcPct val="150000"/>
              </a:lnSpc>
            </a:pPr>
            <a:endParaRPr lang="zh-CN" alt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5" name="Picture 3"/>
          <p:cNvPicPr>
            <a:picLocks noChangeAspect="1" noChangeArrowheads="1"/>
          </p:cNvPicPr>
          <p:nvPr/>
        </p:nvPicPr>
        <p:blipFill>
          <a:blip r:embed="rId2"/>
          <a:srcRect/>
          <a:stretch>
            <a:fillRect/>
          </a:stretch>
        </p:blipFill>
        <p:spPr bwMode="auto">
          <a:xfrm>
            <a:off x="23813" y="1171575"/>
            <a:ext cx="12144375" cy="4514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2"/>
          <a:srcRect/>
          <a:stretch>
            <a:fillRect/>
          </a:stretch>
        </p:blipFill>
        <p:spPr bwMode="auto">
          <a:xfrm>
            <a:off x="821677" y="449424"/>
            <a:ext cx="9877926" cy="4617098"/>
          </a:xfrm>
          <a:prstGeom prst="rect">
            <a:avLst/>
          </a:prstGeom>
          <a:noFill/>
          <a:ln w="9525">
            <a:noFill/>
            <a:miter lim="800000"/>
            <a:headEnd/>
            <a:tailEnd/>
          </a:ln>
          <a:effectLst/>
        </p:spPr>
      </p:pic>
      <p:sp>
        <p:nvSpPr>
          <p:cNvPr id="4" name="矩形 3"/>
          <p:cNvSpPr/>
          <p:nvPr/>
        </p:nvSpPr>
        <p:spPr>
          <a:xfrm>
            <a:off x="883297" y="5132036"/>
            <a:ext cx="10220132" cy="1282787"/>
          </a:xfrm>
          <a:prstGeom prst="rect">
            <a:avLst/>
          </a:prstGeom>
        </p:spPr>
        <p:txBody>
          <a:bodyPr wrap="square">
            <a:spAutoFit/>
          </a:bodyPr>
          <a:lstStyle/>
          <a:p>
            <a:pPr>
              <a:lnSpc>
                <a:spcPct val="150000"/>
              </a:lnSpc>
            </a:pPr>
            <a:r>
              <a:rPr lang="en-US" altLang="zh-CN" dirty="0" smtClean="0"/>
              <a:t>      ADC</a:t>
            </a:r>
            <a:r>
              <a:rPr lang="zh-CN" altLang="en-US" dirty="0" smtClean="0"/>
              <a:t>在开始精确转换前需要一个稳定时间</a:t>
            </a:r>
            <a:r>
              <a:rPr lang="en-US" altLang="zh-CN" dirty="0" err="1" smtClean="0"/>
              <a:t>t</a:t>
            </a:r>
            <a:r>
              <a:rPr lang="en-US" altLang="zh-CN" sz="1100" dirty="0" err="1" smtClean="0"/>
              <a:t>STAB</a:t>
            </a:r>
            <a:r>
              <a:rPr lang="zh-CN" altLang="en-US" dirty="0" smtClean="0"/>
              <a:t>。在开始</a:t>
            </a:r>
            <a:r>
              <a:rPr lang="en-US" altLang="zh-CN" dirty="0" smtClean="0"/>
              <a:t>ADC</a:t>
            </a:r>
            <a:r>
              <a:rPr lang="zh-CN" altLang="en-US" dirty="0" smtClean="0"/>
              <a:t>转换和</a:t>
            </a:r>
            <a:r>
              <a:rPr lang="en-US" altLang="zh-CN" dirty="0" smtClean="0"/>
              <a:t>14</a:t>
            </a:r>
            <a:r>
              <a:rPr lang="zh-CN" altLang="en-US" dirty="0" smtClean="0"/>
              <a:t>个时钟周期 后，</a:t>
            </a:r>
            <a:r>
              <a:rPr lang="en-US" altLang="zh-CN" dirty="0" smtClean="0"/>
              <a:t>EOC</a:t>
            </a:r>
            <a:r>
              <a:rPr lang="zh-CN" altLang="en-US" dirty="0" smtClean="0"/>
              <a:t>标志被设置，</a:t>
            </a:r>
            <a:r>
              <a:rPr lang="en-US" altLang="zh-CN" dirty="0" smtClean="0"/>
              <a:t>16</a:t>
            </a:r>
            <a:r>
              <a:rPr lang="zh-CN" altLang="en-US" dirty="0" smtClean="0"/>
              <a:t>位</a:t>
            </a:r>
            <a:r>
              <a:rPr lang="en-US" altLang="zh-CN" dirty="0" smtClean="0"/>
              <a:t>ADC</a:t>
            </a:r>
            <a:r>
              <a:rPr lang="zh-CN" altLang="en-US" dirty="0" smtClean="0"/>
              <a:t>数据寄存器包含转换的结果。</a:t>
            </a:r>
            <a:endParaRPr lang="en-US" altLang="zh-CN" dirty="0" smtClean="0"/>
          </a:p>
          <a:p>
            <a:pPr>
              <a:lnSpc>
                <a:spcPct val="150000"/>
              </a:lnSpc>
            </a:pPr>
            <a:r>
              <a:rPr lang="zh-CN" altLang="en-US" dirty="0" smtClean="0"/>
              <a:t>    通过清除</a:t>
            </a:r>
            <a:r>
              <a:rPr lang="en-US" altLang="zh-CN" dirty="0" smtClean="0"/>
              <a:t>ADON</a:t>
            </a:r>
            <a:r>
              <a:rPr lang="zh-CN" altLang="en-US" dirty="0" smtClean="0"/>
              <a:t>位可以停止转换，并将</a:t>
            </a:r>
            <a:r>
              <a:rPr lang="en-US" altLang="zh-CN" dirty="0" smtClean="0"/>
              <a:t>ADC</a:t>
            </a:r>
            <a:r>
              <a:rPr lang="zh-CN" altLang="en-US" dirty="0" smtClean="0"/>
              <a:t>置于断电模式。在这个模式中，</a:t>
            </a:r>
            <a:r>
              <a:rPr lang="en-US" altLang="zh-CN" dirty="0" smtClean="0"/>
              <a:t>ADC</a:t>
            </a:r>
            <a:r>
              <a:rPr lang="zh-CN" altLang="en-US" dirty="0" smtClean="0"/>
              <a:t>几乎不耗电。</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3166" y="855697"/>
            <a:ext cx="10971401" cy="2308324"/>
          </a:xfrm>
          <a:prstGeom prst="rect">
            <a:avLst/>
          </a:prstGeom>
        </p:spPr>
        <p:txBody>
          <a:bodyPr wrap="none">
            <a:spAutoFit/>
          </a:bodyPr>
          <a:lstStyle/>
          <a:p>
            <a:pPr>
              <a:lnSpc>
                <a:spcPct val="150000"/>
              </a:lnSpc>
            </a:pPr>
            <a:r>
              <a:rPr lang="zh-CN" altLang="en-US" sz="2400" b="1" dirty="0" smtClean="0">
                <a:solidFill>
                  <a:srgbClr val="C00000"/>
                </a:solidFill>
              </a:rPr>
              <a:t>模拟看门狗</a:t>
            </a:r>
            <a:endParaRPr lang="en-US" altLang="zh-CN" sz="2400" b="1" dirty="0" smtClean="0">
              <a:solidFill>
                <a:srgbClr val="C00000"/>
              </a:solidFill>
            </a:endParaRPr>
          </a:p>
          <a:p>
            <a:pPr>
              <a:lnSpc>
                <a:spcPct val="150000"/>
              </a:lnSpc>
            </a:pPr>
            <a:r>
              <a:rPr lang="zh-CN" altLang="en-US" sz="2400" dirty="0" smtClean="0"/>
              <a:t>      如果被</a:t>
            </a:r>
            <a:r>
              <a:rPr lang="en-US" altLang="zh-CN" sz="2400" dirty="0" smtClean="0"/>
              <a:t>ADC</a:t>
            </a:r>
            <a:r>
              <a:rPr lang="zh-CN" altLang="en-US" sz="2400" dirty="0" smtClean="0"/>
              <a:t>转换的模拟电压低于低阀值或高于高阀值，</a:t>
            </a:r>
            <a:r>
              <a:rPr lang="en-US" altLang="zh-CN" sz="2400" dirty="0" smtClean="0"/>
              <a:t>AWD</a:t>
            </a:r>
            <a:r>
              <a:rPr lang="zh-CN" altLang="en-US" sz="2400" dirty="0" smtClean="0"/>
              <a:t>模拟看门狗</a:t>
            </a:r>
            <a:endParaRPr lang="en-US" altLang="zh-CN" sz="2400" dirty="0" smtClean="0"/>
          </a:p>
          <a:p>
            <a:pPr>
              <a:lnSpc>
                <a:spcPct val="150000"/>
              </a:lnSpc>
            </a:pPr>
            <a:r>
              <a:rPr lang="zh-CN" altLang="en-US" sz="2400" dirty="0" smtClean="0"/>
              <a:t>状态位被设置。阀值位 于</a:t>
            </a:r>
            <a:r>
              <a:rPr lang="en-US" altLang="zh-CN" sz="2400" dirty="0" smtClean="0"/>
              <a:t>ADC_HTR</a:t>
            </a:r>
            <a:r>
              <a:rPr lang="zh-CN" altLang="en-US" sz="2400" dirty="0" smtClean="0"/>
              <a:t>和</a:t>
            </a:r>
            <a:r>
              <a:rPr lang="en-US" altLang="zh-CN" sz="2400" dirty="0" smtClean="0"/>
              <a:t>ADC_LTR</a:t>
            </a:r>
            <a:r>
              <a:rPr lang="zh-CN" altLang="en-US" sz="2400" dirty="0" smtClean="0"/>
              <a:t>寄存器的最低</a:t>
            </a:r>
            <a:r>
              <a:rPr lang="en-US" altLang="zh-CN" sz="2400" dirty="0" smtClean="0"/>
              <a:t>12</a:t>
            </a:r>
            <a:r>
              <a:rPr lang="zh-CN" altLang="en-US" sz="2400" dirty="0" smtClean="0"/>
              <a:t>个有效位中。</a:t>
            </a:r>
            <a:endParaRPr lang="en-US" altLang="zh-CN" sz="2400" dirty="0" smtClean="0"/>
          </a:p>
          <a:p>
            <a:pPr>
              <a:lnSpc>
                <a:spcPct val="150000"/>
              </a:lnSpc>
            </a:pPr>
            <a:r>
              <a:rPr lang="zh-CN" altLang="en-US" sz="2400" dirty="0" smtClean="0"/>
              <a:t>通过设置</a:t>
            </a:r>
            <a:r>
              <a:rPr lang="en-US" altLang="zh-CN" sz="2400" dirty="0" smtClean="0"/>
              <a:t>ADC_CR1</a:t>
            </a:r>
            <a:r>
              <a:rPr lang="zh-CN" altLang="en-US" sz="2400" dirty="0" smtClean="0"/>
              <a:t>寄存器的</a:t>
            </a:r>
            <a:r>
              <a:rPr lang="en-US" altLang="zh-CN" sz="2400" dirty="0" smtClean="0"/>
              <a:t>AWDIE</a:t>
            </a:r>
            <a:r>
              <a:rPr lang="zh-CN" altLang="en-US" sz="2400" dirty="0" smtClean="0"/>
              <a:t>位以允许产生相应中断。</a:t>
            </a:r>
            <a:endParaRPr lang="zh-CN" altLang="en-US" sz="2400" dirty="0"/>
          </a:p>
        </p:txBody>
      </p:sp>
      <p:pic>
        <p:nvPicPr>
          <p:cNvPr id="150530" name="Picture 2"/>
          <p:cNvPicPr>
            <a:picLocks noChangeAspect="1" noChangeArrowheads="1"/>
          </p:cNvPicPr>
          <p:nvPr/>
        </p:nvPicPr>
        <p:blipFill>
          <a:blip r:embed="rId2"/>
          <a:srcRect/>
          <a:stretch>
            <a:fillRect/>
          </a:stretch>
        </p:blipFill>
        <p:spPr bwMode="auto">
          <a:xfrm>
            <a:off x="3143352" y="3872419"/>
            <a:ext cx="5457825" cy="23622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https://img2020.cnblogs.com/blog/1959382/202004/1959382-20200412221708084-1592912428.png"/>
          <p:cNvPicPr>
            <a:picLocks noChangeAspect="1" noChangeArrowheads="1"/>
          </p:cNvPicPr>
          <p:nvPr/>
        </p:nvPicPr>
        <p:blipFill>
          <a:blip r:embed="rId2"/>
          <a:srcRect/>
          <a:stretch>
            <a:fillRect/>
          </a:stretch>
        </p:blipFill>
        <p:spPr bwMode="auto">
          <a:xfrm>
            <a:off x="2684835" y="888527"/>
            <a:ext cx="7077075" cy="5400675"/>
          </a:xfrm>
          <a:prstGeom prst="rect">
            <a:avLst/>
          </a:prstGeom>
          <a:noFill/>
        </p:spPr>
      </p:pic>
      <p:sp>
        <p:nvSpPr>
          <p:cNvPr id="6" name="TextBox 5"/>
          <p:cNvSpPr txBox="1"/>
          <p:nvPr/>
        </p:nvSpPr>
        <p:spPr>
          <a:xfrm>
            <a:off x="632298" y="700391"/>
            <a:ext cx="2480553" cy="523220"/>
          </a:xfrm>
          <a:prstGeom prst="rect">
            <a:avLst/>
          </a:prstGeom>
          <a:noFill/>
        </p:spPr>
        <p:txBody>
          <a:bodyPr wrap="square" rtlCol="0">
            <a:spAutoFit/>
          </a:bodyPr>
          <a:lstStyle/>
          <a:p>
            <a:r>
              <a:rPr lang="zh-CN" altLang="en-US" sz="2800" b="1" dirty="0" smtClean="0">
                <a:solidFill>
                  <a:srgbClr val="C00000"/>
                </a:solidFill>
              </a:rPr>
              <a:t>步骤：</a:t>
            </a:r>
            <a:endParaRPr lang="zh-CN" altLang="en-US" sz="2800" b="1" dirty="0">
              <a:solidFill>
                <a:srgbClr val="C0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https://img2020.cnblogs.com/blog/1959382/202004/1959382-20200412221742966-994250074.png"/>
          <p:cNvPicPr>
            <a:picLocks noChangeAspect="1" noChangeArrowheads="1"/>
          </p:cNvPicPr>
          <p:nvPr/>
        </p:nvPicPr>
        <p:blipFill>
          <a:blip r:embed="rId2"/>
          <a:srcRect/>
          <a:stretch>
            <a:fillRect/>
          </a:stretch>
        </p:blipFill>
        <p:spPr bwMode="auto">
          <a:xfrm>
            <a:off x="2525551" y="1025914"/>
            <a:ext cx="6838950" cy="44958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8734" y="629731"/>
            <a:ext cx="10891935" cy="5170646"/>
          </a:xfrm>
          <a:prstGeom prst="rect">
            <a:avLst/>
          </a:prstGeom>
        </p:spPr>
        <p:txBody>
          <a:bodyPr wrap="square">
            <a:spAutoFit/>
          </a:bodyPr>
          <a:lstStyle/>
          <a:p>
            <a:pPr>
              <a:lnSpc>
                <a:spcPct val="150000"/>
              </a:lnSpc>
              <a:buClr>
                <a:srgbClr val="7030A0"/>
              </a:buClr>
              <a:buFont typeface="Wingdings" pitchFamily="2" charset="2"/>
              <a:buChar char="u"/>
            </a:pPr>
            <a:r>
              <a:rPr lang="zh-CN" altLang="en-US" sz="2000" b="1" dirty="0" smtClean="0">
                <a:solidFill>
                  <a:srgbClr val="7030A0"/>
                </a:solidFill>
              </a:rPr>
              <a:t>（</a:t>
            </a:r>
            <a:r>
              <a:rPr lang="en-US" altLang="zh-CN" sz="2000" b="1" dirty="0" smtClean="0">
                <a:solidFill>
                  <a:srgbClr val="7030A0"/>
                </a:solidFill>
              </a:rPr>
              <a:t>1</a:t>
            </a:r>
            <a:r>
              <a:rPr lang="zh-CN" altLang="en-US" sz="2000" b="1" dirty="0" smtClean="0">
                <a:solidFill>
                  <a:srgbClr val="7030A0"/>
                </a:solidFill>
              </a:rPr>
              <a:t>）标号</a:t>
            </a:r>
            <a:r>
              <a:rPr lang="en-US" altLang="zh-CN" sz="2000" b="1" dirty="0" smtClean="0">
                <a:solidFill>
                  <a:srgbClr val="7030A0"/>
                </a:solidFill>
              </a:rPr>
              <a:t>1</a:t>
            </a:r>
            <a:r>
              <a:rPr lang="zh-CN" altLang="en-US" sz="2000" b="1" dirty="0" smtClean="0">
                <a:solidFill>
                  <a:srgbClr val="7030A0"/>
                </a:solidFill>
              </a:rPr>
              <a:t>：电压输入引脚</a:t>
            </a:r>
          </a:p>
          <a:p>
            <a:pPr>
              <a:lnSpc>
                <a:spcPct val="150000"/>
              </a:lnSpc>
            </a:pPr>
            <a:r>
              <a:rPr lang="zh-CN" altLang="en-US" sz="2000" dirty="0" smtClean="0"/>
              <a:t>　　</a:t>
            </a:r>
            <a:r>
              <a:rPr lang="en-US" altLang="zh-CN" sz="2000" dirty="0" smtClean="0"/>
              <a:t>ADC</a:t>
            </a:r>
            <a:r>
              <a:rPr lang="zh-CN" altLang="en-US" sz="2000" dirty="0" smtClean="0"/>
              <a:t>输入电压范围为： </a:t>
            </a:r>
            <a:r>
              <a:rPr lang="en-US" altLang="zh-CN" sz="2000" dirty="0" smtClean="0"/>
              <a:t>VREF- ≤ VIN ≤ VREF+</a:t>
            </a:r>
            <a:r>
              <a:rPr lang="zh-CN" altLang="en-US" sz="2000" dirty="0" smtClean="0"/>
              <a:t>。由 </a:t>
            </a:r>
            <a:r>
              <a:rPr lang="en-US" altLang="zh-CN" sz="2000" dirty="0" smtClean="0"/>
              <a:t>VREF-</a:t>
            </a:r>
            <a:r>
              <a:rPr lang="zh-CN" altLang="en-US" sz="2000" dirty="0" smtClean="0"/>
              <a:t>、 </a:t>
            </a:r>
            <a:r>
              <a:rPr lang="en-US" altLang="zh-CN" sz="2000" dirty="0" smtClean="0"/>
              <a:t>VREF+ </a:t>
            </a:r>
            <a:r>
              <a:rPr lang="zh-CN" altLang="en-US" sz="2000" dirty="0" smtClean="0"/>
              <a:t>、 </a:t>
            </a:r>
            <a:r>
              <a:rPr lang="en-US" altLang="zh-CN" sz="2000" dirty="0" smtClean="0"/>
              <a:t>VDDA </a:t>
            </a:r>
            <a:r>
              <a:rPr lang="zh-CN" altLang="en-US" sz="2000" dirty="0" smtClean="0"/>
              <a:t>、 </a:t>
            </a:r>
            <a:r>
              <a:rPr lang="en-US" altLang="zh-CN" sz="2000" dirty="0" smtClean="0"/>
              <a:t>VSSA</a:t>
            </a:r>
            <a:r>
              <a:rPr lang="zh-CN" altLang="en-US" sz="2000" dirty="0" smtClean="0"/>
              <a:t>这四个外部引脚决定。通常我们把 </a:t>
            </a:r>
            <a:r>
              <a:rPr lang="en-US" altLang="zh-CN" sz="2000" dirty="0" smtClean="0"/>
              <a:t>VSSA</a:t>
            </a:r>
            <a:r>
              <a:rPr lang="zh-CN" altLang="en-US" sz="2000" dirty="0" smtClean="0"/>
              <a:t>和 </a:t>
            </a:r>
            <a:r>
              <a:rPr lang="en-US" altLang="zh-CN" sz="2000" dirty="0" smtClean="0"/>
              <a:t>VREF-</a:t>
            </a:r>
            <a:r>
              <a:rPr lang="zh-CN" altLang="en-US" sz="2000" dirty="0" smtClean="0"/>
              <a:t>接地 ，把 </a:t>
            </a:r>
            <a:r>
              <a:rPr lang="en-US" altLang="zh-CN" sz="2000" dirty="0" smtClean="0"/>
              <a:t>VREF+</a:t>
            </a:r>
            <a:r>
              <a:rPr lang="zh-CN" altLang="en-US" sz="2000" dirty="0" smtClean="0"/>
              <a:t>和 </a:t>
            </a:r>
            <a:r>
              <a:rPr lang="en-US" altLang="zh-CN" sz="2000" dirty="0" smtClean="0"/>
              <a:t>VDDA </a:t>
            </a:r>
            <a:r>
              <a:rPr lang="zh-CN" altLang="en-US" sz="2000" dirty="0" smtClean="0"/>
              <a:t>接 </a:t>
            </a:r>
            <a:r>
              <a:rPr lang="en-US" altLang="zh-CN" sz="2000" dirty="0" smtClean="0"/>
              <a:t>3.3V</a:t>
            </a:r>
            <a:r>
              <a:rPr lang="zh-CN" altLang="en-US" sz="2000" dirty="0" smtClean="0"/>
              <a:t>，因此</a:t>
            </a:r>
            <a:r>
              <a:rPr lang="en-US" altLang="zh-CN" sz="2000" dirty="0" smtClean="0"/>
              <a:t>ADC</a:t>
            </a:r>
            <a:r>
              <a:rPr lang="zh-CN" altLang="en-US" sz="2000" dirty="0" smtClean="0"/>
              <a:t>的输入电压范围为：</a:t>
            </a:r>
            <a:r>
              <a:rPr lang="en-US" altLang="zh-CN" sz="2000" dirty="0" smtClean="0"/>
              <a:t>0~3.3V</a:t>
            </a:r>
            <a:r>
              <a:rPr lang="zh-CN" altLang="en-US" sz="2000" dirty="0" smtClean="0"/>
              <a:t>。我 们使用的开发板</a:t>
            </a:r>
            <a:r>
              <a:rPr lang="en-US" altLang="zh-CN" sz="2000" dirty="0" smtClean="0"/>
              <a:t>ADC</a:t>
            </a:r>
            <a:r>
              <a:rPr lang="zh-CN" altLang="en-US" sz="2000" dirty="0" smtClean="0"/>
              <a:t>输入电压范围为</a:t>
            </a:r>
            <a:r>
              <a:rPr lang="en-US" altLang="zh-CN" sz="2000" dirty="0" smtClean="0"/>
              <a:t>0~3.3V</a:t>
            </a:r>
            <a:r>
              <a:rPr lang="zh-CN" altLang="en-US" sz="2000" dirty="0" smtClean="0"/>
              <a:t>。</a:t>
            </a:r>
            <a:endParaRPr lang="en-US" altLang="zh-CN" sz="2000" dirty="0" smtClean="0"/>
          </a:p>
          <a:p>
            <a:pPr>
              <a:lnSpc>
                <a:spcPct val="150000"/>
              </a:lnSpc>
              <a:buClr>
                <a:srgbClr val="7030A0"/>
              </a:buClr>
              <a:buFont typeface="Wingdings" pitchFamily="2" charset="2"/>
              <a:buChar char="u"/>
            </a:pPr>
            <a:r>
              <a:rPr lang="zh-CN" altLang="en-US" sz="2000" b="1" dirty="0" smtClean="0">
                <a:solidFill>
                  <a:srgbClr val="7030A0"/>
                </a:solidFill>
              </a:rPr>
              <a:t>（</a:t>
            </a:r>
            <a:r>
              <a:rPr lang="en-US" altLang="zh-CN" sz="2000" b="1" dirty="0" smtClean="0">
                <a:solidFill>
                  <a:srgbClr val="7030A0"/>
                </a:solidFill>
              </a:rPr>
              <a:t>2</a:t>
            </a:r>
            <a:r>
              <a:rPr lang="zh-CN" altLang="en-US" sz="2000" b="1" dirty="0" smtClean="0">
                <a:solidFill>
                  <a:srgbClr val="7030A0"/>
                </a:solidFill>
              </a:rPr>
              <a:t>）标号</a:t>
            </a:r>
            <a:r>
              <a:rPr lang="en-US" altLang="zh-CN" sz="2000" b="1" dirty="0" smtClean="0">
                <a:solidFill>
                  <a:srgbClr val="7030A0"/>
                </a:solidFill>
              </a:rPr>
              <a:t>2</a:t>
            </a:r>
            <a:r>
              <a:rPr lang="zh-CN" altLang="en-US" sz="2000" b="1" dirty="0" smtClean="0">
                <a:solidFill>
                  <a:srgbClr val="7030A0"/>
                </a:solidFill>
              </a:rPr>
              <a:t>：输入通道</a:t>
            </a:r>
          </a:p>
          <a:p>
            <a:pPr>
              <a:lnSpc>
                <a:spcPct val="150000"/>
              </a:lnSpc>
            </a:pPr>
            <a:r>
              <a:rPr lang="zh-CN" altLang="en-US" sz="2000" dirty="0" smtClean="0"/>
              <a:t>　　</a:t>
            </a:r>
            <a:r>
              <a:rPr lang="en-US" altLang="zh-CN" sz="2000" dirty="0" smtClean="0"/>
              <a:t>STM32 </a:t>
            </a:r>
            <a:r>
              <a:rPr lang="zh-CN" altLang="en-US" sz="2000" dirty="0" smtClean="0"/>
              <a:t>的 </a:t>
            </a:r>
            <a:r>
              <a:rPr lang="en-US" altLang="zh-CN" sz="2000" dirty="0" smtClean="0"/>
              <a:t>ADC</a:t>
            </a:r>
            <a:r>
              <a:rPr lang="zh-CN" altLang="en-US" sz="2000" dirty="0" smtClean="0"/>
              <a:t>的输入通道多达 </a:t>
            </a:r>
            <a:r>
              <a:rPr lang="en-US" altLang="zh-CN" sz="2000" dirty="0" smtClean="0"/>
              <a:t>18 </a:t>
            </a:r>
            <a:r>
              <a:rPr lang="zh-CN" altLang="en-US" sz="2000" dirty="0" smtClean="0"/>
              <a:t>个，其中外部的</a:t>
            </a:r>
            <a:r>
              <a:rPr lang="en-US" altLang="zh-CN" sz="2000" dirty="0" smtClean="0"/>
              <a:t>16</a:t>
            </a:r>
            <a:r>
              <a:rPr lang="zh-CN" altLang="en-US" sz="2000" dirty="0" smtClean="0"/>
              <a:t>个通道就是框 图中的</a:t>
            </a:r>
            <a:r>
              <a:rPr lang="en-US" altLang="zh-CN" sz="2000" dirty="0" smtClean="0"/>
              <a:t>ADCx_IN0</a:t>
            </a:r>
            <a:r>
              <a:rPr lang="zh-CN" altLang="en-US" sz="2000" dirty="0" smtClean="0"/>
              <a:t>、    </a:t>
            </a:r>
            <a:r>
              <a:rPr lang="en-US" altLang="zh-CN" sz="2000" dirty="0" smtClean="0"/>
              <a:t>ADCx_IN1...ADCx_IN5</a:t>
            </a:r>
            <a:r>
              <a:rPr lang="zh-CN" altLang="en-US" sz="2000" dirty="0" smtClean="0"/>
              <a:t>（</a:t>
            </a:r>
            <a:r>
              <a:rPr lang="en-US" altLang="zh-CN" sz="2000" dirty="0" smtClean="0"/>
              <a:t>x=1/2/3</a:t>
            </a:r>
            <a:r>
              <a:rPr lang="zh-CN" altLang="en-US" sz="2000" dirty="0" smtClean="0"/>
              <a:t>，表示</a:t>
            </a:r>
            <a:r>
              <a:rPr lang="en-US" altLang="zh-CN" sz="2000" dirty="0" smtClean="0"/>
              <a:t>ADC</a:t>
            </a:r>
            <a:r>
              <a:rPr lang="zh-CN" altLang="en-US" sz="2000" dirty="0" smtClean="0"/>
              <a:t>数），通过这</a:t>
            </a:r>
            <a:r>
              <a:rPr lang="en-US" altLang="zh-CN" sz="2000" dirty="0" smtClean="0"/>
              <a:t>16</a:t>
            </a:r>
            <a:r>
              <a:rPr lang="zh-CN" altLang="en-US" sz="2000" dirty="0" smtClean="0"/>
              <a:t>个外部通道可以采集模拟信号。这 </a:t>
            </a:r>
            <a:r>
              <a:rPr lang="en-US" altLang="zh-CN" sz="2000" dirty="0" smtClean="0"/>
              <a:t>16 </a:t>
            </a:r>
            <a:r>
              <a:rPr lang="zh-CN" altLang="en-US" sz="2000" dirty="0" smtClean="0"/>
              <a:t>个通道对应着不同的</a:t>
            </a:r>
            <a:r>
              <a:rPr lang="en-US" altLang="zh-CN" sz="2000" dirty="0" smtClean="0"/>
              <a:t>IO</a:t>
            </a:r>
            <a:r>
              <a:rPr lang="zh-CN" altLang="en-US" sz="2000" dirty="0" smtClean="0"/>
              <a:t>口，具体是哪一个</a:t>
            </a:r>
            <a:r>
              <a:rPr lang="en-US" altLang="zh-CN" sz="2000" dirty="0" smtClean="0"/>
              <a:t>IO</a:t>
            </a:r>
            <a:r>
              <a:rPr lang="zh-CN" altLang="en-US" sz="2000" dirty="0" smtClean="0"/>
              <a:t>口可以从数据手册查询到。其中 </a:t>
            </a:r>
            <a:r>
              <a:rPr lang="en-US" altLang="zh-CN" sz="2000" dirty="0" smtClean="0"/>
              <a:t>ADC1 </a:t>
            </a:r>
            <a:r>
              <a:rPr lang="zh-CN" altLang="en-US" sz="2000" dirty="0" smtClean="0"/>
              <a:t>还有</a:t>
            </a:r>
            <a:r>
              <a:rPr lang="en-US" altLang="zh-CN" sz="2000" dirty="0" smtClean="0"/>
              <a:t>2 </a:t>
            </a:r>
            <a:r>
              <a:rPr lang="zh-CN" altLang="en-US" sz="2000" dirty="0" smtClean="0"/>
              <a:t>个内部通道：</a:t>
            </a:r>
            <a:r>
              <a:rPr lang="en-US" altLang="zh-CN" sz="2000" dirty="0" smtClean="0"/>
              <a:t>ADC1 </a:t>
            </a:r>
            <a:r>
              <a:rPr lang="zh-CN" altLang="en-US" sz="2000" dirty="0" smtClean="0"/>
              <a:t>的通道</a:t>
            </a:r>
            <a:r>
              <a:rPr lang="en-US" altLang="zh-CN" sz="2000" dirty="0" smtClean="0"/>
              <a:t>16</a:t>
            </a:r>
            <a:r>
              <a:rPr lang="zh-CN" altLang="en-US" sz="2000" dirty="0" smtClean="0"/>
              <a:t>连接到了芯片内部的温度传感器，通道</a:t>
            </a:r>
            <a:r>
              <a:rPr lang="en-US" altLang="zh-CN" sz="2000" dirty="0" smtClean="0"/>
              <a:t>17</a:t>
            </a:r>
            <a:r>
              <a:rPr lang="zh-CN" altLang="en-US" sz="2000" dirty="0" smtClean="0"/>
              <a:t>连接到了内部参考电压 </a:t>
            </a:r>
            <a:r>
              <a:rPr lang="en-US" altLang="zh-CN" sz="2000" dirty="0" smtClean="0"/>
              <a:t>VREFINT</a:t>
            </a:r>
            <a:r>
              <a:rPr lang="zh-CN" altLang="en-US" sz="2000" dirty="0" smtClean="0"/>
              <a:t>。</a:t>
            </a:r>
            <a:r>
              <a:rPr lang="en-US" altLang="zh-CN" sz="2000" dirty="0" smtClean="0"/>
              <a:t>ADC2 </a:t>
            </a:r>
            <a:r>
              <a:rPr lang="zh-CN" altLang="en-US" sz="2000" dirty="0" smtClean="0"/>
              <a:t>和</a:t>
            </a:r>
            <a:r>
              <a:rPr lang="en-US" altLang="zh-CN" sz="2000" dirty="0" smtClean="0"/>
              <a:t>ADC3</a:t>
            </a:r>
            <a:r>
              <a:rPr lang="zh-CN" altLang="en-US" sz="2000" dirty="0" smtClean="0"/>
              <a:t>的通道 </a:t>
            </a:r>
            <a:r>
              <a:rPr lang="en-US" altLang="zh-CN" sz="2000" dirty="0" smtClean="0"/>
              <a:t>16</a:t>
            </a:r>
            <a:r>
              <a:rPr lang="zh-CN" altLang="en-US" sz="2000" dirty="0" smtClean="0"/>
              <a:t>、</a:t>
            </a:r>
            <a:r>
              <a:rPr lang="en-US" altLang="zh-CN" sz="2000" dirty="0" smtClean="0"/>
              <a:t>17</a:t>
            </a:r>
            <a:r>
              <a:rPr lang="zh-CN" altLang="en-US" sz="2000" dirty="0" smtClean="0"/>
              <a:t>全部连接到 了内部的 </a:t>
            </a:r>
            <a:r>
              <a:rPr lang="en-US" altLang="zh-CN" sz="2000" dirty="0" smtClean="0"/>
              <a:t>VSS</a:t>
            </a:r>
            <a:r>
              <a:rPr lang="zh-CN" altLang="en-US" sz="2000" dirty="0" smtClean="0"/>
              <a:t>。</a:t>
            </a:r>
          </a:p>
          <a:p>
            <a:pPr>
              <a:lnSpc>
                <a:spcPct val="150000"/>
              </a:lnSpc>
            </a:pPr>
            <a:endParaRPr lang="zh-CN" altLang="en-US"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8734" y="629731"/>
            <a:ext cx="10891935" cy="4538422"/>
          </a:xfrm>
          <a:prstGeom prst="rect">
            <a:avLst/>
          </a:prstGeom>
        </p:spPr>
        <p:txBody>
          <a:bodyPr wrap="square">
            <a:spAutoFit/>
          </a:bodyPr>
          <a:lstStyle/>
          <a:p>
            <a:pPr>
              <a:lnSpc>
                <a:spcPct val="150000"/>
              </a:lnSpc>
              <a:buClr>
                <a:srgbClr val="7030A0"/>
              </a:buClr>
              <a:buFont typeface="Wingdings" pitchFamily="2" charset="2"/>
              <a:buChar char="u"/>
            </a:pPr>
            <a:r>
              <a:rPr lang="zh-CN" altLang="en-US" sz="2800" b="1" dirty="0" smtClean="0">
                <a:solidFill>
                  <a:srgbClr val="7030A0"/>
                </a:solidFill>
              </a:rPr>
              <a:t>（</a:t>
            </a:r>
            <a:r>
              <a:rPr lang="en-US" altLang="zh-CN" sz="2800" b="1" dirty="0" smtClean="0">
                <a:solidFill>
                  <a:srgbClr val="7030A0"/>
                </a:solidFill>
              </a:rPr>
              <a:t>3</a:t>
            </a:r>
            <a:r>
              <a:rPr lang="zh-CN" altLang="en-US" sz="2800" b="1" dirty="0" smtClean="0">
                <a:solidFill>
                  <a:srgbClr val="7030A0"/>
                </a:solidFill>
              </a:rPr>
              <a:t>）标号</a:t>
            </a:r>
            <a:r>
              <a:rPr lang="en-US" altLang="zh-CN" sz="2800" b="1" dirty="0" smtClean="0">
                <a:solidFill>
                  <a:srgbClr val="7030A0"/>
                </a:solidFill>
              </a:rPr>
              <a:t>3</a:t>
            </a:r>
            <a:r>
              <a:rPr lang="zh-CN" altLang="en-US" sz="2800" b="1" dirty="0" smtClean="0">
                <a:solidFill>
                  <a:srgbClr val="7030A0"/>
                </a:solidFill>
              </a:rPr>
              <a:t>：通道转换顺序</a:t>
            </a:r>
          </a:p>
          <a:p>
            <a:pPr>
              <a:lnSpc>
                <a:spcPct val="150000"/>
              </a:lnSpc>
            </a:pPr>
            <a:r>
              <a:rPr lang="zh-CN" altLang="en-US" sz="2800" dirty="0" smtClean="0"/>
              <a:t>　　外部的 </a:t>
            </a:r>
            <a:r>
              <a:rPr lang="en-US" altLang="zh-CN" sz="2800" dirty="0" smtClean="0"/>
              <a:t>16 </a:t>
            </a:r>
            <a:r>
              <a:rPr lang="zh-CN" altLang="en-US" sz="2800" dirty="0" smtClean="0"/>
              <a:t>个通道在转换的时候可分为</a:t>
            </a:r>
            <a:r>
              <a:rPr lang="en-US" altLang="zh-CN" sz="2800" dirty="0" smtClean="0"/>
              <a:t>2</a:t>
            </a:r>
            <a:r>
              <a:rPr lang="zh-CN" altLang="en-US" sz="2800" dirty="0" smtClean="0"/>
              <a:t>组通道：</a:t>
            </a:r>
            <a:r>
              <a:rPr lang="zh-CN" altLang="en-US" sz="2800" b="1" dirty="0" smtClean="0">
                <a:solidFill>
                  <a:srgbClr val="0070C0"/>
                </a:solidFill>
              </a:rPr>
              <a:t>规则通道组</a:t>
            </a:r>
            <a:r>
              <a:rPr lang="zh-CN" altLang="en-US" sz="2800" dirty="0" smtClean="0"/>
              <a:t>和</a:t>
            </a:r>
            <a:r>
              <a:rPr lang="zh-CN" altLang="en-US" sz="2800" b="1" dirty="0" smtClean="0">
                <a:solidFill>
                  <a:srgbClr val="0070C0"/>
                </a:solidFill>
              </a:rPr>
              <a:t>注入通道组</a:t>
            </a:r>
            <a:r>
              <a:rPr lang="zh-CN" altLang="en-US" sz="2800" dirty="0" smtClean="0"/>
              <a:t>，其中规则通道组最多有</a:t>
            </a:r>
            <a:r>
              <a:rPr lang="en-US" altLang="zh-CN" sz="2800" dirty="0" smtClean="0"/>
              <a:t>16</a:t>
            </a:r>
            <a:r>
              <a:rPr lang="zh-CN" altLang="en-US" sz="2800" dirty="0" smtClean="0"/>
              <a:t>路，注入通道组最多有 </a:t>
            </a:r>
            <a:r>
              <a:rPr lang="en-US" altLang="zh-CN" sz="2800" dirty="0" smtClean="0"/>
              <a:t>4 </a:t>
            </a:r>
            <a:r>
              <a:rPr lang="zh-CN" altLang="en-US" sz="2800" dirty="0" smtClean="0"/>
              <a:t>路每个组包含一个转换序列，该序列可按任意顺序在任意通道上完成。 例如，可按以下顺序对序列进行转换： </a:t>
            </a:r>
            <a:r>
              <a:rPr lang="en-US" altLang="zh-CN" sz="2800" dirty="0" smtClean="0"/>
              <a:t>ADC_IN3</a:t>
            </a:r>
            <a:r>
              <a:rPr lang="zh-CN" altLang="en-US" sz="2800" dirty="0" smtClean="0"/>
              <a:t>、</a:t>
            </a:r>
            <a:r>
              <a:rPr lang="en-US" altLang="zh-CN" sz="2800" dirty="0" smtClean="0"/>
              <a:t>ADC_IN8</a:t>
            </a:r>
            <a:r>
              <a:rPr lang="zh-CN" altLang="en-US" sz="2800" dirty="0" smtClean="0"/>
              <a:t>、 </a:t>
            </a:r>
            <a:r>
              <a:rPr lang="en-US" altLang="zh-CN" sz="2800" dirty="0" smtClean="0"/>
              <a:t>ADC_IN2</a:t>
            </a:r>
            <a:r>
              <a:rPr lang="zh-CN" altLang="en-US" sz="2800" dirty="0" smtClean="0"/>
              <a:t>、 </a:t>
            </a:r>
            <a:r>
              <a:rPr lang="en-US" altLang="zh-CN" sz="2800" dirty="0" smtClean="0"/>
              <a:t>ADC_IN2</a:t>
            </a:r>
            <a:r>
              <a:rPr lang="zh-CN" altLang="en-US" sz="2800" dirty="0" smtClean="0"/>
              <a:t>、 </a:t>
            </a:r>
            <a:r>
              <a:rPr lang="en-US" altLang="zh-CN" sz="2800" dirty="0" smtClean="0"/>
              <a:t>ADC_IN0</a:t>
            </a:r>
            <a:r>
              <a:rPr lang="zh-CN" altLang="en-US" sz="2800" dirty="0" smtClean="0"/>
              <a:t>、 </a:t>
            </a:r>
            <a:r>
              <a:rPr lang="en-US" altLang="zh-CN" sz="2800" dirty="0" smtClean="0"/>
              <a:t>ADC_IN2</a:t>
            </a:r>
            <a:r>
              <a:rPr lang="zh-CN" altLang="en-US" sz="2800" dirty="0" smtClean="0"/>
              <a:t>、 </a:t>
            </a:r>
            <a:r>
              <a:rPr lang="en-US" altLang="zh-CN" sz="2800" dirty="0" smtClean="0"/>
              <a:t>ADC_IN2</a:t>
            </a:r>
            <a:r>
              <a:rPr lang="zh-CN" altLang="en-US" sz="2800" dirty="0" smtClean="0"/>
              <a:t>、 </a:t>
            </a:r>
            <a:r>
              <a:rPr lang="en-US" altLang="zh-CN" sz="2800" dirty="0" smtClean="0"/>
              <a:t>ADC_IN15</a:t>
            </a:r>
            <a:r>
              <a:rPr lang="zh-CN" altLang="en-US" sz="2800" dirty="0" smtClean="0"/>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8096" y="314522"/>
            <a:ext cx="11433831" cy="6555641"/>
          </a:xfrm>
          <a:prstGeom prst="rect">
            <a:avLst/>
          </a:prstGeom>
        </p:spPr>
        <p:txBody>
          <a:bodyPr wrap="square">
            <a:spAutoFit/>
          </a:bodyPr>
          <a:lstStyle/>
          <a:p>
            <a:pPr>
              <a:lnSpc>
                <a:spcPct val="150000"/>
              </a:lnSpc>
              <a:buClr>
                <a:srgbClr val="7030A0"/>
              </a:buClr>
              <a:buFont typeface="Wingdings" pitchFamily="2" charset="2"/>
              <a:buChar char="u"/>
            </a:pPr>
            <a:r>
              <a:rPr lang="zh-CN" altLang="en-US" sz="2400" b="1" dirty="0" smtClean="0">
                <a:solidFill>
                  <a:srgbClr val="7030A0"/>
                </a:solidFill>
              </a:rPr>
              <a:t>（</a:t>
            </a:r>
            <a:r>
              <a:rPr lang="en-US" altLang="zh-CN" sz="2400" b="1" dirty="0" smtClean="0">
                <a:solidFill>
                  <a:srgbClr val="7030A0"/>
                </a:solidFill>
              </a:rPr>
              <a:t>4</a:t>
            </a:r>
            <a:r>
              <a:rPr lang="zh-CN" altLang="en-US" sz="2400" b="1" dirty="0" smtClean="0">
                <a:solidFill>
                  <a:srgbClr val="7030A0"/>
                </a:solidFill>
              </a:rPr>
              <a:t>）标号</a:t>
            </a:r>
            <a:r>
              <a:rPr lang="en-US" altLang="zh-CN" sz="2400" b="1" dirty="0" smtClean="0">
                <a:solidFill>
                  <a:srgbClr val="7030A0"/>
                </a:solidFill>
              </a:rPr>
              <a:t>4</a:t>
            </a:r>
            <a:r>
              <a:rPr lang="zh-CN" altLang="en-US" sz="2400" b="1" dirty="0" smtClean="0">
                <a:solidFill>
                  <a:srgbClr val="7030A0"/>
                </a:solidFill>
              </a:rPr>
              <a:t>：触发源（外部触发和软件触发）</a:t>
            </a:r>
            <a:endParaRPr lang="en-US" altLang="zh-CN" sz="2400" b="1" dirty="0" smtClean="0">
              <a:solidFill>
                <a:srgbClr val="7030A0"/>
              </a:solidFill>
            </a:endParaRPr>
          </a:p>
          <a:p>
            <a:pPr>
              <a:lnSpc>
                <a:spcPct val="150000"/>
              </a:lnSpc>
            </a:pPr>
            <a:r>
              <a:rPr lang="zh-CN" altLang="en-US" sz="2400" dirty="0" smtClean="0"/>
              <a:t>     </a:t>
            </a:r>
            <a:r>
              <a:rPr lang="zh-CN" altLang="en-US" sz="2000" dirty="0" smtClean="0"/>
              <a:t>选择好输入通道，设置好转换顺序，接下来就可以开始转换。要开启 </a:t>
            </a:r>
            <a:r>
              <a:rPr lang="en-US" altLang="zh-CN" sz="2000" dirty="0" smtClean="0"/>
              <a:t>ADC</a:t>
            </a:r>
            <a:r>
              <a:rPr lang="zh-CN" altLang="en-US" sz="2000" dirty="0" smtClean="0"/>
              <a:t>转换，</a:t>
            </a:r>
            <a:r>
              <a:rPr lang="zh-CN" altLang="en-US" sz="2000" b="1" dirty="0" smtClean="0">
                <a:solidFill>
                  <a:srgbClr val="0070C0"/>
                </a:solidFill>
              </a:rPr>
              <a:t>可以直接设置</a:t>
            </a:r>
            <a:r>
              <a:rPr lang="en-US" altLang="zh-CN" sz="2000" b="1" dirty="0" smtClean="0">
                <a:solidFill>
                  <a:srgbClr val="0070C0"/>
                </a:solidFill>
              </a:rPr>
              <a:t>ADC </a:t>
            </a:r>
            <a:r>
              <a:rPr lang="zh-CN" altLang="en-US" sz="2000" b="1" dirty="0" smtClean="0">
                <a:solidFill>
                  <a:srgbClr val="0070C0"/>
                </a:solidFill>
              </a:rPr>
              <a:t>控制寄存器</a:t>
            </a:r>
            <a:r>
              <a:rPr lang="en-US" altLang="zh-CN" sz="2000" b="1" dirty="0" smtClean="0">
                <a:solidFill>
                  <a:srgbClr val="0070C0"/>
                </a:solidFill>
              </a:rPr>
              <a:t>ADC_CR2 </a:t>
            </a:r>
            <a:r>
              <a:rPr lang="zh-CN" altLang="en-US" sz="2000" b="1" dirty="0" smtClean="0">
                <a:solidFill>
                  <a:srgbClr val="0070C0"/>
                </a:solidFill>
              </a:rPr>
              <a:t>的 </a:t>
            </a:r>
            <a:r>
              <a:rPr lang="en-US" altLang="zh-CN" sz="2000" b="1" dirty="0" smtClean="0">
                <a:solidFill>
                  <a:srgbClr val="0070C0"/>
                </a:solidFill>
              </a:rPr>
              <a:t>ADON</a:t>
            </a:r>
            <a:r>
              <a:rPr lang="zh-CN" altLang="en-US" sz="2000" b="1" dirty="0" smtClean="0">
                <a:solidFill>
                  <a:srgbClr val="0070C0"/>
                </a:solidFill>
              </a:rPr>
              <a:t>位为</a:t>
            </a:r>
            <a:r>
              <a:rPr lang="en-US" altLang="zh-CN" sz="2000" b="1" dirty="0" smtClean="0">
                <a:solidFill>
                  <a:srgbClr val="0070C0"/>
                </a:solidFill>
              </a:rPr>
              <a:t>1</a:t>
            </a:r>
            <a:r>
              <a:rPr lang="zh-CN" altLang="en-US" sz="2000" b="1" dirty="0" smtClean="0">
                <a:solidFill>
                  <a:srgbClr val="0070C0"/>
                </a:solidFill>
              </a:rPr>
              <a:t>，即使能</a:t>
            </a:r>
            <a:r>
              <a:rPr lang="en-US" altLang="zh-CN" sz="2000" b="1" dirty="0" smtClean="0">
                <a:solidFill>
                  <a:srgbClr val="0070C0"/>
                </a:solidFill>
              </a:rPr>
              <a:t>ADC</a:t>
            </a:r>
            <a:r>
              <a:rPr lang="zh-CN" altLang="en-US" sz="2000" dirty="0" smtClean="0">
                <a:solidFill>
                  <a:srgbClr val="0070C0"/>
                </a:solidFill>
              </a:rPr>
              <a:t>。</a:t>
            </a:r>
            <a:r>
              <a:rPr lang="zh-CN" altLang="en-US" sz="2000" dirty="0" smtClean="0"/>
              <a:t>当然</a:t>
            </a:r>
            <a:r>
              <a:rPr lang="en-US" altLang="zh-CN" sz="2000" b="1" dirty="0" smtClean="0">
                <a:solidFill>
                  <a:srgbClr val="0070C0"/>
                </a:solidFill>
              </a:rPr>
              <a:t>ADC</a:t>
            </a:r>
            <a:r>
              <a:rPr lang="zh-CN" altLang="en-US" sz="2000" b="1" dirty="0" smtClean="0">
                <a:solidFill>
                  <a:srgbClr val="0070C0"/>
                </a:solidFill>
              </a:rPr>
              <a:t>还支持外部事件触发转换，</a:t>
            </a:r>
            <a:r>
              <a:rPr lang="zh-CN" altLang="en-US" sz="2000" dirty="0" smtClean="0"/>
              <a:t>触发源有很多，具体选择哪一种触发源，由</a:t>
            </a:r>
            <a:r>
              <a:rPr lang="en-US" altLang="zh-CN" sz="2000" dirty="0" smtClean="0"/>
              <a:t>ADC </a:t>
            </a:r>
            <a:r>
              <a:rPr lang="zh-CN" altLang="en-US" sz="2000" dirty="0" smtClean="0"/>
              <a:t>控制寄存器</a:t>
            </a:r>
            <a:r>
              <a:rPr lang="en-US" altLang="zh-CN" sz="2000" dirty="0" smtClean="0"/>
              <a:t>2:ADC_CR2 </a:t>
            </a:r>
            <a:r>
              <a:rPr lang="zh-CN" altLang="en-US" sz="2000" dirty="0" smtClean="0"/>
              <a:t>的 </a:t>
            </a:r>
            <a:r>
              <a:rPr lang="en-US" altLang="zh-CN" sz="2000" dirty="0" smtClean="0"/>
              <a:t>EXTSEL[2:0]</a:t>
            </a:r>
            <a:r>
              <a:rPr lang="zh-CN" altLang="en-US" sz="2000" dirty="0" smtClean="0"/>
              <a:t>和 </a:t>
            </a:r>
            <a:r>
              <a:rPr lang="en-US" altLang="zh-CN" sz="2000" dirty="0" smtClean="0"/>
              <a:t>JEXTSEL[2:0]</a:t>
            </a:r>
            <a:r>
              <a:rPr lang="zh-CN" altLang="en-US" sz="2000" dirty="0" smtClean="0"/>
              <a:t>位来控制。</a:t>
            </a:r>
            <a:r>
              <a:rPr lang="en-US" altLang="zh-CN" sz="2000" b="1" dirty="0" smtClean="0">
                <a:solidFill>
                  <a:srgbClr val="0070C0"/>
                </a:solidFill>
              </a:rPr>
              <a:t>EXTSEL[2:0]</a:t>
            </a:r>
            <a:r>
              <a:rPr lang="zh-CN" altLang="en-US" sz="2000" b="1" dirty="0" smtClean="0">
                <a:solidFill>
                  <a:srgbClr val="0070C0"/>
                </a:solidFill>
              </a:rPr>
              <a:t>用于选择规则通道的触发源， </a:t>
            </a:r>
            <a:r>
              <a:rPr lang="en-US" altLang="zh-CN" sz="2000" b="1" dirty="0" smtClean="0">
                <a:solidFill>
                  <a:srgbClr val="0070C0"/>
                </a:solidFill>
              </a:rPr>
              <a:t>JEXTSEL[2:0]</a:t>
            </a:r>
            <a:r>
              <a:rPr lang="zh-CN" altLang="en-US" sz="2000" b="1" dirty="0" smtClean="0">
                <a:solidFill>
                  <a:srgbClr val="0070C0"/>
                </a:solidFill>
              </a:rPr>
              <a:t>用于选择注入通道的触发源。</a:t>
            </a:r>
            <a:r>
              <a:rPr lang="zh-CN" altLang="en-US" sz="2000" dirty="0" smtClean="0"/>
              <a:t>选定好触发源之后，</a:t>
            </a:r>
            <a:r>
              <a:rPr lang="zh-CN" altLang="en-US" sz="2000" b="1" dirty="0" smtClean="0">
                <a:solidFill>
                  <a:srgbClr val="0070C0"/>
                </a:solidFill>
              </a:rPr>
              <a:t>触发源是否要激活，则由 </a:t>
            </a:r>
            <a:r>
              <a:rPr lang="en-US" altLang="zh-CN" sz="2000" b="1" dirty="0" smtClean="0">
                <a:solidFill>
                  <a:srgbClr val="0070C0"/>
                </a:solidFill>
              </a:rPr>
              <a:t>ADC </a:t>
            </a:r>
            <a:r>
              <a:rPr lang="zh-CN" altLang="en-US" sz="2000" b="1" dirty="0" smtClean="0">
                <a:solidFill>
                  <a:srgbClr val="0070C0"/>
                </a:solidFill>
              </a:rPr>
              <a:t>控制寄存器</a:t>
            </a:r>
            <a:r>
              <a:rPr lang="en-US" altLang="zh-CN" sz="2000" b="1" dirty="0" smtClean="0">
                <a:solidFill>
                  <a:srgbClr val="0070C0"/>
                </a:solidFill>
              </a:rPr>
              <a:t>ADC_CR2 </a:t>
            </a:r>
            <a:r>
              <a:rPr lang="zh-CN" altLang="en-US" sz="2000" b="1" dirty="0" smtClean="0">
                <a:solidFill>
                  <a:srgbClr val="0070C0"/>
                </a:solidFill>
              </a:rPr>
              <a:t>的 </a:t>
            </a:r>
            <a:r>
              <a:rPr lang="en-US" altLang="zh-CN" sz="2000" b="1" dirty="0" smtClean="0">
                <a:solidFill>
                  <a:srgbClr val="0070C0"/>
                </a:solidFill>
              </a:rPr>
              <a:t>EXTTRIG </a:t>
            </a:r>
            <a:r>
              <a:rPr lang="zh-CN" altLang="en-US" sz="2000" b="1" dirty="0" smtClean="0">
                <a:solidFill>
                  <a:srgbClr val="0070C0"/>
                </a:solidFill>
              </a:rPr>
              <a:t>和 </a:t>
            </a:r>
            <a:r>
              <a:rPr lang="en-US" altLang="zh-CN" sz="2000" b="1" dirty="0" smtClean="0">
                <a:solidFill>
                  <a:srgbClr val="0070C0"/>
                </a:solidFill>
              </a:rPr>
              <a:t>JEXTTRIG </a:t>
            </a:r>
            <a:r>
              <a:rPr lang="zh-CN" altLang="en-US" sz="2000" b="1" dirty="0" smtClean="0">
                <a:solidFill>
                  <a:srgbClr val="0070C0"/>
                </a:solidFill>
              </a:rPr>
              <a:t>这两位来激活。</a:t>
            </a:r>
            <a:r>
              <a:rPr lang="zh-CN" altLang="en-US" sz="2000" dirty="0" smtClean="0"/>
              <a:t>如果使能了外部触发事件，我们还可以通过设置 </a:t>
            </a:r>
            <a:r>
              <a:rPr lang="en-US" altLang="zh-CN" sz="2000" dirty="0" smtClean="0"/>
              <a:t>ADC </a:t>
            </a:r>
            <a:r>
              <a:rPr lang="zh-CN" altLang="en-US" sz="2000" dirty="0" smtClean="0"/>
              <a:t>控制寄存器 </a:t>
            </a:r>
            <a:r>
              <a:rPr lang="en-US" altLang="zh-CN" sz="2000" dirty="0" smtClean="0"/>
              <a:t>2:ADC_CR2 </a:t>
            </a:r>
            <a:r>
              <a:rPr lang="zh-CN" altLang="en-US" sz="2000" dirty="0" smtClean="0"/>
              <a:t>的</a:t>
            </a:r>
            <a:r>
              <a:rPr lang="en-US" altLang="zh-CN" sz="2000" dirty="0" smtClean="0"/>
              <a:t>EXTEN[1:0]</a:t>
            </a:r>
            <a:r>
              <a:rPr lang="zh-CN" altLang="en-US" sz="2000" dirty="0" smtClean="0"/>
              <a:t>和</a:t>
            </a:r>
            <a:r>
              <a:rPr lang="en-US" altLang="zh-CN" sz="2000" dirty="0" smtClean="0"/>
              <a:t>JEXTEN[1:0]</a:t>
            </a:r>
            <a:r>
              <a:rPr lang="zh-CN" altLang="en-US" sz="2000" dirty="0" smtClean="0"/>
              <a:t>来控制触发极性，可以有 </a:t>
            </a:r>
            <a:r>
              <a:rPr lang="en-US" altLang="zh-CN" sz="2000" dirty="0" smtClean="0"/>
              <a:t>4 </a:t>
            </a:r>
            <a:r>
              <a:rPr lang="zh-CN" altLang="en-US" sz="2000" dirty="0" smtClean="0"/>
              <a:t>种 状态，分别是：禁止触发检测、上升沿检测、下降沿检测以及上升沿和下降沿均检测。</a:t>
            </a:r>
            <a:endParaRPr lang="en-US" altLang="zh-CN" sz="2000" dirty="0" smtClean="0"/>
          </a:p>
          <a:p>
            <a:pPr>
              <a:lnSpc>
                <a:spcPct val="150000"/>
              </a:lnSpc>
            </a:pPr>
            <a:endParaRPr lang="en-US" altLang="zh-CN" sz="2400" b="1" dirty="0" smtClean="0">
              <a:solidFill>
                <a:srgbClr val="0070C0"/>
              </a:solidFill>
            </a:endParaRPr>
          </a:p>
          <a:p>
            <a:pPr>
              <a:lnSpc>
                <a:spcPct val="150000"/>
              </a:lnSpc>
            </a:pPr>
            <a:r>
              <a:rPr lang="zh-CN" altLang="en-US" sz="2400" b="1" dirty="0" smtClean="0">
                <a:solidFill>
                  <a:srgbClr val="0070C0"/>
                </a:solidFill>
              </a:rPr>
              <a:t>注意：当外部触发信号被选为</a:t>
            </a:r>
            <a:r>
              <a:rPr lang="en-US" altLang="zh-CN" sz="2400" b="1" dirty="0" smtClean="0">
                <a:solidFill>
                  <a:srgbClr val="0070C0"/>
                </a:solidFill>
              </a:rPr>
              <a:t>ADC</a:t>
            </a:r>
            <a:r>
              <a:rPr lang="zh-CN" altLang="en-US" sz="2400" b="1" dirty="0" smtClean="0">
                <a:solidFill>
                  <a:srgbClr val="0070C0"/>
                </a:solidFill>
              </a:rPr>
              <a:t>规则或注入转换时，只有它的上升沿可以启动转换。</a:t>
            </a:r>
            <a:endParaRPr lang="en-US" altLang="zh-CN" sz="2400" b="1" dirty="0" smtClean="0">
              <a:solidFill>
                <a:srgbClr val="0070C0"/>
              </a:solidFill>
            </a:endParaRPr>
          </a:p>
          <a:p>
            <a:pPr>
              <a:lnSpc>
                <a:spcPct val="150000"/>
              </a:lnSpc>
            </a:pPr>
            <a:r>
              <a:rPr lang="zh-CN" altLang="en-US" sz="2000" dirty="0" smtClean="0"/>
              <a:t>      </a:t>
            </a:r>
            <a:endParaRPr lang="zh-CN" alt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p:cNvPicPr>
            <a:picLocks noChangeAspect="1" noChangeArrowheads="1"/>
          </p:cNvPicPr>
          <p:nvPr/>
        </p:nvPicPr>
        <p:blipFill>
          <a:blip r:embed="rId2"/>
          <a:srcRect/>
          <a:stretch>
            <a:fillRect/>
          </a:stretch>
        </p:blipFill>
        <p:spPr bwMode="auto">
          <a:xfrm>
            <a:off x="980491" y="895931"/>
            <a:ext cx="9847917" cy="3704059"/>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p:cNvPicPr>
            <a:picLocks noChangeAspect="1" noChangeArrowheads="1"/>
          </p:cNvPicPr>
          <p:nvPr/>
        </p:nvPicPr>
        <p:blipFill>
          <a:blip r:embed="rId2"/>
          <a:srcRect/>
          <a:stretch>
            <a:fillRect/>
          </a:stretch>
        </p:blipFill>
        <p:spPr bwMode="auto">
          <a:xfrm>
            <a:off x="1024164" y="1309460"/>
            <a:ext cx="10402937" cy="393434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1371" y="612973"/>
            <a:ext cx="10873273" cy="5909310"/>
          </a:xfrm>
          <a:prstGeom prst="rect">
            <a:avLst/>
          </a:prstGeom>
        </p:spPr>
        <p:txBody>
          <a:bodyPr wrap="square">
            <a:spAutoFit/>
          </a:bodyPr>
          <a:lstStyle/>
          <a:p>
            <a:pPr>
              <a:lnSpc>
                <a:spcPct val="150000"/>
              </a:lnSpc>
              <a:buClr>
                <a:srgbClr val="7030A0"/>
              </a:buClr>
              <a:buFont typeface="Wingdings" pitchFamily="2" charset="2"/>
              <a:buChar char="u"/>
            </a:pPr>
            <a:r>
              <a:rPr lang="zh-CN" altLang="en-US" b="1" dirty="0" smtClean="0">
                <a:solidFill>
                  <a:srgbClr val="7030A0"/>
                </a:solidFill>
              </a:rPr>
              <a:t>（</a:t>
            </a:r>
            <a:r>
              <a:rPr lang="en-US" altLang="zh-CN" b="1" dirty="0" smtClean="0">
                <a:solidFill>
                  <a:srgbClr val="7030A0"/>
                </a:solidFill>
              </a:rPr>
              <a:t>5</a:t>
            </a:r>
            <a:r>
              <a:rPr lang="zh-CN" altLang="en-US" b="1" dirty="0" smtClean="0">
                <a:solidFill>
                  <a:srgbClr val="7030A0"/>
                </a:solidFill>
              </a:rPr>
              <a:t>）标号</a:t>
            </a:r>
            <a:r>
              <a:rPr lang="en-US" altLang="zh-CN" b="1" dirty="0" smtClean="0">
                <a:solidFill>
                  <a:srgbClr val="7030A0"/>
                </a:solidFill>
              </a:rPr>
              <a:t>5</a:t>
            </a:r>
            <a:r>
              <a:rPr lang="zh-CN" altLang="en-US" b="1" dirty="0" smtClean="0">
                <a:solidFill>
                  <a:srgbClr val="7030A0"/>
                </a:solidFill>
              </a:rPr>
              <a:t>：</a:t>
            </a:r>
            <a:r>
              <a:rPr lang="en-US" altLang="zh-CN" b="1" dirty="0" smtClean="0">
                <a:solidFill>
                  <a:srgbClr val="7030A0"/>
                </a:solidFill>
              </a:rPr>
              <a:t>ADC</a:t>
            </a:r>
            <a:r>
              <a:rPr lang="zh-CN" altLang="en-US" b="1" dirty="0" smtClean="0">
                <a:solidFill>
                  <a:srgbClr val="7030A0"/>
                </a:solidFill>
              </a:rPr>
              <a:t>时钟</a:t>
            </a:r>
            <a:endParaRPr lang="en-US" altLang="zh-CN" b="1" dirty="0" smtClean="0">
              <a:solidFill>
                <a:srgbClr val="7030A0"/>
              </a:solidFill>
            </a:endParaRPr>
          </a:p>
          <a:p>
            <a:pPr>
              <a:lnSpc>
                <a:spcPct val="150000"/>
              </a:lnSpc>
            </a:pPr>
            <a:r>
              <a:rPr lang="en-US" altLang="zh-CN" dirty="0" smtClean="0"/>
              <a:t>      ADC </a:t>
            </a:r>
            <a:r>
              <a:rPr lang="zh-CN" altLang="en-US" dirty="0" smtClean="0"/>
              <a:t>输入时钟 </a:t>
            </a:r>
            <a:r>
              <a:rPr lang="en-US" altLang="zh-CN" dirty="0" smtClean="0"/>
              <a:t>ADC_CLK </a:t>
            </a:r>
            <a:r>
              <a:rPr lang="zh-CN" altLang="en-US" dirty="0" smtClean="0"/>
              <a:t>由 </a:t>
            </a:r>
            <a:r>
              <a:rPr lang="en-US" altLang="zh-CN" dirty="0" smtClean="0"/>
              <a:t>APB2</a:t>
            </a:r>
            <a:r>
              <a:rPr lang="zh-CN" altLang="en-US" dirty="0" smtClean="0"/>
              <a:t>经过分频产生，最大值是</a:t>
            </a:r>
            <a:r>
              <a:rPr lang="en-US" altLang="zh-CN" dirty="0" smtClean="0"/>
              <a:t>14MHz</a:t>
            </a:r>
            <a:r>
              <a:rPr lang="zh-CN" altLang="en-US" dirty="0" smtClean="0"/>
              <a:t>，分频因子由 </a:t>
            </a:r>
            <a:r>
              <a:rPr lang="en-US" altLang="zh-CN" dirty="0" smtClean="0"/>
              <a:t>RCC </a:t>
            </a:r>
            <a:r>
              <a:rPr lang="zh-CN" altLang="en-US" dirty="0" smtClean="0"/>
              <a:t>时钟配置寄存器 </a:t>
            </a:r>
            <a:r>
              <a:rPr lang="en-US" altLang="zh-CN" dirty="0" smtClean="0"/>
              <a:t>RCC_CFGR </a:t>
            </a:r>
            <a:r>
              <a:rPr lang="zh-CN" altLang="en-US" dirty="0" smtClean="0"/>
              <a:t>的位 </a:t>
            </a:r>
            <a:r>
              <a:rPr lang="en-US" altLang="zh-CN" dirty="0" smtClean="0"/>
              <a:t>15:14 ADCPRE[1:0]</a:t>
            </a:r>
            <a:r>
              <a:rPr lang="zh-CN" altLang="en-US" dirty="0" smtClean="0"/>
              <a:t>设置 ，可以是 </a:t>
            </a:r>
            <a:r>
              <a:rPr lang="en-US" altLang="zh-CN" dirty="0" smtClean="0"/>
              <a:t>2/4/6/8 </a:t>
            </a:r>
            <a:r>
              <a:rPr lang="zh-CN" altLang="en-US" dirty="0" smtClean="0"/>
              <a:t>分频，注意这里没有 </a:t>
            </a:r>
            <a:r>
              <a:rPr lang="en-US" altLang="zh-CN" dirty="0" smtClean="0"/>
              <a:t>1 </a:t>
            </a:r>
            <a:r>
              <a:rPr lang="zh-CN" altLang="en-US" dirty="0" smtClean="0"/>
              <a:t>分频。我们知道</a:t>
            </a:r>
            <a:r>
              <a:rPr lang="en-US" altLang="zh-CN" b="1" dirty="0" smtClean="0">
                <a:solidFill>
                  <a:srgbClr val="0070C0"/>
                </a:solidFill>
              </a:rPr>
              <a:t>APB2</a:t>
            </a:r>
            <a:r>
              <a:rPr lang="zh-CN" altLang="en-US" b="1" dirty="0" smtClean="0">
                <a:solidFill>
                  <a:srgbClr val="0070C0"/>
                </a:solidFill>
              </a:rPr>
              <a:t>总线时 钟为</a:t>
            </a:r>
            <a:r>
              <a:rPr lang="en-US" altLang="zh-CN" b="1" dirty="0" smtClean="0">
                <a:solidFill>
                  <a:srgbClr val="0070C0"/>
                </a:solidFill>
              </a:rPr>
              <a:t>72M</a:t>
            </a:r>
            <a:r>
              <a:rPr lang="zh-CN" altLang="en-US" dirty="0" smtClean="0">
                <a:solidFill>
                  <a:srgbClr val="0070C0"/>
                </a:solidFill>
              </a:rPr>
              <a:t>，</a:t>
            </a:r>
            <a:r>
              <a:rPr lang="zh-CN" altLang="en-US" b="1" dirty="0" smtClean="0">
                <a:solidFill>
                  <a:srgbClr val="0070C0"/>
                </a:solidFill>
              </a:rPr>
              <a:t>而</a:t>
            </a:r>
            <a:r>
              <a:rPr lang="en-US" altLang="zh-CN" b="1" dirty="0" smtClean="0">
                <a:solidFill>
                  <a:srgbClr val="0070C0"/>
                </a:solidFill>
              </a:rPr>
              <a:t>ADC</a:t>
            </a:r>
            <a:r>
              <a:rPr lang="zh-CN" altLang="en-US" b="1" dirty="0" smtClean="0">
                <a:solidFill>
                  <a:srgbClr val="0070C0"/>
                </a:solidFill>
              </a:rPr>
              <a:t>最大工作频率为</a:t>
            </a:r>
            <a:r>
              <a:rPr lang="en-US" altLang="zh-CN" b="1" dirty="0" smtClean="0">
                <a:solidFill>
                  <a:srgbClr val="0070C0"/>
                </a:solidFill>
              </a:rPr>
              <a:t>14M</a:t>
            </a:r>
            <a:r>
              <a:rPr lang="zh-CN" altLang="en-US" dirty="0" smtClean="0">
                <a:solidFill>
                  <a:srgbClr val="0070C0"/>
                </a:solidFill>
              </a:rPr>
              <a:t>，</a:t>
            </a:r>
            <a:r>
              <a:rPr lang="zh-CN" altLang="en-US" b="1" dirty="0" smtClean="0">
                <a:solidFill>
                  <a:srgbClr val="0070C0"/>
                </a:solidFill>
              </a:rPr>
              <a:t>所以一般设置分频因子为</a:t>
            </a:r>
            <a:r>
              <a:rPr lang="en-US" altLang="zh-CN" b="1" dirty="0" smtClean="0">
                <a:solidFill>
                  <a:srgbClr val="0070C0"/>
                </a:solidFill>
              </a:rPr>
              <a:t>6</a:t>
            </a:r>
            <a:r>
              <a:rPr lang="zh-CN" altLang="en-US" b="1" dirty="0" smtClean="0">
                <a:solidFill>
                  <a:srgbClr val="0070C0"/>
                </a:solidFill>
              </a:rPr>
              <a:t>，这样 </a:t>
            </a:r>
            <a:r>
              <a:rPr lang="en-US" altLang="zh-CN" b="1" dirty="0" smtClean="0">
                <a:solidFill>
                  <a:srgbClr val="0070C0"/>
                </a:solidFill>
              </a:rPr>
              <a:t>ADC</a:t>
            </a:r>
            <a:r>
              <a:rPr lang="zh-CN" altLang="en-US" b="1" dirty="0" smtClean="0">
                <a:solidFill>
                  <a:srgbClr val="0070C0"/>
                </a:solidFill>
              </a:rPr>
              <a:t>的输入时钟为</a:t>
            </a:r>
            <a:r>
              <a:rPr lang="en-US" altLang="zh-CN" b="1" dirty="0" smtClean="0">
                <a:solidFill>
                  <a:srgbClr val="0070C0"/>
                </a:solidFill>
              </a:rPr>
              <a:t>12MHz</a:t>
            </a:r>
            <a:r>
              <a:rPr lang="zh-CN" altLang="en-US" b="1" dirty="0" smtClean="0">
                <a:solidFill>
                  <a:srgbClr val="0070C0"/>
                </a:solidFill>
              </a:rPr>
              <a:t>。</a:t>
            </a:r>
            <a:endParaRPr lang="en-US" altLang="zh-CN" b="1" dirty="0" smtClean="0">
              <a:solidFill>
                <a:srgbClr val="0070C0"/>
              </a:solidFill>
            </a:endParaRPr>
          </a:p>
          <a:p>
            <a:pPr>
              <a:lnSpc>
                <a:spcPct val="150000"/>
              </a:lnSpc>
            </a:pPr>
            <a:r>
              <a:rPr lang="en-US" altLang="zh-CN" dirty="0" smtClean="0"/>
              <a:t>      </a:t>
            </a:r>
            <a:r>
              <a:rPr lang="en-US" altLang="zh-CN" b="1" dirty="0" smtClean="0">
                <a:solidFill>
                  <a:srgbClr val="0070C0"/>
                </a:solidFill>
              </a:rPr>
              <a:t>ADC</a:t>
            </a:r>
            <a:r>
              <a:rPr lang="zh-CN" altLang="en-US" b="1" dirty="0" smtClean="0">
                <a:solidFill>
                  <a:srgbClr val="0070C0"/>
                </a:solidFill>
              </a:rPr>
              <a:t>要完成对输入电压的采样需要若干个</a:t>
            </a:r>
            <a:r>
              <a:rPr lang="en-US" altLang="zh-CN" b="1" dirty="0" smtClean="0">
                <a:solidFill>
                  <a:srgbClr val="0070C0"/>
                </a:solidFill>
              </a:rPr>
              <a:t>ADC_CLK</a:t>
            </a:r>
            <a:r>
              <a:rPr lang="zh-CN" altLang="en-US" b="1" dirty="0" smtClean="0">
                <a:solidFill>
                  <a:srgbClr val="0070C0"/>
                </a:solidFill>
              </a:rPr>
              <a:t>周期</a:t>
            </a:r>
            <a:r>
              <a:rPr lang="zh-CN" altLang="en-US" dirty="0" smtClean="0"/>
              <a:t>，采样的周期数 可通过</a:t>
            </a:r>
            <a:r>
              <a:rPr lang="en-US" altLang="zh-CN" dirty="0" smtClean="0"/>
              <a:t>ADC </a:t>
            </a:r>
            <a:r>
              <a:rPr lang="zh-CN" altLang="en-US" dirty="0" smtClean="0"/>
              <a:t>采样时间</a:t>
            </a:r>
            <a:r>
              <a:rPr lang="zh-CN" altLang="en-US" b="1" dirty="0" smtClean="0">
                <a:solidFill>
                  <a:srgbClr val="0070C0"/>
                </a:solidFill>
              </a:rPr>
              <a:t>寄存器 </a:t>
            </a:r>
            <a:r>
              <a:rPr lang="en-US" altLang="zh-CN" b="1" dirty="0" smtClean="0">
                <a:solidFill>
                  <a:srgbClr val="0070C0"/>
                </a:solidFill>
              </a:rPr>
              <a:t>ADC_SMPR1 </a:t>
            </a:r>
            <a:r>
              <a:rPr lang="zh-CN" altLang="en-US" b="1" dirty="0" smtClean="0">
                <a:solidFill>
                  <a:srgbClr val="0070C0"/>
                </a:solidFill>
              </a:rPr>
              <a:t>和 </a:t>
            </a:r>
            <a:r>
              <a:rPr lang="en-US" altLang="zh-CN" b="1" dirty="0" smtClean="0">
                <a:solidFill>
                  <a:srgbClr val="0070C0"/>
                </a:solidFill>
              </a:rPr>
              <a:t>ADC_SMPR2 </a:t>
            </a:r>
            <a:r>
              <a:rPr lang="zh-CN" altLang="en-US" b="1" dirty="0" smtClean="0">
                <a:solidFill>
                  <a:srgbClr val="0070C0"/>
                </a:solidFill>
              </a:rPr>
              <a:t>中的 </a:t>
            </a:r>
            <a:r>
              <a:rPr lang="en-US" altLang="zh-CN" b="1" dirty="0" smtClean="0">
                <a:solidFill>
                  <a:srgbClr val="0070C0"/>
                </a:solidFill>
              </a:rPr>
              <a:t>SMP[2:0]</a:t>
            </a:r>
            <a:r>
              <a:rPr lang="zh-CN" altLang="en-US" b="1" dirty="0" smtClean="0">
                <a:solidFill>
                  <a:srgbClr val="0070C0"/>
                </a:solidFill>
              </a:rPr>
              <a:t>位 </a:t>
            </a:r>
            <a:r>
              <a:rPr lang="zh-CN" altLang="en-US" dirty="0" smtClean="0"/>
              <a:t>设置， </a:t>
            </a:r>
            <a:r>
              <a:rPr lang="en-US" altLang="zh-CN" dirty="0" smtClean="0"/>
              <a:t>ADC_SMPR2</a:t>
            </a:r>
            <a:r>
              <a:rPr lang="zh-CN" altLang="en-US" dirty="0" smtClean="0"/>
              <a:t>控制的是通道 </a:t>
            </a:r>
            <a:r>
              <a:rPr lang="en-US" altLang="zh-CN" dirty="0" smtClean="0"/>
              <a:t>0~9</a:t>
            </a:r>
            <a:r>
              <a:rPr lang="zh-CN" altLang="en-US" dirty="0" smtClean="0"/>
              <a:t>， </a:t>
            </a:r>
            <a:r>
              <a:rPr lang="en-US" altLang="zh-CN" dirty="0" smtClean="0"/>
              <a:t>ADC_SMPR1 </a:t>
            </a:r>
            <a:r>
              <a:rPr lang="zh-CN" altLang="en-US" dirty="0" smtClean="0"/>
              <a:t>控制的是通道 </a:t>
            </a:r>
            <a:r>
              <a:rPr lang="en-US" altLang="zh-CN" dirty="0" smtClean="0"/>
              <a:t>10~17 </a:t>
            </a:r>
            <a:r>
              <a:rPr lang="zh-CN" altLang="en-US" dirty="0" smtClean="0"/>
              <a:t>。每个通道可以分别用不同的时间采样。其中采样周期最小是</a:t>
            </a:r>
            <a:r>
              <a:rPr lang="en-US" altLang="zh-CN" dirty="0" smtClean="0"/>
              <a:t>1.5</a:t>
            </a:r>
            <a:r>
              <a:rPr lang="zh-CN" altLang="en-US" dirty="0" smtClean="0"/>
              <a:t>个周期。</a:t>
            </a:r>
          </a:p>
          <a:p>
            <a:pPr>
              <a:lnSpc>
                <a:spcPct val="150000"/>
              </a:lnSpc>
            </a:pPr>
            <a:r>
              <a:rPr lang="zh-CN" altLang="en-US" dirty="0" smtClean="0"/>
              <a:t>　　</a:t>
            </a:r>
            <a:r>
              <a:rPr lang="en-US" altLang="zh-CN" dirty="0" smtClean="0"/>
              <a:t>ADC </a:t>
            </a:r>
            <a:r>
              <a:rPr lang="zh-CN" altLang="en-US" dirty="0" smtClean="0"/>
              <a:t>的总转换时间跟</a:t>
            </a:r>
            <a:r>
              <a:rPr lang="en-US" altLang="zh-CN" dirty="0" smtClean="0"/>
              <a:t>ADC </a:t>
            </a:r>
            <a:r>
              <a:rPr lang="zh-CN" altLang="en-US" dirty="0" smtClean="0"/>
              <a:t>的输入时钟和采样时间有关，其公式如下：</a:t>
            </a:r>
          </a:p>
          <a:p>
            <a:pPr>
              <a:lnSpc>
                <a:spcPct val="150000"/>
              </a:lnSpc>
            </a:pPr>
            <a:r>
              <a:rPr lang="zh-CN" altLang="en-US" dirty="0" smtClean="0"/>
              <a:t>　　                   </a:t>
            </a:r>
            <a:r>
              <a:rPr lang="zh-CN" altLang="en-US" b="1" dirty="0" smtClean="0">
                <a:solidFill>
                  <a:srgbClr val="0070C0"/>
                </a:solidFill>
              </a:rPr>
              <a:t>（转换时间） </a:t>
            </a:r>
            <a:r>
              <a:rPr lang="en-US" altLang="zh-CN" b="1" dirty="0" err="1" smtClean="0">
                <a:solidFill>
                  <a:srgbClr val="0070C0"/>
                </a:solidFill>
              </a:rPr>
              <a:t>Tconv</a:t>
            </a:r>
            <a:r>
              <a:rPr lang="en-US" altLang="zh-CN" b="1" dirty="0" smtClean="0">
                <a:solidFill>
                  <a:srgbClr val="0070C0"/>
                </a:solidFill>
              </a:rPr>
              <a:t> = </a:t>
            </a:r>
            <a:r>
              <a:rPr lang="zh-CN" altLang="en-US" b="1" dirty="0" smtClean="0">
                <a:solidFill>
                  <a:srgbClr val="0070C0"/>
                </a:solidFill>
              </a:rPr>
              <a:t>采样时间 </a:t>
            </a:r>
            <a:r>
              <a:rPr lang="en-US" altLang="zh-CN" b="1" dirty="0" smtClean="0">
                <a:solidFill>
                  <a:srgbClr val="0070C0"/>
                </a:solidFill>
              </a:rPr>
              <a:t>+ 12.5</a:t>
            </a:r>
            <a:r>
              <a:rPr lang="zh-CN" altLang="en-US" b="1" dirty="0" smtClean="0">
                <a:solidFill>
                  <a:srgbClr val="0070C0"/>
                </a:solidFill>
              </a:rPr>
              <a:t>个周期</a:t>
            </a:r>
          </a:p>
          <a:p>
            <a:pPr>
              <a:lnSpc>
                <a:spcPct val="150000"/>
              </a:lnSpc>
            </a:pPr>
            <a:r>
              <a:rPr lang="zh-CN" altLang="en-US" dirty="0" smtClean="0"/>
              <a:t>      其中</a:t>
            </a:r>
            <a:r>
              <a:rPr lang="en-US" altLang="zh-CN" dirty="0" err="1" smtClean="0"/>
              <a:t>Tconv</a:t>
            </a:r>
            <a:r>
              <a:rPr lang="zh-CN" altLang="en-US" dirty="0" smtClean="0"/>
              <a:t>为</a:t>
            </a:r>
            <a:r>
              <a:rPr lang="en-US" altLang="zh-CN" dirty="0" smtClean="0"/>
              <a:t>ADC</a:t>
            </a:r>
            <a:r>
              <a:rPr lang="zh-CN" altLang="en-US" dirty="0" smtClean="0"/>
              <a:t>总转换时间，</a:t>
            </a:r>
            <a:r>
              <a:rPr lang="zh-CN" altLang="en-US" b="1" dirty="0" smtClean="0">
                <a:solidFill>
                  <a:srgbClr val="0070C0"/>
                </a:solidFill>
              </a:rPr>
              <a:t>当</a:t>
            </a:r>
            <a:r>
              <a:rPr lang="en-US" altLang="zh-CN" b="1" dirty="0" smtClean="0">
                <a:solidFill>
                  <a:srgbClr val="0070C0"/>
                </a:solidFill>
              </a:rPr>
              <a:t>ADC_CLK=14Mhz</a:t>
            </a:r>
            <a:r>
              <a:rPr lang="zh-CN" altLang="en-US" b="1" dirty="0" smtClean="0">
                <a:solidFill>
                  <a:srgbClr val="0070C0"/>
                </a:solidFill>
              </a:rPr>
              <a:t>的时候，并设置</a:t>
            </a:r>
            <a:r>
              <a:rPr lang="en-US" altLang="zh-CN" b="1" dirty="0" smtClean="0">
                <a:solidFill>
                  <a:srgbClr val="0070C0"/>
                </a:solidFill>
              </a:rPr>
              <a:t>1.5</a:t>
            </a:r>
            <a:r>
              <a:rPr lang="zh-CN" altLang="en-US" b="1" dirty="0" smtClean="0">
                <a:solidFill>
                  <a:srgbClr val="0070C0"/>
                </a:solidFill>
              </a:rPr>
              <a:t>个周 期的采样时间，则</a:t>
            </a:r>
            <a:r>
              <a:rPr lang="en-US" altLang="zh-CN" b="1" dirty="0" err="1" smtClean="0">
                <a:solidFill>
                  <a:srgbClr val="0070C0"/>
                </a:solidFill>
              </a:rPr>
              <a:t>Tcovn</a:t>
            </a:r>
            <a:r>
              <a:rPr lang="en-US" altLang="zh-CN" b="1" dirty="0" smtClean="0">
                <a:solidFill>
                  <a:srgbClr val="0070C0"/>
                </a:solidFill>
              </a:rPr>
              <a:t>=1.5+12.5=14</a:t>
            </a:r>
            <a:r>
              <a:rPr lang="zh-CN" altLang="en-US" b="1" dirty="0" smtClean="0">
                <a:solidFill>
                  <a:srgbClr val="0070C0"/>
                </a:solidFill>
              </a:rPr>
              <a:t>个周期</a:t>
            </a:r>
            <a:r>
              <a:rPr lang="en-US" altLang="zh-CN" b="1" dirty="0" smtClean="0">
                <a:solidFill>
                  <a:srgbClr val="0070C0"/>
                </a:solidFill>
              </a:rPr>
              <a:t>=1us</a:t>
            </a:r>
            <a:r>
              <a:rPr lang="zh-CN" altLang="en-US" dirty="0" smtClean="0">
                <a:solidFill>
                  <a:srgbClr val="0070C0"/>
                </a:solidFill>
              </a:rPr>
              <a:t>。</a:t>
            </a:r>
          </a:p>
          <a:p>
            <a:pPr>
              <a:lnSpc>
                <a:spcPct val="150000"/>
              </a:lnSpc>
            </a:pPr>
            <a:endParaRPr lang="zh-CN" altLang="en-US" dirty="0">
              <a:solidFill>
                <a:srgbClr val="0070C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1371" y="612973"/>
            <a:ext cx="10873273" cy="5632311"/>
          </a:xfrm>
          <a:prstGeom prst="rect">
            <a:avLst/>
          </a:prstGeom>
        </p:spPr>
        <p:txBody>
          <a:bodyPr wrap="square">
            <a:spAutoFit/>
          </a:bodyPr>
          <a:lstStyle/>
          <a:p>
            <a:pPr>
              <a:lnSpc>
                <a:spcPct val="150000"/>
              </a:lnSpc>
              <a:buClr>
                <a:srgbClr val="7030A0"/>
              </a:buClr>
              <a:buFont typeface="Wingdings" pitchFamily="2" charset="2"/>
              <a:buChar char="u"/>
            </a:pPr>
            <a:r>
              <a:rPr lang="zh-CN" altLang="en-US" sz="2000" b="1" dirty="0" smtClean="0">
                <a:solidFill>
                  <a:srgbClr val="7030A0"/>
                </a:solidFill>
              </a:rPr>
              <a:t>（</a:t>
            </a:r>
            <a:r>
              <a:rPr lang="en-US" altLang="zh-CN" sz="2000" b="1" dirty="0" smtClean="0">
                <a:solidFill>
                  <a:srgbClr val="7030A0"/>
                </a:solidFill>
              </a:rPr>
              <a:t>6</a:t>
            </a:r>
            <a:r>
              <a:rPr lang="zh-CN" altLang="en-US" sz="2000" b="1" dirty="0" smtClean="0">
                <a:solidFill>
                  <a:srgbClr val="7030A0"/>
                </a:solidFill>
              </a:rPr>
              <a:t>）标号</a:t>
            </a:r>
            <a:r>
              <a:rPr lang="en-US" altLang="zh-CN" sz="2000" b="1" dirty="0" smtClean="0">
                <a:solidFill>
                  <a:srgbClr val="7030A0"/>
                </a:solidFill>
              </a:rPr>
              <a:t>6</a:t>
            </a:r>
            <a:r>
              <a:rPr lang="zh-CN" altLang="en-US" sz="2000" b="1" dirty="0" smtClean="0">
                <a:solidFill>
                  <a:srgbClr val="7030A0"/>
                </a:solidFill>
              </a:rPr>
              <a:t>：数据寄存器</a:t>
            </a:r>
          </a:p>
          <a:p>
            <a:pPr>
              <a:lnSpc>
                <a:spcPct val="150000"/>
              </a:lnSpc>
            </a:pPr>
            <a:r>
              <a:rPr lang="zh-CN" altLang="en-US" sz="2000" dirty="0" smtClean="0"/>
              <a:t>　　</a:t>
            </a:r>
            <a:r>
              <a:rPr lang="en-US" altLang="zh-CN" sz="2000" dirty="0" smtClean="0"/>
              <a:t>ADC</a:t>
            </a:r>
            <a:r>
              <a:rPr lang="zh-CN" altLang="en-US" sz="2000" dirty="0" smtClean="0"/>
              <a:t>转换后的数据根据转换组的不同，规则组的数据放在</a:t>
            </a:r>
            <a:r>
              <a:rPr lang="en-US" altLang="zh-CN" sz="2000" dirty="0" smtClean="0"/>
              <a:t>ADC_DR </a:t>
            </a:r>
            <a:r>
              <a:rPr lang="zh-CN" altLang="en-US" sz="2000" dirty="0" smtClean="0"/>
              <a:t>寄 存器内，注入组的数据放在 </a:t>
            </a:r>
            <a:r>
              <a:rPr lang="en-US" altLang="zh-CN" sz="2000" dirty="0" err="1" smtClean="0"/>
              <a:t>JDRx</a:t>
            </a:r>
            <a:r>
              <a:rPr lang="zh-CN" altLang="en-US" sz="2000" dirty="0" smtClean="0"/>
              <a:t>内。 因为</a:t>
            </a:r>
            <a:r>
              <a:rPr lang="en-US" altLang="zh-CN" sz="2000" dirty="0" smtClean="0"/>
              <a:t>STM32F1</a:t>
            </a:r>
            <a:r>
              <a:rPr lang="zh-CN" altLang="en-US" sz="2000" dirty="0" smtClean="0"/>
              <a:t>的</a:t>
            </a:r>
            <a:r>
              <a:rPr lang="en-US" altLang="zh-CN" sz="2000" dirty="0" smtClean="0"/>
              <a:t>ADC</a:t>
            </a:r>
            <a:r>
              <a:rPr lang="zh-CN" altLang="en-US" sz="2000" dirty="0" smtClean="0"/>
              <a:t>是</a:t>
            </a:r>
            <a:r>
              <a:rPr lang="en-US" altLang="zh-CN" sz="2000" dirty="0" smtClean="0"/>
              <a:t>12</a:t>
            </a:r>
            <a:r>
              <a:rPr lang="zh-CN" altLang="en-US" sz="2000" dirty="0" smtClean="0"/>
              <a:t>位转换精度，而数据寄存器是</a:t>
            </a:r>
            <a:r>
              <a:rPr lang="en-US" altLang="zh-CN" sz="2000" dirty="0" smtClean="0"/>
              <a:t>16</a:t>
            </a:r>
            <a:r>
              <a:rPr lang="zh-CN" altLang="en-US" sz="2000" dirty="0" smtClean="0"/>
              <a:t>位，所以</a:t>
            </a:r>
            <a:r>
              <a:rPr lang="en-US" altLang="zh-CN" sz="2000" dirty="0" smtClean="0"/>
              <a:t>ADC </a:t>
            </a:r>
            <a:r>
              <a:rPr lang="zh-CN" altLang="en-US" sz="2000" dirty="0" smtClean="0"/>
              <a:t>在存放数据的时候就有左对齐和右对齐区分。如果是左对齐，</a:t>
            </a:r>
            <a:r>
              <a:rPr lang="en-US" altLang="zh-CN" sz="2000" dirty="0" smtClean="0"/>
              <a:t>AD</a:t>
            </a:r>
            <a:r>
              <a:rPr lang="zh-CN" altLang="en-US" sz="2000" dirty="0" smtClean="0"/>
              <a:t>转换完 成数据存放在 </a:t>
            </a:r>
            <a:r>
              <a:rPr lang="en-US" altLang="zh-CN" sz="2000" dirty="0" smtClean="0"/>
              <a:t>ADC_DR </a:t>
            </a:r>
            <a:r>
              <a:rPr lang="zh-CN" altLang="en-US" sz="2000" dirty="0" smtClean="0"/>
              <a:t>寄存器的</a:t>
            </a:r>
            <a:r>
              <a:rPr lang="en-US" altLang="zh-CN" sz="2000" dirty="0" smtClean="0"/>
              <a:t>[4:15]</a:t>
            </a:r>
            <a:r>
              <a:rPr lang="zh-CN" altLang="en-US" sz="2000" dirty="0" smtClean="0"/>
              <a:t>位内；如果是右对齐，则存放在 </a:t>
            </a:r>
            <a:r>
              <a:rPr lang="en-US" altLang="zh-CN" sz="2000" dirty="0" smtClean="0"/>
              <a:t>ADC_DR </a:t>
            </a:r>
            <a:r>
              <a:rPr lang="zh-CN" altLang="en-US" sz="2000" dirty="0" smtClean="0"/>
              <a:t>寄存器的</a:t>
            </a:r>
            <a:r>
              <a:rPr lang="en-US" altLang="zh-CN" sz="2000" dirty="0" smtClean="0"/>
              <a:t>[0:11]</a:t>
            </a:r>
            <a:r>
              <a:rPr lang="zh-CN" altLang="en-US" sz="2000" dirty="0" smtClean="0"/>
              <a:t>位内。具体选择何种存放方式，需通过</a:t>
            </a:r>
            <a:r>
              <a:rPr lang="en-US" altLang="zh-CN" sz="2000" dirty="0" smtClean="0"/>
              <a:t>ADC_CR2 </a:t>
            </a:r>
            <a:r>
              <a:rPr lang="zh-CN" altLang="en-US" sz="2000" dirty="0" smtClean="0"/>
              <a:t>的 </a:t>
            </a:r>
            <a:r>
              <a:rPr lang="en-US" altLang="zh-CN" sz="2000" dirty="0" smtClean="0"/>
              <a:t>11 </a:t>
            </a:r>
            <a:r>
              <a:rPr lang="zh-CN" altLang="en-US" sz="2000" dirty="0" smtClean="0"/>
              <a:t>位 </a:t>
            </a:r>
            <a:r>
              <a:rPr lang="en-US" altLang="zh-CN" sz="2000" dirty="0" smtClean="0"/>
              <a:t>ALIGN </a:t>
            </a:r>
            <a:r>
              <a:rPr lang="zh-CN" altLang="en-US" sz="2000" dirty="0" smtClean="0"/>
              <a:t>设置。</a:t>
            </a:r>
            <a:endParaRPr lang="en-US" altLang="zh-CN" sz="2000" dirty="0" smtClean="0"/>
          </a:p>
          <a:p>
            <a:pPr>
              <a:lnSpc>
                <a:spcPct val="150000"/>
              </a:lnSpc>
              <a:buClr>
                <a:srgbClr val="7030A0"/>
              </a:buClr>
              <a:buFont typeface="Wingdings" pitchFamily="2" charset="2"/>
              <a:buChar char="u"/>
            </a:pPr>
            <a:r>
              <a:rPr lang="zh-CN" altLang="en-US" sz="2000" b="1" dirty="0" smtClean="0">
                <a:solidFill>
                  <a:srgbClr val="7030A0"/>
                </a:solidFill>
              </a:rPr>
              <a:t>（</a:t>
            </a:r>
            <a:r>
              <a:rPr lang="en-US" altLang="zh-CN" sz="2000" b="1" dirty="0" smtClean="0">
                <a:solidFill>
                  <a:srgbClr val="7030A0"/>
                </a:solidFill>
              </a:rPr>
              <a:t>7</a:t>
            </a:r>
            <a:r>
              <a:rPr lang="zh-CN" altLang="en-US" sz="2000" b="1" dirty="0" smtClean="0">
                <a:solidFill>
                  <a:srgbClr val="7030A0"/>
                </a:solidFill>
              </a:rPr>
              <a:t>）标号</a:t>
            </a:r>
            <a:r>
              <a:rPr lang="en-US" altLang="zh-CN" sz="2000" b="1" dirty="0" smtClean="0">
                <a:solidFill>
                  <a:srgbClr val="7030A0"/>
                </a:solidFill>
              </a:rPr>
              <a:t>7</a:t>
            </a:r>
            <a:r>
              <a:rPr lang="zh-CN" altLang="en-US" sz="2000" b="1" dirty="0" smtClean="0">
                <a:solidFill>
                  <a:srgbClr val="7030A0"/>
                </a:solidFill>
              </a:rPr>
              <a:t>：中断</a:t>
            </a:r>
          </a:p>
          <a:p>
            <a:pPr>
              <a:lnSpc>
                <a:spcPct val="150000"/>
              </a:lnSpc>
            </a:pPr>
            <a:r>
              <a:rPr lang="zh-CN" altLang="en-US" sz="2000" dirty="0" smtClean="0"/>
              <a:t>当发生如下事件且使能相应中断标志位时，</a:t>
            </a:r>
            <a:r>
              <a:rPr lang="en-US" altLang="zh-CN" sz="2000" dirty="0" smtClean="0"/>
              <a:t>ADC</a:t>
            </a:r>
            <a:r>
              <a:rPr lang="zh-CN" altLang="en-US" sz="2000" dirty="0" smtClean="0"/>
              <a:t>能产生中断：</a:t>
            </a:r>
          </a:p>
          <a:p>
            <a:pPr>
              <a:lnSpc>
                <a:spcPct val="150000"/>
              </a:lnSpc>
            </a:pPr>
            <a:r>
              <a:rPr lang="en-US" altLang="zh-CN" sz="2000" dirty="0" smtClean="0"/>
              <a:t>1.</a:t>
            </a:r>
            <a:r>
              <a:rPr lang="zh-CN" altLang="en-US" sz="2000" dirty="0" smtClean="0"/>
              <a:t>转换结束（规则转换）与注入转换结束</a:t>
            </a:r>
          </a:p>
          <a:p>
            <a:pPr>
              <a:lnSpc>
                <a:spcPct val="150000"/>
              </a:lnSpc>
            </a:pPr>
            <a:r>
              <a:rPr lang="en-US" altLang="zh-CN" sz="2000" dirty="0" smtClean="0"/>
              <a:t>2.</a:t>
            </a:r>
            <a:r>
              <a:rPr lang="zh-CN" altLang="en-US" sz="2000" dirty="0" smtClean="0"/>
              <a:t>模拟看门狗事件</a:t>
            </a:r>
          </a:p>
          <a:p>
            <a:pPr>
              <a:lnSpc>
                <a:spcPct val="150000"/>
              </a:lnSpc>
            </a:pPr>
            <a:r>
              <a:rPr lang="en-US" altLang="zh-CN" sz="2000" dirty="0" smtClean="0"/>
              <a:t>3.DMA</a:t>
            </a:r>
            <a:r>
              <a:rPr lang="zh-CN" altLang="en-US" sz="2000" dirty="0" smtClean="0"/>
              <a:t>请求</a:t>
            </a:r>
          </a:p>
          <a:p>
            <a:pPr>
              <a:lnSpc>
                <a:spcPct val="150000"/>
              </a:lnSpc>
            </a:pP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6571" y="612973"/>
            <a:ext cx="11467323" cy="5632311"/>
          </a:xfrm>
          <a:prstGeom prst="rect">
            <a:avLst/>
          </a:prstGeom>
        </p:spPr>
        <p:txBody>
          <a:bodyPr wrap="square">
            <a:spAutoFit/>
          </a:bodyPr>
          <a:lstStyle/>
          <a:p>
            <a:pPr>
              <a:lnSpc>
                <a:spcPct val="150000"/>
              </a:lnSpc>
            </a:pPr>
            <a:r>
              <a:rPr lang="en-US" sz="2000" b="1" dirty="0" smtClean="0">
                <a:solidFill>
                  <a:srgbClr val="C00000"/>
                </a:solidFill>
              </a:rPr>
              <a:t>ADC</a:t>
            </a:r>
            <a:r>
              <a:rPr lang="zh-CN" altLang="en-US" sz="2000" b="1" dirty="0" smtClean="0">
                <a:solidFill>
                  <a:srgbClr val="C00000"/>
                </a:solidFill>
              </a:rPr>
              <a:t>配置步骤：</a:t>
            </a:r>
            <a:endParaRPr lang="en-US" altLang="zh-CN" sz="2000" b="1" dirty="0" smtClean="0">
              <a:solidFill>
                <a:srgbClr val="C00000"/>
              </a:solidFill>
            </a:endParaRPr>
          </a:p>
          <a:p>
            <a:pPr>
              <a:lnSpc>
                <a:spcPct val="150000"/>
              </a:lnSpc>
              <a:buClr>
                <a:srgbClr val="C00000"/>
              </a:buClr>
            </a:pPr>
            <a:r>
              <a:rPr lang="zh-CN" altLang="en-US" sz="2000" dirty="0" smtClean="0"/>
              <a:t>实例要求：利用</a:t>
            </a:r>
            <a:r>
              <a:rPr lang="en-US" altLang="zh-CN" sz="2000" dirty="0" smtClean="0"/>
              <a:t>ADC1</a:t>
            </a:r>
            <a:r>
              <a:rPr lang="zh-CN" altLang="en-US" sz="2000" dirty="0" smtClean="0"/>
              <a:t>的通道</a:t>
            </a:r>
            <a:r>
              <a:rPr lang="en-US" altLang="zh-CN" sz="2000" dirty="0" smtClean="0"/>
              <a:t>1</a:t>
            </a:r>
            <a:r>
              <a:rPr lang="zh-CN" altLang="en-US" sz="2000" dirty="0" smtClean="0"/>
              <a:t>（</a:t>
            </a:r>
            <a:r>
              <a:rPr lang="en-US" altLang="zh-CN" sz="2000" dirty="0" smtClean="0"/>
              <a:t>PA1</a:t>
            </a:r>
            <a:r>
              <a:rPr lang="zh-CN" altLang="en-US" sz="2000" dirty="0" smtClean="0"/>
              <a:t>）采集外部电压值。</a:t>
            </a:r>
            <a:endParaRPr lang="en-US" altLang="zh-CN" sz="2000" dirty="0" smtClean="0"/>
          </a:p>
          <a:p>
            <a:pPr>
              <a:lnSpc>
                <a:spcPct val="150000"/>
              </a:lnSpc>
              <a:buClr>
                <a:srgbClr val="C00000"/>
              </a:buClr>
              <a:buFont typeface="Wingdings" pitchFamily="2" charset="2"/>
              <a:buChar char="u"/>
            </a:pPr>
            <a:r>
              <a:rPr lang="zh-CN" altLang="en-US" sz="2000" dirty="0" smtClean="0"/>
              <a:t>开启</a:t>
            </a:r>
            <a:r>
              <a:rPr lang="en-US" altLang="zh-CN" sz="2000" dirty="0" smtClean="0"/>
              <a:t>PA</a:t>
            </a:r>
            <a:r>
              <a:rPr lang="zh-CN" altLang="en-US" sz="2000" dirty="0" smtClean="0"/>
              <a:t>口时钟和</a:t>
            </a:r>
            <a:r>
              <a:rPr lang="en-US" altLang="zh-CN" sz="2000" dirty="0" smtClean="0"/>
              <a:t>ADC1</a:t>
            </a:r>
            <a:r>
              <a:rPr lang="zh-CN" altLang="en-US" sz="2000" dirty="0" smtClean="0"/>
              <a:t>时钟，设置</a:t>
            </a:r>
            <a:r>
              <a:rPr lang="en-US" altLang="zh-CN" sz="2000" dirty="0" smtClean="0"/>
              <a:t>PA1</a:t>
            </a:r>
            <a:r>
              <a:rPr lang="zh-CN" altLang="en-US" sz="2000" dirty="0" smtClean="0"/>
              <a:t>为模拟输入。</a:t>
            </a:r>
            <a:endParaRPr lang="en-US" altLang="zh-CN" sz="2000" dirty="0" smtClean="0"/>
          </a:p>
          <a:p>
            <a:pPr>
              <a:lnSpc>
                <a:spcPct val="150000"/>
              </a:lnSpc>
              <a:buClr>
                <a:srgbClr val="C00000"/>
              </a:buClr>
            </a:pPr>
            <a:r>
              <a:rPr lang="zh-CN" altLang="en-US" sz="2000" dirty="0" smtClean="0"/>
              <a:t>调用函数：</a:t>
            </a:r>
            <a:r>
              <a:rPr lang="en-US" altLang="zh-CN" sz="2000" dirty="0" err="1" smtClean="0"/>
              <a:t>GPIO_Init</a:t>
            </a:r>
            <a:r>
              <a:rPr lang="en-US" altLang="zh-CN" sz="2000" dirty="0" smtClean="0"/>
              <a:t>()</a:t>
            </a:r>
            <a:r>
              <a:rPr lang="zh-CN" altLang="en-US" sz="2000" dirty="0" smtClean="0"/>
              <a:t>；</a:t>
            </a:r>
            <a:r>
              <a:rPr lang="en-US" altLang="zh-CN" sz="2000" dirty="0" smtClean="0"/>
              <a:t>APB2PeriphClockCmd()</a:t>
            </a:r>
            <a:r>
              <a:rPr lang="zh-CN" altLang="en-US" sz="2000" dirty="0" smtClean="0"/>
              <a:t>；</a:t>
            </a:r>
            <a:endParaRPr lang="en-US" altLang="zh-CN" sz="2000" dirty="0" smtClean="0"/>
          </a:p>
          <a:p>
            <a:pPr>
              <a:lnSpc>
                <a:spcPct val="150000"/>
              </a:lnSpc>
              <a:buClr>
                <a:srgbClr val="C00000"/>
              </a:buClr>
              <a:buFont typeface="Wingdings" pitchFamily="2" charset="2"/>
              <a:buChar char="u"/>
            </a:pPr>
            <a:r>
              <a:rPr lang="zh-CN" altLang="en-US" sz="2000" dirty="0" smtClean="0"/>
              <a:t>复位</a:t>
            </a:r>
            <a:r>
              <a:rPr lang="en-US" altLang="zh-CN" sz="2000" dirty="0" smtClean="0"/>
              <a:t>ADC1</a:t>
            </a:r>
            <a:r>
              <a:rPr lang="zh-CN" altLang="en-US" sz="2000" dirty="0" smtClean="0"/>
              <a:t>，同时设置</a:t>
            </a:r>
            <a:r>
              <a:rPr lang="en-US" altLang="zh-CN" sz="2000" dirty="0" smtClean="0"/>
              <a:t>ADC1</a:t>
            </a:r>
            <a:r>
              <a:rPr lang="zh-CN" altLang="en-US" sz="2000" dirty="0" smtClean="0"/>
              <a:t>分频因子。</a:t>
            </a:r>
            <a:endParaRPr lang="en-US" altLang="zh-CN" sz="2000" dirty="0" smtClean="0"/>
          </a:p>
          <a:p>
            <a:pPr>
              <a:lnSpc>
                <a:spcPct val="150000"/>
              </a:lnSpc>
              <a:buClr>
                <a:srgbClr val="C00000"/>
              </a:buClr>
            </a:pPr>
            <a:r>
              <a:rPr lang="zh-CN" altLang="en-US" sz="2000" dirty="0" smtClean="0"/>
              <a:t>调用函数：</a:t>
            </a:r>
            <a:r>
              <a:rPr lang="en-US" altLang="zh-CN" sz="2000" dirty="0" err="1" smtClean="0"/>
              <a:t>ADC_DeInit</a:t>
            </a:r>
            <a:r>
              <a:rPr lang="en-US" altLang="zh-CN" sz="2000" dirty="0" smtClean="0"/>
              <a:t>(ADC1)</a:t>
            </a:r>
            <a:r>
              <a:rPr lang="zh-CN" altLang="en-US" sz="2000" dirty="0" smtClean="0"/>
              <a:t>；</a:t>
            </a:r>
            <a:r>
              <a:rPr lang="en-US" altLang="zh-CN" sz="2000" dirty="0" err="1" smtClean="0"/>
              <a:t>RCC_ADCCLKConfig</a:t>
            </a:r>
            <a:r>
              <a:rPr lang="en-US" altLang="zh-CN" sz="2000" dirty="0" smtClean="0"/>
              <a:t>(RCC_PCLK2_Div6)</a:t>
            </a:r>
            <a:r>
              <a:rPr lang="zh-CN" altLang="en-US" sz="2000" dirty="0" smtClean="0"/>
              <a:t>；</a:t>
            </a:r>
            <a:endParaRPr lang="en-US" altLang="zh-CN" sz="2000" dirty="0" smtClean="0"/>
          </a:p>
          <a:p>
            <a:pPr>
              <a:lnSpc>
                <a:spcPct val="150000"/>
              </a:lnSpc>
              <a:buClr>
                <a:srgbClr val="C00000"/>
              </a:buClr>
              <a:buFont typeface="Wingdings" pitchFamily="2" charset="2"/>
              <a:buChar char="u"/>
            </a:pPr>
            <a:r>
              <a:rPr lang="zh-CN" altLang="en-US" sz="2000" dirty="0" smtClean="0"/>
              <a:t>初始化</a:t>
            </a:r>
            <a:r>
              <a:rPr lang="en-US" altLang="zh-CN" sz="2000" dirty="0" smtClean="0"/>
              <a:t>ADC1</a:t>
            </a:r>
            <a:r>
              <a:rPr lang="zh-CN" altLang="en-US" sz="2000" dirty="0" smtClean="0"/>
              <a:t>参数，设置</a:t>
            </a:r>
            <a:r>
              <a:rPr lang="en-US" altLang="zh-CN" sz="2000" dirty="0" smtClean="0"/>
              <a:t>ADC1</a:t>
            </a:r>
            <a:r>
              <a:rPr lang="zh-CN" altLang="en-US" sz="2000" dirty="0" smtClean="0"/>
              <a:t>的工作模式以及规则序列的相关信息。</a:t>
            </a:r>
            <a:endParaRPr lang="en-US" altLang="zh-CN" sz="2000" dirty="0" smtClean="0"/>
          </a:p>
          <a:p>
            <a:pPr>
              <a:lnSpc>
                <a:spcPct val="150000"/>
              </a:lnSpc>
              <a:buClr>
                <a:srgbClr val="C00000"/>
              </a:buClr>
            </a:pPr>
            <a:r>
              <a:rPr lang="zh-CN" altLang="en-US" sz="2000" dirty="0" smtClean="0"/>
              <a:t>调用函数：</a:t>
            </a:r>
            <a:r>
              <a:rPr lang="en-US" altLang="zh-CN" sz="2000" dirty="0" smtClean="0"/>
              <a:t>void </a:t>
            </a:r>
            <a:r>
              <a:rPr lang="en-US" altLang="zh-CN" sz="2000" dirty="0" err="1" smtClean="0"/>
              <a:t>ADC_Init</a:t>
            </a:r>
            <a:r>
              <a:rPr lang="en-US" altLang="zh-CN" sz="2000" dirty="0" smtClean="0"/>
              <a:t>()</a:t>
            </a:r>
            <a:r>
              <a:rPr lang="zh-CN" altLang="en-US" sz="2000" dirty="0" smtClean="0"/>
              <a:t>；</a:t>
            </a:r>
            <a:endParaRPr lang="en-US" altLang="zh-CN" sz="2000" dirty="0" smtClean="0"/>
          </a:p>
          <a:p>
            <a:pPr>
              <a:lnSpc>
                <a:spcPct val="150000"/>
              </a:lnSpc>
              <a:buClr>
                <a:srgbClr val="C00000"/>
              </a:buClr>
              <a:buFont typeface="Wingdings" pitchFamily="2" charset="2"/>
              <a:buChar char="u"/>
            </a:pPr>
            <a:r>
              <a:rPr lang="zh-CN" altLang="en-US" sz="2000" dirty="0" smtClean="0"/>
              <a:t>使能</a:t>
            </a:r>
            <a:r>
              <a:rPr lang="en-US" altLang="zh-CN" sz="2000" dirty="0" smtClean="0"/>
              <a:t>ADC</a:t>
            </a:r>
            <a:r>
              <a:rPr lang="zh-CN" altLang="en-US" sz="2000" dirty="0" smtClean="0"/>
              <a:t>并校准。调用函数：</a:t>
            </a:r>
            <a:r>
              <a:rPr lang="en-US" altLang="zh-CN" sz="2000" dirty="0" err="1" smtClean="0"/>
              <a:t>ADC_Cmd</a:t>
            </a:r>
            <a:r>
              <a:rPr lang="en-US" altLang="zh-CN" sz="2000" dirty="0" smtClean="0"/>
              <a:t>()</a:t>
            </a:r>
            <a:r>
              <a:rPr lang="zh-CN" altLang="en-US" sz="2000" dirty="0" smtClean="0"/>
              <a:t>；</a:t>
            </a:r>
            <a:endParaRPr lang="en-US" altLang="zh-CN" sz="2000" dirty="0" smtClean="0"/>
          </a:p>
          <a:p>
            <a:pPr>
              <a:lnSpc>
                <a:spcPct val="150000"/>
              </a:lnSpc>
              <a:buClr>
                <a:srgbClr val="C00000"/>
              </a:buClr>
              <a:buFont typeface="Wingdings" pitchFamily="2" charset="2"/>
              <a:buChar char="u"/>
            </a:pPr>
            <a:r>
              <a:rPr lang="zh-CN" altLang="en-US" sz="2000" dirty="0" smtClean="0"/>
              <a:t>配置规则通道参数。调用函数：</a:t>
            </a:r>
            <a:r>
              <a:rPr lang="en-US" altLang="zh-CN" sz="2000" dirty="0" err="1" smtClean="0"/>
              <a:t>ADC_RegularChannelConfig</a:t>
            </a:r>
            <a:r>
              <a:rPr lang="en-US" altLang="zh-CN" sz="2000" dirty="0" smtClean="0"/>
              <a:t>()</a:t>
            </a:r>
            <a:r>
              <a:rPr lang="zh-CN" altLang="en-US" sz="2000" dirty="0" smtClean="0"/>
              <a:t>；</a:t>
            </a:r>
            <a:endParaRPr lang="en-US" altLang="zh-CN" sz="2000" dirty="0" smtClean="0"/>
          </a:p>
          <a:p>
            <a:pPr>
              <a:lnSpc>
                <a:spcPct val="150000"/>
              </a:lnSpc>
              <a:buClr>
                <a:srgbClr val="C00000"/>
              </a:buClr>
              <a:buFont typeface="Wingdings" pitchFamily="2" charset="2"/>
              <a:buChar char="u"/>
            </a:pPr>
            <a:r>
              <a:rPr lang="zh-CN" altLang="en-US" sz="2000" dirty="0" smtClean="0"/>
              <a:t>开启软件转换：</a:t>
            </a:r>
            <a:r>
              <a:rPr lang="en-US" altLang="zh-CN" sz="2000" dirty="0" err="1" smtClean="0"/>
              <a:t>ADC_SoftwareStartConvCmd</a:t>
            </a:r>
            <a:r>
              <a:rPr lang="en-US" altLang="zh-CN" sz="2000" dirty="0" smtClean="0"/>
              <a:t>(ADC1)</a:t>
            </a:r>
            <a:r>
              <a:rPr lang="zh-CN" altLang="en-US" sz="2000" dirty="0" smtClean="0"/>
              <a:t>；</a:t>
            </a:r>
            <a:endParaRPr lang="en-US" altLang="zh-CN" sz="2000" dirty="0" smtClean="0"/>
          </a:p>
          <a:p>
            <a:pPr>
              <a:lnSpc>
                <a:spcPct val="150000"/>
              </a:lnSpc>
              <a:buClr>
                <a:srgbClr val="C00000"/>
              </a:buClr>
              <a:buFont typeface="Wingdings" pitchFamily="2" charset="2"/>
              <a:buChar char="u"/>
            </a:pPr>
            <a:r>
              <a:rPr lang="zh-CN" altLang="en-US" sz="2000" dirty="0" smtClean="0"/>
              <a:t>等待转换完成，读取</a:t>
            </a:r>
            <a:r>
              <a:rPr lang="en-US" altLang="zh-CN" sz="2000" dirty="0" smtClean="0"/>
              <a:t>ADC</a:t>
            </a:r>
            <a:r>
              <a:rPr lang="zh-CN" altLang="en-US" sz="2000" dirty="0" smtClean="0"/>
              <a:t>值。调用函数：</a:t>
            </a:r>
            <a:r>
              <a:rPr lang="en-US" altLang="zh-CN" sz="2000" dirty="0" err="1" smtClean="0"/>
              <a:t>ADC_GetConversionValue</a:t>
            </a:r>
            <a:r>
              <a:rPr lang="en-US" altLang="zh-CN" sz="2000" dirty="0" smtClean="0"/>
              <a:t>(ADC1)</a:t>
            </a:r>
            <a:r>
              <a:rPr lang="zh-CN" altLang="en-US" sz="2000" dirty="0" smtClean="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1041296" y="725152"/>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3600" b="1" dirty="0" smtClean="0">
                <a:solidFill>
                  <a:srgbClr val="14529E"/>
                </a:solidFill>
              </a:rPr>
              <a:t>9.2 ADC</a:t>
            </a:r>
            <a:r>
              <a:rPr lang="zh-CN" altLang="en-US" sz="3600" b="1" dirty="0" smtClean="0">
                <a:solidFill>
                  <a:srgbClr val="14529E"/>
                </a:solidFill>
              </a:rPr>
              <a:t>工作模式</a:t>
            </a:r>
            <a:endParaRPr lang="zh-CN" altLang="en-US" sz="3600" b="1" dirty="0">
              <a:solidFill>
                <a:srgbClr val="14529E"/>
              </a:solidFill>
            </a:endParaRPr>
          </a:p>
        </p:txBody>
      </p:sp>
      <p:sp>
        <p:nvSpPr>
          <p:cNvPr id="6" name="内容占位符 2"/>
          <p:cNvSpPr txBox="1">
            <a:spLocks/>
          </p:cNvSpPr>
          <p:nvPr/>
        </p:nvSpPr>
        <p:spPr>
          <a:xfrm>
            <a:off x="1041296" y="1481850"/>
            <a:ext cx="10058400" cy="4023360"/>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STM32</a:t>
            </a: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的每个</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ADC</a:t>
            </a: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模块可以通过内部的模拟多路开关</a:t>
            </a:r>
            <a:r>
              <a:rPr lang="zh-CN" altLang="en-US" sz="2800" dirty="0" smtClean="0"/>
              <a:t>切换到不同的输入通道并进行换换，在任意多个通道上以任意顺序进行一系列转换构成组转换。例如可以以如下顺序完成转换：</a:t>
            </a:r>
            <a:r>
              <a:rPr lang="en-US" altLang="zh-CN" sz="2800" dirty="0" smtClean="0"/>
              <a:t>3,8,2,0,2,2</a:t>
            </a:r>
            <a:r>
              <a:rPr lang="zh-CN" altLang="en-US" sz="2800" dirty="0" smtClean="0"/>
              <a:t>，</a:t>
            </a:r>
            <a:r>
              <a:rPr lang="en-US" altLang="zh-CN" sz="2800" dirty="0" smtClean="0"/>
              <a:t>15.</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按工作模式划分，</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ADC</a:t>
            </a: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主要有</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4</a:t>
            </a: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中转换模式：单次转换、连续转换、扫描模式和间断模式。</a:t>
            </a:r>
            <a:endParaRPr kumimoji="0" lang="zh-CN" altLang="zh-CN" sz="2800" b="0" i="0" u="none" strike="noStrike" kern="1200" cap="none" spc="0" normalizeH="0" baseline="0" noProof="0" dirty="0" smtClean="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tabLst/>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Picture 1"/>
          <p:cNvPicPr>
            <a:picLocks noChangeAspect="1" noChangeArrowheads="1"/>
          </p:cNvPicPr>
          <p:nvPr/>
        </p:nvPicPr>
        <p:blipFill>
          <a:blip r:embed="rId2"/>
          <a:srcRect/>
          <a:stretch>
            <a:fillRect/>
          </a:stretch>
        </p:blipFill>
        <p:spPr bwMode="auto">
          <a:xfrm>
            <a:off x="1488232" y="409673"/>
            <a:ext cx="8159621" cy="2822827"/>
          </a:xfrm>
          <a:prstGeom prst="rect">
            <a:avLst/>
          </a:prstGeom>
          <a:noFill/>
          <a:ln w="9525">
            <a:noFill/>
            <a:miter lim="800000"/>
            <a:headEnd/>
            <a:tailEnd/>
          </a:ln>
          <a:effectLst/>
        </p:spPr>
      </p:pic>
      <p:pic>
        <p:nvPicPr>
          <p:cNvPr id="99330" name="Picture 2"/>
          <p:cNvPicPr>
            <a:picLocks noChangeAspect="1" noChangeArrowheads="1"/>
          </p:cNvPicPr>
          <p:nvPr/>
        </p:nvPicPr>
        <p:blipFill>
          <a:blip r:embed="rId3"/>
          <a:srcRect/>
          <a:stretch>
            <a:fillRect/>
          </a:stretch>
        </p:blipFill>
        <p:spPr bwMode="auto">
          <a:xfrm>
            <a:off x="1527305" y="3349689"/>
            <a:ext cx="3286513" cy="2905319"/>
          </a:xfrm>
          <a:prstGeom prst="rect">
            <a:avLst/>
          </a:prstGeom>
          <a:noFill/>
          <a:ln w="9525">
            <a:noFill/>
            <a:miter lim="800000"/>
            <a:headEnd/>
            <a:tailEnd/>
          </a:ln>
          <a:effectLst/>
        </p:spPr>
      </p:pic>
      <p:pic>
        <p:nvPicPr>
          <p:cNvPr id="99331" name="Picture 3"/>
          <p:cNvPicPr>
            <a:picLocks noChangeAspect="1" noChangeArrowheads="1"/>
          </p:cNvPicPr>
          <p:nvPr/>
        </p:nvPicPr>
        <p:blipFill>
          <a:blip r:embed="rId4"/>
          <a:srcRect/>
          <a:stretch>
            <a:fillRect/>
          </a:stretch>
        </p:blipFill>
        <p:spPr bwMode="auto">
          <a:xfrm>
            <a:off x="5503117" y="3183491"/>
            <a:ext cx="5040474" cy="3351145"/>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3813" y="522514"/>
            <a:ext cx="10282334" cy="5816977"/>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smtClean="0">
                <a:solidFill>
                  <a:srgbClr val="C00000"/>
                </a:solidFill>
              </a:rPr>
              <a:t>单次转换</a:t>
            </a:r>
            <a:endParaRPr lang="en-US" altLang="zh-CN" sz="2800" b="1" dirty="0" smtClean="0">
              <a:solidFill>
                <a:srgbClr val="C00000"/>
              </a:solidFill>
            </a:endParaRPr>
          </a:p>
          <a:p>
            <a:pPr>
              <a:lnSpc>
                <a:spcPct val="150000"/>
              </a:lnSpc>
              <a:buClr>
                <a:srgbClr val="C00000"/>
              </a:buClr>
            </a:pPr>
            <a:r>
              <a:rPr lang="zh-CN" altLang="en-US" sz="2000" dirty="0" smtClean="0"/>
              <a:t>      单次转换模式下，</a:t>
            </a:r>
            <a:r>
              <a:rPr lang="en-US" altLang="zh-CN" sz="2000" dirty="0" smtClean="0"/>
              <a:t>ADC</a:t>
            </a:r>
            <a:r>
              <a:rPr lang="zh-CN" altLang="en-US" sz="2000" dirty="0" smtClean="0"/>
              <a:t>只执行一次转换。该模式既可通过设置</a:t>
            </a:r>
            <a:r>
              <a:rPr lang="en-US" altLang="zh-CN" sz="2000" dirty="0" smtClean="0"/>
              <a:t>ADC_CR2</a:t>
            </a:r>
            <a:r>
              <a:rPr lang="zh-CN" altLang="en-US" sz="2000" dirty="0" smtClean="0"/>
              <a:t>寄存器的</a:t>
            </a:r>
            <a:r>
              <a:rPr lang="en-US" altLang="zh-CN" sz="2000" dirty="0" smtClean="0"/>
              <a:t>ADON</a:t>
            </a:r>
            <a:r>
              <a:rPr lang="zh-CN" altLang="en-US" sz="2000" dirty="0" smtClean="0"/>
              <a:t>位</a:t>
            </a:r>
            <a:r>
              <a:rPr lang="en-US" altLang="zh-CN" sz="2000" dirty="0" smtClean="0"/>
              <a:t>(</a:t>
            </a:r>
            <a:r>
              <a:rPr lang="zh-CN" altLang="en-US" sz="2000" dirty="0" smtClean="0"/>
              <a:t>只适用于规则通道</a:t>
            </a:r>
            <a:r>
              <a:rPr lang="en-US" altLang="zh-CN" sz="2000" dirty="0" smtClean="0"/>
              <a:t>)</a:t>
            </a:r>
            <a:r>
              <a:rPr lang="zh-CN" altLang="en-US" sz="2000" dirty="0" smtClean="0"/>
              <a:t>启动也可通过外部触发启动</a:t>
            </a:r>
            <a:r>
              <a:rPr lang="en-US" altLang="zh-CN" sz="2000" dirty="0" smtClean="0"/>
              <a:t>(</a:t>
            </a:r>
            <a:r>
              <a:rPr lang="zh-CN" altLang="en-US" sz="2000" dirty="0" smtClean="0"/>
              <a:t>适用于规则通道或注入通道</a:t>
            </a:r>
            <a:r>
              <a:rPr lang="en-US" altLang="zh-CN" sz="2000" dirty="0" smtClean="0"/>
              <a:t>)</a:t>
            </a:r>
            <a:r>
              <a:rPr lang="zh-CN" altLang="en-US" sz="2000" dirty="0" smtClean="0"/>
              <a:t>，这时</a:t>
            </a:r>
            <a:r>
              <a:rPr lang="en-US" altLang="zh-CN" sz="2000" dirty="0" smtClean="0"/>
              <a:t>CONT</a:t>
            </a:r>
            <a:r>
              <a:rPr lang="zh-CN" altLang="en-US" sz="2000" dirty="0" smtClean="0"/>
              <a:t>位为</a:t>
            </a:r>
            <a:r>
              <a:rPr lang="en-US" altLang="zh-CN" sz="2000" dirty="0" smtClean="0"/>
              <a:t>0</a:t>
            </a:r>
            <a:r>
              <a:rPr lang="zh-CN" altLang="en-US" sz="2000" dirty="0" smtClean="0"/>
              <a:t>。 一旦选择通道的转换完成：</a:t>
            </a:r>
            <a:endParaRPr lang="en-US" altLang="zh-CN" sz="2000" dirty="0" smtClean="0"/>
          </a:p>
          <a:p>
            <a:pPr>
              <a:lnSpc>
                <a:spcPct val="150000"/>
              </a:lnSpc>
              <a:buClr>
                <a:srgbClr val="C00000"/>
              </a:buClr>
            </a:pPr>
            <a:r>
              <a:rPr lang="zh-CN" altLang="en-US" sz="2000" dirty="0" smtClean="0"/>
              <a:t> ● </a:t>
            </a:r>
            <a:r>
              <a:rPr lang="zh-CN" altLang="en-US" sz="2000" b="1" dirty="0" smtClean="0">
                <a:solidFill>
                  <a:srgbClr val="7030A0"/>
                </a:solidFill>
              </a:rPr>
              <a:t>如果一个规则通道被转换：</a:t>
            </a:r>
            <a:endParaRPr lang="en-US" altLang="zh-CN" sz="2000" b="1" dirty="0" smtClean="0">
              <a:solidFill>
                <a:srgbClr val="7030A0"/>
              </a:solidFill>
            </a:endParaRPr>
          </a:p>
          <a:p>
            <a:pPr>
              <a:lnSpc>
                <a:spcPct val="150000"/>
              </a:lnSpc>
              <a:buClr>
                <a:srgbClr val="C00000"/>
              </a:buClr>
            </a:pPr>
            <a:r>
              <a:rPr lang="zh-CN" altLang="en-US" sz="2000" b="1" dirty="0" smtClean="0">
                <a:solidFill>
                  <a:srgbClr val="7030A0"/>
                </a:solidFill>
              </a:rPr>
              <a:t> </a:t>
            </a:r>
            <a:r>
              <a:rPr lang="zh-CN" altLang="en-US" sz="2000" dirty="0" smtClean="0"/>
              <a:t>─ 转换数据被储存在</a:t>
            </a:r>
            <a:r>
              <a:rPr lang="en-US" altLang="zh-CN" sz="2000" dirty="0" smtClean="0"/>
              <a:t>16</a:t>
            </a:r>
            <a:r>
              <a:rPr lang="zh-CN" altLang="en-US" sz="2000" dirty="0" smtClean="0"/>
              <a:t>位</a:t>
            </a:r>
            <a:r>
              <a:rPr lang="en-US" altLang="zh-CN" sz="2000" dirty="0" smtClean="0"/>
              <a:t>ADC_DR</a:t>
            </a:r>
            <a:r>
              <a:rPr lang="zh-CN" altLang="en-US" sz="2000" dirty="0" smtClean="0"/>
              <a:t>寄存器中 </a:t>
            </a:r>
            <a:endParaRPr lang="en-US" altLang="zh-CN" sz="2000" dirty="0" smtClean="0"/>
          </a:p>
          <a:p>
            <a:pPr>
              <a:lnSpc>
                <a:spcPct val="150000"/>
              </a:lnSpc>
              <a:buClr>
                <a:srgbClr val="C00000"/>
              </a:buClr>
            </a:pPr>
            <a:r>
              <a:rPr lang="zh-CN" altLang="en-US" sz="2000" dirty="0" smtClean="0"/>
              <a:t>─ </a:t>
            </a:r>
            <a:r>
              <a:rPr lang="en-US" altLang="zh-CN" sz="2000" dirty="0" smtClean="0"/>
              <a:t>EOC(</a:t>
            </a:r>
            <a:r>
              <a:rPr lang="zh-CN" altLang="en-US" sz="2000" dirty="0" smtClean="0"/>
              <a:t>转换结束</a:t>
            </a:r>
            <a:r>
              <a:rPr lang="en-US" altLang="zh-CN" sz="2000" dirty="0" smtClean="0"/>
              <a:t>)</a:t>
            </a:r>
            <a:r>
              <a:rPr lang="zh-CN" altLang="en-US" sz="2000" dirty="0" smtClean="0"/>
              <a:t>标志被设置 </a:t>
            </a:r>
            <a:endParaRPr lang="en-US" altLang="zh-CN" sz="2000" dirty="0" smtClean="0"/>
          </a:p>
          <a:p>
            <a:pPr>
              <a:lnSpc>
                <a:spcPct val="150000"/>
              </a:lnSpc>
              <a:buClr>
                <a:srgbClr val="C00000"/>
              </a:buClr>
            </a:pPr>
            <a:r>
              <a:rPr lang="zh-CN" altLang="en-US" sz="2000" dirty="0" smtClean="0"/>
              <a:t>─ 如果设置了</a:t>
            </a:r>
            <a:r>
              <a:rPr lang="en-US" altLang="zh-CN" sz="2000" dirty="0" smtClean="0"/>
              <a:t>EOCIE</a:t>
            </a:r>
            <a:r>
              <a:rPr lang="zh-CN" altLang="en-US" sz="2000" dirty="0" smtClean="0"/>
              <a:t>，则产生中断。</a:t>
            </a:r>
            <a:endParaRPr lang="en-US" altLang="zh-CN" sz="2000" dirty="0" smtClean="0"/>
          </a:p>
          <a:p>
            <a:pPr>
              <a:lnSpc>
                <a:spcPct val="150000"/>
              </a:lnSpc>
              <a:buClr>
                <a:srgbClr val="C00000"/>
              </a:buClr>
            </a:pPr>
            <a:r>
              <a:rPr lang="zh-CN" altLang="en-US" sz="2000" dirty="0" smtClean="0"/>
              <a:t> ● </a:t>
            </a:r>
            <a:r>
              <a:rPr lang="zh-CN" altLang="en-US" sz="2000" b="1" dirty="0" smtClean="0">
                <a:solidFill>
                  <a:srgbClr val="7030A0"/>
                </a:solidFill>
              </a:rPr>
              <a:t>如果一个注入通道被转换： </a:t>
            </a:r>
            <a:endParaRPr lang="en-US" altLang="zh-CN" sz="2000" b="1" dirty="0" smtClean="0">
              <a:solidFill>
                <a:srgbClr val="7030A0"/>
              </a:solidFill>
            </a:endParaRPr>
          </a:p>
          <a:p>
            <a:pPr>
              <a:lnSpc>
                <a:spcPct val="150000"/>
              </a:lnSpc>
              <a:buClr>
                <a:srgbClr val="C00000"/>
              </a:buClr>
            </a:pPr>
            <a:r>
              <a:rPr lang="zh-CN" altLang="en-US" sz="2000" dirty="0" smtClean="0"/>
              <a:t>─ 转换数据被储存在</a:t>
            </a:r>
            <a:r>
              <a:rPr lang="en-US" altLang="zh-CN" sz="2000" dirty="0" smtClean="0"/>
              <a:t>16</a:t>
            </a:r>
            <a:r>
              <a:rPr lang="zh-CN" altLang="en-US" sz="2000" dirty="0" smtClean="0"/>
              <a:t>位的</a:t>
            </a:r>
            <a:r>
              <a:rPr lang="en-US" altLang="zh-CN" sz="2000" dirty="0" smtClean="0"/>
              <a:t>ADC_DRJ1</a:t>
            </a:r>
            <a:r>
              <a:rPr lang="zh-CN" altLang="en-US" sz="2000" dirty="0" smtClean="0"/>
              <a:t>寄存器中 </a:t>
            </a:r>
            <a:endParaRPr lang="en-US" altLang="zh-CN" sz="2000" dirty="0" smtClean="0"/>
          </a:p>
          <a:p>
            <a:pPr>
              <a:lnSpc>
                <a:spcPct val="150000"/>
              </a:lnSpc>
              <a:buClr>
                <a:srgbClr val="C00000"/>
              </a:buClr>
            </a:pPr>
            <a:r>
              <a:rPr lang="zh-CN" altLang="en-US" sz="2000" dirty="0" smtClean="0"/>
              <a:t>─ </a:t>
            </a:r>
            <a:r>
              <a:rPr lang="en-US" altLang="zh-CN" sz="2000" dirty="0" smtClean="0"/>
              <a:t>JEOC(</a:t>
            </a:r>
            <a:r>
              <a:rPr lang="zh-CN" altLang="en-US" sz="2000" dirty="0" smtClean="0"/>
              <a:t>注入转换结束</a:t>
            </a:r>
            <a:r>
              <a:rPr lang="en-US" altLang="zh-CN" sz="2000" dirty="0" smtClean="0"/>
              <a:t>)</a:t>
            </a:r>
            <a:r>
              <a:rPr lang="zh-CN" altLang="en-US" sz="2000" dirty="0" smtClean="0"/>
              <a:t>标志被设置 </a:t>
            </a:r>
            <a:endParaRPr lang="en-US" altLang="zh-CN" sz="2000" dirty="0" smtClean="0"/>
          </a:p>
          <a:p>
            <a:pPr>
              <a:lnSpc>
                <a:spcPct val="150000"/>
              </a:lnSpc>
              <a:buClr>
                <a:srgbClr val="C00000"/>
              </a:buClr>
            </a:pPr>
            <a:r>
              <a:rPr lang="zh-CN" altLang="en-US" sz="2000" dirty="0" smtClean="0"/>
              <a:t>─ 如果设置了</a:t>
            </a:r>
            <a:r>
              <a:rPr lang="en-US" altLang="zh-CN" sz="2000" dirty="0" smtClean="0"/>
              <a:t>JEOCIE</a:t>
            </a:r>
            <a:r>
              <a:rPr lang="zh-CN" altLang="en-US" sz="2000" dirty="0" smtClean="0"/>
              <a:t>位，则产生中断。</a:t>
            </a:r>
            <a:endParaRPr lang="zh-CN" altLang="en-US" sz="2000" dirty="0"/>
          </a:p>
        </p:txBody>
      </p:sp>
      <p:pic>
        <p:nvPicPr>
          <p:cNvPr id="151554" name="Picture 2"/>
          <p:cNvPicPr>
            <a:picLocks noChangeAspect="1" noChangeArrowheads="1"/>
          </p:cNvPicPr>
          <p:nvPr/>
        </p:nvPicPr>
        <p:blipFill>
          <a:blip r:embed="rId2"/>
          <a:srcRect/>
          <a:stretch>
            <a:fillRect/>
          </a:stretch>
        </p:blipFill>
        <p:spPr bwMode="auto">
          <a:xfrm>
            <a:off x="7538163" y="2774691"/>
            <a:ext cx="3143250" cy="28575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3813" y="522514"/>
            <a:ext cx="10282334" cy="5355312"/>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smtClean="0">
                <a:solidFill>
                  <a:srgbClr val="C00000"/>
                </a:solidFill>
              </a:rPr>
              <a:t>连续转换模式</a:t>
            </a:r>
            <a:endParaRPr lang="en-US" altLang="zh-CN" sz="2800" b="1" dirty="0" smtClean="0">
              <a:solidFill>
                <a:srgbClr val="C00000"/>
              </a:solidFill>
            </a:endParaRPr>
          </a:p>
          <a:p>
            <a:pPr>
              <a:lnSpc>
                <a:spcPct val="150000"/>
              </a:lnSpc>
              <a:buClr>
                <a:srgbClr val="C00000"/>
              </a:buClr>
            </a:pPr>
            <a:r>
              <a:rPr lang="zh-CN" altLang="en-US" sz="2000" dirty="0" smtClean="0"/>
              <a:t>      在连续转换模式中，当前面</a:t>
            </a:r>
            <a:r>
              <a:rPr lang="en-US" altLang="zh-CN" sz="2000" dirty="0" smtClean="0"/>
              <a:t>ADC</a:t>
            </a:r>
            <a:r>
              <a:rPr lang="zh-CN" altLang="en-US" sz="2000" dirty="0" smtClean="0"/>
              <a:t>转换一结束马上就启动另一次转换。此模式可通过外部触发启动或通过设置</a:t>
            </a:r>
            <a:r>
              <a:rPr lang="en-US" altLang="zh-CN" sz="2000" dirty="0" smtClean="0"/>
              <a:t>ADC_CR2</a:t>
            </a:r>
            <a:r>
              <a:rPr lang="zh-CN" altLang="en-US" sz="2000" dirty="0" smtClean="0"/>
              <a:t>寄存器上的</a:t>
            </a:r>
            <a:r>
              <a:rPr lang="en-US" altLang="zh-CN" sz="2000" dirty="0" smtClean="0"/>
              <a:t>ADON</a:t>
            </a:r>
            <a:r>
              <a:rPr lang="zh-CN" altLang="en-US" sz="2000" dirty="0" smtClean="0"/>
              <a:t>位启动，此时</a:t>
            </a:r>
            <a:r>
              <a:rPr lang="en-US" altLang="zh-CN" sz="2000" dirty="0" smtClean="0"/>
              <a:t>CONT</a:t>
            </a:r>
            <a:r>
              <a:rPr lang="zh-CN" altLang="en-US" sz="2000" dirty="0" smtClean="0"/>
              <a:t>位是</a:t>
            </a:r>
            <a:r>
              <a:rPr lang="en-US" altLang="zh-CN" sz="2000" dirty="0" smtClean="0"/>
              <a:t>1</a:t>
            </a:r>
            <a:r>
              <a:rPr lang="zh-CN" altLang="en-US" sz="2000" dirty="0" smtClean="0"/>
              <a:t>。</a:t>
            </a:r>
            <a:endParaRPr lang="en-US" altLang="zh-CN" sz="2000" dirty="0" smtClean="0"/>
          </a:p>
          <a:p>
            <a:pPr>
              <a:lnSpc>
                <a:spcPct val="150000"/>
              </a:lnSpc>
              <a:buClr>
                <a:srgbClr val="C00000"/>
              </a:buClr>
            </a:pPr>
            <a:r>
              <a:rPr lang="zh-CN" altLang="en-US" sz="2000" dirty="0" smtClean="0"/>
              <a:t> ● </a:t>
            </a:r>
            <a:r>
              <a:rPr lang="zh-CN" altLang="en-US" sz="2000" b="1" dirty="0" smtClean="0">
                <a:solidFill>
                  <a:srgbClr val="7030A0"/>
                </a:solidFill>
              </a:rPr>
              <a:t>如果一个规则通道被转换：</a:t>
            </a:r>
            <a:endParaRPr lang="en-US" altLang="zh-CN" sz="2000" b="1" dirty="0" smtClean="0">
              <a:solidFill>
                <a:srgbClr val="7030A0"/>
              </a:solidFill>
            </a:endParaRPr>
          </a:p>
          <a:p>
            <a:pPr>
              <a:lnSpc>
                <a:spcPct val="150000"/>
              </a:lnSpc>
              <a:buClr>
                <a:srgbClr val="C00000"/>
              </a:buClr>
            </a:pPr>
            <a:r>
              <a:rPr lang="zh-CN" altLang="en-US" sz="2000" dirty="0" smtClean="0"/>
              <a:t> ─ 转换数据被储存在</a:t>
            </a:r>
            <a:r>
              <a:rPr lang="en-US" altLang="zh-CN" sz="2000" dirty="0" smtClean="0"/>
              <a:t>16</a:t>
            </a:r>
            <a:r>
              <a:rPr lang="zh-CN" altLang="en-US" sz="2000" dirty="0" smtClean="0"/>
              <a:t>位的</a:t>
            </a:r>
            <a:r>
              <a:rPr lang="en-US" altLang="zh-CN" sz="2000" dirty="0" smtClean="0"/>
              <a:t>ADC_DR</a:t>
            </a:r>
            <a:r>
              <a:rPr lang="zh-CN" altLang="en-US" sz="2000" dirty="0" smtClean="0"/>
              <a:t>寄存器中</a:t>
            </a:r>
            <a:endParaRPr lang="en-US" altLang="zh-CN" sz="2000" dirty="0" smtClean="0"/>
          </a:p>
          <a:p>
            <a:pPr>
              <a:lnSpc>
                <a:spcPct val="150000"/>
              </a:lnSpc>
              <a:buClr>
                <a:srgbClr val="C00000"/>
              </a:buClr>
            </a:pPr>
            <a:r>
              <a:rPr lang="zh-CN" altLang="en-US" sz="2000" dirty="0" smtClean="0"/>
              <a:t> ─ </a:t>
            </a:r>
            <a:r>
              <a:rPr lang="en-US" altLang="zh-CN" sz="2000" dirty="0" smtClean="0"/>
              <a:t>EOC(</a:t>
            </a:r>
            <a:r>
              <a:rPr lang="zh-CN" altLang="en-US" sz="2000" dirty="0" smtClean="0"/>
              <a:t>转换结束</a:t>
            </a:r>
            <a:r>
              <a:rPr lang="en-US" altLang="zh-CN" sz="2000" dirty="0" smtClean="0"/>
              <a:t>)</a:t>
            </a:r>
            <a:r>
              <a:rPr lang="zh-CN" altLang="en-US" sz="2000" dirty="0" smtClean="0"/>
              <a:t>标志被设置</a:t>
            </a:r>
            <a:endParaRPr lang="en-US" altLang="zh-CN" sz="2000" dirty="0" smtClean="0"/>
          </a:p>
          <a:p>
            <a:pPr>
              <a:lnSpc>
                <a:spcPct val="150000"/>
              </a:lnSpc>
              <a:buClr>
                <a:srgbClr val="C00000"/>
              </a:buClr>
            </a:pPr>
            <a:r>
              <a:rPr lang="zh-CN" altLang="en-US" sz="2000" dirty="0" smtClean="0"/>
              <a:t> ─ 如果设置了</a:t>
            </a:r>
            <a:r>
              <a:rPr lang="en-US" altLang="zh-CN" sz="2000" dirty="0" smtClean="0"/>
              <a:t>EOCIE</a:t>
            </a:r>
            <a:r>
              <a:rPr lang="zh-CN" altLang="en-US" sz="2000" dirty="0" smtClean="0"/>
              <a:t>，则产生中断。</a:t>
            </a:r>
            <a:endParaRPr lang="en-US" altLang="zh-CN" sz="2000" dirty="0" smtClean="0"/>
          </a:p>
          <a:p>
            <a:pPr>
              <a:lnSpc>
                <a:spcPct val="150000"/>
              </a:lnSpc>
              <a:buClr>
                <a:srgbClr val="C00000"/>
              </a:buClr>
            </a:pPr>
            <a:r>
              <a:rPr lang="zh-CN" altLang="en-US" sz="2000" dirty="0" smtClean="0"/>
              <a:t> ● </a:t>
            </a:r>
            <a:r>
              <a:rPr lang="zh-CN" altLang="en-US" sz="2000" b="1" dirty="0" smtClean="0">
                <a:solidFill>
                  <a:srgbClr val="7030A0"/>
                </a:solidFill>
              </a:rPr>
              <a:t>如果一个注入通道被转换：</a:t>
            </a:r>
            <a:endParaRPr lang="en-US" altLang="zh-CN" sz="2000" b="1" dirty="0" smtClean="0">
              <a:solidFill>
                <a:srgbClr val="7030A0"/>
              </a:solidFill>
            </a:endParaRPr>
          </a:p>
          <a:p>
            <a:pPr>
              <a:lnSpc>
                <a:spcPct val="150000"/>
              </a:lnSpc>
              <a:buClr>
                <a:srgbClr val="C00000"/>
              </a:buClr>
            </a:pPr>
            <a:r>
              <a:rPr lang="zh-CN" altLang="en-US" sz="2000" dirty="0" smtClean="0"/>
              <a:t> ─ 转换数据被储存在</a:t>
            </a:r>
            <a:r>
              <a:rPr lang="en-US" altLang="zh-CN" sz="2000" dirty="0" smtClean="0"/>
              <a:t>16</a:t>
            </a:r>
            <a:r>
              <a:rPr lang="zh-CN" altLang="en-US" sz="2000" dirty="0" smtClean="0"/>
              <a:t>位的</a:t>
            </a:r>
            <a:r>
              <a:rPr lang="en-US" altLang="zh-CN" sz="2000" dirty="0" smtClean="0"/>
              <a:t>ADC_DRJ1</a:t>
            </a:r>
            <a:r>
              <a:rPr lang="zh-CN" altLang="en-US" sz="2000" dirty="0" smtClean="0"/>
              <a:t>寄存器中</a:t>
            </a:r>
            <a:endParaRPr lang="en-US" altLang="zh-CN" sz="2000" dirty="0" smtClean="0"/>
          </a:p>
          <a:p>
            <a:pPr>
              <a:lnSpc>
                <a:spcPct val="150000"/>
              </a:lnSpc>
              <a:buClr>
                <a:srgbClr val="C00000"/>
              </a:buClr>
            </a:pPr>
            <a:r>
              <a:rPr lang="zh-CN" altLang="en-US" sz="2000" dirty="0" smtClean="0"/>
              <a:t> ─ </a:t>
            </a:r>
            <a:r>
              <a:rPr lang="en-US" altLang="zh-CN" sz="2000" dirty="0" smtClean="0"/>
              <a:t>JEOC(</a:t>
            </a:r>
            <a:r>
              <a:rPr lang="zh-CN" altLang="en-US" sz="2000" dirty="0" smtClean="0"/>
              <a:t>注入转换结束</a:t>
            </a:r>
            <a:r>
              <a:rPr lang="en-US" altLang="zh-CN" sz="2000" dirty="0" smtClean="0"/>
              <a:t>)</a:t>
            </a:r>
            <a:r>
              <a:rPr lang="zh-CN" altLang="en-US" sz="2000" dirty="0" smtClean="0"/>
              <a:t>标志被设置 </a:t>
            </a:r>
            <a:endParaRPr lang="en-US" altLang="zh-CN" sz="2000" dirty="0" smtClean="0"/>
          </a:p>
          <a:p>
            <a:pPr>
              <a:lnSpc>
                <a:spcPct val="150000"/>
              </a:lnSpc>
              <a:buClr>
                <a:srgbClr val="C00000"/>
              </a:buClr>
            </a:pPr>
            <a:r>
              <a:rPr lang="zh-CN" altLang="en-US" sz="2000" dirty="0" smtClean="0"/>
              <a:t>─ 如果设置了</a:t>
            </a:r>
            <a:r>
              <a:rPr lang="en-US" altLang="zh-CN" sz="2000" dirty="0" smtClean="0"/>
              <a:t>JEOCIE</a:t>
            </a:r>
            <a:r>
              <a:rPr lang="zh-CN" altLang="en-US" sz="2000" dirty="0" smtClean="0"/>
              <a:t>位，则产生中断。</a:t>
            </a:r>
            <a:endParaRPr lang="zh-CN" altLang="en-US" sz="2000" dirty="0"/>
          </a:p>
        </p:txBody>
      </p:sp>
      <p:pic>
        <p:nvPicPr>
          <p:cNvPr id="152578" name="Picture 2"/>
          <p:cNvPicPr>
            <a:picLocks noChangeAspect="1" noChangeArrowheads="1"/>
          </p:cNvPicPr>
          <p:nvPr/>
        </p:nvPicPr>
        <p:blipFill>
          <a:blip r:embed="rId2"/>
          <a:srcRect/>
          <a:stretch>
            <a:fillRect/>
          </a:stretch>
        </p:blipFill>
        <p:spPr bwMode="auto">
          <a:xfrm>
            <a:off x="6464268" y="2875675"/>
            <a:ext cx="4600575" cy="256222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8376" y="765110"/>
            <a:ext cx="10282334" cy="5262979"/>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smtClean="0">
                <a:solidFill>
                  <a:srgbClr val="C00000"/>
                </a:solidFill>
              </a:rPr>
              <a:t>扫描模式</a:t>
            </a:r>
            <a:endParaRPr lang="en-US" altLang="zh-CN" sz="2800" b="1" dirty="0" smtClean="0">
              <a:solidFill>
                <a:srgbClr val="C00000"/>
              </a:solidFill>
            </a:endParaRPr>
          </a:p>
          <a:p>
            <a:pPr>
              <a:lnSpc>
                <a:spcPct val="150000"/>
              </a:lnSpc>
              <a:buClr>
                <a:srgbClr val="C00000"/>
              </a:buClr>
            </a:pPr>
            <a:r>
              <a:rPr lang="en-US" altLang="zh-CN" sz="2800" dirty="0" smtClean="0"/>
              <a:t>    </a:t>
            </a:r>
            <a:r>
              <a:rPr lang="zh-CN" altLang="en-US" sz="2400" dirty="0" smtClean="0"/>
              <a:t>此模式用来扫描一组模拟通道。 扫描模式可通过设置</a:t>
            </a:r>
            <a:r>
              <a:rPr lang="en-US" altLang="zh-CN" sz="2400" dirty="0" smtClean="0"/>
              <a:t>ADC_CR1</a:t>
            </a:r>
            <a:r>
              <a:rPr lang="zh-CN" altLang="en-US" sz="2400" dirty="0" smtClean="0"/>
              <a:t>寄存器的</a:t>
            </a:r>
            <a:r>
              <a:rPr lang="en-US" altLang="zh-CN" sz="2400" b="1" dirty="0" smtClean="0">
                <a:solidFill>
                  <a:srgbClr val="7030A0"/>
                </a:solidFill>
              </a:rPr>
              <a:t>SCAN</a:t>
            </a:r>
            <a:r>
              <a:rPr lang="zh-CN" altLang="en-US" sz="2400" b="1" dirty="0" smtClean="0">
                <a:solidFill>
                  <a:srgbClr val="7030A0"/>
                </a:solidFill>
              </a:rPr>
              <a:t>位</a:t>
            </a:r>
            <a:r>
              <a:rPr lang="zh-CN" altLang="en-US" sz="2400" dirty="0" smtClean="0"/>
              <a:t>来选择。一旦这个位被设置，</a:t>
            </a:r>
            <a:r>
              <a:rPr lang="en-US" altLang="zh-CN" sz="2400" dirty="0" smtClean="0"/>
              <a:t>ADC</a:t>
            </a:r>
            <a:r>
              <a:rPr lang="zh-CN" altLang="en-US" sz="2400" dirty="0" smtClean="0"/>
              <a:t>扫描所有被 </a:t>
            </a:r>
            <a:r>
              <a:rPr lang="en-US" altLang="zh-CN" sz="2400" dirty="0" smtClean="0"/>
              <a:t>ADC_SQRX</a:t>
            </a:r>
            <a:r>
              <a:rPr lang="zh-CN" altLang="en-US" sz="2400" dirty="0" smtClean="0"/>
              <a:t>寄存器</a:t>
            </a:r>
            <a:r>
              <a:rPr lang="en-US" altLang="zh-CN" sz="2400" dirty="0" smtClean="0"/>
              <a:t>(</a:t>
            </a:r>
            <a:r>
              <a:rPr lang="zh-CN" altLang="en-US" sz="2400" dirty="0" smtClean="0"/>
              <a:t>对规则通道</a:t>
            </a:r>
            <a:r>
              <a:rPr lang="en-US" altLang="zh-CN" sz="2400" dirty="0" smtClean="0"/>
              <a:t>)</a:t>
            </a:r>
            <a:r>
              <a:rPr lang="zh-CN" altLang="en-US" sz="2400" dirty="0" smtClean="0"/>
              <a:t>或</a:t>
            </a:r>
            <a:r>
              <a:rPr lang="en-US" altLang="zh-CN" sz="2400" dirty="0" smtClean="0"/>
              <a:t>ADC_JSQR(</a:t>
            </a:r>
            <a:r>
              <a:rPr lang="zh-CN" altLang="en-US" sz="2400" dirty="0" smtClean="0"/>
              <a:t>对注入通道</a:t>
            </a:r>
            <a:r>
              <a:rPr lang="en-US" altLang="zh-CN" sz="2400" dirty="0" smtClean="0"/>
              <a:t>)</a:t>
            </a:r>
            <a:r>
              <a:rPr lang="zh-CN" altLang="en-US" sz="2400" dirty="0" smtClean="0"/>
              <a:t>选中的所有通道。在每个组的每个通道上执行单次转换。在每个转换结束时，同一组的下一个通道被自动转换。如果设置了</a:t>
            </a:r>
            <a:r>
              <a:rPr lang="en-US" altLang="zh-CN" sz="2400" b="1" dirty="0" smtClean="0">
                <a:solidFill>
                  <a:srgbClr val="7030A0"/>
                </a:solidFill>
              </a:rPr>
              <a:t>CONT</a:t>
            </a:r>
            <a:r>
              <a:rPr lang="zh-CN" altLang="en-US" sz="2400" dirty="0" smtClean="0"/>
              <a:t>位，转换不会在选择组的最后一个通道上停止，而是再次从选择组的第一个通道继续转换。</a:t>
            </a:r>
            <a:endParaRPr lang="en-US" altLang="zh-CN" sz="2400" dirty="0" smtClean="0"/>
          </a:p>
          <a:p>
            <a:pPr>
              <a:lnSpc>
                <a:spcPct val="150000"/>
              </a:lnSpc>
              <a:buClr>
                <a:srgbClr val="C00000"/>
              </a:buClr>
            </a:pPr>
            <a:r>
              <a:rPr lang="zh-CN" altLang="en-US" sz="2400" b="1" dirty="0" smtClean="0">
                <a:solidFill>
                  <a:srgbClr val="7030A0"/>
                </a:solidFill>
              </a:rPr>
              <a:t>      即多个通道单次转换。</a:t>
            </a:r>
            <a:r>
              <a:rPr lang="en-US" altLang="zh-CN" sz="2400" b="1" dirty="0" smtClean="0">
                <a:solidFill>
                  <a:srgbClr val="7030A0"/>
                </a:solidFill>
              </a:rPr>
              <a:t>CONT</a:t>
            </a:r>
            <a:r>
              <a:rPr lang="zh-CN" altLang="en-US" sz="2400" b="1" dirty="0" smtClean="0">
                <a:solidFill>
                  <a:srgbClr val="7030A0"/>
                </a:solidFill>
              </a:rPr>
              <a:t>位用于设置是否进行连续转换。</a:t>
            </a:r>
            <a:endParaRPr lang="en-US" altLang="zh-CN" sz="2400" b="1" dirty="0" smtClean="0">
              <a:solidFill>
                <a:srgbClr val="7030A0"/>
              </a:solidFill>
            </a:endParaRPr>
          </a:p>
          <a:p>
            <a:pPr>
              <a:lnSpc>
                <a:spcPct val="150000"/>
              </a:lnSpc>
              <a:buClr>
                <a:srgbClr val="C00000"/>
              </a:buClr>
            </a:pPr>
            <a:endParaRPr lang="zh-CN"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7829" y="457200"/>
            <a:ext cx="10282334" cy="1015663"/>
          </a:xfrm>
          <a:prstGeom prst="rect">
            <a:avLst/>
          </a:prstGeom>
          <a:noFill/>
        </p:spPr>
        <p:txBody>
          <a:bodyPr wrap="square" rtlCol="0">
            <a:spAutoFit/>
          </a:bodyPr>
          <a:lstStyle/>
          <a:p>
            <a:r>
              <a:rPr lang="zh-CN" altLang="en-US" b="1" dirty="0" smtClean="0"/>
              <a:t>单次转换、连续转换与扫描模式的关系</a:t>
            </a:r>
          </a:p>
          <a:p>
            <a:pPr>
              <a:lnSpc>
                <a:spcPct val="150000"/>
              </a:lnSpc>
              <a:buClr>
                <a:srgbClr val="C00000"/>
              </a:buClr>
            </a:pPr>
            <a:r>
              <a:rPr lang="en-US" altLang="zh-CN" sz="2800" dirty="0" smtClean="0"/>
              <a:t>    </a:t>
            </a:r>
            <a:endParaRPr lang="zh-CN" altLang="en-US" sz="2400" dirty="0"/>
          </a:p>
        </p:txBody>
      </p:sp>
      <p:pic>
        <p:nvPicPr>
          <p:cNvPr id="136194" name="Picture 2"/>
          <p:cNvPicPr>
            <a:picLocks noChangeAspect="1" noChangeArrowheads="1"/>
          </p:cNvPicPr>
          <p:nvPr/>
        </p:nvPicPr>
        <p:blipFill>
          <a:blip r:embed="rId2"/>
          <a:srcRect/>
          <a:stretch>
            <a:fillRect/>
          </a:stretch>
        </p:blipFill>
        <p:spPr bwMode="auto">
          <a:xfrm>
            <a:off x="559836" y="801796"/>
            <a:ext cx="9386595" cy="5689019"/>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8458" y="345231"/>
            <a:ext cx="10282334" cy="6832640"/>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smtClean="0">
                <a:solidFill>
                  <a:srgbClr val="C00000"/>
                </a:solidFill>
              </a:rPr>
              <a:t>注入通道管理</a:t>
            </a:r>
            <a:endParaRPr lang="en-US" altLang="zh-CN" sz="2800" b="1" dirty="0" smtClean="0">
              <a:solidFill>
                <a:srgbClr val="C00000"/>
              </a:solidFill>
            </a:endParaRPr>
          </a:p>
          <a:p>
            <a:pPr>
              <a:lnSpc>
                <a:spcPct val="150000"/>
              </a:lnSpc>
              <a:buClr>
                <a:srgbClr val="C00000"/>
              </a:buClr>
            </a:pPr>
            <a:r>
              <a:rPr lang="zh-CN" altLang="en-US" sz="2400" b="1" dirty="0" smtClean="0">
                <a:solidFill>
                  <a:srgbClr val="7030A0"/>
                </a:solidFill>
              </a:rPr>
              <a:t>触发注入 </a:t>
            </a:r>
            <a:endParaRPr lang="en-US" altLang="zh-CN" sz="2400" b="1" dirty="0" smtClean="0">
              <a:solidFill>
                <a:srgbClr val="7030A0"/>
              </a:solidFill>
            </a:endParaRPr>
          </a:p>
          <a:p>
            <a:pPr>
              <a:lnSpc>
                <a:spcPct val="150000"/>
              </a:lnSpc>
              <a:buClr>
                <a:srgbClr val="C00000"/>
              </a:buClr>
            </a:pPr>
            <a:r>
              <a:rPr lang="en-US" altLang="zh-CN" sz="2400" dirty="0" smtClean="0"/>
              <a:t>    </a:t>
            </a:r>
            <a:r>
              <a:rPr lang="zh-CN" altLang="en-US" sz="2400" b="1" dirty="0" smtClean="0">
                <a:solidFill>
                  <a:srgbClr val="002060"/>
                </a:solidFill>
              </a:rPr>
              <a:t>清除</a:t>
            </a:r>
            <a:r>
              <a:rPr lang="en-US" altLang="zh-CN" sz="2400" b="1" dirty="0" smtClean="0">
                <a:solidFill>
                  <a:srgbClr val="002060"/>
                </a:solidFill>
              </a:rPr>
              <a:t>ADC_CR1</a:t>
            </a:r>
            <a:r>
              <a:rPr lang="zh-CN" altLang="en-US" sz="2400" b="1" dirty="0" smtClean="0">
                <a:solidFill>
                  <a:srgbClr val="002060"/>
                </a:solidFill>
              </a:rPr>
              <a:t>寄存器的</a:t>
            </a:r>
            <a:r>
              <a:rPr lang="en-US" altLang="zh-CN" sz="2400" b="1" dirty="0" smtClean="0">
                <a:solidFill>
                  <a:srgbClr val="002060"/>
                </a:solidFill>
              </a:rPr>
              <a:t>JAUTO</a:t>
            </a:r>
            <a:r>
              <a:rPr lang="zh-CN" altLang="en-US" sz="2400" b="1" dirty="0" smtClean="0">
                <a:solidFill>
                  <a:srgbClr val="002060"/>
                </a:solidFill>
              </a:rPr>
              <a:t>位，并且设置</a:t>
            </a:r>
            <a:r>
              <a:rPr lang="en-US" altLang="zh-CN" sz="2400" b="1" dirty="0" smtClean="0">
                <a:solidFill>
                  <a:srgbClr val="002060"/>
                </a:solidFill>
              </a:rPr>
              <a:t>SCAN</a:t>
            </a:r>
            <a:r>
              <a:rPr lang="zh-CN" altLang="en-US" sz="2400" b="1" dirty="0" smtClean="0">
                <a:solidFill>
                  <a:srgbClr val="002060"/>
                </a:solidFill>
              </a:rPr>
              <a:t>位，即可使用触发注入功能。</a:t>
            </a:r>
            <a:endParaRPr lang="en-US" altLang="zh-CN" sz="2400" b="1" dirty="0" smtClean="0">
              <a:solidFill>
                <a:srgbClr val="002060"/>
              </a:solidFill>
            </a:endParaRPr>
          </a:p>
          <a:p>
            <a:pPr>
              <a:lnSpc>
                <a:spcPct val="150000"/>
              </a:lnSpc>
              <a:buClr>
                <a:srgbClr val="C00000"/>
              </a:buClr>
              <a:buFont typeface="Wingdings" pitchFamily="2" charset="2"/>
              <a:buChar char="Ø"/>
            </a:pPr>
            <a:r>
              <a:rPr lang="zh-CN" altLang="en-US" sz="2400" dirty="0" smtClean="0"/>
              <a:t> </a:t>
            </a:r>
            <a:r>
              <a:rPr lang="en-US" altLang="zh-CN" sz="2400" dirty="0" smtClean="0"/>
              <a:t>1. </a:t>
            </a:r>
            <a:r>
              <a:rPr lang="zh-CN" altLang="en-US" sz="2400" dirty="0" smtClean="0"/>
              <a:t>利用外部触发或通过设置</a:t>
            </a:r>
            <a:r>
              <a:rPr lang="en-US" altLang="zh-CN" sz="2400" dirty="0" smtClean="0"/>
              <a:t>ADC_CR2</a:t>
            </a:r>
            <a:r>
              <a:rPr lang="zh-CN" altLang="en-US" sz="2400" dirty="0" smtClean="0"/>
              <a:t>寄存器的</a:t>
            </a:r>
            <a:r>
              <a:rPr lang="en-US" altLang="zh-CN" sz="2400" dirty="0" smtClean="0"/>
              <a:t>ADON</a:t>
            </a:r>
            <a:r>
              <a:rPr lang="zh-CN" altLang="en-US" sz="2400" dirty="0" smtClean="0"/>
              <a:t>位，启动一组规则通道的转换。</a:t>
            </a:r>
            <a:endParaRPr lang="en-US" altLang="zh-CN" sz="2400" dirty="0" smtClean="0"/>
          </a:p>
          <a:p>
            <a:pPr>
              <a:lnSpc>
                <a:spcPct val="150000"/>
              </a:lnSpc>
              <a:buClr>
                <a:srgbClr val="C00000"/>
              </a:buClr>
              <a:buFont typeface="Wingdings" pitchFamily="2" charset="2"/>
              <a:buChar char="Ø"/>
            </a:pPr>
            <a:r>
              <a:rPr lang="zh-CN" altLang="en-US" sz="2400" dirty="0" smtClean="0"/>
              <a:t> </a:t>
            </a:r>
            <a:r>
              <a:rPr lang="en-US" altLang="zh-CN" sz="2400" dirty="0" smtClean="0"/>
              <a:t>2. </a:t>
            </a:r>
            <a:r>
              <a:rPr lang="zh-CN" altLang="en-US" sz="2400" dirty="0" smtClean="0"/>
              <a:t>如果在规则通道转换期间产生一外部注入触发，当前转换被复位，注入通道序列被以单次扫描方式进行转换。</a:t>
            </a:r>
            <a:endParaRPr lang="en-US" altLang="zh-CN" sz="2400" dirty="0" smtClean="0"/>
          </a:p>
          <a:p>
            <a:pPr>
              <a:lnSpc>
                <a:spcPct val="150000"/>
              </a:lnSpc>
              <a:buClr>
                <a:srgbClr val="C00000"/>
              </a:buClr>
              <a:buFont typeface="Wingdings" pitchFamily="2" charset="2"/>
              <a:buChar char="Ø"/>
            </a:pPr>
            <a:r>
              <a:rPr lang="zh-CN" altLang="en-US" sz="2400" dirty="0" smtClean="0"/>
              <a:t> </a:t>
            </a:r>
            <a:r>
              <a:rPr lang="en-US" altLang="zh-CN" sz="2400" dirty="0" smtClean="0"/>
              <a:t>3. </a:t>
            </a:r>
            <a:r>
              <a:rPr lang="zh-CN" altLang="en-US" sz="2400" dirty="0" smtClean="0"/>
              <a:t>然后，恢复上次被中断的规则组通道转换。如果在注入转换期间产生一规则事件，注入转换不会被中断，但是规则序列将在注入序列结束后被执行。</a:t>
            </a:r>
            <a:endParaRPr lang="en-US" altLang="zh-CN" sz="2400" b="1" dirty="0" smtClean="0">
              <a:solidFill>
                <a:srgbClr val="C00000"/>
              </a:solidFill>
            </a:endParaRPr>
          </a:p>
          <a:p>
            <a:pPr>
              <a:lnSpc>
                <a:spcPct val="150000"/>
              </a:lnSpc>
              <a:buClr>
                <a:srgbClr val="C00000"/>
              </a:buClr>
            </a:pPr>
            <a:endParaRPr lang="zh-CN" altLang="en-US" sz="2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s://img-blog.csdn.net/20180424223040319"/>
          <p:cNvPicPr>
            <a:picLocks noChangeAspect="1" noChangeArrowheads="1"/>
          </p:cNvPicPr>
          <p:nvPr/>
        </p:nvPicPr>
        <p:blipFill>
          <a:blip r:embed="rId2"/>
          <a:srcRect/>
          <a:stretch>
            <a:fillRect/>
          </a:stretch>
        </p:blipFill>
        <p:spPr bwMode="auto">
          <a:xfrm>
            <a:off x="3020073" y="1309882"/>
            <a:ext cx="5619750" cy="298132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5152" y="681133"/>
            <a:ext cx="10842170" cy="4062651"/>
          </a:xfrm>
          <a:prstGeom prst="rect">
            <a:avLst/>
          </a:prstGeom>
          <a:noFill/>
        </p:spPr>
        <p:txBody>
          <a:bodyPr wrap="square" rtlCol="0">
            <a:spAutoFit/>
          </a:bodyPr>
          <a:lstStyle/>
          <a:p>
            <a:pPr>
              <a:lnSpc>
                <a:spcPct val="150000"/>
              </a:lnSpc>
              <a:buClr>
                <a:srgbClr val="C00000"/>
              </a:buClr>
            </a:pPr>
            <a:r>
              <a:rPr lang="zh-CN" altLang="en-US" sz="3200" b="1" dirty="0" smtClean="0">
                <a:solidFill>
                  <a:srgbClr val="7030A0"/>
                </a:solidFill>
              </a:rPr>
              <a:t>自动注入 </a:t>
            </a:r>
            <a:endParaRPr lang="en-US" altLang="zh-CN" sz="3200" b="1" dirty="0" smtClean="0">
              <a:solidFill>
                <a:srgbClr val="7030A0"/>
              </a:solidFill>
            </a:endParaRPr>
          </a:p>
          <a:p>
            <a:pPr>
              <a:lnSpc>
                <a:spcPct val="150000"/>
              </a:lnSpc>
              <a:buClr>
                <a:srgbClr val="C00000"/>
              </a:buClr>
            </a:pPr>
            <a:r>
              <a:rPr lang="zh-CN" altLang="en-US" sz="2800" dirty="0" smtClean="0"/>
              <a:t>      如果设置了</a:t>
            </a:r>
            <a:r>
              <a:rPr lang="en-US" altLang="zh-CN" sz="2800" dirty="0" smtClean="0"/>
              <a:t>JAUTO</a:t>
            </a:r>
            <a:r>
              <a:rPr lang="zh-CN" altLang="en-US" sz="2800" dirty="0" smtClean="0"/>
              <a:t>位，</a:t>
            </a:r>
            <a:r>
              <a:rPr lang="zh-CN" altLang="en-US" sz="2800" b="1" dirty="0" smtClean="0">
                <a:solidFill>
                  <a:srgbClr val="00B0F0"/>
                </a:solidFill>
              </a:rPr>
              <a:t>在规则组通道之后，注入组通道被自动转换。</a:t>
            </a:r>
            <a:r>
              <a:rPr lang="zh-CN" altLang="en-US" sz="2800" dirty="0" smtClean="0"/>
              <a:t>这可以用来转换在 </a:t>
            </a:r>
            <a:r>
              <a:rPr lang="en-US" altLang="zh-CN" sz="2800" dirty="0" err="1" smtClean="0"/>
              <a:t>ADC_SQRx</a:t>
            </a:r>
            <a:r>
              <a:rPr lang="zh-CN" altLang="en-US" sz="2800" dirty="0" smtClean="0"/>
              <a:t>和</a:t>
            </a:r>
            <a:r>
              <a:rPr lang="en-US" altLang="zh-CN" sz="2800" dirty="0" smtClean="0"/>
              <a:t>ADC_JSQR</a:t>
            </a:r>
            <a:r>
              <a:rPr lang="zh-CN" altLang="en-US" sz="2800" dirty="0" smtClean="0"/>
              <a:t>寄存器中设置的多至</a:t>
            </a:r>
            <a:r>
              <a:rPr lang="en-US" altLang="zh-CN" sz="2800" dirty="0" smtClean="0"/>
              <a:t>20</a:t>
            </a:r>
            <a:r>
              <a:rPr lang="zh-CN" altLang="en-US" sz="2800" dirty="0" smtClean="0"/>
              <a:t>个转换序列。 </a:t>
            </a:r>
            <a:endParaRPr lang="en-US" altLang="zh-CN" sz="2800" dirty="0" smtClean="0"/>
          </a:p>
          <a:p>
            <a:pPr>
              <a:lnSpc>
                <a:spcPct val="150000"/>
              </a:lnSpc>
              <a:buClr>
                <a:srgbClr val="C00000"/>
              </a:buClr>
            </a:pPr>
            <a:r>
              <a:rPr lang="en-US" altLang="zh-CN" sz="2800" dirty="0" smtClean="0"/>
              <a:t>      </a:t>
            </a:r>
            <a:r>
              <a:rPr lang="zh-CN" altLang="en-US" sz="2800" dirty="0" smtClean="0"/>
              <a:t>在此模式里，必须禁止注入通道的外部触发。 如果除</a:t>
            </a:r>
            <a:r>
              <a:rPr lang="en-US" altLang="zh-CN" sz="2800" dirty="0" smtClean="0"/>
              <a:t>JAUTO</a:t>
            </a:r>
            <a:r>
              <a:rPr lang="zh-CN" altLang="en-US" sz="2800" dirty="0" smtClean="0"/>
              <a:t>位外还设置了</a:t>
            </a:r>
            <a:r>
              <a:rPr lang="en-US" altLang="zh-CN" sz="2800" dirty="0" smtClean="0"/>
              <a:t>CONT</a:t>
            </a:r>
            <a:r>
              <a:rPr lang="zh-CN" altLang="en-US" sz="2800" dirty="0" smtClean="0"/>
              <a:t>位，规则通道至注入通道的转换序列被连续执行。</a:t>
            </a:r>
            <a:endParaRPr lang="zh-CN" altLang="en-US" sz="2400" dirty="0"/>
          </a:p>
        </p:txBody>
      </p:sp>
      <p:sp>
        <p:nvSpPr>
          <p:cNvPr id="3" name="矩形 2"/>
          <p:cNvSpPr/>
          <p:nvPr/>
        </p:nvSpPr>
        <p:spPr>
          <a:xfrm>
            <a:off x="700110" y="5054472"/>
            <a:ext cx="8122736" cy="584775"/>
          </a:xfrm>
          <a:prstGeom prst="rect">
            <a:avLst/>
          </a:prstGeom>
        </p:spPr>
        <p:txBody>
          <a:bodyPr wrap="none">
            <a:spAutoFit/>
          </a:bodyPr>
          <a:lstStyle/>
          <a:p>
            <a:r>
              <a:rPr lang="zh-CN" altLang="en-US" sz="3200" b="1" dirty="0" smtClean="0">
                <a:solidFill>
                  <a:srgbClr val="002060"/>
                </a:solidFill>
              </a:rPr>
              <a:t>注意： 不可能同时使用自动注入和间断模式</a:t>
            </a:r>
            <a:endParaRPr lang="zh-CN" altLang="en-US" sz="3200" b="1" dirty="0">
              <a:solidFill>
                <a:srgbClr val="00206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descr="https://img-blog.csdnimg.cn/20200925144817488.png?x-oss-process=image/watermark,type_ZmFuZ3poZW5naGVpdGk,shadow_10,text_aHR0cHM6Ly9ibG9nLmNzZG4ubmV0L3FxXzI4NTE0OTkx,size_16,color_FFFFFF,t_70"/>
          <p:cNvPicPr>
            <a:picLocks noChangeAspect="1" noChangeArrowheads="1"/>
          </p:cNvPicPr>
          <p:nvPr/>
        </p:nvPicPr>
        <p:blipFill>
          <a:blip r:embed="rId2"/>
          <a:srcRect/>
          <a:stretch>
            <a:fillRect/>
          </a:stretch>
        </p:blipFill>
        <p:spPr bwMode="auto">
          <a:xfrm>
            <a:off x="29732" y="634482"/>
            <a:ext cx="12162268" cy="5587805"/>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Picture 1"/>
          <p:cNvPicPr>
            <a:picLocks noChangeAspect="1" noChangeArrowheads="1"/>
          </p:cNvPicPr>
          <p:nvPr/>
        </p:nvPicPr>
        <p:blipFill>
          <a:blip r:embed="rId2"/>
          <a:srcRect/>
          <a:stretch>
            <a:fillRect/>
          </a:stretch>
        </p:blipFill>
        <p:spPr bwMode="auto">
          <a:xfrm>
            <a:off x="1245119" y="1111704"/>
            <a:ext cx="9347200" cy="3981450"/>
          </a:xfrm>
          <a:prstGeom prst="rect">
            <a:avLst/>
          </a:prstGeom>
          <a:noFill/>
          <a:ln w="9525">
            <a:noFill/>
            <a:miter lim="800000"/>
            <a:headEnd/>
            <a:tailEnd/>
          </a:ln>
          <a:effectLst/>
        </p:spPr>
      </p:pic>
      <p:pic>
        <p:nvPicPr>
          <p:cNvPr id="97282" name="Picture 2"/>
          <p:cNvPicPr>
            <a:picLocks noChangeAspect="1" noChangeArrowheads="1"/>
          </p:cNvPicPr>
          <p:nvPr/>
        </p:nvPicPr>
        <p:blipFill>
          <a:blip r:embed="rId3"/>
          <a:srcRect/>
          <a:stretch>
            <a:fillRect/>
          </a:stretch>
        </p:blipFill>
        <p:spPr bwMode="auto">
          <a:xfrm>
            <a:off x="2184919" y="5086804"/>
            <a:ext cx="8382000" cy="603250"/>
          </a:xfrm>
          <a:prstGeom prst="rect">
            <a:avLst/>
          </a:prstGeom>
          <a:noFill/>
          <a:ln w="9525">
            <a:noFill/>
            <a:miter lim="800000"/>
            <a:headEnd/>
            <a:tailEnd/>
          </a:ln>
          <a:effectLst/>
        </p:spPr>
      </p:pic>
      <p:sp>
        <p:nvSpPr>
          <p:cNvPr id="5" name="矩形 4"/>
          <p:cNvSpPr/>
          <p:nvPr/>
        </p:nvSpPr>
        <p:spPr>
          <a:xfrm>
            <a:off x="767347" y="631763"/>
            <a:ext cx="4107215" cy="369332"/>
          </a:xfrm>
          <a:prstGeom prst="rect">
            <a:avLst/>
          </a:prstGeom>
        </p:spPr>
        <p:txBody>
          <a:bodyPr wrap="none">
            <a:spAutoFit/>
          </a:bodyPr>
          <a:lstStyle/>
          <a:p>
            <a:r>
              <a:rPr lang="en-US" dirty="0" smtClean="0"/>
              <a:t>ADC</a:t>
            </a:r>
            <a:r>
              <a:rPr lang="zh-CN" altLang="en-US" dirty="0" smtClean="0"/>
              <a:t>规则序列寄存器 </a:t>
            </a:r>
            <a:r>
              <a:rPr lang="en-US" altLang="zh-CN" dirty="0" smtClean="0"/>
              <a:t>1(</a:t>
            </a:r>
            <a:r>
              <a:rPr lang="en-US" dirty="0" smtClean="0"/>
              <a:t>ADC_SQR1) </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3" name="Picture 1"/>
          <p:cNvPicPr>
            <a:picLocks noChangeAspect="1" noChangeArrowheads="1"/>
          </p:cNvPicPr>
          <p:nvPr/>
        </p:nvPicPr>
        <p:blipFill>
          <a:blip r:embed="rId2"/>
          <a:srcRect/>
          <a:stretch>
            <a:fillRect/>
          </a:stretch>
        </p:blipFill>
        <p:spPr bwMode="auto">
          <a:xfrm>
            <a:off x="1686800" y="956682"/>
            <a:ext cx="8240971" cy="4483430"/>
          </a:xfrm>
          <a:prstGeom prst="rect">
            <a:avLst/>
          </a:prstGeom>
          <a:noFill/>
          <a:ln w="9525">
            <a:noFill/>
            <a:miter lim="800000"/>
            <a:headEnd/>
            <a:tailEnd/>
          </a:ln>
          <a:effectLst/>
        </p:spPr>
      </p:pic>
      <p:sp>
        <p:nvSpPr>
          <p:cNvPr id="8" name="TextBox 7"/>
          <p:cNvSpPr txBox="1"/>
          <p:nvPr/>
        </p:nvSpPr>
        <p:spPr>
          <a:xfrm>
            <a:off x="941227" y="5468540"/>
            <a:ext cx="9005207" cy="461665"/>
          </a:xfrm>
          <a:prstGeom prst="rect">
            <a:avLst/>
          </a:prstGeom>
          <a:noFill/>
        </p:spPr>
        <p:txBody>
          <a:bodyPr wrap="square" rtlCol="0">
            <a:spAutoFit/>
          </a:bodyPr>
          <a:lstStyle/>
          <a:p>
            <a:r>
              <a:rPr lang="zh-CN" altLang="en-US" sz="2400" b="1" dirty="0" smtClean="0">
                <a:solidFill>
                  <a:schemeClr val="accent6"/>
                </a:solidFill>
              </a:rPr>
              <a:t>注：如果转换序列中超过</a:t>
            </a:r>
            <a:r>
              <a:rPr lang="en-US" altLang="zh-CN" sz="2400" b="1" dirty="0" smtClean="0">
                <a:solidFill>
                  <a:schemeClr val="accent6"/>
                </a:solidFill>
              </a:rPr>
              <a:t>1</a:t>
            </a:r>
            <a:r>
              <a:rPr lang="zh-CN" altLang="en-US" sz="2400" b="1" dirty="0" smtClean="0">
                <a:solidFill>
                  <a:schemeClr val="accent6"/>
                </a:solidFill>
              </a:rPr>
              <a:t>个通道需要转换，必须开启扫描模式</a:t>
            </a:r>
            <a:endParaRPr lang="zh-CN" altLang="en-US" sz="2400" b="1" dirty="0">
              <a:solidFill>
                <a:schemeClr val="accent6"/>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09451" y="519878"/>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sz="4400" b="1" dirty="0" smtClean="0">
                <a:solidFill>
                  <a:srgbClr val="14529E"/>
                </a:solidFill>
              </a:rPr>
              <a:t>9.3 </a:t>
            </a:r>
            <a:r>
              <a:rPr lang="zh-CN" altLang="en-US" sz="4400" b="1" dirty="0" smtClean="0">
                <a:solidFill>
                  <a:srgbClr val="14529E"/>
                </a:solidFill>
              </a:rPr>
              <a:t>数据对齐</a:t>
            </a:r>
            <a:endParaRPr lang="zh-CN" altLang="en-US" sz="4400" b="1" dirty="0">
              <a:solidFill>
                <a:srgbClr val="14529E"/>
              </a:solidFill>
              <a:latin typeface="+mj-lt"/>
              <a:ea typeface="+mj-ea"/>
              <a:cs typeface="+mj-cs"/>
            </a:endParaRPr>
          </a:p>
        </p:txBody>
      </p:sp>
      <p:sp>
        <p:nvSpPr>
          <p:cNvPr id="6" name="矩形 5"/>
          <p:cNvSpPr/>
          <p:nvPr/>
        </p:nvSpPr>
        <p:spPr>
          <a:xfrm>
            <a:off x="559837" y="1348800"/>
            <a:ext cx="11122089" cy="2344744"/>
          </a:xfrm>
          <a:prstGeom prst="rect">
            <a:avLst/>
          </a:prstGeom>
        </p:spPr>
        <p:txBody>
          <a:bodyPr wrap="square">
            <a:spAutoFit/>
          </a:bodyPr>
          <a:lstStyle/>
          <a:p>
            <a:pPr>
              <a:lnSpc>
                <a:spcPct val="150000"/>
              </a:lnSpc>
            </a:pPr>
            <a:r>
              <a:rPr lang="en-US" altLang="zh-CN" sz="2000" dirty="0" smtClean="0"/>
              <a:t>      ADC</a:t>
            </a:r>
            <a:r>
              <a:rPr lang="zh-CN" altLang="en-US" sz="2000" dirty="0" smtClean="0"/>
              <a:t>转换后的数据根据转换组的不同，规则组的数据放在</a:t>
            </a:r>
            <a:r>
              <a:rPr lang="en-US" altLang="zh-CN" sz="2000" dirty="0" smtClean="0"/>
              <a:t>ADC_DR</a:t>
            </a:r>
            <a:r>
              <a:rPr lang="zh-CN" altLang="en-US" sz="2000" dirty="0" smtClean="0"/>
              <a:t>寄存器内，注入组的数据放在 </a:t>
            </a:r>
            <a:r>
              <a:rPr lang="en-US" altLang="zh-CN" sz="2000" dirty="0" err="1" smtClean="0"/>
              <a:t>JDRx</a:t>
            </a:r>
            <a:r>
              <a:rPr lang="zh-CN" altLang="en-US" sz="2000" dirty="0" smtClean="0"/>
              <a:t>内。 因为</a:t>
            </a:r>
            <a:r>
              <a:rPr lang="en-US" altLang="zh-CN" sz="2000" dirty="0" smtClean="0"/>
              <a:t>STM32F1</a:t>
            </a:r>
            <a:r>
              <a:rPr lang="zh-CN" altLang="en-US" sz="2000" dirty="0" smtClean="0"/>
              <a:t>的</a:t>
            </a:r>
            <a:r>
              <a:rPr lang="en-US" altLang="zh-CN" sz="2000" dirty="0" smtClean="0"/>
              <a:t>ADC</a:t>
            </a:r>
            <a:r>
              <a:rPr lang="zh-CN" altLang="en-US" sz="2000" dirty="0" smtClean="0"/>
              <a:t>是</a:t>
            </a:r>
            <a:r>
              <a:rPr lang="en-US" altLang="zh-CN" sz="2000" dirty="0" smtClean="0"/>
              <a:t>12</a:t>
            </a:r>
            <a:r>
              <a:rPr lang="zh-CN" altLang="en-US" sz="2000" dirty="0" smtClean="0"/>
              <a:t>位转换精度，而数据寄存器是</a:t>
            </a:r>
            <a:r>
              <a:rPr lang="en-US" altLang="zh-CN" sz="2000" dirty="0" smtClean="0"/>
              <a:t>16</a:t>
            </a:r>
            <a:r>
              <a:rPr lang="zh-CN" altLang="en-US" sz="2000" dirty="0" smtClean="0"/>
              <a:t>位，所以</a:t>
            </a:r>
            <a:r>
              <a:rPr lang="en-US" altLang="zh-CN" sz="2000" dirty="0" smtClean="0"/>
              <a:t>ADC </a:t>
            </a:r>
            <a:r>
              <a:rPr lang="zh-CN" altLang="en-US" sz="2000" dirty="0" smtClean="0"/>
              <a:t>在存放数据的时候就有左对齐和右对齐区分。如果是左对齐，</a:t>
            </a:r>
            <a:r>
              <a:rPr lang="en-US" altLang="zh-CN" sz="2000" dirty="0" smtClean="0"/>
              <a:t>AD</a:t>
            </a:r>
            <a:r>
              <a:rPr lang="zh-CN" altLang="en-US" sz="2000" dirty="0" smtClean="0"/>
              <a:t>转换完 成数据存放在 </a:t>
            </a:r>
            <a:r>
              <a:rPr lang="en-US" altLang="zh-CN" sz="2000" dirty="0" smtClean="0"/>
              <a:t>ADC_DR </a:t>
            </a:r>
            <a:r>
              <a:rPr lang="zh-CN" altLang="en-US" sz="2000" dirty="0" smtClean="0"/>
              <a:t>寄存器的</a:t>
            </a:r>
            <a:r>
              <a:rPr lang="en-US" altLang="zh-CN" sz="2000" dirty="0" smtClean="0"/>
              <a:t>[4:15]</a:t>
            </a:r>
            <a:r>
              <a:rPr lang="zh-CN" altLang="en-US" sz="2000" dirty="0" smtClean="0"/>
              <a:t>位内；如果是右对齐，则存放在 </a:t>
            </a:r>
            <a:r>
              <a:rPr lang="en-US" altLang="zh-CN" sz="2000" dirty="0" smtClean="0"/>
              <a:t>ADC_DR </a:t>
            </a:r>
            <a:r>
              <a:rPr lang="zh-CN" altLang="en-US" sz="2000" dirty="0" smtClean="0"/>
              <a:t>寄存器的</a:t>
            </a:r>
            <a:r>
              <a:rPr lang="en-US" altLang="zh-CN" sz="2000" dirty="0" smtClean="0"/>
              <a:t>[0:11]</a:t>
            </a:r>
            <a:r>
              <a:rPr lang="zh-CN" altLang="en-US" sz="2000" dirty="0" smtClean="0"/>
              <a:t>位内。具体选择何种存放方式，需通过</a:t>
            </a:r>
            <a:r>
              <a:rPr lang="en-US" altLang="zh-CN" sz="2000" dirty="0" smtClean="0"/>
              <a:t>ADC_CR2 </a:t>
            </a:r>
            <a:r>
              <a:rPr lang="zh-CN" altLang="en-US" sz="2000" dirty="0" smtClean="0"/>
              <a:t>的 </a:t>
            </a:r>
            <a:r>
              <a:rPr lang="en-US" altLang="zh-CN" sz="2000" dirty="0" smtClean="0"/>
              <a:t>11 </a:t>
            </a:r>
            <a:r>
              <a:rPr lang="zh-CN" altLang="en-US" sz="2000" dirty="0" smtClean="0"/>
              <a:t>位 </a:t>
            </a:r>
            <a:r>
              <a:rPr lang="en-US" altLang="zh-CN" sz="2000" dirty="0" smtClean="0"/>
              <a:t>ALIGN </a:t>
            </a:r>
            <a:r>
              <a:rPr lang="zh-CN" altLang="en-US" sz="2000" dirty="0" smtClean="0"/>
              <a:t>设置。</a:t>
            </a:r>
            <a:endParaRPr lang="zh-CN" altLang="en-US" sz="2000" dirty="0"/>
          </a:p>
        </p:txBody>
      </p:sp>
      <p:pic>
        <p:nvPicPr>
          <p:cNvPr id="94209" name="Picture 1"/>
          <p:cNvPicPr>
            <a:picLocks noChangeAspect="1" noChangeArrowheads="1"/>
          </p:cNvPicPr>
          <p:nvPr/>
        </p:nvPicPr>
        <p:blipFill>
          <a:blip r:embed="rId3"/>
          <a:srcRect/>
          <a:stretch>
            <a:fillRect/>
          </a:stretch>
        </p:blipFill>
        <p:spPr bwMode="auto">
          <a:xfrm>
            <a:off x="2342761" y="3645726"/>
            <a:ext cx="6539982" cy="2872289"/>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09451" y="519878"/>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sz="4400" b="1" dirty="0" smtClean="0">
                <a:solidFill>
                  <a:srgbClr val="14529E"/>
                </a:solidFill>
              </a:rPr>
              <a:t>9.3 ADC</a:t>
            </a:r>
            <a:r>
              <a:rPr lang="zh-CN" altLang="en-US" sz="4400" b="1" dirty="0" smtClean="0">
                <a:solidFill>
                  <a:srgbClr val="14529E"/>
                </a:solidFill>
              </a:rPr>
              <a:t>中断</a:t>
            </a:r>
            <a:endParaRPr lang="zh-CN" altLang="en-US" sz="4400" b="1" dirty="0">
              <a:solidFill>
                <a:srgbClr val="14529E"/>
              </a:solidFill>
            </a:endParaRPr>
          </a:p>
        </p:txBody>
      </p:sp>
      <p:sp>
        <p:nvSpPr>
          <p:cNvPr id="6" name="矩形 5"/>
          <p:cNvSpPr/>
          <p:nvPr/>
        </p:nvSpPr>
        <p:spPr>
          <a:xfrm>
            <a:off x="559837" y="1348800"/>
            <a:ext cx="11122089" cy="1415067"/>
          </a:xfrm>
          <a:prstGeom prst="rect">
            <a:avLst/>
          </a:prstGeom>
        </p:spPr>
        <p:txBody>
          <a:bodyPr wrap="square">
            <a:spAutoFit/>
          </a:bodyPr>
          <a:lstStyle/>
          <a:p>
            <a:pPr>
              <a:lnSpc>
                <a:spcPct val="150000"/>
              </a:lnSpc>
            </a:pPr>
            <a:r>
              <a:rPr lang="zh-CN" altLang="en-US" sz="2000" dirty="0" smtClean="0"/>
              <a:t>      规则和注入组转换结束时能产生中断，当模拟看门狗状态位被设置时也能产生中断。它们都有 独立的中断使能位。</a:t>
            </a:r>
            <a:endParaRPr lang="en-US" altLang="zh-CN" sz="2000" dirty="0" smtClean="0"/>
          </a:p>
          <a:p>
            <a:pPr>
              <a:lnSpc>
                <a:spcPct val="150000"/>
              </a:lnSpc>
            </a:pPr>
            <a:r>
              <a:rPr lang="zh-CN" altLang="en-US" sz="2000" b="1" dirty="0" smtClean="0">
                <a:solidFill>
                  <a:srgbClr val="0070C0"/>
                </a:solidFill>
              </a:rPr>
              <a:t>注： </a:t>
            </a:r>
            <a:r>
              <a:rPr lang="en-US" altLang="zh-CN" sz="2000" dirty="0" smtClean="0"/>
              <a:t>ADC1</a:t>
            </a:r>
            <a:r>
              <a:rPr lang="zh-CN" altLang="en-US" sz="2000" dirty="0" smtClean="0"/>
              <a:t>和</a:t>
            </a:r>
            <a:r>
              <a:rPr lang="en-US" altLang="zh-CN" sz="2000" dirty="0" smtClean="0"/>
              <a:t>ADC2</a:t>
            </a:r>
            <a:r>
              <a:rPr lang="zh-CN" altLang="en-US" sz="2000" dirty="0" smtClean="0"/>
              <a:t>的中断映射在同一个中断向量上，而</a:t>
            </a:r>
            <a:r>
              <a:rPr lang="en-US" altLang="zh-CN" sz="2000" dirty="0" smtClean="0"/>
              <a:t>ADC3</a:t>
            </a:r>
            <a:r>
              <a:rPr lang="zh-CN" altLang="en-US" sz="2000" dirty="0" smtClean="0"/>
              <a:t>的中断有自己的中断向量</a:t>
            </a:r>
            <a:endParaRPr lang="zh-CN" altLang="en-US" sz="2000" dirty="0"/>
          </a:p>
        </p:txBody>
      </p:sp>
      <p:pic>
        <p:nvPicPr>
          <p:cNvPr id="149506" name="Picture 2"/>
          <p:cNvPicPr>
            <a:picLocks noChangeAspect="1" noChangeArrowheads="1"/>
          </p:cNvPicPr>
          <p:nvPr/>
        </p:nvPicPr>
        <p:blipFill>
          <a:blip r:embed="rId3"/>
          <a:srcRect/>
          <a:stretch>
            <a:fillRect/>
          </a:stretch>
        </p:blipFill>
        <p:spPr bwMode="auto">
          <a:xfrm>
            <a:off x="1022480" y="3082699"/>
            <a:ext cx="8915400" cy="2390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09451" y="519878"/>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sz="4400" b="1" dirty="0" smtClean="0">
                <a:solidFill>
                  <a:srgbClr val="14529E"/>
                </a:solidFill>
              </a:rPr>
              <a:t>9.4 ADC</a:t>
            </a:r>
            <a:r>
              <a:rPr lang="zh-CN" altLang="en-US" sz="4400" b="1" dirty="0" smtClean="0">
                <a:solidFill>
                  <a:srgbClr val="14529E"/>
                </a:solidFill>
              </a:rPr>
              <a:t>库函数</a:t>
            </a:r>
            <a:endParaRPr lang="zh-CN" altLang="en-US" sz="4400" b="1" dirty="0">
              <a:solidFill>
                <a:srgbClr val="14529E"/>
              </a:solidFill>
            </a:endParaRPr>
          </a:p>
        </p:txBody>
      </p:sp>
      <p:sp>
        <p:nvSpPr>
          <p:cNvPr id="8" name="矩形 7"/>
          <p:cNvSpPr/>
          <p:nvPr/>
        </p:nvSpPr>
        <p:spPr>
          <a:xfrm>
            <a:off x="864635" y="1460156"/>
            <a:ext cx="10397413" cy="4247317"/>
          </a:xfrm>
          <a:prstGeom prst="rect">
            <a:avLst/>
          </a:prstGeom>
        </p:spPr>
        <p:txBody>
          <a:bodyPr wrap="square">
            <a:spAutoFit/>
          </a:bodyPr>
          <a:lstStyle/>
          <a:p>
            <a:pPr>
              <a:lnSpc>
                <a:spcPct val="150000"/>
              </a:lnSpc>
            </a:pPr>
            <a:r>
              <a:rPr lang="en-US" altLang="en-US" sz="2000" dirty="0" smtClean="0"/>
              <a:t>typedef  </a:t>
            </a:r>
            <a:r>
              <a:rPr lang="en-US" altLang="en-US" sz="2000" dirty="0" err="1" smtClean="0"/>
              <a:t>struct</a:t>
            </a:r>
            <a:r>
              <a:rPr lang="en-US" altLang="en-US" sz="2000" dirty="0" smtClean="0"/>
              <a:t> </a:t>
            </a:r>
          </a:p>
          <a:p>
            <a:pPr>
              <a:lnSpc>
                <a:spcPct val="150000"/>
              </a:lnSpc>
            </a:pPr>
            <a:r>
              <a:rPr lang="en-US" altLang="en-US" sz="2000" dirty="0" smtClean="0"/>
              <a:t>{</a:t>
            </a:r>
          </a:p>
          <a:p>
            <a:pPr>
              <a:lnSpc>
                <a:spcPct val="150000"/>
              </a:lnSpc>
            </a:pPr>
            <a:r>
              <a:rPr lang="en-US" altLang="en-US" sz="2000" dirty="0" smtClean="0"/>
              <a:t> uint32_t </a:t>
            </a:r>
            <a:r>
              <a:rPr lang="en-US" altLang="en-US" sz="2000" dirty="0" err="1" smtClean="0"/>
              <a:t>ADC_Mode</a:t>
            </a:r>
            <a:r>
              <a:rPr lang="en-US" altLang="en-US" sz="2000" dirty="0" smtClean="0"/>
              <a:t>; //</a:t>
            </a:r>
            <a:r>
              <a:rPr lang="zh-CN" altLang="en-US" sz="2000" dirty="0" smtClean="0">
                <a:solidFill>
                  <a:srgbClr val="FF0000"/>
                </a:solidFill>
              </a:rPr>
              <a:t>设置 </a:t>
            </a:r>
            <a:r>
              <a:rPr lang="en-US" altLang="zh-CN" sz="2000" dirty="0" smtClean="0">
                <a:solidFill>
                  <a:srgbClr val="FF0000"/>
                </a:solidFill>
              </a:rPr>
              <a:t>ADC </a:t>
            </a:r>
            <a:r>
              <a:rPr lang="zh-CN" altLang="en-US" sz="2000" dirty="0" smtClean="0">
                <a:solidFill>
                  <a:srgbClr val="FF0000"/>
                </a:solidFill>
              </a:rPr>
              <a:t>的工作模式</a:t>
            </a:r>
            <a:endParaRPr lang="en-US" altLang="en-US" sz="2000" dirty="0" smtClean="0">
              <a:solidFill>
                <a:srgbClr val="FF0000"/>
              </a:solidFill>
            </a:endParaRPr>
          </a:p>
          <a:p>
            <a:pPr>
              <a:lnSpc>
                <a:spcPct val="150000"/>
              </a:lnSpc>
            </a:pPr>
            <a:r>
              <a:rPr lang="en-US" altLang="en-US" sz="2000" dirty="0" err="1" smtClean="0"/>
              <a:t>FunctionalState</a:t>
            </a:r>
            <a:r>
              <a:rPr lang="en-US" altLang="en-US" sz="2000" dirty="0" smtClean="0"/>
              <a:t> </a:t>
            </a:r>
            <a:r>
              <a:rPr lang="en-US" altLang="en-US" sz="2000" dirty="0" err="1" smtClean="0"/>
              <a:t>ADC_ScanConvMode</a:t>
            </a:r>
            <a:r>
              <a:rPr lang="en-US" altLang="en-US" sz="2000" dirty="0" smtClean="0"/>
              <a:t>; //</a:t>
            </a:r>
            <a:r>
              <a:rPr lang="zh-CN" altLang="en-US" sz="2000" dirty="0" smtClean="0">
                <a:solidFill>
                  <a:srgbClr val="FF0000"/>
                </a:solidFill>
              </a:rPr>
              <a:t>设置是否开启扫描模式</a:t>
            </a:r>
            <a:endParaRPr lang="en-US" altLang="en-US" sz="2000" dirty="0" smtClean="0">
              <a:solidFill>
                <a:srgbClr val="FF0000"/>
              </a:solidFill>
            </a:endParaRPr>
          </a:p>
          <a:p>
            <a:pPr>
              <a:lnSpc>
                <a:spcPct val="150000"/>
              </a:lnSpc>
            </a:pPr>
            <a:r>
              <a:rPr lang="en-US" altLang="en-US" sz="2000" dirty="0" err="1" smtClean="0"/>
              <a:t>FunctionalState</a:t>
            </a:r>
            <a:r>
              <a:rPr lang="en-US" altLang="en-US" sz="2000" dirty="0" smtClean="0"/>
              <a:t> </a:t>
            </a:r>
            <a:r>
              <a:rPr lang="en-US" altLang="en-US" sz="2000" dirty="0" err="1" smtClean="0"/>
              <a:t>ADC_ContinuousConvMode</a:t>
            </a:r>
            <a:r>
              <a:rPr lang="en-US" altLang="en-US" sz="2000" dirty="0" smtClean="0"/>
              <a:t>; //</a:t>
            </a:r>
            <a:r>
              <a:rPr lang="zh-CN" altLang="en-US" sz="2000" dirty="0" smtClean="0">
                <a:solidFill>
                  <a:srgbClr val="FF0000"/>
                </a:solidFill>
              </a:rPr>
              <a:t>设置是否开启连续转换模式</a:t>
            </a:r>
            <a:endParaRPr lang="en-US" altLang="en-US" sz="2000" dirty="0" smtClean="0">
              <a:solidFill>
                <a:srgbClr val="FF0000"/>
              </a:solidFill>
            </a:endParaRPr>
          </a:p>
          <a:p>
            <a:pPr>
              <a:lnSpc>
                <a:spcPct val="150000"/>
              </a:lnSpc>
            </a:pPr>
            <a:r>
              <a:rPr lang="en-US" altLang="en-US" sz="2000" dirty="0" smtClean="0"/>
              <a:t>uint32_t </a:t>
            </a:r>
            <a:r>
              <a:rPr lang="en-US" altLang="en-US" sz="2000" dirty="0" err="1" smtClean="0"/>
              <a:t>ADC_ExternalTrigConv</a:t>
            </a:r>
            <a:r>
              <a:rPr lang="en-US" altLang="en-US" sz="2000" dirty="0" smtClean="0"/>
              <a:t>; //</a:t>
            </a:r>
            <a:r>
              <a:rPr lang="zh-CN" altLang="en-US" sz="2000" dirty="0" smtClean="0">
                <a:solidFill>
                  <a:srgbClr val="FF0000"/>
                </a:solidFill>
              </a:rPr>
              <a:t>设置启动规则转换组转换的外部事件</a:t>
            </a:r>
            <a:endParaRPr lang="en-US" altLang="en-US" sz="2000" dirty="0" smtClean="0">
              <a:solidFill>
                <a:srgbClr val="FF0000"/>
              </a:solidFill>
            </a:endParaRPr>
          </a:p>
          <a:p>
            <a:pPr>
              <a:lnSpc>
                <a:spcPct val="150000"/>
              </a:lnSpc>
            </a:pPr>
            <a:r>
              <a:rPr lang="en-US" altLang="en-US" sz="2000" dirty="0" smtClean="0"/>
              <a:t>uint32_t </a:t>
            </a:r>
            <a:r>
              <a:rPr lang="en-US" altLang="en-US" sz="2000" dirty="0" err="1" smtClean="0"/>
              <a:t>ADC_DataAlign</a:t>
            </a:r>
            <a:r>
              <a:rPr lang="en-US" altLang="en-US" sz="2000" dirty="0" smtClean="0"/>
              <a:t>; //</a:t>
            </a:r>
            <a:r>
              <a:rPr lang="zh-CN" altLang="en-US" sz="2000" dirty="0" smtClean="0">
                <a:solidFill>
                  <a:srgbClr val="FF0000"/>
                </a:solidFill>
              </a:rPr>
              <a:t>设置 </a:t>
            </a:r>
            <a:r>
              <a:rPr lang="en-US" altLang="zh-CN" sz="2000" dirty="0" smtClean="0">
                <a:solidFill>
                  <a:srgbClr val="FF0000"/>
                </a:solidFill>
              </a:rPr>
              <a:t>ADC </a:t>
            </a:r>
            <a:r>
              <a:rPr lang="zh-CN" altLang="en-US" sz="2000" dirty="0" smtClean="0">
                <a:solidFill>
                  <a:srgbClr val="FF0000"/>
                </a:solidFill>
              </a:rPr>
              <a:t>数据对齐方式</a:t>
            </a:r>
            <a:endParaRPr lang="en-US" altLang="en-US" sz="2000" dirty="0" smtClean="0">
              <a:solidFill>
                <a:srgbClr val="FF0000"/>
              </a:solidFill>
            </a:endParaRPr>
          </a:p>
          <a:p>
            <a:pPr>
              <a:lnSpc>
                <a:spcPct val="150000"/>
              </a:lnSpc>
            </a:pPr>
            <a:r>
              <a:rPr lang="en-US" altLang="en-US" sz="2000" dirty="0" smtClean="0"/>
              <a:t>uint8_t </a:t>
            </a:r>
            <a:r>
              <a:rPr lang="en-US" altLang="en-US" sz="2000" dirty="0" err="1" smtClean="0"/>
              <a:t>ADC_NbrOfChannel</a:t>
            </a:r>
            <a:r>
              <a:rPr lang="en-US" altLang="en-US" sz="2000" dirty="0" smtClean="0"/>
              <a:t>; //</a:t>
            </a:r>
            <a:r>
              <a:rPr lang="zh-CN" altLang="en-US" sz="2000" dirty="0" smtClean="0">
                <a:solidFill>
                  <a:srgbClr val="FF0000"/>
                </a:solidFill>
              </a:rPr>
              <a:t>用来设置规则序列的长度</a:t>
            </a:r>
            <a:endParaRPr lang="en-US" altLang="en-US" sz="2000" dirty="0" smtClean="0">
              <a:solidFill>
                <a:srgbClr val="FF0000"/>
              </a:solidFill>
            </a:endParaRPr>
          </a:p>
          <a:p>
            <a:pPr>
              <a:lnSpc>
                <a:spcPct val="150000"/>
              </a:lnSpc>
            </a:pPr>
            <a:r>
              <a:rPr lang="en-US" altLang="en-US" sz="2000" dirty="0" smtClean="0"/>
              <a:t>}</a:t>
            </a:r>
            <a:r>
              <a:rPr lang="en-US" altLang="en-US" sz="2000" dirty="0" err="1" smtClean="0"/>
              <a:t>ADC_InitTypeDef</a:t>
            </a:r>
            <a:r>
              <a:rPr lang="en-US" altLang="en-US" sz="2000" dirty="0" smtClean="0"/>
              <a:t>;</a:t>
            </a:r>
            <a:endParaRPr lang="zh-CN" altLang="en-US" sz="2000"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0881" y="547787"/>
            <a:ext cx="11461151" cy="5262979"/>
          </a:xfrm>
          <a:prstGeom prst="rect">
            <a:avLst/>
          </a:prstGeom>
        </p:spPr>
        <p:txBody>
          <a:bodyPr wrap="none">
            <a:spAutoFit/>
          </a:bodyPr>
          <a:lstStyle/>
          <a:p>
            <a:pPr>
              <a:lnSpc>
                <a:spcPct val="150000"/>
              </a:lnSpc>
            </a:pPr>
            <a:r>
              <a:rPr lang="zh-CN" altLang="en-US" sz="2400" b="1" dirty="0" smtClean="0">
                <a:solidFill>
                  <a:srgbClr val="C00000"/>
                </a:solidFill>
              </a:rPr>
              <a:t>初始化范例</a:t>
            </a:r>
            <a:r>
              <a:rPr lang="en-US" altLang="zh-CN" sz="2400" b="1" dirty="0" smtClean="0">
                <a:solidFill>
                  <a:srgbClr val="C00000"/>
                </a:solidFill>
              </a:rPr>
              <a:t>:</a:t>
            </a:r>
          </a:p>
          <a:p>
            <a:pPr>
              <a:lnSpc>
                <a:spcPct val="150000"/>
              </a:lnSpc>
            </a:pPr>
            <a:r>
              <a:rPr lang="en-US" altLang="en-US" sz="2000" dirty="0" err="1" smtClean="0"/>
              <a:t>ADC_InitTypeDef</a:t>
            </a:r>
            <a:r>
              <a:rPr lang="en-US" altLang="en-US" sz="2000" dirty="0" smtClean="0"/>
              <a:t> </a:t>
            </a:r>
            <a:r>
              <a:rPr lang="en-US" altLang="en-US" sz="2000" dirty="0" err="1" smtClean="0"/>
              <a:t>ADC_InitStructure</a:t>
            </a:r>
            <a:r>
              <a:rPr lang="en-US" altLang="en-US" sz="2000" dirty="0" smtClean="0"/>
              <a:t>; </a:t>
            </a:r>
          </a:p>
          <a:p>
            <a:pPr>
              <a:lnSpc>
                <a:spcPct val="150000"/>
              </a:lnSpc>
            </a:pPr>
            <a:r>
              <a:rPr lang="en-US" altLang="en-US" sz="2000" dirty="0" err="1" smtClean="0"/>
              <a:t>ADC_InitStructure.ADC_Mode</a:t>
            </a:r>
            <a:r>
              <a:rPr lang="en-US" altLang="en-US" sz="2000" dirty="0" smtClean="0"/>
              <a:t> = </a:t>
            </a:r>
            <a:r>
              <a:rPr lang="en-US" altLang="en-US" sz="2000" dirty="0" err="1" smtClean="0"/>
              <a:t>ADC_Mode_Independent</a:t>
            </a:r>
            <a:r>
              <a:rPr lang="en-US" altLang="en-US" sz="2000" dirty="0" smtClean="0"/>
              <a:t>; //</a:t>
            </a:r>
            <a:r>
              <a:rPr lang="en-US" altLang="en-US" sz="2000" dirty="0" smtClean="0">
                <a:solidFill>
                  <a:srgbClr val="FF0000"/>
                </a:solidFill>
              </a:rPr>
              <a:t>ADC </a:t>
            </a:r>
            <a:r>
              <a:rPr lang="zh-CN" altLang="en-US" sz="2000" dirty="0" smtClean="0">
                <a:solidFill>
                  <a:srgbClr val="FF0000"/>
                </a:solidFill>
              </a:rPr>
              <a:t>工作模式</a:t>
            </a:r>
            <a:r>
              <a:rPr lang="en-US" altLang="zh-CN" sz="2000" dirty="0" smtClean="0">
                <a:solidFill>
                  <a:srgbClr val="FF0000"/>
                </a:solidFill>
              </a:rPr>
              <a:t>:</a:t>
            </a:r>
            <a:r>
              <a:rPr lang="zh-CN" altLang="en-US" sz="2000" dirty="0" smtClean="0">
                <a:solidFill>
                  <a:srgbClr val="FF0000"/>
                </a:solidFill>
              </a:rPr>
              <a:t>独立模式 </a:t>
            </a:r>
            <a:endParaRPr lang="en-US" altLang="zh-CN" sz="2000" dirty="0" smtClean="0">
              <a:solidFill>
                <a:srgbClr val="FF0000"/>
              </a:solidFill>
            </a:endParaRPr>
          </a:p>
          <a:p>
            <a:pPr>
              <a:lnSpc>
                <a:spcPct val="150000"/>
              </a:lnSpc>
            </a:pPr>
            <a:r>
              <a:rPr lang="en-US" altLang="en-US" sz="2000" dirty="0" err="1" smtClean="0"/>
              <a:t>ADC_InitStructure.ADC_ScanConvMode</a:t>
            </a:r>
            <a:r>
              <a:rPr lang="en-US" altLang="en-US" sz="2000" dirty="0" smtClean="0"/>
              <a:t> = DISABLE; //</a:t>
            </a:r>
            <a:r>
              <a:rPr lang="en-US" altLang="en-US" sz="2000" dirty="0" smtClean="0">
                <a:solidFill>
                  <a:srgbClr val="FF0000"/>
                </a:solidFill>
              </a:rPr>
              <a:t>AD </a:t>
            </a:r>
            <a:r>
              <a:rPr lang="zh-CN" altLang="en-US" sz="2000" dirty="0" smtClean="0">
                <a:solidFill>
                  <a:srgbClr val="FF0000"/>
                </a:solidFill>
              </a:rPr>
              <a:t>单通道模式</a:t>
            </a:r>
            <a:endParaRPr lang="en-US" altLang="zh-CN" sz="2000" dirty="0" smtClean="0">
              <a:solidFill>
                <a:srgbClr val="FF0000"/>
              </a:solidFill>
            </a:endParaRPr>
          </a:p>
          <a:p>
            <a:pPr>
              <a:lnSpc>
                <a:spcPct val="150000"/>
              </a:lnSpc>
            </a:pPr>
            <a:r>
              <a:rPr lang="zh-CN" altLang="en-US" sz="2000" dirty="0" smtClean="0"/>
              <a:t> </a:t>
            </a:r>
            <a:r>
              <a:rPr lang="en-US" altLang="en-US" sz="2000" dirty="0" err="1" smtClean="0"/>
              <a:t>ADC_InitStructure.ADC_ContinuousConvMode</a:t>
            </a:r>
            <a:r>
              <a:rPr lang="en-US" altLang="en-US" sz="2000" dirty="0" smtClean="0"/>
              <a:t> = DISABLE; //</a:t>
            </a:r>
            <a:r>
              <a:rPr lang="en-US" altLang="en-US" sz="2000" dirty="0" smtClean="0">
                <a:solidFill>
                  <a:srgbClr val="FF0000"/>
                </a:solidFill>
              </a:rPr>
              <a:t>AD </a:t>
            </a:r>
            <a:r>
              <a:rPr lang="zh-CN" altLang="en-US" sz="2000" dirty="0" smtClean="0">
                <a:solidFill>
                  <a:srgbClr val="FF0000"/>
                </a:solidFill>
              </a:rPr>
              <a:t>单次转换模式</a:t>
            </a:r>
            <a:endParaRPr lang="en-US" altLang="zh-CN" sz="2000" dirty="0" smtClean="0">
              <a:solidFill>
                <a:srgbClr val="FF0000"/>
              </a:solidFill>
            </a:endParaRPr>
          </a:p>
          <a:p>
            <a:pPr>
              <a:lnSpc>
                <a:spcPct val="150000"/>
              </a:lnSpc>
            </a:pPr>
            <a:r>
              <a:rPr lang="zh-CN" altLang="en-US" sz="2000" dirty="0" smtClean="0"/>
              <a:t> </a:t>
            </a:r>
            <a:r>
              <a:rPr lang="en-US" altLang="en-US" sz="2000" dirty="0" err="1" smtClean="0"/>
              <a:t>ADC_InitStructure.ADC_ExternalTrigConv</a:t>
            </a:r>
            <a:r>
              <a:rPr lang="en-US" altLang="en-US" sz="2000" dirty="0" smtClean="0"/>
              <a:t> = </a:t>
            </a:r>
            <a:r>
              <a:rPr lang="en-US" altLang="en-US" sz="2000" dirty="0" err="1" smtClean="0"/>
              <a:t>ADC_ExternalTrigConv_None</a:t>
            </a:r>
            <a:r>
              <a:rPr lang="en-US" altLang="en-US" sz="2000" dirty="0" smtClean="0"/>
              <a:t>; //</a:t>
            </a:r>
            <a:r>
              <a:rPr lang="zh-CN" altLang="en-US" sz="2000" dirty="0" smtClean="0">
                <a:solidFill>
                  <a:srgbClr val="FF0000"/>
                </a:solidFill>
              </a:rPr>
              <a:t>转换由软件</a:t>
            </a:r>
            <a:endParaRPr lang="en-US" altLang="zh-CN" sz="2000" dirty="0" smtClean="0">
              <a:solidFill>
                <a:srgbClr val="FF0000"/>
              </a:solidFill>
            </a:endParaRPr>
          </a:p>
          <a:p>
            <a:pPr>
              <a:lnSpc>
                <a:spcPct val="150000"/>
              </a:lnSpc>
            </a:pPr>
            <a:r>
              <a:rPr lang="en-US" altLang="zh-CN" sz="2000" dirty="0" smtClean="0">
                <a:solidFill>
                  <a:srgbClr val="FF0000"/>
                </a:solidFill>
              </a:rPr>
              <a:t>                                                                                                </a:t>
            </a:r>
            <a:r>
              <a:rPr lang="zh-CN" altLang="en-US" sz="2000" dirty="0" smtClean="0">
                <a:solidFill>
                  <a:srgbClr val="FF0000"/>
                </a:solidFill>
              </a:rPr>
              <a:t>而不是外部触发启动</a:t>
            </a:r>
            <a:endParaRPr lang="en-US" altLang="zh-CN" sz="2000" dirty="0" smtClean="0">
              <a:solidFill>
                <a:srgbClr val="FF0000"/>
              </a:solidFill>
            </a:endParaRPr>
          </a:p>
          <a:p>
            <a:pPr>
              <a:lnSpc>
                <a:spcPct val="150000"/>
              </a:lnSpc>
            </a:pPr>
            <a:r>
              <a:rPr lang="zh-CN" altLang="en-US" sz="2000" dirty="0" smtClean="0"/>
              <a:t> </a:t>
            </a:r>
            <a:r>
              <a:rPr lang="en-US" altLang="en-US" sz="2000" dirty="0" err="1" smtClean="0"/>
              <a:t>ADC_InitStructure.ADC_DataAlign</a:t>
            </a:r>
            <a:r>
              <a:rPr lang="en-US" altLang="en-US" sz="2000" dirty="0" smtClean="0"/>
              <a:t> = </a:t>
            </a:r>
            <a:r>
              <a:rPr lang="en-US" altLang="en-US" sz="2000" dirty="0" err="1" smtClean="0"/>
              <a:t>ADC_DataAlign_Right</a:t>
            </a:r>
            <a:r>
              <a:rPr lang="en-US" altLang="en-US" sz="2000" dirty="0" smtClean="0"/>
              <a:t>; //</a:t>
            </a:r>
            <a:r>
              <a:rPr lang="en-US" altLang="en-US" sz="2000" dirty="0" smtClean="0">
                <a:solidFill>
                  <a:srgbClr val="FF0000"/>
                </a:solidFill>
              </a:rPr>
              <a:t>ADC </a:t>
            </a:r>
            <a:r>
              <a:rPr lang="zh-CN" altLang="en-US" sz="2000" dirty="0" smtClean="0">
                <a:solidFill>
                  <a:srgbClr val="FF0000"/>
                </a:solidFill>
              </a:rPr>
              <a:t>数据右对齐</a:t>
            </a:r>
            <a:endParaRPr lang="en-US" altLang="zh-CN" sz="2000" dirty="0" smtClean="0">
              <a:solidFill>
                <a:srgbClr val="FF0000"/>
              </a:solidFill>
            </a:endParaRPr>
          </a:p>
          <a:p>
            <a:pPr>
              <a:lnSpc>
                <a:spcPct val="150000"/>
              </a:lnSpc>
            </a:pPr>
            <a:r>
              <a:rPr lang="zh-CN" altLang="en-US" sz="2000" dirty="0" smtClean="0"/>
              <a:t> </a:t>
            </a:r>
            <a:r>
              <a:rPr lang="en-US" altLang="en-US" sz="2000" dirty="0" err="1" smtClean="0"/>
              <a:t>ADC_InitStructure.ADC_NbrOfChannel</a:t>
            </a:r>
            <a:r>
              <a:rPr lang="en-US" altLang="en-US" sz="2000" dirty="0" smtClean="0"/>
              <a:t> = 1; //</a:t>
            </a:r>
            <a:r>
              <a:rPr lang="zh-CN" altLang="en-US" sz="2000" dirty="0" smtClean="0">
                <a:solidFill>
                  <a:srgbClr val="FF0000"/>
                </a:solidFill>
              </a:rPr>
              <a:t>顺序进行规则转换的 </a:t>
            </a:r>
            <a:r>
              <a:rPr lang="en-US" altLang="en-US" sz="2000" dirty="0" smtClean="0">
                <a:solidFill>
                  <a:srgbClr val="FF0000"/>
                </a:solidFill>
              </a:rPr>
              <a:t>ADC </a:t>
            </a:r>
            <a:r>
              <a:rPr lang="zh-CN" altLang="en-US" sz="2000" dirty="0" smtClean="0">
                <a:solidFill>
                  <a:srgbClr val="FF0000"/>
                </a:solidFill>
              </a:rPr>
              <a:t>通道的数目 </a:t>
            </a:r>
            <a:r>
              <a:rPr lang="en-US" altLang="zh-CN" sz="2000" dirty="0" smtClean="0">
                <a:solidFill>
                  <a:srgbClr val="FF0000"/>
                </a:solidFill>
              </a:rPr>
              <a:t>1 </a:t>
            </a:r>
          </a:p>
          <a:p>
            <a:pPr>
              <a:lnSpc>
                <a:spcPct val="150000"/>
              </a:lnSpc>
            </a:pPr>
            <a:r>
              <a:rPr lang="en-US" altLang="en-US" sz="2000" dirty="0" err="1" smtClean="0"/>
              <a:t>ADC_Init</a:t>
            </a:r>
            <a:r>
              <a:rPr lang="en-US" altLang="en-US" sz="2000" dirty="0" smtClean="0"/>
              <a:t>(ADC1, &amp;</a:t>
            </a:r>
            <a:r>
              <a:rPr lang="en-US" altLang="en-US" sz="2000" dirty="0" err="1" smtClean="0"/>
              <a:t>ADC_InitStructure</a:t>
            </a:r>
            <a:r>
              <a:rPr lang="en-US" altLang="en-US" sz="2000" dirty="0" smtClean="0"/>
              <a:t>); //</a:t>
            </a:r>
            <a:r>
              <a:rPr lang="zh-CN" altLang="en-US" sz="2000" dirty="0" smtClean="0">
                <a:solidFill>
                  <a:srgbClr val="FF0000"/>
                </a:solidFill>
              </a:rPr>
              <a:t>根据指定的参数初始化外设 </a:t>
            </a:r>
            <a:r>
              <a:rPr lang="en-US" altLang="en-US" sz="2000" dirty="0" err="1" smtClean="0">
                <a:solidFill>
                  <a:srgbClr val="FF0000"/>
                </a:solidFill>
              </a:rPr>
              <a:t>ADCx</a:t>
            </a:r>
            <a:endParaRPr lang="en-US" altLang="en-US" sz="2000" dirty="0" smtClean="0">
              <a:solidFill>
                <a:srgbClr val="FF0000"/>
              </a:solidFill>
            </a:endParaRPr>
          </a:p>
          <a:p>
            <a:pPr>
              <a:lnSpc>
                <a:spcPct val="150000"/>
              </a:lnSpc>
            </a:pPr>
            <a:r>
              <a:rPr lang="en-US" sz="2000" b="1" dirty="0" err="1" smtClean="0">
                <a:solidFill>
                  <a:srgbClr val="0070C0"/>
                </a:solidFill>
              </a:rPr>
              <a:t>ADC_DeInit</a:t>
            </a:r>
            <a:r>
              <a:rPr lang="en-US" sz="2000" b="1" dirty="0" smtClean="0">
                <a:solidFill>
                  <a:srgbClr val="0070C0"/>
                </a:solidFill>
              </a:rPr>
              <a:t>(ADC1); </a:t>
            </a:r>
            <a:r>
              <a:rPr lang="en-US" sz="2000" dirty="0" smtClean="0"/>
              <a:t>//</a:t>
            </a:r>
            <a:r>
              <a:rPr lang="zh-CN" altLang="en-US" sz="2000" dirty="0" smtClean="0">
                <a:solidFill>
                  <a:srgbClr val="FF0000"/>
                </a:solidFill>
              </a:rPr>
              <a:t>复位 </a:t>
            </a:r>
            <a:r>
              <a:rPr lang="en-US" sz="2000" dirty="0" smtClean="0">
                <a:solidFill>
                  <a:srgbClr val="FF0000"/>
                </a:solidFill>
              </a:rPr>
              <a:t>ADC1,</a:t>
            </a:r>
            <a:r>
              <a:rPr lang="zh-CN" altLang="en-US" sz="2000" dirty="0" smtClean="0">
                <a:solidFill>
                  <a:srgbClr val="FF0000"/>
                </a:solidFill>
              </a:rPr>
              <a:t>将外设 </a:t>
            </a:r>
            <a:r>
              <a:rPr lang="en-US" sz="2000" dirty="0" smtClean="0">
                <a:solidFill>
                  <a:srgbClr val="FF0000"/>
                </a:solidFill>
              </a:rPr>
              <a:t>ADC1 </a:t>
            </a:r>
            <a:r>
              <a:rPr lang="zh-CN" altLang="en-US" sz="2000" dirty="0" smtClean="0">
                <a:solidFill>
                  <a:srgbClr val="FF0000"/>
                </a:solidFill>
              </a:rPr>
              <a:t>的全部寄存器重设为缺省值</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63893" y="559837"/>
            <a:ext cx="11290042" cy="5632311"/>
          </a:xfrm>
          <a:prstGeom prst="rect">
            <a:avLst/>
          </a:prstGeom>
          <a:noFill/>
        </p:spPr>
        <p:txBody>
          <a:bodyPr wrap="square" rtlCol="0">
            <a:spAutoFit/>
          </a:bodyPr>
          <a:lstStyle/>
          <a:p>
            <a:pPr>
              <a:lnSpc>
                <a:spcPct val="150000"/>
              </a:lnSpc>
            </a:pPr>
            <a:r>
              <a:rPr lang="zh-CN" altLang="en-US" sz="2400" b="1" dirty="0" smtClean="0">
                <a:solidFill>
                  <a:srgbClr val="C00000"/>
                </a:solidFill>
              </a:rPr>
              <a:t>开启 </a:t>
            </a:r>
            <a:r>
              <a:rPr lang="en-US" altLang="zh-CN" sz="2400" b="1" dirty="0" smtClean="0">
                <a:solidFill>
                  <a:srgbClr val="C00000"/>
                </a:solidFill>
              </a:rPr>
              <a:t>PA </a:t>
            </a:r>
            <a:r>
              <a:rPr lang="zh-CN" altLang="en-US" sz="2400" b="1" dirty="0" smtClean="0">
                <a:solidFill>
                  <a:srgbClr val="C00000"/>
                </a:solidFill>
              </a:rPr>
              <a:t>口时钟和 </a:t>
            </a:r>
            <a:r>
              <a:rPr lang="en-US" altLang="zh-CN" sz="2400" b="1" dirty="0" smtClean="0">
                <a:solidFill>
                  <a:srgbClr val="C00000"/>
                </a:solidFill>
              </a:rPr>
              <a:t>ADC1 </a:t>
            </a:r>
            <a:r>
              <a:rPr lang="zh-CN" altLang="en-US" sz="2400" b="1" dirty="0" smtClean="0">
                <a:solidFill>
                  <a:srgbClr val="C00000"/>
                </a:solidFill>
              </a:rPr>
              <a:t>时钟，设置 </a:t>
            </a:r>
            <a:r>
              <a:rPr lang="en-US" altLang="zh-CN" sz="2400" b="1" dirty="0" smtClean="0">
                <a:solidFill>
                  <a:srgbClr val="C00000"/>
                </a:solidFill>
              </a:rPr>
              <a:t>PA1 </a:t>
            </a:r>
            <a:r>
              <a:rPr lang="zh-CN" altLang="en-US" sz="2400" b="1" dirty="0" smtClean="0">
                <a:solidFill>
                  <a:srgbClr val="C00000"/>
                </a:solidFill>
              </a:rPr>
              <a:t>为模拟输入</a:t>
            </a:r>
            <a:endParaRPr lang="en-US" altLang="zh-CN" sz="2400" b="1" dirty="0" smtClean="0">
              <a:solidFill>
                <a:srgbClr val="C00000"/>
              </a:solidFill>
            </a:endParaRPr>
          </a:p>
          <a:p>
            <a:pPr>
              <a:lnSpc>
                <a:spcPct val="150000"/>
              </a:lnSpc>
            </a:pPr>
            <a:r>
              <a:rPr lang="en-US" dirty="0" smtClean="0"/>
              <a:t>      STM32F103ZET6 </a:t>
            </a:r>
            <a:r>
              <a:rPr lang="zh-CN" altLang="en-US" dirty="0" smtClean="0"/>
              <a:t>的 </a:t>
            </a:r>
            <a:r>
              <a:rPr lang="en-US" dirty="0" smtClean="0"/>
              <a:t>ADC </a:t>
            </a:r>
            <a:r>
              <a:rPr lang="zh-CN" altLang="en-US" dirty="0" smtClean="0"/>
              <a:t>通道 </a:t>
            </a:r>
            <a:r>
              <a:rPr lang="en-US" altLang="zh-CN" dirty="0" smtClean="0"/>
              <a:t>1 </a:t>
            </a:r>
            <a:r>
              <a:rPr lang="zh-CN" altLang="en-US" dirty="0" smtClean="0"/>
              <a:t>在 </a:t>
            </a:r>
            <a:r>
              <a:rPr lang="en-US" dirty="0" smtClean="0"/>
              <a:t>PA1 </a:t>
            </a:r>
            <a:r>
              <a:rPr lang="zh-CN" altLang="en-US" dirty="0" smtClean="0"/>
              <a:t>上，所以，我们先要使能 </a:t>
            </a:r>
            <a:r>
              <a:rPr lang="en-US" dirty="0" smtClean="0"/>
              <a:t>PORTA </a:t>
            </a:r>
            <a:r>
              <a:rPr lang="zh-CN" altLang="en-US" dirty="0" smtClean="0"/>
              <a:t>的时钟和 </a:t>
            </a:r>
            <a:r>
              <a:rPr lang="en-US" dirty="0" smtClean="0"/>
              <a:t>ADC1 </a:t>
            </a:r>
            <a:r>
              <a:rPr lang="zh-CN" altLang="en-US" dirty="0" smtClean="0"/>
              <a:t>时钟，然后设置 </a:t>
            </a:r>
            <a:r>
              <a:rPr lang="en-US" dirty="0" smtClean="0"/>
              <a:t>PA1 </a:t>
            </a:r>
            <a:r>
              <a:rPr lang="zh-CN" altLang="en-US" dirty="0" smtClean="0"/>
              <a:t>为模拟输入。使能 </a:t>
            </a:r>
            <a:r>
              <a:rPr lang="en-US" dirty="0" smtClean="0"/>
              <a:t>GPIOA </a:t>
            </a:r>
            <a:r>
              <a:rPr lang="zh-CN" altLang="en-US" dirty="0" smtClean="0"/>
              <a:t>和 </a:t>
            </a:r>
            <a:r>
              <a:rPr lang="en-US" dirty="0" smtClean="0"/>
              <a:t>ADC </a:t>
            </a:r>
            <a:r>
              <a:rPr lang="zh-CN" altLang="en-US" dirty="0" smtClean="0"/>
              <a:t>时钟用 </a:t>
            </a:r>
            <a:r>
              <a:rPr lang="en-US" dirty="0" smtClean="0"/>
              <a:t>RCC_APB2PeriphClockCmd </a:t>
            </a:r>
            <a:r>
              <a:rPr lang="zh-CN" altLang="en-US" dirty="0" smtClean="0"/>
              <a:t>函 数，设置 </a:t>
            </a:r>
            <a:r>
              <a:rPr lang="en-US" dirty="0" smtClean="0"/>
              <a:t>PA1 </a:t>
            </a:r>
            <a:r>
              <a:rPr lang="zh-CN" altLang="en-US" dirty="0" smtClean="0"/>
              <a:t>的输入方式，使用 </a:t>
            </a:r>
            <a:r>
              <a:rPr lang="en-US" dirty="0" err="1" smtClean="0"/>
              <a:t>GPIO_Init</a:t>
            </a:r>
            <a:r>
              <a:rPr lang="en-US" dirty="0" smtClean="0"/>
              <a:t> </a:t>
            </a:r>
            <a:r>
              <a:rPr lang="zh-CN" altLang="en-US" dirty="0" smtClean="0"/>
              <a:t>函数即可。</a:t>
            </a:r>
            <a:endParaRPr lang="en-US" altLang="zh-CN" dirty="0" smtClean="0"/>
          </a:p>
          <a:p>
            <a:pPr>
              <a:lnSpc>
                <a:spcPct val="150000"/>
              </a:lnSpc>
            </a:pPr>
            <a:r>
              <a:rPr lang="en-US" dirty="0" smtClean="0"/>
              <a:t>RCC_APB2PeriphClockCmd(RCC_APB2Periph_GPIOA |RCC_APB2Periph_ADC1 </a:t>
            </a:r>
            <a:r>
              <a:rPr lang="en-US" altLang="zh-CN" dirty="0" smtClean="0"/>
              <a:t>|</a:t>
            </a:r>
            <a:r>
              <a:rPr lang="en-US" dirty="0" smtClean="0"/>
              <a:t>RCC_APB2Periph_AFIO, ENABLE ); </a:t>
            </a:r>
          </a:p>
          <a:p>
            <a:pPr>
              <a:lnSpc>
                <a:spcPct val="150000"/>
              </a:lnSpc>
            </a:pPr>
            <a:r>
              <a:rPr lang="en-US" dirty="0" smtClean="0"/>
              <a:t>//</a:t>
            </a:r>
            <a:r>
              <a:rPr lang="zh-CN" altLang="en-US" dirty="0" smtClean="0">
                <a:solidFill>
                  <a:srgbClr val="FF0000"/>
                </a:solidFill>
              </a:rPr>
              <a:t>使能 </a:t>
            </a:r>
            <a:r>
              <a:rPr lang="en-US" dirty="0" smtClean="0">
                <a:solidFill>
                  <a:srgbClr val="FF0000"/>
                </a:solidFill>
              </a:rPr>
              <a:t>ADC1 </a:t>
            </a:r>
            <a:r>
              <a:rPr lang="zh-CN" altLang="en-US" dirty="0" smtClean="0">
                <a:solidFill>
                  <a:srgbClr val="FF0000"/>
                </a:solidFill>
              </a:rPr>
              <a:t>通道时钟 </a:t>
            </a:r>
            <a:endParaRPr lang="en-US" altLang="zh-CN" dirty="0" smtClean="0">
              <a:solidFill>
                <a:srgbClr val="FF0000"/>
              </a:solidFill>
            </a:endParaRPr>
          </a:p>
          <a:p>
            <a:pPr>
              <a:lnSpc>
                <a:spcPct val="150000"/>
              </a:lnSpc>
            </a:pPr>
            <a:r>
              <a:rPr lang="en-US" dirty="0" err="1" smtClean="0"/>
              <a:t>RCC_ADCCLKConfig</a:t>
            </a:r>
            <a:r>
              <a:rPr lang="en-US" dirty="0" smtClean="0"/>
              <a:t>(RCC_PCLK2_Div6); </a:t>
            </a:r>
          </a:p>
          <a:p>
            <a:pPr>
              <a:lnSpc>
                <a:spcPct val="150000"/>
              </a:lnSpc>
            </a:pPr>
            <a:r>
              <a:rPr lang="en-US" dirty="0" smtClean="0"/>
              <a:t>//</a:t>
            </a:r>
            <a:r>
              <a:rPr lang="zh-CN" altLang="en-US" dirty="0" smtClean="0">
                <a:solidFill>
                  <a:srgbClr val="FF0000"/>
                </a:solidFill>
              </a:rPr>
              <a:t>设置 </a:t>
            </a:r>
            <a:r>
              <a:rPr lang="en-US" dirty="0" smtClean="0">
                <a:solidFill>
                  <a:srgbClr val="FF0000"/>
                </a:solidFill>
              </a:rPr>
              <a:t>ADC </a:t>
            </a:r>
            <a:r>
              <a:rPr lang="zh-CN" altLang="en-US" dirty="0" smtClean="0">
                <a:solidFill>
                  <a:srgbClr val="FF0000"/>
                </a:solidFill>
              </a:rPr>
              <a:t>分频因子 </a:t>
            </a:r>
            <a:r>
              <a:rPr lang="en-US" altLang="zh-CN" dirty="0" smtClean="0">
                <a:solidFill>
                  <a:srgbClr val="FF0000"/>
                </a:solidFill>
              </a:rPr>
              <a:t>6</a:t>
            </a:r>
            <a:r>
              <a:rPr lang="zh-CN" altLang="en-US" dirty="0" smtClean="0">
                <a:solidFill>
                  <a:srgbClr val="FF0000"/>
                </a:solidFill>
              </a:rPr>
              <a:t>，</a:t>
            </a:r>
            <a:r>
              <a:rPr lang="en-US" altLang="zh-CN" dirty="0" smtClean="0">
                <a:solidFill>
                  <a:srgbClr val="FF0000"/>
                </a:solidFill>
              </a:rPr>
              <a:t>72</a:t>
            </a:r>
            <a:r>
              <a:rPr lang="en-US" dirty="0" smtClean="0">
                <a:solidFill>
                  <a:srgbClr val="FF0000"/>
                </a:solidFill>
              </a:rPr>
              <a:t>M/6=12,ADC </a:t>
            </a:r>
            <a:r>
              <a:rPr lang="zh-CN" altLang="en-US" dirty="0" smtClean="0">
                <a:solidFill>
                  <a:srgbClr val="FF0000"/>
                </a:solidFill>
              </a:rPr>
              <a:t>最大时间不能超过 </a:t>
            </a:r>
            <a:r>
              <a:rPr lang="en-US" altLang="zh-CN" dirty="0" smtClean="0">
                <a:solidFill>
                  <a:srgbClr val="FF0000"/>
                </a:solidFill>
              </a:rPr>
              <a:t>14</a:t>
            </a:r>
            <a:r>
              <a:rPr lang="en-US" dirty="0" smtClean="0">
                <a:solidFill>
                  <a:srgbClr val="FF0000"/>
                </a:solidFill>
              </a:rPr>
              <a:t>M </a:t>
            </a:r>
          </a:p>
          <a:p>
            <a:pPr>
              <a:lnSpc>
                <a:spcPct val="150000"/>
              </a:lnSpc>
            </a:pPr>
            <a:r>
              <a:rPr lang="en-US" dirty="0" smtClean="0"/>
              <a:t>//</a:t>
            </a:r>
            <a:r>
              <a:rPr lang="en-US" dirty="0" smtClean="0">
                <a:solidFill>
                  <a:srgbClr val="FF0000"/>
                </a:solidFill>
              </a:rPr>
              <a:t>PA1 </a:t>
            </a:r>
            <a:r>
              <a:rPr lang="zh-CN" altLang="en-US" dirty="0" smtClean="0">
                <a:solidFill>
                  <a:srgbClr val="FF0000"/>
                </a:solidFill>
              </a:rPr>
              <a:t>作为模拟通道输入引脚 </a:t>
            </a:r>
            <a:endParaRPr lang="en-US" altLang="zh-CN" dirty="0" smtClean="0">
              <a:solidFill>
                <a:srgbClr val="FF0000"/>
              </a:solidFill>
            </a:endParaRPr>
          </a:p>
          <a:p>
            <a:pPr>
              <a:lnSpc>
                <a:spcPct val="150000"/>
              </a:lnSpc>
            </a:pPr>
            <a:r>
              <a:rPr lang="en-US" dirty="0" err="1" smtClean="0"/>
              <a:t>GPIO_InitStructure.GPIO_Pin</a:t>
            </a:r>
            <a:r>
              <a:rPr lang="en-US" dirty="0" smtClean="0"/>
              <a:t> =GPIO_Pin_1; </a:t>
            </a:r>
          </a:p>
          <a:p>
            <a:pPr>
              <a:lnSpc>
                <a:spcPct val="150000"/>
              </a:lnSpc>
            </a:pPr>
            <a:r>
              <a:rPr lang="en-US" dirty="0" err="1" smtClean="0"/>
              <a:t>GPIO_InitStructure.GPIO_Mode</a:t>
            </a:r>
            <a:r>
              <a:rPr lang="en-US" dirty="0" smtClean="0"/>
              <a:t> = </a:t>
            </a:r>
            <a:r>
              <a:rPr lang="en-US" dirty="0" err="1" smtClean="0"/>
              <a:t>GPIO_Mode_AIN</a:t>
            </a:r>
            <a:r>
              <a:rPr lang="en-US" dirty="0" smtClean="0"/>
              <a:t>;//</a:t>
            </a:r>
            <a:r>
              <a:rPr lang="zh-CN" altLang="en-US" dirty="0" smtClean="0">
                <a:solidFill>
                  <a:srgbClr val="FF0000"/>
                </a:solidFill>
              </a:rPr>
              <a:t>模拟输入 </a:t>
            </a:r>
            <a:endParaRPr lang="en-US" altLang="zh-CN" dirty="0" smtClean="0">
              <a:solidFill>
                <a:srgbClr val="FF0000"/>
              </a:solidFill>
            </a:endParaRPr>
          </a:p>
          <a:p>
            <a:pPr>
              <a:lnSpc>
                <a:spcPct val="150000"/>
              </a:lnSpc>
            </a:pPr>
            <a:r>
              <a:rPr lang="en-US" dirty="0" err="1" smtClean="0"/>
              <a:t>GPIO_Init</a:t>
            </a:r>
            <a:r>
              <a:rPr lang="en-US" dirty="0" smtClean="0"/>
              <a:t>(GPIOA, &amp;</a:t>
            </a:r>
            <a:r>
              <a:rPr lang="en-US" dirty="0" err="1" smtClean="0"/>
              <a:t>GPIO_InitStructure</a:t>
            </a:r>
            <a:r>
              <a:rPr lang="en-US" dirty="0" smtClean="0"/>
              <a:t>); //</a:t>
            </a:r>
            <a:r>
              <a:rPr lang="zh-CN" altLang="en-US" dirty="0" smtClean="0">
                <a:solidFill>
                  <a:srgbClr val="FF0000"/>
                </a:solidFill>
              </a:rPr>
              <a:t>初始化 </a:t>
            </a:r>
            <a:r>
              <a:rPr lang="en-US" dirty="0" smtClean="0">
                <a:solidFill>
                  <a:srgbClr val="FF0000"/>
                </a:solidFill>
              </a:rPr>
              <a:t>GPIOA.1</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96375" y="641093"/>
            <a:ext cx="10987303" cy="5632311"/>
          </a:xfrm>
          <a:prstGeom prst="rect">
            <a:avLst/>
          </a:prstGeom>
        </p:spPr>
        <p:txBody>
          <a:bodyPr wrap="none">
            <a:spAutoFit/>
          </a:bodyPr>
          <a:lstStyle/>
          <a:p>
            <a:pPr>
              <a:lnSpc>
                <a:spcPct val="150000"/>
              </a:lnSpc>
            </a:pPr>
            <a:r>
              <a:rPr lang="zh-CN" altLang="en-US" sz="2400" b="1" dirty="0" smtClean="0">
                <a:solidFill>
                  <a:srgbClr val="C00000"/>
                </a:solidFill>
              </a:rPr>
              <a:t>使能 </a:t>
            </a:r>
            <a:r>
              <a:rPr lang="en-US" sz="2400" b="1" dirty="0" smtClean="0">
                <a:solidFill>
                  <a:srgbClr val="C00000"/>
                </a:solidFill>
              </a:rPr>
              <a:t>ADC </a:t>
            </a:r>
            <a:r>
              <a:rPr lang="zh-CN" altLang="en-US" sz="2400" b="1" dirty="0" smtClean="0">
                <a:solidFill>
                  <a:srgbClr val="C00000"/>
                </a:solidFill>
              </a:rPr>
              <a:t>并校准</a:t>
            </a:r>
            <a:endParaRPr lang="en-US" altLang="zh-CN" sz="2400" b="1" dirty="0" smtClean="0">
              <a:solidFill>
                <a:srgbClr val="C00000"/>
              </a:solidFill>
            </a:endParaRPr>
          </a:p>
          <a:p>
            <a:pPr>
              <a:lnSpc>
                <a:spcPct val="150000"/>
              </a:lnSpc>
            </a:pPr>
            <a:r>
              <a:rPr lang="zh-CN" altLang="en-US" dirty="0" smtClean="0"/>
              <a:t>      在设置完了以上信息后，我们就使能 </a:t>
            </a:r>
            <a:r>
              <a:rPr lang="en-US" dirty="0" smtClean="0"/>
              <a:t>AD </a:t>
            </a:r>
            <a:r>
              <a:rPr lang="zh-CN" altLang="en-US" dirty="0" smtClean="0"/>
              <a:t>转换器，执行复位校准和 </a:t>
            </a:r>
            <a:r>
              <a:rPr lang="en-US" dirty="0" smtClean="0"/>
              <a:t>AD </a:t>
            </a:r>
            <a:r>
              <a:rPr lang="zh-CN" altLang="en-US" dirty="0" smtClean="0"/>
              <a:t>校准，</a:t>
            </a:r>
            <a:r>
              <a:rPr lang="zh-CN" altLang="en-US" b="1" dirty="0" smtClean="0">
                <a:solidFill>
                  <a:srgbClr val="00B0F0"/>
                </a:solidFill>
              </a:rPr>
              <a:t>注意这两步 是必须的！</a:t>
            </a:r>
            <a:endParaRPr lang="en-US" altLang="zh-CN" b="1" dirty="0" smtClean="0">
              <a:solidFill>
                <a:srgbClr val="00B0F0"/>
              </a:solidFill>
            </a:endParaRPr>
          </a:p>
          <a:p>
            <a:pPr>
              <a:lnSpc>
                <a:spcPct val="150000"/>
              </a:lnSpc>
            </a:pPr>
            <a:r>
              <a:rPr lang="zh-CN" altLang="en-US" dirty="0" smtClean="0"/>
              <a:t>不校准将导致结果很不准确。 </a:t>
            </a:r>
            <a:endParaRPr lang="en-US" altLang="zh-CN" dirty="0" smtClean="0"/>
          </a:p>
          <a:p>
            <a:pPr>
              <a:lnSpc>
                <a:spcPct val="150000"/>
              </a:lnSpc>
            </a:pPr>
            <a:r>
              <a:rPr lang="zh-CN" altLang="en-US" b="1" dirty="0" smtClean="0">
                <a:solidFill>
                  <a:srgbClr val="14529E"/>
                </a:solidFill>
              </a:rPr>
              <a:t>使能指定的 </a:t>
            </a:r>
            <a:r>
              <a:rPr lang="en-US" b="1" dirty="0" smtClean="0">
                <a:solidFill>
                  <a:srgbClr val="14529E"/>
                </a:solidFill>
              </a:rPr>
              <a:t>ADC </a:t>
            </a:r>
            <a:r>
              <a:rPr lang="zh-CN" altLang="en-US" b="1" dirty="0" smtClean="0">
                <a:solidFill>
                  <a:srgbClr val="14529E"/>
                </a:solidFill>
              </a:rPr>
              <a:t>的方法是： </a:t>
            </a:r>
            <a:endParaRPr lang="en-US" altLang="zh-CN" b="1" dirty="0" smtClean="0">
              <a:solidFill>
                <a:srgbClr val="14529E"/>
              </a:solidFill>
            </a:endParaRPr>
          </a:p>
          <a:p>
            <a:pPr>
              <a:lnSpc>
                <a:spcPct val="150000"/>
              </a:lnSpc>
            </a:pPr>
            <a:r>
              <a:rPr lang="en-US" dirty="0" err="1" smtClean="0"/>
              <a:t>ADC_Cmd</a:t>
            </a:r>
            <a:r>
              <a:rPr lang="en-US" dirty="0" smtClean="0"/>
              <a:t>(ADC1, ENABLE); //</a:t>
            </a:r>
            <a:r>
              <a:rPr lang="zh-CN" altLang="en-US" dirty="0" smtClean="0">
                <a:solidFill>
                  <a:srgbClr val="FF0000"/>
                </a:solidFill>
              </a:rPr>
              <a:t>使能指定的 </a:t>
            </a:r>
            <a:r>
              <a:rPr lang="en-US" dirty="0" smtClean="0">
                <a:solidFill>
                  <a:srgbClr val="FF0000"/>
                </a:solidFill>
              </a:rPr>
              <a:t>ADC1 </a:t>
            </a:r>
          </a:p>
          <a:p>
            <a:pPr>
              <a:lnSpc>
                <a:spcPct val="150000"/>
              </a:lnSpc>
            </a:pPr>
            <a:r>
              <a:rPr lang="zh-CN" altLang="en-US" b="1" dirty="0" smtClean="0">
                <a:solidFill>
                  <a:srgbClr val="14529E"/>
                </a:solidFill>
              </a:rPr>
              <a:t>执行复位校准的方法是： </a:t>
            </a:r>
            <a:endParaRPr lang="en-US" altLang="zh-CN" b="1" dirty="0" smtClean="0">
              <a:solidFill>
                <a:srgbClr val="14529E"/>
              </a:solidFill>
            </a:endParaRPr>
          </a:p>
          <a:p>
            <a:pPr>
              <a:lnSpc>
                <a:spcPct val="150000"/>
              </a:lnSpc>
            </a:pPr>
            <a:r>
              <a:rPr lang="en-US" dirty="0" err="1" smtClean="0"/>
              <a:t>ADC_ResetCalibration</a:t>
            </a:r>
            <a:r>
              <a:rPr lang="en-US" dirty="0" smtClean="0"/>
              <a:t>(ADC1); </a:t>
            </a:r>
          </a:p>
          <a:p>
            <a:pPr>
              <a:lnSpc>
                <a:spcPct val="150000"/>
              </a:lnSpc>
            </a:pPr>
            <a:r>
              <a:rPr lang="zh-CN" altLang="en-US" b="1" dirty="0" smtClean="0">
                <a:solidFill>
                  <a:srgbClr val="14529E"/>
                </a:solidFill>
              </a:rPr>
              <a:t>执行 </a:t>
            </a:r>
            <a:r>
              <a:rPr lang="en-US" b="1" dirty="0" smtClean="0">
                <a:solidFill>
                  <a:srgbClr val="14529E"/>
                </a:solidFill>
              </a:rPr>
              <a:t>ADC </a:t>
            </a:r>
            <a:r>
              <a:rPr lang="zh-CN" altLang="en-US" b="1" dirty="0" smtClean="0">
                <a:solidFill>
                  <a:srgbClr val="14529E"/>
                </a:solidFill>
              </a:rPr>
              <a:t>校准的方法是：</a:t>
            </a:r>
            <a:endParaRPr lang="en-US" altLang="zh-CN" b="1" dirty="0" smtClean="0">
              <a:solidFill>
                <a:srgbClr val="14529E"/>
              </a:solidFill>
            </a:endParaRPr>
          </a:p>
          <a:p>
            <a:pPr>
              <a:lnSpc>
                <a:spcPct val="150000"/>
              </a:lnSpc>
            </a:pPr>
            <a:r>
              <a:rPr lang="zh-CN" altLang="en-US" dirty="0" smtClean="0"/>
              <a:t> </a:t>
            </a:r>
            <a:r>
              <a:rPr lang="en-US" dirty="0" err="1" smtClean="0"/>
              <a:t>ADC_StartCalibration</a:t>
            </a:r>
            <a:r>
              <a:rPr lang="en-US" dirty="0" smtClean="0"/>
              <a:t>(ADC1); //</a:t>
            </a:r>
            <a:r>
              <a:rPr lang="zh-CN" altLang="en-US" dirty="0" smtClean="0">
                <a:solidFill>
                  <a:srgbClr val="FF0000"/>
                </a:solidFill>
              </a:rPr>
              <a:t>开始指定 </a:t>
            </a:r>
            <a:r>
              <a:rPr lang="en-US" dirty="0" smtClean="0">
                <a:solidFill>
                  <a:srgbClr val="FF0000"/>
                </a:solidFill>
              </a:rPr>
              <a:t>ADC1 </a:t>
            </a:r>
            <a:r>
              <a:rPr lang="zh-CN" altLang="en-US" dirty="0" smtClean="0">
                <a:solidFill>
                  <a:srgbClr val="FF0000"/>
                </a:solidFill>
              </a:rPr>
              <a:t>的校准状态 </a:t>
            </a:r>
            <a:endParaRPr lang="en-US" altLang="zh-CN" dirty="0" smtClean="0">
              <a:solidFill>
                <a:srgbClr val="FF0000"/>
              </a:solidFill>
            </a:endParaRPr>
          </a:p>
          <a:p>
            <a:pPr>
              <a:lnSpc>
                <a:spcPct val="150000"/>
              </a:lnSpc>
            </a:pPr>
            <a:r>
              <a:rPr lang="zh-CN" altLang="en-US" dirty="0" smtClean="0"/>
              <a:t>    每次进行校准之后要等待校准结束。这里是通过获取校准状态来判断是否校准是否结束。 </a:t>
            </a:r>
            <a:endParaRPr lang="en-US" altLang="zh-CN" dirty="0" smtClean="0"/>
          </a:p>
          <a:p>
            <a:pPr>
              <a:lnSpc>
                <a:spcPct val="150000"/>
              </a:lnSpc>
            </a:pPr>
            <a:r>
              <a:rPr lang="zh-CN" altLang="en-US" b="1" dirty="0" smtClean="0">
                <a:solidFill>
                  <a:srgbClr val="14529E"/>
                </a:solidFill>
              </a:rPr>
              <a:t>复位校准和 </a:t>
            </a:r>
            <a:r>
              <a:rPr lang="en-US" b="1" dirty="0" smtClean="0">
                <a:solidFill>
                  <a:srgbClr val="14529E"/>
                </a:solidFill>
              </a:rPr>
              <a:t>AD </a:t>
            </a:r>
            <a:r>
              <a:rPr lang="zh-CN" altLang="en-US" b="1" dirty="0" smtClean="0">
                <a:solidFill>
                  <a:srgbClr val="14529E"/>
                </a:solidFill>
              </a:rPr>
              <a:t>校准的等待结束方法： </a:t>
            </a:r>
            <a:endParaRPr lang="en-US" altLang="zh-CN" b="1" dirty="0" smtClean="0">
              <a:solidFill>
                <a:srgbClr val="14529E"/>
              </a:solidFill>
            </a:endParaRPr>
          </a:p>
          <a:p>
            <a:pPr>
              <a:lnSpc>
                <a:spcPct val="150000"/>
              </a:lnSpc>
            </a:pPr>
            <a:r>
              <a:rPr lang="en-US" dirty="0" smtClean="0"/>
              <a:t>while(</a:t>
            </a:r>
            <a:r>
              <a:rPr lang="en-US" dirty="0" err="1" smtClean="0"/>
              <a:t>ADC_GetResetCalibrationStatus</a:t>
            </a:r>
            <a:r>
              <a:rPr lang="en-US" dirty="0" smtClean="0"/>
              <a:t>(ADC1)); //</a:t>
            </a:r>
            <a:r>
              <a:rPr lang="zh-CN" altLang="en-US" dirty="0" smtClean="0">
                <a:solidFill>
                  <a:srgbClr val="FF0000"/>
                </a:solidFill>
              </a:rPr>
              <a:t>等待复位校准结束 </a:t>
            </a:r>
            <a:endParaRPr lang="en-US" altLang="zh-CN" dirty="0" smtClean="0">
              <a:solidFill>
                <a:srgbClr val="FF0000"/>
              </a:solidFill>
            </a:endParaRPr>
          </a:p>
          <a:p>
            <a:pPr>
              <a:lnSpc>
                <a:spcPct val="150000"/>
              </a:lnSpc>
            </a:pPr>
            <a:r>
              <a:rPr lang="en-US" dirty="0" smtClean="0"/>
              <a:t>while(</a:t>
            </a:r>
            <a:r>
              <a:rPr lang="en-US" dirty="0" err="1" smtClean="0"/>
              <a:t>ADC_GetCalibrationStatus</a:t>
            </a:r>
            <a:r>
              <a:rPr lang="en-US" dirty="0" smtClean="0"/>
              <a:t>(ADC1)); //</a:t>
            </a:r>
            <a:r>
              <a:rPr lang="zh-CN" altLang="en-US" dirty="0" smtClean="0">
                <a:solidFill>
                  <a:srgbClr val="FF0000"/>
                </a:solidFill>
              </a:rPr>
              <a:t>等待校 </a:t>
            </a:r>
            <a:r>
              <a:rPr lang="en-US" dirty="0" smtClean="0">
                <a:solidFill>
                  <a:srgbClr val="FF0000"/>
                </a:solidFill>
              </a:rPr>
              <a:t>AD </a:t>
            </a:r>
            <a:r>
              <a:rPr lang="zh-CN" altLang="en-US" dirty="0" smtClean="0">
                <a:solidFill>
                  <a:srgbClr val="FF0000"/>
                </a:solidFill>
              </a:rPr>
              <a:t>准结束</a:t>
            </a:r>
            <a:endParaRPr lang="zh-CN" altLang="en-US"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45870" y="669085"/>
            <a:ext cx="10921580" cy="5493812"/>
          </a:xfrm>
          <a:prstGeom prst="rect">
            <a:avLst/>
          </a:prstGeom>
        </p:spPr>
        <p:txBody>
          <a:bodyPr wrap="none">
            <a:spAutoFit/>
          </a:bodyPr>
          <a:lstStyle/>
          <a:p>
            <a:pPr>
              <a:lnSpc>
                <a:spcPct val="150000"/>
              </a:lnSpc>
            </a:pPr>
            <a:r>
              <a:rPr lang="zh-CN" altLang="en-US" b="1" dirty="0" smtClean="0">
                <a:solidFill>
                  <a:srgbClr val="C00000"/>
                </a:solidFill>
              </a:rPr>
              <a:t>读取 </a:t>
            </a:r>
            <a:r>
              <a:rPr lang="en-US" b="1" dirty="0" smtClean="0">
                <a:solidFill>
                  <a:srgbClr val="C00000"/>
                </a:solidFill>
              </a:rPr>
              <a:t>ADC </a:t>
            </a:r>
            <a:r>
              <a:rPr lang="zh-CN" altLang="en-US" b="1" dirty="0" smtClean="0">
                <a:solidFill>
                  <a:srgbClr val="C00000"/>
                </a:solidFill>
              </a:rPr>
              <a:t>值</a:t>
            </a:r>
            <a:endParaRPr lang="en-US" altLang="zh-CN" b="1" dirty="0" smtClean="0">
              <a:solidFill>
                <a:srgbClr val="C00000"/>
              </a:solidFill>
            </a:endParaRPr>
          </a:p>
          <a:p>
            <a:pPr>
              <a:lnSpc>
                <a:spcPct val="150000"/>
              </a:lnSpc>
            </a:pPr>
            <a:r>
              <a:rPr lang="zh-CN" altLang="en-US" dirty="0" smtClean="0"/>
              <a:t>      校准完成之后，</a:t>
            </a:r>
            <a:r>
              <a:rPr lang="en-US" altLang="zh-CN" dirty="0" smtClean="0"/>
              <a:t>ADC </a:t>
            </a:r>
            <a:r>
              <a:rPr lang="zh-CN" altLang="en-US" dirty="0" smtClean="0"/>
              <a:t>就算准备好了。接下来我们要做的就是设置规则序列 里面的通道，采样顺序，</a:t>
            </a:r>
            <a:endParaRPr lang="en-US" altLang="zh-CN" dirty="0" smtClean="0"/>
          </a:p>
          <a:p>
            <a:pPr>
              <a:lnSpc>
                <a:spcPct val="150000"/>
              </a:lnSpc>
            </a:pPr>
            <a:r>
              <a:rPr lang="zh-CN" altLang="en-US" dirty="0" smtClean="0"/>
              <a:t>以及通道的采样周期，然后启动 </a:t>
            </a:r>
            <a:r>
              <a:rPr lang="en-US" altLang="zh-CN" dirty="0" smtClean="0"/>
              <a:t>ADC </a:t>
            </a:r>
            <a:r>
              <a:rPr lang="zh-CN" altLang="en-US" dirty="0" smtClean="0"/>
              <a:t>转换。在转换结束后，读取 </a:t>
            </a:r>
            <a:r>
              <a:rPr lang="en-US" altLang="zh-CN" dirty="0" smtClean="0"/>
              <a:t>ADC </a:t>
            </a:r>
            <a:r>
              <a:rPr lang="zh-CN" altLang="en-US" dirty="0" smtClean="0"/>
              <a:t>转换结果值。</a:t>
            </a:r>
            <a:endParaRPr lang="en-US" altLang="zh-CN" dirty="0" smtClean="0"/>
          </a:p>
          <a:p>
            <a:pPr>
              <a:lnSpc>
                <a:spcPct val="150000"/>
              </a:lnSpc>
            </a:pPr>
            <a:r>
              <a:rPr lang="zh-CN" altLang="en-US" dirty="0" smtClean="0">
                <a:solidFill>
                  <a:srgbClr val="FF0000"/>
                </a:solidFill>
              </a:rPr>
              <a:t>设置规则序列通道以及采样周期的函数是：</a:t>
            </a:r>
            <a:endParaRPr lang="en-US" altLang="zh-CN" dirty="0" smtClean="0">
              <a:solidFill>
                <a:srgbClr val="FF0000"/>
              </a:solidFill>
            </a:endParaRPr>
          </a:p>
          <a:p>
            <a:pPr>
              <a:lnSpc>
                <a:spcPct val="150000"/>
              </a:lnSpc>
            </a:pPr>
            <a:r>
              <a:rPr lang="en-US" dirty="0" smtClean="0"/>
              <a:t>void </a:t>
            </a:r>
            <a:r>
              <a:rPr lang="en-US" dirty="0" err="1" smtClean="0"/>
              <a:t>ADC_RegularChannelConfig</a:t>
            </a:r>
            <a:r>
              <a:rPr lang="en-US" dirty="0" smtClean="0"/>
              <a:t>(</a:t>
            </a:r>
            <a:r>
              <a:rPr lang="en-US" dirty="0" err="1" smtClean="0"/>
              <a:t>ADC_TypeDef</a:t>
            </a:r>
            <a:r>
              <a:rPr lang="en-US" dirty="0" smtClean="0"/>
              <a:t>* </a:t>
            </a:r>
            <a:r>
              <a:rPr lang="en-US" dirty="0" err="1" smtClean="0"/>
              <a:t>ADCx</a:t>
            </a:r>
            <a:r>
              <a:rPr lang="en-US" dirty="0" smtClean="0"/>
              <a:t>, uint8_t </a:t>
            </a:r>
            <a:r>
              <a:rPr lang="en-US" dirty="0" err="1" smtClean="0"/>
              <a:t>ADC_Channel</a:t>
            </a:r>
            <a:r>
              <a:rPr lang="en-US" dirty="0" smtClean="0"/>
              <a:t>, </a:t>
            </a:r>
          </a:p>
          <a:p>
            <a:pPr>
              <a:lnSpc>
                <a:spcPct val="150000"/>
              </a:lnSpc>
            </a:pPr>
            <a:r>
              <a:rPr lang="en-US" dirty="0" smtClean="0"/>
              <a:t>uint8_t Rank, uint8_t </a:t>
            </a:r>
            <a:r>
              <a:rPr lang="en-US" dirty="0" err="1" smtClean="0"/>
              <a:t>ADC_SampleTime</a:t>
            </a:r>
            <a:r>
              <a:rPr lang="en-US" dirty="0" smtClean="0"/>
              <a:t>)； </a:t>
            </a:r>
          </a:p>
          <a:p>
            <a:pPr>
              <a:lnSpc>
                <a:spcPct val="150000"/>
              </a:lnSpc>
            </a:pPr>
            <a:r>
              <a:rPr lang="zh-CN" altLang="en-US" dirty="0" smtClean="0">
                <a:solidFill>
                  <a:srgbClr val="14529E"/>
                </a:solidFill>
              </a:rPr>
              <a:t>参数</a:t>
            </a:r>
            <a:r>
              <a:rPr lang="en-US" altLang="zh-CN" dirty="0" smtClean="0">
                <a:solidFill>
                  <a:srgbClr val="14529E"/>
                </a:solidFill>
              </a:rPr>
              <a:t>1</a:t>
            </a:r>
            <a:r>
              <a:rPr lang="zh-CN" altLang="en-US" dirty="0" smtClean="0">
                <a:solidFill>
                  <a:srgbClr val="14529E"/>
                </a:solidFill>
              </a:rPr>
              <a:t>：</a:t>
            </a:r>
            <a:r>
              <a:rPr lang="en-US" altLang="zh-CN" dirty="0" err="1" smtClean="0"/>
              <a:t>ADCx</a:t>
            </a:r>
            <a:r>
              <a:rPr lang="zh-CN" altLang="en-US" dirty="0" smtClean="0"/>
              <a:t>：</a:t>
            </a:r>
            <a:r>
              <a:rPr lang="en-US" altLang="zh-CN" dirty="0" smtClean="0"/>
              <a:t>x</a:t>
            </a:r>
            <a:r>
              <a:rPr lang="zh-CN" altLang="en-US" dirty="0" smtClean="0"/>
              <a:t>可以是</a:t>
            </a:r>
            <a:r>
              <a:rPr lang="en-US" altLang="zh-CN" dirty="0" smtClean="0"/>
              <a:t>1</a:t>
            </a:r>
            <a:r>
              <a:rPr lang="zh-CN" altLang="en-US" dirty="0" smtClean="0"/>
              <a:t>或者</a:t>
            </a:r>
            <a:r>
              <a:rPr lang="en-US" altLang="zh-CN" dirty="0" smtClean="0"/>
              <a:t>2</a:t>
            </a:r>
            <a:r>
              <a:rPr lang="zh-CN" altLang="en-US" dirty="0" smtClean="0"/>
              <a:t>来选择</a:t>
            </a:r>
            <a:r>
              <a:rPr lang="en-US" altLang="zh-CN" dirty="0" smtClean="0"/>
              <a:t>ADC</a:t>
            </a:r>
            <a:r>
              <a:rPr lang="zh-CN" altLang="en-US" dirty="0" smtClean="0"/>
              <a:t>外设</a:t>
            </a:r>
            <a:r>
              <a:rPr lang="en-US" altLang="zh-CN" dirty="0" smtClean="0"/>
              <a:t>ADC1</a:t>
            </a:r>
            <a:r>
              <a:rPr lang="zh-CN" altLang="en-US" dirty="0" smtClean="0"/>
              <a:t>或</a:t>
            </a:r>
            <a:r>
              <a:rPr lang="en-US" altLang="zh-CN" dirty="0" smtClean="0"/>
              <a:t>ADC2</a:t>
            </a:r>
          </a:p>
          <a:p>
            <a:pPr>
              <a:lnSpc>
                <a:spcPct val="150000"/>
              </a:lnSpc>
            </a:pPr>
            <a:r>
              <a:rPr lang="zh-CN" altLang="en-US" dirty="0" smtClean="0">
                <a:solidFill>
                  <a:srgbClr val="14529E"/>
                </a:solidFill>
              </a:rPr>
              <a:t>参数</a:t>
            </a:r>
            <a:r>
              <a:rPr lang="en-US" altLang="zh-CN" dirty="0" smtClean="0">
                <a:solidFill>
                  <a:srgbClr val="14529E"/>
                </a:solidFill>
              </a:rPr>
              <a:t>2</a:t>
            </a:r>
            <a:r>
              <a:rPr lang="zh-CN" altLang="en-US" dirty="0" smtClean="0">
                <a:solidFill>
                  <a:srgbClr val="14529E"/>
                </a:solidFill>
              </a:rPr>
              <a:t>：</a:t>
            </a:r>
            <a:r>
              <a:rPr lang="en-US" altLang="zh-CN" dirty="0" err="1" smtClean="0"/>
              <a:t>ADC_Channel</a:t>
            </a:r>
            <a:r>
              <a:rPr lang="zh-CN" altLang="en-US" dirty="0" smtClean="0"/>
              <a:t>：被设置的</a:t>
            </a:r>
            <a:r>
              <a:rPr lang="en-US" altLang="zh-CN" dirty="0" smtClean="0"/>
              <a:t>ADC</a:t>
            </a:r>
            <a:r>
              <a:rPr lang="zh-CN" altLang="en-US" dirty="0" smtClean="0"/>
              <a:t>通道  范围</a:t>
            </a:r>
            <a:r>
              <a:rPr lang="en-US" altLang="zh-CN" dirty="0" smtClean="0"/>
              <a:t>ADC_Channel_0~ADC_Channel_17</a:t>
            </a:r>
          </a:p>
          <a:p>
            <a:pPr>
              <a:lnSpc>
                <a:spcPct val="150000"/>
              </a:lnSpc>
            </a:pPr>
            <a:r>
              <a:rPr lang="zh-CN" altLang="en-US" dirty="0" smtClean="0">
                <a:solidFill>
                  <a:srgbClr val="14529E"/>
                </a:solidFill>
              </a:rPr>
              <a:t>参数</a:t>
            </a:r>
            <a:r>
              <a:rPr lang="en-US" altLang="zh-CN" dirty="0" smtClean="0">
                <a:solidFill>
                  <a:srgbClr val="14529E"/>
                </a:solidFill>
              </a:rPr>
              <a:t>3</a:t>
            </a:r>
            <a:r>
              <a:rPr lang="zh-CN" altLang="en-US" dirty="0" smtClean="0">
                <a:solidFill>
                  <a:srgbClr val="14529E"/>
                </a:solidFill>
              </a:rPr>
              <a:t>：</a:t>
            </a:r>
            <a:r>
              <a:rPr lang="en-US" altLang="zh-CN" dirty="0" smtClean="0"/>
              <a:t>Rank</a:t>
            </a:r>
            <a:r>
              <a:rPr lang="zh-CN" altLang="en-US" dirty="0" smtClean="0"/>
              <a:t>：规则组采样顺序。取值范围</a:t>
            </a:r>
            <a:r>
              <a:rPr lang="en-US" altLang="zh-CN" dirty="0" smtClean="0"/>
              <a:t>1</a:t>
            </a:r>
            <a:r>
              <a:rPr lang="zh-CN" altLang="en-US" dirty="0" smtClean="0"/>
              <a:t>到</a:t>
            </a:r>
            <a:r>
              <a:rPr lang="en-US" altLang="zh-CN" dirty="0" smtClean="0"/>
              <a:t>16</a:t>
            </a:r>
            <a:r>
              <a:rPr lang="zh-CN" altLang="en-US" dirty="0" smtClean="0"/>
              <a:t>。</a:t>
            </a:r>
          </a:p>
          <a:p>
            <a:pPr>
              <a:lnSpc>
                <a:spcPct val="150000"/>
              </a:lnSpc>
            </a:pPr>
            <a:r>
              <a:rPr lang="zh-CN" altLang="en-US" dirty="0" smtClean="0">
                <a:solidFill>
                  <a:srgbClr val="14529E"/>
                </a:solidFill>
              </a:rPr>
              <a:t>参数</a:t>
            </a:r>
            <a:r>
              <a:rPr lang="en-US" altLang="zh-CN" dirty="0" smtClean="0">
                <a:solidFill>
                  <a:srgbClr val="14529E"/>
                </a:solidFill>
              </a:rPr>
              <a:t>4</a:t>
            </a:r>
            <a:r>
              <a:rPr lang="zh-CN" altLang="en-US" dirty="0" smtClean="0">
                <a:solidFill>
                  <a:srgbClr val="14529E"/>
                </a:solidFill>
              </a:rPr>
              <a:t>：</a:t>
            </a:r>
            <a:r>
              <a:rPr lang="en-US" altLang="zh-CN" dirty="0" err="1" smtClean="0"/>
              <a:t>ADC_SampleTime</a:t>
            </a:r>
            <a:r>
              <a:rPr lang="zh-CN" altLang="en-US" dirty="0" smtClean="0"/>
              <a:t>：指定</a:t>
            </a:r>
            <a:r>
              <a:rPr lang="en-US" altLang="zh-CN" dirty="0" smtClean="0"/>
              <a:t>ADC</a:t>
            </a:r>
            <a:r>
              <a:rPr lang="zh-CN" altLang="en-US" dirty="0" smtClean="0"/>
              <a:t>通道的采样时间值  </a:t>
            </a:r>
            <a:endParaRPr lang="en-US" dirty="0" smtClean="0"/>
          </a:p>
          <a:p>
            <a:pPr>
              <a:lnSpc>
                <a:spcPct val="150000"/>
              </a:lnSpc>
            </a:pPr>
            <a:r>
              <a:rPr lang="zh-CN" altLang="en-US" dirty="0" smtClean="0"/>
              <a:t>假设这里是规则序列中的第 </a:t>
            </a:r>
            <a:r>
              <a:rPr lang="en-US" altLang="zh-CN" dirty="0" smtClean="0"/>
              <a:t>1 </a:t>
            </a:r>
            <a:r>
              <a:rPr lang="zh-CN" altLang="en-US" dirty="0" smtClean="0"/>
              <a:t>个转换，同时采样周期为 </a:t>
            </a:r>
            <a:r>
              <a:rPr lang="en-US" altLang="zh-CN" dirty="0" smtClean="0"/>
              <a:t>239.5</a:t>
            </a:r>
            <a:r>
              <a:rPr lang="zh-CN" altLang="en-US" dirty="0" smtClean="0"/>
              <a:t>，所以设置为：</a:t>
            </a:r>
            <a:endParaRPr lang="en-US" dirty="0" smtClean="0"/>
          </a:p>
          <a:p>
            <a:pPr>
              <a:lnSpc>
                <a:spcPct val="150000"/>
              </a:lnSpc>
            </a:pPr>
            <a:r>
              <a:rPr lang="en-US" dirty="0" err="1" smtClean="0"/>
              <a:t>ADC_RegularChannelConfig</a:t>
            </a:r>
            <a:r>
              <a:rPr lang="en-US" dirty="0" smtClean="0"/>
              <a:t>(ADC1, ADC_Channel_0, 1, ADC_SampleTime_239Cycles5 ); </a:t>
            </a:r>
          </a:p>
          <a:p>
            <a:pPr>
              <a:lnSpc>
                <a:spcPct val="150000"/>
              </a:lnSpc>
            </a:pPr>
            <a:r>
              <a:rPr lang="zh-CN" altLang="en-US" b="1" dirty="0" smtClean="0">
                <a:solidFill>
                  <a:srgbClr val="FF0000"/>
                </a:solidFill>
              </a:rPr>
              <a:t>采样时间可以配置为</a:t>
            </a:r>
            <a:r>
              <a:rPr lang="en-US" altLang="zh-CN" b="1" dirty="0" smtClean="0">
                <a:solidFill>
                  <a:srgbClr val="FF0000"/>
                </a:solidFill>
              </a:rPr>
              <a:t>1.5</a:t>
            </a:r>
            <a:r>
              <a:rPr lang="zh-CN" altLang="en-US" b="1" dirty="0" smtClean="0">
                <a:solidFill>
                  <a:srgbClr val="FF0000"/>
                </a:solidFill>
              </a:rPr>
              <a:t>、</a:t>
            </a:r>
            <a:r>
              <a:rPr lang="en-US" altLang="zh-CN" b="1" dirty="0" smtClean="0">
                <a:solidFill>
                  <a:srgbClr val="FF0000"/>
                </a:solidFill>
              </a:rPr>
              <a:t>7.5</a:t>
            </a:r>
            <a:r>
              <a:rPr lang="zh-CN" altLang="en-US" b="1" dirty="0" smtClean="0">
                <a:solidFill>
                  <a:srgbClr val="FF0000"/>
                </a:solidFill>
              </a:rPr>
              <a:t>、</a:t>
            </a:r>
            <a:r>
              <a:rPr lang="en-US" altLang="zh-CN" b="1" dirty="0" smtClean="0">
                <a:solidFill>
                  <a:srgbClr val="FF0000"/>
                </a:solidFill>
              </a:rPr>
              <a:t>13.5</a:t>
            </a:r>
            <a:r>
              <a:rPr lang="zh-CN" altLang="en-US" b="1" dirty="0" smtClean="0">
                <a:solidFill>
                  <a:srgbClr val="FF0000"/>
                </a:solidFill>
              </a:rPr>
              <a:t>、</a:t>
            </a:r>
            <a:r>
              <a:rPr lang="en-US" altLang="zh-CN" b="1" dirty="0" smtClean="0">
                <a:solidFill>
                  <a:srgbClr val="FF0000"/>
                </a:solidFill>
              </a:rPr>
              <a:t>28.5</a:t>
            </a:r>
            <a:r>
              <a:rPr lang="zh-CN" altLang="en-US" b="1" dirty="0" smtClean="0">
                <a:solidFill>
                  <a:srgbClr val="FF0000"/>
                </a:solidFill>
              </a:rPr>
              <a:t>、</a:t>
            </a:r>
            <a:r>
              <a:rPr lang="en-US" altLang="zh-CN" b="1" dirty="0" smtClean="0">
                <a:solidFill>
                  <a:srgbClr val="FF0000"/>
                </a:solidFill>
              </a:rPr>
              <a:t>41.5</a:t>
            </a:r>
            <a:r>
              <a:rPr lang="zh-CN" altLang="en-US" b="1" dirty="0" smtClean="0">
                <a:solidFill>
                  <a:srgbClr val="FF0000"/>
                </a:solidFill>
              </a:rPr>
              <a:t>、</a:t>
            </a:r>
            <a:r>
              <a:rPr lang="en-US" altLang="zh-CN" b="1" dirty="0" smtClean="0">
                <a:solidFill>
                  <a:srgbClr val="FF0000"/>
                </a:solidFill>
              </a:rPr>
              <a:t>55.5</a:t>
            </a:r>
            <a:r>
              <a:rPr lang="zh-CN" altLang="en-US" b="1" dirty="0" smtClean="0">
                <a:solidFill>
                  <a:srgbClr val="FF0000"/>
                </a:solidFill>
              </a:rPr>
              <a:t>、</a:t>
            </a:r>
            <a:r>
              <a:rPr lang="en-US" altLang="zh-CN" b="1" dirty="0" smtClean="0">
                <a:solidFill>
                  <a:srgbClr val="FF0000"/>
                </a:solidFill>
              </a:rPr>
              <a:t>71.5</a:t>
            </a:r>
            <a:r>
              <a:rPr lang="zh-CN" altLang="en-US" b="1" dirty="0" smtClean="0">
                <a:solidFill>
                  <a:srgbClr val="FF0000"/>
                </a:solidFill>
              </a:rPr>
              <a:t>、</a:t>
            </a:r>
            <a:r>
              <a:rPr lang="en-US" altLang="zh-CN" b="1" dirty="0" smtClean="0">
                <a:solidFill>
                  <a:srgbClr val="FF0000"/>
                </a:solidFill>
              </a:rPr>
              <a:t>239.5</a:t>
            </a:r>
            <a:r>
              <a:rPr lang="zh-CN" altLang="en-US" b="1" dirty="0" smtClean="0">
                <a:solidFill>
                  <a:srgbClr val="FF0000"/>
                </a:solidFill>
              </a:rPr>
              <a:t>这样几个</a:t>
            </a:r>
            <a:r>
              <a:rPr lang="en-US" altLang="zh-CN" b="1" dirty="0" smtClean="0">
                <a:solidFill>
                  <a:srgbClr val="FF0000"/>
                </a:solidFill>
              </a:rPr>
              <a:t>ADC</a:t>
            </a:r>
            <a:r>
              <a:rPr lang="zh-CN" altLang="en-US" b="1" dirty="0" smtClean="0">
                <a:solidFill>
                  <a:srgbClr val="FF0000"/>
                </a:solidFill>
              </a:rPr>
              <a:t>时钟周期。</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91113" y="697275"/>
            <a:ext cx="11900887" cy="5632311"/>
          </a:xfrm>
          <a:prstGeom prst="rect">
            <a:avLst/>
          </a:prstGeom>
        </p:spPr>
        <p:txBody>
          <a:bodyPr wrap="none">
            <a:spAutoFit/>
          </a:bodyPr>
          <a:lstStyle/>
          <a:p>
            <a:pPr>
              <a:lnSpc>
                <a:spcPct val="150000"/>
              </a:lnSpc>
            </a:pPr>
            <a:r>
              <a:rPr lang="zh-CN" altLang="en-US" sz="2400" dirty="0" smtClean="0">
                <a:solidFill>
                  <a:srgbClr val="FF0000"/>
                </a:solidFill>
              </a:rPr>
              <a:t>软件开启 </a:t>
            </a:r>
            <a:r>
              <a:rPr lang="en-US" altLang="zh-CN" sz="2400" dirty="0" smtClean="0">
                <a:solidFill>
                  <a:srgbClr val="FF0000"/>
                </a:solidFill>
              </a:rPr>
              <a:t>ADC </a:t>
            </a:r>
            <a:r>
              <a:rPr lang="zh-CN" altLang="en-US" sz="2400" dirty="0" smtClean="0">
                <a:solidFill>
                  <a:srgbClr val="FF0000"/>
                </a:solidFill>
              </a:rPr>
              <a:t>转换的方法是：</a:t>
            </a:r>
            <a:endParaRPr lang="en-US" altLang="zh-CN" sz="2400" dirty="0" smtClean="0">
              <a:solidFill>
                <a:srgbClr val="FF0000"/>
              </a:solidFill>
            </a:endParaRPr>
          </a:p>
          <a:p>
            <a:pPr>
              <a:lnSpc>
                <a:spcPct val="150000"/>
              </a:lnSpc>
            </a:pPr>
            <a:r>
              <a:rPr lang="en-US" sz="2400" dirty="0" err="1" smtClean="0"/>
              <a:t>ADC_SoftwareStartConvCmd</a:t>
            </a:r>
            <a:r>
              <a:rPr lang="en-US" sz="2400" dirty="0" smtClean="0"/>
              <a:t>(ADC1, ENABLE);//</a:t>
            </a:r>
            <a:r>
              <a:rPr lang="zh-CN" altLang="en-US" sz="2400" dirty="0" smtClean="0"/>
              <a:t>使能指定的 </a:t>
            </a:r>
            <a:r>
              <a:rPr lang="en-US" sz="2400" dirty="0" smtClean="0"/>
              <a:t>ADC1 </a:t>
            </a:r>
            <a:r>
              <a:rPr lang="zh-CN" altLang="en-US" sz="2400" dirty="0" smtClean="0"/>
              <a:t>的软件</a:t>
            </a:r>
            <a:endParaRPr lang="en-US" altLang="zh-CN" sz="2400" dirty="0" smtClean="0"/>
          </a:p>
          <a:p>
            <a:pPr>
              <a:lnSpc>
                <a:spcPct val="150000"/>
              </a:lnSpc>
            </a:pPr>
            <a:r>
              <a:rPr lang="zh-CN" altLang="en-US" sz="2400" dirty="0" smtClean="0"/>
              <a:t>转换启动功能，</a:t>
            </a:r>
            <a:r>
              <a:rPr lang="zh-CN" altLang="en-US" sz="2400" dirty="0" smtClean="0">
                <a:solidFill>
                  <a:srgbClr val="FF0000"/>
                </a:solidFill>
              </a:rPr>
              <a:t>开启转换之后，就可以获取转换 </a:t>
            </a:r>
            <a:r>
              <a:rPr lang="en-US" altLang="zh-CN" sz="2400" dirty="0" smtClean="0">
                <a:solidFill>
                  <a:srgbClr val="FF0000"/>
                </a:solidFill>
              </a:rPr>
              <a:t>ADC </a:t>
            </a:r>
            <a:r>
              <a:rPr lang="zh-CN" altLang="en-US" sz="2400" dirty="0" smtClean="0">
                <a:solidFill>
                  <a:srgbClr val="FF0000"/>
                </a:solidFill>
              </a:rPr>
              <a:t>转换结果数据，方法是：</a:t>
            </a:r>
            <a:endParaRPr lang="en-US" altLang="zh-CN" sz="2400" dirty="0" smtClean="0">
              <a:solidFill>
                <a:srgbClr val="FF0000"/>
              </a:solidFill>
            </a:endParaRPr>
          </a:p>
          <a:p>
            <a:pPr>
              <a:lnSpc>
                <a:spcPct val="150000"/>
              </a:lnSpc>
            </a:pPr>
            <a:r>
              <a:rPr lang="en-US" sz="2400" dirty="0" err="1" smtClean="0"/>
              <a:t>ADC_GetConversionValue</a:t>
            </a:r>
            <a:r>
              <a:rPr lang="en-US" sz="2400" dirty="0" smtClean="0"/>
              <a:t>(ADC1);</a:t>
            </a:r>
          </a:p>
          <a:p>
            <a:pPr>
              <a:lnSpc>
                <a:spcPct val="150000"/>
              </a:lnSpc>
            </a:pPr>
            <a:r>
              <a:rPr lang="zh-CN" altLang="en-US" sz="2400" dirty="0" smtClean="0"/>
              <a:t>同时在 </a:t>
            </a:r>
            <a:r>
              <a:rPr lang="en-US" altLang="zh-CN" sz="2400" dirty="0" smtClean="0"/>
              <a:t>AD </a:t>
            </a:r>
            <a:r>
              <a:rPr lang="zh-CN" altLang="en-US" sz="2400" dirty="0" smtClean="0"/>
              <a:t>转换中，我们还要根据状态寄存器的标志位来获取 </a:t>
            </a:r>
            <a:r>
              <a:rPr lang="en-US" altLang="zh-CN" sz="2400" dirty="0" smtClean="0"/>
              <a:t>AD </a:t>
            </a:r>
            <a:r>
              <a:rPr lang="zh-CN" altLang="en-US" sz="2400" dirty="0" smtClean="0"/>
              <a:t>转换的各个状态</a:t>
            </a:r>
            <a:endParaRPr lang="en-US" altLang="zh-CN" sz="2400" dirty="0" smtClean="0"/>
          </a:p>
          <a:p>
            <a:pPr>
              <a:lnSpc>
                <a:spcPct val="150000"/>
              </a:lnSpc>
            </a:pPr>
            <a:r>
              <a:rPr lang="zh-CN" altLang="en-US" sz="2400" dirty="0" smtClean="0"/>
              <a:t>信息。</a:t>
            </a:r>
            <a:endParaRPr lang="en-US" altLang="zh-CN" sz="2400" dirty="0" smtClean="0"/>
          </a:p>
          <a:p>
            <a:pPr>
              <a:lnSpc>
                <a:spcPct val="150000"/>
              </a:lnSpc>
            </a:pPr>
            <a:r>
              <a:rPr lang="zh-CN" altLang="en-US" sz="2400" dirty="0" smtClean="0">
                <a:solidFill>
                  <a:srgbClr val="FF0000"/>
                </a:solidFill>
              </a:rPr>
              <a:t>库函数获取 </a:t>
            </a:r>
            <a:r>
              <a:rPr lang="en-US" altLang="zh-CN" sz="2400" dirty="0" smtClean="0">
                <a:solidFill>
                  <a:srgbClr val="FF0000"/>
                </a:solidFill>
              </a:rPr>
              <a:t>AD </a:t>
            </a:r>
            <a:r>
              <a:rPr lang="zh-CN" altLang="en-US" sz="2400" dirty="0" smtClean="0">
                <a:solidFill>
                  <a:srgbClr val="FF0000"/>
                </a:solidFill>
              </a:rPr>
              <a:t>转换的状态信息的函数是：</a:t>
            </a:r>
            <a:endParaRPr lang="en-US" altLang="zh-CN" sz="2400" dirty="0" smtClean="0">
              <a:solidFill>
                <a:srgbClr val="FF0000"/>
              </a:solidFill>
            </a:endParaRPr>
          </a:p>
          <a:p>
            <a:pPr>
              <a:lnSpc>
                <a:spcPct val="150000"/>
              </a:lnSpc>
            </a:pPr>
            <a:r>
              <a:rPr lang="en-US" sz="2400" dirty="0" err="1" smtClean="0"/>
              <a:t>FlagStatus</a:t>
            </a:r>
            <a:r>
              <a:rPr lang="en-US" sz="2400" dirty="0" smtClean="0"/>
              <a:t> </a:t>
            </a:r>
            <a:r>
              <a:rPr lang="en-US" sz="2400" dirty="0" err="1" smtClean="0"/>
              <a:t>ADC_GetFlagStatus</a:t>
            </a:r>
            <a:r>
              <a:rPr lang="en-US" sz="2400" dirty="0" smtClean="0"/>
              <a:t>(</a:t>
            </a:r>
            <a:r>
              <a:rPr lang="en-US" sz="2400" dirty="0" err="1" smtClean="0"/>
              <a:t>ADC_TypeDef</a:t>
            </a:r>
            <a:r>
              <a:rPr lang="en-US" sz="2400" dirty="0" smtClean="0"/>
              <a:t>* </a:t>
            </a:r>
            <a:r>
              <a:rPr lang="en-US" sz="2400" dirty="0" err="1" smtClean="0"/>
              <a:t>ADCx</a:t>
            </a:r>
            <a:r>
              <a:rPr lang="en-US" sz="2400" dirty="0" smtClean="0"/>
              <a:t>, uint8_t ADC_FLAG)</a:t>
            </a:r>
            <a:r>
              <a:rPr lang="zh-CN" altLang="en-US" sz="2400" dirty="0" smtClean="0"/>
              <a:t>；</a:t>
            </a:r>
            <a:endParaRPr lang="en-US" altLang="zh-CN" sz="2400" dirty="0" smtClean="0"/>
          </a:p>
          <a:p>
            <a:pPr>
              <a:lnSpc>
                <a:spcPct val="150000"/>
              </a:lnSpc>
            </a:pPr>
            <a:r>
              <a:rPr lang="zh-CN" altLang="en-US" sz="2400" dirty="0" smtClean="0"/>
              <a:t>比如我们要判断 </a:t>
            </a:r>
            <a:r>
              <a:rPr lang="en-US" altLang="zh-CN" sz="2400" dirty="0" smtClean="0"/>
              <a:t>ADC1 </a:t>
            </a:r>
            <a:r>
              <a:rPr lang="zh-CN" altLang="en-US" sz="2400" dirty="0" smtClean="0"/>
              <a:t>的转换是否结束，方法是：</a:t>
            </a:r>
            <a:endParaRPr lang="en-US" altLang="zh-CN" sz="2400" dirty="0" smtClean="0"/>
          </a:p>
          <a:p>
            <a:pPr>
              <a:lnSpc>
                <a:spcPct val="150000"/>
              </a:lnSpc>
            </a:pPr>
            <a:r>
              <a:rPr lang="en-US" sz="2400" dirty="0" smtClean="0"/>
              <a:t>while(!</a:t>
            </a:r>
            <a:r>
              <a:rPr lang="en-US" sz="2400" dirty="0" err="1" smtClean="0"/>
              <a:t>ADC_GetFlagStatus</a:t>
            </a:r>
            <a:r>
              <a:rPr lang="en-US" sz="2400" dirty="0" smtClean="0"/>
              <a:t>(ADC1, ADC_FLAG_EOC ));//</a:t>
            </a:r>
            <a:r>
              <a:rPr lang="zh-CN" altLang="en-US" sz="2400" dirty="0" smtClean="0"/>
              <a:t>等待转换结束</a:t>
            </a:r>
            <a:endParaRPr lang="zh-CN" altLang="en-US" sz="2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83297" y="838811"/>
            <a:ext cx="7420947" cy="4606774"/>
          </a:xfrm>
          <a:prstGeom prst="rect">
            <a:avLst/>
          </a:prstGeom>
        </p:spPr>
        <p:txBody>
          <a:bodyPr wrap="square">
            <a:spAutoFit/>
          </a:bodyPr>
          <a:lstStyle/>
          <a:p>
            <a:pPr>
              <a:lnSpc>
                <a:spcPct val="150000"/>
              </a:lnSpc>
            </a:pPr>
            <a:r>
              <a:rPr lang="en-US" altLang="zh-CN" dirty="0" smtClean="0"/>
              <a:t> while(1) { </a:t>
            </a:r>
          </a:p>
          <a:p>
            <a:pPr>
              <a:lnSpc>
                <a:spcPct val="150000"/>
              </a:lnSpc>
            </a:pPr>
            <a:r>
              <a:rPr lang="en-US" altLang="zh-CN" dirty="0" smtClean="0"/>
              <a:t> /* </a:t>
            </a:r>
            <a:r>
              <a:rPr lang="zh-CN" altLang="en-US" dirty="0" smtClean="0"/>
              <a:t>启动转换 *</a:t>
            </a:r>
            <a:r>
              <a:rPr lang="en-US" altLang="zh-CN" dirty="0" smtClean="0"/>
              <a:t>/  </a:t>
            </a:r>
          </a:p>
          <a:p>
            <a:pPr>
              <a:lnSpc>
                <a:spcPct val="150000"/>
              </a:lnSpc>
            </a:pPr>
            <a:r>
              <a:rPr lang="en-US" altLang="zh-CN" dirty="0" err="1" smtClean="0"/>
              <a:t>ADC_SoftwareStartConvCmd</a:t>
            </a:r>
            <a:r>
              <a:rPr lang="en-US" altLang="zh-CN" dirty="0" smtClean="0"/>
              <a:t>(ADC1, ENABLE); </a:t>
            </a:r>
          </a:p>
          <a:p>
            <a:pPr>
              <a:lnSpc>
                <a:spcPct val="150000"/>
              </a:lnSpc>
            </a:pPr>
            <a:r>
              <a:rPr lang="en-US" altLang="zh-CN" dirty="0" smtClean="0"/>
              <a:t> /* </a:t>
            </a:r>
            <a:r>
              <a:rPr lang="zh-CN" altLang="en-US" dirty="0" smtClean="0"/>
              <a:t>等待转换结束 *</a:t>
            </a:r>
            <a:r>
              <a:rPr lang="en-US" altLang="zh-CN" dirty="0" smtClean="0"/>
              <a:t>/ </a:t>
            </a:r>
          </a:p>
          <a:p>
            <a:pPr>
              <a:lnSpc>
                <a:spcPct val="150000"/>
              </a:lnSpc>
            </a:pPr>
            <a:r>
              <a:rPr lang="en-US" altLang="zh-CN" dirty="0" smtClean="0"/>
              <a:t> while(!</a:t>
            </a:r>
            <a:r>
              <a:rPr lang="en-US" altLang="zh-CN" dirty="0" err="1" smtClean="0"/>
              <a:t>ADC_GetFlagStatus</a:t>
            </a:r>
            <a:r>
              <a:rPr lang="en-US" altLang="zh-CN" dirty="0" smtClean="0"/>
              <a:t>(ADC1,ADC_FLAG_EOC));  </a:t>
            </a:r>
          </a:p>
          <a:p>
            <a:pPr>
              <a:lnSpc>
                <a:spcPct val="150000"/>
              </a:lnSpc>
            </a:pPr>
            <a:r>
              <a:rPr lang="en-US" altLang="zh-CN" dirty="0" smtClean="0"/>
              <a:t>  /* </a:t>
            </a:r>
            <a:r>
              <a:rPr lang="zh-CN" altLang="en-US" dirty="0" smtClean="0"/>
              <a:t>获取转换值 *</a:t>
            </a:r>
            <a:r>
              <a:rPr lang="en-US" altLang="zh-CN" dirty="0" smtClean="0"/>
              <a:t>/ </a:t>
            </a:r>
          </a:p>
          <a:p>
            <a:pPr>
              <a:lnSpc>
                <a:spcPct val="150000"/>
              </a:lnSpc>
            </a:pPr>
            <a:r>
              <a:rPr lang="en-US" altLang="zh-CN" dirty="0" smtClean="0"/>
              <a:t> value = </a:t>
            </a:r>
            <a:r>
              <a:rPr lang="en-US" altLang="zh-CN" dirty="0" err="1" smtClean="0"/>
              <a:t>ADC_GetConversionValue</a:t>
            </a:r>
            <a:r>
              <a:rPr lang="en-US" altLang="zh-CN" dirty="0" smtClean="0"/>
              <a:t>(ADC1);    </a:t>
            </a:r>
          </a:p>
          <a:p>
            <a:pPr>
              <a:lnSpc>
                <a:spcPct val="150000"/>
              </a:lnSpc>
            </a:pPr>
            <a:r>
              <a:rPr lang="en-US" altLang="zh-CN" dirty="0" smtClean="0"/>
              <a:t>/* </a:t>
            </a:r>
            <a:r>
              <a:rPr lang="zh-CN" altLang="en-US" dirty="0" smtClean="0"/>
              <a:t>将数字量转换为电压值 *</a:t>
            </a:r>
            <a:r>
              <a:rPr lang="en-US" altLang="zh-CN" dirty="0" smtClean="0"/>
              <a:t>/  </a:t>
            </a:r>
          </a:p>
          <a:p>
            <a:pPr>
              <a:lnSpc>
                <a:spcPct val="150000"/>
              </a:lnSpc>
            </a:pPr>
            <a:r>
              <a:rPr lang="en-US" altLang="zh-CN" dirty="0" smtClean="0"/>
              <a:t>V = (float)value / 4096 * 3.3;    </a:t>
            </a:r>
          </a:p>
          <a:p>
            <a:pPr>
              <a:lnSpc>
                <a:spcPct val="150000"/>
              </a:lnSpc>
            </a:pPr>
            <a:r>
              <a:rPr lang="en-US" altLang="zh-CN" dirty="0" err="1" smtClean="0"/>
              <a:t>delay_ms</a:t>
            </a:r>
            <a:r>
              <a:rPr lang="en-US" altLang="zh-CN" dirty="0" smtClean="0"/>
              <a:t>(1000); </a:t>
            </a:r>
          </a:p>
          <a:p>
            <a:pPr>
              <a:lnSpc>
                <a:spcPct val="150000"/>
              </a:lnSpc>
            </a:pPr>
            <a:r>
              <a:rPr lang="en-US" altLang="zh-CN" dirty="0" smtClean="0"/>
              <a: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120" y="501134"/>
            <a:ext cx="9307420" cy="5853269"/>
          </a:xfrm>
          <a:prstGeom prst="rect">
            <a:avLst/>
          </a:prstGeom>
        </p:spPr>
        <p:txBody>
          <a:bodyPr wrap="none">
            <a:spAutoFit/>
          </a:bodyPr>
          <a:lstStyle/>
          <a:p>
            <a:pPr latinLnBrk="1">
              <a:lnSpc>
                <a:spcPct val="150000"/>
              </a:lnSpc>
            </a:pPr>
            <a:r>
              <a:rPr lang="zh-CN" altLang="en-US" b="1" dirty="0" smtClean="0">
                <a:solidFill>
                  <a:srgbClr val="C00000"/>
                </a:solidFill>
              </a:rPr>
              <a:t>多通道</a:t>
            </a:r>
            <a:r>
              <a:rPr lang="en-US" b="1" dirty="0" smtClean="0">
                <a:solidFill>
                  <a:srgbClr val="C00000"/>
                </a:solidFill>
              </a:rPr>
              <a:t>ADC</a:t>
            </a:r>
            <a:r>
              <a:rPr lang="zh-CN" altLang="en-US" b="1" dirty="0" smtClean="0">
                <a:solidFill>
                  <a:srgbClr val="C00000"/>
                </a:solidFill>
              </a:rPr>
              <a:t>转换</a:t>
            </a:r>
            <a:endParaRPr lang="en-US" altLang="zh-CN" b="1" dirty="0" smtClean="0">
              <a:solidFill>
                <a:srgbClr val="C00000"/>
              </a:solidFill>
            </a:endParaRPr>
          </a:p>
          <a:p>
            <a:pPr latinLnBrk="1">
              <a:lnSpc>
                <a:spcPct val="150000"/>
              </a:lnSpc>
            </a:pPr>
            <a:r>
              <a:rPr lang="zh-CN" altLang="en-US" dirty="0" smtClean="0">
                <a:solidFill>
                  <a:srgbClr val="14529E"/>
                </a:solidFill>
              </a:rPr>
              <a:t>第一步：配置相应</a:t>
            </a:r>
            <a:r>
              <a:rPr lang="en-US" altLang="zh-CN" dirty="0" smtClean="0">
                <a:solidFill>
                  <a:srgbClr val="14529E"/>
                </a:solidFill>
              </a:rPr>
              <a:t>I/O</a:t>
            </a:r>
            <a:r>
              <a:rPr lang="zh-CN" altLang="en-US" dirty="0" smtClean="0">
                <a:solidFill>
                  <a:srgbClr val="14529E"/>
                </a:solidFill>
              </a:rPr>
              <a:t>口（设使用</a:t>
            </a:r>
            <a:r>
              <a:rPr lang="en-US" altLang="zh-CN" dirty="0" smtClean="0">
                <a:solidFill>
                  <a:srgbClr val="14529E"/>
                </a:solidFill>
              </a:rPr>
              <a:t>PA1</a:t>
            </a:r>
            <a:r>
              <a:rPr lang="zh-CN" altLang="en-US" dirty="0" smtClean="0">
                <a:solidFill>
                  <a:srgbClr val="14529E"/>
                </a:solidFill>
              </a:rPr>
              <a:t>和</a:t>
            </a:r>
            <a:r>
              <a:rPr lang="en-US" altLang="zh-CN" dirty="0" smtClean="0">
                <a:solidFill>
                  <a:srgbClr val="14529E"/>
                </a:solidFill>
              </a:rPr>
              <a:t>PB1</a:t>
            </a:r>
            <a:r>
              <a:rPr lang="zh-CN" altLang="en-US" dirty="0" smtClean="0">
                <a:solidFill>
                  <a:srgbClr val="14529E"/>
                </a:solidFill>
              </a:rPr>
              <a:t>，通道</a:t>
            </a:r>
            <a:r>
              <a:rPr lang="en-US" altLang="zh-CN" dirty="0" smtClean="0">
                <a:solidFill>
                  <a:srgbClr val="14529E"/>
                </a:solidFill>
              </a:rPr>
              <a:t>1</a:t>
            </a:r>
            <a:r>
              <a:rPr lang="zh-CN" altLang="en-US" dirty="0" smtClean="0">
                <a:solidFill>
                  <a:srgbClr val="14529E"/>
                </a:solidFill>
              </a:rPr>
              <a:t>和通道</a:t>
            </a:r>
            <a:r>
              <a:rPr lang="en-US" altLang="zh-CN" dirty="0" smtClean="0">
                <a:solidFill>
                  <a:srgbClr val="14529E"/>
                </a:solidFill>
              </a:rPr>
              <a:t>8</a:t>
            </a:r>
            <a:r>
              <a:rPr lang="zh-CN" altLang="en-US" dirty="0" smtClean="0">
                <a:solidFill>
                  <a:srgbClr val="14529E"/>
                </a:solidFill>
              </a:rPr>
              <a:t>，使用规则通道）</a:t>
            </a:r>
            <a:endParaRPr lang="en-US" altLang="zh-CN" dirty="0" smtClean="0">
              <a:solidFill>
                <a:srgbClr val="14529E"/>
              </a:solidFill>
            </a:endParaRPr>
          </a:p>
          <a:p>
            <a:pPr>
              <a:lnSpc>
                <a:spcPct val="150000"/>
              </a:lnSpc>
            </a:pPr>
            <a:r>
              <a:rPr lang="en-US" dirty="0" err="1" smtClean="0"/>
              <a:t>GPIO_InitTypeDef</a:t>
            </a:r>
            <a:r>
              <a:rPr lang="en-US" dirty="0" smtClean="0"/>
              <a:t> </a:t>
            </a:r>
            <a:r>
              <a:rPr lang="en-US" dirty="0" err="1" smtClean="0"/>
              <a:t>GPIO_InitStructure</a:t>
            </a:r>
            <a:r>
              <a:rPr lang="en-US" dirty="0" smtClean="0"/>
              <a:t>;</a:t>
            </a:r>
            <a:br>
              <a:rPr lang="en-US" dirty="0" smtClean="0"/>
            </a:br>
            <a:r>
              <a:rPr lang="en-US" dirty="0" smtClean="0"/>
              <a:t>RCC_APB2PeriphClockCmd(RCC_APB2Periph_GPIOA|RCC_APB2Periph_GPIOB,</a:t>
            </a:r>
          </a:p>
          <a:p>
            <a:pPr>
              <a:lnSpc>
                <a:spcPct val="150000"/>
              </a:lnSpc>
            </a:pPr>
            <a:r>
              <a:rPr lang="en-US" dirty="0" smtClean="0"/>
              <a:t>RCC_APB2Periph_AFIO,ENABLE); //</a:t>
            </a:r>
            <a:r>
              <a:rPr lang="zh-CN" altLang="en-US" dirty="0" smtClean="0">
                <a:solidFill>
                  <a:srgbClr val="FF0000"/>
                </a:solidFill>
              </a:rPr>
              <a:t>打开相应时钟</a:t>
            </a:r>
            <a:r>
              <a:rPr lang="zh-CN" altLang="en-US" dirty="0" smtClean="0"/>
              <a:t/>
            </a:r>
            <a:br>
              <a:rPr lang="zh-CN" altLang="en-US" dirty="0" smtClean="0"/>
            </a:br>
            <a:r>
              <a:rPr lang="en-US" dirty="0" err="1" smtClean="0"/>
              <a:t>GPIO_InitStructure.GPIO_Pin</a:t>
            </a:r>
            <a:r>
              <a:rPr lang="en-US" dirty="0" smtClean="0"/>
              <a:t>=GPIO_Pin_1; //</a:t>
            </a:r>
            <a:r>
              <a:rPr lang="zh-CN" altLang="en-US" dirty="0" smtClean="0">
                <a:solidFill>
                  <a:srgbClr val="FF0000"/>
                </a:solidFill>
              </a:rPr>
              <a:t>选择你要设置的</a:t>
            </a:r>
            <a:r>
              <a:rPr lang="en-US" dirty="0" smtClean="0">
                <a:solidFill>
                  <a:srgbClr val="FF0000"/>
                </a:solidFill>
              </a:rPr>
              <a:t>IO</a:t>
            </a:r>
            <a:r>
              <a:rPr lang="zh-CN" altLang="en-US" dirty="0" smtClean="0">
                <a:solidFill>
                  <a:srgbClr val="FF0000"/>
                </a:solidFill>
              </a:rPr>
              <a:t>口</a:t>
            </a:r>
            <a:r>
              <a:rPr lang="zh-CN" altLang="en-US" dirty="0" smtClean="0"/>
              <a:t/>
            </a:r>
            <a:br>
              <a:rPr lang="zh-CN" altLang="en-US" dirty="0" smtClean="0"/>
            </a:br>
            <a:r>
              <a:rPr lang="en-US" dirty="0" err="1" smtClean="0"/>
              <a:t>GPIO_InitStructure.GPIO_Mode</a:t>
            </a:r>
            <a:r>
              <a:rPr lang="en-US" dirty="0" smtClean="0"/>
              <a:t>=</a:t>
            </a:r>
            <a:r>
              <a:rPr lang="en-US" dirty="0" err="1" smtClean="0"/>
              <a:t>GPIO_Mode_AIN</a:t>
            </a:r>
            <a:r>
              <a:rPr lang="en-US" dirty="0" smtClean="0"/>
              <a:t>; //</a:t>
            </a:r>
            <a:r>
              <a:rPr lang="zh-CN" altLang="en-US" dirty="0" smtClean="0">
                <a:solidFill>
                  <a:srgbClr val="FF0000"/>
                </a:solidFill>
              </a:rPr>
              <a:t>模拟输入模式</a:t>
            </a:r>
            <a:r>
              <a:rPr lang="zh-CN" altLang="en-US" dirty="0" smtClean="0"/>
              <a:t/>
            </a:r>
            <a:br>
              <a:rPr lang="zh-CN" altLang="en-US" dirty="0" smtClean="0"/>
            </a:br>
            <a:r>
              <a:rPr lang="en-US" dirty="0" err="1" smtClean="0"/>
              <a:t>GPIO_InitStructure.GPIO_Speed</a:t>
            </a:r>
            <a:r>
              <a:rPr lang="en-US" dirty="0" smtClean="0"/>
              <a:t>=GPIO_Speed_50MHz; //</a:t>
            </a:r>
            <a:r>
              <a:rPr lang="zh-CN" altLang="en-US" dirty="0" smtClean="0">
                <a:solidFill>
                  <a:srgbClr val="FF0000"/>
                </a:solidFill>
              </a:rPr>
              <a:t>设置传输速率</a:t>
            </a:r>
            <a:r>
              <a:rPr lang="zh-CN" altLang="en-US" dirty="0" smtClean="0"/>
              <a:t/>
            </a:r>
            <a:br>
              <a:rPr lang="zh-CN" altLang="en-US" dirty="0" smtClean="0"/>
            </a:br>
            <a:r>
              <a:rPr lang="en-US" dirty="0" err="1" smtClean="0"/>
              <a:t>GPIO_Init</a:t>
            </a:r>
            <a:r>
              <a:rPr lang="en-US" dirty="0" smtClean="0"/>
              <a:t>(</a:t>
            </a:r>
            <a:r>
              <a:rPr lang="en-US" dirty="0" err="1" smtClean="0"/>
              <a:t>GPIOA,&amp;GPIO_InitStructure</a:t>
            </a:r>
            <a:r>
              <a:rPr lang="en-US" dirty="0" smtClean="0"/>
              <a:t>); </a:t>
            </a:r>
            <a:r>
              <a:rPr lang="en-US" dirty="0" smtClean="0">
                <a:solidFill>
                  <a:srgbClr val="FF0000"/>
                </a:solidFill>
              </a:rPr>
              <a:t>/* </a:t>
            </a:r>
            <a:r>
              <a:rPr lang="zh-CN" altLang="en-US" dirty="0" smtClean="0">
                <a:solidFill>
                  <a:srgbClr val="FF0000"/>
                </a:solidFill>
              </a:rPr>
              <a:t>初始化</a:t>
            </a:r>
            <a:r>
              <a:rPr lang="en-US" dirty="0" smtClean="0">
                <a:solidFill>
                  <a:srgbClr val="FF0000"/>
                </a:solidFill>
              </a:rPr>
              <a:t>GPIO */</a:t>
            </a:r>
          </a:p>
          <a:p>
            <a:pPr>
              <a:lnSpc>
                <a:spcPct val="150000"/>
              </a:lnSpc>
            </a:pPr>
            <a:r>
              <a:rPr lang="en-US" dirty="0" err="1" smtClean="0"/>
              <a:t>GPIO_InitStructure.GPIO_Pin</a:t>
            </a:r>
            <a:r>
              <a:rPr lang="en-US" dirty="0" smtClean="0"/>
              <a:t>=GPIO_Pin_0; //</a:t>
            </a:r>
            <a:r>
              <a:rPr lang="zh-CN" altLang="en-US" dirty="0" smtClean="0">
                <a:solidFill>
                  <a:srgbClr val="FF0000"/>
                </a:solidFill>
              </a:rPr>
              <a:t>选择你要设置的</a:t>
            </a:r>
            <a:r>
              <a:rPr lang="en-US" dirty="0" smtClean="0">
                <a:solidFill>
                  <a:srgbClr val="FF0000"/>
                </a:solidFill>
              </a:rPr>
              <a:t>IO</a:t>
            </a:r>
            <a:r>
              <a:rPr lang="zh-CN" altLang="en-US" dirty="0" smtClean="0">
                <a:solidFill>
                  <a:srgbClr val="FF0000"/>
                </a:solidFill>
              </a:rPr>
              <a:t>口</a:t>
            </a:r>
            <a:r>
              <a:rPr lang="zh-CN" altLang="en-US" dirty="0" smtClean="0"/>
              <a:t/>
            </a:r>
            <a:br>
              <a:rPr lang="zh-CN" altLang="en-US" dirty="0" smtClean="0"/>
            </a:br>
            <a:r>
              <a:rPr lang="en-US" dirty="0" err="1" smtClean="0"/>
              <a:t>GPIO_InitStructure.GPIO_Mode</a:t>
            </a:r>
            <a:r>
              <a:rPr lang="en-US" dirty="0" smtClean="0"/>
              <a:t>=</a:t>
            </a:r>
            <a:r>
              <a:rPr lang="en-US" dirty="0" err="1" smtClean="0"/>
              <a:t>GPIO_Mode_AIN</a:t>
            </a:r>
            <a:r>
              <a:rPr lang="en-US" dirty="0" smtClean="0"/>
              <a:t>; //</a:t>
            </a:r>
            <a:r>
              <a:rPr lang="zh-CN" altLang="en-US" dirty="0" smtClean="0">
                <a:solidFill>
                  <a:srgbClr val="FF0000"/>
                </a:solidFill>
              </a:rPr>
              <a:t>模拟输入模式</a:t>
            </a:r>
            <a:r>
              <a:rPr lang="zh-CN" altLang="en-US" dirty="0" smtClean="0"/>
              <a:t/>
            </a:r>
            <a:br>
              <a:rPr lang="zh-CN" altLang="en-US" dirty="0" smtClean="0"/>
            </a:br>
            <a:r>
              <a:rPr lang="en-US" dirty="0" err="1" smtClean="0"/>
              <a:t>GPIO_InitStructure.GPIO_Speed</a:t>
            </a:r>
            <a:r>
              <a:rPr lang="en-US" dirty="0" smtClean="0"/>
              <a:t>=GPIO_Speed_50MHz; //</a:t>
            </a:r>
            <a:r>
              <a:rPr lang="zh-CN" altLang="en-US" dirty="0" smtClean="0">
                <a:solidFill>
                  <a:srgbClr val="FF0000"/>
                </a:solidFill>
              </a:rPr>
              <a:t>设置传输速率</a:t>
            </a:r>
            <a:r>
              <a:rPr lang="zh-CN" altLang="en-US" dirty="0" smtClean="0"/>
              <a:t/>
            </a:r>
            <a:br>
              <a:rPr lang="zh-CN" altLang="en-US" dirty="0" smtClean="0"/>
            </a:br>
            <a:r>
              <a:rPr lang="en-US" dirty="0" err="1" smtClean="0"/>
              <a:t>GPIO_Init</a:t>
            </a:r>
            <a:r>
              <a:rPr lang="en-US" dirty="0" smtClean="0"/>
              <a:t>(</a:t>
            </a:r>
            <a:r>
              <a:rPr lang="en-US" dirty="0" err="1" smtClean="0"/>
              <a:t>GPIOB,&amp;GPIO_InitStructure</a:t>
            </a:r>
            <a:r>
              <a:rPr lang="en-US" dirty="0" smtClean="0"/>
              <a:t>); </a:t>
            </a:r>
            <a:r>
              <a:rPr lang="en-US" dirty="0" smtClean="0">
                <a:solidFill>
                  <a:srgbClr val="FF0000"/>
                </a:solidFill>
              </a:rPr>
              <a:t>/* </a:t>
            </a:r>
            <a:r>
              <a:rPr lang="zh-CN" altLang="en-US" dirty="0" smtClean="0">
                <a:solidFill>
                  <a:srgbClr val="FF0000"/>
                </a:solidFill>
              </a:rPr>
              <a:t>初始化</a:t>
            </a:r>
            <a:r>
              <a:rPr lang="en-US" dirty="0" smtClean="0">
                <a:solidFill>
                  <a:srgbClr val="FF0000"/>
                </a:solidFill>
              </a:rPr>
              <a:t>GPIO */</a:t>
            </a:r>
          </a:p>
          <a:p>
            <a:pPr latinLnBrk="1">
              <a:lnSpc>
                <a:spcPct val="150000"/>
              </a:lnSpc>
            </a:pPr>
            <a:endParaRPr lang="zh-CN" altLang="en-US" b="1"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0547" y="746392"/>
            <a:ext cx="10944808" cy="5124480"/>
          </a:xfrm>
          <a:prstGeom prst="rect">
            <a:avLst/>
          </a:prstGeom>
        </p:spPr>
        <p:txBody>
          <a:bodyPr wrap="square">
            <a:spAutoFit/>
          </a:bodyPr>
          <a:lstStyle/>
          <a:p>
            <a:pPr>
              <a:lnSpc>
                <a:spcPct val="150000"/>
              </a:lnSpc>
            </a:pPr>
            <a:r>
              <a:rPr lang="zh-CN" altLang="en-US" dirty="0" smtClean="0">
                <a:solidFill>
                  <a:srgbClr val="14529E"/>
                </a:solidFill>
              </a:rPr>
              <a:t>第二步：配置</a:t>
            </a:r>
            <a:r>
              <a:rPr lang="en-US" altLang="zh-CN" dirty="0" smtClean="0">
                <a:solidFill>
                  <a:srgbClr val="14529E"/>
                </a:solidFill>
              </a:rPr>
              <a:t>ADC</a:t>
            </a:r>
            <a:r>
              <a:rPr lang="zh-CN" altLang="en-US" dirty="0" smtClean="0">
                <a:solidFill>
                  <a:srgbClr val="14529E"/>
                </a:solidFill>
              </a:rPr>
              <a:t>参数</a:t>
            </a:r>
            <a:r>
              <a:rPr lang="zh-CN" altLang="en-US" dirty="0" smtClean="0"/>
              <a:t/>
            </a:r>
            <a:br>
              <a:rPr lang="zh-CN" altLang="en-US" dirty="0" smtClean="0"/>
            </a:br>
            <a:r>
              <a:rPr lang="en-US" dirty="0" err="1" smtClean="0"/>
              <a:t>ADC_InitTypeDef</a:t>
            </a:r>
            <a:r>
              <a:rPr lang="en-US" dirty="0" smtClean="0"/>
              <a:t> </a:t>
            </a:r>
            <a:r>
              <a:rPr lang="en-US" dirty="0" err="1" smtClean="0"/>
              <a:t>ADC_InitStructure</a:t>
            </a:r>
            <a:r>
              <a:rPr lang="en-US" dirty="0" smtClean="0"/>
              <a:t>;</a:t>
            </a:r>
            <a:br>
              <a:rPr lang="en-US" dirty="0" smtClean="0"/>
            </a:br>
            <a:r>
              <a:rPr lang="en-US" dirty="0" smtClean="0"/>
              <a:t>RCC_APB2PeriphClockCmd(RCC_APB2Periph_ADC1,ENABLE);</a:t>
            </a:r>
            <a:br>
              <a:rPr lang="en-US" dirty="0" smtClean="0"/>
            </a:br>
            <a:r>
              <a:rPr lang="en-US" dirty="0" err="1" smtClean="0"/>
              <a:t>RCC_ADCCLKConfig</a:t>
            </a:r>
            <a:r>
              <a:rPr lang="en-US" dirty="0" smtClean="0"/>
              <a:t>(RCC_PCLK2_Div6);//</a:t>
            </a:r>
            <a:r>
              <a:rPr lang="en-US" dirty="0" smtClean="0">
                <a:solidFill>
                  <a:srgbClr val="FF0000"/>
                </a:solidFill>
              </a:rPr>
              <a:t>12M </a:t>
            </a:r>
            <a:r>
              <a:rPr lang="zh-CN" altLang="en-US" dirty="0" smtClean="0">
                <a:solidFill>
                  <a:srgbClr val="FF0000"/>
                </a:solidFill>
              </a:rPr>
              <a:t>最大</a:t>
            </a:r>
            <a:r>
              <a:rPr lang="en-US" altLang="zh-CN" dirty="0" smtClean="0">
                <a:solidFill>
                  <a:srgbClr val="FF0000"/>
                </a:solidFill>
              </a:rPr>
              <a:t>14</a:t>
            </a:r>
            <a:r>
              <a:rPr lang="en-US" dirty="0" smtClean="0">
                <a:solidFill>
                  <a:srgbClr val="FF0000"/>
                </a:solidFill>
              </a:rPr>
              <a:t>M </a:t>
            </a:r>
            <a:r>
              <a:rPr lang="zh-CN" altLang="en-US" dirty="0" smtClean="0">
                <a:solidFill>
                  <a:srgbClr val="FF0000"/>
                </a:solidFill>
              </a:rPr>
              <a:t>设置</a:t>
            </a:r>
            <a:r>
              <a:rPr lang="en-US" dirty="0" smtClean="0">
                <a:solidFill>
                  <a:srgbClr val="FF0000"/>
                </a:solidFill>
              </a:rPr>
              <a:t>ADC</a:t>
            </a:r>
            <a:r>
              <a:rPr lang="zh-CN" altLang="en-US" dirty="0" smtClean="0">
                <a:solidFill>
                  <a:srgbClr val="FF0000"/>
                </a:solidFill>
              </a:rPr>
              <a:t>时钟（</a:t>
            </a:r>
            <a:r>
              <a:rPr lang="en-US" dirty="0" smtClean="0">
                <a:solidFill>
                  <a:srgbClr val="FF0000"/>
                </a:solidFill>
              </a:rPr>
              <a:t>ADCCLK）</a:t>
            </a:r>
            <a:r>
              <a:rPr lang="en-US" dirty="0" smtClean="0"/>
              <a:t/>
            </a:r>
            <a:br>
              <a:rPr lang="en-US" dirty="0" smtClean="0"/>
            </a:br>
            <a:r>
              <a:rPr lang="en-US" dirty="0" err="1" smtClean="0"/>
              <a:t>ADC_InitStructure.ADC_Mode</a:t>
            </a:r>
            <a:r>
              <a:rPr lang="en-US" dirty="0" smtClean="0"/>
              <a:t> = </a:t>
            </a:r>
            <a:r>
              <a:rPr lang="en-US" dirty="0" err="1" smtClean="0"/>
              <a:t>ADC_Mode_Independent</a:t>
            </a:r>
            <a:r>
              <a:rPr lang="en-US" dirty="0" smtClean="0"/>
              <a:t>; //</a:t>
            </a:r>
            <a:r>
              <a:rPr lang="en-US" dirty="0" smtClean="0">
                <a:solidFill>
                  <a:srgbClr val="FF0000"/>
                </a:solidFill>
              </a:rPr>
              <a:t>ADC1 </a:t>
            </a:r>
            <a:r>
              <a:rPr lang="zh-CN" altLang="en-US" dirty="0" smtClean="0">
                <a:solidFill>
                  <a:srgbClr val="FF0000"/>
                </a:solidFill>
              </a:rPr>
              <a:t>和 </a:t>
            </a:r>
            <a:r>
              <a:rPr lang="en-US" dirty="0" smtClean="0">
                <a:solidFill>
                  <a:srgbClr val="FF0000"/>
                </a:solidFill>
              </a:rPr>
              <a:t>ADC2 </a:t>
            </a:r>
            <a:r>
              <a:rPr lang="zh-CN" altLang="en-US" dirty="0" smtClean="0">
                <a:solidFill>
                  <a:srgbClr val="FF0000"/>
                </a:solidFill>
              </a:rPr>
              <a:t>工作在独立模式</a:t>
            </a:r>
            <a:r>
              <a:rPr lang="zh-CN" altLang="en-US" dirty="0" smtClean="0"/>
              <a:t/>
            </a:r>
            <a:br>
              <a:rPr lang="zh-CN" altLang="en-US" dirty="0" smtClean="0"/>
            </a:br>
            <a:r>
              <a:rPr lang="en-US" dirty="0" err="1" smtClean="0"/>
              <a:t>ADC_InitStructure.ADC_ScanConvMode</a:t>
            </a:r>
            <a:r>
              <a:rPr lang="en-US" dirty="0" smtClean="0"/>
              <a:t> = ENABLE; //</a:t>
            </a:r>
            <a:r>
              <a:rPr lang="zh-CN" altLang="en-US" dirty="0" smtClean="0">
                <a:solidFill>
                  <a:srgbClr val="FF0000"/>
                </a:solidFill>
              </a:rPr>
              <a:t>多通道模式</a:t>
            </a:r>
            <a:r>
              <a:rPr lang="zh-CN" altLang="en-US" dirty="0" smtClean="0"/>
              <a:t/>
            </a:r>
            <a:br>
              <a:rPr lang="zh-CN" altLang="en-US" dirty="0" smtClean="0"/>
            </a:br>
            <a:r>
              <a:rPr lang="en-US" dirty="0" err="1" smtClean="0"/>
              <a:t>ADC_InitStructure</a:t>
            </a:r>
            <a:r>
              <a:rPr lang="en-US" dirty="0" smtClean="0"/>
              <a:t>.</a:t>
            </a:r>
            <a:r>
              <a:rPr lang="en-US" altLang="en-US" dirty="0" smtClean="0"/>
              <a:t> </a:t>
            </a:r>
            <a:r>
              <a:rPr lang="en-US" altLang="en-US" dirty="0" err="1" smtClean="0"/>
              <a:t>ADC_ContinuousConvMode</a:t>
            </a:r>
            <a:r>
              <a:rPr lang="en-US" dirty="0" smtClean="0"/>
              <a:t>= DISABLE; //</a:t>
            </a:r>
            <a:r>
              <a:rPr lang="zh-CN" altLang="en-US" dirty="0" smtClean="0">
                <a:solidFill>
                  <a:srgbClr val="FF0000"/>
                </a:solidFill>
              </a:rPr>
              <a:t>工作在单次模式</a:t>
            </a:r>
            <a:r>
              <a:rPr lang="zh-CN" altLang="en-US" dirty="0" smtClean="0"/>
              <a:t/>
            </a:r>
            <a:br>
              <a:rPr lang="zh-CN" altLang="en-US" dirty="0" smtClean="0"/>
            </a:br>
            <a:r>
              <a:rPr lang="en-US" dirty="0" err="1" smtClean="0"/>
              <a:t>ADC_InitStructure.ADC_ExternalTrigConv</a:t>
            </a:r>
            <a:r>
              <a:rPr lang="en-US" dirty="0" smtClean="0"/>
              <a:t> = </a:t>
            </a:r>
            <a:r>
              <a:rPr lang="en-US" dirty="0" err="1" smtClean="0"/>
              <a:t>ADC_ExternalTrigConv_None</a:t>
            </a:r>
            <a:r>
              <a:rPr lang="en-US" dirty="0" smtClean="0"/>
              <a:t>; </a:t>
            </a:r>
            <a:r>
              <a:rPr lang="zh-CN" altLang="en-US" dirty="0" smtClean="0">
                <a:solidFill>
                  <a:srgbClr val="FF0000"/>
                </a:solidFill>
              </a:rPr>
              <a:t>转换由软件而不是外部触发启动</a:t>
            </a:r>
            <a:r>
              <a:rPr lang="zh-CN" altLang="en-US" dirty="0" smtClean="0"/>
              <a:t/>
            </a:r>
            <a:br>
              <a:rPr lang="zh-CN" altLang="en-US" dirty="0" smtClean="0"/>
            </a:br>
            <a:r>
              <a:rPr lang="en-US" dirty="0" err="1" smtClean="0"/>
              <a:t>ADC_InitStructure.ADC_DataAlign</a:t>
            </a:r>
            <a:r>
              <a:rPr lang="en-US" dirty="0" smtClean="0"/>
              <a:t> = </a:t>
            </a:r>
            <a:r>
              <a:rPr lang="en-US" dirty="0" err="1" smtClean="0"/>
              <a:t>ADC_DataAlign_Right</a:t>
            </a:r>
            <a:r>
              <a:rPr lang="en-US" dirty="0" smtClean="0"/>
              <a:t>; //</a:t>
            </a:r>
            <a:r>
              <a:rPr lang="en-US" dirty="0" err="1" smtClean="0">
                <a:solidFill>
                  <a:srgbClr val="FF0000"/>
                </a:solidFill>
              </a:rPr>
              <a:t>adc</a:t>
            </a:r>
            <a:r>
              <a:rPr lang="zh-CN" altLang="en-US" dirty="0" smtClean="0">
                <a:solidFill>
                  <a:srgbClr val="FF0000"/>
                </a:solidFill>
              </a:rPr>
              <a:t>的数据右对齐</a:t>
            </a:r>
            <a:r>
              <a:rPr lang="zh-CN" altLang="en-US" dirty="0" smtClean="0"/>
              <a:t/>
            </a:r>
            <a:br>
              <a:rPr lang="zh-CN" altLang="en-US" dirty="0" smtClean="0"/>
            </a:br>
            <a:r>
              <a:rPr lang="en-US" dirty="0" err="1" smtClean="0"/>
              <a:t>ADC_InitStructure.ADC_NbrOfChannel</a:t>
            </a:r>
            <a:r>
              <a:rPr lang="en-US" dirty="0" smtClean="0"/>
              <a:t> = 2; //</a:t>
            </a:r>
            <a:r>
              <a:rPr lang="zh-CN" altLang="en-US" dirty="0" smtClean="0">
                <a:solidFill>
                  <a:srgbClr val="FF0000"/>
                </a:solidFill>
              </a:rPr>
              <a:t>两个</a:t>
            </a:r>
            <a:r>
              <a:rPr lang="en-US" dirty="0" err="1" smtClean="0">
                <a:solidFill>
                  <a:srgbClr val="FF0000"/>
                </a:solidFill>
              </a:rPr>
              <a:t>adc</a:t>
            </a:r>
            <a:r>
              <a:rPr lang="zh-CN" altLang="en-US" dirty="0" smtClean="0">
                <a:solidFill>
                  <a:srgbClr val="FF0000"/>
                </a:solidFill>
              </a:rPr>
              <a:t>通道</a:t>
            </a:r>
            <a:r>
              <a:rPr lang="zh-CN" altLang="en-US" dirty="0" smtClean="0"/>
              <a:t/>
            </a:r>
            <a:br>
              <a:rPr lang="zh-CN" altLang="en-US" dirty="0" smtClean="0"/>
            </a:br>
            <a:r>
              <a:rPr lang="en-US" dirty="0" err="1" smtClean="0"/>
              <a:t>ADC_Init</a:t>
            </a:r>
            <a:r>
              <a:rPr lang="en-US" dirty="0" smtClean="0"/>
              <a:t>(ADC1, &amp;</a:t>
            </a:r>
            <a:r>
              <a:rPr lang="en-US" dirty="0" err="1" smtClean="0"/>
              <a:t>ADC_InitStructure</a:t>
            </a:r>
            <a:r>
              <a:rPr lang="en-US" dirty="0" smtClean="0"/>
              <a:t>);</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8538" y="538200"/>
            <a:ext cx="10739535" cy="5909310"/>
          </a:xfrm>
          <a:prstGeom prst="rect">
            <a:avLst/>
          </a:prstGeom>
        </p:spPr>
        <p:txBody>
          <a:bodyPr wrap="square">
            <a:spAutoFit/>
          </a:bodyPr>
          <a:lstStyle/>
          <a:p>
            <a:pPr>
              <a:lnSpc>
                <a:spcPct val="150000"/>
              </a:lnSpc>
            </a:pPr>
            <a:r>
              <a:rPr lang="en-US" altLang="en-US" dirty="0" err="1" smtClean="0"/>
              <a:t>ADC_RegularChannelConfig</a:t>
            </a:r>
            <a:r>
              <a:rPr lang="en-US" altLang="en-US" dirty="0" smtClean="0"/>
              <a:t>(ADC1,ADC_Channel_1,1,ADC_Sampletime_239Cycles5); </a:t>
            </a:r>
          </a:p>
          <a:p>
            <a:pPr>
              <a:lnSpc>
                <a:spcPct val="150000"/>
              </a:lnSpc>
            </a:pPr>
            <a:r>
              <a:rPr lang="en-US" altLang="en-US" dirty="0" smtClean="0"/>
              <a:t>//</a:t>
            </a:r>
            <a:r>
              <a:rPr lang="zh-CN" altLang="en-US" dirty="0" smtClean="0">
                <a:solidFill>
                  <a:srgbClr val="FF0000"/>
                </a:solidFill>
              </a:rPr>
              <a:t>设置指定 </a:t>
            </a:r>
            <a:r>
              <a:rPr lang="en-US" altLang="en-US" dirty="0" smtClean="0">
                <a:solidFill>
                  <a:srgbClr val="FF0000"/>
                </a:solidFill>
              </a:rPr>
              <a:t>ADC </a:t>
            </a:r>
            <a:r>
              <a:rPr lang="zh-CN" altLang="en-US" dirty="0" smtClean="0">
                <a:solidFill>
                  <a:srgbClr val="FF0000"/>
                </a:solidFill>
              </a:rPr>
              <a:t>的规则组通道，设置它们的转化顺序和采样时间</a:t>
            </a:r>
            <a:r>
              <a:rPr lang="zh-CN" altLang="en-US" dirty="0" smtClean="0"/>
              <a:t/>
            </a:r>
            <a:br>
              <a:rPr lang="zh-CN" altLang="en-US" dirty="0" smtClean="0"/>
            </a:br>
            <a:r>
              <a:rPr lang="en-US" altLang="en-US" dirty="0" err="1" smtClean="0"/>
              <a:t>ADC_RegularChannelConfig</a:t>
            </a:r>
            <a:r>
              <a:rPr lang="en-US" altLang="en-US" dirty="0" smtClean="0"/>
              <a:t>(ADC1,ADC_Channel_8,2,ADC_SampleTime_239Cycles5);</a:t>
            </a:r>
          </a:p>
          <a:p>
            <a:pPr>
              <a:lnSpc>
                <a:spcPct val="150000"/>
              </a:lnSpc>
            </a:pPr>
            <a:r>
              <a:rPr lang="en-US" altLang="en-US" dirty="0" err="1" smtClean="0"/>
              <a:t>ADC_Cmd</a:t>
            </a:r>
            <a:r>
              <a:rPr lang="en-US" altLang="en-US" dirty="0" smtClean="0"/>
              <a:t>(ADC1,ENABLE);</a:t>
            </a:r>
          </a:p>
          <a:p>
            <a:pPr>
              <a:lnSpc>
                <a:spcPct val="150000"/>
              </a:lnSpc>
            </a:pPr>
            <a:r>
              <a:rPr lang="en-US" altLang="en-US" dirty="0" smtClean="0"/>
              <a:t> </a:t>
            </a:r>
            <a:r>
              <a:rPr lang="en-US" altLang="en-US" dirty="0" err="1" smtClean="0"/>
              <a:t>ADC_ResetCalibration</a:t>
            </a:r>
            <a:r>
              <a:rPr lang="en-US" altLang="en-US" dirty="0" smtClean="0"/>
              <a:t>(ADC1);</a:t>
            </a:r>
          </a:p>
          <a:p>
            <a:pPr>
              <a:lnSpc>
                <a:spcPct val="150000"/>
              </a:lnSpc>
            </a:pPr>
            <a:r>
              <a:rPr lang="en-US" altLang="en-US" dirty="0" smtClean="0"/>
              <a:t> //</a:t>
            </a:r>
            <a:r>
              <a:rPr lang="zh-CN" altLang="en-US" dirty="0" smtClean="0">
                <a:solidFill>
                  <a:srgbClr val="FF0000"/>
                </a:solidFill>
              </a:rPr>
              <a:t>重置指定的</a:t>
            </a:r>
            <a:r>
              <a:rPr lang="en-US" altLang="en-US" dirty="0" smtClean="0">
                <a:solidFill>
                  <a:srgbClr val="FF0000"/>
                </a:solidFill>
              </a:rPr>
              <a:t>ADC</a:t>
            </a:r>
            <a:r>
              <a:rPr lang="zh-CN" altLang="en-US" dirty="0" smtClean="0">
                <a:solidFill>
                  <a:srgbClr val="FF0000"/>
                </a:solidFill>
              </a:rPr>
              <a:t>的校准寄存器</a:t>
            </a:r>
            <a:r>
              <a:rPr lang="zh-CN" altLang="en-US" dirty="0" smtClean="0"/>
              <a:t/>
            </a:r>
            <a:br>
              <a:rPr lang="zh-CN" altLang="en-US" dirty="0" smtClean="0"/>
            </a:br>
            <a:r>
              <a:rPr lang="en-US" altLang="en-US" dirty="0" smtClean="0"/>
              <a:t>while(</a:t>
            </a:r>
            <a:r>
              <a:rPr lang="en-US" altLang="en-US" dirty="0" err="1" smtClean="0"/>
              <a:t>ADC_GetResetCalibrationStatus</a:t>
            </a:r>
            <a:r>
              <a:rPr lang="en-US" altLang="en-US" dirty="0" smtClean="0"/>
              <a:t>(ADC1)); </a:t>
            </a:r>
          </a:p>
          <a:p>
            <a:pPr>
              <a:lnSpc>
                <a:spcPct val="150000"/>
              </a:lnSpc>
            </a:pPr>
            <a:r>
              <a:rPr lang="en-US" altLang="en-US" dirty="0" smtClean="0"/>
              <a:t>//</a:t>
            </a:r>
            <a:r>
              <a:rPr lang="zh-CN" altLang="en-US" dirty="0" smtClean="0">
                <a:solidFill>
                  <a:srgbClr val="FF0000"/>
                </a:solidFill>
              </a:rPr>
              <a:t>获取</a:t>
            </a:r>
            <a:r>
              <a:rPr lang="en-US" altLang="en-US" dirty="0" smtClean="0">
                <a:solidFill>
                  <a:srgbClr val="FF0000"/>
                </a:solidFill>
              </a:rPr>
              <a:t>ADC</a:t>
            </a:r>
            <a:r>
              <a:rPr lang="zh-CN" altLang="en-US" dirty="0" smtClean="0">
                <a:solidFill>
                  <a:srgbClr val="FF0000"/>
                </a:solidFill>
              </a:rPr>
              <a:t>重置校准寄存器的状态</a:t>
            </a:r>
            <a:r>
              <a:rPr lang="zh-CN" altLang="en-US" dirty="0" smtClean="0"/>
              <a:t/>
            </a:r>
            <a:br>
              <a:rPr lang="zh-CN" altLang="en-US" dirty="0" smtClean="0"/>
            </a:br>
            <a:r>
              <a:rPr lang="en-US" altLang="en-US" dirty="0" err="1" smtClean="0"/>
              <a:t>ADC_StartCalibration</a:t>
            </a:r>
            <a:r>
              <a:rPr lang="en-US" altLang="en-US" dirty="0" smtClean="0"/>
              <a:t>(ADC1); </a:t>
            </a:r>
          </a:p>
          <a:p>
            <a:pPr>
              <a:lnSpc>
                <a:spcPct val="150000"/>
              </a:lnSpc>
            </a:pPr>
            <a:r>
              <a:rPr lang="en-US" altLang="en-US" dirty="0" smtClean="0"/>
              <a:t>//</a:t>
            </a:r>
            <a:r>
              <a:rPr lang="zh-CN" altLang="en-US" dirty="0" smtClean="0">
                <a:solidFill>
                  <a:srgbClr val="FF0000"/>
                </a:solidFill>
              </a:rPr>
              <a:t>开始指定</a:t>
            </a:r>
            <a:r>
              <a:rPr lang="en-US" altLang="en-US" dirty="0" smtClean="0">
                <a:solidFill>
                  <a:srgbClr val="FF0000"/>
                </a:solidFill>
              </a:rPr>
              <a:t>ADC</a:t>
            </a:r>
            <a:r>
              <a:rPr lang="zh-CN" altLang="en-US" dirty="0" smtClean="0">
                <a:solidFill>
                  <a:srgbClr val="FF0000"/>
                </a:solidFill>
              </a:rPr>
              <a:t>的校准状态</a:t>
            </a:r>
            <a:r>
              <a:rPr lang="zh-CN" altLang="en-US" dirty="0" smtClean="0"/>
              <a:t/>
            </a:r>
            <a:br>
              <a:rPr lang="zh-CN" altLang="en-US" dirty="0" smtClean="0"/>
            </a:br>
            <a:r>
              <a:rPr lang="en-US" altLang="en-US" dirty="0" smtClean="0"/>
              <a:t>while(</a:t>
            </a:r>
            <a:r>
              <a:rPr lang="en-US" altLang="en-US" dirty="0" err="1" smtClean="0"/>
              <a:t>ADC_GetCalibrationStatus</a:t>
            </a:r>
            <a:r>
              <a:rPr lang="en-US" altLang="en-US" dirty="0" smtClean="0"/>
              <a:t>(ADC1)); </a:t>
            </a:r>
          </a:p>
          <a:p>
            <a:pPr>
              <a:lnSpc>
                <a:spcPct val="150000"/>
              </a:lnSpc>
            </a:pPr>
            <a:r>
              <a:rPr lang="en-US" altLang="en-US" dirty="0" smtClean="0"/>
              <a:t>//</a:t>
            </a:r>
            <a:r>
              <a:rPr lang="zh-CN" altLang="en-US" dirty="0" smtClean="0">
                <a:solidFill>
                  <a:srgbClr val="FF0000"/>
                </a:solidFill>
              </a:rPr>
              <a:t>获取指定</a:t>
            </a:r>
            <a:r>
              <a:rPr lang="en-US" altLang="en-US" dirty="0" smtClean="0">
                <a:solidFill>
                  <a:srgbClr val="FF0000"/>
                </a:solidFill>
              </a:rPr>
              <a:t>ADC</a:t>
            </a:r>
            <a:r>
              <a:rPr lang="zh-CN" altLang="en-US" dirty="0" smtClean="0">
                <a:solidFill>
                  <a:srgbClr val="FF0000"/>
                </a:solidFill>
              </a:rPr>
              <a:t>的校准程序</a:t>
            </a:r>
            <a:r>
              <a:rPr lang="zh-CN" altLang="en-US" dirty="0" smtClean="0"/>
              <a:t/>
            </a:r>
            <a:br>
              <a:rPr lang="zh-CN" altLang="en-US" dirty="0" smtClean="0"/>
            </a:br>
            <a:r>
              <a:rPr lang="en-US" altLang="en-US" dirty="0" err="1" smtClean="0"/>
              <a:t>ADC_SoftwareStartConvCmd</a:t>
            </a:r>
            <a:r>
              <a:rPr lang="en-US" altLang="en-US" dirty="0" smtClean="0"/>
              <a:t>(ADC1, ENABLE); </a:t>
            </a:r>
          </a:p>
          <a:p>
            <a:pPr>
              <a:lnSpc>
                <a:spcPct val="150000"/>
              </a:lnSpc>
            </a:pPr>
            <a:r>
              <a:rPr lang="en-US" altLang="en-US" dirty="0" smtClean="0"/>
              <a:t>//</a:t>
            </a:r>
            <a:r>
              <a:rPr lang="zh-CN" altLang="en-US" dirty="0" smtClean="0">
                <a:solidFill>
                  <a:srgbClr val="FF0000"/>
                </a:solidFill>
              </a:rPr>
              <a:t>使能或者失能指定的</a:t>
            </a:r>
            <a:r>
              <a:rPr lang="en-US" altLang="en-US" dirty="0" smtClean="0">
                <a:solidFill>
                  <a:srgbClr val="FF0000"/>
                </a:solidFill>
              </a:rPr>
              <a:t>ADC</a:t>
            </a:r>
            <a:r>
              <a:rPr lang="zh-CN" altLang="en-US" dirty="0" smtClean="0">
                <a:solidFill>
                  <a:srgbClr val="FF0000"/>
                </a:solidFill>
              </a:rPr>
              <a:t>的软件转换启动功能</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8539" y="445782"/>
            <a:ext cx="11196735" cy="5355312"/>
          </a:xfrm>
          <a:prstGeom prst="rect">
            <a:avLst/>
          </a:prstGeom>
        </p:spPr>
        <p:txBody>
          <a:bodyPr wrap="square">
            <a:spAutoFit/>
          </a:bodyPr>
          <a:lstStyle/>
          <a:p>
            <a:r>
              <a:rPr lang="zh-CN" altLang="en-US" dirty="0" smtClean="0">
                <a:solidFill>
                  <a:srgbClr val="14529E"/>
                </a:solidFill>
              </a:rPr>
              <a:t>第三步：进行数据采集</a:t>
            </a:r>
            <a:r>
              <a:rPr lang="zh-CN" altLang="en-US" dirty="0" smtClean="0"/>
              <a:t/>
            </a:r>
            <a:br>
              <a:rPr lang="zh-CN" altLang="en-US" dirty="0" smtClean="0"/>
            </a:br>
            <a:r>
              <a:rPr lang="en-US" dirty="0" smtClean="0"/>
              <a:t>while(1)</a:t>
            </a:r>
            <a:br>
              <a:rPr lang="en-US" dirty="0" smtClean="0"/>
            </a:br>
            <a:r>
              <a:rPr lang="en-US" dirty="0" smtClean="0"/>
              <a:t>{</a:t>
            </a:r>
            <a:br>
              <a:rPr lang="en-US" dirty="0" smtClean="0"/>
            </a:br>
            <a:r>
              <a:rPr lang="en-US" dirty="0" smtClean="0"/>
              <a:t>adc1 = 0;</a:t>
            </a:r>
            <a:br>
              <a:rPr lang="en-US" dirty="0" smtClean="0"/>
            </a:br>
            <a:r>
              <a:rPr lang="en-US" dirty="0" smtClean="0"/>
              <a:t>adc2 = 0;</a:t>
            </a:r>
            <a:br>
              <a:rPr lang="en-US" dirty="0" smtClean="0"/>
            </a:br>
            <a:r>
              <a:rPr lang="en-US" dirty="0" smtClean="0"/>
              <a:t>for(</a:t>
            </a:r>
            <a:r>
              <a:rPr lang="en-US" dirty="0" err="1" smtClean="0"/>
              <a:t>i</a:t>
            </a:r>
            <a:r>
              <a:rPr lang="en-US" dirty="0" smtClean="0"/>
              <a:t>=0;i&lt;50;i++);</a:t>
            </a:r>
            <a:br>
              <a:rPr lang="en-US" dirty="0" smtClean="0"/>
            </a:br>
            <a:r>
              <a:rPr lang="en-US" dirty="0" smtClean="0"/>
              <a:t>{</a:t>
            </a:r>
            <a:br>
              <a:rPr lang="en-US" dirty="0" smtClean="0"/>
            </a:br>
            <a:r>
              <a:rPr lang="en-US" dirty="0" err="1" smtClean="0"/>
              <a:t>ADC_SoftwareStartConvCmd</a:t>
            </a:r>
            <a:r>
              <a:rPr lang="en-US" dirty="0" smtClean="0"/>
              <a:t>(ADC1, ENABLE); //</a:t>
            </a:r>
            <a:r>
              <a:rPr lang="zh-CN" altLang="en-US" dirty="0" smtClean="0">
                <a:solidFill>
                  <a:srgbClr val="FF0000"/>
                </a:solidFill>
              </a:rPr>
              <a:t>使能或者失能指定的</a:t>
            </a:r>
            <a:r>
              <a:rPr lang="en-US" dirty="0" smtClean="0">
                <a:solidFill>
                  <a:srgbClr val="FF0000"/>
                </a:solidFill>
              </a:rPr>
              <a:t>ADC</a:t>
            </a:r>
            <a:r>
              <a:rPr lang="zh-CN" altLang="en-US" dirty="0" smtClean="0">
                <a:solidFill>
                  <a:srgbClr val="FF0000"/>
                </a:solidFill>
              </a:rPr>
              <a:t>的软件转换启动功能</a:t>
            </a:r>
            <a:br>
              <a:rPr lang="zh-CN" altLang="en-US" dirty="0" smtClean="0">
                <a:solidFill>
                  <a:srgbClr val="FF0000"/>
                </a:solidFill>
              </a:rPr>
            </a:br>
            <a:r>
              <a:rPr lang="en-US" dirty="0" smtClean="0"/>
              <a:t>while(!</a:t>
            </a:r>
            <a:r>
              <a:rPr lang="en-US" dirty="0" err="1" smtClean="0"/>
              <a:t>ADC_GetFlagStatus</a:t>
            </a:r>
            <a:r>
              <a:rPr lang="en-US" dirty="0" smtClean="0"/>
              <a:t>(ADC1, ADC_FLAG_EOC)); //</a:t>
            </a:r>
            <a:r>
              <a:rPr lang="zh-CN" altLang="en-US" dirty="0" smtClean="0">
                <a:solidFill>
                  <a:srgbClr val="FF0000"/>
                </a:solidFill>
              </a:rPr>
              <a:t>等待转换完成</a:t>
            </a:r>
            <a:r>
              <a:rPr lang="zh-CN" altLang="en-US" dirty="0" smtClean="0"/>
              <a:t/>
            </a:r>
            <a:br>
              <a:rPr lang="zh-CN" altLang="en-US" dirty="0" smtClean="0"/>
            </a:br>
            <a:r>
              <a:rPr lang="en-US" dirty="0" smtClean="0"/>
              <a:t>adc1 += </a:t>
            </a:r>
            <a:r>
              <a:rPr lang="en-US" dirty="0" err="1" smtClean="0"/>
              <a:t>ADC_GetConversionValue</a:t>
            </a:r>
            <a:r>
              <a:rPr lang="en-US" dirty="0" smtClean="0"/>
              <a:t>(ADC1); //</a:t>
            </a:r>
            <a:r>
              <a:rPr lang="zh-CN" altLang="en-US" dirty="0" smtClean="0">
                <a:solidFill>
                  <a:srgbClr val="FF0000"/>
                </a:solidFill>
              </a:rPr>
              <a:t>返回最近一次 </a:t>
            </a:r>
            <a:r>
              <a:rPr lang="en-US" dirty="0" err="1" smtClean="0">
                <a:solidFill>
                  <a:srgbClr val="FF0000"/>
                </a:solidFill>
              </a:rPr>
              <a:t>ADCx</a:t>
            </a:r>
            <a:r>
              <a:rPr lang="en-US" dirty="0" smtClean="0">
                <a:solidFill>
                  <a:srgbClr val="FF0000"/>
                </a:solidFill>
              </a:rPr>
              <a:t> </a:t>
            </a:r>
            <a:r>
              <a:rPr lang="zh-CN" altLang="en-US" dirty="0" smtClean="0">
                <a:solidFill>
                  <a:srgbClr val="FF0000"/>
                </a:solidFill>
              </a:rPr>
              <a:t>规则组的转换结果</a:t>
            </a:r>
            <a:r>
              <a:rPr lang="zh-CN" altLang="en-US" dirty="0" smtClean="0"/>
              <a:t/>
            </a:r>
            <a:br>
              <a:rPr lang="zh-CN" altLang="en-US" dirty="0" smtClean="0"/>
            </a:br>
            <a:r>
              <a:rPr lang="en-US" dirty="0" err="1" smtClean="0"/>
              <a:t>ADC_SoftwareStartConvCmd</a:t>
            </a:r>
            <a:r>
              <a:rPr lang="en-US" dirty="0" smtClean="0"/>
              <a:t>(ADC1, ENABLE); //</a:t>
            </a:r>
            <a:r>
              <a:rPr lang="zh-CN" altLang="en-US" dirty="0" smtClean="0">
                <a:solidFill>
                  <a:srgbClr val="FF0000"/>
                </a:solidFill>
              </a:rPr>
              <a:t>使能或者失能指定的</a:t>
            </a:r>
            <a:r>
              <a:rPr lang="en-US" dirty="0" smtClean="0">
                <a:solidFill>
                  <a:srgbClr val="FF0000"/>
                </a:solidFill>
              </a:rPr>
              <a:t>ADC</a:t>
            </a:r>
            <a:r>
              <a:rPr lang="zh-CN" altLang="en-US" dirty="0" smtClean="0">
                <a:solidFill>
                  <a:srgbClr val="FF0000"/>
                </a:solidFill>
              </a:rPr>
              <a:t>的软件转换启动功能</a:t>
            </a:r>
            <a:br>
              <a:rPr lang="zh-CN" altLang="en-US" dirty="0" smtClean="0">
                <a:solidFill>
                  <a:srgbClr val="FF0000"/>
                </a:solidFill>
              </a:rPr>
            </a:br>
            <a:r>
              <a:rPr lang="en-US" dirty="0" smtClean="0"/>
              <a:t>while(!</a:t>
            </a:r>
            <a:r>
              <a:rPr lang="en-US" dirty="0" err="1" smtClean="0"/>
              <a:t>ADC_GetFlagStatus</a:t>
            </a:r>
            <a:r>
              <a:rPr lang="en-US" dirty="0" smtClean="0"/>
              <a:t>(ADC1, ADC_FLAG_EOC)); //</a:t>
            </a:r>
            <a:r>
              <a:rPr lang="zh-CN" altLang="en-US" dirty="0" smtClean="0">
                <a:solidFill>
                  <a:srgbClr val="FF0000"/>
                </a:solidFill>
              </a:rPr>
              <a:t>等待转换完成</a:t>
            </a:r>
            <a:r>
              <a:rPr lang="zh-CN" altLang="en-US" dirty="0" smtClean="0"/>
              <a:t/>
            </a:r>
            <a:br>
              <a:rPr lang="zh-CN" altLang="en-US" dirty="0" smtClean="0"/>
            </a:br>
            <a:r>
              <a:rPr lang="en-US" dirty="0" smtClean="0"/>
              <a:t>adc2 += </a:t>
            </a:r>
            <a:r>
              <a:rPr lang="en-US" dirty="0" err="1" smtClean="0"/>
              <a:t>ADC_GetConversionValue</a:t>
            </a:r>
            <a:r>
              <a:rPr lang="en-US" dirty="0" smtClean="0"/>
              <a:t>(ADC1); //</a:t>
            </a:r>
            <a:r>
              <a:rPr lang="zh-CN" altLang="en-US" dirty="0" smtClean="0">
                <a:solidFill>
                  <a:srgbClr val="FF0000"/>
                </a:solidFill>
              </a:rPr>
              <a:t>返回最近一次 </a:t>
            </a:r>
            <a:r>
              <a:rPr lang="en-US" dirty="0" err="1" smtClean="0">
                <a:solidFill>
                  <a:srgbClr val="FF0000"/>
                </a:solidFill>
              </a:rPr>
              <a:t>ADCx</a:t>
            </a:r>
            <a:r>
              <a:rPr lang="en-US" dirty="0" smtClean="0">
                <a:solidFill>
                  <a:srgbClr val="FF0000"/>
                </a:solidFill>
              </a:rPr>
              <a:t> </a:t>
            </a:r>
            <a:r>
              <a:rPr lang="zh-CN" altLang="en-US" dirty="0" smtClean="0">
                <a:solidFill>
                  <a:srgbClr val="FF0000"/>
                </a:solidFill>
              </a:rPr>
              <a:t>规则组的转换结果</a:t>
            </a:r>
            <a:r>
              <a:rPr lang="zh-CN" altLang="en-US" dirty="0" smtClean="0"/>
              <a:t/>
            </a:r>
            <a:br>
              <a:rPr lang="zh-CN" altLang="en-US" dirty="0" smtClean="0"/>
            </a:br>
            <a:r>
              <a:rPr lang="en-US" altLang="zh-CN" dirty="0" smtClean="0"/>
              <a:t>}</a:t>
            </a:r>
            <a:r>
              <a:rPr lang="zh-CN" altLang="en-US" dirty="0" smtClean="0"/>
              <a:t/>
            </a:r>
            <a:br>
              <a:rPr lang="zh-CN" altLang="en-US" dirty="0" smtClean="0"/>
            </a:br>
            <a:r>
              <a:rPr lang="en-US" dirty="0" smtClean="0"/>
              <a:t>adc1 /= 50;</a:t>
            </a:r>
            <a:br>
              <a:rPr lang="en-US" dirty="0" smtClean="0"/>
            </a:br>
            <a:r>
              <a:rPr lang="en-US" dirty="0" smtClean="0"/>
              <a:t>adc2 /= 50;</a:t>
            </a:r>
            <a:br>
              <a:rPr lang="en-US" dirty="0" smtClean="0"/>
            </a:br>
            <a:r>
              <a:rPr lang="en-US" dirty="0" err="1" smtClean="0"/>
              <a:t>printf</a:t>
            </a:r>
            <a:r>
              <a:rPr lang="en-US" dirty="0" smtClean="0"/>
              <a:t>(“ADC1 = %.3f V \t ADC2 = %.3f V \r\n”,adc1</a:t>
            </a:r>
            <a:r>
              <a:rPr lang="en-US" i="1" dirty="0" smtClean="0"/>
              <a:t>3.3/4096,adc2</a:t>
            </a:r>
            <a:r>
              <a:rPr lang="en-US" dirty="0" smtClean="0"/>
              <a:t>3.3/4096);</a:t>
            </a:r>
            <a:br>
              <a:rPr lang="en-US" dirty="0" smtClean="0"/>
            </a:br>
            <a:r>
              <a:rPr lang="en-US" dirty="0" err="1" smtClean="0"/>
              <a:t>delay_ms</a:t>
            </a:r>
            <a:r>
              <a:rPr lang="en-US" dirty="0" smtClean="0"/>
              <a:t>(1000);</a:t>
            </a:r>
            <a:br>
              <a:rPr lang="en-US" dirty="0" smtClean="0"/>
            </a:br>
            <a:r>
              <a:rPr lang="en-US" dirty="0" smtClean="0"/>
              <a:t>}</a:t>
            </a:r>
            <a:endParaRPr lang="zh-CN" alt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3710</TotalTime>
  <Words>2675</Words>
  <Application>Microsoft Office PowerPoint</Application>
  <PresentationFormat>自定义</PresentationFormat>
  <Paragraphs>214</Paragraphs>
  <Slides>43</Slides>
  <Notes>0</Notes>
  <HiddenSlides>0</HiddenSlides>
  <MMClips>0</MMClips>
  <ScaleCrop>false</ScaleCrop>
  <HeadingPairs>
    <vt:vector size="4" baseType="variant">
      <vt:variant>
        <vt:lpstr>主题</vt:lpstr>
      </vt:variant>
      <vt:variant>
        <vt:i4>2</vt:i4>
      </vt:variant>
      <vt:variant>
        <vt:lpstr>幻灯片标题</vt:lpstr>
      </vt:variant>
      <vt:variant>
        <vt:i4>43</vt:i4>
      </vt:variant>
    </vt:vector>
  </HeadingPairs>
  <TitlesOfParts>
    <vt:vector size="45" baseType="lpstr">
      <vt:lpstr>Office 主题</vt:lpstr>
      <vt:lpstr>mjwangyu</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asus</cp:lastModifiedBy>
  <cp:revision>413</cp:revision>
  <dcterms:created xsi:type="dcterms:W3CDTF">2017-06-03T01:25:00Z</dcterms:created>
  <dcterms:modified xsi:type="dcterms:W3CDTF">2021-04-19T09:24:19Z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