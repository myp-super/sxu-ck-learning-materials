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tags/tag8.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commentAuthors.xml" ContentType="application/vnd.openxmlformats-officedocument.presentationml.commentAuthor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8.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45"/>
  </p:notesMasterIdLst>
  <p:sldIdLst>
    <p:sldId id="256" r:id="rId3"/>
    <p:sldId id="438" r:id="rId4"/>
    <p:sldId id="472" r:id="rId5"/>
    <p:sldId id="476" r:id="rId6"/>
    <p:sldId id="473" r:id="rId7"/>
    <p:sldId id="474" r:id="rId8"/>
    <p:sldId id="439" r:id="rId9"/>
    <p:sldId id="478" r:id="rId10"/>
    <p:sldId id="481" r:id="rId11"/>
    <p:sldId id="479" r:id="rId12"/>
    <p:sldId id="480" r:id="rId13"/>
    <p:sldId id="482" r:id="rId14"/>
    <p:sldId id="486" r:id="rId15"/>
    <p:sldId id="487" r:id="rId16"/>
    <p:sldId id="488" r:id="rId17"/>
    <p:sldId id="489" r:id="rId18"/>
    <p:sldId id="490" r:id="rId19"/>
    <p:sldId id="492" r:id="rId20"/>
    <p:sldId id="493" r:id="rId21"/>
    <p:sldId id="494" r:id="rId22"/>
    <p:sldId id="491" r:id="rId23"/>
    <p:sldId id="483" r:id="rId24"/>
    <p:sldId id="484" r:id="rId25"/>
    <p:sldId id="495" r:id="rId26"/>
    <p:sldId id="432" r:id="rId27"/>
    <p:sldId id="485" r:id="rId28"/>
    <p:sldId id="440" r:id="rId29"/>
    <p:sldId id="441" r:id="rId30"/>
    <p:sldId id="442" r:id="rId31"/>
    <p:sldId id="443" r:id="rId32"/>
    <p:sldId id="497" r:id="rId33"/>
    <p:sldId id="448" r:id="rId34"/>
    <p:sldId id="444" r:id="rId35"/>
    <p:sldId id="446" r:id="rId36"/>
    <p:sldId id="445" r:id="rId37"/>
    <p:sldId id="447" r:id="rId38"/>
    <p:sldId id="496" r:id="rId39"/>
    <p:sldId id="449" r:id="rId40"/>
    <p:sldId id="401" r:id="rId41"/>
    <p:sldId id="498" r:id="rId42"/>
    <p:sldId id="499" r:id="rId43"/>
    <p:sldId id="500" r:id="rId4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07">
          <p15:clr>
            <a:srgbClr val="A4A3A4"/>
          </p15:clr>
        </p15:guide>
        <p15:guide id="2" pos="37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494C3"/>
    <a:srgbClr val="14529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autoAdjust="0"/>
  </p:normalViewPr>
  <p:slideViewPr>
    <p:cSldViewPr snapToGrid="0" showGuides="1">
      <p:cViewPr varScale="1">
        <p:scale>
          <a:sx n="68" d="100"/>
          <a:sy n="68" d="100"/>
        </p:scale>
        <p:origin x="-552" y="-60"/>
      </p:cViewPr>
      <p:guideLst>
        <p:guide orient="horz" pos="2107"/>
        <p:guide pos="3752"/>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887AC20-8C1D-44D7-B35A-E6F76E68648C}" type="datetimeFigureOut">
              <a:rPr lang="zh-CN" altLang="en-US" smtClean="0"/>
              <a:pPr/>
              <a:t>2020/11/24</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679C7271-7ECD-45B6-A4AF-14DDD8E7181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
        <p:nvSpPr>
          <p:cNvPr id="6" name="对角圆角矩形 5"/>
          <p:cNvSpPr/>
          <p:nvPr userDrawn="1"/>
        </p:nvSpPr>
        <p:spPr>
          <a:xfrm flipH="1">
            <a:off x="260350" y="330200"/>
            <a:ext cx="11671300" cy="6197600"/>
          </a:xfrm>
          <a:prstGeom prst="round2DiagRect">
            <a:avLst>
              <a:gd name="adj1" fmla="val 4989"/>
              <a:gd name="adj2" fmla="val 0"/>
            </a:avLst>
          </a:prstGeom>
          <a:solidFill>
            <a:schemeClr val="bg1"/>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2020/11/24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A473D-8055-43E1-A01D-B0413067B7D8}" type="datetimeFigureOut">
              <a:rPr lang="zh-CN" altLang="en-US" smtClean="0"/>
              <a:pPr/>
              <a:t>2020/11/24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EB8D81A-C667-4EE5-93BD-6120260630F3}"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背景">
    <p:bg>
      <p:bgPr>
        <a:solidFill>
          <a:schemeClr val="bg2"/>
        </a:solidFill>
        <a:effectLst/>
      </p:bgPr>
    </p:bg>
    <p:spTree>
      <p:nvGrpSpPr>
        <p:cNvPr id="1" name=""/>
        <p:cNvGrpSpPr/>
        <p:nvPr/>
      </p:nvGrpSpPr>
      <p:grpSpPr>
        <a:xfrm>
          <a:off x="0" y="0"/>
          <a:ext cx="0" cy="0"/>
          <a:chOff x="0" y="0"/>
          <a:chExt cx="0" cy="0"/>
        </a:xfrm>
      </p:grpSpPr>
      <p:sp>
        <p:nvSpPr>
          <p:cNvPr id="7" name="图片占位符 9"/>
          <p:cNvSpPr>
            <a:spLocks noGrp="1"/>
          </p:cNvSpPr>
          <p:nvPr>
            <p:ph type="pic" sz="quarter" idx="13" hasCustomPrompt="1"/>
          </p:nvPr>
        </p:nvSpPr>
        <p:spPr>
          <a:xfrm>
            <a:off x="183526" y="301839"/>
            <a:ext cx="7882284" cy="443365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4" hasCustomPrompt="1"/>
          </p:nvPr>
        </p:nvSpPr>
        <p:spPr>
          <a:xfrm>
            <a:off x="8174953" y="287325"/>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5" hasCustomPrompt="1"/>
          </p:nvPr>
        </p:nvSpPr>
        <p:spPr>
          <a:xfrm>
            <a:off x="8174953" y="2575658"/>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背景">
    <p:bg>
      <p:bgPr>
        <a:solidFill>
          <a:schemeClr val="bg1"/>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631384"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5" hasCustomPrompt="1"/>
          </p:nvPr>
        </p:nvSpPr>
        <p:spPr>
          <a:xfrm>
            <a:off x="4300500"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7969616"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0" name="图片占位符 9"/>
          <p:cNvSpPr>
            <a:spLocks noGrp="1"/>
          </p:cNvSpPr>
          <p:nvPr>
            <p:ph type="pic" sz="quarter" idx="17" hasCustomPrompt="1"/>
          </p:nvPr>
        </p:nvSpPr>
        <p:spPr>
          <a:xfrm>
            <a:off x="631384"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1" name="图片占位符 9"/>
          <p:cNvSpPr>
            <a:spLocks noGrp="1"/>
          </p:cNvSpPr>
          <p:nvPr>
            <p:ph type="pic" sz="quarter" idx="18" hasCustomPrompt="1"/>
          </p:nvPr>
        </p:nvSpPr>
        <p:spPr>
          <a:xfrm>
            <a:off x="4300500"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2" name="图片占位符 9"/>
          <p:cNvSpPr>
            <a:spLocks noGrp="1"/>
          </p:cNvSpPr>
          <p:nvPr>
            <p:ph type="pic" sz="quarter" idx="19" hasCustomPrompt="1"/>
          </p:nvPr>
        </p:nvSpPr>
        <p:spPr>
          <a:xfrm>
            <a:off x="7969616"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631384"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4" name="图片占位符 9"/>
          <p:cNvSpPr>
            <a:spLocks noGrp="1"/>
          </p:cNvSpPr>
          <p:nvPr>
            <p:ph type="pic" sz="quarter" idx="21" hasCustomPrompt="1"/>
          </p:nvPr>
        </p:nvSpPr>
        <p:spPr>
          <a:xfrm>
            <a:off x="4300500"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7969616"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背景">
    <p:bg>
      <p:bgPr>
        <a:solidFill>
          <a:schemeClr val="bg2"/>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947430"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6136402"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947430"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6136402"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版权声明">
    <p:spTree>
      <p:nvGrpSpPr>
        <p:cNvPr id="1" name=""/>
        <p:cNvGrpSpPr/>
        <p:nvPr/>
      </p:nvGrpSpPr>
      <p:grpSpPr>
        <a:xfrm>
          <a:off x="0" y="0"/>
          <a:ext cx="0" cy="0"/>
          <a:chOff x="0" y="0"/>
          <a:chExt cx="0" cy="0"/>
        </a:xfrm>
      </p:grpSpPr>
      <p:sp>
        <p:nvSpPr>
          <p:cNvPr id="4" name="矩形 3"/>
          <p:cNvSpPr/>
          <p:nvPr userDrawn="1"/>
        </p:nvSpPr>
        <p:spPr>
          <a:xfrm>
            <a:off x="5444248"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7" name="矩形 6"/>
          <p:cNvSpPr/>
          <p:nvPr userDrawn="1"/>
        </p:nvSpPr>
        <p:spPr>
          <a:xfrm>
            <a:off x="5142690"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微信公众号</a:t>
            </a:r>
          </a:p>
        </p:txBody>
      </p:sp>
      <p:pic>
        <p:nvPicPr>
          <p:cNvPr id="14" name="图片 13" descr="图片包含 文字, 纵横字谜&#10;&#10;已生成极高可信度的说明"/>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5486401" y="3125822"/>
            <a:ext cx="1219200" cy="1219199"/>
          </a:xfrm>
          <a:prstGeom prst="rect">
            <a:avLst/>
          </a:prstGeom>
        </p:spPr>
      </p:pic>
      <p:sp>
        <p:nvSpPr>
          <p:cNvPr id="3" name="矩形 2"/>
          <p:cNvSpPr/>
          <p:nvPr userDrawn="1"/>
        </p:nvSpPr>
        <p:spPr>
          <a:xfrm>
            <a:off x="273185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6" name="矩形 5"/>
          <p:cNvSpPr/>
          <p:nvPr userDrawn="1"/>
        </p:nvSpPr>
        <p:spPr>
          <a:xfrm>
            <a:off x="2430294"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微博</a:t>
            </a:r>
          </a:p>
        </p:txBody>
      </p:sp>
      <p:grpSp>
        <p:nvGrpSpPr>
          <p:cNvPr id="16" name="组合 15"/>
          <p:cNvGrpSpPr/>
          <p:nvPr userDrawn="1"/>
        </p:nvGrpSpPr>
        <p:grpSpPr>
          <a:xfrm>
            <a:off x="2787981" y="3139797"/>
            <a:ext cx="1191249" cy="1191249"/>
            <a:chOff x="4094696" y="2530197"/>
            <a:chExt cx="1191249" cy="1191249"/>
          </a:xfrm>
        </p:grpSpPr>
        <p:sp>
          <p:nvSpPr>
            <p:cNvPr id="15" name="矩形 14"/>
            <p:cNvSpPr/>
            <p:nvPr userDrawn="1"/>
          </p:nvSpPr>
          <p:spPr>
            <a:xfrm>
              <a:off x="4094696" y="253019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2" name="图片 11"/>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4147387" y="2582888"/>
              <a:ext cx="1085866" cy="1085866"/>
            </a:xfrm>
            <a:prstGeom prst="rect">
              <a:avLst/>
            </a:prstGeom>
          </p:spPr>
        </p:pic>
      </p:grpSp>
      <p:sp>
        <p:nvSpPr>
          <p:cNvPr id="5" name="矩形 4"/>
          <p:cNvSpPr/>
          <p:nvPr userDrawn="1"/>
        </p:nvSpPr>
        <p:spPr>
          <a:xfrm>
            <a:off x="815664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8" name="矩形 7"/>
          <p:cNvSpPr/>
          <p:nvPr userDrawn="1"/>
        </p:nvSpPr>
        <p:spPr>
          <a:xfrm>
            <a:off x="7855085"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695" b="1" dirty="0">
                <a:solidFill>
                  <a:schemeClr val="tx1">
                    <a:lumMod val="85000"/>
                    <a:lumOff val="15000"/>
                  </a:schemeClr>
                </a:solidFill>
                <a:latin typeface="+mj-lt"/>
              </a:rPr>
              <a:t>QQ</a:t>
            </a:r>
            <a:endParaRPr lang="zh-CN" altLang="en-US" sz="1695" b="1" dirty="0">
              <a:solidFill>
                <a:schemeClr val="tx1">
                  <a:lumMod val="85000"/>
                  <a:lumOff val="15000"/>
                </a:schemeClr>
              </a:solidFill>
              <a:latin typeface="+mj-lt"/>
            </a:endParaRPr>
          </a:p>
        </p:txBody>
      </p:sp>
      <p:grpSp>
        <p:nvGrpSpPr>
          <p:cNvPr id="19" name="组合 18"/>
          <p:cNvGrpSpPr/>
          <p:nvPr userDrawn="1"/>
        </p:nvGrpSpPr>
        <p:grpSpPr>
          <a:xfrm>
            <a:off x="8212772" y="3139797"/>
            <a:ext cx="1191249" cy="1191249"/>
            <a:chOff x="7049311" y="3295887"/>
            <a:chExt cx="1191249" cy="1191249"/>
          </a:xfrm>
        </p:grpSpPr>
        <p:sp>
          <p:nvSpPr>
            <p:cNvPr id="17" name="矩形 16"/>
            <p:cNvSpPr/>
            <p:nvPr userDrawn="1"/>
          </p:nvSpPr>
          <p:spPr>
            <a:xfrm>
              <a:off x="7049311" y="329588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8" name="图片 17"/>
            <p:cNvPicPr>
              <a:picLocks noChangeAspect="1"/>
            </p:cNvPicPr>
            <p:nvPr userDrawn="1"/>
          </p:nvPicPr>
          <p:blipFill>
            <a:blip r:embed="rId4"/>
            <a:stretch>
              <a:fillRect/>
            </a:stretch>
          </p:blipFill>
          <p:spPr>
            <a:xfrm>
              <a:off x="7095938" y="3342514"/>
              <a:ext cx="1097994" cy="1097994"/>
            </a:xfrm>
            <a:prstGeom prst="rect">
              <a:avLst/>
            </a:prstGeom>
          </p:spPr>
        </p:pic>
      </p:grpSp>
      <p:sp>
        <p:nvSpPr>
          <p:cNvPr id="21" name="矩形 20"/>
          <p:cNvSpPr/>
          <p:nvPr userDrawn="1"/>
        </p:nvSpPr>
        <p:spPr>
          <a:xfrm>
            <a:off x="5142690" y="1623060"/>
            <a:ext cx="1906622" cy="60167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b="1" dirty="0">
                <a:solidFill>
                  <a:schemeClr val="tx1">
                    <a:lumMod val="85000"/>
                    <a:lumOff val="15000"/>
                  </a:schemeClr>
                </a:solidFill>
                <a:latin typeface="+mj-ea"/>
                <a:ea typeface="+mj-ea"/>
              </a:rPr>
              <a:t>和我联系</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6965"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DB75B134-9E54-4233-9AD4-A661A84126CB}" type="datetimeFigureOut">
              <a:rPr lang="zh-CN" altLang="en-US" smtClean="0"/>
              <a:pPr/>
              <a:t>2020/11/24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5" name="标题 4"/>
          <p:cNvSpPr>
            <a:spLocks noGrp="1"/>
          </p:cNvSpPr>
          <p:nvPr>
            <p:ph type="title"/>
          </p:nvPr>
        </p:nvSpPr>
        <p:spPr>
          <a:xfrm>
            <a:off x="3362400" y="136525"/>
            <a:ext cx="5466080" cy="617538"/>
          </a:xfrm>
        </p:spPr>
        <p:txBody>
          <a:bodyPr anchor="b">
            <a:normAutofit/>
          </a:bodyPr>
          <a:lstStyle>
            <a:lvl1pPr algn="ctr">
              <a:defRPr sz="2800"/>
            </a:lvl1pPr>
          </a:lstStyle>
          <a:p>
            <a:r>
              <a:rPr lang="zh-CN" altLang="en-US" dirty="0"/>
              <a:t>单击此处编辑母版标题样式</a:t>
            </a:r>
          </a:p>
        </p:txBody>
      </p:sp>
      <p:sp>
        <p:nvSpPr>
          <p:cNvPr id="6" name="文本占位符 2"/>
          <p:cNvSpPr>
            <a:spLocks noGrp="1"/>
          </p:cNvSpPr>
          <p:nvPr>
            <p:ph type="body" idx="1" hasCustomPrompt="1"/>
          </p:nvPr>
        </p:nvSpPr>
        <p:spPr>
          <a:xfrm>
            <a:off x="3362400" y="754064"/>
            <a:ext cx="5466080" cy="400757"/>
          </a:xfrm>
        </p:spPr>
        <p:txBody>
          <a:bodyPr>
            <a:normAutofit/>
          </a:bodyPr>
          <a:lstStyle>
            <a:lvl1pPr marL="0" indent="0" algn="ctr">
              <a:buNone/>
              <a:defRPr sz="1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6965" indent="0">
              <a:buNone/>
              <a:defRPr sz="1600">
                <a:solidFill>
                  <a:schemeClr val="tx1">
                    <a:tint val="75000"/>
                  </a:schemeClr>
                </a:solidFill>
              </a:defRPr>
            </a:lvl9pPr>
          </a:lstStyle>
          <a:p>
            <a:r>
              <a:rPr lang="en-US" altLang="zh-CN" dirty="0"/>
              <a:t>Lorem ipsum dolor sit </a:t>
            </a:r>
            <a:r>
              <a:rPr lang="en-US" altLang="zh-CN" dirty="0" err="1"/>
              <a:t>amet</a:t>
            </a:r>
            <a:r>
              <a:rPr lang="en-US" altLang="zh-CN" dirty="0"/>
              <a:t>, </a:t>
            </a:r>
            <a:r>
              <a:rPr lang="en-US" altLang="zh-CN" dirty="0" err="1"/>
              <a:t>consectetuer</a:t>
            </a:r>
            <a:r>
              <a:rPr lang="en-US" altLang="zh-CN" dirty="0"/>
              <a:t> </a:t>
            </a:r>
            <a:r>
              <a:rPr lang="en-US" altLang="zh-CN" dirty="0" err="1"/>
              <a:t>adipiscing</a:t>
            </a:r>
            <a:r>
              <a:rPr lang="en-US" altLang="zh-CN" dirty="0"/>
              <a:t> </a:t>
            </a:r>
            <a:r>
              <a:rPr lang="en-US" altLang="zh-CN" dirty="0" err="1"/>
              <a:t>elit</a:t>
            </a:r>
            <a:r>
              <a:rPr lang="en-US" altLang="zh-CN" dirty="0"/>
              <a:t>. </a:t>
            </a:r>
          </a:p>
        </p:txBody>
      </p:sp>
      <p:cxnSp>
        <p:nvCxnSpPr>
          <p:cNvPr id="11" name="直接连接符 10"/>
          <p:cNvCxnSpPr/>
          <p:nvPr userDrawn="1"/>
        </p:nvCxnSpPr>
        <p:spPr>
          <a:xfrm>
            <a:off x="5773278" y="754063"/>
            <a:ext cx="644324" cy="0"/>
          </a:xfrm>
          <a:prstGeom prst="line">
            <a:avLst/>
          </a:prstGeom>
          <a:ln>
            <a:solidFill>
              <a:schemeClr val="tx1">
                <a:lumMod val="85000"/>
                <a:lumOff val="15000"/>
              </a:schemeClr>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2020/11/24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370">
                <a:solidFill>
                  <a:schemeClr val="tx1">
                    <a:tint val="75000"/>
                  </a:schemeClr>
                </a:solidFill>
              </a:defRPr>
            </a:lvl1pPr>
          </a:lstStyle>
          <a:p>
            <a:fld id="{0E6A473D-8055-43E1-A01D-B0413067B7D8}" type="datetimeFigureOut">
              <a:rPr lang="zh-CN" altLang="en-US" smtClean="0"/>
              <a:pPr/>
              <a:t>2020/11/24</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137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370">
                <a:solidFill>
                  <a:schemeClr val="tx1">
                    <a:tint val="75000"/>
                  </a:schemeClr>
                </a:solidFill>
              </a:defRPr>
            </a:lvl1pPr>
          </a:lstStyle>
          <a:p>
            <a:fld id="{0EB8D81A-C667-4EE5-93BD-6120260630F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txStyles>
    <p:titleStyle>
      <a:lvl1pPr algn="l" defTabSz="1044575" rtl="0" eaLnBrk="1" latinLnBrk="0" hangingPunct="1">
        <a:lnSpc>
          <a:spcPct val="90000"/>
        </a:lnSpc>
        <a:spcBef>
          <a:spcPct val="0"/>
        </a:spcBef>
        <a:buNone/>
        <a:defRPr sz="5030" kern="1200">
          <a:solidFill>
            <a:schemeClr val="tx1"/>
          </a:solidFill>
          <a:latin typeface="+mj-lt"/>
          <a:ea typeface="+mj-ea"/>
          <a:cs typeface="+mj-cs"/>
        </a:defRPr>
      </a:lvl1pPr>
    </p:titleStyle>
    <p:bodyStyle>
      <a:lvl1pPr marL="260985" indent="-260985" algn="l" defTabSz="1044575" rtl="0" eaLnBrk="1" latinLnBrk="0" hangingPunct="1">
        <a:lnSpc>
          <a:spcPct val="90000"/>
        </a:lnSpc>
        <a:spcBef>
          <a:spcPts val="1140"/>
        </a:spcBef>
        <a:buFont typeface="Arial" panose="020B0604020202020204" pitchFamily="34" charset="0"/>
        <a:buChar char="•"/>
        <a:defRPr sz="3200" kern="1200">
          <a:solidFill>
            <a:schemeClr val="tx1"/>
          </a:solidFill>
          <a:latin typeface="+mn-lt"/>
          <a:ea typeface="+mn-ea"/>
          <a:cs typeface="+mn-cs"/>
        </a:defRPr>
      </a:lvl1pPr>
      <a:lvl2pPr marL="783590" indent="-260985" algn="l" defTabSz="1044575" rtl="0" eaLnBrk="1" latinLnBrk="0" hangingPunct="1">
        <a:lnSpc>
          <a:spcPct val="90000"/>
        </a:lnSpc>
        <a:spcBef>
          <a:spcPts val="570"/>
        </a:spcBef>
        <a:buFont typeface="Arial" panose="020B0604020202020204" pitchFamily="34" charset="0"/>
        <a:buChar char="•"/>
        <a:defRPr sz="2745" kern="1200">
          <a:solidFill>
            <a:schemeClr val="tx1"/>
          </a:solidFill>
          <a:latin typeface="+mn-lt"/>
          <a:ea typeface="+mn-ea"/>
          <a:cs typeface="+mn-cs"/>
        </a:defRPr>
      </a:lvl2pPr>
      <a:lvl3pPr marL="1306195" indent="-260985" algn="l" defTabSz="1044575" rtl="0" eaLnBrk="1" latinLnBrk="0" hangingPunct="1">
        <a:lnSpc>
          <a:spcPct val="90000"/>
        </a:lnSpc>
        <a:spcBef>
          <a:spcPts val="570"/>
        </a:spcBef>
        <a:buFont typeface="Arial" panose="020B0604020202020204" pitchFamily="34" charset="0"/>
        <a:buChar char="•"/>
        <a:defRPr sz="2285" kern="1200">
          <a:solidFill>
            <a:schemeClr val="tx1"/>
          </a:solidFill>
          <a:latin typeface="+mn-lt"/>
          <a:ea typeface="+mn-ea"/>
          <a:cs typeface="+mn-cs"/>
        </a:defRPr>
      </a:lvl3pPr>
      <a:lvl4pPr marL="182880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4pPr>
      <a:lvl5pPr marL="235140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5pPr>
      <a:lvl6pPr marL="287401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6pPr>
      <a:lvl7pPr marL="339661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7pPr>
      <a:lvl8pPr marL="391922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8pPr>
      <a:lvl9pPr marL="444119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9pPr>
    </p:bodyStyle>
    <p:otherStyle>
      <a:defPPr>
        <a:defRPr lang="en-US"/>
      </a:defPPr>
      <a:lvl1pPr marL="0" algn="l" defTabSz="1044575" rtl="0" eaLnBrk="1" latinLnBrk="0" hangingPunct="1">
        <a:defRPr sz="2055" kern="1200">
          <a:solidFill>
            <a:schemeClr val="tx1"/>
          </a:solidFill>
          <a:latin typeface="+mn-lt"/>
          <a:ea typeface="+mn-ea"/>
          <a:cs typeface="+mn-cs"/>
        </a:defRPr>
      </a:lvl1pPr>
      <a:lvl2pPr marL="522605" algn="l" defTabSz="1044575" rtl="0" eaLnBrk="1" latinLnBrk="0" hangingPunct="1">
        <a:defRPr sz="2055" kern="1200">
          <a:solidFill>
            <a:schemeClr val="tx1"/>
          </a:solidFill>
          <a:latin typeface="+mn-lt"/>
          <a:ea typeface="+mn-ea"/>
          <a:cs typeface="+mn-cs"/>
        </a:defRPr>
      </a:lvl2pPr>
      <a:lvl3pPr marL="1045210" algn="l" defTabSz="1044575" rtl="0" eaLnBrk="1" latinLnBrk="0" hangingPunct="1">
        <a:defRPr sz="2055" kern="1200">
          <a:solidFill>
            <a:schemeClr val="tx1"/>
          </a:solidFill>
          <a:latin typeface="+mn-lt"/>
          <a:ea typeface="+mn-ea"/>
          <a:cs typeface="+mn-cs"/>
        </a:defRPr>
      </a:lvl3pPr>
      <a:lvl4pPr marL="1567815" algn="l" defTabSz="1044575" rtl="0" eaLnBrk="1" latinLnBrk="0" hangingPunct="1">
        <a:defRPr sz="2055" kern="1200">
          <a:solidFill>
            <a:schemeClr val="tx1"/>
          </a:solidFill>
          <a:latin typeface="+mn-lt"/>
          <a:ea typeface="+mn-ea"/>
          <a:cs typeface="+mn-cs"/>
        </a:defRPr>
      </a:lvl4pPr>
      <a:lvl5pPr marL="2089785" algn="l" defTabSz="1044575" rtl="0" eaLnBrk="1" latinLnBrk="0" hangingPunct="1">
        <a:defRPr sz="2055" kern="1200">
          <a:solidFill>
            <a:schemeClr val="tx1"/>
          </a:solidFill>
          <a:latin typeface="+mn-lt"/>
          <a:ea typeface="+mn-ea"/>
          <a:cs typeface="+mn-cs"/>
        </a:defRPr>
      </a:lvl5pPr>
      <a:lvl6pPr marL="2612390" algn="l" defTabSz="1044575" rtl="0" eaLnBrk="1" latinLnBrk="0" hangingPunct="1">
        <a:defRPr sz="2055" kern="1200">
          <a:solidFill>
            <a:schemeClr val="tx1"/>
          </a:solidFill>
          <a:latin typeface="+mn-lt"/>
          <a:ea typeface="+mn-ea"/>
          <a:cs typeface="+mn-cs"/>
        </a:defRPr>
      </a:lvl6pPr>
      <a:lvl7pPr marL="3134995" algn="l" defTabSz="1044575" rtl="0" eaLnBrk="1" latinLnBrk="0" hangingPunct="1">
        <a:defRPr sz="2055" kern="1200">
          <a:solidFill>
            <a:schemeClr val="tx1"/>
          </a:solidFill>
          <a:latin typeface="+mn-lt"/>
          <a:ea typeface="+mn-ea"/>
          <a:cs typeface="+mn-cs"/>
        </a:defRPr>
      </a:lvl7pPr>
      <a:lvl8pPr marL="3657600" algn="l" defTabSz="1044575" rtl="0" eaLnBrk="1" latinLnBrk="0" hangingPunct="1">
        <a:defRPr sz="2055" kern="1200">
          <a:solidFill>
            <a:schemeClr val="tx1"/>
          </a:solidFill>
          <a:latin typeface="+mn-lt"/>
          <a:ea typeface="+mn-ea"/>
          <a:cs typeface="+mn-cs"/>
        </a:defRPr>
      </a:lvl8pPr>
      <a:lvl9pPr marL="4180205" algn="l" defTabSz="1044575" rtl="0" eaLnBrk="1" latinLnBrk="0" hangingPunct="1">
        <a:defRPr sz="20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hyperlink" Target="https://wenwen.sogou.com/s/?w=8Bit&amp;ch=ww.xqy.chain" TargetMode="Externa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1" name="圆角矩形 10"/>
          <p:cNvSpPr/>
          <p:nvPr/>
        </p:nvSpPr>
        <p:spPr>
          <a:xfrm>
            <a:off x="3135044" y="1380931"/>
            <a:ext cx="7872925" cy="2056324"/>
          </a:xfrm>
          <a:prstGeom prst="roundRect">
            <a:avLst>
              <a:gd name="adj" fmla="val 18269"/>
            </a:avLst>
          </a:prstGeom>
          <a:noFill/>
          <a:ln>
            <a:solidFill>
              <a:schemeClr val="accent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lnSpc>
                <a:spcPct val="90000"/>
              </a:lnSpc>
              <a:spcBef>
                <a:spcPct val="0"/>
              </a:spcBef>
              <a:defRPr/>
            </a:pPr>
            <a:r>
              <a:rPr lang="zh-CN" altLang="en-US" sz="6000" dirty="0" smtClean="0">
                <a:solidFill>
                  <a:schemeClr val="tx1"/>
                </a:solidFill>
              </a:rPr>
              <a:t>第六章</a:t>
            </a:r>
            <a:r>
              <a:rPr lang="en-US" altLang="zh-CN" sz="6000" dirty="0" smtClean="0">
                <a:solidFill>
                  <a:schemeClr val="tx1"/>
                </a:solidFill>
              </a:rPr>
              <a:t/>
            </a:r>
            <a:br>
              <a:rPr lang="en-US" altLang="zh-CN" sz="6000" dirty="0" smtClean="0">
                <a:solidFill>
                  <a:schemeClr val="tx1"/>
                </a:solidFill>
              </a:rPr>
            </a:br>
            <a:r>
              <a:rPr lang="en-US" altLang="zh-CN" sz="6000" dirty="0" smtClean="0">
                <a:solidFill>
                  <a:schemeClr val="tx1"/>
                </a:solidFill>
              </a:rPr>
              <a:t>EXTI</a:t>
            </a:r>
            <a:r>
              <a:rPr lang="zh-CN" altLang="en-US" sz="6000" dirty="0" smtClean="0">
                <a:solidFill>
                  <a:schemeClr val="tx1"/>
                </a:solidFill>
              </a:rPr>
              <a:t>原理及应用</a:t>
            </a:r>
            <a:endParaRPr lang="zh-CN" altLang="en-US" sz="6000" dirty="0">
              <a:solidFill>
                <a:schemeClr val="tx1"/>
              </a:solidFill>
            </a:endParaRPr>
          </a:p>
        </p:txBody>
      </p:sp>
      <p:pic>
        <p:nvPicPr>
          <p:cNvPr id="6" name="图片 5" descr="A000220150319H47PPIC"/>
          <p:cNvPicPr>
            <a:picLocks noChangeAspect="1"/>
          </p:cNvPicPr>
          <p:nvPr/>
        </p:nvPicPr>
        <p:blipFill>
          <a:blip r:embed="rId2" cstate="print"/>
          <a:stretch>
            <a:fillRect/>
          </a:stretch>
        </p:blipFill>
        <p:spPr>
          <a:xfrm flipH="1">
            <a:off x="454660" y="3429000"/>
            <a:ext cx="2596515" cy="2995295"/>
          </a:xfrm>
          <a:prstGeom prst="rect">
            <a:avLst/>
          </a:prstGeom>
        </p:spPr>
      </p:pic>
      <p:pic>
        <p:nvPicPr>
          <p:cNvPr id="4" name="Picture 2"/>
          <p:cNvPicPr>
            <a:picLocks noChangeAspect="1" noChangeArrowheads="1"/>
          </p:cNvPicPr>
          <p:nvPr/>
        </p:nvPicPr>
        <p:blipFill>
          <a:blip r:embed="rId3" cstate="print">
            <a:extLst>
              <a:ext uri="{BEBA8EAE-BF5A-486C-A8C5-ECC9F3942E4B}">
                <a14:imgProps xmlns:a14="http://schemas.microsoft.com/office/drawing/2010/main" xmlns="">
                  <a14:imgLayer r:embed="rId4">
                    <a14:imgEffect>
                      <a14:saturation sat="173000"/>
                    </a14:imgEffect>
                  </a14:imgLayer>
                </a14:imgProps>
              </a:ext>
              <a:ext uri="{28A0092B-C50C-407E-A947-70E740481C1C}">
                <a14:useLocalDpi xmlns:a14="http://schemas.microsoft.com/office/drawing/2010/main" xmlns="" val="0"/>
              </a:ext>
            </a:extLst>
          </a:blip>
          <a:stretch>
            <a:fillRect/>
          </a:stretch>
        </p:blipFill>
        <p:spPr bwMode="auto">
          <a:xfrm>
            <a:off x="1077273" y="763659"/>
            <a:ext cx="1352760" cy="135276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标题 1"/>
          <p:cNvSpPr txBox="1">
            <a:spLocks/>
          </p:cNvSpPr>
          <p:nvPr/>
        </p:nvSpPr>
        <p:spPr>
          <a:xfrm>
            <a:off x="1097280" y="758952"/>
            <a:ext cx="10058400" cy="3566160"/>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575864"/>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6.1 STM32</a:t>
            </a:r>
            <a:r>
              <a:rPr lang="zh-CN" altLang="en-US" sz="2800" b="1" dirty="0" smtClean="0">
                <a:solidFill>
                  <a:srgbClr val="14529E"/>
                </a:solidFill>
              </a:rPr>
              <a:t>中断通道</a:t>
            </a:r>
            <a:endParaRPr lang="zh-CN" altLang="en-US" sz="2800" b="1" dirty="0" smtClean="0">
              <a:solidFill>
                <a:srgbClr val="C00000"/>
              </a:solidFill>
            </a:endParaRPr>
          </a:p>
        </p:txBody>
      </p:sp>
      <p:sp>
        <p:nvSpPr>
          <p:cNvPr id="9" name="矩形 8"/>
          <p:cNvSpPr/>
          <p:nvPr/>
        </p:nvSpPr>
        <p:spPr>
          <a:xfrm>
            <a:off x="771330" y="1247897"/>
            <a:ext cx="10779967" cy="3970318"/>
          </a:xfrm>
          <a:prstGeom prst="rect">
            <a:avLst/>
          </a:prstGeom>
        </p:spPr>
        <p:txBody>
          <a:bodyPr wrap="square">
            <a:spAutoFit/>
          </a:bodyPr>
          <a:lstStyle/>
          <a:p>
            <a:pPr>
              <a:lnSpc>
                <a:spcPct val="150000"/>
              </a:lnSpc>
              <a:buClr>
                <a:srgbClr val="C00000"/>
              </a:buClr>
              <a:buFont typeface="Wingdings" pitchFamily="2" charset="2"/>
              <a:buChar char="u"/>
            </a:pPr>
            <a:r>
              <a:rPr lang="zh-CN" altLang="en-US" sz="2400" dirty="0" smtClean="0"/>
              <a:t>中断通道</a:t>
            </a:r>
            <a:r>
              <a:rPr lang="en-US" altLang="zh-CN" sz="2400" dirty="0" smtClean="0"/>
              <a:t>(IRQ Channel)</a:t>
            </a:r>
            <a:r>
              <a:rPr lang="zh-CN" altLang="en-US" sz="2400" dirty="0" smtClean="0"/>
              <a:t>是处理中断的信号通路，每个中断通道对应唯一的中断向量和唯一的中断服务程序，但该中断通道可具有多个中断源，这些中断源都能通过对应的中断通道向内核申请中断。</a:t>
            </a:r>
            <a:endParaRPr lang="en-US" altLang="zh-CN" sz="2400" dirty="0" smtClean="0"/>
          </a:p>
          <a:p>
            <a:pPr>
              <a:lnSpc>
                <a:spcPct val="150000"/>
              </a:lnSpc>
              <a:buClr>
                <a:srgbClr val="C00000"/>
              </a:buClr>
              <a:buFont typeface="Wingdings" pitchFamily="2" charset="2"/>
              <a:buChar char="u"/>
            </a:pPr>
            <a:r>
              <a:rPr lang="en-US" altLang="zh-CN" sz="2400" dirty="0" smtClean="0"/>
              <a:t>STM32</a:t>
            </a:r>
            <a:r>
              <a:rPr lang="zh-CN" altLang="en-US" sz="2400" dirty="0" smtClean="0"/>
              <a:t>的中断系统没有使用</a:t>
            </a:r>
            <a:r>
              <a:rPr lang="en-US" altLang="zh-CN" sz="2400" dirty="0" smtClean="0"/>
              <a:t>CM3</a:t>
            </a:r>
            <a:r>
              <a:rPr lang="zh-CN" altLang="en-US" sz="2400" dirty="0" smtClean="0"/>
              <a:t>的</a:t>
            </a:r>
            <a:r>
              <a:rPr lang="en-US" altLang="zh-CN" sz="2400" dirty="0" smtClean="0"/>
              <a:t>NVIC</a:t>
            </a:r>
            <a:r>
              <a:rPr lang="zh-CN" altLang="en-US" sz="2400" dirty="0" smtClean="0"/>
              <a:t>全部功能，出了</a:t>
            </a:r>
            <a:r>
              <a:rPr lang="en-US" altLang="zh-CN" sz="2400" dirty="0" smtClean="0"/>
              <a:t>15</a:t>
            </a:r>
            <a:r>
              <a:rPr lang="zh-CN" altLang="en-US" sz="2400" dirty="0" smtClean="0"/>
              <a:t>个</a:t>
            </a:r>
            <a:r>
              <a:rPr lang="en-US" altLang="zh-CN" sz="2400" dirty="0" smtClean="0"/>
              <a:t>CM3</a:t>
            </a:r>
            <a:r>
              <a:rPr lang="zh-CN" altLang="en-US" sz="2400" dirty="0" smtClean="0"/>
              <a:t>异常海外，</a:t>
            </a:r>
            <a:r>
              <a:rPr lang="en-US" altLang="zh-CN" sz="2400" dirty="0" smtClean="0"/>
              <a:t>F103</a:t>
            </a:r>
            <a:r>
              <a:rPr lang="zh-CN" altLang="en-US" sz="2400" dirty="0" smtClean="0"/>
              <a:t>具有</a:t>
            </a:r>
            <a:r>
              <a:rPr lang="en-US" altLang="zh-CN" sz="2400" dirty="0" smtClean="0"/>
              <a:t>60</a:t>
            </a:r>
            <a:r>
              <a:rPr lang="zh-CN" altLang="en-US" sz="2400" dirty="0" smtClean="0"/>
              <a:t>个中断通道；</a:t>
            </a:r>
            <a:r>
              <a:rPr lang="en-US" altLang="zh-CN" sz="2400" dirty="0" smtClean="0"/>
              <a:t>F107</a:t>
            </a:r>
            <a:r>
              <a:rPr lang="zh-CN" altLang="en-US" sz="2400" dirty="0" smtClean="0"/>
              <a:t>有</a:t>
            </a:r>
            <a:r>
              <a:rPr lang="en-US" altLang="zh-CN" sz="2400" dirty="0" smtClean="0"/>
              <a:t>68</a:t>
            </a:r>
            <a:r>
              <a:rPr lang="zh-CN" altLang="en-US" sz="2400" dirty="0" smtClean="0"/>
              <a:t>个中断通道，中断优先级有</a:t>
            </a:r>
            <a:r>
              <a:rPr lang="en-US" altLang="zh-CN" sz="2400" dirty="0" smtClean="0"/>
              <a:t>16</a:t>
            </a:r>
            <a:r>
              <a:rPr lang="zh-CN" altLang="en-US" sz="2400" dirty="0" smtClean="0"/>
              <a:t>级。</a:t>
            </a:r>
            <a:endParaRPr lang="en-US" altLang="zh-CN" sz="2400" dirty="0" smtClean="0"/>
          </a:p>
          <a:p>
            <a:pPr>
              <a:lnSpc>
                <a:spcPct val="150000"/>
              </a:lnSpc>
              <a:buClr>
                <a:srgbClr val="C00000"/>
              </a:buClr>
              <a:buFont typeface="Wingdings" pitchFamily="2" charset="2"/>
              <a:buChar char="u"/>
            </a:pPr>
            <a:r>
              <a:rPr lang="en-US" altLang="zh-CN" sz="2400" dirty="0" smtClean="0"/>
              <a:t>STM32</a:t>
            </a:r>
            <a:r>
              <a:rPr lang="zh-CN" altLang="en-US" sz="2400" dirty="0" smtClean="0"/>
              <a:t>的固件库</a:t>
            </a:r>
            <a:r>
              <a:rPr lang="en-US" altLang="zh-CN" sz="2400" dirty="0" smtClean="0"/>
              <a:t>stm32f10x.h</a:t>
            </a:r>
            <a:r>
              <a:rPr lang="zh-CN" altLang="en-US" sz="2400" dirty="0" smtClean="0"/>
              <a:t>文件中，中断号宏定义将中断号和宏名联系起来，因此，使用时直接引用具体宏名即可。</a:t>
            </a:r>
            <a:endParaRPr lang="zh-CN" alt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53039" y="1136390"/>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400" b="1" dirty="0" smtClean="0">
                <a:solidFill>
                  <a:srgbClr val="14529E"/>
                </a:solidFill>
              </a:rPr>
              <a:t>6.3 NVIC</a:t>
            </a:r>
            <a:r>
              <a:rPr lang="zh-CN" altLang="en-US" sz="2400" b="1" dirty="0" smtClean="0">
                <a:solidFill>
                  <a:srgbClr val="14529E"/>
                </a:solidFill>
              </a:rPr>
              <a:t>硬件结构及软件配置</a:t>
            </a:r>
            <a:endParaRPr lang="en-US" altLang="zh-CN" sz="2400" b="1" dirty="0" smtClean="0">
              <a:solidFill>
                <a:srgbClr val="14529E"/>
              </a:solidFill>
            </a:endParaRPr>
          </a:p>
          <a:p>
            <a:pPr marR="0" lvl="0" indent="0" fontAlgn="auto">
              <a:lnSpc>
                <a:spcPct val="90000"/>
              </a:lnSpc>
              <a:spcBef>
                <a:spcPct val="0"/>
              </a:spcBef>
              <a:spcAft>
                <a:spcPts val="0"/>
              </a:spcAft>
              <a:buClrTx/>
              <a:buSzTx/>
              <a:buFontTx/>
              <a:buNone/>
              <a:tabLst/>
              <a:defRPr/>
            </a:pPr>
            <a:r>
              <a:rPr lang="en-US" altLang="zh-CN" sz="2400" b="1" dirty="0" smtClean="0">
                <a:solidFill>
                  <a:srgbClr val="14529E"/>
                </a:solidFill>
              </a:rPr>
              <a:t>6.3.1 NVIC</a:t>
            </a:r>
            <a:r>
              <a:rPr lang="zh-CN" altLang="en-US" sz="2400" b="1" dirty="0" smtClean="0">
                <a:solidFill>
                  <a:srgbClr val="14529E"/>
                </a:solidFill>
              </a:rPr>
              <a:t>硬件结构</a:t>
            </a:r>
            <a:endParaRPr lang="en-US" altLang="zh-CN" sz="24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smtClean="0">
              <a:solidFill>
                <a:srgbClr val="C00000"/>
              </a:solidFill>
            </a:endParaRPr>
          </a:p>
        </p:txBody>
      </p:sp>
      <p:sp>
        <p:nvSpPr>
          <p:cNvPr id="9" name="矩形 8"/>
          <p:cNvSpPr/>
          <p:nvPr/>
        </p:nvSpPr>
        <p:spPr>
          <a:xfrm>
            <a:off x="388775" y="1087189"/>
            <a:ext cx="11489094" cy="5309146"/>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smtClean="0"/>
              <a:t>在</a:t>
            </a:r>
            <a:r>
              <a:rPr lang="en-US" altLang="zh-CN" dirty="0" smtClean="0"/>
              <a:t>core_cm0.h</a:t>
            </a:r>
            <a:r>
              <a:rPr lang="zh-CN" altLang="en-US" dirty="0" smtClean="0"/>
              <a:t>文件中的标准库中的</a:t>
            </a:r>
            <a:r>
              <a:rPr lang="en-US" altLang="zh-CN" dirty="0" smtClean="0"/>
              <a:t>NVIC</a:t>
            </a:r>
            <a:r>
              <a:rPr lang="zh-CN" altLang="en-US" dirty="0" smtClean="0"/>
              <a:t>结构体：</a:t>
            </a:r>
            <a:endParaRPr lang="en-US" altLang="zh-CN" dirty="0" smtClean="0"/>
          </a:p>
          <a:p>
            <a:pPr>
              <a:lnSpc>
                <a:spcPct val="150000"/>
              </a:lnSpc>
              <a:buClr>
                <a:srgbClr val="C00000"/>
              </a:buClr>
            </a:pPr>
            <a:r>
              <a:rPr lang="en-US" sz="1200" dirty="0" err="1" smtClean="0"/>
              <a:t>typedef</a:t>
            </a:r>
            <a:r>
              <a:rPr lang="en-US" sz="1200" dirty="0" smtClean="0"/>
              <a:t> </a:t>
            </a:r>
            <a:r>
              <a:rPr lang="en-US" sz="1200" dirty="0" err="1" smtClean="0"/>
              <a:t>struct</a:t>
            </a:r>
            <a:r>
              <a:rPr lang="en-US" sz="1200" dirty="0" smtClean="0"/>
              <a:t> </a:t>
            </a:r>
          </a:p>
          <a:p>
            <a:pPr>
              <a:lnSpc>
                <a:spcPct val="150000"/>
              </a:lnSpc>
              <a:buClr>
                <a:srgbClr val="C00000"/>
              </a:buClr>
            </a:pPr>
            <a:r>
              <a:rPr lang="en-US" sz="1200" dirty="0" smtClean="0"/>
              <a:t>{</a:t>
            </a:r>
          </a:p>
          <a:p>
            <a:pPr>
              <a:lnSpc>
                <a:spcPct val="150000"/>
              </a:lnSpc>
              <a:buClr>
                <a:srgbClr val="C00000"/>
              </a:buClr>
            </a:pPr>
            <a:r>
              <a:rPr lang="en-US" sz="1200" b="1" dirty="0" smtClean="0"/>
              <a:t> </a:t>
            </a:r>
            <a:r>
              <a:rPr lang="en-US" sz="1200" b="1" dirty="0" smtClean="0">
                <a:solidFill>
                  <a:srgbClr val="7030A0"/>
                </a:solidFill>
              </a:rPr>
              <a:t>__IO uint32_t ISER[8]; /*!&lt; Offset: 0x000 Interrupt Set Enable Register */ </a:t>
            </a:r>
          </a:p>
          <a:p>
            <a:pPr>
              <a:lnSpc>
                <a:spcPct val="150000"/>
              </a:lnSpc>
              <a:buClr>
                <a:srgbClr val="C00000"/>
              </a:buClr>
            </a:pPr>
            <a:r>
              <a:rPr lang="en-US" sz="1200" dirty="0" smtClean="0"/>
              <a:t>uint32_t RESERVED0[24];</a:t>
            </a:r>
          </a:p>
          <a:p>
            <a:pPr>
              <a:lnSpc>
                <a:spcPct val="150000"/>
              </a:lnSpc>
              <a:buClr>
                <a:srgbClr val="C00000"/>
              </a:buClr>
            </a:pPr>
            <a:r>
              <a:rPr lang="en-US" sz="1200" dirty="0" smtClean="0"/>
              <a:t> </a:t>
            </a:r>
            <a:r>
              <a:rPr lang="en-US" sz="1200" b="1" dirty="0" smtClean="0">
                <a:solidFill>
                  <a:srgbClr val="7030A0"/>
                </a:solidFill>
              </a:rPr>
              <a:t>__IO uint32_t ICER[8]; /*!&lt; Offset: 0x080 Interrupt Clear Enable Register */ </a:t>
            </a:r>
          </a:p>
          <a:p>
            <a:pPr>
              <a:lnSpc>
                <a:spcPct val="150000"/>
              </a:lnSpc>
              <a:buClr>
                <a:srgbClr val="C00000"/>
              </a:buClr>
            </a:pPr>
            <a:r>
              <a:rPr lang="en-US" sz="1200" dirty="0" smtClean="0"/>
              <a:t>uint32_t RSERVED1[24];</a:t>
            </a:r>
          </a:p>
          <a:p>
            <a:pPr>
              <a:lnSpc>
                <a:spcPct val="150000"/>
              </a:lnSpc>
              <a:buClr>
                <a:srgbClr val="C00000"/>
              </a:buClr>
            </a:pPr>
            <a:r>
              <a:rPr lang="en-US" sz="1200" b="1" dirty="0" smtClean="0"/>
              <a:t> </a:t>
            </a:r>
            <a:r>
              <a:rPr lang="en-US" sz="1200" b="1" dirty="0" smtClean="0">
                <a:solidFill>
                  <a:srgbClr val="7030A0"/>
                </a:solidFill>
              </a:rPr>
              <a:t>__IO uint32_t ISPR[8]; /*!&lt; Offset: 0x100 Interrupt Set Pending Register */</a:t>
            </a:r>
          </a:p>
          <a:p>
            <a:pPr>
              <a:lnSpc>
                <a:spcPct val="150000"/>
              </a:lnSpc>
              <a:buClr>
                <a:srgbClr val="C00000"/>
              </a:buClr>
            </a:pPr>
            <a:r>
              <a:rPr lang="en-US" sz="1200" dirty="0" smtClean="0"/>
              <a:t> uint32_t RESERVED2[24];</a:t>
            </a:r>
          </a:p>
          <a:p>
            <a:pPr>
              <a:lnSpc>
                <a:spcPct val="150000"/>
              </a:lnSpc>
              <a:buClr>
                <a:srgbClr val="C00000"/>
              </a:buClr>
            </a:pPr>
            <a:r>
              <a:rPr lang="en-US" sz="1200" dirty="0" smtClean="0"/>
              <a:t> </a:t>
            </a:r>
            <a:r>
              <a:rPr lang="en-US" sz="1200" b="1" dirty="0" smtClean="0">
                <a:solidFill>
                  <a:srgbClr val="7030A0"/>
                </a:solidFill>
              </a:rPr>
              <a:t>__IO uint32_t ICPR[8]; /*!&lt; Offset: 0x180 Interrupt Clear Pending Register */</a:t>
            </a:r>
          </a:p>
          <a:p>
            <a:pPr>
              <a:lnSpc>
                <a:spcPct val="150000"/>
              </a:lnSpc>
              <a:buClr>
                <a:srgbClr val="C00000"/>
              </a:buClr>
            </a:pPr>
            <a:r>
              <a:rPr lang="en-US" sz="1200" dirty="0" smtClean="0"/>
              <a:t> uint32_t RESERVED3[24];</a:t>
            </a:r>
          </a:p>
          <a:p>
            <a:pPr>
              <a:lnSpc>
                <a:spcPct val="150000"/>
              </a:lnSpc>
              <a:buClr>
                <a:srgbClr val="C00000"/>
              </a:buClr>
            </a:pPr>
            <a:r>
              <a:rPr lang="en-US" sz="1200" b="1" dirty="0" smtClean="0"/>
              <a:t> </a:t>
            </a:r>
            <a:r>
              <a:rPr lang="en-US" sz="1200" b="1" dirty="0" smtClean="0">
                <a:solidFill>
                  <a:srgbClr val="7030A0"/>
                </a:solidFill>
              </a:rPr>
              <a:t>__IO uint32_t IABR[8]; /*!&lt; Offset: 0x200 Interrupt Active bit Register */ </a:t>
            </a:r>
          </a:p>
          <a:p>
            <a:pPr>
              <a:lnSpc>
                <a:spcPct val="150000"/>
              </a:lnSpc>
              <a:buClr>
                <a:srgbClr val="C00000"/>
              </a:buClr>
            </a:pPr>
            <a:r>
              <a:rPr lang="en-US" sz="1200" dirty="0" smtClean="0"/>
              <a:t>uint32_t RESERVED4[56];</a:t>
            </a:r>
          </a:p>
          <a:p>
            <a:pPr>
              <a:lnSpc>
                <a:spcPct val="150000"/>
              </a:lnSpc>
              <a:buClr>
                <a:srgbClr val="C00000"/>
              </a:buClr>
            </a:pPr>
            <a:r>
              <a:rPr lang="en-US" sz="1200" b="1" dirty="0" smtClean="0"/>
              <a:t> </a:t>
            </a:r>
            <a:r>
              <a:rPr lang="en-US" sz="1200" b="1" dirty="0" smtClean="0">
                <a:solidFill>
                  <a:srgbClr val="7030A0"/>
                </a:solidFill>
              </a:rPr>
              <a:t>__IO uint8_t IP[240]; /*!&lt; Offset: 0x300 Interrupt Priority Register (</a:t>
            </a:r>
            <a:r>
              <a:rPr lang="en-US" sz="1200" b="1" dirty="0" smtClean="0">
                <a:solidFill>
                  <a:srgbClr val="7030A0"/>
                </a:solidFill>
                <a:hlinkClick r:id="rId3"/>
              </a:rPr>
              <a:t>8Bit</a:t>
            </a:r>
            <a:r>
              <a:rPr lang="en-US" sz="1200" b="1" dirty="0" smtClean="0">
                <a:solidFill>
                  <a:srgbClr val="7030A0"/>
                </a:solidFill>
              </a:rPr>
              <a:t> wide) */</a:t>
            </a:r>
          </a:p>
          <a:p>
            <a:pPr>
              <a:lnSpc>
                <a:spcPct val="150000"/>
              </a:lnSpc>
              <a:buClr>
                <a:srgbClr val="C00000"/>
              </a:buClr>
            </a:pPr>
            <a:r>
              <a:rPr lang="en-US" sz="1200" dirty="0" smtClean="0"/>
              <a:t> uint32_t RESERVED5[644]; </a:t>
            </a:r>
          </a:p>
          <a:p>
            <a:pPr>
              <a:lnSpc>
                <a:spcPct val="150000"/>
              </a:lnSpc>
              <a:buClr>
                <a:srgbClr val="C00000"/>
              </a:buClr>
            </a:pPr>
            <a:r>
              <a:rPr lang="en-US" sz="1200" dirty="0" smtClean="0"/>
              <a:t>__IO uint32_t STIR; /*!&lt; Offset: 0xE00 Software Trigger Interrupt Register */</a:t>
            </a:r>
          </a:p>
          <a:p>
            <a:pPr>
              <a:lnSpc>
                <a:spcPct val="150000"/>
              </a:lnSpc>
              <a:buClr>
                <a:srgbClr val="C00000"/>
              </a:buClr>
            </a:pPr>
            <a:r>
              <a:rPr lang="en-US" sz="1200" dirty="0" smtClean="0"/>
              <a:t> } </a:t>
            </a:r>
            <a:r>
              <a:rPr lang="en-US" sz="1200" dirty="0" err="1" smtClean="0"/>
              <a:t>NVIC_Type</a:t>
            </a:r>
            <a:r>
              <a:rPr lang="en-US" sz="1200" dirty="0" smtClean="0"/>
              <a:t>;</a:t>
            </a:r>
            <a:endParaRPr lang="en-US" altLang="zh-CN" sz="1200" dirty="0" smtClean="0"/>
          </a:p>
          <a:p>
            <a:pPr>
              <a:lnSpc>
                <a:spcPct val="150000"/>
              </a:lnSpc>
              <a:buClr>
                <a:srgbClr val="C00000"/>
              </a:buClr>
              <a:buFont typeface="Wingdings" pitchFamily="2" charset="2"/>
              <a:buChar char="u"/>
            </a:pPr>
            <a:r>
              <a:rPr lang="zh-CN" altLang="en-US" sz="1600" dirty="0" smtClean="0"/>
              <a:t>其中，我们一般只用到</a:t>
            </a:r>
            <a:r>
              <a:rPr lang="en-US" altLang="zh-CN" sz="1600" dirty="0" smtClean="0"/>
              <a:t>ISER</a:t>
            </a:r>
            <a:r>
              <a:rPr lang="zh-CN" altLang="en-US" sz="1600" dirty="0" smtClean="0"/>
              <a:t>、</a:t>
            </a:r>
            <a:r>
              <a:rPr lang="en-US" altLang="zh-CN" sz="1600" dirty="0" smtClean="0"/>
              <a:t>ICER</a:t>
            </a:r>
            <a:r>
              <a:rPr lang="zh-CN" altLang="en-US" sz="1600" dirty="0" smtClean="0"/>
              <a:t>、</a:t>
            </a:r>
            <a:r>
              <a:rPr lang="en-US" altLang="zh-CN" sz="1600" dirty="0" smtClean="0"/>
              <a:t>IP</a:t>
            </a:r>
            <a:r>
              <a:rPr lang="zh-CN" altLang="en-US" sz="1600" dirty="0" smtClean="0"/>
              <a:t>这</a:t>
            </a:r>
            <a:r>
              <a:rPr lang="en-US" altLang="zh-CN" sz="1600" dirty="0" smtClean="0"/>
              <a:t>3</a:t>
            </a:r>
            <a:r>
              <a:rPr lang="zh-CN" altLang="en-US" sz="1600" dirty="0" smtClean="0"/>
              <a:t>个寄存器。</a:t>
            </a:r>
            <a:r>
              <a:rPr lang="en-US" altLang="zh-CN" sz="1600" dirty="0" smtClean="0"/>
              <a:t>ISER</a:t>
            </a:r>
            <a:r>
              <a:rPr lang="zh-CN" altLang="en-US" sz="1600" dirty="0" smtClean="0"/>
              <a:t>用于使能中断，</a:t>
            </a:r>
            <a:r>
              <a:rPr lang="en-US" altLang="zh-CN" sz="1600" dirty="0" smtClean="0"/>
              <a:t>ICER</a:t>
            </a:r>
            <a:r>
              <a:rPr lang="zh-CN" altLang="en-US" sz="1600" dirty="0" smtClean="0"/>
              <a:t>用来清除中断，</a:t>
            </a:r>
            <a:r>
              <a:rPr lang="en-US" altLang="zh-CN" sz="1600" dirty="0" smtClean="0"/>
              <a:t>IP</a:t>
            </a:r>
            <a:r>
              <a:rPr lang="zh-CN" altLang="en-US" sz="1600" dirty="0" smtClean="0"/>
              <a:t>用来设置中断优先级。</a:t>
            </a:r>
            <a:endParaRPr lang="zh-CN" altLang="en-US" sz="1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6.3 NVIC</a:t>
            </a:r>
            <a:r>
              <a:rPr lang="zh-CN" altLang="en-US" sz="2800" b="1" dirty="0" smtClean="0">
                <a:solidFill>
                  <a:srgbClr val="14529E"/>
                </a:solidFill>
              </a:rPr>
              <a:t>硬件结构及软件配置</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6.3.1 NVIC</a:t>
            </a:r>
            <a:r>
              <a:rPr lang="zh-CN" altLang="en-US" sz="2800" b="1" dirty="0" smtClean="0">
                <a:solidFill>
                  <a:srgbClr val="14529E"/>
                </a:solidFill>
              </a:rPr>
              <a:t>硬件结构</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smtClean="0">
              <a:solidFill>
                <a:srgbClr val="C00000"/>
              </a:solidFill>
            </a:endParaRPr>
          </a:p>
        </p:txBody>
      </p:sp>
      <p:sp>
        <p:nvSpPr>
          <p:cNvPr id="9" name="矩形 8"/>
          <p:cNvSpPr/>
          <p:nvPr/>
        </p:nvSpPr>
        <p:spPr>
          <a:xfrm>
            <a:off x="771330" y="1247897"/>
            <a:ext cx="10779967" cy="6268767"/>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smtClean="0"/>
              <a:t>中断向量嵌套控制器是用来管理所有中断和事件的，包括中断的使能和除能，中断的优先级。</a:t>
            </a:r>
            <a:endParaRPr lang="en-US" altLang="zh-CN" dirty="0" smtClean="0"/>
          </a:p>
          <a:p>
            <a:pPr>
              <a:lnSpc>
                <a:spcPct val="150000"/>
              </a:lnSpc>
              <a:buClr>
                <a:srgbClr val="C00000"/>
              </a:buClr>
              <a:buFont typeface="Wingdings" pitchFamily="2" charset="2"/>
              <a:buChar char="u"/>
            </a:pPr>
            <a:r>
              <a:rPr lang="zh-CN" altLang="en-US" b="1" dirty="0" smtClean="0"/>
              <a:t>中断挂起设置寄存器</a:t>
            </a:r>
            <a:r>
              <a:rPr lang="en-US" b="1" dirty="0" smtClean="0"/>
              <a:t>NVIC_ISPR[8]</a:t>
            </a:r>
          </a:p>
          <a:p>
            <a:pPr>
              <a:lnSpc>
                <a:spcPct val="150000"/>
              </a:lnSpc>
              <a:buClr>
                <a:srgbClr val="C00000"/>
              </a:buClr>
              <a:buFont typeface="Wingdings" pitchFamily="2" charset="2"/>
              <a:buChar char="u"/>
            </a:pPr>
            <a:r>
              <a:rPr lang="zh-CN" altLang="en-US" b="1" dirty="0" smtClean="0"/>
              <a:t>解除中断挂起寄存器</a:t>
            </a:r>
            <a:r>
              <a:rPr lang="en-US" b="1" dirty="0" smtClean="0"/>
              <a:t>NVIC_ICPR[8]</a:t>
            </a:r>
            <a:endParaRPr lang="en-US" altLang="zh-CN" dirty="0" smtClean="0"/>
          </a:p>
          <a:p>
            <a:pPr>
              <a:lnSpc>
                <a:spcPct val="150000"/>
              </a:lnSpc>
              <a:buClr>
                <a:srgbClr val="C00000"/>
              </a:buClr>
              <a:buFont typeface="Wingdings" pitchFamily="2" charset="2"/>
              <a:buChar char="u"/>
            </a:pPr>
            <a:r>
              <a:rPr lang="zh-CN" altLang="en-US" b="1" dirty="0" smtClean="0"/>
              <a:t>中断使能寄存器</a:t>
            </a:r>
            <a:r>
              <a:rPr lang="en-US" altLang="zh-CN" b="1" dirty="0" smtClean="0"/>
              <a:t>NVIC_ISER[8]</a:t>
            </a:r>
            <a:endParaRPr lang="zh-CN" altLang="en-US" dirty="0" smtClean="0"/>
          </a:p>
          <a:p>
            <a:pPr>
              <a:lnSpc>
                <a:spcPct val="150000"/>
              </a:lnSpc>
            </a:pPr>
            <a:r>
              <a:rPr lang="zh-CN" altLang="en-US" dirty="0" smtClean="0"/>
              <a:t>中断使能寄存器共有</a:t>
            </a:r>
            <a:r>
              <a:rPr lang="en-US" altLang="zh-CN" dirty="0" smtClean="0"/>
              <a:t>8</a:t>
            </a:r>
            <a:r>
              <a:rPr lang="zh-CN" altLang="en-US" dirty="0" smtClean="0"/>
              <a:t>个，</a:t>
            </a:r>
            <a:r>
              <a:rPr lang="en-US" altLang="zh-CN" dirty="0" smtClean="0"/>
              <a:t>ISER[0]</a:t>
            </a:r>
            <a:r>
              <a:rPr lang="zh-CN" altLang="en-US" dirty="0" smtClean="0"/>
              <a:t>设置</a:t>
            </a:r>
            <a:r>
              <a:rPr lang="en-US" altLang="zh-CN" dirty="0" smtClean="0"/>
              <a:t>0~31</a:t>
            </a:r>
            <a:r>
              <a:rPr lang="zh-CN" altLang="en-US" dirty="0" smtClean="0"/>
              <a:t>号中断的使能，</a:t>
            </a:r>
            <a:r>
              <a:rPr lang="en-US" altLang="zh-CN" dirty="0" smtClean="0"/>
              <a:t>ISER[1]</a:t>
            </a:r>
            <a:r>
              <a:rPr lang="zh-CN" altLang="en-US" dirty="0" smtClean="0"/>
              <a:t>设置</a:t>
            </a:r>
            <a:r>
              <a:rPr lang="en-US" altLang="zh-CN" dirty="0" smtClean="0"/>
              <a:t>32~63</a:t>
            </a:r>
            <a:r>
              <a:rPr lang="zh-CN" altLang="en-US" dirty="0" smtClean="0"/>
              <a:t>号中断的使能，如此类推。</a:t>
            </a:r>
          </a:p>
          <a:p>
            <a:pPr>
              <a:lnSpc>
                <a:spcPct val="150000"/>
              </a:lnSpc>
              <a:buClr>
                <a:srgbClr val="C00000"/>
              </a:buClr>
              <a:buFont typeface="Wingdings" pitchFamily="2" charset="2"/>
              <a:buChar char="u"/>
            </a:pPr>
            <a:r>
              <a:rPr lang="zh-CN" altLang="en-US" b="1" dirty="0" smtClean="0"/>
              <a:t>中断除能寄存器</a:t>
            </a:r>
            <a:r>
              <a:rPr lang="en-US" altLang="zh-CN" b="1" dirty="0" smtClean="0"/>
              <a:t>NVIC_ICER[8]</a:t>
            </a:r>
            <a:endParaRPr lang="zh-CN" altLang="en-US" dirty="0" smtClean="0"/>
          </a:p>
          <a:p>
            <a:pPr>
              <a:lnSpc>
                <a:spcPct val="150000"/>
              </a:lnSpc>
            </a:pPr>
            <a:r>
              <a:rPr lang="zh-CN" altLang="en-US" dirty="0" smtClean="0"/>
              <a:t>中断除能寄存器共有</a:t>
            </a:r>
            <a:r>
              <a:rPr lang="en-US" altLang="zh-CN" dirty="0" smtClean="0"/>
              <a:t>8</a:t>
            </a:r>
            <a:r>
              <a:rPr lang="zh-CN" altLang="en-US" dirty="0" smtClean="0"/>
              <a:t>个，</a:t>
            </a:r>
            <a:r>
              <a:rPr lang="en-US" altLang="zh-CN" dirty="0" smtClean="0"/>
              <a:t>ICER[0]</a:t>
            </a:r>
            <a:r>
              <a:rPr lang="zh-CN" altLang="en-US" dirty="0" smtClean="0"/>
              <a:t>设置</a:t>
            </a:r>
            <a:r>
              <a:rPr lang="en-US" altLang="zh-CN" dirty="0" smtClean="0"/>
              <a:t>0~31</a:t>
            </a:r>
            <a:r>
              <a:rPr lang="zh-CN" altLang="en-US" dirty="0" smtClean="0"/>
              <a:t>号中断除能，</a:t>
            </a:r>
            <a:r>
              <a:rPr lang="en-US" altLang="zh-CN" dirty="0" smtClean="0"/>
              <a:t>ICER[1]</a:t>
            </a:r>
            <a:r>
              <a:rPr lang="zh-CN" altLang="en-US" dirty="0" smtClean="0"/>
              <a:t>设置</a:t>
            </a:r>
            <a:r>
              <a:rPr lang="en-US" altLang="zh-CN" dirty="0" smtClean="0"/>
              <a:t>32~63</a:t>
            </a:r>
            <a:r>
              <a:rPr lang="zh-CN" altLang="en-US" dirty="0" smtClean="0"/>
              <a:t>号中断的除能，如此类推。</a:t>
            </a:r>
            <a:endParaRPr lang="en-US" altLang="zh-CN" dirty="0" smtClean="0"/>
          </a:p>
          <a:p>
            <a:pPr>
              <a:lnSpc>
                <a:spcPct val="150000"/>
              </a:lnSpc>
              <a:buClr>
                <a:srgbClr val="C00000"/>
              </a:buClr>
              <a:buFont typeface="Wingdings" pitchFamily="2" charset="2"/>
              <a:buChar char="u"/>
            </a:pPr>
            <a:r>
              <a:rPr lang="zh-CN" altLang="en-US" b="1" dirty="0" smtClean="0"/>
              <a:t>中断激活位寄存器</a:t>
            </a:r>
            <a:r>
              <a:rPr lang="en-US" b="1" dirty="0" smtClean="0"/>
              <a:t>NVIC_IABR[8]</a:t>
            </a:r>
          </a:p>
          <a:p>
            <a:pPr>
              <a:lnSpc>
                <a:spcPct val="150000"/>
              </a:lnSpc>
            </a:pPr>
            <a:r>
              <a:rPr lang="zh-CN" altLang="en-US" dirty="0" smtClean="0"/>
              <a:t>相应的中断的状态是作为一个活跃或正被挂起的，读该位将会读出</a:t>
            </a:r>
            <a:r>
              <a:rPr lang="en-US" altLang="zh-CN" dirty="0" smtClean="0"/>
              <a:t>1</a:t>
            </a:r>
            <a:r>
              <a:rPr lang="zh-CN" altLang="en-US" dirty="0" smtClean="0"/>
              <a:t>。</a:t>
            </a:r>
            <a:endParaRPr lang="en-US" altLang="zh-CN" dirty="0" smtClean="0"/>
          </a:p>
          <a:p>
            <a:pPr>
              <a:lnSpc>
                <a:spcPct val="150000"/>
              </a:lnSpc>
              <a:buClr>
                <a:srgbClr val="C00000"/>
              </a:buClr>
              <a:buFont typeface="Wingdings" pitchFamily="2" charset="2"/>
              <a:buChar char="u"/>
            </a:pPr>
            <a:r>
              <a:rPr lang="zh-CN" altLang="en-US" b="1" dirty="0" smtClean="0"/>
              <a:t>中断优先级寄存器</a:t>
            </a:r>
            <a:r>
              <a:rPr lang="en-US" altLang="zh-CN" b="1" dirty="0" smtClean="0"/>
              <a:t>NVIC_IPR[60]</a:t>
            </a:r>
          </a:p>
          <a:p>
            <a:pPr>
              <a:lnSpc>
                <a:spcPct val="150000"/>
              </a:lnSpc>
            </a:pPr>
            <a:endParaRPr lang="zh-CN" altLang="en-US" dirty="0" smtClean="0"/>
          </a:p>
          <a:p>
            <a:pPr>
              <a:lnSpc>
                <a:spcPct val="150000"/>
              </a:lnSpc>
            </a:pPr>
            <a:r>
              <a:rPr lang="zh-CN" altLang="en-US" dirty="0" smtClean="0"/>
              <a:t/>
            </a:r>
            <a:br>
              <a:rPr lang="zh-CN" altLang="en-US" dirty="0" smtClean="0"/>
            </a:b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15716" y="940446"/>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6.3.2 STM32</a:t>
            </a:r>
            <a:r>
              <a:rPr lang="zh-CN" altLang="en-US" sz="2800" b="1" dirty="0" smtClean="0">
                <a:solidFill>
                  <a:srgbClr val="14529E"/>
                </a:solidFill>
              </a:rPr>
              <a:t>中断优先级</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smtClean="0">
              <a:solidFill>
                <a:srgbClr val="C00000"/>
              </a:solidFill>
            </a:endParaRPr>
          </a:p>
        </p:txBody>
      </p:sp>
      <p:sp>
        <p:nvSpPr>
          <p:cNvPr id="9" name="矩形 8"/>
          <p:cNvSpPr/>
          <p:nvPr/>
        </p:nvSpPr>
        <p:spPr>
          <a:xfrm>
            <a:off x="612710" y="1004731"/>
            <a:ext cx="10779967" cy="5853269"/>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smtClean="0"/>
              <a:t> </a:t>
            </a:r>
            <a:r>
              <a:rPr lang="en-US" altLang="zh-CN" dirty="0" smtClean="0"/>
              <a:t>STM32</a:t>
            </a:r>
            <a:r>
              <a:rPr lang="zh-CN" altLang="en-US" dirty="0" smtClean="0"/>
              <a:t>（</a:t>
            </a:r>
            <a:r>
              <a:rPr lang="en-US" altLang="zh-CN" dirty="0" smtClean="0"/>
              <a:t>Cortex-M3</a:t>
            </a:r>
            <a:r>
              <a:rPr lang="zh-CN" altLang="en-US" dirty="0" smtClean="0"/>
              <a:t>）中有两个优先级的概念：</a:t>
            </a:r>
            <a:r>
              <a:rPr lang="zh-CN" altLang="en-US" b="1" u="sng" dirty="0" smtClean="0"/>
              <a:t>抢占式优先级</a:t>
            </a:r>
            <a:r>
              <a:rPr lang="zh-CN" altLang="en-US" dirty="0" smtClean="0"/>
              <a:t>和</a:t>
            </a:r>
            <a:r>
              <a:rPr lang="zh-CN" altLang="en-US" b="1" u="sng" dirty="0" smtClean="0"/>
              <a:t>响应优先级</a:t>
            </a:r>
            <a:r>
              <a:rPr lang="zh-CN" altLang="en-US" dirty="0" smtClean="0"/>
              <a:t>，也把响应优先级称作“亚优先级”或“副优先级”，每个中断源都需要被指定这两种优先级。</a:t>
            </a:r>
            <a:endParaRPr lang="en-US" altLang="zh-CN" dirty="0" smtClean="0"/>
          </a:p>
          <a:p>
            <a:pPr>
              <a:lnSpc>
                <a:spcPct val="150000"/>
              </a:lnSpc>
              <a:buClr>
                <a:srgbClr val="C00000"/>
              </a:buClr>
              <a:buFont typeface="Wingdings" pitchFamily="2" charset="2"/>
              <a:buChar char="u"/>
            </a:pPr>
            <a:r>
              <a:rPr lang="zh-CN" altLang="en-US" b="1" dirty="0" smtClean="0"/>
              <a:t>占先式优先级（</a:t>
            </a:r>
            <a:r>
              <a:rPr lang="en-US" altLang="zh-CN" b="1" dirty="0" smtClean="0"/>
              <a:t>pre-emption priority</a:t>
            </a:r>
            <a:r>
              <a:rPr lang="zh-CN" altLang="en-US" b="1" dirty="0" smtClean="0"/>
              <a:t>）</a:t>
            </a:r>
            <a:endParaRPr lang="zh-CN" altLang="en-US" dirty="0" smtClean="0"/>
          </a:p>
          <a:p>
            <a:pPr>
              <a:lnSpc>
                <a:spcPct val="150000"/>
              </a:lnSpc>
            </a:pPr>
            <a:r>
              <a:rPr lang="zh-CN" altLang="en-US" dirty="0" smtClean="0"/>
              <a:t>    高占先式优先级的中断事件会打断当前的主程序</a:t>
            </a:r>
            <a:r>
              <a:rPr lang="en-US" altLang="zh-CN" dirty="0" smtClean="0"/>
              <a:t>/</a:t>
            </a:r>
            <a:r>
              <a:rPr lang="zh-CN" altLang="en-US" dirty="0" smtClean="0"/>
              <a:t>中断程序运行</a:t>
            </a:r>
            <a:r>
              <a:rPr lang="en-US" altLang="zh-CN" dirty="0" smtClean="0"/>
              <a:t>—</a:t>
            </a:r>
            <a:r>
              <a:rPr lang="zh-CN" altLang="en-US" dirty="0" smtClean="0"/>
              <a:t>抢断式优先响应，俗称中断嵌套。</a:t>
            </a:r>
          </a:p>
          <a:p>
            <a:pPr>
              <a:lnSpc>
                <a:spcPct val="150000"/>
              </a:lnSpc>
              <a:buClr>
                <a:srgbClr val="C00000"/>
              </a:buClr>
              <a:buFont typeface="Wingdings" pitchFamily="2" charset="2"/>
              <a:buChar char="u"/>
            </a:pPr>
            <a:r>
              <a:rPr lang="zh-CN" altLang="en-US" b="1" dirty="0" smtClean="0"/>
              <a:t>副优先级（</a:t>
            </a:r>
            <a:r>
              <a:rPr lang="en-US" altLang="zh-CN" b="1" dirty="0" err="1" smtClean="0"/>
              <a:t>subpriority</a:t>
            </a:r>
            <a:r>
              <a:rPr lang="zh-CN" altLang="en-US" b="1" dirty="0" smtClean="0"/>
              <a:t>）</a:t>
            </a:r>
            <a:endParaRPr lang="zh-CN" altLang="en-US" dirty="0" smtClean="0"/>
          </a:p>
          <a:p>
            <a:pPr>
              <a:lnSpc>
                <a:spcPct val="150000"/>
              </a:lnSpc>
            </a:pPr>
            <a:r>
              <a:rPr lang="zh-CN" altLang="en-US" dirty="0" smtClean="0"/>
              <a:t>    在占先式优先级相同的情况下，高副优先级的中断优先被响应；</a:t>
            </a:r>
          </a:p>
          <a:p>
            <a:pPr>
              <a:lnSpc>
                <a:spcPct val="150000"/>
              </a:lnSpc>
            </a:pPr>
            <a:r>
              <a:rPr lang="zh-CN" altLang="en-US" dirty="0" smtClean="0"/>
              <a:t>    在占先式优先级相同的情况下，如果有低副优先级中断正在执行，高副优先级的中断要等待已被响应的低副优先级中断执行结束后才能得到响应</a:t>
            </a:r>
            <a:r>
              <a:rPr lang="en-US" altLang="zh-CN" dirty="0" smtClean="0"/>
              <a:t>—</a:t>
            </a:r>
            <a:r>
              <a:rPr lang="zh-CN" altLang="en-US" dirty="0" smtClean="0"/>
              <a:t>非抢断式响应（不能嵌套）。</a:t>
            </a:r>
            <a:endParaRPr lang="en-US" altLang="zh-CN" dirty="0" smtClean="0"/>
          </a:p>
          <a:p>
            <a:pPr>
              <a:lnSpc>
                <a:spcPct val="150000"/>
              </a:lnSpc>
              <a:buClr>
                <a:srgbClr val="C00000"/>
              </a:buClr>
              <a:buFont typeface="Wingdings" pitchFamily="2" charset="2"/>
              <a:buChar char="u"/>
            </a:pPr>
            <a:r>
              <a:rPr lang="zh-CN" altLang="en-US" dirty="0" smtClean="0"/>
              <a:t>当相同占先优先级和相同副优先级的中断同时申请服务时，首先响应中断通道锁对应的中断向量地址低的那个中断。</a:t>
            </a:r>
            <a:endParaRPr lang="en-US" altLang="zh-CN" dirty="0" smtClean="0"/>
          </a:p>
          <a:p>
            <a:pPr>
              <a:lnSpc>
                <a:spcPct val="150000"/>
              </a:lnSpc>
              <a:buClr>
                <a:srgbClr val="C00000"/>
              </a:buClr>
              <a:buFont typeface="Wingdings" pitchFamily="2" charset="2"/>
              <a:buChar char="u"/>
            </a:pPr>
            <a:r>
              <a:rPr lang="zh-CN" altLang="en-US" dirty="0" smtClean="0"/>
              <a:t>说明：</a:t>
            </a:r>
            <a:endParaRPr lang="en-US" altLang="zh-CN" dirty="0" smtClean="0"/>
          </a:p>
          <a:p>
            <a:pPr>
              <a:lnSpc>
                <a:spcPct val="150000"/>
              </a:lnSpc>
            </a:pPr>
            <a:r>
              <a:rPr lang="zh-CN" altLang="en-US" dirty="0" smtClean="0"/>
              <a:t>      中断优先级的概念是针对“中断通道”的，当中断通道的优先级确定后，该中断通道对应的所有中断源都享有相同的中断优先级。至于该中断通道对应的多个中断源的执行顺序，取决于用户的中断服务程序。</a:t>
            </a:r>
          </a:p>
          <a:p>
            <a:pPr>
              <a:lnSpc>
                <a:spcPct val="150000"/>
              </a:lnSpc>
              <a:buClr>
                <a:srgbClr val="C00000"/>
              </a:buClr>
              <a:buFont typeface="Wingdings" pitchFamily="2" charset="2"/>
              <a:buChar char="u"/>
            </a:pP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94048" y="893335"/>
            <a:ext cx="10901265" cy="3970318"/>
          </a:xfrm>
          <a:prstGeom prst="rect">
            <a:avLst/>
          </a:prstGeom>
        </p:spPr>
        <p:txBody>
          <a:bodyPr wrap="square">
            <a:spAutoFit/>
          </a:bodyPr>
          <a:lstStyle/>
          <a:p>
            <a:pPr>
              <a:lnSpc>
                <a:spcPct val="150000"/>
              </a:lnSpc>
            </a:pPr>
            <a:r>
              <a:rPr lang="zh-CN" altLang="en-US" sz="2400" b="1" dirty="0" smtClean="0">
                <a:solidFill>
                  <a:srgbClr val="FF0000"/>
                </a:solidFill>
              </a:rPr>
              <a:t>中断通道：</a:t>
            </a:r>
            <a:r>
              <a:rPr lang="zh-CN" altLang="en-US" sz="2400" dirty="0" smtClean="0"/>
              <a:t>因为尽管每个中断对应一个外围设备，但该外围设备通常具备若干个可以引起中断的中断源或中断事件</a:t>
            </a:r>
            <a:r>
              <a:rPr lang="en-US" altLang="zh-CN" sz="2400" b="1" dirty="0" smtClean="0">
                <a:solidFill>
                  <a:srgbClr val="FFC000"/>
                </a:solidFill>
              </a:rPr>
              <a:t>[</a:t>
            </a:r>
            <a:r>
              <a:rPr lang="zh-CN" altLang="en-US" sz="2400" b="1" dirty="0" smtClean="0">
                <a:solidFill>
                  <a:srgbClr val="FFC000"/>
                </a:solidFill>
              </a:rPr>
              <a:t>外围设备与中断源的关系为</a:t>
            </a:r>
            <a:r>
              <a:rPr lang="en-US" altLang="zh-CN" sz="2400" b="1" dirty="0" smtClean="0">
                <a:solidFill>
                  <a:srgbClr val="FFC000"/>
                </a:solidFill>
              </a:rPr>
              <a:t>1</a:t>
            </a:r>
            <a:r>
              <a:rPr lang="zh-CN" altLang="en-US" sz="2400" b="1" dirty="0" smtClean="0">
                <a:solidFill>
                  <a:srgbClr val="FFC000"/>
                </a:solidFill>
              </a:rPr>
              <a:t>对</a:t>
            </a:r>
            <a:r>
              <a:rPr lang="en-US" altLang="zh-CN" sz="2400" b="1" dirty="0" smtClean="0">
                <a:solidFill>
                  <a:srgbClr val="FFC000"/>
                </a:solidFill>
              </a:rPr>
              <a:t>N]</a:t>
            </a:r>
            <a:r>
              <a:rPr lang="zh-CN" altLang="en-US" sz="2400" dirty="0" smtClean="0"/>
              <a:t>。而该设备的所有的中断都只能通过该指定的“中断通道”向内核申请中断。因此，关于中断优先级的概念都是针对“中断通道”的。</a:t>
            </a:r>
            <a:r>
              <a:rPr lang="zh-CN" altLang="en-US" sz="2400" b="1" dirty="0" smtClean="0"/>
              <a:t>当该中断通道的优先级确定后，也就确定了该外围设备的中断优先级，并且该设备所能产生的所有类型的中断，都享有相同的通道中断优先级。至于该设备本身产生的多个中断的执行顺序，则取决于用户的中断服务程序。</a:t>
            </a:r>
            <a:endParaRPr lang="zh-CN"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1886" y="679304"/>
            <a:ext cx="10972800" cy="5022272"/>
          </a:xfrm>
          <a:prstGeom prst="rect">
            <a:avLst/>
          </a:prstGeom>
        </p:spPr>
        <p:txBody>
          <a:bodyPr wrap="square">
            <a:spAutoFit/>
          </a:bodyPr>
          <a:lstStyle/>
          <a:p>
            <a:pPr>
              <a:lnSpc>
                <a:spcPct val="150000"/>
              </a:lnSpc>
              <a:buClr>
                <a:srgbClr val="C00000"/>
              </a:buClr>
              <a:buFont typeface="Wingdings" pitchFamily="2" charset="2"/>
              <a:buChar char="u"/>
            </a:pPr>
            <a:r>
              <a:rPr lang="en-US" altLang="zh-CN" dirty="0" smtClean="0"/>
              <a:t>Cortex-M3</a:t>
            </a:r>
            <a:r>
              <a:rPr lang="zh-CN" altLang="en-US" dirty="0" smtClean="0"/>
              <a:t>内核支持</a:t>
            </a:r>
            <a:r>
              <a:rPr lang="en-US" altLang="zh-CN" dirty="0" smtClean="0"/>
              <a:t>256</a:t>
            </a:r>
            <a:r>
              <a:rPr lang="zh-CN" altLang="en-US" dirty="0" smtClean="0"/>
              <a:t>个中断，其中包含了</a:t>
            </a:r>
            <a:r>
              <a:rPr lang="en-US" altLang="zh-CN" dirty="0" smtClean="0"/>
              <a:t>16</a:t>
            </a:r>
            <a:r>
              <a:rPr lang="zh-CN" altLang="en-US" dirty="0" smtClean="0"/>
              <a:t>个内核中断（异常）和</a:t>
            </a:r>
            <a:r>
              <a:rPr lang="en-US" altLang="zh-CN" dirty="0" smtClean="0"/>
              <a:t>240</a:t>
            </a:r>
            <a:r>
              <a:rPr lang="zh-CN" altLang="en-US" dirty="0" smtClean="0"/>
              <a:t>个外部中断，并且具有</a:t>
            </a:r>
            <a:r>
              <a:rPr lang="en-US" altLang="zh-CN" dirty="0" smtClean="0"/>
              <a:t>256</a:t>
            </a:r>
            <a:r>
              <a:rPr lang="zh-CN" altLang="en-US" dirty="0" smtClean="0"/>
              <a:t>级的可编程中断设置。但是，</a:t>
            </a:r>
            <a:r>
              <a:rPr lang="en-US" altLang="zh-CN" dirty="0" smtClean="0"/>
              <a:t>STM32</a:t>
            </a:r>
            <a:r>
              <a:rPr lang="zh-CN" altLang="en-US" dirty="0" smtClean="0"/>
              <a:t>并没有使用</a:t>
            </a:r>
            <a:r>
              <a:rPr lang="en-US" altLang="zh-CN" dirty="0" smtClean="0"/>
              <a:t>CM3</a:t>
            </a:r>
            <a:r>
              <a:rPr lang="zh-CN" altLang="en-US" dirty="0" smtClean="0"/>
              <a:t>内核的全部东西，而是只用了它的一部分。</a:t>
            </a:r>
            <a:r>
              <a:rPr lang="en-US" altLang="zh-CN" dirty="0" smtClean="0"/>
              <a:t>STM32</a:t>
            </a:r>
            <a:r>
              <a:rPr lang="zh-CN" altLang="en-US" dirty="0" smtClean="0"/>
              <a:t>有</a:t>
            </a:r>
            <a:r>
              <a:rPr lang="en-US" altLang="zh-CN" dirty="0" smtClean="0"/>
              <a:t>84</a:t>
            </a:r>
            <a:r>
              <a:rPr lang="zh-CN" altLang="en-US" dirty="0" smtClean="0"/>
              <a:t>个中断，包括</a:t>
            </a:r>
            <a:r>
              <a:rPr lang="en-US" altLang="zh-CN" dirty="0" smtClean="0"/>
              <a:t>15</a:t>
            </a:r>
            <a:r>
              <a:rPr lang="zh-CN" altLang="en-US" dirty="0" smtClean="0"/>
              <a:t>个内核中断（异常）和</a:t>
            </a:r>
            <a:r>
              <a:rPr lang="en-US" altLang="zh-CN" dirty="0" smtClean="0"/>
              <a:t>68</a:t>
            </a:r>
            <a:r>
              <a:rPr lang="zh-CN" altLang="en-US" dirty="0" smtClean="0"/>
              <a:t>个可屏蔽中断，具有</a:t>
            </a:r>
            <a:r>
              <a:rPr lang="en-US" altLang="zh-CN" dirty="0" smtClean="0"/>
              <a:t>16</a:t>
            </a:r>
            <a:r>
              <a:rPr lang="zh-CN" altLang="en-US" dirty="0" smtClean="0"/>
              <a:t>级可编程的中断优先级。而</a:t>
            </a:r>
            <a:r>
              <a:rPr lang="en-US" altLang="zh-CN" dirty="0" smtClean="0"/>
              <a:t>STM32F103</a:t>
            </a:r>
            <a:r>
              <a:rPr lang="zh-CN" altLang="en-US" dirty="0" smtClean="0"/>
              <a:t>系列上面，</a:t>
            </a:r>
            <a:r>
              <a:rPr lang="en-US" altLang="zh-CN" dirty="0" smtClean="0"/>
              <a:t>15</a:t>
            </a:r>
            <a:r>
              <a:rPr lang="zh-CN" altLang="en-US" dirty="0" smtClean="0"/>
              <a:t>个内核中断（异常）不变，而可屏蔽中断只有</a:t>
            </a:r>
            <a:r>
              <a:rPr lang="en-US" altLang="zh-CN" dirty="0" smtClean="0"/>
              <a:t>60</a:t>
            </a:r>
            <a:r>
              <a:rPr lang="zh-CN" altLang="en-US" dirty="0" smtClean="0"/>
              <a:t>个（在</a:t>
            </a:r>
            <a:r>
              <a:rPr lang="en-US" altLang="zh-CN" dirty="0" smtClean="0"/>
              <a:t>107</a:t>
            </a:r>
            <a:r>
              <a:rPr lang="zh-CN" altLang="en-US" dirty="0" smtClean="0"/>
              <a:t>系列才有</a:t>
            </a:r>
            <a:r>
              <a:rPr lang="en-US" altLang="zh-CN" dirty="0" smtClean="0"/>
              <a:t>68</a:t>
            </a:r>
            <a:r>
              <a:rPr lang="zh-CN" altLang="en-US" dirty="0" smtClean="0"/>
              <a:t>个）。</a:t>
            </a:r>
            <a:endParaRPr lang="en-US" altLang="zh-CN" dirty="0" smtClean="0"/>
          </a:p>
          <a:p>
            <a:pPr>
              <a:lnSpc>
                <a:spcPct val="150000"/>
              </a:lnSpc>
              <a:buClr>
                <a:srgbClr val="C00000"/>
              </a:buClr>
              <a:buFont typeface="Wingdings" pitchFamily="2" charset="2"/>
              <a:buChar char="u"/>
            </a:pPr>
            <a:r>
              <a:rPr lang="en-US" altLang="zh-CN" dirty="0" smtClean="0"/>
              <a:t>IP</a:t>
            </a:r>
            <a:r>
              <a:rPr lang="zh-CN" altLang="en-US" dirty="0" smtClean="0"/>
              <a:t>寄存器组长度为</a:t>
            </a:r>
            <a:r>
              <a:rPr lang="en-US" altLang="zh-CN" dirty="0" smtClean="0"/>
              <a:t>240</a:t>
            </a:r>
            <a:r>
              <a:rPr lang="zh-CN" altLang="en-US" dirty="0" smtClean="0"/>
              <a:t>，这个寄存器为</a:t>
            </a:r>
            <a:r>
              <a:rPr lang="en-US" altLang="zh-CN" dirty="0" smtClean="0"/>
              <a:t>8</a:t>
            </a:r>
            <a:r>
              <a:rPr lang="zh-CN" altLang="en-US" dirty="0" smtClean="0"/>
              <a:t>位寄存器。</a:t>
            </a:r>
            <a:r>
              <a:rPr lang="en-US" altLang="zh-CN" dirty="0" smtClean="0"/>
              <a:t>240</a:t>
            </a:r>
            <a:r>
              <a:rPr lang="zh-CN" altLang="en-US" dirty="0" smtClean="0"/>
              <a:t>个</a:t>
            </a:r>
            <a:r>
              <a:rPr lang="en-US" altLang="zh-CN" dirty="0" smtClean="0"/>
              <a:t>8</a:t>
            </a:r>
            <a:r>
              <a:rPr lang="zh-CN" altLang="en-US" dirty="0" smtClean="0"/>
              <a:t>位寄存器，每个中断使用一个寄存器来确定优先级。由于</a:t>
            </a:r>
            <a:r>
              <a:rPr lang="en-US" altLang="zh-CN" dirty="0" smtClean="0"/>
              <a:t>CM3</a:t>
            </a:r>
            <a:r>
              <a:rPr lang="zh-CN" altLang="en-US" dirty="0" smtClean="0"/>
              <a:t>由</a:t>
            </a:r>
            <a:r>
              <a:rPr lang="en-US" altLang="zh-CN" dirty="0" smtClean="0"/>
              <a:t>240</a:t>
            </a:r>
            <a:r>
              <a:rPr lang="zh-CN" altLang="en-US" dirty="0" smtClean="0"/>
              <a:t>个外部中断，所以这个寄存器组的数目就是</a:t>
            </a:r>
            <a:r>
              <a:rPr lang="en-US" altLang="zh-CN" dirty="0" smtClean="0"/>
              <a:t>240</a:t>
            </a:r>
            <a:r>
              <a:rPr lang="zh-CN" altLang="en-US" dirty="0" smtClean="0"/>
              <a:t>（注意与上面寄存器的区别，一个是一个寄存器控制一个，一个是一位控制一个）。</a:t>
            </a:r>
          </a:p>
          <a:p>
            <a:pPr>
              <a:lnSpc>
                <a:spcPct val="150000"/>
              </a:lnSpc>
              <a:buClr>
                <a:srgbClr val="C00000"/>
              </a:buClr>
              <a:buFont typeface="Wingdings" pitchFamily="2" charset="2"/>
              <a:buChar char="u"/>
            </a:pPr>
            <a:r>
              <a:rPr lang="en-US" altLang="zh-CN" dirty="0" smtClean="0"/>
              <a:t>IP[240]</a:t>
            </a:r>
            <a:r>
              <a:rPr lang="zh-CN" altLang="en-US" dirty="0" smtClean="0"/>
              <a:t>（</a:t>
            </a:r>
            <a:r>
              <a:rPr lang="en-US" altLang="zh-CN" dirty="0" smtClean="0"/>
              <a:t>Interrupt Priority Registers</a:t>
            </a:r>
            <a:r>
              <a:rPr lang="zh-CN" altLang="en-US" dirty="0" smtClean="0"/>
              <a:t>）：中断优先级控制的寄存器。这是用来控制每个中断的优先级。由于</a:t>
            </a:r>
            <a:r>
              <a:rPr lang="en-US" altLang="zh-CN" dirty="0" smtClean="0"/>
              <a:t>STM32F10x</a:t>
            </a:r>
            <a:r>
              <a:rPr lang="zh-CN" altLang="en-US" dirty="0" smtClean="0"/>
              <a:t>系列一共</a:t>
            </a:r>
            <a:r>
              <a:rPr lang="en-US" altLang="zh-CN" dirty="0" smtClean="0"/>
              <a:t>60</a:t>
            </a:r>
            <a:r>
              <a:rPr lang="zh-CN" altLang="en-US" dirty="0" smtClean="0"/>
              <a:t>个可屏蔽中断，故使用</a:t>
            </a:r>
            <a:r>
              <a:rPr lang="en-US" altLang="zh-CN" dirty="0" smtClean="0"/>
              <a:t>IP[59]~IP[0]</a:t>
            </a:r>
            <a:r>
              <a:rPr lang="zh-CN" altLang="en-US" dirty="0" smtClean="0"/>
              <a:t>。其中每个</a:t>
            </a:r>
            <a:r>
              <a:rPr lang="en-US" altLang="zh-CN" dirty="0" smtClean="0"/>
              <a:t>IP</a:t>
            </a:r>
            <a:r>
              <a:rPr lang="zh-CN" altLang="en-US" dirty="0" smtClean="0"/>
              <a:t>寄存器的高</a:t>
            </a:r>
            <a:r>
              <a:rPr lang="en-US" altLang="zh-CN" dirty="0" smtClean="0"/>
              <a:t>4</a:t>
            </a:r>
            <a:r>
              <a:rPr lang="zh-CN" altLang="en-US" dirty="0" smtClean="0"/>
              <a:t>位</a:t>
            </a:r>
            <a:r>
              <a:rPr lang="en-US" altLang="zh-CN" dirty="0" smtClean="0"/>
              <a:t>[7:4]</a:t>
            </a:r>
            <a:r>
              <a:rPr lang="zh-CN" altLang="en-US" dirty="0" smtClean="0"/>
              <a:t>用来设置抢占和响应优先级（根据分组），低</a:t>
            </a:r>
            <a:r>
              <a:rPr lang="en-US" altLang="zh-CN" dirty="0" smtClean="0"/>
              <a:t>4</a:t>
            </a:r>
            <a:r>
              <a:rPr lang="zh-CN" altLang="en-US" dirty="0" smtClean="0"/>
              <a:t>位没有用到。而两个优先级各占几个位又要由上面讲到的中断优先级分组决定。</a:t>
            </a:r>
          </a:p>
          <a:p>
            <a:pPr>
              <a:lnSpc>
                <a:spcPct val="150000"/>
              </a:lnSpc>
            </a:pP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91886" y="679304"/>
            <a:ext cx="10972800" cy="5909310"/>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smtClean="0"/>
              <a:t> </a:t>
            </a:r>
            <a:r>
              <a:rPr lang="en-US" altLang="zh-CN" dirty="0" smtClean="0"/>
              <a:t>STM32 </a:t>
            </a:r>
            <a:r>
              <a:rPr lang="zh-CN" altLang="en-US" dirty="0" smtClean="0"/>
              <a:t>可以支持的 </a:t>
            </a:r>
            <a:r>
              <a:rPr lang="en-US" altLang="zh-CN" dirty="0" smtClean="0"/>
              <a:t>68 </a:t>
            </a:r>
            <a:r>
              <a:rPr lang="zh-CN" altLang="en-US" dirty="0" smtClean="0"/>
              <a:t>个外部中断通道，已经固定的分配给相应的外部设备。每个中断 通道都具备自己的中断优先级控制字节 </a:t>
            </a:r>
            <a:r>
              <a:rPr lang="en-US" altLang="zh-CN" dirty="0" err="1" smtClean="0"/>
              <a:t>PRI_n</a:t>
            </a:r>
            <a:r>
              <a:rPr lang="zh-CN" altLang="en-US" dirty="0" smtClean="0"/>
              <a:t>（</a:t>
            </a:r>
            <a:r>
              <a:rPr lang="en-US" altLang="zh-CN" dirty="0" smtClean="0"/>
              <a:t>8 </a:t>
            </a:r>
            <a:r>
              <a:rPr lang="zh-CN" altLang="en-US" dirty="0" smtClean="0"/>
              <a:t>位，但在 </a:t>
            </a:r>
            <a:r>
              <a:rPr lang="en-US" altLang="zh-CN" dirty="0" smtClean="0"/>
              <a:t>STM32 </a:t>
            </a:r>
            <a:r>
              <a:rPr lang="zh-CN" altLang="en-US" dirty="0" smtClean="0"/>
              <a:t>中只使用 </a:t>
            </a:r>
            <a:r>
              <a:rPr lang="en-US" altLang="zh-CN" dirty="0" smtClean="0"/>
              <a:t>4 </a:t>
            </a:r>
            <a:r>
              <a:rPr lang="zh-CN" altLang="en-US" dirty="0" smtClean="0"/>
              <a:t>位，高 </a:t>
            </a:r>
            <a:r>
              <a:rPr lang="en-US" altLang="zh-CN" dirty="0" smtClean="0"/>
              <a:t>4 </a:t>
            </a:r>
            <a:r>
              <a:rPr lang="zh-CN" altLang="en-US" dirty="0" smtClean="0"/>
              <a:t>位有 效），每 </a:t>
            </a:r>
            <a:r>
              <a:rPr lang="en-US" altLang="zh-CN" dirty="0" smtClean="0"/>
              <a:t>4 </a:t>
            </a:r>
            <a:r>
              <a:rPr lang="zh-CN" altLang="en-US" dirty="0" smtClean="0"/>
              <a:t>个通道的 </a:t>
            </a:r>
            <a:r>
              <a:rPr lang="en-US" altLang="zh-CN" dirty="0" smtClean="0"/>
              <a:t>8 </a:t>
            </a:r>
            <a:r>
              <a:rPr lang="zh-CN" altLang="en-US" dirty="0" smtClean="0"/>
              <a:t>位中断优先级控制字（</a:t>
            </a:r>
            <a:r>
              <a:rPr lang="en-US" altLang="zh-CN" dirty="0" err="1" smtClean="0"/>
              <a:t>PRI_n</a:t>
            </a:r>
            <a:r>
              <a:rPr lang="zh-CN" altLang="en-US" dirty="0" smtClean="0"/>
              <a:t>）构成一个 </a:t>
            </a:r>
            <a:r>
              <a:rPr lang="en-US" altLang="zh-CN" dirty="0" smtClean="0"/>
              <a:t>32 </a:t>
            </a:r>
            <a:r>
              <a:rPr lang="zh-CN" altLang="en-US" dirty="0" smtClean="0"/>
              <a:t>位的优先级寄存器（</a:t>
            </a:r>
            <a:r>
              <a:rPr lang="en-US" altLang="zh-CN" dirty="0" smtClean="0"/>
              <a:t>Priority Register</a:t>
            </a:r>
            <a:r>
              <a:rPr lang="zh-CN" altLang="en-US" dirty="0" smtClean="0"/>
              <a:t>）。</a:t>
            </a:r>
            <a:r>
              <a:rPr lang="en-US" altLang="zh-CN" dirty="0" smtClean="0"/>
              <a:t>68 </a:t>
            </a:r>
            <a:r>
              <a:rPr lang="zh-CN" altLang="en-US" dirty="0" smtClean="0"/>
              <a:t>个通道的优先级控制字至少构成 </a:t>
            </a:r>
            <a:r>
              <a:rPr lang="en-US" altLang="zh-CN" dirty="0" smtClean="0"/>
              <a:t>17 </a:t>
            </a:r>
            <a:r>
              <a:rPr lang="zh-CN" altLang="en-US" dirty="0" smtClean="0"/>
              <a:t>个 </a:t>
            </a:r>
            <a:r>
              <a:rPr lang="en-US" altLang="zh-CN" dirty="0" smtClean="0"/>
              <a:t>32 </a:t>
            </a:r>
            <a:r>
              <a:rPr lang="zh-CN" altLang="en-US" dirty="0" smtClean="0"/>
              <a:t>位的优先级寄存器，它们是 </a:t>
            </a:r>
            <a:r>
              <a:rPr lang="en-US" altLang="zh-CN" dirty="0" smtClean="0"/>
              <a:t>NVIC </a:t>
            </a:r>
            <a:r>
              <a:rPr lang="zh-CN" altLang="en-US" dirty="0" smtClean="0"/>
              <a:t>寄存器中的一个重要部分。 </a:t>
            </a:r>
            <a:endParaRPr lang="en-US" altLang="zh-CN" dirty="0" smtClean="0"/>
          </a:p>
          <a:p>
            <a:pPr>
              <a:lnSpc>
                <a:spcPct val="150000"/>
              </a:lnSpc>
              <a:buClr>
                <a:srgbClr val="C00000"/>
              </a:buClr>
              <a:buFont typeface="Wingdings" pitchFamily="2" charset="2"/>
              <a:buChar char="u"/>
            </a:pPr>
            <a:r>
              <a:rPr lang="zh-CN" altLang="en-US" dirty="0" smtClean="0"/>
              <a:t>对于这 </a:t>
            </a:r>
            <a:r>
              <a:rPr lang="en-US" altLang="zh-CN" dirty="0" smtClean="0"/>
              <a:t>4bit </a:t>
            </a:r>
            <a:r>
              <a:rPr lang="zh-CN" altLang="en-US" dirty="0" smtClean="0"/>
              <a:t>的中断优先级控制位还必须分成 </a:t>
            </a:r>
            <a:r>
              <a:rPr lang="en-US" altLang="zh-CN" dirty="0" smtClean="0"/>
              <a:t>2 </a:t>
            </a:r>
            <a:r>
              <a:rPr lang="zh-CN" altLang="en-US" dirty="0" smtClean="0"/>
              <a:t>组看：从高位开始，前面是定义抢先式优 先级的位，后面用于定义子优先级。</a:t>
            </a:r>
            <a:r>
              <a:rPr lang="en-US" altLang="zh-CN" dirty="0" smtClean="0"/>
              <a:t>4bit </a:t>
            </a:r>
            <a:r>
              <a:rPr lang="zh-CN" altLang="en-US" dirty="0" smtClean="0"/>
              <a:t>的分组组合可以有以下几种形式：</a:t>
            </a:r>
            <a:endParaRPr lang="en-US" altLang="zh-CN" dirty="0" smtClean="0"/>
          </a:p>
          <a:p>
            <a:pPr>
              <a:lnSpc>
                <a:spcPct val="150000"/>
              </a:lnSpc>
              <a:buClr>
                <a:srgbClr val="C00000"/>
              </a:buClr>
              <a:buFont typeface="Wingdings" pitchFamily="2" charset="2"/>
              <a:buChar char="u"/>
            </a:pPr>
            <a:endParaRPr lang="en-US" altLang="zh-CN" dirty="0" smtClean="0"/>
          </a:p>
          <a:p>
            <a:pPr>
              <a:lnSpc>
                <a:spcPct val="150000"/>
              </a:lnSpc>
              <a:buClr>
                <a:srgbClr val="C00000"/>
              </a:buClr>
              <a:buFont typeface="Wingdings" pitchFamily="2" charset="2"/>
              <a:buChar char="u"/>
            </a:pPr>
            <a:endParaRPr lang="en-US" altLang="zh-CN" dirty="0" smtClean="0"/>
          </a:p>
          <a:p>
            <a:pPr>
              <a:lnSpc>
                <a:spcPct val="150000"/>
              </a:lnSpc>
              <a:buClr>
                <a:srgbClr val="C00000"/>
              </a:buClr>
              <a:buFont typeface="Wingdings" pitchFamily="2" charset="2"/>
              <a:buChar char="u"/>
            </a:pPr>
            <a:endParaRPr lang="en-US" altLang="zh-CN" dirty="0" smtClean="0"/>
          </a:p>
          <a:p>
            <a:pPr>
              <a:lnSpc>
                <a:spcPct val="150000"/>
              </a:lnSpc>
              <a:buClr>
                <a:srgbClr val="C00000"/>
              </a:buClr>
              <a:buFont typeface="Wingdings" pitchFamily="2" charset="2"/>
              <a:buChar char="u"/>
            </a:pPr>
            <a:endParaRPr lang="en-US" altLang="zh-CN" dirty="0" smtClean="0"/>
          </a:p>
          <a:p>
            <a:pPr>
              <a:lnSpc>
                <a:spcPct val="150000"/>
              </a:lnSpc>
              <a:buClr>
                <a:srgbClr val="C00000"/>
              </a:buClr>
              <a:buFont typeface="Wingdings" pitchFamily="2" charset="2"/>
              <a:buChar char="u"/>
            </a:pPr>
            <a:r>
              <a:rPr lang="zh-CN" altLang="en-US" dirty="0" smtClean="0"/>
              <a:t>在一个系统中，通常只使用上面 </a:t>
            </a:r>
            <a:r>
              <a:rPr lang="en-US" altLang="zh-CN" dirty="0" smtClean="0"/>
              <a:t>5 </a:t>
            </a:r>
            <a:r>
              <a:rPr lang="zh-CN" altLang="en-US" dirty="0" smtClean="0"/>
              <a:t>种分配情况的一种，具体采用哪一种，需要在初始化 时写入到一个 </a:t>
            </a:r>
            <a:r>
              <a:rPr lang="en-US" altLang="zh-CN" dirty="0" smtClean="0"/>
              <a:t>32 </a:t>
            </a:r>
            <a:r>
              <a:rPr lang="zh-CN" altLang="en-US" dirty="0" smtClean="0"/>
              <a:t>位寄存器 </a:t>
            </a:r>
            <a:r>
              <a:rPr lang="en-US" dirty="0" err="1" smtClean="0"/>
              <a:t>AIRC（Application</a:t>
            </a:r>
            <a:r>
              <a:rPr lang="en-US" dirty="0" smtClean="0"/>
              <a:t> Interrupt and Reset Control Register）</a:t>
            </a:r>
            <a:br>
              <a:rPr lang="en-US" dirty="0" smtClean="0"/>
            </a:br>
            <a:r>
              <a:rPr lang="zh-CN" altLang="en-US" dirty="0" smtClean="0"/>
              <a:t>的第</a:t>
            </a:r>
            <a:r>
              <a:rPr lang="en-US" altLang="zh-CN" dirty="0" smtClean="0"/>
              <a:t>[10</a:t>
            </a:r>
            <a:r>
              <a:rPr lang="zh-CN" altLang="en-US" dirty="0" smtClean="0"/>
              <a:t>：</a:t>
            </a:r>
            <a:r>
              <a:rPr lang="en-US" altLang="zh-CN" dirty="0" smtClean="0"/>
              <a:t>8]</a:t>
            </a:r>
            <a:r>
              <a:rPr lang="zh-CN" altLang="en-US" dirty="0" smtClean="0"/>
              <a:t>这 </a:t>
            </a:r>
            <a:r>
              <a:rPr lang="en-US" altLang="zh-CN" dirty="0" smtClean="0"/>
              <a:t>3 </a:t>
            </a:r>
            <a:r>
              <a:rPr lang="zh-CN" altLang="en-US" dirty="0" smtClean="0"/>
              <a:t>个位中。比如你将 </a:t>
            </a:r>
            <a:r>
              <a:rPr lang="en-US" altLang="zh-CN" dirty="0" smtClean="0"/>
              <a:t>0</a:t>
            </a:r>
            <a:r>
              <a:rPr lang="en-US" dirty="0" smtClean="0"/>
              <a:t>x05（</a:t>
            </a:r>
            <a:r>
              <a:rPr lang="zh-CN" altLang="en-US" dirty="0" smtClean="0"/>
              <a:t>即上表中的编号）写到 </a:t>
            </a:r>
            <a:r>
              <a:rPr lang="en-US" dirty="0" smtClean="0"/>
              <a:t>AIRC </a:t>
            </a:r>
            <a:r>
              <a:rPr lang="zh-CN" altLang="en-US" dirty="0" smtClean="0"/>
              <a:t>的</a:t>
            </a:r>
            <a:r>
              <a:rPr lang="en-US" altLang="zh-CN" dirty="0" smtClean="0"/>
              <a:t>[10</a:t>
            </a:r>
            <a:r>
              <a:rPr lang="zh-CN" altLang="en-US" dirty="0" smtClean="0"/>
              <a:t>：</a:t>
            </a:r>
            <a:r>
              <a:rPr lang="en-US" altLang="zh-CN" dirty="0" smtClean="0"/>
              <a:t>8]</a:t>
            </a:r>
            <a:r>
              <a:rPr lang="zh-CN" altLang="en-US" dirty="0" smtClean="0"/>
              <a:t>中，那么也就规定了你的系统中只 有 </a:t>
            </a:r>
            <a:r>
              <a:rPr lang="en-US" altLang="zh-CN" dirty="0" smtClean="0"/>
              <a:t>4 </a:t>
            </a:r>
            <a:r>
              <a:rPr lang="zh-CN" altLang="en-US" dirty="0" smtClean="0"/>
              <a:t>个抢先式优先级，相同的抢先式优先级下还可以有 </a:t>
            </a:r>
            <a:r>
              <a:rPr lang="en-US" altLang="zh-CN" dirty="0" smtClean="0"/>
              <a:t>4 </a:t>
            </a:r>
            <a:r>
              <a:rPr lang="zh-CN" altLang="en-US" dirty="0" smtClean="0"/>
              <a:t>个不同级别的子优先级。   </a:t>
            </a:r>
            <a:endParaRPr lang="zh-CN" altLang="en-US" dirty="0"/>
          </a:p>
        </p:txBody>
      </p:sp>
      <p:pic>
        <p:nvPicPr>
          <p:cNvPr id="83970" name="Picture 2" descr="https://img-blog.csdnimg.cn/20200213201635731.png"/>
          <p:cNvPicPr>
            <a:picLocks noChangeAspect="1" noChangeArrowheads="1"/>
          </p:cNvPicPr>
          <p:nvPr/>
        </p:nvPicPr>
        <p:blipFill>
          <a:blip r:embed="rId2"/>
          <a:srcRect/>
          <a:stretch>
            <a:fillRect/>
          </a:stretch>
        </p:blipFill>
        <p:spPr bwMode="auto">
          <a:xfrm>
            <a:off x="2422914" y="3194180"/>
            <a:ext cx="5895975" cy="16002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3225" y="1211149"/>
            <a:ext cx="10972800" cy="4457246"/>
          </a:xfrm>
          <a:prstGeom prst="rect">
            <a:avLst/>
          </a:prstGeom>
        </p:spPr>
        <p:txBody>
          <a:bodyPr wrap="square">
            <a:spAutoFit/>
          </a:bodyPr>
          <a:lstStyle/>
          <a:p>
            <a:pPr>
              <a:lnSpc>
                <a:spcPct val="150000"/>
              </a:lnSpc>
            </a:pPr>
            <a:r>
              <a:rPr lang="zh-CN" altLang="en-US" sz="2400" b="1" dirty="0" smtClean="0">
                <a:solidFill>
                  <a:srgbClr val="7030A0"/>
                </a:solidFill>
              </a:rPr>
              <a:t>例：</a:t>
            </a:r>
            <a:r>
              <a:rPr lang="zh-CN" altLang="en-US" sz="2400" dirty="0" smtClean="0"/>
              <a:t>     </a:t>
            </a:r>
            <a:endParaRPr lang="en-US" altLang="zh-CN" sz="2400" dirty="0" smtClean="0"/>
          </a:p>
          <a:p>
            <a:pPr>
              <a:lnSpc>
                <a:spcPct val="150000"/>
              </a:lnSpc>
            </a:pPr>
            <a:r>
              <a:rPr lang="zh-CN" altLang="en-US" sz="2400" dirty="0" smtClean="0"/>
              <a:t>      如果在你的系统中使用了 </a:t>
            </a:r>
            <a:r>
              <a:rPr lang="en-US" altLang="zh-CN" sz="2400" dirty="0" smtClean="0"/>
              <a:t>TIME2</a:t>
            </a:r>
            <a:r>
              <a:rPr lang="zh-CN" altLang="en-US" sz="2400" dirty="0" smtClean="0"/>
              <a:t>（中断通道 </a:t>
            </a:r>
            <a:r>
              <a:rPr lang="en-US" altLang="zh-CN" sz="2400" dirty="0" smtClean="0"/>
              <a:t>28</a:t>
            </a:r>
            <a:r>
              <a:rPr lang="zh-CN" altLang="en-US" sz="2400" dirty="0" smtClean="0"/>
              <a:t>）和 </a:t>
            </a:r>
            <a:r>
              <a:rPr lang="en-US" altLang="zh-CN" sz="2400" dirty="0" smtClean="0"/>
              <a:t>EXTI0</a:t>
            </a:r>
            <a:r>
              <a:rPr lang="zh-CN" altLang="en-US" sz="2400" dirty="0" smtClean="0"/>
              <a:t>（中断通道 </a:t>
            </a:r>
            <a:r>
              <a:rPr lang="en-US" altLang="zh-CN" sz="2400" dirty="0" smtClean="0"/>
              <a:t>6</a:t>
            </a:r>
            <a:r>
              <a:rPr lang="zh-CN" altLang="en-US" sz="2400" dirty="0" smtClean="0"/>
              <a:t>）两个中断，而</a:t>
            </a:r>
            <a:r>
              <a:rPr lang="en-US" altLang="zh-CN" sz="2400" dirty="0" smtClean="0"/>
              <a:t>TIME2 </a:t>
            </a:r>
            <a:r>
              <a:rPr lang="zh-CN" altLang="en-US" sz="2400" dirty="0" smtClean="0"/>
              <a:t>中断必须优先响应，而且当系统在执行 </a:t>
            </a:r>
            <a:r>
              <a:rPr lang="en-US" altLang="zh-CN" sz="2400" dirty="0" smtClean="0"/>
              <a:t>EXIT0 </a:t>
            </a:r>
            <a:r>
              <a:rPr lang="zh-CN" altLang="en-US" sz="2400" dirty="0" smtClean="0"/>
              <a:t>中断服务时也必须打断（抢占、嵌套） ，就必须设置 </a:t>
            </a:r>
            <a:r>
              <a:rPr lang="en-US" altLang="zh-CN" sz="2400" dirty="0" smtClean="0"/>
              <a:t>TIME2 </a:t>
            </a:r>
            <a:r>
              <a:rPr lang="zh-CN" altLang="en-US" sz="2400" dirty="0" smtClean="0"/>
              <a:t>的抢占优先级比 </a:t>
            </a:r>
            <a:r>
              <a:rPr lang="en-US" altLang="zh-CN" sz="2400" dirty="0" smtClean="0"/>
              <a:t>EXTI0 </a:t>
            </a:r>
            <a:r>
              <a:rPr lang="zh-CN" altLang="en-US" sz="2400" dirty="0" smtClean="0"/>
              <a:t>的抢占优先级要高（数目小） 。假定 </a:t>
            </a:r>
            <a:r>
              <a:rPr lang="en-US" altLang="zh-CN" sz="2400" dirty="0" smtClean="0"/>
              <a:t>EXTI0 </a:t>
            </a:r>
            <a:r>
              <a:rPr lang="zh-CN" altLang="en-US" sz="2400" dirty="0" smtClean="0"/>
              <a:t>为 </a:t>
            </a:r>
            <a:r>
              <a:rPr lang="en-US" altLang="zh-CN" sz="2400" dirty="0" smtClean="0"/>
              <a:t>2 </a:t>
            </a:r>
            <a:r>
              <a:rPr lang="zh-CN" altLang="en-US" sz="2400" dirty="0" smtClean="0"/>
              <a:t>号抢占优先级，那么 </a:t>
            </a:r>
            <a:r>
              <a:rPr lang="en-US" altLang="zh-CN" sz="2400" dirty="0" smtClean="0"/>
              <a:t>TIME2 </a:t>
            </a:r>
            <a:r>
              <a:rPr lang="zh-CN" altLang="en-US" sz="2400" dirty="0" smtClean="0"/>
              <a:t>就必须设置成 </a:t>
            </a:r>
            <a:r>
              <a:rPr lang="en-US" altLang="zh-CN" sz="2400" dirty="0" smtClean="0"/>
              <a:t>0 </a:t>
            </a:r>
            <a:r>
              <a:rPr lang="zh-CN" altLang="en-US" sz="2400" dirty="0" smtClean="0"/>
              <a:t>或 </a:t>
            </a:r>
            <a:r>
              <a:rPr lang="en-US" altLang="zh-CN" sz="2400" dirty="0" smtClean="0"/>
              <a:t>1 </a:t>
            </a:r>
            <a:r>
              <a:rPr lang="zh-CN" altLang="en-US" sz="2400" dirty="0" smtClean="0"/>
              <a:t>号抢占优先级。这些工作需要在 </a:t>
            </a:r>
            <a:r>
              <a:rPr lang="en-US" altLang="zh-CN" sz="2400" dirty="0" smtClean="0"/>
              <a:t>AIRC </a:t>
            </a:r>
            <a:r>
              <a:rPr lang="zh-CN" altLang="en-US" sz="2400" dirty="0" smtClean="0"/>
              <a:t>中的</a:t>
            </a:r>
            <a:r>
              <a:rPr lang="en-US" altLang="zh-CN" sz="2400" dirty="0" smtClean="0"/>
              <a:t>PRIGROUP </a:t>
            </a:r>
            <a:r>
              <a:rPr lang="zh-CN" altLang="en-US" sz="2400" dirty="0" smtClean="0"/>
              <a:t>设置完成，确定了整个系统所具有的优先级个数后，再分别对每个中断通道（设备）进行设置。</a:t>
            </a:r>
            <a:endParaRPr lang="zh-CN"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15716" y="940446"/>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6.3.4 NVIC</a:t>
            </a:r>
            <a:r>
              <a:rPr lang="zh-CN" altLang="en-US" sz="2800" b="1" dirty="0" smtClean="0">
                <a:solidFill>
                  <a:srgbClr val="14529E"/>
                </a:solidFill>
              </a:rPr>
              <a:t>寄存器</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smtClean="0">
              <a:solidFill>
                <a:srgbClr val="C00000"/>
              </a:solidFill>
            </a:endParaRPr>
          </a:p>
        </p:txBody>
      </p:sp>
      <p:sp>
        <p:nvSpPr>
          <p:cNvPr id="9" name="矩形 8"/>
          <p:cNvSpPr/>
          <p:nvPr/>
        </p:nvSpPr>
        <p:spPr>
          <a:xfrm>
            <a:off x="612710" y="1004731"/>
            <a:ext cx="10779967" cy="5443541"/>
          </a:xfrm>
          <a:prstGeom prst="rect">
            <a:avLst/>
          </a:prstGeom>
        </p:spPr>
        <p:txBody>
          <a:bodyPr wrap="square">
            <a:spAutoFit/>
          </a:bodyPr>
          <a:lstStyle/>
          <a:p>
            <a:pPr>
              <a:lnSpc>
                <a:spcPct val="150000"/>
              </a:lnSpc>
              <a:buClr>
                <a:srgbClr val="C00000"/>
              </a:buClr>
              <a:buFont typeface="Wingdings" pitchFamily="2" charset="2"/>
              <a:buChar char="u"/>
            </a:pPr>
            <a:r>
              <a:rPr lang="en-US" b="1" dirty="0" smtClean="0">
                <a:solidFill>
                  <a:srgbClr val="7030A0"/>
                </a:solidFill>
              </a:rPr>
              <a:t>ISER[8]（Interrupt Set-Enable Registers）：</a:t>
            </a:r>
            <a:r>
              <a:rPr lang="zh-CN" altLang="en-US" b="1" dirty="0" smtClean="0"/>
              <a:t>中断使能寄存器。其中只使用到了</a:t>
            </a:r>
            <a:r>
              <a:rPr lang="en-US" b="1" dirty="0" smtClean="0"/>
              <a:t>ISER[0]</a:t>
            </a:r>
            <a:r>
              <a:rPr lang="zh-CN" altLang="en-US" b="1" dirty="0" smtClean="0"/>
              <a:t>和</a:t>
            </a:r>
            <a:r>
              <a:rPr lang="en-US" b="1" dirty="0" smtClean="0"/>
              <a:t>ISER[1]，ISER[0]</a:t>
            </a:r>
            <a:r>
              <a:rPr lang="zh-CN" altLang="en-US" b="1" dirty="0" smtClean="0"/>
              <a:t>的</a:t>
            </a:r>
            <a:r>
              <a:rPr lang="en-US" b="1" dirty="0" smtClean="0"/>
              <a:t>bit0~bit31</a:t>
            </a:r>
            <a:r>
              <a:rPr lang="zh-CN" altLang="en-US" b="1" dirty="0" smtClean="0"/>
              <a:t>分别对应中断</a:t>
            </a:r>
            <a:r>
              <a:rPr lang="en-US" altLang="zh-CN" b="1" dirty="0" smtClean="0"/>
              <a:t>0~31</a:t>
            </a:r>
            <a:r>
              <a:rPr lang="zh-CN" altLang="en-US" b="1" dirty="0" smtClean="0"/>
              <a:t>。</a:t>
            </a:r>
            <a:r>
              <a:rPr lang="en-US" b="1" dirty="0" smtClean="0"/>
              <a:t>ISER[1]</a:t>
            </a:r>
            <a:r>
              <a:rPr lang="zh-CN" altLang="en-US" b="1" dirty="0" smtClean="0"/>
              <a:t>的</a:t>
            </a:r>
            <a:r>
              <a:rPr lang="en-US" b="1" dirty="0" smtClean="0"/>
              <a:t>bit0~27</a:t>
            </a:r>
            <a:r>
              <a:rPr lang="zh-CN" altLang="en-US" b="1" dirty="0" smtClean="0"/>
              <a:t>对应中断</a:t>
            </a:r>
            <a:r>
              <a:rPr lang="en-US" altLang="zh-CN" b="1" dirty="0" smtClean="0"/>
              <a:t>32~59</a:t>
            </a:r>
            <a:r>
              <a:rPr lang="zh-CN" altLang="en-US" b="1" dirty="0" smtClean="0"/>
              <a:t>。要使能某个中断，就必须设置相应的</a:t>
            </a:r>
            <a:r>
              <a:rPr lang="en-US" b="1" dirty="0" smtClean="0"/>
              <a:t>ISER</a:t>
            </a:r>
            <a:r>
              <a:rPr lang="zh-CN" altLang="en-US" b="1" dirty="0" smtClean="0"/>
              <a:t>位为</a:t>
            </a:r>
            <a:r>
              <a:rPr lang="en-US" altLang="zh-CN" b="1" dirty="0" smtClean="0"/>
              <a:t>1</a:t>
            </a:r>
            <a:r>
              <a:rPr lang="zh-CN" altLang="en-US" b="1" dirty="0" smtClean="0"/>
              <a:t>，</a:t>
            </a:r>
            <a:r>
              <a:rPr lang="zh-CN" altLang="en-US" dirty="0" smtClean="0"/>
              <a:t>使该中断被使能（这仅仅是使能，还要配合中断分组、屏蔽、</a:t>
            </a:r>
            <a:r>
              <a:rPr lang="en-US" dirty="0" smtClean="0"/>
              <a:t>I/O</a:t>
            </a:r>
            <a:r>
              <a:rPr lang="zh-CN" altLang="en-US" dirty="0" smtClean="0"/>
              <a:t>口映射等设置才算完整）。具体每一位对应哪个中断参考</a:t>
            </a:r>
            <a:r>
              <a:rPr lang="en-US" dirty="0" smtClean="0"/>
              <a:t>stm32f103x.h</a:t>
            </a:r>
            <a:r>
              <a:rPr lang="zh-CN" altLang="en-US" dirty="0" smtClean="0"/>
              <a:t>里面第</a:t>
            </a:r>
            <a:r>
              <a:rPr lang="en-US" altLang="zh-CN" dirty="0" smtClean="0"/>
              <a:t>140</a:t>
            </a:r>
            <a:r>
              <a:rPr lang="zh-CN" altLang="en-US" dirty="0" smtClean="0"/>
              <a:t>行。</a:t>
            </a:r>
          </a:p>
          <a:p>
            <a:pPr>
              <a:lnSpc>
                <a:spcPct val="150000"/>
              </a:lnSpc>
              <a:buClr>
                <a:srgbClr val="C00000"/>
              </a:buClr>
              <a:buFont typeface="Wingdings" pitchFamily="2" charset="2"/>
              <a:buChar char="u"/>
            </a:pPr>
            <a:r>
              <a:rPr lang="en-US" b="1" dirty="0" smtClean="0">
                <a:solidFill>
                  <a:srgbClr val="7030A0"/>
                </a:solidFill>
              </a:rPr>
              <a:t>ICER[8]（Interrupt Clear-Enable Registers）：</a:t>
            </a:r>
            <a:r>
              <a:rPr lang="zh-CN" altLang="en-US" b="1" dirty="0" smtClean="0"/>
              <a:t>中断移除寄存器。</a:t>
            </a:r>
            <a:r>
              <a:rPr lang="zh-CN" altLang="en-US" dirty="0" smtClean="0"/>
              <a:t>该寄存器的作用于</a:t>
            </a:r>
            <a:r>
              <a:rPr lang="en-US" dirty="0" smtClean="0"/>
              <a:t>ISER</a:t>
            </a:r>
            <a:r>
              <a:rPr lang="zh-CN" altLang="en-US" dirty="0" smtClean="0"/>
              <a:t>相反。这里专门设置一个</a:t>
            </a:r>
            <a:r>
              <a:rPr lang="en-US" dirty="0" smtClean="0"/>
              <a:t>ICER</a:t>
            </a:r>
            <a:r>
              <a:rPr lang="zh-CN" altLang="en-US" dirty="0" smtClean="0"/>
              <a:t>来清除中断位，而不是向</a:t>
            </a:r>
            <a:r>
              <a:rPr lang="en-US" dirty="0" smtClean="0"/>
              <a:t>ISER</a:t>
            </a:r>
            <a:r>
              <a:rPr lang="zh-CN" altLang="en-US" dirty="0" smtClean="0"/>
              <a:t>位写</a:t>
            </a:r>
            <a:r>
              <a:rPr lang="en-US" altLang="zh-CN" dirty="0" smtClean="0"/>
              <a:t>0</a:t>
            </a:r>
            <a:r>
              <a:rPr lang="zh-CN" altLang="en-US" dirty="0" smtClean="0"/>
              <a:t>，是因为</a:t>
            </a:r>
            <a:r>
              <a:rPr lang="en-US" b="1" dirty="0" smtClean="0"/>
              <a:t>NVIC</a:t>
            </a:r>
            <a:r>
              <a:rPr lang="zh-CN" altLang="en-US" b="1" dirty="0" smtClean="0"/>
              <a:t>的寄存器写</a:t>
            </a:r>
            <a:r>
              <a:rPr lang="en-US" altLang="zh-CN" b="1" dirty="0" smtClean="0"/>
              <a:t>1</a:t>
            </a:r>
            <a:r>
              <a:rPr lang="zh-CN" altLang="en-US" b="1" dirty="0" smtClean="0"/>
              <a:t>有效，写</a:t>
            </a:r>
            <a:r>
              <a:rPr lang="en-US" altLang="zh-CN" b="1" dirty="0" smtClean="0"/>
              <a:t>0</a:t>
            </a:r>
            <a:r>
              <a:rPr lang="zh-CN" altLang="en-US" b="1" dirty="0" smtClean="0"/>
              <a:t>无效。</a:t>
            </a:r>
            <a:endParaRPr lang="zh-CN" altLang="en-US" dirty="0" smtClean="0"/>
          </a:p>
          <a:p>
            <a:pPr>
              <a:lnSpc>
                <a:spcPct val="150000"/>
              </a:lnSpc>
              <a:buClr>
                <a:srgbClr val="C00000"/>
              </a:buClr>
              <a:buFont typeface="Wingdings" pitchFamily="2" charset="2"/>
              <a:buChar char="u"/>
            </a:pPr>
            <a:r>
              <a:rPr lang="en-US" b="1" dirty="0" smtClean="0">
                <a:solidFill>
                  <a:srgbClr val="7030A0"/>
                </a:solidFill>
              </a:rPr>
              <a:t>ISPR[8]（Interrupt Set-Pending Registers）：</a:t>
            </a:r>
            <a:r>
              <a:rPr lang="zh-CN" altLang="en-US" dirty="0" smtClean="0"/>
              <a:t>中断挂起控制寄存器。通过置</a:t>
            </a:r>
            <a:r>
              <a:rPr lang="en-US" altLang="zh-CN" dirty="0" smtClean="0"/>
              <a:t>1</a:t>
            </a:r>
            <a:r>
              <a:rPr lang="zh-CN" altLang="en-US" dirty="0" smtClean="0"/>
              <a:t>可以将正在进行的中断挂起，执行同级或者更高级别的中断。写</a:t>
            </a:r>
            <a:r>
              <a:rPr lang="en-US" altLang="zh-CN" dirty="0" smtClean="0"/>
              <a:t>0</a:t>
            </a:r>
            <a:r>
              <a:rPr lang="zh-CN" altLang="en-US" dirty="0" smtClean="0"/>
              <a:t>无效。</a:t>
            </a:r>
          </a:p>
          <a:p>
            <a:pPr>
              <a:lnSpc>
                <a:spcPct val="150000"/>
              </a:lnSpc>
              <a:buClr>
                <a:srgbClr val="C00000"/>
              </a:buClr>
              <a:buFont typeface="Wingdings" pitchFamily="2" charset="2"/>
              <a:buChar char="u"/>
            </a:pPr>
            <a:r>
              <a:rPr lang="en-US" b="1" dirty="0" smtClean="0">
                <a:solidFill>
                  <a:srgbClr val="7030A0"/>
                </a:solidFill>
              </a:rPr>
              <a:t>ICPR[8]（Interrupt Clear-Pending Registers）：</a:t>
            </a:r>
            <a:r>
              <a:rPr lang="zh-CN" altLang="en-US" dirty="0" smtClean="0"/>
              <a:t>中断解挂控制寄存器。通过置</a:t>
            </a:r>
            <a:r>
              <a:rPr lang="en-US" altLang="zh-CN" dirty="0" smtClean="0"/>
              <a:t>1</a:t>
            </a:r>
            <a:r>
              <a:rPr lang="zh-CN" altLang="en-US" dirty="0" smtClean="0"/>
              <a:t>可以将正在挂起的中断解挂。写</a:t>
            </a:r>
            <a:r>
              <a:rPr lang="en-US" altLang="zh-CN" dirty="0" smtClean="0"/>
              <a:t>0</a:t>
            </a:r>
            <a:r>
              <a:rPr lang="zh-CN" altLang="en-US" dirty="0" smtClean="0"/>
              <a:t>无效。</a:t>
            </a:r>
          </a:p>
          <a:p>
            <a:pPr>
              <a:lnSpc>
                <a:spcPct val="150000"/>
              </a:lnSpc>
              <a:buClr>
                <a:srgbClr val="C00000"/>
              </a:buClr>
              <a:buFont typeface="Wingdings" pitchFamily="2" charset="2"/>
              <a:buChar char="u"/>
            </a:pPr>
            <a:r>
              <a:rPr lang="en-US" dirty="0" smtClean="0">
                <a:solidFill>
                  <a:srgbClr val="7030A0"/>
                </a:solidFill>
              </a:rPr>
              <a:t>IABR[8]（Interrupt Active-Bit Registers）：</a:t>
            </a:r>
            <a:r>
              <a:rPr lang="zh-CN" altLang="en-US" b="1" dirty="0" smtClean="0"/>
              <a:t>中断激活标志位寄存器。</a:t>
            </a:r>
            <a:r>
              <a:rPr lang="zh-CN" altLang="en-US" dirty="0" smtClean="0"/>
              <a:t>这是一个只读寄存器，可以知道当前在执行的中断是哪一个（为</a:t>
            </a:r>
            <a:r>
              <a:rPr lang="en-US" altLang="zh-CN" dirty="0" smtClean="0"/>
              <a:t>1</a:t>
            </a:r>
            <a:r>
              <a:rPr lang="zh-CN" altLang="en-US" dirty="0" smtClean="0"/>
              <a:t>），在中断执行完后硬件自动清零。</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15716" y="940446"/>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6.3.5 NVIC</a:t>
            </a:r>
            <a:r>
              <a:rPr lang="zh-CN" altLang="en-US" sz="2800" b="1" dirty="0" smtClean="0">
                <a:solidFill>
                  <a:srgbClr val="14529E"/>
                </a:solidFill>
              </a:rPr>
              <a:t>库结构</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smtClean="0">
              <a:solidFill>
                <a:srgbClr val="C00000"/>
              </a:solidFill>
            </a:endParaRPr>
          </a:p>
        </p:txBody>
      </p:sp>
      <p:sp>
        <p:nvSpPr>
          <p:cNvPr id="9" name="矩形 8"/>
          <p:cNvSpPr/>
          <p:nvPr/>
        </p:nvSpPr>
        <p:spPr>
          <a:xfrm>
            <a:off x="612710" y="1004731"/>
            <a:ext cx="10779967" cy="6186309"/>
          </a:xfrm>
          <a:prstGeom prst="rect">
            <a:avLst/>
          </a:prstGeom>
        </p:spPr>
        <p:txBody>
          <a:bodyPr wrap="square">
            <a:spAutoFit/>
          </a:bodyPr>
          <a:lstStyle/>
          <a:p>
            <a:pPr>
              <a:lnSpc>
                <a:spcPct val="150000"/>
              </a:lnSpc>
            </a:pPr>
            <a:r>
              <a:rPr lang="en-US" altLang="en-US" dirty="0" err="1" smtClean="0"/>
              <a:t>typedef</a:t>
            </a:r>
            <a:r>
              <a:rPr lang="en-US" altLang="en-US" dirty="0" smtClean="0"/>
              <a:t> </a:t>
            </a:r>
            <a:r>
              <a:rPr lang="en-US" altLang="en-US" dirty="0" err="1" smtClean="0"/>
              <a:t>struct</a:t>
            </a:r>
            <a:endParaRPr lang="en-US" altLang="en-US" dirty="0" smtClean="0"/>
          </a:p>
          <a:p>
            <a:pPr>
              <a:lnSpc>
                <a:spcPct val="150000"/>
              </a:lnSpc>
            </a:pPr>
            <a:r>
              <a:rPr lang="en-US" altLang="en-US" dirty="0" smtClean="0"/>
              <a:t>{</a:t>
            </a:r>
          </a:p>
          <a:p>
            <a:pPr>
              <a:lnSpc>
                <a:spcPct val="150000"/>
              </a:lnSpc>
            </a:pPr>
            <a:r>
              <a:rPr lang="en-US" altLang="en-US" dirty="0" smtClean="0"/>
              <a:t>uint8_t </a:t>
            </a:r>
            <a:r>
              <a:rPr lang="en-US" altLang="en-US" dirty="0" err="1" smtClean="0"/>
              <a:t>NVIC_IRQChannel</a:t>
            </a:r>
            <a:r>
              <a:rPr lang="en-US" altLang="en-US" dirty="0" smtClean="0"/>
              <a:t>; //</a:t>
            </a:r>
            <a:r>
              <a:rPr lang="zh-CN" altLang="en-US" dirty="0" smtClean="0"/>
              <a:t>指定中断编号</a:t>
            </a:r>
          </a:p>
          <a:p>
            <a:pPr>
              <a:lnSpc>
                <a:spcPct val="150000"/>
              </a:lnSpc>
            </a:pPr>
            <a:r>
              <a:rPr lang="en-US" altLang="en-US" dirty="0" smtClean="0"/>
              <a:t>uint8_t </a:t>
            </a:r>
            <a:r>
              <a:rPr lang="en-US" altLang="en-US" dirty="0" err="1" smtClean="0"/>
              <a:t>NVIC_IRQChannelPreemptionPriority</a:t>
            </a:r>
            <a:r>
              <a:rPr lang="en-US" altLang="en-US" dirty="0" smtClean="0"/>
              <a:t>; //</a:t>
            </a:r>
            <a:r>
              <a:rPr lang="zh-CN" altLang="en-US" dirty="0" smtClean="0"/>
              <a:t>指定中断主优先级的值</a:t>
            </a:r>
          </a:p>
          <a:p>
            <a:pPr>
              <a:lnSpc>
                <a:spcPct val="150000"/>
              </a:lnSpc>
            </a:pPr>
            <a:r>
              <a:rPr lang="en-US" altLang="en-US" dirty="0" smtClean="0"/>
              <a:t>uint8_t </a:t>
            </a:r>
            <a:r>
              <a:rPr lang="en-US" altLang="en-US" dirty="0" err="1" smtClean="0"/>
              <a:t>NVIC_IRQChannelSubPriority</a:t>
            </a:r>
            <a:r>
              <a:rPr lang="en-US" altLang="en-US" dirty="0" smtClean="0"/>
              <a:t>; //</a:t>
            </a:r>
            <a:r>
              <a:rPr lang="zh-CN" altLang="en-US" dirty="0" smtClean="0"/>
              <a:t>指定中断次优先级的值</a:t>
            </a:r>
          </a:p>
          <a:p>
            <a:pPr>
              <a:lnSpc>
                <a:spcPct val="150000"/>
              </a:lnSpc>
            </a:pPr>
            <a:r>
              <a:rPr lang="en-US" altLang="en-US" dirty="0" err="1" smtClean="0"/>
              <a:t>FunctionalState</a:t>
            </a:r>
            <a:r>
              <a:rPr lang="en-US" altLang="en-US" dirty="0" smtClean="0"/>
              <a:t> </a:t>
            </a:r>
            <a:r>
              <a:rPr lang="en-US" altLang="en-US" dirty="0" err="1" smtClean="0"/>
              <a:t>NVIC_IRQChannelCmd</a:t>
            </a:r>
            <a:r>
              <a:rPr lang="en-US" altLang="en-US" dirty="0" smtClean="0"/>
              <a:t>; //</a:t>
            </a:r>
            <a:r>
              <a:rPr lang="zh-CN" altLang="en-US" dirty="0" smtClean="0"/>
              <a:t>是否使能中断</a:t>
            </a:r>
            <a:r>
              <a:rPr lang="en-US" altLang="en-US" dirty="0" smtClean="0"/>
              <a:t>ENABLE</a:t>
            </a:r>
            <a:r>
              <a:rPr lang="zh-CN" altLang="en-US" dirty="0" smtClean="0"/>
              <a:t>或</a:t>
            </a:r>
            <a:r>
              <a:rPr lang="en-US" altLang="en-US" dirty="0" smtClean="0"/>
              <a:t>DISABLE</a:t>
            </a:r>
          </a:p>
          <a:p>
            <a:pPr>
              <a:lnSpc>
                <a:spcPct val="150000"/>
              </a:lnSpc>
            </a:pPr>
            <a:r>
              <a:rPr lang="en-US" altLang="en-US" dirty="0" smtClean="0"/>
              <a:t>} </a:t>
            </a:r>
            <a:r>
              <a:rPr lang="en-US" altLang="en-US" dirty="0" err="1" smtClean="0"/>
              <a:t>NVIC_InitTypeDef</a:t>
            </a:r>
            <a:r>
              <a:rPr lang="en-US" altLang="en-US" dirty="0" smtClean="0"/>
              <a:t>;</a:t>
            </a:r>
          </a:p>
          <a:p>
            <a:pPr>
              <a:lnSpc>
                <a:spcPct val="150000"/>
              </a:lnSpc>
            </a:pPr>
            <a:r>
              <a:rPr lang="zh-CN" altLang="en-US" dirty="0" smtClean="0"/>
              <a:t>调用示例：</a:t>
            </a:r>
            <a:endParaRPr lang="en-US" altLang="en-US" dirty="0" smtClean="0"/>
          </a:p>
          <a:p>
            <a:pPr>
              <a:lnSpc>
                <a:spcPct val="150000"/>
              </a:lnSpc>
            </a:pPr>
            <a:r>
              <a:rPr lang="en-US" altLang="en-US" dirty="0" err="1" smtClean="0"/>
              <a:t>NVIC_InitTypeDef</a:t>
            </a:r>
            <a:r>
              <a:rPr lang="en-US" altLang="en-US" dirty="0" smtClean="0"/>
              <a:t> </a:t>
            </a:r>
            <a:r>
              <a:rPr lang="en-US" altLang="en-US" dirty="0" err="1" smtClean="0"/>
              <a:t>NVIC_InitStructure</a:t>
            </a:r>
            <a:r>
              <a:rPr lang="en-US" altLang="en-US" dirty="0" smtClean="0"/>
              <a:t>; //</a:t>
            </a:r>
            <a:r>
              <a:rPr lang="zh-CN" altLang="en-US" dirty="0" smtClean="0"/>
              <a:t>开辟结构体空间</a:t>
            </a:r>
          </a:p>
          <a:p>
            <a:pPr>
              <a:lnSpc>
                <a:spcPct val="150000"/>
              </a:lnSpc>
            </a:pPr>
            <a:r>
              <a:rPr lang="en-US" altLang="en-US" dirty="0" err="1" smtClean="0"/>
              <a:t>NVIC_InitStructure.NVIC_IRQChannel</a:t>
            </a:r>
            <a:r>
              <a:rPr lang="en-US" altLang="en-US" dirty="0" smtClean="0"/>
              <a:t> = EXTI0_IRQn; //</a:t>
            </a:r>
            <a:r>
              <a:rPr lang="zh-CN" altLang="en-US" dirty="0" smtClean="0"/>
              <a:t>中断编号</a:t>
            </a:r>
          </a:p>
          <a:p>
            <a:pPr>
              <a:lnSpc>
                <a:spcPct val="150000"/>
              </a:lnSpc>
            </a:pPr>
            <a:r>
              <a:rPr lang="en-US" altLang="en-US" dirty="0" err="1" smtClean="0"/>
              <a:t>NVIC_InitStructure.NVIC_IRQChannelPreemptionPriority</a:t>
            </a:r>
            <a:r>
              <a:rPr lang="en-US" altLang="en-US" dirty="0" smtClean="0"/>
              <a:t> = 1; //</a:t>
            </a:r>
            <a:r>
              <a:rPr lang="zh-CN" altLang="en-US" dirty="0" smtClean="0"/>
              <a:t>主优先级，配合前缀别越界</a:t>
            </a:r>
          </a:p>
          <a:p>
            <a:pPr>
              <a:lnSpc>
                <a:spcPct val="150000"/>
              </a:lnSpc>
            </a:pPr>
            <a:r>
              <a:rPr lang="en-US" altLang="en-US" dirty="0" err="1" smtClean="0"/>
              <a:t>NVIC_InitStructure.NVIC_IRQChannelSubPriority</a:t>
            </a:r>
            <a:r>
              <a:rPr lang="en-US" altLang="en-US" dirty="0" smtClean="0"/>
              <a:t> = 1; //</a:t>
            </a:r>
            <a:r>
              <a:rPr lang="zh-CN" altLang="en-US" dirty="0" smtClean="0"/>
              <a:t>次优先级</a:t>
            </a:r>
          </a:p>
          <a:p>
            <a:pPr>
              <a:lnSpc>
                <a:spcPct val="150000"/>
              </a:lnSpc>
            </a:pPr>
            <a:r>
              <a:rPr lang="en-US" altLang="en-US" dirty="0" err="1" smtClean="0"/>
              <a:t>NVIC_InitStructure.NVIC_IRQChannelCmd</a:t>
            </a:r>
            <a:r>
              <a:rPr lang="en-US" altLang="en-US" dirty="0" smtClean="0"/>
              <a:t> = ENABLE; //</a:t>
            </a:r>
            <a:r>
              <a:rPr lang="zh-CN" altLang="en-US" dirty="0" smtClean="0"/>
              <a:t>使能</a:t>
            </a:r>
          </a:p>
          <a:p>
            <a:pPr>
              <a:lnSpc>
                <a:spcPct val="150000"/>
              </a:lnSpc>
            </a:pPr>
            <a:endParaRPr lang="en-US" altLang="en-US" dirty="0" smtClean="0"/>
          </a:p>
          <a:p>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494419" y="1257686"/>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6.4 EXTI</a:t>
            </a:r>
            <a:r>
              <a:rPr lang="zh-CN" altLang="en-US" sz="2800" b="1" dirty="0" smtClean="0">
                <a:solidFill>
                  <a:srgbClr val="14529E"/>
                </a:solidFill>
              </a:rPr>
              <a:t>硬件结构及软件配置</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6.4.1 EXTI</a:t>
            </a:r>
            <a:r>
              <a:rPr lang="zh-CN" altLang="en-US" sz="2800" b="1" dirty="0" smtClean="0">
                <a:solidFill>
                  <a:srgbClr val="14529E"/>
                </a:solidFill>
              </a:rPr>
              <a:t>硬件结构</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smtClean="0">
              <a:solidFill>
                <a:srgbClr val="C00000"/>
              </a:solidFill>
            </a:endParaRPr>
          </a:p>
        </p:txBody>
      </p:sp>
      <p:sp>
        <p:nvSpPr>
          <p:cNvPr id="8" name="TextBox 7"/>
          <p:cNvSpPr txBox="1"/>
          <p:nvPr/>
        </p:nvSpPr>
        <p:spPr>
          <a:xfrm>
            <a:off x="457199" y="1110331"/>
            <a:ext cx="11140752" cy="5632311"/>
          </a:xfrm>
          <a:prstGeom prst="rect">
            <a:avLst/>
          </a:prstGeom>
          <a:noFill/>
        </p:spPr>
        <p:txBody>
          <a:bodyPr wrap="square" rtlCol="0">
            <a:spAutoFit/>
          </a:bodyPr>
          <a:lstStyle/>
          <a:p>
            <a:pPr>
              <a:lnSpc>
                <a:spcPct val="150000"/>
              </a:lnSpc>
              <a:buClr>
                <a:srgbClr val="C00000"/>
              </a:buClr>
              <a:buFont typeface="Wingdings" pitchFamily="2" charset="2"/>
              <a:buChar char="u"/>
            </a:pPr>
            <a:r>
              <a:rPr lang="en-US" altLang="en-US" sz="2400" dirty="0" smtClean="0"/>
              <a:t>EXTI：External Interrupt</a:t>
            </a:r>
            <a:r>
              <a:rPr lang="zh-CN" altLang="en-US" sz="2400" dirty="0" smtClean="0"/>
              <a:t>，外部中断，通过</a:t>
            </a:r>
            <a:r>
              <a:rPr lang="en-US" altLang="zh-CN" sz="2400" dirty="0" smtClean="0"/>
              <a:t>GPIO</a:t>
            </a:r>
            <a:r>
              <a:rPr lang="zh-CN" altLang="en-US" sz="2400" dirty="0" smtClean="0"/>
              <a:t>检查输入脉冲，引起中断事件，打断原来的代码执行流程，进入到中断服务函数中进行处理，处理完后再返回中断之前的代码中执行。</a:t>
            </a:r>
            <a:endParaRPr lang="en-US" altLang="zh-CN" sz="2400" dirty="0" smtClean="0"/>
          </a:p>
          <a:p>
            <a:pPr>
              <a:lnSpc>
                <a:spcPct val="150000"/>
              </a:lnSpc>
              <a:buClr>
                <a:srgbClr val="C00000"/>
              </a:buClr>
              <a:buFont typeface="Wingdings" pitchFamily="2" charset="2"/>
              <a:buChar char="u"/>
            </a:pPr>
            <a:r>
              <a:rPr lang="zh-CN" altLang="en-US" sz="2400" dirty="0" smtClean="0"/>
              <a:t>外部中断</a:t>
            </a:r>
            <a:r>
              <a:rPr lang="en-US" altLang="zh-CN" sz="2400" dirty="0" smtClean="0"/>
              <a:t>/</a:t>
            </a:r>
            <a:r>
              <a:rPr lang="zh-CN" altLang="en-US" sz="2400" dirty="0" smtClean="0"/>
              <a:t>事件控制器由</a:t>
            </a:r>
            <a:r>
              <a:rPr lang="en-US" altLang="zh-CN" sz="2400" dirty="0" smtClean="0"/>
              <a:t>19</a:t>
            </a:r>
            <a:r>
              <a:rPr lang="zh-CN" altLang="en-US" sz="2400" dirty="0" smtClean="0"/>
              <a:t>个产生事件</a:t>
            </a:r>
            <a:r>
              <a:rPr lang="en-US" altLang="zh-CN" sz="2400" dirty="0" smtClean="0"/>
              <a:t>/</a:t>
            </a:r>
            <a:r>
              <a:rPr lang="zh-CN" altLang="en-US" sz="2400" dirty="0" smtClean="0"/>
              <a:t>中断要求的边沿检测器组成。每个输入线可以独立地配置输入类型</a:t>
            </a:r>
            <a:r>
              <a:rPr lang="en-US" altLang="zh-CN" sz="2400" dirty="0" smtClean="0"/>
              <a:t>(</a:t>
            </a:r>
            <a:r>
              <a:rPr lang="zh-CN" altLang="en-US" sz="2400" dirty="0" smtClean="0"/>
              <a:t>脉冲或挂起</a:t>
            </a:r>
            <a:r>
              <a:rPr lang="en-US" altLang="zh-CN" sz="2400" dirty="0" smtClean="0"/>
              <a:t>)</a:t>
            </a:r>
            <a:r>
              <a:rPr lang="zh-CN" altLang="en-US" sz="2400" dirty="0" smtClean="0"/>
              <a:t>和对应的触发事件</a:t>
            </a:r>
            <a:r>
              <a:rPr lang="en-US" altLang="zh-CN" sz="2400" dirty="0" smtClean="0"/>
              <a:t>(</a:t>
            </a:r>
            <a:r>
              <a:rPr lang="zh-CN" altLang="en-US" sz="2400" dirty="0" smtClean="0"/>
              <a:t>上升沿或下降沿或者双边沿都触发</a:t>
            </a:r>
            <a:r>
              <a:rPr lang="en-US" altLang="zh-CN" sz="2400" dirty="0" smtClean="0"/>
              <a:t>)</a:t>
            </a:r>
            <a:r>
              <a:rPr lang="zh-CN" altLang="en-US" sz="2400" dirty="0" smtClean="0"/>
              <a:t>。每个输入线都可以被独立的屏蔽。挂起寄存器保持着状态线的中断要求。</a:t>
            </a:r>
            <a:endParaRPr lang="en-US" altLang="zh-CN" sz="2400" dirty="0" smtClean="0"/>
          </a:p>
          <a:p>
            <a:pPr>
              <a:lnSpc>
                <a:spcPct val="150000"/>
              </a:lnSpc>
              <a:buClr>
                <a:srgbClr val="C00000"/>
              </a:buClr>
              <a:buFont typeface="Wingdings" pitchFamily="2" charset="2"/>
              <a:buChar char="u"/>
            </a:pPr>
            <a:r>
              <a:rPr lang="zh-CN" altLang="en-US" sz="2400" dirty="0" smtClean="0"/>
              <a:t> </a:t>
            </a:r>
            <a:r>
              <a:rPr lang="en-US" altLang="zh-CN" sz="2400" dirty="0" smtClean="0"/>
              <a:t>STM32</a:t>
            </a:r>
            <a:r>
              <a:rPr lang="zh-CN" altLang="en-US" sz="2400" dirty="0" smtClean="0"/>
              <a:t>的</a:t>
            </a:r>
            <a:r>
              <a:rPr lang="en-US" altLang="zh-CN" sz="2400" dirty="0" smtClean="0"/>
              <a:t>EXTI</a:t>
            </a:r>
            <a:r>
              <a:rPr lang="zh-CN" altLang="en-US" sz="2400" dirty="0" smtClean="0"/>
              <a:t>对应</a:t>
            </a:r>
            <a:r>
              <a:rPr lang="en-US" altLang="zh-CN" sz="2400" dirty="0" smtClean="0"/>
              <a:t>19</a:t>
            </a:r>
            <a:r>
              <a:rPr lang="zh-CN" altLang="en-US" sz="2400" dirty="0" smtClean="0"/>
              <a:t>个中断通道，其中</a:t>
            </a:r>
            <a:r>
              <a:rPr lang="en-US" altLang="zh-CN" sz="2400" dirty="0" smtClean="0"/>
              <a:t>16</a:t>
            </a:r>
            <a:r>
              <a:rPr lang="zh-CN" altLang="en-US" sz="2400" dirty="0" smtClean="0"/>
              <a:t>个中断通道</a:t>
            </a:r>
            <a:r>
              <a:rPr lang="en-US" altLang="zh-CN" sz="2400" dirty="0" smtClean="0"/>
              <a:t>EXTI0~EXTI5</a:t>
            </a:r>
            <a:r>
              <a:rPr lang="zh-CN" altLang="en-US" sz="2400" dirty="0" smtClean="0"/>
              <a:t>对应</a:t>
            </a:r>
            <a:r>
              <a:rPr lang="en-US" altLang="zh-CN" sz="2400" dirty="0" smtClean="0"/>
              <a:t>GPIOx_Pin0~ GPIOx_Pin15,</a:t>
            </a:r>
            <a:r>
              <a:rPr lang="zh-CN" altLang="en-US" sz="2400" dirty="0" smtClean="0"/>
              <a:t>另外三个是</a:t>
            </a:r>
            <a:r>
              <a:rPr lang="en-US" altLang="zh-CN" sz="2400" dirty="0" smtClean="0"/>
              <a:t>EXTI16</a:t>
            </a:r>
            <a:r>
              <a:rPr lang="zh-CN" altLang="en-US" sz="2400" dirty="0" smtClean="0"/>
              <a:t>连接</a:t>
            </a:r>
            <a:r>
              <a:rPr lang="en-US" altLang="zh-CN" sz="2400" dirty="0" smtClean="0"/>
              <a:t>PVD</a:t>
            </a:r>
            <a:r>
              <a:rPr lang="zh-CN" altLang="en-US" sz="2400" dirty="0" smtClean="0"/>
              <a:t>输出，</a:t>
            </a:r>
            <a:r>
              <a:rPr lang="en-US" altLang="zh-CN" sz="2400" dirty="0" smtClean="0"/>
              <a:t>EXTI17</a:t>
            </a:r>
            <a:r>
              <a:rPr lang="zh-CN" altLang="en-US" sz="2400" dirty="0" smtClean="0"/>
              <a:t>连接到</a:t>
            </a:r>
            <a:r>
              <a:rPr lang="en-US" altLang="zh-CN" sz="2400" dirty="0" smtClean="0"/>
              <a:t>RTC</a:t>
            </a:r>
            <a:r>
              <a:rPr lang="zh-CN" altLang="en-US" sz="2400" dirty="0" smtClean="0"/>
              <a:t>闹钟事件，</a:t>
            </a:r>
            <a:r>
              <a:rPr lang="en-US" altLang="zh-CN" sz="2400" dirty="0" smtClean="0"/>
              <a:t>EXTI18</a:t>
            </a:r>
            <a:r>
              <a:rPr lang="zh-CN" altLang="en-US" sz="2400" dirty="0" smtClean="0"/>
              <a:t>连接到</a:t>
            </a:r>
            <a:r>
              <a:rPr lang="en-US" altLang="zh-CN" sz="2400" dirty="0" smtClean="0"/>
              <a:t>USB</a:t>
            </a:r>
            <a:r>
              <a:rPr lang="zh-CN" altLang="en-US" sz="2400" dirty="0" smtClean="0"/>
              <a:t>唤醒事件。</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870301" y="608149"/>
            <a:ext cx="2886269" cy="4662815"/>
          </a:xfrm>
          <a:prstGeom prst="rect">
            <a:avLst/>
          </a:prstGeom>
        </p:spPr>
        <p:txBody>
          <a:bodyPr wrap="square">
            <a:spAutoFit/>
          </a:bodyPr>
          <a:lstStyle/>
          <a:p>
            <a:pPr>
              <a:lnSpc>
                <a:spcPct val="150000"/>
              </a:lnSpc>
            </a:pPr>
            <a:r>
              <a:rPr lang="zh-CN" altLang="en-US" dirty="0" smtClean="0"/>
              <a:t>注：</a:t>
            </a:r>
            <a:endParaRPr lang="en-US" altLang="zh-CN" dirty="0" smtClean="0"/>
          </a:p>
          <a:p>
            <a:pPr>
              <a:lnSpc>
                <a:spcPct val="150000"/>
              </a:lnSpc>
              <a:buClr>
                <a:srgbClr val="C00000"/>
              </a:buClr>
              <a:buFont typeface="Wingdings" pitchFamily="2" charset="2"/>
              <a:buChar char="u"/>
            </a:pPr>
            <a:r>
              <a:rPr lang="en-US" dirty="0" smtClean="0"/>
              <a:t>EXTI</a:t>
            </a:r>
            <a:r>
              <a:rPr lang="zh-CN" altLang="en-US" dirty="0" smtClean="0"/>
              <a:t>实际上主要就是为</a:t>
            </a:r>
            <a:r>
              <a:rPr lang="en-US" dirty="0" smtClean="0"/>
              <a:t>GPIO（PX0~PX15（X = A B C D E F G）</a:t>
            </a:r>
            <a:r>
              <a:rPr lang="zh-CN" altLang="en-US" dirty="0" smtClean="0"/>
              <a:t>服务的，除此之外还有</a:t>
            </a:r>
            <a:r>
              <a:rPr lang="en-US" dirty="0" smtClean="0"/>
              <a:t>PVD</a:t>
            </a:r>
            <a:r>
              <a:rPr lang="zh-CN" altLang="en-US" dirty="0" smtClean="0"/>
              <a:t>输出、</a:t>
            </a:r>
            <a:r>
              <a:rPr lang="en-US" dirty="0" smtClean="0"/>
              <a:t>RTC</a:t>
            </a:r>
            <a:r>
              <a:rPr lang="zh-CN" altLang="en-US" dirty="0" smtClean="0"/>
              <a:t>闹钟事件、</a:t>
            </a:r>
            <a:r>
              <a:rPr lang="en-US" dirty="0" smtClean="0"/>
              <a:t>USB</a:t>
            </a:r>
            <a:r>
              <a:rPr lang="zh-CN" altLang="en-US" dirty="0" smtClean="0"/>
              <a:t>唤醒事件</a:t>
            </a:r>
            <a:r>
              <a:rPr lang="en-US" altLang="zh-CN" dirty="0" smtClean="0"/>
              <a:t>.</a:t>
            </a:r>
          </a:p>
          <a:p>
            <a:pPr>
              <a:lnSpc>
                <a:spcPct val="150000"/>
              </a:lnSpc>
              <a:buClr>
                <a:srgbClr val="C00000"/>
              </a:buClr>
              <a:buFont typeface="Wingdings" pitchFamily="2" charset="2"/>
              <a:buChar char="u"/>
            </a:pPr>
            <a:r>
              <a:rPr lang="en-US" altLang="zh-CN" dirty="0" smtClean="0"/>
              <a:t>19</a:t>
            </a:r>
            <a:r>
              <a:rPr lang="zh-CN" altLang="en-US" dirty="0" smtClean="0"/>
              <a:t>个信号线路与</a:t>
            </a:r>
            <a:r>
              <a:rPr lang="en-US" altLang="zh-CN" dirty="0" smtClean="0"/>
              <a:t>EXTI</a:t>
            </a:r>
            <a:r>
              <a:rPr lang="zh-CN" altLang="en-US" dirty="0" smtClean="0"/>
              <a:t>的</a:t>
            </a:r>
            <a:r>
              <a:rPr lang="en-US" altLang="zh-CN" dirty="0" smtClean="0"/>
              <a:t>19</a:t>
            </a:r>
            <a:r>
              <a:rPr lang="zh-CN" altLang="en-US" dirty="0" smtClean="0"/>
              <a:t>个中断</a:t>
            </a:r>
            <a:r>
              <a:rPr lang="en-US" altLang="zh-CN" dirty="0" smtClean="0"/>
              <a:t>/</a:t>
            </a:r>
            <a:r>
              <a:rPr lang="zh-CN" altLang="en-US" dirty="0" smtClean="0"/>
              <a:t>事件线是对应的。</a:t>
            </a:r>
            <a:endParaRPr lang="en-US" altLang="zh-CN" dirty="0" smtClean="0"/>
          </a:p>
          <a:p>
            <a:pPr>
              <a:lnSpc>
                <a:spcPct val="150000"/>
              </a:lnSpc>
              <a:buClr>
                <a:srgbClr val="C00000"/>
              </a:buClr>
              <a:buFont typeface="Wingdings" pitchFamily="2" charset="2"/>
              <a:buChar char="u"/>
            </a:pPr>
            <a:r>
              <a:rPr lang="en-US" altLang="zh-CN" dirty="0" smtClean="0"/>
              <a:t>EXTI</a:t>
            </a:r>
            <a:r>
              <a:rPr lang="zh-CN" altLang="en-US" dirty="0" smtClean="0"/>
              <a:t>两大功能：</a:t>
            </a:r>
            <a:r>
              <a:rPr lang="en-US" altLang="zh-CN" dirty="0" smtClean="0"/>
              <a:t>(1)</a:t>
            </a:r>
            <a:r>
              <a:rPr lang="zh-CN" altLang="en-US" dirty="0" smtClean="0"/>
              <a:t>产生中断</a:t>
            </a:r>
            <a:r>
              <a:rPr lang="en-US" altLang="zh-CN" dirty="0" smtClean="0"/>
              <a:t>(2)</a:t>
            </a:r>
            <a:r>
              <a:rPr lang="zh-CN" altLang="en-US" dirty="0" smtClean="0"/>
              <a:t>产生事件</a:t>
            </a:r>
            <a:endParaRPr lang="zh-CN" altLang="en-US" dirty="0"/>
          </a:p>
        </p:txBody>
      </p:sp>
      <p:pic>
        <p:nvPicPr>
          <p:cNvPr id="1027" name="Picture 3"/>
          <p:cNvPicPr>
            <a:picLocks noChangeAspect="1" noChangeArrowheads="1"/>
          </p:cNvPicPr>
          <p:nvPr/>
        </p:nvPicPr>
        <p:blipFill>
          <a:blip r:embed="rId2"/>
          <a:srcRect/>
          <a:stretch>
            <a:fillRect/>
          </a:stretch>
        </p:blipFill>
        <p:spPr bwMode="auto">
          <a:xfrm>
            <a:off x="518044" y="852196"/>
            <a:ext cx="8058150" cy="4724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925" y="957484"/>
            <a:ext cx="11327363" cy="5003614"/>
          </a:xfrm>
          <a:prstGeom prst="rect">
            <a:avLst/>
          </a:prstGeom>
        </p:spPr>
        <p:txBody>
          <a:bodyPr wrap="square">
            <a:spAutoFit/>
          </a:bodyPr>
          <a:lstStyle/>
          <a:p>
            <a:pPr>
              <a:lnSpc>
                <a:spcPct val="150000"/>
              </a:lnSpc>
            </a:pPr>
            <a:r>
              <a:rPr lang="zh-CN" altLang="en-US" sz="2400" dirty="0" smtClean="0"/>
              <a:t>这张图是一条外部中断线或外部事件线的示意图</a:t>
            </a:r>
            <a:r>
              <a:rPr lang="en-US" altLang="zh-CN" sz="2400" dirty="0" smtClean="0"/>
              <a:t>,</a:t>
            </a:r>
            <a:r>
              <a:rPr lang="zh-CN" altLang="en-US" sz="2400" dirty="0" smtClean="0"/>
              <a:t>图中信号线上划有一条斜线</a:t>
            </a:r>
            <a:r>
              <a:rPr lang="en-US" altLang="zh-CN" sz="2400" dirty="0" smtClean="0"/>
              <a:t>,</a:t>
            </a:r>
            <a:r>
              <a:rPr lang="zh-CN" altLang="en-US" sz="2400" b="1" dirty="0" smtClean="0">
                <a:solidFill>
                  <a:srgbClr val="7030A0"/>
                </a:solidFill>
              </a:rPr>
              <a:t>旁边标志</a:t>
            </a:r>
            <a:r>
              <a:rPr lang="en-US" altLang="zh-CN" sz="2400" b="1" dirty="0" smtClean="0">
                <a:solidFill>
                  <a:srgbClr val="7030A0"/>
                </a:solidFill>
              </a:rPr>
              <a:t>19</a:t>
            </a:r>
            <a:r>
              <a:rPr lang="zh-CN" altLang="en-US" sz="2400" b="1" dirty="0" smtClean="0">
                <a:solidFill>
                  <a:srgbClr val="7030A0"/>
                </a:solidFill>
              </a:rPr>
              <a:t>字样的注释</a:t>
            </a:r>
            <a:r>
              <a:rPr lang="en-US" altLang="zh-CN" sz="2400" b="1" dirty="0" smtClean="0">
                <a:solidFill>
                  <a:srgbClr val="7030A0"/>
                </a:solidFill>
              </a:rPr>
              <a:t>,</a:t>
            </a:r>
            <a:r>
              <a:rPr lang="zh-CN" altLang="en-US" sz="2400" b="1" dirty="0" smtClean="0">
                <a:solidFill>
                  <a:srgbClr val="7030A0"/>
                </a:solidFill>
              </a:rPr>
              <a:t>表示这样的线路共有</a:t>
            </a:r>
            <a:r>
              <a:rPr lang="en-US" altLang="zh-CN" sz="2400" b="1" dirty="0" smtClean="0">
                <a:solidFill>
                  <a:srgbClr val="7030A0"/>
                </a:solidFill>
              </a:rPr>
              <a:t>19</a:t>
            </a:r>
            <a:r>
              <a:rPr lang="zh-CN" altLang="en-US" sz="2400" b="1" dirty="0" smtClean="0">
                <a:solidFill>
                  <a:srgbClr val="7030A0"/>
                </a:solidFill>
              </a:rPr>
              <a:t>套</a:t>
            </a:r>
            <a:r>
              <a:rPr lang="en-US" altLang="zh-CN" sz="2400" dirty="0" smtClean="0"/>
              <a:t>.</a:t>
            </a:r>
            <a:r>
              <a:rPr lang="zh-CN" altLang="en-US" sz="2400" dirty="0" smtClean="0"/>
              <a:t>图中的蓝色虚线箭头</a:t>
            </a:r>
            <a:r>
              <a:rPr lang="en-US" altLang="zh-CN" sz="2400" dirty="0" smtClean="0"/>
              <a:t>,</a:t>
            </a:r>
            <a:r>
              <a:rPr lang="zh-CN" altLang="en-US" sz="2400" dirty="0" smtClean="0"/>
              <a:t>标出了外部中断信号的传输路径</a:t>
            </a:r>
            <a:r>
              <a:rPr lang="en-US" altLang="zh-CN" sz="2400" dirty="0" smtClean="0"/>
              <a:t>,</a:t>
            </a:r>
            <a:r>
              <a:rPr lang="zh-CN" altLang="en-US" sz="2400" b="1" dirty="0" smtClean="0">
                <a:solidFill>
                  <a:srgbClr val="7030A0"/>
                </a:solidFill>
              </a:rPr>
              <a:t>首先外部信号从编号</a:t>
            </a:r>
            <a:r>
              <a:rPr lang="en-US" altLang="zh-CN" sz="2400" b="1" dirty="0" smtClean="0">
                <a:solidFill>
                  <a:srgbClr val="7030A0"/>
                </a:solidFill>
              </a:rPr>
              <a:t>1</a:t>
            </a:r>
            <a:r>
              <a:rPr lang="zh-CN" altLang="en-US" sz="2400" b="1" dirty="0" smtClean="0">
                <a:solidFill>
                  <a:srgbClr val="7030A0"/>
                </a:solidFill>
              </a:rPr>
              <a:t>的芯片管脚进入</a:t>
            </a:r>
            <a:r>
              <a:rPr lang="en-US" altLang="zh-CN" sz="2400" b="1" dirty="0" smtClean="0">
                <a:solidFill>
                  <a:srgbClr val="7030A0"/>
                </a:solidFill>
              </a:rPr>
              <a:t>,</a:t>
            </a:r>
            <a:r>
              <a:rPr lang="zh-CN" altLang="en-US" sz="2400" b="1" dirty="0" smtClean="0">
                <a:solidFill>
                  <a:srgbClr val="7030A0"/>
                </a:solidFill>
              </a:rPr>
              <a:t>经过编号</a:t>
            </a:r>
            <a:r>
              <a:rPr lang="en-US" altLang="zh-CN" sz="2400" b="1" dirty="0" smtClean="0">
                <a:solidFill>
                  <a:srgbClr val="7030A0"/>
                </a:solidFill>
              </a:rPr>
              <a:t>2</a:t>
            </a:r>
            <a:r>
              <a:rPr lang="zh-CN" altLang="en-US" sz="2400" b="1" dirty="0" smtClean="0">
                <a:solidFill>
                  <a:srgbClr val="7030A0"/>
                </a:solidFill>
              </a:rPr>
              <a:t>的边沿检测电路</a:t>
            </a:r>
            <a:r>
              <a:rPr lang="en-US" altLang="zh-CN" sz="2400" b="1" dirty="0" smtClean="0">
                <a:solidFill>
                  <a:srgbClr val="7030A0"/>
                </a:solidFill>
              </a:rPr>
              <a:t>,</a:t>
            </a:r>
            <a:r>
              <a:rPr lang="zh-CN" altLang="en-US" sz="2400" b="1" dirty="0" smtClean="0">
                <a:solidFill>
                  <a:srgbClr val="7030A0"/>
                </a:solidFill>
              </a:rPr>
              <a:t>通过编号</a:t>
            </a:r>
            <a:r>
              <a:rPr lang="en-US" altLang="zh-CN" sz="2400" b="1" dirty="0" smtClean="0">
                <a:solidFill>
                  <a:srgbClr val="7030A0"/>
                </a:solidFill>
              </a:rPr>
              <a:t>3</a:t>
            </a:r>
            <a:r>
              <a:rPr lang="zh-CN" altLang="en-US" sz="2400" b="1" dirty="0" smtClean="0">
                <a:solidFill>
                  <a:srgbClr val="7030A0"/>
                </a:solidFill>
              </a:rPr>
              <a:t>的或门进入中断挂起请求寄存器</a:t>
            </a:r>
            <a:r>
              <a:rPr lang="en-US" altLang="zh-CN" sz="2400" b="1" dirty="0" smtClean="0">
                <a:solidFill>
                  <a:srgbClr val="7030A0"/>
                </a:solidFill>
              </a:rPr>
              <a:t>,</a:t>
            </a:r>
            <a:r>
              <a:rPr lang="zh-CN" altLang="en-US" sz="2400" b="1" dirty="0" smtClean="0">
                <a:solidFill>
                  <a:srgbClr val="7030A0"/>
                </a:solidFill>
              </a:rPr>
              <a:t>最后经过编号</a:t>
            </a:r>
            <a:r>
              <a:rPr lang="en-US" altLang="zh-CN" sz="2400" b="1" dirty="0" smtClean="0">
                <a:solidFill>
                  <a:srgbClr val="7030A0"/>
                </a:solidFill>
              </a:rPr>
              <a:t>4</a:t>
            </a:r>
            <a:r>
              <a:rPr lang="zh-CN" altLang="en-US" sz="2400" b="1" dirty="0" smtClean="0">
                <a:solidFill>
                  <a:srgbClr val="7030A0"/>
                </a:solidFill>
              </a:rPr>
              <a:t>的与门输出到</a:t>
            </a:r>
            <a:r>
              <a:rPr lang="en-US" altLang="zh-CN" sz="2400" b="1" dirty="0" smtClean="0">
                <a:solidFill>
                  <a:srgbClr val="7030A0"/>
                </a:solidFill>
              </a:rPr>
              <a:t>NVIC</a:t>
            </a:r>
            <a:r>
              <a:rPr lang="zh-CN" altLang="en-US" sz="2400" b="1" dirty="0" smtClean="0">
                <a:solidFill>
                  <a:srgbClr val="7030A0"/>
                </a:solidFill>
              </a:rPr>
              <a:t>中断检测电路</a:t>
            </a:r>
            <a:r>
              <a:rPr lang="en-US" altLang="zh-CN" sz="2400" dirty="0" smtClean="0"/>
              <a:t>,</a:t>
            </a:r>
            <a:r>
              <a:rPr lang="zh-CN" altLang="en-US" sz="2400" dirty="0" smtClean="0"/>
              <a:t>这个边沿检测电路受上升沿或下降沿选择寄存器控制</a:t>
            </a:r>
            <a:r>
              <a:rPr lang="en-US" altLang="zh-CN" sz="2400" dirty="0" smtClean="0"/>
              <a:t>,</a:t>
            </a:r>
            <a:r>
              <a:rPr lang="zh-CN" altLang="en-US" sz="2400" dirty="0" smtClean="0"/>
              <a:t>用户可以使用这两个寄存器控制需要哪一个边沿产生中断</a:t>
            </a:r>
            <a:r>
              <a:rPr lang="en-US" altLang="zh-CN" sz="2400" dirty="0" smtClean="0"/>
              <a:t>,</a:t>
            </a:r>
            <a:r>
              <a:rPr lang="zh-CN" altLang="en-US" sz="2400" dirty="0" smtClean="0"/>
              <a:t>因为选择上升沿或下降沿是分别受</a:t>
            </a:r>
            <a:r>
              <a:rPr lang="en-US" altLang="zh-CN" sz="2400" dirty="0" smtClean="0"/>
              <a:t>2</a:t>
            </a:r>
            <a:r>
              <a:rPr lang="zh-CN" altLang="en-US" sz="2400" dirty="0" smtClean="0"/>
              <a:t>个平行的寄存器控制</a:t>
            </a:r>
            <a:r>
              <a:rPr lang="en-US" altLang="zh-CN" sz="2400" dirty="0" smtClean="0"/>
              <a:t>,</a:t>
            </a:r>
            <a:r>
              <a:rPr lang="zh-CN" altLang="en-US" sz="2400" dirty="0" smtClean="0"/>
              <a:t>所以用户可以同时选择上升沿或下降沿</a:t>
            </a:r>
            <a:r>
              <a:rPr lang="en-US" altLang="zh-CN" sz="2400" dirty="0" smtClean="0"/>
              <a:t>,</a:t>
            </a:r>
            <a:r>
              <a:rPr lang="zh-CN" altLang="en-US" sz="2400" dirty="0" smtClean="0"/>
              <a:t>而如果只有一个寄存器控制</a:t>
            </a:r>
            <a:r>
              <a:rPr lang="en-US" altLang="zh-CN" sz="2400" dirty="0" smtClean="0"/>
              <a:t>,</a:t>
            </a:r>
            <a:r>
              <a:rPr lang="zh-CN" altLang="en-US" sz="2400" dirty="0" smtClean="0"/>
              <a:t>那么只能选择一个边沿了</a:t>
            </a:r>
            <a:r>
              <a:rPr lang="en-US" altLang="zh-CN" sz="2400" dirty="0" smtClean="0"/>
              <a:t>.</a:t>
            </a:r>
          </a:p>
          <a:p>
            <a:pPr>
              <a:lnSpc>
                <a:spcPct val="150000"/>
              </a:lnSpc>
            </a:pPr>
            <a:endParaRPr lang="zh-CN" altLang="en-US" sz="24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smtClean="0"/>
              <a:t>接下来是编号</a:t>
            </a:r>
            <a:r>
              <a:rPr lang="en-US" altLang="zh-CN" sz="2400" dirty="0" smtClean="0"/>
              <a:t>3</a:t>
            </a:r>
            <a:r>
              <a:rPr lang="zh-CN" altLang="en-US" sz="2400" dirty="0" smtClean="0"/>
              <a:t>的或门</a:t>
            </a:r>
            <a:r>
              <a:rPr lang="en-US" altLang="zh-CN" sz="2400" dirty="0" smtClean="0"/>
              <a:t>,</a:t>
            </a:r>
            <a:r>
              <a:rPr lang="zh-CN" altLang="en-US" sz="2400" dirty="0" smtClean="0"/>
              <a:t>这个或门的另一个输入是软件中断</a:t>
            </a:r>
            <a:r>
              <a:rPr lang="en-US" altLang="zh-CN" sz="2400" dirty="0" smtClean="0"/>
              <a:t>/</a:t>
            </a:r>
            <a:r>
              <a:rPr lang="zh-CN" altLang="en-US" sz="2400" dirty="0" smtClean="0"/>
              <a:t>事件寄存器</a:t>
            </a:r>
            <a:r>
              <a:rPr lang="en-US" altLang="zh-CN" sz="2400" dirty="0" smtClean="0"/>
              <a:t>,</a:t>
            </a:r>
            <a:r>
              <a:rPr lang="zh-CN" altLang="en-US" sz="2400" dirty="0" smtClean="0"/>
              <a:t>从这里可以看出</a:t>
            </a:r>
            <a:r>
              <a:rPr lang="en-US" altLang="zh-CN" sz="2400" dirty="0" smtClean="0"/>
              <a:t>,</a:t>
            </a:r>
            <a:r>
              <a:rPr lang="zh-CN" altLang="en-US" sz="2400" b="1" dirty="0" smtClean="0">
                <a:solidFill>
                  <a:srgbClr val="7030A0"/>
                </a:solidFill>
              </a:rPr>
              <a:t>软件可以优先于外部信号请求一个中断或事件</a:t>
            </a:r>
            <a:r>
              <a:rPr lang="en-US" altLang="zh-CN" sz="2400" dirty="0" smtClean="0"/>
              <a:t>,</a:t>
            </a:r>
            <a:r>
              <a:rPr lang="zh-CN" altLang="en-US" sz="2400" dirty="0" smtClean="0"/>
              <a:t>即当软件中断</a:t>
            </a:r>
            <a:r>
              <a:rPr lang="en-US" altLang="zh-CN" sz="2400" dirty="0" smtClean="0"/>
              <a:t>/</a:t>
            </a:r>
            <a:r>
              <a:rPr lang="zh-CN" altLang="en-US" sz="2400" dirty="0" smtClean="0"/>
              <a:t>事件寄存器的对应位为</a:t>
            </a:r>
            <a:r>
              <a:rPr lang="en-US" altLang="zh-CN" sz="2400" dirty="0" smtClean="0"/>
              <a:t>"1"</a:t>
            </a:r>
            <a:r>
              <a:rPr lang="zh-CN" altLang="en-US" sz="2400" dirty="0" smtClean="0"/>
              <a:t>时</a:t>
            </a:r>
            <a:r>
              <a:rPr lang="en-US" altLang="zh-CN" sz="2400" dirty="0" smtClean="0"/>
              <a:t>,</a:t>
            </a:r>
            <a:r>
              <a:rPr lang="zh-CN" altLang="en-US" sz="2400" dirty="0" smtClean="0"/>
              <a:t>不管外部信号如何</a:t>
            </a:r>
            <a:r>
              <a:rPr lang="en-US" altLang="zh-CN" sz="2400" dirty="0" smtClean="0"/>
              <a:t>,</a:t>
            </a:r>
            <a:r>
              <a:rPr lang="zh-CN" altLang="en-US" sz="2400" dirty="0" smtClean="0"/>
              <a:t>编号</a:t>
            </a:r>
            <a:r>
              <a:rPr lang="en-US" altLang="zh-CN" sz="2400" dirty="0" smtClean="0"/>
              <a:t>3</a:t>
            </a:r>
            <a:r>
              <a:rPr lang="zh-CN" altLang="en-US" sz="2400" dirty="0" smtClean="0"/>
              <a:t>的或门都会输出有效信号</a:t>
            </a:r>
            <a:r>
              <a:rPr lang="en-US" altLang="zh-CN" sz="2400" dirty="0" smtClean="0"/>
              <a:t>.</a:t>
            </a:r>
          </a:p>
          <a:p>
            <a:pPr>
              <a:lnSpc>
                <a:spcPct val="150000"/>
              </a:lnSpc>
            </a:pPr>
            <a:r>
              <a:rPr lang="zh-CN" altLang="en-US" sz="2400" dirty="0" smtClean="0"/>
              <a:t>一个中断或事件请求信号经过编号</a:t>
            </a:r>
            <a:r>
              <a:rPr lang="en-US" altLang="zh-CN" sz="2400" dirty="0" smtClean="0"/>
              <a:t>3</a:t>
            </a:r>
            <a:r>
              <a:rPr lang="zh-CN" altLang="en-US" sz="2400" dirty="0" smtClean="0"/>
              <a:t>的或门后</a:t>
            </a:r>
            <a:r>
              <a:rPr lang="en-US" altLang="zh-CN" sz="2400" dirty="0" smtClean="0"/>
              <a:t>,</a:t>
            </a:r>
            <a:r>
              <a:rPr lang="zh-CN" altLang="en-US" sz="2400" dirty="0" smtClean="0"/>
              <a:t>进入挂起请求寄存器</a:t>
            </a:r>
            <a:r>
              <a:rPr lang="en-US" altLang="zh-CN" sz="2400" dirty="0" smtClean="0"/>
              <a:t>,</a:t>
            </a:r>
            <a:r>
              <a:rPr lang="zh-CN" altLang="en-US" sz="2400" dirty="0" smtClean="0"/>
              <a:t>到此之前</a:t>
            </a:r>
            <a:r>
              <a:rPr lang="en-US" altLang="zh-CN" sz="2400" dirty="0" smtClean="0"/>
              <a:t>,</a:t>
            </a:r>
            <a:r>
              <a:rPr lang="zh-CN" altLang="en-US" sz="2400" dirty="0" smtClean="0"/>
              <a:t>中断和事件的信号传输通路都是一致的</a:t>
            </a:r>
            <a:r>
              <a:rPr lang="en-US" altLang="zh-CN" sz="2400" dirty="0" smtClean="0"/>
              <a:t>,</a:t>
            </a:r>
            <a:r>
              <a:rPr lang="zh-CN" altLang="en-US" sz="2400" dirty="0" smtClean="0"/>
              <a:t>也就是说</a:t>
            </a:r>
            <a:r>
              <a:rPr lang="en-US" altLang="zh-CN" sz="2400" dirty="0" smtClean="0"/>
              <a:t>,</a:t>
            </a:r>
            <a:r>
              <a:rPr lang="zh-CN" altLang="en-US" sz="2400" dirty="0" smtClean="0"/>
              <a:t>挂起请求寄存器中记录了外部信号的电平变化</a:t>
            </a:r>
            <a:r>
              <a:rPr lang="en-US" altLang="zh-CN" sz="2400" dirty="0" smtClean="0"/>
              <a:t>.</a:t>
            </a:r>
          </a:p>
          <a:p>
            <a:pPr>
              <a:lnSpc>
                <a:spcPct val="150000"/>
              </a:lnSpc>
            </a:pPr>
            <a:r>
              <a:rPr lang="zh-CN" altLang="en-US" sz="2400" dirty="0" smtClean="0"/>
              <a:t>外部请求信号最后经过编号</a:t>
            </a:r>
            <a:r>
              <a:rPr lang="en-US" altLang="zh-CN" sz="2400" dirty="0" smtClean="0"/>
              <a:t>4</a:t>
            </a:r>
            <a:r>
              <a:rPr lang="zh-CN" altLang="en-US" sz="2400" dirty="0" smtClean="0"/>
              <a:t>的与门</a:t>
            </a:r>
            <a:r>
              <a:rPr lang="en-US" altLang="zh-CN" sz="2400" dirty="0" smtClean="0"/>
              <a:t>,</a:t>
            </a:r>
            <a:r>
              <a:rPr lang="zh-CN" altLang="en-US" sz="2400" dirty="0" smtClean="0"/>
              <a:t>向</a:t>
            </a:r>
            <a:r>
              <a:rPr lang="en-US" altLang="zh-CN" sz="2400" dirty="0" smtClean="0"/>
              <a:t>NVIC</a:t>
            </a:r>
            <a:r>
              <a:rPr lang="zh-CN" altLang="en-US" sz="2400" dirty="0" smtClean="0"/>
              <a:t>中断控制器发出一个中断请求</a:t>
            </a:r>
            <a:r>
              <a:rPr lang="en-US" altLang="zh-CN" sz="2400" dirty="0" smtClean="0"/>
              <a:t>,</a:t>
            </a:r>
            <a:r>
              <a:rPr lang="zh-CN" altLang="en-US" sz="2400" dirty="0" smtClean="0"/>
              <a:t>如果中断屏蔽寄存器的对应位为</a:t>
            </a:r>
            <a:r>
              <a:rPr lang="en-US" altLang="zh-CN" sz="2400" dirty="0" smtClean="0"/>
              <a:t>"0",</a:t>
            </a:r>
            <a:r>
              <a:rPr lang="zh-CN" altLang="en-US" sz="2400" dirty="0" smtClean="0"/>
              <a:t>则该请求信号不能传输到与门的另一端</a:t>
            </a:r>
            <a:r>
              <a:rPr lang="en-US" altLang="zh-CN" sz="2400" dirty="0" smtClean="0"/>
              <a:t>,</a:t>
            </a:r>
            <a:r>
              <a:rPr lang="zh-CN" altLang="en-US" sz="2400" dirty="0" smtClean="0"/>
              <a:t>实现了中断的屏蔽</a:t>
            </a:r>
            <a:r>
              <a:rPr lang="en-US" altLang="zh-CN" sz="2400" dirty="0" smtClean="0"/>
              <a:t>.</a:t>
            </a:r>
          </a:p>
          <a:p>
            <a:pPr>
              <a:lnSpc>
                <a:spcPct val="150000"/>
              </a:lnSpc>
            </a:pPr>
            <a:endParaRPr lang="zh-CN" altLang="en-US"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smtClean="0"/>
              <a:t>接下来是编号</a:t>
            </a:r>
            <a:r>
              <a:rPr lang="en-US" altLang="zh-CN" sz="2400" dirty="0" smtClean="0"/>
              <a:t>3</a:t>
            </a:r>
            <a:r>
              <a:rPr lang="zh-CN" altLang="en-US" sz="2400" dirty="0" smtClean="0"/>
              <a:t>的或门</a:t>
            </a:r>
            <a:r>
              <a:rPr lang="en-US" altLang="zh-CN" sz="2400" dirty="0" smtClean="0"/>
              <a:t>,</a:t>
            </a:r>
            <a:r>
              <a:rPr lang="zh-CN" altLang="en-US" sz="2400" dirty="0" smtClean="0"/>
              <a:t>这个或门的另一个输入是软件中断</a:t>
            </a:r>
            <a:r>
              <a:rPr lang="en-US" altLang="zh-CN" sz="2400" dirty="0" smtClean="0"/>
              <a:t>/</a:t>
            </a:r>
            <a:r>
              <a:rPr lang="zh-CN" altLang="en-US" sz="2400" dirty="0" smtClean="0"/>
              <a:t>事件寄存器</a:t>
            </a:r>
            <a:r>
              <a:rPr lang="en-US" altLang="zh-CN" sz="2400" dirty="0" smtClean="0"/>
              <a:t>,</a:t>
            </a:r>
            <a:r>
              <a:rPr lang="zh-CN" altLang="en-US" sz="2400" dirty="0" smtClean="0"/>
              <a:t>从这里可以看出</a:t>
            </a:r>
            <a:r>
              <a:rPr lang="en-US" altLang="zh-CN" sz="2400" dirty="0" smtClean="0"/>
              <a:t>,</a:t>
            </a:r>
            <a:r>
              <a:rPr lang="zh-CN" altLang="en-US" sz="2400" b="1" dirty="0" smtClean="0">
                <a:solidFill>
                  <a:srgbClr val="7030A0"/>
                </a:solidFill>
              </a:rPr>
              <a:t>软件可以优先于外部信号请求一个中断或事件</a:t>
            </a:r>
            <a:r>
              <a:rPr lang="en-US" altLang="zh-CN" sz="2400" dirty="0" smtClean="0"/>
              <a:t>,</a:t>
            </a:r>
            <a:r>
              <a:rPr lang="zh-CN" altLang="en-US" sz="2400" dirty="0" smtClean="0"/>
              <a:t>即当软件中断</a:t>
            </a:r>
            <a:r>
              <a:rPr lang="en-US" altLang="zh-CN" sz="2400" dirty="0" smtClean="0"/>
              <a:t>/</a:t>
            </a:r>
            <a:r>
              <a:rPr lang="zh-CN" altLang="en-US" sz="2400" dirty="0" smtClean="0"/>
              <a:t>事件寄存器的对应位为</a:t>
            </a:r>
            <a:r>
              <a:rPr lang="en-US" altLang="zh-CN" sz="2400" dirty="0" smtClean="0"/>
              <a:t>"1"</a:t>
            </a:r>
            <a:r>
              <a:rPr lang="zh-CN" altLang="en-US" sz="2400" dirty="0" smtClean="0"/>
              <a:t>时</a:t>
            </a:r>
            <a:r>
              <a:rPr lang="en-US" altLang="zh-CN" sz="2400" dirty="0" smtClean="0"/>
              <a:t>,</a:t>
            </a:r>
            <a:r>
              <a:rPr lang="zh-CN" altLang="en-US" sz="2400" dirty="0" smtClean="0"/>
              <a:t>不管外部信号如何</a:t>
            </a:r>
            <a:r>
              <a:rPr lang="en-US" altLang="zh-CN" sz="2400" dirty="0" smtClean="0"/>
              <a:t>,</a:t>
            </a:r>
            <a:r>
              <a:rPr lang="zh-CN" altLang="en-US" sz="2400" dirty="0" smtClean="0"/>
              <a:t>编号</a:t>
            </a:r>
            <a:r>
              <a:rPr lang="en-US" altLang="zh-CN" sz="2400" dirty="0" smtClean="0"/>
              <a:t>3</a:t>
            </a:r>
            <a:r>
              <a:rPr lang="zh-CN" altLang="en-US" sz="2400" dirty="0" smtClean="0"/>
              <a:t>的或门都会输出有效信号</a:t>
            </a:r>
            <a:r>
              <a:rPr lang="en-US" altLang="zh-CN" sz="2400" dirty="0" smtClean="0"/>
              <a:t>.</a:t>
            </a:r>
          </a:p>
          <a:p>
            <a:pPr>
              <a:lnSpc>
                <a:spcPct val="150000"/>
              </a:lnSpc>
            </a:pPr>
            <a:r>
              <a:rPr lang="zh-CN" altLang="en-US" sz="2400" dirty="0" smtClean="0"/>
              <a:t>一个中断或事件请求信号经过编号</a:t>
            </a:r>
            <a:r>
              <a:rPr lang="en-US" altLang="zh-CN" sz="2400" dirty="0" smtClean="0"/>
              <a:t>3</a:t>
            </a:r>
            <a:r>
              <a:rPr lang="zh-CN" altLang="en-US" sz="2400" dirty="0" smtClean="0"/>
              <a:t>的或门后</a:t>
            </a:r>
            <a:r>
              <a:rPr lang="en-US" altLang="zh-CN" sz="2400" dirty="0" smtClean="0"/>
              <a:t>,</a:t>
            </a:r>
            <a:r>
              <a:rPr lang="zh-CN" altLang="en-US" sz="2400" dirty="0" smtClean="0"/>
              <a:t>进入挂起请求寄存器</a:t>
            </a:r>
            <a:r>
              <a:rPr lang="en-US" altLang="zh-CN" sz="2400" dirty="0" smtClean="0"/>
              <a:t>,</a:t>
            </a:r>
            <a:r>
              <a:rPr lang="zh-CN" altLang="en-US" sz="2400" dirty="0" smtClean="0"/>
              <a:t>到此之前</a:t>
            </a:r>
            <a:r>
              <a:rPr lang="en-US" altLang="zh-CN" sz="2400" dirty="0" smtClean="0"/>
              <a:t>,</a:t>
            </a:r>
            <a:r>
              <a:rPr lang="zh-CN" altLang="en-US" sz="2400" dirty="0" smtClean="0"/>
              <a:t>中断和事件的信号传输通路都是一致的</a:t>
            </a:r>
            <a:r>
              <a:rPr lang="en-US" altLang="zh-CN" sz="2400" dirty="0" smtClean="0"/>
              <a:t>,</a:t>
            </a:r>
            <a:r>
              <a:rPr lang="zh-CN" altLang="en-US" sz="2400" dirty="0" smtClean="0"/>
              <a:t>也就是说</a:t>
            </a:r>
            <a:r>
              <a:rPr lang="en-US" altLang="zh-CN" sz="2400" dirty="0" smtClean="0"/>
              <a:t>,</a:t>
            </a:r>
            <a:r>
              <a:rPr lang="zh-CN" altLang="en-US" sz="2400" dirty="0" smtClean="0"/>
              <a:t>挂起请求寄存器中记录了外部信号的电平变化</a:t>
            </a:r>
            <a:r>
              <a:rPr lang="en-US" altLang="zh-CN" sz="2400" dirty="0" smtClean="0"/>
              <a:t>.</a:t>
            </a:r>
          </a:p>
          <a:p>
            <a:pPr>
              <a:lnSpc>
                <a:spcPct val="150000"/>
              </a:lnSpc>
            </a:pPr>
            <a:r>
              <a:rPr lang="zh-CN" altLang="en-US" sz="2400" dirty="0" smtClean="0"/>
              <a:t>外部请求信号最后经过编号</a:t>
            </a:r>
            <a:r>
              <a:rPr lang="en-US" altLang="zh-CN" sz="2400" dirty="0" smtClean="0"/>
              <a:t>4</a:t>
            </a:r>
            <a:r>
              <a:rPr lang="zh-CN" altLang="en-US" sz="2400" dirty="0" smtClean="0"/>
              <a:t>的与门</a:t>
            </a:r>
            <a:r>
              <a:rPr lang="en-US" altLang="zh-CN" sz="2400" dirty="0" smtClean="0"/>
              <a:t>,</a:t>
            </a:r>
            <a:r>
              <a:rPr lang="zh-CN" altLang="en-US" sz="2400" dirty="0" smtClean="0"/>
              <a:t>向</a:t>
            </a:r>
            <a:r>
              <a:rPr lang="en-US" altLang="zh-CN" sz="2400" dirty="0" smtClean="0"/>
              <a:t>NVIC</a:t>
            </a:r>
            <a:r>
              <a:rPr lang="zh-CN" altLang="en-US" sz="2400" dirty="0" smtClean="0"/>
              <a:t>中断控制器发出一个中断请求</a:t>
            </a:r>
            <a:r>
              <a:rPr lang="en-US" altLang="zh-CN" sz="2400" dirty="0" smtClean="0"/>
              <a:t>,</a:t>
            </a:r>
            <a:r>
              <a:rPr lang="zh-CN" altLang="en-US" sz="2400" dirty="0" smtClean="0"/>
              <a:t>如果中断屏蔽寄存器的对应位为</a:t>
            </a:r>
            <a:r>
              <a:rPr lang="en-US" altLang="zh-CN" sz="2400" dirty="0" smtClean="0"/>
              <a:t>"0",</a:t>
            </a:r>
            <a:r>
              <a:rPr lang="zh-CN" altLang="en-US" sz="2400" dirty="0" smtClean="0"/>
              <a:t>则该请求信号不能传输到与门的另一端</a:t>
            </a:r>
            <a:r>
              <a:rPr lang="en-US" altLang="zh-CN" sz="2400" dirty="0" smtClean="0"/>
              <a:t>,</a:t>
            </a:r>
            <a:r>
              <a:rPr lang="zh-CN" altLang="en-US" sz="2400" dirty="0" smtClean="0"/>
              <a:t>实现了中断的屏蔽</a:t>
            </a:r>
            <a:r>
              <a:rPr lang="en-US" altLang="zh-CN" sz="2400" dirty="0" smtClean="0"/>
              <a:t>.</a:t>
            </a:r>
          </a:p>
          <a:p>
            <a:pPr>
              <a:lnSpc>
                <a:spcPct val="150000"/>
              </a:lnSpc>
            </a:pPr>
            <a:endParaRPr lang="zh-CN" alt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smtClean="0"/>
              <a:t>图中红色虚线箭头</a:t>
            </a:r>
            <a:r>
              <a:rPr lang="en-US" altLang="zh-CN" sz="2400" dirty="0" smtClean="0"/>
              <a:t>,</a:t>
            </a:r>
            <a:r>
              <a:rPr lang="zh-CN" altLang="en-US" sz="2400" dirty="0" smtClean="0"/>
              <a:t>标出了外部事件信号的传输路径</a:t>
            </a:r>
            <a:r>
              <a:rPr lang="en-US" altLang="zh-CN" sz="2400" dirty="0" smtClean="0"/>
              <a:t>,</a:t>
            </a:r>
            <a:r>
              <a:rPr lang="zh-CN" altLang="en-US" sz="2400" dirty="0" smtClean="0"/>
              <a:t>外部请求信号经过编号</a:t>
            </a:r>
            <a:r>
              <a:rPr lang="en-US" altLang="zh-CN" sz="2400" dirty="0" smtClean="0"/>
              <a:t>3</a:t>
            </a:r>
            <a:r>
              <a:rPr lang="zh-CN" altLang="en-US" sz="2400" dirty="0" smtClean="0"/>
              <a:t>的或门后</a:t>
            </a:r>
            <a:r>
              <a:rPr lang="en-US" altLang="zh-CN" sz="2400" dirty="0" smtClean="0"/>
              <a:t>,</a:t>
            </a:r>
            <a:r>
              <a:rPr lang="zh-CN" altLang="en-US" sz="2400" dirty="0" smtClean="0"/>
              <a:t>进入编号</a:t>
            </a:r>
            <a:r>
              <a:rPr lang="en-US" altLang="zh-CN" sz="2400" dirty="0" smtClean="0"/>
              <a:t>5</a:t>
            </a:r>
            <a:r>
              <a:rPr lang="zh-CN" altLang="en-US" sz="2400" dirty="0" smtClean="0"/>
              <a:t>的与门</a:t>
            </a:r>
            <a:r>
              <a:rPr lang="en-US" altLang="zh-CN" sz="2400" dirty="0" smtClean="0"/>
              <a:t>,</a:t>
            </a:r>
            <a:r>
              <a:rPr lang="zh-CN" altLang="en-US" sz="2400" dirty="0" smtClean="0"/>
              <a:t>这个与门的作用与编号</a:t>
            </a:r>
            <a:r>
              <a:rPr lang="en-US" altLang="zh-CN" sz="2400" dirty="0" smtClean="0"/>
              <a:t>4</a:t>
            </a:r>
            <a:r>
              <a:rPr lang="zh-CN" altLang="en-US" sz="2400" dirty="0" smtClean="0"/>
              <a:t>的与门类似</a:t>
            </a:r>
            <a:r>
              <a:rPr lang="en-US" altLang="zh-CN" sz="2400" dirty="0" smtClean="0"/>
              <a:t>,</a:t>
            </a:r>
            <a:r>
              <a:rPr lang="zh-CN" altLang="en-US" sz="2400" dirty="0" smtClean="0"/>
              <a:t>用于引入事件屏蔽寄存器的控制</a:t>
            </a:r>
            <a:r>
              <a:rPr lang="en-US" altLang="zh-CN" sz="2400" dirty="0" smtClean="0"/>
              <a:t>;</a:t>
            </a:r>
            <a:r>
              <a:rPr lang="zh-CN" altLang="en-US" sz="2400" b="1" dirty="0" smtClean="0">
                <a:solidFill>
                  <a:srgbClr val="7030A0"/>
                </a:solidFill>
              </a:rPr>
              <a:t>最后脉冲发生器的一个跳变的信号转变为一个单脉冲</a:t>
            </a:r>
            <a:r>
              <a:rPr lang="en-US" altLang="zh-CN" sz="2400" b="1" dirty="0" smtClean="0">
                <a:solidFill>
                  <a:srgbClr val="7030A0"/>
                </a:solidFill>
              </a:rPr>
              <a:t>,</a:t>
            </a:r>
            <a:r>
              <a:rPr lang="zh-CN" altLang="en-US" sz="2400" b="1" dirty="0" smtClean="0">
                <a:solidFill>
                  <a:srgbClr val="7030A0"/>
                </a:solidFill>
              </a:rPr>
              <a:t>输出到芯片中的其它功能模块</a:t>
            </a:r>
            <a:r>
              <a:rPr lang="en-US" altLang="zh-CN" sz="2400" b="1" dirty="0" smtClean="0">
                <a:solidFill>
                  <a:srgbClr val="7030A0"/>
                </a:solidFill>
              </a:rPr>
              <a:t>.</a:t>
            </a:r>
          </a:p>
          <a:p>
            <a:pPr>
              <a:lnSpc>
                <a:spcPct val="150000"/>
              </a:lnSpc>
            </a:pPr>
            <a:r>
              <a:rPr lang="zh-CN" altLang="en-US" sz="2400" dirty="0" smtClean="0"/>
              <a:t>从这张图上我们也可以知道</a:t>
            </a:r>
            <a:r>
              <a:rPr lang="en-US" altLang="zh-CN" sz="2400" dirty="0" smtClean="0"/>
              <a:t>,</a:t>
            </a:r>
            <a:r>
              <a:rPr lang="zh-CN" altLang="en-US" sz="2400" dirty="0" smtClean="0"/>
              <a:t>从外部激励信号来看</a:t>
            </a:r>
            <a:r>
              <a:rPr lang="en-US" altLang="zh-CN" sz="2400" dirty="0" smtClean="0"/>
              <a:t>,</a:t>
            </a:r>
            <a:r>
              <a:rPr lang="zh-CN" altLang="en-US" sz="2400" dirty="0" smtClean="0"/>
              <a:t>中断和事件的产生源都可以是一样的</a:t>
            </a:r>
            <a:r>
              <a:rPr lang="en-US" altLang="zh-CN" sz="2400" dirty="0" smtClean="0"/>
              <a:t>.</a:t>
            </a:r>
            <a:r>
              <a:rPr lang="zh-CN" altLang="en-US" sz="2400" dirty="0" smtClean="0"/>
              <a:t>之所以分成</a:t>
            </a:r>
            <a:r>
              <a:rPr lang="en-US" altLang="zh-CN" sz="2400" dirty="0" smtClean="0"/>
              <a:t>2</a:t>
            </a:r>
            <a:r>
              <a:rPr lang="zh-CN" altLang="en-US" sz="2400" dirty="0" smtClean="0"/>
              <a:t>个部分</a:t>
            </a:r>
            <a:r>
              <a:rPr lang="en-US" altLang="zh-CN" sz="2400" dirty="0" smtClean="0"/>
              <a:t>,</a:t>
            </a:r>
            <a:r>
              <a:rPr lang="zh-CN" altLang="en-US" sz="2400" b="1" dirty="0" smtClean="0">
                <a:solidFill>
                  <a:srgbClr val="7030A0"/>
                </a:solidFill>
              </a:rPr>
              <a:t>由于中断是需要</a:t>
            </a:r>
            <a:r>
              <a:rPr lang="en-US" altLang="zh-CN" sz="2400" b="1" dirty="0" smtClean="0">
                <a:solidFill>
                  <a:srgbClr val="7030A0"/>
                </a:solidFill>
              </a:rPr>
              <a:t>CPU</a:t>
            </a:r>
            <a:r>
              <a:rPr lang="zh-CN" altLang="en-US" sz="2400" b="1" dirty="0" smtClean="0">
                <a:solidFill>
                  <a:srgbClr val="7030A0"/>
                </a:solidFill>
              </a:rPr>
              <a:t>参与的</a:t>
            </a:r>
            <a:r>
              <a:rPr lang="en-US" altLang="zh-CN" sz="2400" b="1" dirty="0" smtClean="0">
                <a:solidFill>
                  <a:srgbClr val="7030A0"/>
                </a:solidFill>
              </a:rPr>
              <a:t>,</a:t>
            </a:r>
            <a:r>
              <a:rPr lang="zh-CN" altLang="en-US" sz="2400" b="1" dirty="0" smtClean="0">
                <a:solidFill>
                  <a:srgbClr val="7030A0"/>
                </a:solidFill>
              </a:rPr>
              <a:t>需要软件的中断服务函数才能完成中断后产生的结果</a:t>
            </a:r>
            <a:r>
              <a:rPr lang="en-US" altLang="zh-CN" sz="2400" b="1" dirty="0" smtClean="0">
                <a:solidFill>
                  <a:srgbClr val="7030A0"/>
                </a:solidFill>
              </a:rPr>
              <a:t>;</a:t>
            </a:r>
            <a:r>
              <a:rPr lang="zh-CN" altLang="en-US" sz="2400" b="1" dirty="0" smtClean="0">
                <a:solidFill>
                  <a:srgbClr val="7030A0"/>
                </a:solidFill>
              </a:rPr>
              <a:t>但是事件</a:t>
            </a:r>
            <a:r>
              <a:rPr lang="en-US" altLang="zh-CN" sz="2400" b="1" dirty="0" smtClean="0">
                <a:solidFill>
                  <a:srgbClr val="7030A0"/>
                </a:solidFill>
              </a:rPr>
              <a:t>,</a:t>
            </a:r>
            <a:r>
              <a:rPr lang="zh-CN" altLang="en-US" sz="2400" b="1" dirty="0" smtClean="0">
                <a:solidFill>
                  <a:srgbClr val="7030A0"/>
                </a:solidFill>
              </a:rPr>
              <a:t>是靠脉冲发生器产生一个脉冲</a:t>
            </a:r>
            <a:r>
              <a:rPr lang="en-US" altLang="zh-CN" sz="2400" b="1" dirty="0" smtClean="0">
                <a:solidFill>
                  <a:srgbClr val="7030A0"/>
                </a:solidFill>
              </a:rPr>
              <a:t>,</a:t>
            </a:r>
            <a:r>
              <a:rPr lang="zh-CN" altLang="en-US" sz="2400" b="1" dirty="0" smtClean="0">
                <a:solidFill>
                  <a:srgbClr val="7030A0"/>
                </a:solidFill>
              </a:rPr>
              <a:t>进而由硬件自动完成这个事件产生的结果</a:t>
            </a:r>
            <a:r>
              <a:rPr lang="en-US" altLang="zh-CN" sz="2400" b="1" dirty="0" smtClean="0">
                <a:solidFill>
                  <a:srgbClr val="7030A0"/>
                </a:solidFill>
              </a:rPr>
              <a:t>,</a:t>
            </a:r>
            <a:r>
              <a:rPr lang="zh-CN" altLang="en-US" sz="2400" b="1" dirty="0" smtClean="0">
                <a:solidFill>
                  <a:srgbClr val="7030A0"/>
                </a:solidFill>
              </a:rPr>
              <a:t>当然相应的联动部件需要先设置好</a:t>
            </a:r>
            <a:r>
              <a:rPr lang="en-US" altLang="zh-CN" sz="2400" b="1" dirty="0" smtClean="0">
                <a:solidFill>
                  <a:srgbClr val="7030A0"/>
                </a:solidFill>
              </a:rPr>
              <a:t>,</a:t>
            </a:r>
            <a:r>
              <a:rPr lang="zh-CN" altLang="en-US" sz="2400" dirty="0" smtClean="0"/>
              <a:t>比如引起</a:t>
            </a:r>
            <a:r>
              <a:rPr lang="en-US" altLang="zh-CN" sz="2400" dirty="0" smtClean="0"/>
              <a:t>DMA</a:t>
            </a:r>
            <a:r>
              <a:rPr lang="zh-CN" altLang="en-US" sz="2400" dirty="0" smtClean="0"/>
              <a:t>操作</a:t>
            </a:r>
            <a:r>
              <a:rPr lang="en-US" altLang="zh-CN" sz="2400" dirty="0" smtClean="0"/>
              <a:t>,AD</a:t>
            </a:r>
            <a:r>
              <a:rPr lang="zh-CN" altLang="en-US" sz="2400" dirty="0" smtClean="0"/>
              <a:t>转换等</a:t>
            </a:r>
            <a:r>
              <a:rPr lang="en-US" altLang="zh-CN" sz="2400" dirty="0" smtClean="0"/>
              <a:t>;</a:t>
            </a:r>
            <a:br>
              <a:rPr lang="en-US" altLang="zh-CN" sz="2400" dirty="0" smtClean="0"/>
            </a:br>
            <a:endParaRPr lang="zh-CN" alt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smtClean="0"/>
              <a:t>图中红色虚线箭头</a:t>
            </a:r>
            <a:r>
              <a:rPr lang="en-US" altLang="zh-CN" sz="2400" dirty="0" smtClean="0"/>
              <a:t>,</a:t>
            </a:r>
            <a:r>
              <a:rPr lang="zh-CN" altLang="en-US" sz="2400" dirty="0" smtClean="0"/>
              <a:t>标出了外部事件信号的传输路径</a:t>
            </a:r>
            <a:r>
              <a:rPr lang="en-US" altLang="zh-CN" sz="2400" dirty="0" smtClean="0"/>
              <a:t>,</a:t>
            </a:r>
            <a:r>
              <a:rPr lang="zh-CN" altLang="en-US" sz="2400" dirty="0" smtClean="0"/>
              <a:t>外部请求信号经过编号</a:t>
            </a:r>
            <a:r>
              <a:rPr lang="en-US" altLang="zh-CN" sz="2400" dirty="0" smtClean="0"/>
              <a:t>3</a:t>
            </a:r>
            <a:r>
              <a:rPr lang="zh-CN" altLang="en-US" sz="2400" dirty="0" smtClean="0"/>
              <a:t>的或门后</a:t>
            </a:r>
            <a:r>
              <a:rPr lang="en-US" altLang="zh-CN" sz="2400" dirty="0" smtClean="0"/>
              <a:t>,</a:t>
            </a:r>
            <a:r>
              <a:rPr lang="zh-CN" altLang="en-US" sz="2400" dirty="0" smtClean="0"/>
              <a:t>进入编号</a:t>
            </a:r>
            <a:r>
              <a:rPr lang="en-US" altLang="zh-CN" sz="2400" dirty="0" smtClean="0"/>
              <a:t>5</a:t>
            </a:r>
            <a:r>
              <a:rPr lang="zh-CN" altLang="en-US" sz="2400" dirty="0" smtClean="0"/>
              <a:t>的与门</a:t>
            </a:r>
            <a:r>
              <a:rPr lang="en-US" altLang="zh-CN" sz="2400" dirty="0" smtClean="0"/>
              <a:t>,</a:t>
            </a:r>
            <a:r>
              <a:rPr lang="zh-CN" altLang="en-US" sz="2400" dirty="0" smtClean="0"/>
              <a:t>这个与门的作用与编号</a:t>
            </a:r>
            <a:r>
              <a:rPr lang="en-US" altLang="zh-CN" sz="2400" dirty="0" smtClean="0"/>
              <a:t>4</a:t>
            </a:r>
            <a:r>
              <a:rPr lang="zh-CN" altLang="en-US" sz="2400" dirty="0" smtClean="0"/>
              <a:t>的与门类似</a:t>
            </a:r>
            <a:r>
              <a:rPr lang="en-US" altLang="zh-CN" sz="2400" dirty="0" smtClean="0"/>
              <a:t>,</a:t>
            </a:r>
            <a:r>
              <a:rPr lang="zh-CN" altLang="en-US" sz="2400" dirty="0" smtClean="0"/>
              <a:t>用于引入事件屏蔽寄存器的控制</a:t>
            </a:r>
            <a:r>
              <a:rPr lang="en-US" altLang="zh-CN" sz="2400" dirty="0" smtClean="0"/>
              <a:t>;</a:t>
            </a:r>
            <a:r>
              <a:rPr lang="zh-CN" altLang="en-US" sz="2400" b="1" dirty="0" smtClean="0">
                <a:solidFill>
                  <a:srgbClr val="7030A0"/>
                </a:solidFill>
              </a:rPr>
              <a:t>最后脉冲发生器的一个跳变的信号转变为一个单脉冲</a:t>
            </a:r>
            <a:r>
              <a:rPr lang="en-US" altLang="zh-CN" sz="2400" b="1" dirty="0" smtClean="0">
                <a:solidFill>
                  <a:srgbClr val="7030A0"/>
                </a:solidFill>
              </a:rPr>
              <a:t>,</a:t>
            </a:r>
            <a:r>
              <a:rPr lang="zh-CN" altLang="en-US" sz="2400" b="1" dirty="0" smtClean="0">
                <a:solidFill>
                  <a:srgbClr val="7030A0"/>
                </a:solidFill>
              </a:rPr>
              <a:t>输出到芯片中的其它功能模块</a:t>
            </a:r>
            <a:r>
              <a:rPr lang="en-US" altLang="zh-CN" sz="2400" b="1" dirty="0" smtClean="0">
                <a:solidFill>
                  <a:srgbClr val="7030A0"/>
                </a:solidFill>
              </a:rPr>
              <a:t>.</a:t>
            </a:r>
          </a:p>
          <a:p>
            <a:pPr>
              <a:lnSpc>
                <a:spcPct val="150000"/>
              </a:lnSpc>
            </a:pPr>
            <a:r>
              <a:rPr lang="zh-CN" altLang="en-US" sz="2400" dirty="0" smtClean="0"/>
              <a:t>从这张图上我们也可以知道</a:t>
            </a:r>
            <a:r>
              <a:rPr lang="en-US" altLang="zh-CN" sz="2400" dirty="0" smtClean="0"/>
              <a:t>,</a:t>
            </a:r>
            <a:r>
              <a:rPr lang="zh-CN" altLang="en-US" sz="2400" dirty="0" smtClean="0"/>
              <a:t>从外部激励信号来看</a:t>
            </a:r>
            <a:r>
              <a:rPr lang="en-US" altLang="zh-CN" sz="2400" dirty="0" smtClean="0"/>
              <a:t>,</a:t>
            </a:r>
            <a:r>
              <a:rPr lang="zh-CN" altLang="en-US" sz="2400" dirty="0" smtClean="0"/>
              <a:t>中断和事件的产生源都可以是一样的</a:t>
            </a:r>
            <a:r>
              <a:rPr lang="en-US" altLang="zh-CN" sz="2400" dirty="0" smtClean="0"/>
              <a:t>.</a:t>
            </a:r>
            <a:r>
              <a:rPr lang="zh-CN" altLang="en-US" sz="2400" dirty="0" smtClean="0"/>
              <a:t>之所以分成</a:t>
            </a:r>
            <a:r>
              <a:rPr lang="en-US" altLang="zh-CN" sz="2400" dirty="0" smtClean="0"/>
              <a:t>2</a:t>
            </a:r>
            <a:r>
              <a:rPr lang="zh-CN" altLang="en-US" sz="2400" dirty="0" smtClean="0"/>
              <a:t>个部分</a:t>
            </a:r>
            <a:r>
              <a:rPr lang="en-US" altLang="zh-CN" sz="2400" dirty="0" smtClean="0"/>
              <a:t>,</a:t>
            </a:r>
            <a:r>
              <a:rPr lang="zh-CN" altLang="en-US" sz="2400" b="1" dirty="0" smtClean="0">
                <a:solidFill>
                  <a:srgbClr val="7030A0"/>
                </a:solidFill>
              </a:rPr>
              <a:t>由于中断是需要</a:t>
            </a:r>
            <a:r>
              <a:rPr lang="en-US" altLang="zh-CN" sz="2400" b="1" dirty="0" smtClean="0">
                <a:solidFill>
                  <a:srgbClr val="7030A0"/>
                </a:solidFill>
              </a:rPr>
              <a:t>CPU</a:t>
            </a:r>
            <a:r>
              <a:rPr lang="zh-CN" altLang="en-US" sz="2400" b="1" dirty="0" smtClean="0">
                <a:solidFill>
                  <a:srgbClr val="7030A0"/>
                </a:solidFill>
              </a:rPr>
              <a:t>参与的</a:t>
            </a:r>
            <a:r>
              <a:rPr lang="en-US" altLang="zh-CN" sz="2400" b="1" dirty="0" smtClean="0">
                <a:solidFill>
                  <a:srgbClr val="7030A0"/>
                </a:solidFill>
              </a:rPr>
              <a:t>,</a:t>
            </a:r>
            <a:r>
              <a:rPr lang="zh-CN" altLang="en-US" sz="2400" b="1" dirty="0" smtClean="0">
                <a:solidFill>
                  <a:srgbClr val="7030A0"/>
                </a:solidFill>
              </a:rPr>
              <a:t>需要软件的中断服务函数才能完成中断后产生的结果</a:t>
            </a:r>
            <a:r>
              <a:rPr lang="en-US" altLang="zh-CN" sz="2400" b="1" dirty="0" smtClean="0">
                <a:solidFill>
                  <a:srgbClr val="7030A0"/>
                </a:solidFill>
              </a:rPr>
              <a:t>;</a:t>
            </a:r>
            <a:r>
              <a:rPr lang="zh-CN" altLang="en-US" sz="2400" b="1" dirty="0" smtClean="0">
                <a:solidFill>
                  <a:srgbClr val="7030A0"/>
                </a:solidFill>
              </a:rPr>
              <a:t>但是事件</a:t>
            </a:r>
            <a:r>
              <a:rPr lang="en-US" altLang="zh-CN" sz="2400" b="1" dirty="0" smtClean="0">
                <a:solidFill>
                  <a:srgbClr val="7030A0"/>
                </a:solidFill>
              </a:rPr>
              <a:t>,</a:t>
            </a:r>
            <a:r>
              <a:rPr lang="zh-CN" altLang="en-US" sz="2400" b="1" dirty="0" smtClean="0">
                <a:solidFill>
                  <a:srgbClr val="7030A0"/>
                </a:solidFill>
              </a:rPr>
              <a:t>是靠脉冲发生器产生一个脉冲</a:t>
            </a:r>
            <a:r>
              <a:rPr lang="en-US" altLang="zh-CN" sz="2400" b="1" dirty="0" smtClean="0">
                <a:solidFill>
                  <a:srgbClr val="7030A0"/>
                </a:solidFill>
              </a:rPr>
              <a:t>,</a:t>
            </a:r>
            <a:r>
              <a:rPr lang="zh-CN" altLang="en-US" sz="2400" b="1" dirty="0" smtClean="0">
                <a:solidFill>
                  <a:srgbClr val="7030A0"/>
                </a:solidFill>
              </a:rPr>
              <a:t>进而由硬件自动完成这个事件产生的结果</a:t>
            </a:r>
            <a:r>
              <a:rPr lang="en-US" altLang="zh-CN" sz="2400" b="1" dirty="0" smtClean="0">
                <a:solidFill>
                  <a:srgbClr val="7030A0"/>
                </a:solidFill>
              </a:rPr>
              <a:t>,</a:t>
            </a:r>
            <a:r>
              <a:rPr lang="zh-CN" altLang="en-US" sz="2400" b="1" dirty="0" smtClean="0">
                <a:solidFill>
                  <a:srgbClr val="7030A0"/>
                </a:solidFill>
              </a:rPr>
              <a:t>当然相应的联动部件需要先设置好</a:t>
            </a:r>
            <a:r>
              <a:rPr lang="en-US" altLang="zh-CN" sz="2400" b="1" dirty="0" smtClean="0">
                <a:solidFill>
                  <a:srgbClr val="7030A0"/>
                </a:solidFill>
              </a:rPr>
              <a:t>,</a:t>
            </a:r>
            <a:r>
              <a:rPr lang="zh-CN" altLang="en-US" sz="2400" dirty="0" smtClean="0"/>
              <a:t>比如引起</a:t>
            </a:r>
            <a:r>
              <a:rPr lang="en-US" altLang="zh-CN" sz="2400" dirty="0" smtClean="0"/>
              <a:t>DMA</a:t>
            </a:r>
            <a:r>
              <a:rPr lang="zh-CN" altLang="en-US" sz="2400" dirty="0" smtClean="0"/>
              <a:t>操作</a:t>
            </a:r>
            <a:r>
              <a:rPr lang="en-US" altLang="zh-CN" sz="2400" dirty="0" smtClean="0"/>
              <a:t>,AD</a:t>
            </a:r>
            <a:r>
              <a:rPr lang="zh-CN" altLang="en-US" sz="2400" dirty="0" smtClean="0"/>
              <a:t>转换等</a:t>
            </a:r>
            <a:r>
              <a:rPr lang="en-US" altLang="zh-CN" sz="2400" dirty="0" smtClean="0"/>
              <a:t>;</a:t>
            </a:r>
            <a:br>
              <a:rPr lang="en-US" altLang="zh-CN" sz="2400" dirty="0" smtClean="0"/>
            </a:br>
            <a:endParaRPr lang="zh-CN"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5557612"/>
          </a:xfrm>
          <a:prstGeom prst="rect">
            <a:avLst/>
          </a:prstGeom>
        </p:spPr>
        <p:txBody>
          <a:bodyPr wrap="square">
            <a:spAutoFit/>
          </a:bodyPr>
          <a:lstStyle/>
          <a:p>
            <a:pPr>
              <a:lnSpc>
                <a:spcPct val="150000"/>
              </a:lnSpc>
            </a:pPr>
            <a:r>
              <a:rPr lang="zh-CN" altLang="en-US" sz="2400" dirty="0" smtClean="0"/>
              <a:t>图中红色虚线箭头</a:t>
            </a:r>
            <a:r>
              <a:rPr lang="en-US" altLang="zh-CN" sz="2400" dirty="0" smtClean="0"/>
              <a:t>,</a:t>
            </a:r>
            <a:r>
              <a:rPr lang="zh-CN" altLang="en-US" sz="2400" dirty="0" smtClean="0"/>
              <a:t>标出了外部事件信号的传输路径</a:t>
            </a:r>
            <a:r>
              <a:rPr lang="en-US" altLang="zh-CN" sz="2400" dirty="0" smtClean="0"/>
              <a:t>,</a:t>
            </a:r>
            <a:r>
              <a:rPr lang="zh-CN" altLang="en-US" sz="2400" dirty="0" smtClean="0"/>
              <a:t>外部请求信号经过编号</a:t>
            </a:r>
            <a:r>
              <a:rPr lang="en-US" altLang="zh-CN" sz="2400" dirty="0" smtClean="0"/>
              <a:t>3</a:t>
            </a:r>
            <a:r>
              <a:rPr lang="zh-CN" altLang="en-US" sz="2400" dirty="0" smtClean="0"/>
              <a:t>的或门后</a:t>
            </a:r>
            <a:r>
              <a:rPr lang="en-US" altLang="zh-CN" sz="2400" dirty="0" smtClean="0"/>
              <a:t>,</a:t>
            </a:r>
            <a:r>
              <a:rPr lang="zh-CN" altLang="en-US" sz="2400" dirty="0" smtClean="0"/>
              <a:t>进入编号</a:t>
            </a:r>
            <a:r>
              <a:rPr lang="en-US" altLang="zh-CN" sz="2400" dirty="0" smtClean="0"/>
              <a:t>5</a:t>
            </a:r>
            <a:r>
              <a:rPr lang="zh-CN" altLang="en-US" sz="2400" dirty="0" smtClean="0"/>
              <a:t>的与门</a:t>
            </a:r>
            <a:r>
              <a:rPr lang="en-US" altLang="zh-CN" sz="2400" dirty="0" smtClean="0"/>
              <a:t>,</a:t>
            </a:r>
            <a:r>
              <a:rPr lang="zh-CN" altLang="en-US" sz="2400" dirty="0" smtClean="0"/>
              <a:t>这个与门的作用与编号</a:t>
            </a:r>
            <a:r>
              <a:rPr lang="en-US" altLang="zh-CN" sz="2400" dirty="0" smtClean="0"/>
              <a:t>4</a:t>
            </a:r>
            <a:r>
              <a:rPr lang="zh-CN" altLang="en-US" sz="2400" dirty="0" smtClean="0"/>
              <a:t>的与门类似</a:t>
            </a:r>
            <a:r>
              <a:rPr lang="en-US" altLang="zh-CN" sz="2400" dirty="0" smtClean="0"/>
              <a:t>,</a:t>
            </a:r>
            <a:r>
              <a:rPr lang="zh-CN" altLang="en-US" sz="2400" dirty="0" smtClean="0"/>
              <a:t>用于引入事件屏蔽寄存器的控制</a:t>
            </a:r>
            <a:r>
              <a:rPr lang="en-US" altLang="zh-CN" sz="2400" dirty="0" smtClean="0"/>
              <a:t>;</a:t>
            </a:r>
            <a:r>
              <a:rPr lang="zh-CN" altLang="en-US" sz="2400" b="1" dirty="0" smtClean="0">
                <a:solidFill>
                  <a:srgbClr val="7030A0"/>
                </a:solidFill>
              </a:rPr>
              <a:t>最后脉冲发生器的一个跳变的信号转变为一个单脉冲</a:t>
            </a:r>
            <a:r>
              <a:rPr lang="en-US" altLang="zh-CN" sz="2400" b="1" dirty="0" smtClean="0">
                <a:solidFill>
                  <a:srgbClr val="7030A0"/>
                </a:solidFill>
              </a:rPr>
              <a:t>,</a:t>
            </a:r>
            <a:r>
              <a:rPr lang="zh-CN" altLang="en-US" sz="2400" b="1" dirty="0" smtClean="0">
                <a:solidFill>
                  <a:srgbClr val="7030A0"/>
                </a:solidFill>
              </a:rPr>
              <a:t>输出到芯片中的其它功能模块</a:t>
            </a:r>
            <a:r>
              <a:rPr lang="en-US" altLang="zh-CN" sz="2400" b="1" dirty="0" smtClean="0">
                <a:solidFill>
                  <a:srgbClr val="7030A0"/>
                </a:solidFill>
              </a:rPr>
              <a:t>.</a:t>
            </a:r>
          </a:p>
          <a:p>
            <a:pPr>
              <a:lnSpc>
                <a:spcPct val="150000"/>
              </a:lnSpc>
            </a:pPr>
            <a:r>
              <a:rPr lang="zh-CN" altLang="en-US" sz="2400" dirty="0" smtClean="0"/>
              <a:t>从这张图上我们也可以知道</a:t>
            </a:r>
            <a:r>
              <a:rPr lang="en-US" altLang="zh-CN" sz="2400" dirty="0" smtClean="0"/>
              <a:t>,</a:t>
            </a:r>
            <a:r>
              <a:rPr lang="zh-CN" altLang="en-US" sz="2400" dirty="0" smtClean="0"/>
              <a:t>从外部激励信号来看</a:t>
            </a:r>
            <a:r>
              <a:rPr lang="en-US" altLang="zh-CN" sz="2400" dirty="0" smtClean="0"/>
              <a:t>,</a:t>
            </a:r>
            <a:r>
              <a:rPr lang="zh-CN" altLang="en-US" sz="2400" dirty="0" smtClean="0"/>
              <a:t>中断和事件的产生源都可以是一样的</a:t>
            </a:r>
            <a:r>
              <a:rPr lang="en-US" altLang="zh-CN" sz="2400" dirty="0" smtClean="0"/>
              <a:t>.</a:t>
            </a:r>
            <a:r>
              <a:rPr lang="zh-CN" altLang="en-US" sz="2400" dirty="0" smtClean="0"/>
              <a:t>之所以分成</a:t>
            </a:r>
            <a:r>
              <a:rPr lang="en-US" altLang="zh-CN" sz="2400" dirty="0" smtClean="0"/>
              <a:t>2</a:t>
            </a:r>
            <a:r>
              <a:rPr lang="zh-CN" altLang="en-US" sz="2400" dirty="0" smtClean="0"/>
              <a:t>个部分</a:t>
            </a:r>
            <a:r>
              <a:rPr lang="en-US" altLang="zh-CN" sz="2400" dirty="0" smtClean="0"/>
              <a:t>,</a:t>
            </a:r>
            <a:r>
              <a:rPr lang="zh-CN" altLang="en-US" sz="2400" b="1" dirty="0" smtClean="0">
                <a:solidFill>
                  <a:srgbClr val="7030A0"/>
                </a:solidFill>
              </a:rPr>
              <a:t>由于中断是需要</a:t>
            </a:r>
            <a:r>
              <a:rPr lang="en-US" altLang="zh-CN" sz="2400" b="1" dirty="0" smtClean="0">
                <a:solidFill>
                  <a:srgbClr val="7030A0"/>
                </a:solidFill>
              </a:rPr>
              <a:t>CPU</a:t>
            </a:r>
            <a:r>
              <a:rPr lang="zh-CN" altLang="en-US" sz="2400" b="1" dirty="0" smtClean="0">
                <a:solidFill>
                  <a:srgbClr val="7030A0"/>
                </a:solidFill>
              </a:rPr>
              <a:t>参与的</a:t>
            </a:r>
            <a:r>
              <a:rPr lang="en-US" altLang="zh-CN" sz="2400" b="1" dirty="0" smtClean="0">
                <a:solidFill>
                  <a:srgbClr val="7030A0"/>
                </a:solidFill>
              </a:rPr>
              <a:t>,</a:t>
            </a:r>
            <a:r>
              <a:rPr lang="zh-CN" altLang="en-US" sz="2400" b="1" dirty="0" smtClean="0">
                <a:solidFill>
                  <a:srgbClr val="7030A0"/>
                </a:solidFill>
              </a:rPr>
              <a:t>需要软件的中断服务函数才能完成中断后产生的结果</a:t>
            </a:r>
            <a:r>
              <a:rPr lang="en-US" altLang="zh-CN" sz="2400" b="1" dirty="0" smtClean="0">
                <a:solidFill>
                  <a:srgbClr val="7030A0"/>
                </a:solidFill>
              </a:rPr>
              <a:t>;</a:t>
            </a:r>
            <a:r>
              <a:rPr lang="zh-CN" altLang="en-US" sz="2400" b="1" dirty="0" smtClean="0">
                <a:solidFill>
                  <a:srgbClr val="7030A0"/>
                </a:solidFill>
              </a:rPr>
              <a:t>但是事件</a:t>
            </a:r>
            <a:r>
              <a:rPr lang="en-US" altLang="zh-CN" sz="2400" b="1" dirty="0" smtClean="0">
                <a:solidFill>
                  <a:srgbClr val="7030A0"/>
                </a:solidFill>
              </a:rPr>
              <a:t>,</a:t>
            </a:r>
            <a:r>
              <a:rPr lang="zh-CN" altLang="en-US" sz="2400" b="1" dirty="0" smtClean="0">
                <a:solidFill>
                  <a:srgbClr val="7030A0"/>
                </a:solidFill>
              </a:rPr>
              <a:t>是靠脉冲发生器产生一个脉冲</a:t>
            </a:r>
            <a:r>
              <a:rPr lang="en-US" altLang="zh-CN" sz="2400" b="1" dirty="0" smtClean="0">
                <a:solidFill>
                  <a:srgbClr val="7030A0"/>
                </a:solidFill>
              </a:rPr>
              <a:t>,</a:t>
            </a:r>
            <a:r>
              <a:rPr lang="zh-CN" altLang="en-US" sz="2400" b="1" dirty="0" smtClean="0">
                <a:solidFill>
                  <a:srgbClr val="7030A0"/>
                </a:solidFill>
              </a:rPr>
              <a:t>进而由硬件自动完成这个事件产生的结果</a:t>
            </a:r>
            <a:r>
              <a:rPr lang="en-US" altLang="zh-CN" sz="2400" b="1" dirty="0" smtClean="0">
                <a:solidFill>
                  <a:srgbClr val="7030A0"/>
                </a:solidFill>
              </a:rPr>
              <a:t>,</a:t>
            </a:r>
            <a:r>
              <a:rPr lang="zh-CN" altLang="en-US" sz="2400" b="1" dirty="0" smtClean="0">
                <a:solidFill>
                  <a:srgbClr val="7030A0"/>
                </a:solidFill>
              </a:rPr>
              <a:t>当然相应的联动部件需要先设置好</a:t>
            </a:r>
            <a:r>
              <a:rPr lang="en-US" altLang="zh-CN" sz="2400" b="1" dirty="0" smtClean="0">
                <a:solidFill>
                  <a:srgbClr val="7030A0"/>
                </a:solidFill>
              </a:rPr>
              <a:t>,</a:t>
            </a:r>
            <a:r>
              <a:rPr lang="zh-CN" altLang="en-US" sz="2400" dirty="0" smtClean="0"/>
              <a:t>比如引起</a:t>
            </a:r>
            <a:r>
              <a:rPr lang="en-US" altLang="zh-CN" sz="2400" dirty="0" smtClean="0"/>
              <a:t>DMA</a:t>
            </a:r>
            <a:r>
              <a:rPr lang="zh-CN" altLang="en-US" sz="2400" dirty="0" smtClean="0"/>
              <a:t>操作</a:t>
            </a:r>
            <a:r>
              <a:rPr lang="en-US" altLang="zh-CN" sz="2400" dirty="0" smtClean="0"/>
              <a:t>,AD</a:t>
            </a:r>
            <a:r>
              <a:rPr lang="zh-CN" altLang="en-US" sz="2400" dirty="0" smtClean="0"/>
              <a:t>转换等</a:t>
            </a:r>
            <a:r>
              <a:rPr lang="en-US" altLang="zh-CN" sz="2400" dirty="0" smtClean="0"/>
              <a:t>;</a:t>
            </a:r>
            <a:br>
              <a:rPr lang="en-US" altLang="zh-CN" sz="2400" dirty="0" smtClean="0"/>
            </a:br>
            <a:endParaRPr lang="zh-CN" altLang="en-US"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4524315"/>
          </a:xfrm>
          <a:prstGeom prst="rect">
            <a:avLst/>
          </a:prstGeom>
        </p:spPr>
        <p:txBody>
          <a:bodyPr wrap="square">
            <a:spAutoFit/>
          </a:bodyPr>
          <a:lstStyle/>
          <a:p>
            <a:pPr>
              <a:lnSpc>
                <a:spcPct val="150000"/>
              </a:lnSpc>
            </a:pPr>
            <a:r>
              <a:rPr lang="zh-CN" altLang="en-US" sz="2400" b="1" dirty="0" smtClean="0">
                <a:solidFill>
                  <a:srgbClr val="7030A0"/>
                </a:solidFill>
              </a:rPr>
              <a:t>中断事件是一种可以导致中断发生的事件</a:t>
            </a:r>
            <a:r>
              <a:rPr lang="zh-CN" altLang="en-US" sz="2400" dirty="0" smtClean="0">
                <a:solidFill>
                  <a:srgbClr val="7030A0"/>
                </a:solidFill>
              </a:rPr>
              <a:t>，</a:t>
            </a:r>
            <a:r>
              <a:rPr lang="zh-CN" altLang="en-US" sz="2400" b="1" dirty="0" smtClean="0">
                <a:solidFill>
                  <a:srgbClr val="7030A0"/>
                </a:solidFill>
              </a:rPr>
              <a:t>中断则是因为中断事件的发生而导致的后续行为过程</a:t>
            </a:r>
            <a:r>
              <a:rPr lang="zh-CN" altLang="en-US" sz="2400" dirty="0" smtClean="0">
                <a:solidFill>
                  <a:srgbClr val="7030A0"/>
                </a:solidFill>
              </a:rPr>
              <a:t>。</a:t>
            </a:r>
            <a:r>
              <a:rPr lang="zh-CN" altLang="en-US" sz="2400" b="1" dirty="0" smtClean="0">
                <a:solidFill>
                  <a:srgbClr val="7030A0"/>
                </a:solidFill>
              </a:rPr>
              <a:t>事件与中断事件是包含关系</a:t>
            </a:r>
            <a:r>
              <a:rPr lang="zh-CN" altLang="en-US" sz="2400" dirty="0" smtClean="0">
                <a:solidFill>
                  <a:srgbClr val="7030A0"/>
                </a:solidFill>
              </a:rPr>
              <a:t>，即</a:t>
            </a:r>
            <a:r>
              <a:rPr lang="zh-CN" altLang="en-US" sz="2400" b="1" dirty="0" smtClean="0">
                <a:solidFill>
                  <a:srgbClr val="7030A0"/>
                </a:solidFill>
              </a:rPr>
              <a:t>事件可分为中断事件或非中断事件</a:t>
            </a:r>
            <a:r>
              <a:rPr lang="zh-CN" altLang="en-US" sz="2400" dirty="0" smtClean="0"/>
              <a:t>。而中断事件与中断之间属于前后关联的因果关系，虽有关联，但二者在时序上、行为上并不一样。 </a:t>
            </a:r>
            <a:endParaRPr lang="en-US" altLang="zh-CN" sz="2400" dirty="0" smtClean="0"/>
          </a:p>
          <a:p>
            <a:pPr>
              <a:lnSpc>
                <a:spcPct val="150000"/>
              </a:lnSpc>
            </a:pPr>
            <a:r>
              <a:rPr lang="zh-CN" altLang="en-US" sz="2400" b="1" dirty="0" smtClean="0">
                <a:solidFill>
                  <a:srgbClr val="7030A0"/>
                </a:solidFill>
              </a:rPr>
              <a:t>可以这样简单的认为</a:t>
            </a:r>
            <a:r>
              <a:rPr lang="en-US" altLang="zh-CN" sz="2400" b="1" dirty="0" smtClean="0">
                <a:solidFill>
                  <a:srgbClr val="7030A0"/>
                </a:solidFill>
              </a:rPr>
              <a:t>,</a:t>
            </a:r>
            <a:r>
              <a:rPr lang="zh-CN" altLang="en-US" sz="2400" dirty="0" smtClean="0"/>
              <a:t>事件机制提供了一个完全有硬件自动完成的触发到产生结果的通道</a:t>
            </a:r>
            <a:r>
              <a:rPr lang="en-US" altLang="zh-CN" sz="2400" dirty="0" smtClean="0"/>
              <a:t>,</a:t>
            </a:r>
            <a:r>
              <a:rPr lang="zh-CN" altLang="en-US" sz="2400" dirty="0" smtClean="0"/>
              <a:t>不要软件的参与</a:t>
            </a:r>
            <a:r>
              <a:rPr lang="en-US" altLang="zh-CN" sz="2400" dirty="0" smtClean="0"/>
              <a:t>,</a:t>
            </a:r>
            <a:r>
              <a:rPr lang="zh-CN" altLang="en-US" sz="2400" dirty="0" smtClean="0"/>
              <a:t>降低了</a:t>
            </a:r>
            <a:r>
              <a:rPr lang="en-US" altLang="zh-CN" sz="2400" dirty="0" smtClean="0"/>
              <a:t>CPU</a:t>
            </a:r>
            <a:r>
              <a:rPr lang="zh-CN" altLang="en-US" sz="2400" dirty="0" smtClean="0"/>
              <a:t>的负荷</a:t>
            </a:r>
            <a:r>
              <a:rPr lang="en-US" altLang="zh-CN" sz="2400" dirty="0" smtClean="0"/>
              <a:t>,</a:t>
            </a:r>
            <a:r>
              <a:rPr lang="zh-CN" altLang="en-US" sz="2400" dirty="0" smtClean="0"/>
              <a:t>节省了中断资源，提高了响应速度</a:t>
            </a:r>
            <a:r>
              <a:rPr lang="en-US" altLang="zh-CN" sz="2400" dirty="0" smtClean="0"/>
              <a:t>(</a:t>
            </a:r>
            <a:r>
              <a:rPr lang="zh-CN" altLang="en-US" sz="2400" dirty="0" smtClean="0"/>
              <a:t>硬件总快于软件</a:t>
            </a:r>
            <a:r>
              <a:rPr lang="en-US" altLang="zh-CN" sz="2400" dirty="0" smtClean="0"/>
              <a:t>)</a:t>
            </a:r>
            <a:r>
              <a:rPr lang="zh-CN" altLang="en-US" sz="2400" dirty="0" smtClean="0"/>
              <a:t>，是利用硬件来提升</a:t>
            </a:r>
            <a:r>
              <a:rPr lang="en-US" altLang="zh-CN" sz="2400" dirty="0" smtClean="0"/>
              <a:t>CPU</a:t>
            </a:r>
            <a:r>
              <a:rPr lang="zh-CN" altLang="en-US" sz="2400" dirty="0" smtClean="0"/>
              <a:t>芯片处理事件能力的一个有效方法</a:t>
            </a:r>
            <a:r>
              <a:rPr lang="en-US" altLang="zh-CN" sz="2400" dirty="0" smtClean="0"/>
              <a:t>;</a:t>
            </a:r>
          </a:p>
          <a:p>
            <a:pPr>
              <a:lnSpc>
                <a:spcPct val="150000"/>
              </a:lnSpc>
            </a:pPr>
            <a:endParaRPr lang="zh-CN"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231" y="938822"/>
            <a:ext cx="11327363" cy="3349250"/>
          </a:xfrm>
          <a:prstGeom prst="rect">
            <a:avLst/>
          </a:prstGeom>
        </p:spPr>
        <p:txBody>
          <a:bodyPr wrap="square">
            <a:spAutoFit/>
          </a:bodyPr>
          <a:lstStyle/>
          <a:p>
            <a:pPr>
              <a:lnSpc>
                <a:spcPct val="150000"/>
              </a:lnSpc>
            </a:pPr>
            <a:r>
              <a:rPr lang="zh-CN" altLang="en-US" sz="2400" b="1" dirty="0" smtClean="0">
                <a:solidFill>
                  <a:srgbClr val="7030A0"/>
                </a:solidFill>
              </a:rPr>
              <a:t>简单举例：</a:t>
            </a:r>
            <a:r>
              <a:rPr lang="zh-CN" altLang="en-US" sz="2400" dirty="0" smtClean="0"/>
              <a:t>外部</a:t>
            </a:r>
            <a:r>
              <a:rPr lang="en-US" altLang="zh-CN" sz="2400" dirty="0" smtClean="0"/>
              <a:t>I/O</a:t>
            </a:r>
            <a:r>
              <a:rPr lang="zh-CN" altLang="en-US" sz="2400" dirty="0" smtClean="0"/>
              <a:t>触发</a:t>
            </a:r>
            <a:r>
              <a:rPr lang="en-US" altLang="zh-CN" sz="2400" dirty="0" smtClean="0"/>
              <a:t>AD</a:t>
            </a:r>
            <a:r>
              <a:rPr lang="zh-CN" altLang="en-US" sz="2400" dirty="0" smtClean="0"/>
              <a:t>转换</a:t>
            </a:r>
            <a:r>
              <a:rPr lang="en-US" altLang="zh-CN" sz="2400" dirty="0" smtClean="0"/>
              <a:t>,</a:t>
            </a:r>
            <a:r>
              <a:rPr lang="zh-CN" altLang="en-US" sz="2400" dirty="0" smtClean="0"/>
              <a:t>来测量外部物品的重量</a:t>
            </a:r>
            <a:r>
              <a:rPr lang="en-US" altLang="zh-CN" sz="2400" dirty="0" smtClean="0"/>
              <a:t>;</a:t>
            </a:r>
            <a:r>
              <a:rPr lang="zh-CN" altLang="en-US" sz="2400" dirty="0" smtClean="0"/>
              <a:t>如果使用传统的中断通道</a:t>
            </a:r>
            <a:r>
              <a:rPr lang="en-US" altLang="zh-CN" sz="2400" dirty="0" smtClean="0"/>
              <a:t>,</a:t>
            </a:r>
            <a:r>
              <a:rPr lang="zh-CN" altLang="en-US" sz="2400" dirty="0" smtClean="0"/>
              <a:t>需要</a:t>
            </a:r>
            <a:r>
              <a:rPr lang="en-US" altLang="zh-CN" sz="2400" dirty="0" smtClean="0"/>
              <a:t>I/O</a:t>
            </a:r>
            <a:r>
              <a:rPr lang="zh-CN" altLang="en-US" sz="2400" dirty="0" smtClean="0"/>
              <a:t>触发产生外部中断</a:t>
            </a:r>
            <a:r>
              <a:rPr lang="en-US" altLang="zh-CN" sz="2400" dirty="0" smtClean="0"/>
              <a:t>,</a:t>
            </a:r>
            <a:r>
              <a:rPr lang="zh-CN" altLang="en-US" sz="2400" dirty="0" smtClean="0"/>
              <a:t>外部中断服务程序启动</a:t>
            </a:r>
            <a:r>
              <a:rPr lang="en-US" altLang="zh-CN" sz="2400" dirty="0" smtClean="0"/>
              <a:t>AD</a:t>
            </a:r>
            <a:r>
              <a:rPr lang="zh-CN" altLang="en-US" sz="2400" dirty="0" smtClean="0"/>
              <a:t>转换</a:t>
            </a:r>
            <a:r>
              <a:rPr lang="en-US" altLang="zh-CN" sz="2400" dirty="0" smtClean="0"/>
              <a:t>,AD</a:t>
            </a:r>
            <a:r>
              <a:rPr lang="zh-CN" altLang="en-US" sz="2400" dirty="0" smtClean="0"/>
              <a:t>转换完成中断服务程序提交最后结果</a:t>
            </a:r>
            <a:r>
              <a:rPr lang="en-US" altLang="zh-CN" sz="2400" dirty="0" smtClean="0"/>
              <a:t>;</a:t>
            </a:r>
            <a:r>
              <a:rPr lang="zh-CN" altLang="en-US" sz="2400" dirty="0" smtClean="0"/>
              <a:t>要是使用事件通道</a:t>
            </a:r>
            <a:r>
              <a:rPr lang="en-US" altLang="zh-CN" sz="2400" dirty="0" smtClean="0"/>
              <a:t>,I/O</a:t>
            </a:r>
            <a:r>
              <a:rPr lang="zh-CN" altLang="en-US" sz="2400" dirty="0" smtClean="0"/>
              <a:t>触发产生事件</a:t>
            </a:r>
            <a:r>
              <a:rPr lang="en-US" altLang="zh-CN" sz="2400" dirty="0" smtClean="0"/>
              <a:t>,</a:t>
            </a:r>
            <a:r>
              <a:rPr lang="zh-CN" altLang="en-US" sz="2400" dirty="0" smtClean="0"/>
              <a:t>然后联动触发</a:t>
            </a:r>
            <a:r>
              <a:rPr lang="en-US" altLang="zh-CN" sz="2400" dirty="0" smtClean="0"/>
              <a:t>AD</a:t>
            </a:r>
            <a:r>
              <a:rPr lang="zh-CN" altLang="en-US" sz="2400" dirty="0" smtClean="0"/>
              <a:t>转换</a:t>
            </a:r>
            <a:r>
              <a:rPr lang="en-US" altLang="zh-CN" sz="2400" dirty="0" smtClean="0"/>
              <a:t>,AD</a:t>
            </a:r>
            <a:r>
              <a:rPr lang="zh-CN" altLang="en-US" sz="2400" dirty="0" smtClean="0"/>
              <a:t>转换完成中断服务程序提交最后结果</a:t>
            </a:r>
            <a:r>
              <a:rPr lang="en-US" altLang="zh-CN" sz="2400" dirty="0" smtClean="0"/>
              <a:t>;</a:t>
            </a:r>
            <a:r>
              <a:rPr lang="zh-CN" altLang="en-US" sz="2400" dirty="0" smtClean="0"/>
              <a:t>相比之下</a:t>
            </a:r>
            <a:r>
              <a:rPr lang="en-US" altLang="zh-CN" sz="2400" dirty="0" smtClean="0"/>
              <a:t>,</a:t>
            </a:r>
            <a:r>
              <a:rPr lang="zh-CN" altLang="en-US" sz="2400" dirty="0" smtClean="0"/>
              <a:t>后者不要软件参与</a:t>
            </a:r>
            <a:r>
              <a:rPr lang="en-US" altLang="zh-CN" sz="2400" dirty="0" smtClean="0"/>
              <a:t>AD</a:t>
            </a:r>
            <a:r>
              <a:rPr lang="zh-CN" altLang="en-US" sz="2400" dirty="0" smtClean="0"/>
              <a:t>触发</a:t>
            </a:r>
            <a:r>
              <a:rPr lang="en-US" altLang="zh-CN" sz="2400" dirty="0" smtClean="0"/>
              <a:t>,</a:t>
            </a:r>
            <a:r>
              <a:rPr lang="zh-CN" altLang="en-US" sz="2400" dirty="0" smtClean="0"/>
              <a:t>并且响应速度也更块</a:t>
            </a:r>
            <a:r>
              <a:rPr lang="en-US" altLang="zh-CN" sz="2400" dirty="0" smtClean="0"/>
              <a:t>;</a:t>
            </a:r>
            <a:r>
              <a:rPr lang="zh-CN" altLang="en-US" sz="2400" dirty="0" smtClean="0"/>
              <a:t>要是使用事件触发</a:t>
            </a:r>
            <a:r>
              <a:rPr lang="en-US" altLang="zh-CN" sz="2400" dirty="0" smtClean="0"/>
              <a:t>DMA</a:t>
            </a:r>
            <a:r>
              <a:rPr lang="zh-CN" altLang="en-US" sz="2400" dirty="0" smtClean="0"/>
              <a:t>操作</a:t>
            </a:r>
            <a:r>
              <a:rPr lang="en-US" altLang="zh-CN" sz="2400" dirty="0" smtClean="0"/>
              <a:t>,</a:t>
            </a:r>
            <a:r>
              <a:rPr lang="zh-CN" altLang="en-US" sz="2400" dirty="0" smtClean="0"/>
              <a:t>就完全不用软件参与就可以完成某些联动任务了。</a:t>
            </a:r>
            <a:endParaRPr lang="zh-CN" altLang="en-US"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13080" y="96843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81460" y="398576"/>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6.4.3 EXTI</a:t>
            </a:r>
            <a:r>
              <a:rPr lang="zh-CN" altLang="en-US" sz="2800" b="1" dirty="0" smtClean="0">
                <a:solidFill>
                  <a:srgbClr val="14529E"/>
                </a:solidFill>
              </a:rPr>
              <a:t>中断通道和中断源</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smtClean="0">
              <a:solidFill>
                <a:srgbClr val="C00000"/>
              </a:solidFill>
            </a:endParaRPr>
          </a:p>
        </p:txBody>
      </p:sp>
      <p:sp>
        <p:nvSpPr>
          <p:cNvPr id="8" name="TextBox 7"/>
          <p:cNvSpPr txBox="1"/>
          <p:nvPr/>
        </p:nvSpPr>
        <p:spPr>
          <a:xfrm>
            <a:off x="494521" y="1020417"/>
            <a:ext cx="11140752" cy="5632311"/>
          </a:xfrm>
          <a:prstGeom prst="rect">
            <a:avLst/>
          </a:prstGeom>
          <a:noFill/>
        </p:spPr>
        <p:txBody>
          <a:bodyPr wrap="square" rtlCol="0">
            <a:spAutoFit/>
          </a:bodyPr>
          <a:lstStyle/>
          <a:p>
            <a:pPr>
              <a:lnSpc>
                <a:spcPct val="150000"/>
              </a:lnSpc>
              <a:buClr>
                <a:srgbClr val="C00000"/>
              </a:buClr>
              <a:buFont typeface="Wingdings" pitchFamily="2" charset="2"/>
              <a:buChar char="u"/>
            </a:pPr>
            <a:r>
              <a:rPr lang="en-US" altLang="en-US" sz="2400" dirty="0" smtClean="0"/>
              <a:t>EXTI：External Interrupt</a:t>
            </a:r>
            <a:r>
              <a:rPr lang="zh-CN" altLang="en-US" sz="2400" dirty="0" smtClean="0"/>
              <a:t>，外部中断，通过</a:t>
            </a:r>
            <a:r>
              <a:rPr lang="en-US" altLang="zh-CN" sz="2400" dirty="0" smtClean="0"/>
              <a:t>GPIO</a:t>
            </a:r>
            <a:r>
              <a:rPr lang="zh-CN" altLang="en-US" sz="2400" dirty="0" smtClean="0"/>
              <a:t>检查输入脉冲，引起中断时间，打断原来的代码执行流程，进入到中断服务函数中进行处理，处理完后再返回中断之前的代码中执行。</a:t>
            </a:r>
            <a:endParaRPr lang="en-US" altLang="zh-CN" sz="2400" dirty="0" smtClean="0"/>
          </a:p>
          <a:p>
            <a:pPr>
              <a:lnSpc>
                <a:spcPct val="150000"/>
              </a:lnSpc>
              <a:buClr>
                <a:srgbClr val="C00000"/>
              </a:buClr>
              <a:buFont typeface="Wingdings" pitchFamily="2" charset="2"/>
              <a:buChar char="u"/>
            </a:pPr>
            <a:r>
              <a:rPr lang="zh-CN" altLang="en-US" sz="2400" dirty="0" smtClean="0"/>
              <a:t>外部中断</a:t>
            </a:r>
            <a:r>
              <a:rPr lang="en-US" altLang="zh-CN" sz="2400" dirty="0" smtClean="0"/>
              <a:t>/</a:t>
            </a:r>
            <a:r>
              <a:rPr lang="zh-CN" altLang="en-US" sz="2400" dirty="0" smtClean="0"/>
              <a:t>事件控制器由</a:t>
            </a:r>
            <a:r>
              <a:rPr lang="en-US" altLang="zh-CN" sz="2400" dirty="0" smtClean="0"/>
              <a:t>19</a:t>
            </a:r>
            <a:r>
              <a:rPr lang="zh-CN" altLang="en-US" sz="2400" dirty="0" smtClean="0"/>
              <a:t>个产生事件</a:t>
            </a:r>
            <a:r>
              <a:rPr lang="en-US" altLang="zh-CN" sz="2400" dirty="0" smtClean="0"/>
              <a:t>/</a:t>
            </a:r>
            <a:r>
              <a:rPr lang="zh-CN" altLang="en-US" sz="2400" dirty="0" smtClean="0"/>
              <a:t>中断要求的边沿检测器组成。每个输入线可以独立地配置输入类型</a:t>
            </a:r>
            <a:r>
              <a:rPr lang="en-US" altLang="zh-CN" sz="2400" dirty="0" smtClean="0"/>
              <a:t>(</a:t>
            </a:r>
            <a:r>
              <a:rPr lang="zh-CN" altLang="en-US" sz="2400" dirty="0" smtClean="0"/>
              <a:t>脉冲或挂起</a:t>
            </a:r>
            <a:r>
              <a:rPr lang="en-US" altLang="zh-CN" sz="2400" dirty="0" smtClean="0"/>
              <a:t>)</a:t>
            </a:r>
            <a:r>
              <a:rPr lang="zh-CN" altLang="en-US" sz="2400" dirty="0" smtClean="0"/>
              <a:t>和对应的触发事件</a:t>
            </a:r>
            <a:r>
              <a:rPr lang="en-US" altLang="zh-CN" sz="2400" dirty="0" smtClean="0"/>
              <a:t>(</a:t>
            </a:r>
            <a:r>
              <a:rPr lang="zh-CN" altLang="en-US" sz="2400" dirty="0" smtClean="0"/>
              <a:t>上升沿或下降沿或者双边沿都触发</a:t>
            </a:r>
            <a:r>
              <a:rPr lang="en-US" altLang="zh-CN" sz="2400" dirty="0" smtClean="0"/>
              <a:t>)</a:t>
            </a:r>
            <a:r>
              <a:rPr lang="zh-CN" altLang="en-US" sz="2400" dirty="0" smtClean="0"/>
              <a:t>。每个输入线都可以被独立的屏蔽。挂起寄存器保持着状态线的中断要求。</a:t>
            </a:r>
            <a:endParaRPr lang="en-US" altLang="zh-CN" sz="2400" dirty="0" smtClean="0"/>
          </a:p>
          <a:p>
            <a:pPr>
              <a:lnSpc>
                <a:spcPct val="150000"/>
              </a:lnSpc>
              <a:buClr>
                <a:srgbClr val="C00000"/>
              </a:buClr>
              <a:buFont typeface="Wingdings" pitchFamily="2" charset="2"/>
              <a:buChar char="u"/>
            </a:pPr>
            <a:r>
              <a:rPr lang="zh-CN" altLang="en-US" sz="2400" dirty="0" smtClean="0"/>
              <a:t> </a:t>
            </a:r>
            <a:r>
              <a:rPr lang="en-US" altLang="zh-CN" sz="2400" dirty="0" smtClean="0"/>
              <a:t>STM32</a:t>
            </a:r>
            <a:r>
              <a:rPr lang="zh-CN" altLang="en-US" sz="2400" dirty="0" smtClean="0"/>
              <a:t>的</a:t>
            </a:r>
            <a:r>
              <a:rPr lang="en-US" altLang="zh-CN" sz="2400" dirty="0" smtClean="0"/>
              <a:t>EXTI</a:t>
            </a:r>
            <a:r>
              <a:rPr lang="zh-CN" altLang="en-US" sz="2400" dirty="0" smtClean="0"/>
              <a:t>对应</a:t>
            </a:r>
            <a:r>
              <a:rPr lang="en-US" altLang="zh-CN" sz="2400" dirty="0" smtClean="0"/>
              <a:t>19</a:t>
            </a:r>
            <a:r>
              <a:rPr lang="zh-CN" altLang="en-US" sz="2400" dirty="0" smtClean="0"/>
              <a:t>个中断通道，其中</a:t>
            </a:r>
            <a:r>
              <a:rPr lang="en-US" altLang="zh-CN" sz="2400" dirty="0" smtClean="0"/>
              <a:t>16</a:t>
            </a:r>
            <a:r>
              <a:rPr lang="zh-CN" altLang="en-US" sz="2400" dirty="0" smtClean="0"/>
              <a:t>个中断通道</a:t>
            </a:r>
            <a:r>
              <a:rPr lang="en-US" altLang="zh-CN" sz="2400" dirty="0" smtClean="0"/>
              <a:t>EXTI0~EXTI5</a:t>
            </a:r>
            <a:r>
              <a:rPr lang="zh-CN" altLang="en-US" sz="2400" dirty="0" smtClean="0"/>
              <a:t>对应</a:t>
            </a:r>
            <a:r>
              <a:rPr lang="en-US" altLang="zh-CN" sz="2400" dirty="0" smtClean="0"/>
              <a:t>GPIOx_Pin0~ GPIOx_Pin15,</a:t>
            </a:r>
            <a:r>
              <a:rPr lang="zh-CN" altLang="en-US" sz="2400" dirty="0" smtClean="0"/>
              <a:t>另外三个是</a:t>
            </a:r>
            <a:r>
              <a:rPr lang="en-US" altLang="zh-CN" sz="2400" dirty="0" smtClean="0"/>
              <a:t>EXTI16</a:t>
            </a:r>
            <a:r>
              <a:rPr lang="zh-CN" altLang="en-US" sz="2400" dirty="0" smtClean="0"/>
              <a:t>连接</a:t>
            </a:r>
            <a:r>
              <a:rPr lang="en-US" altLang="zh-CN" sz="2400" dirty="0" smtClean="0"/>
              <a:t>PVD</a:t>
            </a:r>
            <a:r>
              <a:rPr lang="zh-CN" altLang="en-US" sz="2400" dirty="0" smtClean="0"/>
              <a:t>输出，</a:t>
            </a:r>
            <a:r>
              <a:rPr lang="en-US" altLang="zh-CN" sz="2400" dirty="0" smtClean="0"/>
              <a:t>EXTI17</a:t>
            </a:r>
            <a:r>
              <a:rPr lang="zh-CN" altLang="en-US" sz="2400" dirty="0" smtClean="0"/>
              <a:t>连接到</a:t>
            </a:r>
            <a:r>
              <a:rPr lang="en-US" altLang="zh-CN" sz="2400" dirty="0" smtClean="0"/>
              <a:t>RTC</a:t>
            </a:r>
            <a:r>
              <a:rPr lang="zh-CN" altLang="en-US" sz="2400" dirty="0" smtClean="0"/>
              <a:t>闹钟事件，</a:t>
            </a:r>
            <a:r>
              <a:rPr lang="en-US" altLang="zh-CN" sz="2400" dirty="0" smtClean="0"/>
              <a:t>EXTI18</a:t>
            </a:r>
            <a:r>
              <a:rPr lang="zh-CN" altLang="en-US" sz="2400" dirty="0" smtClean="0"/>
              <a:t>连接到</a:t>
            </a:r>
            <a:r>
              <a:rPr lang="en-US" altLang="zh-CN" sz="2400" dirty="0" smtClean="0"/>
              <a:t>USB</a:t>
            </a:r>
            <a:r>
              <a:rPr lang="zh-CN" altLang="en-US" sz="2400" dirty="0" smtClean="0"/>
              <a:t>唤醒事件。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198776" y="1865752"/>
            <a:ext cx="6932645" cy="2950551"/>
          </a:xfrm>
          <a:prstGeom prst="rect">
            <a:avLst/>
          </a:prstGeom>
        </p:spPr>
        <p:txBody>
          <a:bodyPr wrap="square">
            <a:spAutoFit/>
          </a:bodyPr>
          <a:lstStyle/>
          <a:p>
            <a:pPr>
              <a:lnSpc>
                <a:spcPct val="150000"/>
              </a:lnSpc>
            </a:pPr>
            <a:r>
              <a:rPr lang="zh-CN" altLang="en-US" dirty="0" smtClean="0"/>
              <a:t>     有上图可知</a:t>
            </a:r>
            <a:r>
              <a:rPr lang="en-US" altLang="zh-CN" dirty="0" smtClean="0"/>
              <a:t>EXTI0</a:t>
            </a:r>
            <a:r>
              <a:rPr lang="zh-CN" altLang="en-US" dirty="0" smtClean="0"/>
              <a:t>连接的引脚为</a:t>
            </a:r>
            <a:r>
              <a:rPr lang="en-US" altLang="zh-CN" dirty="0" smtClean="0"/>
              <a:t>PA0</a:t>
            </a:r>
            <a:r>
              <a:rPr lang="zh-CN" altLang="en-US" dirty="0" smtClean="0"/>
              <a:t>、</a:t>
            </a:r>
            <a:r>
              <a:rPr lang="en-US" altLang="zh-CN" dirty="0" smtClean="0"/>
              <a:t>PB0</a:t>
            </a:r>
            <a:r>
              <a:rPr lang="zh-CN" altLang="en-US" dirty="0" smtClean="0"/>
              <a:t>、</a:t>
            </a:r>
            <a:r>
              <a:rPr lang="en-US" altLang="zh-CN" dirty="0" smtClean="0"/>
              <a:t>PC0</a:t>
            </a:r>
            <a:r>
              <a:rPr lang="zh-CN" altLang="en-US" dirty="0" smtClean="0"/>
              <a:t>、</a:t>
            </a:r>
            <a:r>
              <a:rPr lang="en-US" altLang="zh-CN" dirty="0" smtClean="0"/>
              <a:t>PD0</a:t>
            </a:r>
            <a:r>
              <a:rPr lang="zh-CN" altLang="en-US" dirty="0" smtClean="0"/>
              <a:t>、</a:t>
            </a:r>
            <a:r>
              <a:rPr lang="en-US" altLang="zh-CN" dirty="0" smtClean="0"/>
              <a:t>PE0</a:t>
            </a:r>
            <a:r>
              <a:rPr lang="zh-CN" altLang="en-US" dirty="0" smtClean="0"/>
              <a:t>、</a:t>
            </a:r>
            <a:r>
              <a:rPr lang="en-US" altLang="zh-CN" dirty="0" smtClean="0"/>
              <a:t>PF0</a:t>
            </a:r>
            <a:r>
              <a:rPr lang="zh-CN" altLang="en-US" dirty="0" smtClean="0"/>
              <a:t>、</a:t>
            </a:r>
            <a:r>
              <a:rPr lang="en-US" altLang="zh-CN" dirty="0" smtClean="0"/>
              <a:t>PG0</a:t>
            </a:r>
            <a:r>
              <a:rPr lang="zh-CN" altLang="en-US" dirty="0" smtClean="0"/>
              <a:t>，其他外部中断</a:t>
            </a:r>
            <a:r>
              <a:rPr lang="en-US" altLang="zh-CN" dirty="0" smtClean="0"/>
              <a:t>EXTI1——EXTI15</a:t>
            </a:r>
            <a:r>
              <a:rPr lang="zh-CN" altLang="en-US" dirty="0" smtClean="0"/>
              <a:t>类似。在使用时尽量将需要的外部中断配置在不同的</a:t>
            </a:r>
            <a:r>
              <a:rPr lang="en-US" altLang="zh-CN" dirty="0" err="1" smtClean="0"/>
              <a:t>EXTIx</a:t>
            </a:r>
            <a:r>
              <a:rPr lang="zh-CN" altLang="en-US" dirty="0" smtClean="0"/>
              <a:t>上。</a:t>
            </a:r>
          </a:p>
          <a:p>
            <a:pPr>
              <a:lnSpc>
                <a:spcPct val="150000"/>
              </a:lnSpc>
            </a:pPr>
            <a:r>
              <a:rPr lang="zh-CN" altLang="en-US" dirty="0" smtClean="0"/>
              <a:t>     例如需要</a:t>
            </a:r>
            <a:r>
              <a:rPr lang="en-US" altLang="zh-CN" dirty="0" smtClean="0"/>
              <a:t>3</a:t>
            </a:r>
            <a:r>
              <a:rPr lang="zh-CN" altLang="en-US" dirty="0" smtClean="0"/>
              <a:t>个外部中断，我们可以配置到</a:t>
            </a:r>
            <a:r>
              <a:rPr lang="en-US" altLang="zh-CN" dirty="0" smtClean="0"/>
              <a:t>PA0</a:t>
            </a:r>
            <a:r>
              <a:rPr lang="zh-CN" altLang="en-US" dirty="0" smtClean="0"/>
              <a:t>、</a:t>
            </a:r>
            <a:r>
              <a:rPr lang="en-US" altLang="zh-CN" dirty="0" smtClean="0"/>
              <a:t>PB4</a:t>
            </a:r>
            <a:r>
              <a:rPr lang="zh-CN" altLang="en-US" dirty="0" smtClean="0"/>
              <a:t>、</a:t>
            </a:r>
            <a:r>
              <a:rPr lang="en-US" altLang="zh-CN" dirty="0" smtClean="0"/>
              <a:t>PG3</a:t>
            </a:r>
            <a:r>
              <a:rPr lang="zh-CN" altLang="en-US" dirty="0" smtClean="0"/>
              <a:t>上，此时每个中断都有自己的中断处理程 序段。如果配置到</a:t>
            </a:r>
            <a:r>
              <a:rPr lang="en-US" altLang="zh-CN" dirty="0" smtClean="0"/>
              <a:t>PA0</a:t>
            </a:r>
            <a:r>
              <a:rPr lang="zh-CN" altLang="en-US" dirty="0" smtClean="0"/>
              <a:t>、</a:t>
            </a:r>
            <a:r>
              <a:rPr lang="en-US" altLang="zh-CN" dirty="0" smtClean="0"/>
              <a:t>PB0</a:t>
            </a:r>
            <a:r>
              <a:rPr lang="zh-CN" altLang="en-US" dirty="0" smtClean="0"/>
              <a:t>、</a:t>
            </a:r>
            <a:r>
              <a:rPr lang="en-US" altLang="zh-CN" dirty="0" smtClean="0"/>
              <a:t>PC1</a:t>
            </a:r>
            <a:r>
              <a:rPr lang="zh-CN" altLang="en-US" dirty="0" smtClean="0"/>
              <a:t>，则</a:t>
            </a:r>
            <a:r>
              <a:rPr lang="en-US" altLang="zh-CN" dirty="0" smtClean="0"/>
              <a:t>PA0</a:t>
            </a:r>
            <a:r>
              <a:rPr lang="zh-CN" altLang="en-US" dirty="0" smtClean="0"/>
              <a:t>和</a:t>
            </a:r>
            <a:r>
              <a:rPr lang="en-US" altLang="zh-CN" dirty="0" smtClean="0"/>
              <a:t>PB0</a:t>
            </a:r>
            <a:r>
              <a:rPr lang="zh-CN" altLang="en-US" dirty="0" smtClean="0"/>
              <a:t>将公用一个中断程序段。当然如果特殊需要，也可以这样设计。</a:t>
            </a:r>
            <a:endParaRPr lang="zh-CN" altLang="en-US" dirty="0"/>
          </a:p>
        </p:txBody>
      </p:sp>
      <p:pic>
        <p:nvPicPr>
          <p:cNvPr id="2050" name="Picture 2"/>
          <p:cNvPicPr>
            <a:picLocks noChangeAspect="1" noChangeArrowheads="1"/>
          </p:cNvPicPr>
          <p:nvPr/>
        </p:nvPicPr>
        <p:blipFill>
          <a:blip r:embed="rId2"/>
          <a:srcRect/>
          <a:stretch>
            <a:fillRect/>
          </a:stretch>
        </p:blipFill>
        <p:spPr bwMode="auto">
          <a:xfrm>
            <a:off x="905264" y="897392"/>
            <a:ext cx="3028950" cy="44100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1959" y="903811"/>
            <a:ext cx="9968204" cy="663732"/>
          </a:xfrm>
          <a:prstGeom prst="rect">
            <a:avLst/>
          </a:prstGeom>
        </p:spPr>
        <p:txBody>
          <a:bodyPr wrap="square">
            <a:spAutoFit/>
          </a:bodyPr>
          <a:lstStyle/>
          <a:p>
            <a:r>
              <a:rPr lang="zh-CN" altLang="en-US" b="1" dirty="0" smtClean="0"/>
              <a:t>在中断向量表中，</a:t>
            </a:r>
            <a:r>
              <a:rPr lang="en-US" altLang="zh-CN" b="1" dirty="0" smtClean="0"/>
              <a:t>IO</a:t>
            </a:r>
            <a:r>
              <a:rPr lang="zh-CN" altLang="en-US" b="1" dirty="0" smtClean="0"/>
              <a:t>口外部中断在中断向量表中只分配了</a:t>
            </a:r>
            <a:r>
              <a:rPr lang="en-US" altLang="zh-CN" b="1" dirty="0" smtClean="0"/>
              <a:t>7</a:t>
            </a:r>
            <a:r>
              <a:rPr lang="zh-CN" altLang="en-US" b="1" dirty="0" smtClean="0"/>
              <a:t>个中断向量，也就是只能使用</a:t>
            </a:r>
            <a:r>
              <a:rPr lang="en-US" altLang="zh-CN" b="1" dirty="0" smtClean="0"/>
              <a:t>7</a:t>
            </a:r>
            <a:r>
              <a:rPr lang="zh-CN" altLang="en-US" b="1" dirty="0" smtClean="0"/>
              <a:t>个中断服务函数。</a:t>
            </a:r>
            <a:endParaRPr lang="zh-CN" altLang="en-US" dirty="0"/>
          </a:p>
        </p:txBody>
      </p:sp>
      <p:pic>
        <p:nvPicPr>
          <p:cNvPr id="3074" name="Picture 2"/>
          <p:cNvPicPr>
            <a:picLocks noChangeAspect="1" noChangeArrowheads="1"/>
          </p:cNvPicPr>
          <p:nvPr/>
        </p:nvPicPr>
        <p:blipFill>
          <a:blip r:embed="rId2"/>
          <a:srcRect/>
          <a:stretch>
            <a:fillRect/>
          </a:stretch>
        </p:blipFill>
        <p:spPr bwMode="auto">
          <a:xfrm>
            <a:off x="2014343" y="1640924"/>
            <a:ext cx="7267575" cy="1952625"/>
          </a:xfrm>
          <a:prstGeom prst="rect">
            <a:avLst/>
          </a:prstGeom>
          <a:noFill/>
          <a:ln w="9525">
            <a:noFill/>
            <a:miter lim="800000"/>
            <a:headEnd/>
            <a:tailEnd/>
          </a:ln>
          <a:effectLst/>
        </p:spPr>
      </p:pic>
      <p:sp>
        <p:nvSpPr>
          <p:cNvPr id="6" name="矩形 5"/>
          <p:cNvSpPr/>
          <p:nvPr/>
        </p:nvSpPr>
        <p:spPr>
          <a:xfrm>
            <a:off x="463420" y="3707373"/>
            <a:ext cx="6096000" cy="2119555"/>
          </a:xfrm>
          <a:prstGeom prst="rect">
            <a:avLst/>
          </a:prstGeom>
        </p:spPr>
        <p:txBody>
          <a:bodyPr>
            <a:spAutoFit/>
          </a:bodyPr>
          <a:lstStyle/>
          <a:p>
            <a:pPr>
              <a:lnSpc>
                <a:spcPct val="150000"/>
              </a:lnSpc>
            </a:pPr>
            <a:r>
              <a:rPr lang="zh-CN" altLang="en-US" dirty="0" smtClean="0"/>
              <a:t>从上图中可以看出，</a:t>
            </a:r>
            <a:r>
              <a:rPr lang="zh-CN" altLang="en-US" b="1" dirty="0" smtClean="0"/>
              <a:t>外部中断线</a:t>
            </a:r>
            <a:r>
              <a:rPr lang="en-US" altLang="zh-CN" b="1" dirty="0" smtClean="0"/>
              <a:t>5~9</a:t>
            </a:r>
            <a:r>
              <a:rPr lang="zh-CN" altLang="en-US" b="1" dirty="0" smtClean="0"/>
              <a:t>分配一个中断向量，共用一个服务函数；外部中断线</a:t>
            </a:r>
            <a:r>
              <a:rPr lang="en-US" altLang="zh-CN" b="1" dirty="0" smtClean="0"/>
              <a:t>10~15</a:t>
            </a:r>
            <a:r>
              <a:rPr lang="zh-CN" altLang="en-US" b="1" dirty="0" smtClean="0"/>
              <a:t>分配一个中断向量，共用一个中断服务函数；而中断向量线</a:t>
            </a:r>
            <a:r>
              <a:rPr lang="en-US" altLang="zh-CN" b="1" dirty="0" smtClean="0"/>
              <a:t>0-4</a:t>
            </a:r>
            <a:r>
              <a:rPr lang="zh-CN" altLang="en-US" b="1" dirty="0" smtClean="0"/>
              <a:t>则单独使用一个中断服务函数。也就是说，</a:t>
            </a:r>
            <a:r>
              <a:rPr lang="en-US" altLang="zh-CN" b="1" dirty="0" smtClean="0"/>
              <a:t>IO</a:t>
            </a:r>
            <a:r>
              <a:rPr lang="zh-CN" altLang="en-US" b="1" dirty="0" smtClean="0"/>
              <a:t>口的外部中断最多只能使用</a:t>
            </a:r>
            <a:r>
              <a:rPr lang="en-US" altLang="zh-CN" b="1" dirty="0" smtClean="0"/>
              <a:t>7</a:t>
            </a:r>
            <a:r>
              <a:rPr lang="zh-CN" altLang="en-US" b="1" dirty="0" smtClean="0"/>
              <a:t>个。</a:t>
            </a:r>
            <a:endParaRPr lang="zh-CN" altLang="en-US" dirty="0"/>
          </a:p>
        </p:txBody>
      </p:sp>
      <p:sp>
        <p:nvSpPr>
          <p:cNvPr id="3075" name="Rectangle 3"/>
          <p:cNvSpPr>
            <a:spLocks noChangeArrowheads="1"/>
          </p:cNvSpPr>
          <p:nvPr/>
        </p:nvSpPr>
        <p:spPr bwMode="auto">
          <a:xfrm>
            <a:off x="6807772" y="3652638"/>
            <a:ext cx="3963725" cy="2462213"/>
          </a:xfrm>
          <a:prstGeom prst="rect">
            <a:avLst/>
          </a:prstGeom>
          <a:solidFill>
            <a:srgbClr val="F3F4F5"/>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rgbClr val="4D4D4D"/>
                </a:solidFill>
                <a:effectLst/>
                <a:latin typeface="Arial" pitchFamily="34" charset="0"/>
                <a:ea typeface="-apple-system"/>
                <a:cs typeface="宋体" pitchFamily="2" charset="-122"/>
              </a:rPr>
              <a:t>下面列举了中断服务函数的名称（</a:t>
            </a:r>
            <a:r>
              <a:rPr kumimoji="0" lang="zh-CN" sz="1600" b="1" i="0" u="none" strike="noStrike" cap="none" normalizeH="0" baseline="0" dirty="0" smtClean="0">
                <a:ln>
                  <a:noFill/>
                </a:ln>
                <a:solidFill>
                  <a:srgbClr val="4D4D4D"/>
                </a:solidFill>
                <a:effectLst/>
                <a:latin typeface="Arial" pitchFamily="34" charset="0"/>
                <a:ea typeface="-apple-system"/>
                <a:cs typeface="宋体" pitchFamily="2" charset="-122"/>
              </a:rPr>
              <a:t>在启动文件</a:t>
            </a:r>
            <a:r>
              <a:rPr kumimoji="0" lang="zh-CN" altLang="zh-CN" sz="1600" b="1" i="0" u="none" strike="noStrike" cap="none" normalizeH="0" baseline="0" dirty="0" smtClean="0">
                <a:ln>
                  <a:noFill/>
                </a:ln>
                <a:solidFill>
                  <a:srgbClr val="4D4D4D"/>
                </a:solidFill>
                <a:effectLst/>
                <a:latin typeface="Arial" pitchFamily="34" charset="0"/>
                <a:ea typeface="-apple-system"/>
                <a:cs typeface="宋体" pitchFamily="2" charset="-122"/>
              </a:rPr>
              <a:t>startup_stm32f10x_hd.s</a:t>
            </a:r>
            <a:r>
              <a:rPr kumimoji="0" lang="zh-CN" sz="1600" b="1" i="0" u="none" strike="noStrike" cap="none" normalizeH="0" baseline="0" dirty="0" smtClean="0">
                <a:ln>
                  <a:noFill/>
                </a:ln>
                <a:solidFill>
                  <a:srgbClr val="4D4D4D"/>
                </a:solidFill>
                <a:effectLst/>
                <a:latin typeface="Arial" pitchFamily="34" charset="0"/>
                <a:ea typeface="-apple-system"/>
                <a:cs typeface="宋体" pitchFamily="2" charset="-122"/>
              </a:rPr>
              <a:t>上</a:t>
            </a:r>
            <a:r>
              <a:rPr kumimoji="0" lang="zh-CN" sz="1600" b="0" i="0" u="none" strike="noStrike" cap="none" normalizeH="0" baseline="0" dirty="0" smtClean="0">
                <a:ln>
                  <a:noFill/>
                </a:ln>
                <a:solidFill>
                  <a:srgbClr val="4D4D4D"/>
                </a:solidFill>
                <a:effectLst/>
                <a:latin typeface="Arial" pitchFamily="34" charset="0"/>
                <a:ea typeface="-apple-system"/>
                <a:cs typeface="宋体" pitchFamily="2" charset="-122"/>
              </a:rPr>
              <a:t>）：</a:t>
            </a:r>
            <a:endParaRPr kumimoji="0" lang="zh-CN" sz="1600" b="0" i="0" u="none" strike="noStrike" cap="none" normalizeH="0" baseline="0" dirty="0" smtClean="0">
              <a:ln>
                <a:noFill/>
              </a:ln>
              <a:solidFill>
                <a:srgbClr val="333333"/>
              </a:solidFill>
              <a:effectLst/>
              <a:latin typeface="Arial Unicode MS" pitchFamily="34" charset="-122"/>
              <a:ea typeface="Source Code Pro"/>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sz="1600" b="0" i="0" u="none" strike="noStrike" cap="none" normalizeH="0" baseline="0" dirty="0" smtClean="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smtClean="0">
                <a:ln>
                  <a:noFill/>
                </a:ln>
                <a:solidFill>
                  <a:srgbClr val="333333"/>
                </a:solidFill>
                <a:effectLst/>
                <a:latin typeface="Arial Unicode MS" pitchFamily="34" charset="-122"/>
                <a:ea typeface="Source Code Pro"/>
                <a:cs typeface="宋体" pitchFamily="2" charset="-122"/>
              </a:rPr>
              <a:t> EXTI0_IRQHandler()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CN" altLang="zh-CN" sz="1600" b="0" i="0" u="none" strike="noStrike" cap="none" normalizeH="0" baseline="0" dirty="0" smtClean="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smtClean="0">
                <a:ln>
                  <a:noFill/>
                </a:ln>
                <a:solidFill>
                  <a:srgbClr val="333333"/>
                </a:solidFill>
                <a:effectLst/>
                <a:latin typeface="Arial Unicode MS" pitchFamily="34" charset="-122"/>
                <a:ea typeface="Source Code Pro"/>
                <a:cs typeface="宋体" pitchFamily="2" charset="-122"/>
              </a:rPr>
              <a:t> EXTI1_IRQHandler()</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zh-CN" altLang="zh-CN" sz="1600" b="0" i="0" u="none" strike="noStrike" cap="none" normalizeH="0" baseline="0" dirty="0" smtClean="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smtClean="0">
                <a:ln>
                  <a:noFill/>
                </a:ln>
                <a:solidFill>
                  <a:srgbClr val="333333"/>
                </a:solidFill>
                <a:effectLst/>
                <a:latin typeface="Arial Unicode MS" pitchFamily="34" charset="-122"/>
                <a:ea typeface="Source Code Pro"/>
                <a:cs typeface="宋体" pitchFamily="2" charset="-122"/>
              </a:rPr>
              <a:t> EXTI2_IRQHandler()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zh-CN" altLang="zh-CN" sz="1600" b="0" i="0" u="none" strike="noStrike" cap="none" normalizeH="0" baseline="0" dirty="0" smtClean="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smtClean="0">
                <a:ln>
                  <a:noFill/>
                </a:ln>
                <a:solidFill>
                  <a:srgbClr val="333333"/>
                </a:solidFill>
                <a:effectLst/>
                <a:latin typeface="Arial Unicode MS" pitchFamily="34" charset="-122"/>
                <a:ea typeface="Source Code Pro"/>
                <a:cs typeface="宋体" pitchFamily="2" charset="-122"/>
              </a:rPr>
              <a:t> EXTI3_IRQHandler()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zh-CN" altLang="zh-CN" sz="1600" b="0" i="0" u="none" strike="noStrike" cap="none" normalizeH="0" baseline="0" dirty="0" smtClean="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smtClean="0">
                <a:ln>
                  <a:noFill/>
                </a:ln>
                <a:solidFill>
                  <a:srgbClr val="333333"/>
                </a:solidFill>
                <a:effectLst/>
                <a:latin typeface="Arial Unicode MS" pitchFamily="34" charset="-122"/>
                <a:ea typeface="Source Code Pro"/>
                <a:cs typeface="宋体" pitchFamily="2" charset="-122"/>
              </a:rPr>
              <a:t> EXTI4_IRQHandler()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zh-CN" altLang="zh-CN" sz="1600" b="0" i="0" u="none" strike="noStrike" cap="none" normalizeH="0" baseline="0" dirty="0" smtClean="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smtClean="0">
                <a:ln>
                  <a:noFill/>
                </a:ln>
                <a:solidFill>
                  <a:srgbClr val="333333"/>
                </a:solidFill>
                <a:effectLst/>
                <a:latin typeface="Arial Unicode MS" pitchFamily="34" charset="-122"/>
                <a:ea typeface="Source Code Pro"/>
                <a:cs typeface="宋体" pitchFamily="2" charset="-122"/>
              </a:rPr>
              <a:t> EXTI9_5_IRQHandler() </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zh-CN" altLang="zh-CN" sz="1600" b="0" i="0" u="none" strike="noStrike" cap="none" normalizeH="0" baseline="0" dirty="0" smtClean="0">
                <a:ln>
                  <a:noFill/>
                </a:ln>
                <a:solidFill>
                  <a:srgbClr val="A71D5D"/>
                </a:solidFill>
                <a:effectLst/>
                <a:latin typeface="Arial Unicode MS" pitchFamily="34" charset="-122"/>
                <a:ea typeface="Source Code Pro"/>
                <a:cs typeface="宋体" pitchFamily="2" charset="-122"/>
              </a:rPr>
              <a:t>void</a:t>
            </a:r>
            <a:r>
              <a:rPr kumimoji="0" lang="zh-CN" altLang="zh-CN" sz="1600" b="0" i="0" u="none" strike="noStrike" cap="none" normalizeH="0" baseline="0" dirty="0" smtClean="0">
                <a:ln>
                  <a:noFill/>
                </a:ln>
                <a:solidFill>
                  <a:srgbClr val="333333"/>
                </a:solidFill>
                <a:effectLst/>
                <a:latin typeface="Arial Unicode MS" pitchFamily="34" charset="-122"/>
                <a:ea typeface="Source Code Pro"/>
                <a:cs typeface="宋体" pitchFamily="2" charset="-122"/>
              </a:rPr>
              <a:t> EXTI15_10_IRQHandler()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91412" y="457144"/>
            <a:ext cx="11059886" cy="6186309"/>
          </a:xfrm>
          <a:prstGeom prst="rect">
            <a:avLst/>
          </a:prstGeom>
        </p:spPr>
        <p:txBody>
          <a:bodyPr wrap="square">
            <a:spAutoFit/>
          </a:bodyPr>
          <a:lstStyle/>
          <a:p>
            <a:r>
              <a:rPr lang="en-US" altLang="zh-CN" dirty="0" smtClean="0"/>
              <a:t>16</a:t>
            </a:r>
            <a:r>
              <a:rPr lang="zh-CN" altLang="en-US" dirty="0" smtClean="0"/>
              <a:t>个，</a:t>
            </a:r>
            <a:r>
              <a:rPr lang="en-US" altLang="zh-CN" dirty="0" smtClean="0"/>
              <a:t>0~4</a:t>
            </a:r>
            <a:r>
              <a:rPr lang="zh-CN" altLang="en-US" dirty="0" smtClean="0"/>
              <a:t>独立，</a:t>
            </a:r>
            <a:r>
              <a:rPr lang="en-US" altLang="zh-CN" dirty="0" smtClean="0"/>
              <a:t>9~5</a:t>
            </a:r>
            <a:r>
              <a:rPr lang="zh-CN" altLang="en-US" dirty="0" smtClean="0"/>
              <a:t>共用中断源，</a:t>
            </a:r>
            <a:r>
              <a:rPr lang="en-US" altLang="zh-CN" dirty="0" smtClean="0"/>
              <a:t>15~10</a:t>
            </a:r>
            <a:r>
              <a:rPr lang="zh-CN" altLang="en-US" dirty="0" smtClean="0"/>
              <a:t>共用中断源，</a:t>
            </a:r>
            <a:r>
              <a:rPr lang="en-US" altLang="zh-CN" dirty="0" smtClean="0"/>
              <a:t>9~5</a:t>
            </a:r>
            <a:r>
              <a:rPr lang="zh-CN" altLang="en-US" dirty="0" smtClean="0"/>
              <a:t>和</a:t>
            </a:r>
            <a:r>
              <a:rPr lang="en-US" altLang="zh-CN" dirty="0" smtClean="0"/>
              <a:t>15~10</a:t>
            </a:r>
            <a:r>
              <a:rPr lang="zh-CN" altLang="en-US" dirty="0" smtClean="0"/>
              <a:t>的中断需要在中断函数中判断是哪个中断引脚</a:t>
            </a:r>
            <a:endParaRPr lang="en-US" altLang="zh-CN" dirty="0" smtClean="0"/>
          </a:p>
          <a:p>
            <a:r>
              <a:rPr lang="en-US" dirty="0" smtClean="0"/>
              <a:t>void EXTI9_5_IRQHandler(void)</a:t>
            </a:r>
            <a:br>
              <a:rPr lang="en-US" dirty="0" smtClean="0"/>
            </a:br>
            <a:r>
              <a:rPr lang="en-US" dirty="0" smtClean="0"/>
              <a:t>{</a:t>
            </a:r>
          </a:p>
          <a:p>
            <a:r>
              <a:rPr lang="en-US" dirty="0" smtClean="0"/>
              <a:t>  u32 Temp = 0x00; </a:t>
            </a:r>
          </a:p>
          <a:p>
            <a:r>
              <a:rPr lang="en-US" dirty="0" smtClean="0"/>
              <a:t>  Temp = EXTI-&gt;PR;       //</a:t>
            </a:r>
            <a:r>
              <a:rPr lang="zh-CN" altLang="en-US" dirty="0" smtClean="0"/>
              <a:t>取读是那个引脚的中断</a:t>
            </a:r>
            <a:br>
              <a:rPr lang="zh-CN" altLang="en-US" dirty="0" smtClean="0"/>
            </a:br>
            <a:r>
              <a:rPr lang="zh-CN" altLang="en-US" dirty="0" smtClean="0"/>
              <a:t>  </a:t>
            </a:r>
            <a:r>
              <a:rPr lang="en-US" dirty="0" smtClean="0"/>
              <a:t>switch(Temp)</a:t>
            </a:r>
            <a:br>
              <a:rPr lang="en-US" dirty="0" smtClean="0"/>
            </a:br>
            <a:r>
              <a:rPr lang="en-US" dirty="0" smtClean="0"/>
              <a:t>  {</a:t>
            </a:r>
            <a:br>
              <a:rPr lang="en-US" dirty="0" smtClean="0"/>
            </a:br>
            <a:r>
              <a:rPr lang="en-US" dirty="0" smtClean="0"/>
              <a:t>    case Exti_From_Pin8:</a:t>
            </a:r>
            <a:br>
              <a:rPr lang="en-US" dirty="0" smtClean="0"/>
            </a:br>
            <a:r>
              <a:rPr lang="en-US" dirty="0" smtClean="0"/>
              <a:t>      </a:t>
            </a:r>
            <a:r>
              <a:rPr lang="en-US" dirty="0" err="1" smtClean="0"/>
              <a:t>EXTI_ClearITPendingBit</a:t>
            </a:r>
            <a:r>
              <a:rPr lang="en-US" dirty="0" smtClean="0"/>
              <a:t>(EXTI_Line8);</a:t>
            </a:r>
            <a:br>
              <a:rPr lang="en-US" dirty="0" smtClean="0"/>
            </a:br>
            <a:r>
              <a:rPr lang="en-US" dirty="0" smtClean="0"/>
              <a:t>      break;</a:t>
            </a:r>
            <a:br>
              <a:rPr lang="en-US" dirty="0" smtClean="0"/>
            </a:br>
            <a:r>
              <a:rPr lang="en-US" dirty="0" smtClean="0"/>
              <a:t>    case Exti_From_Pin9:</a:t>
            </a:r>
            <a:br>
              <a:rPr lang="en-US" dirty="0" smtClean="0"/>
            </a:br>
            <a:r>
              <a:rPr lang="en-US" dirty="0" smtClean="0"/>
              <a:t>      if(</a:t>
            </a:r>
            <a:r>
              <a:rPr lang="en-US" dirty="0" err="1" smtClean="0"/>
              <a:t>Sys_Status</a:t>
            </a:r>
            <a:r>
              <a:rPr lang="en-US" dirty="0" smtClean="0"/>
              <a:t> &lt; MAX_STATUS)</a:t>
            </a:r>
            <a:br>
              <a:rPr lang="en-US" dirty="0" smtClean="0"/>
            </a:br>
            <a:r>
              <a:rPr lang="en-US" dirty="0" smtClean="0"/>
              <a:t>      {</a:t>
            </a:r>
            <a:br>
              <a:rPr lang="en-US" dirty="0" smtClean="0"/>
            </a:br>
            <a:r>
              <a:rPr lang="en-US" dirty="0" smtClean="0"/>
              <a:t>        </a:t>
            </a:r>
            <a:r>
              <a:rPr lang="en-US" dirty="0" err="1" smtClean="0"/>
              <a:t>Sys_Status</a:t>
            </a:r>
            <a:r>
              <a:rPr lang="en-US" dirty="0" smtClean="0"/>
              <a:t> ++;</a:t>
            </a:r>
            <a:br>
              <a:rPr lang="en-US" dirty="0" smtClean="0"/>
            </a:br>
            <a:r>
              <a:rPr lang="en-US" dirty="0" smtClean="0"/>
              <a:t>      }</a:t>
            </a:r>
            <a:br>
              <a:rPr lang="en-US" dirty="0" smtClean="0"/>
            </a:br>
            <a:r>
              <a:rPr lang="en-US" dirty="0" smtClean="0"/>
              <a:t>      </a:t>
            </a:r>
            <a:r>
              <a:rPr lang="en-US" dirty="0" err="1" smtClean="0"/>
              <a:t>EXTI_ClearITPendingBit</a:t>
            </a:r>
            <a:r>
              <a:rPr lang="en-US" dirty="0" smtClean="0"/>
              <a:t>(EXTI_Line9);</a:t>
            </a:r>
            <a:br>
              <a:rPr lang="en-US" dirty="0" smtClean="0"/>
            </a:br>
            <a:r>
              <a:rPr lang="en-US" dirty="0" smtClean="0"/>
              <a:t>      break;</a:t>
            </a:r>
            <a:br>
              <a:rPr lang="en-US" dirty="0" smtClean="0"/>
            </a:br>
            <a:r>
              <a:rPr lang="en-US" dirty="0" smtClean="0"/>
              <a:t>    </a:t>
            </a:r>
            <a:r>
              <a:rPr lang="en-US" dirty="0" err="1" smtClean="0"/>
              <a:t>default:break</a:t>
            </a:r>
            <a:r>
              <a:rPr lang="en-US" dirty="0" smtClean="0"/>
              <a:t>;</a:t>
            </a:r>
            <a:br>
              <a:rPr lang="en-US" dirty="0" smtClean="0"/>
            </a:br>
            <a:r>
              <a:rPr lang="en-US" dirty="0" smtClean="0"/>
              <a:t>  }</a:t>
            </a:r>
            <a:br>
              <a:rPr lang="en-US" dirty="0" smtClean="0"/>
            </a:br>
            <a:r>
              <a:rPr lang="en-US" dirty="0" smtClean="0"/>
              <a:t>}</a:t>
            </a:r>
          </a:p>
          <a:p>
            <a:endParaRPr lang="zh-CN" altLang="en-US" dirty="0"/>
          </a:p>
        </p:txBody>
      </p:sp>
      <p:sp>
        <p:nvSpPr>
          <p:cNvPr id="10" name="TextBox 9"/>
          <p:cNvSpPr txBox="1"/>
          <p:nvPr/>
        </p:nvSpPr>
        <p:spPr>
          <a:xfrm>
            <a:off x="6288832" y="2304661"/>
            <a:ext cx="5523723" cy="2446824"/>
          </a:xfrm>
          <a:prstGeom prst="rect">
            <a:avLst/>
          </a:prstGeom>
          <a:noFill/>
        </p:spPr>
        <p:txBody>
          <a:bodyPr wrap="square" rtlCol="0">
            <a:spAutoFit/>
          </a:bodyPr>
          <a:lstStyle/>
          <a:p>
            <a:pPr>
              <a:lnSpc>
                <a:spcPct val="150000"/>
              </a:lnSpc>
            </a:pPr>
            <a:r>
              <a:rPr lang="zh-CN" altLang="en-US" b="1" dirty="0" smtClean="0">
                <a:solidFill>
                  <a:srgbClr val="7030A0"/>
                </a:solidFill>
              </a:rPr>
              <a:t>中断处理程序说明，由于外部中断</a:t>
            </a:r>
            <a:r>
              <a:rPr lang="en-US" altLang="zh-CN" b="1" dirty="0" smtClean="0">
                <a:solidFill>
                  <a:srgbClr val="7030A0"/>
                </a:solidFill>
              </a:rPr>
              <a:t>EXTI5——EXTI9</a:t>
            </a:r>
            <a:r>
              <a:rPr lang="zh-CN" altLang="en-US" b="1" dirty="0" smtClean="0">
                <a:solidFill>
                  <a:srgbClr val="7030A0"/>
                </a:solidFill>
              </a:rPr>
              <a:t>公用了一个中断（</a:t>
            </a:r>
            <a:r>
              <a:rPr lang="en-US" altLang="zh-CN" b="1" dirty="0" smtClean="0">
                <a:solidFill>
                  <a:srgbClr val="7030A0"/>
                </a:solidFill>
              </a:rPr>
              <a:t>EXTI10——EXTI15</a:t>
            </a:r>
            <a:r>
              <a:rPr lang="zh-CN" altLang="en-US" b="1" dirty="0" smtClean="0">
                <a:solidFill>
                  <a:srgbClr val="7030A0"/>
                </a:solidFill>
              </a:rPr>
              <a:t>类似）所以要区分不同的中断源需要进行相应的判断。如上</a:t>
            </a:r>
            <a:r>
              <a:rPr lang="en-US" altLang="zh-CN" b="1" dirty="0" smtClean="0">
                <a:solidFill>
                  <a:srgbClr val="7030A0"/>
                </a:solidFill>
              </a:rPr>
              <a:t>EXTI9_5_IRQHandler</a:t>
            </a:r>
            <a:r>
              <a:rPr lang="zh-CN" altLang="en-US" b="1" dirty="0" smtClean="0">
                <a:solidFill>
                  <a:srgbClr val="7030A0"/>
                </a:solidFill>
              </a:rPr>
              <a:t>中，通过取读</a:t>
            </a:r>
            <a:r>
              <a:rPr lang="en-US" altLang="zh-CN" b="1" dirty="0" smtClean="0">
                <a:solidFill>
                  <a:srgbClr val="7030A0"/>
                </a:solidFill>
              </a:rPr>
              <a:t>EXTI-&gt;PR</a:t>
            </a:r>
            <a:r>
              <a:rPr lang="zh-CN" altLang="en-US" b="1" dirty="0" smtClean="0">
                <a:solidFill>
                  <a:srgbClr val="7030A0"/>
                </a:solidFill>
              </a:rPr>
              <a:t>寄存器来判断中断的来源。</a:t>
            </a:r>
          </a:p>
          <a:p>
            <a:endParaRPr lang="zh-CN"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13080" y="96843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81460" y="398576"/>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6.4.4 EXTI</a:t>
            </a:r>
            <a:r>
              <a:rPr lang="zh-CN" altLang="en-US" sz="2800" b="1" dirty="0" smtClean="0">
                <a:solidFill>
                  <a:srgbClr val="14529E"/>
                </a:solidFill>
              </a:rPr>
              <a:t>寄存器</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smtClean="0">
              <a:solidFill>
                <a:srgbClr val="C00000"/>
              </a:solidFill>
            </a:endParaRPr>
          </a:p>
        </p:txBody>
      </p:sp>
      <p:pic>
        <p:nvPicPr>
          <p:cNvPr id="87043" name="Picture 3"/>
          <p:cNvPicPr>
            <a:picLocks noChangeAspect="1" noChangeArrowheads="1"/>
          </p:cNvPicPr>
          <p:nvPr/>
        </p:nvPicPr>
        <p:blipFill>
          <a:blip r:embed="rId3"/>
          <a:srcRect/>
          <a:stretch>
            <a:fillRect/>
          </a:stretch>
        </p:blipFill>
        <p:spPr bwMode="auto">
          <a:xfrm>
            <a:off x="772108" y="1125408"/>
            <a:ext cx="9780814" cy="1076861"/>
          </a:xfrm>
          <a:prstGeom prst="rect">
            <a:avLst/>
          </a:prstGeom>
          <a:noFill/>
          <a:ln w="9525">
            <a:noFill/>
            <a:miter lim="800000"/>
            <a:headEnd/>
            <a:tailEnd/>
          </a:ln>
          <a:effectLst/>
        </p:spPr>
      </p:pic>
      <p:pic>
        <p:nvPicPr>
          <p:cNvPr id="87044" name="Picture 4"/>
          <p:cNvPicPr>
            <a:picLocks noChangeAspect="1" noChangeArrowheads="1"/>
          </p:cNvPicPr>
          <p:nvPr/>
        </p:nvPicPr>
        <p:blipFill>
          <a:blip r:embed="rId4"/>
          <a:srcRect/>
          <a:stretch>
            <a:fillRect/>
          </a:stretch>
        </p:blipFill>
        <p:spPr bwMode="auto">
          <a:xfrm>
            <a:off x="786203" y="2201344"/>
            <a:ext cx="9794744" cy="1614875"/>
          </a:xfrm>
          <a:prstGeom prst="rect">
            <a:avLst/>
          </a:prstGeom>
          <a:noFill/>
          <a:ln w="9525">
            <a:noFill/>
            <a:miter lim="800000"/>
            <a:headEnd/>
            <a:tailEnd/>
          </a:ln>
          <a:effectLst/>
        </p:spPr>
      </p:pic>
      <p:sp>
        <p:nvSpPr>
          <p:cNvPr id="6" name="矩形 5"/>
          <p:cNvSpPr/>
          <p:nvPr/>
        </p:nvSpPr>
        <p:spPr>
          <a:xfrm>
            <a:off x="444759" y="3861616"/>
            <a:ext cx="10761306" cy="369332"/>
          </a:xfrm>
          <a:prstGeom prst="rect">
            <a:avLst/>
          </a:prstGeom>
        </p:spPr>
        <p:txBody>
          <a:bodyPr wrap="square">
            <a:spAutoFit/>
          </a:bodyPr>
          <a:lstStyle/>
          <a:p>
            <a:r>
              <a:rPr lang="zh-CN" altLang="en-US" dirty="0" smtClean="0"/>
              <a:t>作用：每一位对应着一条中断线。清零表示屏蔽该线路上的中断请求；置</a:t>
            </a:r>
            <a:r>
              <a:rPr lang="en-US" altLang="zh-CN" dirty="0" smtClean="0"/>
              <a:t>1</a:t>
            </a:r>
            <a:r>
              <a:rPr lang="zh-CN" altLang="en-US" dirty="0" smtClean="0"/>
              <a:t>表示打开该线路上的中断请求。</a:t>
            </a:r>
            <a:endParaRPr lang="zh-CN" altLang="en-US" dirty="0"/>
          </a:p>
        </p:txBody>
      </p:sp>
      <p:sp>
        <p:nvSpPr>
          <p:cNvPr id="8" name="矩形 7"/>
          <p:cNvSpPr/>
          <p:nvPr/>
        </p:nvSpPr>
        <p:spPr>
          <a:xfrm>
            <a:off x="444753" y="4253499"/>
            <a:ext cx="10695997" cy="369332"/>
          </a:xfrm>
          <a:prstGeom prst="rect">
            <a:avLst/>
          </a:prstGeom>
        </p:spPr>
        <p:txBody>
          <a:bodyPr wrap="square">
            <a:spAutoFit/>
          </a:bodyPr>
          <a:lstStyle/>
          <a:p>
            <a:r>
              <a:rPr lang="zh-CN" altLang="en-US" dirty="0" smtClean="0"/>
              <a:t>作用：每一位对应着一条中断线。清零表示屏蔽该线路上的事件请求；置</a:t>
            </a:r>
            <a:r>
              <a:rPr lang="en-US" altLang="zh-CN" dirty="0" smtClean="0"/>
              <a:t>1</a:t>
            </a:r>
            <a:r>
              <a:rPr lang="zh-CN" altLang="en-US" dirty="0" smtClean="0"/>
              <a:t>表示打开该线路上的事件请求。</a:t>
            </a:r>
            <a:endParaRPr lang="zh-CN" altLang="en-US" dirty="0"/>
          </a:p>
        </p:txBody>
      </p:sp>
      <p:sp>
        <p:nvSpPr>
          <p:cNvPr id="9" name="矩形 8"/>
          <p:cNvSpPr/>
          <p:nvPr/>
        </p:nvSpPr>
        <p:spPr>
          <a:xfrm>
            <a:off x="426093" y="4636053"/>
            <a:ext cx="11321148" cy="369332"/>
          </a:xfrm>
          <a:prstGeom prst="rect">
            <a:avLst/>
          </a:prstGeom>
        </p:spPr>
        <p:txBody>
          <a:bodyPr wrap="square">
            <a:spAutoFit/>
          </a:bodyPr>
          <a:lstStyle/>
          <a:p>
            <a:r>
              <a:rPr lang="zh-CN" altLang="en-US" dirty="0" smtClean="0"/>
              <a:t>作用：每一位对应着一条中断线。清零表示关闭上升沿触发中断或事件；置</a:t>
            </a:r>
            <a:r>
              <a:rPr lang="en-US" altLang="zh-CN" dirty="0" smtClean="0"/>
              <a:t>1</a:t>
            </a:r>
            <a:r>
              <a:rPr lang="zh-CN" altLang="en-US" dirty="0" smtClean="0"/>
              <a:t>表示打开上升沿触发中断或事件。</a:t>
            </a:r>
            <a:endParaRPr lang="zh-CN" altLang="en-US" dirty="0"/>
          </a:p>
        </p:txBody>
      </p:sp>
      <p:sp>
        <p:nvSpPr>
          <p:cNvPr id="10" name="矩形 9"/>
          <p:cNvSpPr/>
          <p:nvPr/>
        </p:nvSpPr>
        <p:spPr>
          <a:xfrm>
            <a:off x="426095" y="5027942"/>
            <a:ext cx="11321145" cy="369332"/>
          </a:xfrm>
          <a:prstGeom prst="rect">
            <a:avLst/>
          </a:prstGeom>
        </p:spPr>
        <p:txBody>
          <a:bodyPr wrap="square">
            <a:spAutoFit/>
          </a:bodyPr>
          <a:lstStyle/>
          <a:p>
            <a:r>
              <a:rPr lang="zh-CN" altLang="en-US" dirty="0" smtClean="0"/>
              <a:t>作用：每一位对应着一条中断线。清零表示关闭下降沿触发中断或事件；置</a:t>
            </a:r>
            <a:r>
              <a:rPr lang="en-US" altLang="zh-CN" dirty="0" smtClean="0"/>
              <a:t>1</a:t>
            </a:r>
            <a:r>
              <a:rPr lang="zh-CN" altLang="en-US" dirty="0" smtClean="0"/>
              <a:t>表示打开下降沿触发中断或事件。</a:t>
            </a:r>
            <a:endParaRPr lang="zh-CN" altLang="en-US" dirty="0"/>
          </a:p>
        </p:txBody>
      </p:sp>
      <p:sp>
        <p:nvSpPr>
          <p:cNvPr id="11" name="矩形 10"/>
          <p:cNvSpPr/>
          <p:nvPr/>
        </p:nvSpPr>
        <p:spPr>
          <a:xfrm>
            <a:off x="426095" y="5382501"/>
            <a:ext cx="11078549" cy="369332"/>
          </a:xfrm>
          <a:prstGeom prst="rect">
            <a:avLst/>
          </a:prstGeom>
        </p:spPr>
        <p:txBody>
          <a:bodyPr wrap="square">
            <a:spAutoFit/>
          </a:bodyPr>
          <a:lstStyle/>
          <a:p>
            <a:r>
              <a:rPr lang="zh-CN" altLang="en-US" dirty="0" smtClean="0"/>
              <a:t>作用：每一位对应着一条中断线。当</a:t>
            </a:r>
            <a:r>
              <a:rPr lang="en-US" altLang="zh-CN" dirty="0" err="1" smtClean="0"/>
              <a:t>EXTIx</a:t>
            </a:r>
            <a:r>
              <a:rPr lang="zh-CN" altLang="en-US" dirty="0" smtClean="0"/>
              <a:t>中断有效且</a:t>
            </a:r>
            <a:r>
              <a:rPr lang="en-US" altLang="zh-CN" dirty="0" smtClean="0"/>
              <a:t>SWIER=0</a:t>
            </a:r>
            <a:r>
              <a:rPr lang="zh-CN" altLang="en-US" dirty="0" smtClean="0"/>
              <a:t>时，向</a:t>
            </a:r>
            <a:r>
              <a:rPr lang="en-US" altLang="zh-CN" dirty="0" smtClean="0"/>
              <a:t>SWIER</a:t>
            </a:r>
            <a:r>
              <a:rPr lang="zh-CN" altLang="en-US" dirty="0" smtClean="0"/>
              <a:t>写</a:t>
            </a:r>
            <a:r>
              <a:rPr lang="en-US" altLang="zh-CN" dirty="0" smtClean="0"/>
              <a:t>1</a:t>
            </a:r>
            <a:r>
              <a:rPr lang="zh-CN" altLang="en-US" dirty="0" smtClean="0"/>
              <a:t>将触发中断请求。</a:t>
            </a:r>
            <a:endParaRPr lang="zh-CN" altLang="en-US" dirty="0"/>
          </a:p>
        </p:txBody>
      </p:sp>
      <p:sp>
        <p:nvSpPr>
          <p:cNvPr id="12" name="矩形 11"/>
          <p:cNvSpPr/>
          <p:nvPr/>
        </p:nvSpPr>
        <p:spPr>
          <a:xfrm>
            <a:off x="416764" y="5710536"/>
            <a:ext cx="11134531" cy="646331"/>
          </a:xfrm>
          <a:prstGeom prst="rect">
            <a:avLst/>
          </a:prstGeom>
        </p:spPr>
        <p:txBody>
          <a:bodyPr wrap="square">
            <a:spAutoFit/>
          </a:bodyPr>
          <a:lstStyle/>
          <a:p>
            <a:r>
              <a:rPr lang="zh-CN" altLang="en-US" dirty="0" smtClean="0"/>
              <a:t>作用：每一位对应着一条中断线。如果第</a:t>
            </a:r>
            <a:r>
              <a:rPr lang="en-US" altLang="zh-CN" dirty="0" err="1" smtClean="0"/>
              <a:t>i</a:t>
            </a:r>
            <a:r>
              <a:rPr lang="zh-CN" altLang="en-US" dirty="0" smtClean="0"/>
              <a:t>个中断触发了，则</a:t>
            </a:r>
            <a:r>
              <a:rPr lang="en-US" altLang="zh-CN" dirty="0" smtClean="0"/>
              <a:t>PR</a:t>
            </a:r>
            <a:r>
              <a:rPr lang="zh-CN" altLang="en-US" dirty="0" smtClean="0"/>
              <a:t>位对应位自动置</a:t>
            </a:r>
            <a:r>
              <a:rPr lang="en-US" altLang="zh-CN" dirty="0" smtClean="0"/>
              <a:t>1</a:t>
            </a:r>
            <a:r>
              <a:rPr lang="zh-CN" altLang="en-US" dirty="0" smtClean="0"/>
              <a:t>；向</a:t>
            </a:r>
            <a:r>
              <a:rPr lang="en-US" altLang="zh-CN" dirty="0" smtClean="0"/>
              <a:t>PR</a:t>
            </a:r>
            <a:r>
              <a:rPr lang="zh-CN" altLang="en-US" dirty="0" smtClean="0"/>
              <a:t>位写入</a:t>
            </a:r>
            <a:r>
              <a:rPr lang="en-US" altLang="zh-CN" dirty="0" smtClean="0"/>
              <a:t>1</a:t>
            </a:r>
            <a:r>
              <a:rPr lang="zh-CN" altLang="en-US" dirty="0" smtClean="0"/>
              <a:t>清零该位，同时清除</a:t>
            </a:r>
            <a:r>
              <a:rPr lang="en-US" altLang="zh-CN" dirty="0" smtClean="0"/>
              <a:t>SWIER</a:t>
            </a:r>
            <a:r>
              <a:rPr lang="zh-CN" altLang="en-US" dirty="0" smtClean="0"/>
              <a:t>位。</a:t>
            </a:r>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en-US" altLang="zh-CN" sz="2800" b="1" dirty="0" smtClean="0">
                <a:solidFill>
                  <a:srgbClr val="0070C0"/>
                </a:solidFill>
              </a:rPr>
              <a:t>6.5 </a:t>
            </a:r>
            <a:r>
              <a:rPr lang="zh-CN" altLang="en-US" sz="2800" b="1" dirty="0" smtClean="0">
                <a:solidFill>
                  <a:srgbClr val="0070C0"/>
                </a:solidFill>
              </a:rPr>
              <a:t>应用实例</a:t>
            </a:r>
            <a:endParaRPr lang="zh-CN" altLang="en-US" sz="2800" b="1" dirty="0">
              <a:solidFill>
                <a:srgbClr val="0070C0"/>
              </a:solidFill>
            </a:endParaRPr>
          </a:p>
        </p:txBody>
      </p:sp>
      <p:sp>
        <p:nvSpPr>
          <p:cNvPr id="6" name="矩形 5"/>
          <p:cNvSpPr/>
          <p:nvPr/>
        </p:nvSpPr>
        <p:spPr>
          <a:xfrm>
            <a:off x="668693" y="1072076"/>
            <a:ext cx="9996195" cy="4247317"/>
          </a:xfrm>
          <a:prstGeom prst="rect">
            <a:avLst/>
          </a:prstGeom>
        </p:spPr>
        <p:txBody>
          <a:bodyPr wrap="square">
            <a:spAutoFit/>
          </a:bodyPr>
          <a:lstStyle/>
          <a:p>
            <a:pPr>
              <a:lnSpc>
                <a:spcPct val="150000"/>
              </a:lnSpc>
            </a:pPr>
            <a:r>
              <a:rPr lang="zh-CN" altLang="en-US" sz="2000" b="1" dirty="0" smtClean="0">
                <a:solidFill>
                  <a:srgbClr val="C00000"/>
                </a:solidFill>
              </a:rPr>
              <a:t>外部中断一般步骤</a:t>
            </a:r>
          </a:p>
          <a:p>
            <a:pPr>
              <a:lnSpc>
                <a:spcPct val="150000"/>
              </a:lnSpc>
            </a:pPr>
            <a:r>
              <a:rPr lang="en-US" altLang="zh-CN" sz="2000" b="1" dirty="0" smtClean="0"/>
              <a:t>1.</a:t>
            </a:r>
            <a:r>
              <a:rPr lang="zh-CN" altLang="en-US" sz="2000" b="1" dirty="0" smtClean="0"/>
              <a:t>开启</a:t>
            </a:r>
            <a:r>
              <a:rPr lang="en-US" altLang="zh-CN" sz="2000" b="1" dirty="0" smtClean="0"/>
              <a:t>IO</a:t>
            </a:r>
            <a:r>
              <a:rPr lang="zh-CN" altLang="en-US" sz="2000" b="1" dirty="0" smtClean="0"/>
              <a:t>口时钟，初始化</a:t>
            </a:r>
            <a:r>
              <a:rPr lang="en-US" altLang="zh-CN" sz="2000" b="1" dirty="0" smtClean="0"/>
              <a:t>IO</a:t>
            </a:r>
            <a:r>
              <a:rPr lang="zh-CN" altLang="en-US" sz="2000" b="1" dirty="0" smtClean="0"/>
              <a:t>口为输入。调用函数：</a:t>
            </a:r>
            <a:r>
              <a:rPr lang="en-US" altLang="zh-CN" sz="2000" b="1" dirty="0" err="1" smtClean="0"/>
              <a:t>GPIO_Init</a:t>
            </a:r>
            <a:r>
              <a:rPr lang="en-US" altLang="zh-CN" sz="2000" b="1" dirty="0" smtClean="0"/>
              <a:t>()</a:t>
            </a:r>
            <a:r>
              <a:rPr lang="zh-CN" altLang="en-US" sz="2000" b="1" dirty="0" smtClean="0"/>
              <a:t>；</a:t>
            </a:r>
            <a:endParaRPr lang="zh-CN" altLang="en-US" sz="2000" dirty="0" smtClean="0"/>
          </a:p>
          <a:p>
            <a:pPr>
              <a:lnSpc>
                <a:spcPct val="150000"/>
              </a:lnSpc>
            </a:pPr>
            <a:r>
              <a:rPr lang="en-US" altLang="zh-CN" sz="2000" b="1" dirty="0" smtClean="0"/>
              <a:t>2.</a:t>
            </a:r>
            <a:r>
              <a:rPr lang="zh-CN" altLang="en-US" sz="2000" b="1" dirty="0" smtClean="0"/>
              <a:t>开启</a:t>
            </a:r>
            <a:r>
              <a:rPr lang="en-US" altLang="zh-CN" sz="2000" b="1" dirty="0" smtClean="0"/>
              <a:t>IO</a:t>
            </a:r>
            <a:r>
              <a:rPr lang="zh-CN" altLang="en-US" sz="2000" b="1" dirty="0" smtClean="0"/>
              <a:t>口复用时钟。调用函数：</a:t>
            </a:r>
            <a:r>
              <a:rPr lang="en-US" altLang="zh-CN" sz="2000" b="1" dirty="0" smtClean="0"/>
              <a:t>RCC_APB2PeriphClockCmd(RCC_APB2Periph_AFIO,ENABLE)</a:t>
            </a:r>
            <a:r>
              <a:rPr lang="zh-CN" altLang="en-US" sz="2000" b="1" dirty="0" smtClean="0"/>
              <a:t>；</a:t>
            </a:r>
            <a:endParaRPr lang="zh-CN" altLang="en-US" sz="2000" dirty="0" smtClean="0"/>
          </a:p>
          <a:p>
            <a:pPr>
              <a:lnSpc>
                <a:spcPct val="150000"/>
              </a:lnSpc>
            </a:pPr>
            <a:r>
              <a:rPr lang="en-US" altLang="zh-CN" sz="2000" b="1" dirty="0" smtClean="0"/>
              <a:t>3.</a:t>
            </a:r>
            <a:r>
              <a:rPr lang="zh-CN" altLang="en-US" sz="2000" b="1" dirty="0" smtClean="0"/>
              <a:t>设置</a:t>
            </a:r>
            <a:r>
              <a:rPr lang="en-US" altLang="zh-CN" sz="2000" b="1" dirty="0" smtClean="0"/>
              <a:t>IO</a:t>
            </a:r>
            <a:r>
              <a:rPr lang="zh-CN" altLang="en-US" sz="2000" b="1" dirty="0" smtClean="0"/>
              <a:t>口与中断线的映射关系。调用函数：</a:t>
            </a:r>
            <a:r>
              <a:rPr lang="en-US" altLang="zh-CN" sz="2000" b="1" dirty="0" err="1" smtClean="0"/>
              <a:t>GPIO_EXTILineConfig</a:t>
            </a:r>
            <a:r>
              <a:rPr lang="en-US" altLang="zh-CN" sz="2000" b="1" dirty="0" smtClean="0"/>
              <a:t>()</a:t>
            </a:r>
            <a:r>
              <a:rPr lang="zh-CN" altLang="en-US" sz="2000" b="1" dirty="0" smtClean="0"/>
              <a:t>；</a:t>
            </a:r>
            <a:endParaRPr lang="zh-CN" altLang="en-US" sz="2000" dirty="0" smtClean="0"/>
          </a:p>
          <a:p>
            <a:pPr>
              <a:lnSpc>
                <a:spcPct val="150000"/>
              </a:lnSpc>
            </a:pPr>
            <a:r>
              <a:rPr lang="en-US" altLang="zh-CN" sz="2000" b="1" dirty="0" smtClean="0"/>
              <a:t>4.</a:t>
            </a:r>
            <a:r>
              <a:rPr lang="zh-CN" altLang="en-US" sz="2000" b="1" dirty="0" smtClean="0"/>
              <a:t>初始化线上中断，设置触发条件等。调用函数：</a:t>
            </a:r>
            <a:r>
              <a:rPr lang="en-US" altLang="zh-CN" sz="2000" b="1" dirty="0" err="1" smtClean="0"/>
              <a:t>EXTI_Init</a:t>
            </a:r>
            <a:r>
              <a:rPr lang="en-US" altLang="zh-CN" sz="2000" b="1" dirty="0" smtClean="0"/>
              <a:t>()</a:t>
            </a:r>
            <a:r>
              <a:rPr lang="zh-CN" altLang="en-US" sz="2000" b="1" dirty="0" smtClean="0"/>
              <a:t>；</a:t>
            </a:r>
            <a:endParaRPr lang="zh-CN" altLang="en-US" sz="2000" dirty="0" smtClean="0"/>
          </a:p>
          <a:p>
            <a:pPr>
              <a:lnSpc>
                <a:spcPct val="150000"/>
              </a:lnSpc>
            </a:pPr>
            <a:r>
              <a:rPr lang="en-US" altLang="zh-CN" sz="2000" b="1" dirty="0" smtClean="0"/>
              <a:t>5.</a:t>
            </a:r>
            <a:r>
              <a:rPr lang="zh-CN" altLang="en-US" sz="2000" b="1" dirty="0" smtClean="0"/>
              <a:t>配置中断分组（</a:t>
            </a:r>
            <a:r>
              <a:rPr lang="en-US" altLang="zh-CN" sz="2000" b="1" dirty="0" smtClean="0"/>
              <a:t>NVIC</a:t>
            </a:r>
            <a:r>
              <a:rPr lang="zh-CN" altLang="en-US" sz="2000" b="1" dirty="0" smtClean="0"/>
              <a:t>），并使能中断。调用函数：</a:t>
            </a:r>
            <a:r>
              <a:rPr lang="en-US" altLang="zh-CN" sz="2000" b="1" dirty="0" err="1" smtClean="0"/>
              <a:t>NVIC_Init</a:t>
            </a:r>
            <a:r>
              <a:rPr lang="en-US" altLang="zh-CN" sz="2000" b="1" dirty="0" smtClean="0"/>
              <a:t>()</a:t>
            </a:r>
            <a:r>
              <a:rPr lang="zh-CN" altLang="en-US" sz="2000" b="1" dirty="0" smtClean="0"/>
              <a:t>；</a:t>
            </a:r>
            <a:endParaRPr lang="zh-CN" altLang="en-US" sz="2000" dirty="0" smtClean="0"/>
          </a:p>
          <a:p>
            <a:pPr>
              <a:lnSpc>
                <a:spcPct val="150000"/>
              </a:lnSpc>
            </a:pPr>
            <a:r>
              <a:rPr lang="en-US" altLang="zh-CN" sz="2000" b="1" dirty="0" smtClean="0"/>
              <a:t>6.</a:t>
            </a:r>
            <a:r>
              <a:rPr lang="zh-CN" altLang="en-US" sz="2000" b="1" dirty="0" smtClean="0"/>
              <a:t>编写中断服务函数。调用函数：</a:t>
            </a:r>
            <a:r>
              <a:rPr lang="en-US" altLang="zh-CN" sz="2000" b="1" dirty="0" err="1" smtClean="0"/>
              <a:t>EXTIx_IRQHandler</a:t>
            </a:r>
            <a:r>
              <a:rPr lang="en-US" altLang="zh-CN" sz="2000" b="1" dirty="0" smtClean="0"/>
              <a:t>()</a:t>
            </a:r>
            <a:r>
              <a:rPr lang="zh-CN" altLang="en-US" sz="2000" b="1" dirty="0" smtClean="0"/>
              <a:t>；</a:t>
            </a:r>
            <a:endParaRPr lang="zh-CN" altLang="en-US" sz="2000" dirty="0" smtClean="0"/>
          </a:p>
          <a:p>
            <a:pPr>
              <a:lnSpc>
                <a:spcPct val="150000"/>
              </a:lnSpc>
            </a:pPr>
            <a:r>
              <a:rPr lang="en-US" altLang="zh-CN" sz="2000" b="1" dirty="0" smtClean="0"/>
              <a:t>7.</a:t>
            </a:r>
            <a:r>
              <a:rPr lang="zh-CN" altLang="en-US" sz="2000" b="1" dirty="0" smtClean="0"/>
              <a:t>清除中断标志位。调用函数：</a:t>
            </a:r>
            <a:r>
              <a:rPr lang="en-US" altLang="zh-CN" sz="2000" b="1" dirty="0" err="1" smtClean="0"/>
              <a:t>EXTI_ClearITPendingBit</a:t>
            </a:r>
            <a:r>
              <a:rPr lang="en-US" altLang="zh-CN" sz="2000" b="1" dirty="0" smtClean="0"/>
              <a:t>()</a:t>
            </a:r>
            <a:r>
              <a:rPr lang="zh-CN" altLang="en-US" sz="2000" b="1" dirty="0" smtClean="0"/>
              <a:t>。</a:t>
            </a:r>
            <a:endParaRPr lang="zh-CN" altLang="en-US" sz="20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1"/>
          <p:cNvPicPr>
            <a:picLocks noChangeAspect="1" noChangeArrowheads="1"/>
          </p:cNvPicPr>
          <p:nvPr/>
        </p:nvPicPr>
        <p:blipFill>
          <a:blip r:embed="rId2"/>
          <a:srcRect/>
          <a:stretch>
            <a:fillRect/>
          </a:stretch>
        </p:blipFill>
        <p:spPr bwMode="auto">
          <a:xfrm>
            <a:off x="569620" y="523810"/>
            <a:ext cx="10216567" cy="5960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5" name="Picture 1"/>
          <p:cNvPicPr>
            <a:picLocks noChangeAspect="1" noChangeArrowheads="1"/>
          </p:cNvPicPr>
          <p:nvPr/>
        </p:nvPicPr>
        <p:blipFill>
          <a:blip r:embed="rId2"/>
          <a:srcRect/>
          <a:stretch>
            <a:fillRect/>
          </a:stretch>
        </p:blipFill>
        <p:spPr bwMode="auto">
          <a:xfrm>
            <a:off x="395288" y="490538"/>
            <a:ext cx="11401425" cy="58769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7475" y="117693"/>
            <a:ext cx="11924525" cy="6740307"/>
          </a:xfrm>
          <a:prstGeom prst="rect">
            <a:avLst/>
          </a:prstGeom>
        </p:spPr>
        <p:txBody>
          <a:bodyPr wrap="square">
            <a:spAutoFit/>
          </a:bodyPr>
          <a:lstStyle/>
          <a:p>
            <a:pPr>
              <a:lnSpc>
                <a:spcPct val="150000"/>
              </a:lnSpc>
            </a:pPr>
            <a:r>
              <a:rPr lang="en-US" sz="2800" b="1" dirty="0" smtClean="0">
                <a:solidFill>
                  <a:srgbClr val="C00000"/>
                </a:solidFill>
              </a:rPr>
              <a:t>STM32 AFIO</a:t>
            </a:r>
            <a:r>
              <a:rPr lang="zh-CN" altLang="en-US" sz="2800" b="1" dirty="0" smtClean="0">
                <a:solidFill>
                  <a:srgbClr val="C00000"/>
                </a:solidFill>
              </a:rPr>
              <a:t>复用功能</a:t>
            </a:r>
            <a:r>
              <a:rPr lang="zh-CN" altLang="en-US" sz="2800" b="1" dirty="0" smtClean="0">
                <a:solidFill>
                  <a:srgbClr val="C00000"/>
                </a:solidFill>
              </a:rPr>
              <a:t>寄存器</a:t>
            </a:r>
            <a:endParaRPr lang="zh-CN" altLang="en-US" sz="2800" dirty="0" smtClean="0">
              <a:solidFill>
                <a:srgbClr val="C00000"/>
              </a:solidFill>
            </a:endParaRPr>
          </a:p>
          <a:p>
            <a:pPr>
              <a:lnSpc>
                <a:spcPct val="150000"/>
              </a:lnSpc>
            </a:pPr>
            <a:r>
              <a:rPr lang="en-US" sz="2000" b="1" dirty="0" smtClean="0"/>
              <a:t>AFIO_EVCR</a:t>
            </a:r>
            <a:r>
              <a:rPr lang="en-US" sz="2000" dirty="0" smtClean="0"/>
              <a:t>：</a:t>
            </a:r>
            <a:r>
              <a:rPr lang="zh-CN" altLang="en-US" sz="2000" dirty="0" smtClean="0"/>
              <a:t>复用事件控制寄存器</a:t>
            </a:r>
          </a:p>
          <a:p>
            <a:pPr>
              <a:lnSpc>
                <a:spcPct val="150000"/>
              </a:lnSpc>
            </a:pPr>
            <a:r>
              <a:rPr lang="en-US" sz="2000" b="1" dirty="0" smtClean="0"/>
              <a:t>AFIO_MAPR</a:t>
            </a:r>
            <a:r>
              <a:rPr lang="en-US" sz="2000" dirty="0" smtClean="0"/>
              <a:t>：</a:t>
            </a:r>
            <a:r>
              <a:rPr lang="zh-CN" altLang="en-US" sz="2000" dirty="0" smtClean="0"/>
              <a:t>复用功能重映射和调试</a:t>
            </a:r>
            <a:r>
              <a:rPr lang="en-US" sz="2000" dirty="0" smtClean="0"/>
              <a:t>I/O</a:t>
            </a:r>
            <a:r>
              <a:rPr lang="zh-CN" altLang="en-US" sz="2000" dirty="0" smtClean="0"/>
              <a:t>配置寄存器，配置某些引脚第三功能。</a:t>
            </a:r>
          </a:p>
          <a:p>
            <a:pPr>
              <a:lnSpc>
                <a:spcPct val="150000"/>
              </a:lnSpc>
            </a:pPr>
            <a:r>
              <a:rPr lang="en-US" sz="2000" b="1" dirty="0" smtClean="0"/>
              <a:t>AFIO_EXTICR1</a:t>
            </a:r>
            <a:r>
              <a:rPr lang="en-US" sz="2000" dirty="0" smtClean="0"/>
              <a:t>：</a:t>
            </a:r>
            <a:r>
              <a:rPr lang="zh-CN" altLang="en-US" sz="2000" dirty="0" smtClean="0"/>
              <a:t>外部中断配置寄存器</a:t>
            </a:r>
            <a:r>
              <a:rPr lang="en-US" altLang="zh-CN" sz="2000" dirty="0" smtClean="0"/>
              <a:t>1</a:t>
            </a:r>
            <a:r>
              <a:rPr lang="zh-CN" altLang="en-US" sz="2000" dirty="0" smtClean="0"/>
              <a:t>，配置外部中断</a:t>
            </a:r>
            <a:r>
              <a:rPr lang="en-US" sz="2000" dirty="0" smtClean="0"/>
              <a:t>EXTI0,1,2,3</a:t>
            </a:r>
            <a:r>
              <a:rPr lang="zh-CN" altLang="en-US" sz="2000" dirty="0" smtClean="0"/>
              <a:t>给</a:t>
            </a:r>
            <a:r>
              <a:rPr lang="en-US" sz="2000" dirty="0" smtClean="0"/>
              <a:t>Px0,Px1,Px2,Px3</a:t>
            </a:r>
            <a:r>
              <a:rPr lang="zh-CN" altLang="en-US" sz="2000" dirty="0" smtClean="0"/>
              <a:t>引脚。</a:t>
            </a:r>
            <a:r>
              <a:rPr lang="en-US" altLang="zh-CN" sz="2000" dirty="0" smtClean="0"/>
              <a:t>(</a:t>
            </a:r>
            <a:r>
              <a:rPr lang="en-US" sz="2000" dirty="0" smtClean="0"/>
              <a:t>x=A,B,C,D,E…)</a:t>
            </a:r>
          </a:p>
          <a:p>
            <a:pPr>
              <a:lnSpc>
                <a:spcPct val="150000"/>
              </a:lnSpc>
            </a:pPr>
            <a:r>
              <a:rPr lang="en-US" sz="2000" b="1" dirty="0" smtClean="0"/>
              <a:t>AFIO_EXTICR2</a:t>
            </a:r>
            <a:r>
              <a:rPr lang="en-US" sz="2000" dirty="0" smtClean="0"/>
              <a:t>：</a:t>
            </a:r>
            <a:r>
              <a:rPr lang="zh-CN" altLang="en-US" sz="2000" dirty="0" smtClean="0"/>
              <a:t>外部中断配置寄存器</a:t>
            </a:r>
            <a:r>
              <a:rPr lang="en-US" altLang="zh-CN" sz="2000" dirty="0" smtClean="0"/>
              <a:t>2</a:t>
            </a:r>
            <a:r>
              <a:rPr lang="zh-CN" altLang="en-US" sz="2000" dirty="0" smtClean="0"/>
              <a:t>，配置外部中断</a:t>
            </a:r>
            <a:r>
              <a:rPr lang="en-US" sz="2000" dirty="0" smtClean="0"/>
              <a:t>EXTI4,5,6,7</a:t>
            </a:r>
            <a:r>
              <a:rPr lang="zh-CN" altLang="en-US" sz="2000" dirty="0" smtClean="0"/>
              <a:t>给</a:t>
            </a:r>
            <a:r>
              <a:rPr lang="en-US" sz="2000" dirty="0" smtClean="0"/>
              <a:t>Px4,Px5,Px6,Px7</a:t>
            </a:r>
            <a:r>
              <a:rPr lang="zh-CN" altLang="en-US" sz="2000" dirty="0" smtClean="0"/>
              <a:t>引脚。</a:t>
            </a:r>
            <a:r>
              <a:rPr lang="en-US" altLang="zh-CN" sz="2000" dirty="0" smtClean="0"/>
              <a:t>(</a:t>
            </a:r>
            <a:r>
              <a:rPr lang="en-US" sz="2000" dirty="0" smtClean="0"/>
              <a:t>x=A,B,C,D,E…)</a:t>
            </a:r>
          </a:p>
          <a:p>
            <a:pPr>
              <a:lnSpc>
                <a:spcPct val="150000"/>
              </a:lnSpc>
            </a:pPr>
            <a:r>
              <a:rPr lang="en-US" sz="2000" b="1" dirty="0" smtClean="0"/>
              <a:t>AFIO_EXTICR3</a:t>
            </a:r>
            <a:r>
              <a:rPr lang="en-US" sz="2000" dirty="0" smtClean="0"/>
              <a:t>：</a:t>
            </a:r>
            <a:r>
              <a:rPr lang="zh-CN" altLang="en-US" sz="2000" dirty="0" smtClean="0"/>
              <a:t>外部中断配置寄存器</a:t>
            </a:r>
            <a:r>
              <a:rPr lang="en-US" altLang="zh-CN" sz="2000" dirty="0" smtClean="0"/>
              <a:t>3</a:t>
            </a:r>
            <a:r>
              <a:rPr lang="zh-CN" altLang="en-US" sz="2000" dirty="0" smtClean="0"/>
              <a:t>，配置外部中断</a:t>
            </a:r>
            <a:r>
              <a:rPr lang="en-US" sz="2000" dirty="0" smtClean="0"/>
              <a:t>EXTI8,9,10,11</a:t>
            </a:r>
            <a:r>
              <a:rPr lang="zh-CN" altLang="en-US" sz="2000" dirty="0" smtClean="0"/>
              <a:t>给</a:t>
            </a:r>
            <a:r>
              <a:rPr lang="en-US" sz="2000" dirty="0" smtClean="0"/>
              <a:t>Px8,Px9,Px10,Px11</a:t>
            </a:r>
            <a:r>
              <a:rPr lang="zh-CN" altLang="en-US" sz="2000" dirty="0" smtClean="0"/>
              <a:t>引脚。</a:t>
            </a:r>
            <a:r>
              <a:rPr lang="en-US" altLang="zh-CN" sz="2000" dirty="0" smtClean="0"/>
              <a:t>(</a:t>
            </a:r>
            <a:r>
              <a:rPr lang="en-US" sz="2000" dirty="0" smtClean="0"/>
              <a:t>x=A, B,C,D,E…)</a:t>
            </a:r>
          </a:p>
          <a:p>
            <a:pPr>
              <a:lnSpc>
                <a:spcPct val="150000"/>
              </a:lnSpc>
            </a:pPr>
            <a:r>
              <a:rPr lang="en-US" sz="2000" b="1" dirty="0" smtClean="0"/>
              <a:t>AFIO_EXTICR4</a:t>
            </a:r>
            <a:r>
              <a:rPr lang="en-US" sz="2000" dirty="0" smtClean="0"/>
              <a:t>：</a:t>
            </a:r>
            <a:r>
              <a:rPr lang="zh-CN" altLang="en-US" sz="2000" dirty="0" smtClean="0"/>
              <a:t>外部中断配置寄存器</a:t>
            </a:r>
            <a:r>
              <a:rPr lang="en-US" altLang="zh-CN" sz="2000" dirty="0" smtClean="0"/>
              <a:t>4</a:t>
            </a:r>
            <a:r>
              <a:rPr lang="zh-CN" altLang="en-US" sz="2000" dirty="0" smtClean="0"/>
              <a:t>，配置外部中断</a:t>
            </a:r>
            <a:r>
              <a:rPr lang="en-US" sz="2000" dirty="0" smtClean="0"/>
              <a:t>EXTI12,13,14,15</a:t>
            </a:r>
            <a:r>
              <a:rPr lang="zh-CN" altLang="en-US" sz="2000" dirty="0" smtClean="0"/>
              <a:t>给</a:t>
            </a:r>
            <a:r>
              <a:rPr lang="en-US" sz="2000" dirty="0" smtClean="0"/>
              <a:t>Px12,Px13,Px14,Px15</a:t>
            </a:r>
            <a:r>
              <a:rPr lang="zh-CN" altLang="en-US" sz="2000" dirty="0" smtClean="0"/>
              <a:t>引脚。</a:t>
            </a:r>
            <a:r>
              <a:rPr lang="en-US" altLang="zh-CN" sz="2000" dirty="0" smtClean="0"/>
              <a:t>(</a:t>
            </a:r>
            <a:r>
              <a:rPr lang="en-US" sz="2000" dirty="0" smtClean="0"/>
              <a:t>x=A,B,C,D,E</a:t>
            </a:r>
            <a:r>
              <a:rPr lang="en-US" sz="2000" dirty="0" smtClean="0"/>
              <a:t>…)</a:t>
            </a:r>
          </a:p>
          <a:p>
            <a:pPr>
              <a:lnSpc>
                <a:spcPct val="150000"/>
              </a:lnSpc>
              <a:buClr>
                <a:srgbClr val="FFC000"/>
              </a:buClr>
              <a:buFont typeface="Wingdings" pitchFamily="2" charset="2"/>
              <a:buChar char="u"/>
            </a:pPr>
            <a:r>
              <a:rPr lang="zh-CN" altLang="en-US" sz="2000" dirty="0" smtClean="0"/>
              <a:t>因为</a:t>
            </a:r>
            <a:r>
              <a:rPr lang="zh-CN" altLang="en-US" sz="2000" dirty="0" smtClean="0"/>
              <a:t>在配置外部中断时，要对 </a:t>
            </a:r>
            <a:r>
              <a:rPr lang="en-US" altLang="zh-CN" sz="2000" b="1" dirty="0" smtClean="0"/>
              <a:t>AFIO_EXTICRX</a:t>
            </a:r>
            <a:r>
              <a:rPr lang="zh-CN" altLang="en-US" sz="2000" b="1" dirty="0" smtClean="0"/>
              <a:t>进行读写操作，所以</a:t>
            </a:r>
            <a:r>
              <a:rPr lang="zh-CN" altLang="en-US" sz="2000" dirty="0" smtClean="0"/>
              <a:t>要</a:t>
            </a:r>
            <a:r>
              <a:rPr lang="zh-CN" altLang="en-US" sz="2000" dirty="0" smtClean="0"/>
              <a:t>打开</a:t>
            </a:r>
            <a:r>
              <a:rPr lang="en-US" altLang="zh-CN" dirty="0" smtClean="0"/>
              <a:t>RCC_APB2Periph_AFIO</a:t>
            </a:r>
            <a:r>
              <a:rPr lang="zh-CN" altLang="en-US" sz="2000" dirty="0" smtClean="0"/>
              <a:t>时钟。</a:t>
            </a:r>
            <a:endParaRPr lang="en-US" sz="2000" dirty="0" smtClean="0"/>
          </a:p>
          <a:p>
            <a:pPr>
              <a:lnSpc>
                <a:spcPct val="150000"/>
              </a:lnSpc>
            </a:pPr>
            <a:endParaRPr lang="en-US" sz="20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1"/>
          <p:cNvPicPr>
            <a:picLocks noChangeAspect="1" noChangeArrowheads="1"/>
          </p:cNvPicPr>
          <p:nvPr/>
        </p:nvPicPr>
        <p:blipFill>
          <a:blip r:embed="rId2"/>
          <a:srcRect/>
          <a:stretch>
            <a:fillRect/>
          </a:stretch>
        </p:blipFill>
        <p:spPr bwMode="auto">
          <a:xfrm>
            <a:off x="781050" y="642938"/>
            <a:ext cx="10629900" cy="5572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Picture 1"/>
          <p:cNvPicPr>
            <a:picLocks noChangeAspect="1" noChangeArrowheads="1"/>
          </p:cNvPicPr>
          <p:nvPr/>
        </p:nvPicPr>
        <p:blipFill>
          <a:blip r:embed="rId2"/>
          <a:srcRect/>
          <a:stretch>
            <a:fillRect/>
          </a:stretch>
        </p:blipFill>
        <p:spPr bwMode="auto">
          <a:xfrm>
            <a:off x="276225" y="1195388"/>
            <a:ext cx="11639550" cy="44672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3" name="Picture 1"/>
          <p:cNvPicPr>
            <a:picLocks noChangeAspect="1" noChangeArrowheads="1"/>
          </p:cNvPicPr>
          <p:nvPr/>
        </p:nvPicPr>
        <p:blipFill>
          <a:blip r:embed="rId2"/>
          <a:srcRect/>
          <a:stretch>
            <a:fillRect/>
          </a:stretch>
        </p:blipFill>
        <p:spPr bwMode="auto">
          <a:xfrm>
            <a:off x="308011" y="447674"/>
            <a:ext cx="11551199" cy="5962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Picture 1"/>
          <p:cNvPicPr>
            <a:picLocks noChangeAspect="1" noChangeArrowheads="1"/>
          </p:cNvPicPr>
          <p:nvPr/>
        </p:nvPicPr>
        <p:blipFill>
          <a:blip r:embed="rId2"/>
          <a:srcRect/>
          <a:stretch>
            <a:fillRect/>
          </a:stretch>
        </p:blipFill>
        <p:spPr bwMode="auto">
          <a:xfrm>
            <a:off x="271464" y="331136"/>
            <a:ext cx="11649075" cy="3209925"/>
          </a:xfrm>
          <a:prstGeom prst="rect">
            <a:avLst/>
          </a:prstGeom>
          <a:noFill/>
          <a:ln w="9525">
            <a:noFill/>
            <a:miter lim="800000"/>
            <a:headEnd/>
            <a:tailEnd/>
          </a:ln>
          <a:effectLst/>
        </p:spPr>
      </p:pic>
      <p:pic>
        <p:nvPicPr>
          <p:cNvPr id="53250" name="Picture 2"/>
          <p:cNvPicPr>
            <a:picLocks noChangeAspect="1" noChangeArrowheads="1"/>
          </p:cNvPicPr>
          <p:nvPr/>
        </p:nvPicPr>
        <p:blipFill>
          <a:blip r:embed="rId3"/>
          <a:srcRect/>
          <a:stretch>
            <a:fillRect/>
          </a:stretch>
        </p:blipFill>
        <p:spPr bwMode="auto">
          <a:xfrm>
            <a:off x="263299" y="3811750"/>
            <a:ext cx="11534775" cy="2724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1"/>
          <p:cNvPicPr>
            <a:picLocks noChangeAspect="1" noChangeArrowheads="1"/>
          </p:cNvPicPr>
          <p:nvPr/>
        </p:nvPicPr>
        <p:blipFill>
          <a:blip r:embed="rId2"/>
          <a:srcRect/>
          <a:stretch>
            <a:fillRect/>
          </a:stretch>
        </p:blipFill>
        <p:spPr bwMode="auto">
          <a:xfrm>
            <a:off x="546424" y="1474918"/>
            <a:ext cx="10763250" cy="35909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1"/>
          <p:cNvPicPr>
            <a:picLocks noChangeAspect="1" noChangeArrowheads="1"/>
          </p:cNvPicPr>
          <p:nvPr/>
        </p:nvPicPr>
        <p:blipFill>
          <a:blip r:embed="rId2"/>
          <a:srcRect/>
          <a:stretch>
            <a:fillRect/>
          </a:stretch>
        </p:blipFill>
        <p:spPr bwMode="auto">
          <a:xfrm>
            <a:off x="280990" y="28575"/>
            <a:ext cx="11630025" cy="68294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7475" y="316870"/>
            <a:ext cx="11237169" cy="6684266"/>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smtClean="0"/>
              <a:t>第一步：使用</a:t>
            </a:r>
            <a:r>
              <a:rPr lang="en-US" dirty="0" smtClean="0"/>
              <a:t>void </a:t>
            </a:r>
            <a:r>
              <a:rPr lang="en-US" dirty="0" err="1" smtClean="0"/>
              <a:t>NVIC_PriorityGroupConfig</a:t>
            </a:r>
            <a:r>
              <a:rPr lang="en-US" dirty="0" smtClean="0"/>
              <a:t>(uint32_t </a:t>
            </a:r>
            <a:r>
              <a:rPr lang="en-US" dirty="0" err="1" smtClean="0"/>
              <a:t>NVIC_PriorityGroup</a:t>
            </a:r>
            <a:r>
              <a:rPr lang="en-US" dirty="0" smtClean="0"/>
              <a:t>)</a:t>
            </a:r>
            <a:r>
              <a:rPr lang="zh-CN" altLang="en-US" dirty="0" smtClean="0"/>
              <a:t>函数对优先级分组配置。</a:t>
            </a:r>
            <a:endParaRPr lang="en-US" altLang="zh-CN" dirty="0" smtClean="0"/>
          </a:p>
          <a:p>
            <a:pPr>
              <a:lnSpc>
                <a:spcPct val="150000"/>
              </a:lnSpc>
            </a:pPr>
            <a:r>
              <a:rPr lang="en-US" dirty="0" err="1" smtClean="0"/>
              <a:t>NVIC_PriorityGroup</a:t>
            </a:r>
            <a:r>
              <a:rPr lang="zh-CN" altLang="en-US" dirty="0" smtClean="0"/>
              <a:t>可以配置为</a:t>
            </a:r>
          </a:p>
          <a:p>
            <a:pPr>
              <a:lnSpc>
                <a:spcPct val="150000"/>
              </a:lnSpc>
            </a:pPr>
            <a:r>
              <a:rPr lang="en-US" dirty="0" smtClean="0"/>
              <a:t>NVIC_PriorityGroup_0 =&gt; </a:t>
            </a:r>
            <a:r>
              <a:rPr lang="zh-CN" altLang="en-US" dirty="0" smtClean="0"/>
              <a:t>选择第</a:t>
            </a:r>
            <a:r>
              <a:rPr lang="en-US" altLang="zh-CN" dirty="0" smtClean="0"/>
              <a:t>0</a:t>
            </a:r>
            <a:r>
              <a:rPr lang="zh-CN" altLang="en-US" dirty="0" smtClean="0"/>
              <a:t>组</a:t>
            </a:r>
            <a:br>
              <a:rPr lang="zh-CN" altLang="en-US" dirty="0" smtClean="0"/>
            </a:br>
            <a:r>
              <a:rPr lang="en-US" dirty="0" smtClean="0"/>
              <a:t>NVIC_PriorityGroup_1 =&gt; </a:t>
            </a:r>
            <a:r>
              <a:rPr lang="zh-CN" altLang="en-US" dirty="0" smtClean="0"/>
              <a:t>选择第</a:t>
            </a:r>
            <a:r>
              <a:rPr lang="en-US" altLang="zh-CN" dirty="0" smtClean="0"/>
              <a:t>1</a:t>
            </a:r>
            <a:r>
              <a:rPr lang="zh-CN" altLang="en-US" dirty="0" smtClean="0"/>
              <a:t>组</a:t>
            </a:r>
            <a:br>
              <a:rPr lang="zh-CN" altLang="en-US" dirty="0" smtClean="0"/>
            </a:br>
            <a:r>
              <a:rPr lang="en-US" dirty="0" smtClean="0"/>
              <a:t>NVIC_PriorityGroup_2 =&gt; </a:t>
            </a:r>
            <a:r>
              <a:rPr lang="zh-CN" altLang="en-US" dirty="0" smtClean="0"/>
              <a:t>选择第</a:t>
            </a:r>
            <a:r>
              <a:rPr lang="en-US" altLang="zh-CN" dirty="0" smtClean="0"/>
              <a:t>2</a:t>
            </a:r>
            <a:r>
              <a:rPr lang="zh-CN" altLang="en-US" dirty="0" smtClean="0"/>
              <a:t>组</a:t>
            </a:r>
            <a:br>
              <a:rPr lang="zh-CN" altLang="en-US" dirty="0" smtClean="0"/>
            </a:br>
            <a:r>
              <a:rPr lang="en-US" dirty="0" smtClean="0"/>
              <a:t>NVIC_PriorityGroup_3 =&gt; </a:t>
            </a:r>
            <a:r>
              <a:rPr lang="zh-CN" altLang="en-US" dirty="0" smtClean="0"/>
              <a:t>选择第</a:t>
            </a:r>
            <a:r>
              <a:rPr lang="en-US" altLang="zh-CN" dirty="0" smtClean="0"/>
              <a:t>3</a:t>
            </a:r>
            <a:r>
              <a:rPr lang="zh-CN" altLang="en-US" dirty="0" smtClean="0"/>
              <a:t>组</a:t>
            </a:r>
            <a:br>
              <a:rPr lang="zh-CN" altLang="en-US" dirty="0" smtClean="0"/>
            </a:br>
            <a:r>
              <a:rPr lang="en-US" dirty="0" smtClean="0"/>
              <a:t>NVIC_PriorityGroup_4 =&gt; </a:t>
            </a:r>
            <a:r>
              <a:rPr lang="zh-CN" altLang="en-US" dirty="0" smtClean="0"/>
              <a:t>选择第</a:t>
            </a:r>
            <a:r>
              <a:rPr lang="en-US" altLang="zh-CN" dirty="0" smtClean="0"/>
              <a:t>4</a:t>
            </a:r>
            <a:r>
              <a:rPr lang="zh-CN" altLang="en-US" dirty="0" smtClean="0"/>
              <a:t>组</a:t>
            </a:r>
            <a:endParaRPr lang="en-US" altLang="zh-CN" dirty="0" smtClean="0"/>
          </a:p>
          <a:p>
            <a:pPr>
              <a:lnSpc>
                <a:spcPct val="150000"/>
              </a:lnSpc>
              <a:buClr>
                <a:srgbClr val="C00000"/>
              </a:buClr>
              <a:buFont typeface="Wingdings" pitchFamily="2" charset="2"/>
              <a:buChar char="u"/>
            </a:pPr>
            <a:r>
              <a:rPr lang="zh-CN" altLang="en-US" dirty="0" smtClean="0"/>
              <a:t>第二步：中断初始化结构体配置，结构体类型定义如下：</a:t>
            </a:r>
          </a:p>
          <a:p>
            <a:pPr>
              <a:lnSpc>
                <a:spcPct val="150000"/>
              </a:lnSpc>
            </a:pPr>
            <a:r>
              <a:rPr lang="en-US" dirty="0" err="1" smtClean="0"/>
              <a:t>typedef</a:t>
            </a:r>
            <a:r>
              <a:rPr lang="en-US" dirty="0" smtClean="0"/>
              <a:t> </a:t>
            </a:r>
            <a:r>
              <a:rPr lang="en-US" dirty="0" err="1" smtClean="0"/>
              <a:t>struct</a:t>
            </a:r>
            <a:endParaRPr lang="en-US" dirty="0" smtClean="0"/>
          </a:p>
          <a:p>
            <a:pPr>
              <a:lnSpc>
                <a:spcPct val="150000"/>
              </a:lnSpc>
            </a:pPr>
            <a:r>
              <a:rPr lang="en-US" dirty="0" smtClean="0"/>
              <a:t>{</a:t>
            </a:r>
          </a:p>
          <a:p>
            <a:pPr>
              <a:lnSpc>
                <a:spcPct val="150000"/>
              </a:lnSpc>
            </a:pPr>
            <a:r>
              <a:rPr lang="en-US" dirty="0" smtClean="0"/>
              <a:t>  uint8_t </a:t>
            </a:r>
            <a:r>
              <a:rPr lang="en-US" dirty="0" err="1" smtClean="0"/>
              <a:t>NVIC_IRQChannel</a:t>
            </a:r>
            <a:r>
              <a:rPr lang="en-US" dirty="0" smtClean="0"/>
              <a:t>;                 </a:t>
            </a:r>
          </a:p>
          <a:p>
            <a:pPr>
              <a:lnSpc>
                <a:spcPct val="150000"/>
              </a:lnSpc>
            </a:pPr>
            <a:r>
              <a:rPr lang="en-US" dirty="0" smtClean="0"/>
              <a:t>  uint8_t </a:t>
            </a:r>
            <a:r>
              <a:rPr lang="en-US" dirty="0" err="1" smtClean="0"/>
              <a:t>NVIC_IRQChannelPreemptionPriority</a:t>
            </a:r>
            <a:r>
              <a:rPr lang="en-US" dirty="0" smtClean="0"/>
              <a:t>;  //</a:t>
            </a:r>
            <a:r>
              <a:rPr lang="zh-CN" altLang="en-US" dirty="0" smtClean="0"/>
              <a:t>抢断优先级</a:t>
            </a:r>
          </a:p>
          <a:p>
            <a:pPr>
              <a:lnSpc>
                <a:spcPct val="150000"/>
              </a:lnSpc>
            </a:pPr>
            <a:r>
              <a:rPr lang="zh-CN" altLang="en-US" dirty="0" smtClean="0"/>
              <a:t>  </a:t>
            </a:r>
            <a:r>
              <a:rPr lang="en-US" dirty="0" smtClean="0"/>
              <a:t>uint8_t </a:t>
            </a:r>
            <a:r>
              <a:rPr lang="en-US" dirty="0" err="1" smtClean="0"/>
              <a:t>NVIC_IRQChannelSubPriority</a:t>
            </a:r>
            <a:r>
              <a:rPr lang="en-US" dirty="0" smtClean="0"/>
              <a:t>;  //</a:t>
            </a:r>
            <a:r>
              <a:rPr lang="zh-CN" altLang="en-US" dirty="0" smtClean="0"/>
              <a:t>响应优先级      </a:t>
            </a:r>
          </a:p>
          <a:p>
            <a:pPr>
              <a:lnSpc>
                <a:spcPct val="150000"/>
              </a:lnSpc>
            </a:pPr>
            <a:r>
              <a:rPr lang="zh-CN" altLang="en-US" dirty="0" smtClean="0"/>
              <a:t>  </a:t>
            </a:r>
            <a:r>
              <a:rPr lang="en-US" dirty="0" err="1" smtClean="0"/>
              <a:t>FunctionalState</a:t>
            </a:r>
            <a:r>
              <a:rPr lang="en-US" dirty="0" smtClean="0"/>
              <a:t> </a:t>
            </a:r>
            <a:r>
              <a:rPr lang="en-US" dirty="0" err="1" smtClean="0"/>
              <a:t>NVIC_IRQChannelCmd</a:t>
            </a:r>
            <a:r>
              <a:rPr lang="en-US" dirty="0" smtClean="0"/>
              <a:t>;      </a:t>
            </a:r>
          </a:p>
          <a:p>
            <a:pPr>
              <a:lnSpc>
                <a:spcPct val="150000"/>
              </a:lnSpc>
            </a:pPr>
            <a:r>
              <a:rPr lang="en-US" dirty="0" smtClean="0"/>
              <a:t>} </a:t>
            </a:r>
            <a:r>
              <a:rPr lang="en-US" dirty="0" err="1" smtClean="0"/>
              <a:t>NVIC_InitTypeDef</a:t>
            </a:r>
            <a:r>
              <a:rPr lang="en-US" dirty="0" smtClean="0"/>
              <a:t>;</a:t>
            </a:r>
          </a:p>
          <a:p>
            <a:pPr>
              <a:lnSpc>
                <a:spcPct val="150000"/>
              </a:lnSpc>
            </a:pPr>
            <a:endParaRPr lang="zh-CN" altLang="en-US" dirty="0"/>
          </a:p>
        </p:txBody>
      </p:sp>
      <p:sp>
        <p:nvSpPr>
          <p:cNvPr id="4" name="矩形 3"/>
          <p:cNvSpPr/>
          <p:nvPr/>
        </p:nvSpPr>
        <p:spPr>
          <a:xfrm>
            <a:off x="5268686" y="1221052"/>
            <a:ext cx="6096000" cy="1754326"/>
          </a:xfrm>
          <a:prstGeom prst="rect">
            <a:avLst/>
          </a:prstGeom>
        </p:spPr>
        <p:txBody>
          <a:bodyPr>
            <a:spAutoFit/>
          </a:bodyPr>
          <a:lstStyle/>
          <a:p>
            <a:pPr>
              <a:lnSpc>
                <a:spcPct val="150000"/>
              </a:lnSpc>
              <a:buClr>
                <a:srgbClr val="C00000"/>
              </a:buClr>
              <a:buFont typeface="Wingdings" pitchFamily="2" charset="2"/>
              <a:buChar char="u"/>
            </a:pPr>
            <a:r>
              <a:rPr lang="zh-CN" altLang="en-US" dirty="0" smtClean="0"/>
              <a:t>第三步：中断初始化结构体初始化操作如下</a:t>
            </a:r>
          </a:p>
          <a:p>
            <a:pPr>
              <a:lnSpc>
                <a:spcPct val="150000"/>
              </a:lnSpc>
            </a:pPr>
            <a:r>
              <a:rPr lang="zh-CN" altLang="en-US" dirty="0" smtClean="0"/>
              <a:t>         </a:t>
            </a:r>
            <a:r>
              <a:rPr lang="en-US" dirty="0" err="1" smtClean="0"/>
              <a:t>NVIC_Init</a:t>
            </a:r>
            <a:r>
              <a:rPr lang="en-US" dirty="0" smtClean="0"/>
              <a:t>(&amp;</a:t>
            </a:r>
            <a:r>
              <a:rPr lang="en-US" dirty="0" err="1" smtClean="0"/>
              <a:t>EXTI_NVIC_InitStructure</a:t>
            </a:r>
            <a:r>
              <a:rPr lang="en-US" dirty="0" smtClean="0"/>
              <a:t>);</a:t>
            </a:r>
          </a:p>
          <a:p>
            <a:pPr>
              <a:lnSpc>
                <a:spcPct val="150000"/>
              </a:lnSpc>
              <a:buClr>
                <a:srgbClr val="C00000"/>
              </a:buClr>
              <a:buFont typeface="Wingdings" pitchFamily="2" charset="2"/>
              <a:buChar char="u"/>
            </a:pPr>
            <a:r>
              <a:rPr lang="zh-CN" altLang="en-US" dirty="0" smtClean="0"/>
              <a:t>第四步：开关总中断操作。</a:t>
            </a:r>
            <a:endParaRPr lang="en-US" altLang="zh-CN" dirty="0" smtClean="0"/>
          </a:p>
          <a:p>
            <a:pPr>
              <a:lnSpc>
                <a:spcPct val="150000"/>
              </a:lnSpc>
            </a:pP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80662" y="783400"/>
            <a:ext cx="6096000" cy="3831818"/>
          </a:xfrm>
          <a:prstGeom prst="rect">
            <a:avLst/>
          </a:prstGeom>
        </p:spPr>
        <p:txBody>
          <a:bodyPr>
            <a:spAutoFit/>
          </a:bodyPr>
          <a:lstStyle/>
          <a:p>
            <a:pPr>
              <a:lnSpc>
                <a:spcPct val="150000"/>
              </a:lnSpc>
              <a:buClr>
                <a:srgbClr val="C00000"/>
              </a:buClr>
              <a:buFont typeface="Wingdings" pitchFamily="2" charset="2"/>
              <a:buChar char="Ø"/>
            </a:pPr>
            <a:r>
              <a:rPr lang="zh-CN" altLang="en-US" dirty="0" smtClean="0"/>
              <a:t>（</a:t>
            </a:r>
            <a:r>
              <a:rPr lang="en-US" altLang="zh-CN" dirty="0" smtClean="0"/>
              <a:t>1</a:t>
            </a:r>
            <a:r>
              <a:rPr lang="zh-CN" altLang="en-US" dirty="0" smtClean="0"/>
              <a:t>）   下面两个函数等效关闭总中断</a:t>
            </a:r>
          </a:p>
          <a:p>
            <a:pPr>
              <a:lnSpc>
                <a:spcPct val="150000"/>
              </a:lnSpc>
            </a:pPr>
            <a:r>
              <a:rPr lang="en-US" dirty="0" smtClean="0"/>
              <a:t>void NVIC_SETPRIMASK(void)； </a:t>
            </a:r>
            <a:br>
              <a:rPr lang="en-US" dirty="0" smtClean="0"/>
            </a:br>
            <a:r>
              <a:rPr lang="en-US" dirty="0" smtClean="0"/>
              <a:t>void NVIC_SETFAULTMASK(void)；</a:t>
            </a:r>
          </a:p>
          <a:p>
            <a:pPr>
              <a:lnSpc>
                <a:spcPct val="150000"/>
              </a:lnSpc>
              <a:buClr>
                <a:srgbClr val="C00000"/>
              </a:buClr>
              <a:buFont typeface="Wingdings" pitchFamily="2" charset="2"/>
              <a:buChar char="Ø"/>
            </a:pPr>
            <a:r>
              <a:rPr lang="en-US" dirty="0" smtClean="0"/>
              <a:t>（2）   </a:t>
            </a:r>
            <a:r>
              <a:rPr lang="zh-CN" altLang="en-US" dirty="0" smtClean="0"/>
              <a:t>下面两个函数等效开放总中断</a:t>
            </a:r>
          </a:p>
          <a:p>
            <a:pPr>
              <a:lnSpc>
                <a:spcPct val="150000"/>
              </a:lnSpc>
            </a:pPr>
            <a:r>
              <a:rPr lang="en-US" dirty="0" smtClean="0"/>
              <a:t>void NVIC_RESETPRIMASK(void)； </a:t>
            </a:r>
            <a:br>
              <a:rPr lang="en-US" dirty="0" smtClean="0"/>
            </a:br>
            <a:r>
              <a:rPr lang="en-US" dirty="0" smtClean="0"/>
              <a:t>void NVIC_RESETFAULTMASK(void)；</a:t>
            </a:r>
          </a:p>
          <a:p>
            <a:pPr>
              <a:lnSpc>
                <a:spcPct val="150000"/>
              </a:lnSpc>
              <a:buClr>
                <a:srgbClr val="C00000"/>
              </a:buClr>
              <a:buFont typeface="Wingdings" pitchFamily="2" charset="2"/>
              <a:buChar char="Ø"/>
            </a:pPr>
            <a:r>
              <a:rPr lang="en-US" dirty="0" smtClean="0"/>
              <a:t>（3）   </a:t>
            </a:r>
            <a:r>
              <a:rPr lang="zh-CN" altLang="en-US" dirty="0" smtClean="0"/>
              <a:t>常用操作是先关后开中断</a:t>
            </a:r>
          </a:p>
          <a:p>
            <a:pPr>
              <a:lnSpc>
                <a:spcPct val="150000"/>
              </a:lnSpc>
            </a:pPr>
            <a:r>
              <a:rPr lang="en-US" dirty="0" smtClean="0"/>
              <a:t>NVIC_SETPRIMASK();     // Disable Interrupts </a:t>
            </a:r>
            <a:br>
              <a:rPr lang="en-US" dirty="0" smtClean="0"/>
            </a:br>
            <a:r>
              <a:rPr lang="en-US" dirty="0" smtClean="0"/>
              <a:t>NVIC_RESETPRIMASK(); // Enable Interrupts</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3" name="Picture 1"/>
          <p:cNvPicPr>
            <a:picLocks noChangeAspect="1" noChangeArrowheads="1"/>
          </p:cNvPicPr>
          <p:nvPr/>
        </p:nvPicPr>
        <p:blipFill>
          <a:blip r:embed="rId2"/>
          <a:srcRect/>
          <a:stretch>
            <a:fillRect/>
          </a:stretch>
        </p:blipFill>
        <p:spPr bwMode="auto">
          <a:xfrm>
            <a:off x="258342" y="340397"/>
            <a:ext cx="8960304" cy="6005683"/>
          </a:xfrm>
          <a:prstGeom prst="rect">
            <a:avLst/>
          </a:prstGeom>
          <a:noFill/>
          <a:ln w="9525">
            <a:noFill/>
            <a:miter lim="800000"/>
            <a:headEnd/>
            <a:tailEnd/>
          </a:ln>
          <a:effectLst/>
        </p:spPr>
      </p:pic>
      <p:sp>
        <p:nvSpPr>
          <p:cNvPr id="4" name="TextBox 3"/>
          <p:cNvSpPr txBox="1"/>
          <p:nvPr/>
        </p:nvSpPr>
        <p:spPr>
          <a:xfrm>
            <a:off x="7464490" y="5990252"/>
            <a:ext cx="905070" cy="646331"/>
          </a:xfrm>
          <a:prstGeom prst="rect">
            <a:avLst/>
          </a:prstGeom>
          <a:noFill/>
        </p:spPr>
        <p:txBody>
          <a:bodyPr wrap="square" rtlCol="0">
            <a:spAutoFit/>
          </a:bodyPr>
          <a:lstStyle/>
          <a:p>
            <a:r>
              <a:rPr lang="en-US" altLang="zh-CN" dirty="0" smtClean="0"/>
              <a:t>}</a:t>
            </a:r>
          </a:p>
          <a:p>
            <a:r>
              <a:rPr lang="en-US" altLang="zh-CN" dirty="0" smtClean="0"/>
              <a:t>}</a:t>
            </a:r>
            <a:endParaRPr lang="zh-CN" altLang="en-US" dirty="0"/>
          </a:p>
        </p:txBody>
      </p:sp>
      <p:pic>
        <p:nvPicPr>
          <p:cNvPr id="49155" name="Picture 3"/>
          <p:cNvPicPr>
            <a:picLocks noChangeAspect="1" noChangeArrowheads="1"/>
          </p:cNvPicPr>
          <p:nvPr/>
        </p:nvPicPr>
        <p:blipFill>
          <a:blip r:embed="rId3"/>
          <a:srcRect/>
          <a:stretch>
            <a:fillRect/>
          </a:stretch>
        </p:blipFill>
        <p:spPr bwMode="auto">
          <a:xfrm>
            <a:off x="8252149" y="6088885"/>
            <a:ext cx="3140529" cy="36750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410547" y="1017038"/>
            <a:ext cx="11017696" cy="4654095"/>
          </a:xfrm>
          <a:prstGeom prst="rect">
            <a:avLst/>
          </a:prstGeom>
          <a:solidFill>
            <a:srgbClr val="BCD3E5"/>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zh-CN" sz="2000" b="1"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EXTI</a:t>
            </a:r>
            <a:r>
              <a:rPr kumimoji="0" lang="zh-CN" sz="2000" b="1"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配置例程：</a:t>
            </a:r>
            <a:endParaRPr kumimoji="0" 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1"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EXTI</a:t>
            </a:r>
            <a:r>
              <a:rPr kumimoji="0" lang="zh-CN" sz="2000" b="1"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初始化设置：</a:t>
            </a:r>
            <a:endParaRPr kumimoji="0" 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void EXTI_PB9_Init(void)</a:t>
            </a:r>
            <a:endParaRPr kumimoji="0" lang="zh-CN"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smtClean="0">
                <a:ln>
                  <a:noFill/>
                </a:ln>
                <a:solidFill>
                  <a:srgbClr val="4F4F4F"/>
                </a:solidFill>
                <a:effectLst/>
                <a:latin typeface="Arial"/>
                <a:ea typeface="微软雅黑" pitchFamily="34" charset="-122"/>
                <a:cs typeface="宋体" pitchFamily="2" charset="-122"/>
              </a:rPr>
              <a:t> </a:t>
            </a:r>
            <a:endParaRPr kumimoji="0" lang="zh-CN"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t>
            </a:r>
            <a:endParaRPr kumimoji="0" lang="zh-CN"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GPIO_InitTypeDef GPIO_InitStructure;</a:t>
            </a:r>
            <a:endParaRPr kumimoji="0" lang="zh-CN"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NVIC_InitTypeDef NVIC_InitStructure;</a:t>
            </a:r>
            <a:endParaRPr kumimoji="0" lang="zh-CN"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EXTI_InitTypeDef EXTI_InitStructure;</a:t>
            </a:r>
            <a:endParaRPr kumimoji="0" lang="zh-CN"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000" b="0" i="0" u="none" strike="noStrike" cap="none" normalizeH="0" baseline="0" dirty="0" smtClean="0">
                <a:ln>
                  <a:noFill/>
                </a:ln>
                <a:solidFill>
                  <a:srgbClr val="464646"/>
                </a:solidFill>
                <a:effectLst/>
                <a:latin typeface="Arial"/>
                <a:ea typeface="微软雅黑" pitchFamily="34" charset="-122"/>
                <a:cs typeface="宋体" pitchFamily="2" charset="-122"/>
              </a:rPr>
              <a:t>     </a:t>
            </a: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t>
            </a:r>
            <a:r>
              <a:rPr kumimoji="0" 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使能</a:t>
            </a: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GPIO</a:t>
            </a:r>
            <a:r>
              <a:rPr kumimoji="0" 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和</a:t>
            </a: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AFIO</a:t>
            </a:r>
            <a:r>
              <a:rPr kumimoji="0" 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时钟</a:t>
            </a: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t>
            </a:r>
            <a:r>
              <a:rPr kumimoji="0" 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值得注意的是，当使用外部中断的时候必须使能</a:t>
            </a: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AFIO</a:t>
            </a:r>
            <a:r>
              <a:rPr kumimoji="0" 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时钟。</a:t>
            </a:r>
            <a:endParaRPr kumimoji="0" 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sz="2000"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RCC_APB2PeriphClockCmd(RCC_APB2Periph_GPIOB|RCC_APB2Periph_AFIO,ENABLE);</a:t>
            </a:r>
            <a:endParaRPr kumimoji="0" lang="zh-CN"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03379" y="543150"/>
            <a:ext cx="10835951" cy="4612545"/>
          </a:xfrm>
          <a:prstGeom prst="rect">
            <a:avLst/>
          </a:prstGeom>
        </p:spPr>
        <p:txBody>
          <a:bodyPr wrap="square">
            <a:spAutoFit/>
          </a:bodyPr>
          <a:lstStyle/>
          <a:p>
            <a:pPr>
              <a:lnSpc>
                <a:spcPct val="150000"/>
              </a:lnSpc>
            </a:pPr>
            <a:r>
              <a:rPr lang="en-US" dirty="0" smtClean="0"/>
              <a:t>GPIO_InitStructure.GPIO_Pin = GPIO_Pin_9;</a:t>
            </a:r>
          </a:p>
          <a:p>
            <a:pPr>
              <a:lnSpc>
                <a:spcPct val="150000"/>
              </a:lnSpc>
            </a:pPr>
            <a:r>
              <a:rPr lang="en-US" dirty="0" smtClean="0"/>
              <a:t>　　</a:t>
            </a:r>
            <a:r>
              <a:rPr lang="en-US" dirty="0" err="1" smtClean="0"/>
              <a:t>GPIO_InitStructure.GPIO_Mode</a:t>
            </a:r>
            <a:r>
              <a:rPr lang="en-US" dirty="0" smtClean="0"/>
              <a:t> = </a:t>
            </a:r>
            <a:r>
              <a:rPr lang="en-US" dirty="0" err="1" smtClean="0"/>
              <a:t>GPIO_Mode_IN_FLOATING</a:t>
            </a:r>
            <a:r>
              <a:rPr lang="en-US" dirty="0" smtClean="0"/>
              <a:t>;　　//</a:t>
            </a:r>
            <a:r>
              <a:rPr lang="zh-CN" altLang="en-US" dirty="0" smtClean="0"/>
              <a:t>浮空输入</a:t>
            </a:r>
          </a:p>
          <a:p>
            <a:pPr>
              <a:lnSpc>
                <a:spcPct val="150000"/>
              </a:lnSpc>
            </a:pPr>
            <a:r>
              <a:rPr lang="zh-CN" altLang="en-US" dirty="0" smtClean="0"/>
              <a:t>　　</a:t>
            </a:r>
            <a:r>
              <a:rPr lang="en-US" dirty="0" err="1" smtClean="0"/>
              <a:t>GPIO_InitStructure.GPIO_Speed</a:t>
            </a:r>
            <a:r>
              <a:rPr lang="en-US" dirty="0" smtClean="0"/>
              <a:t> = GPIO_Speed_50MHz;　　//IO</a:t>
            </a:r>
            <a:r>
              <a:rPr lang="zh-CN" altLang="en-US" dirty="0" smtClean="0"/>
              <a:t>速度为</a:t>
            </a:r>
            <a:r>
              <a:rPr lang="en-US" altLang="zh-CN" dirty="0" smtClean="0"/>
              <a:t>50</a:t>
            </a:r>
            <a:r>
              <a:rPr lang="en-US" dirty="0" smtClean="0"/>
              <a:t>MHz</a:t>
            </a:r>
          </a:p>
          <a:p>
            <a:pPr>
              <a:lnSpc>
                <a:spcPct val="150000"/>
              </a:lnSpc>
            </a:pPr>
            <a:r>
              <a:rPr lang="en-US" dirty="0" smtClean="0"/>
              <a:t>　　</a:t>
            </a:r>
            <a:r>
              <a:rPr lang="en-US" dirty="0" err="1" smtClean="0"/>
              <a:t>GPIO_Init</a:t>
            </a:r>
            <a:r>
              <a:rPr lang="en-US" dirty="0" smtClean="0"/>
              <a:t>(</a:t>
            </a:r>
            <a:r>
              <a:rPr lang="en-US" dirty="0" err="1" smtClean="0"/>
              <a:t>GPIOB,&amp;GPIO_InitStructure</a:t>
            </a:r>
            <a:r>
              <a:rPr lang="en-US" dirty="0" smtClean="0"/>
              <a:t>);　　</a:t>
            </a:r>
          </a:p>
          <a:p>
            <a:pPr>
              <a:lnSpc>
                <a:spcPct val="150000"/>
              </a:lnSpc>
            </a:pPr>
            <a:r>
              <a:rPr lang="en-US" dirty="0" smtClean="0"/>
              <a:t>　　</a:t>
            </a:r>
          </a:p>
          <a:p>
            <a:pPr>
              <a:lnSpc>
                <a:spcPct val="150000"/>
              </a:lnSpc>
            </a:pPr>
            <a:r>
              <a:rPr lang="en-US" dirty="0" err="1" smtClean="0"/>
              <a:t>GPIO_EXTILineConfig</a:t>
            </a:r>
            <a:r>
              <a:rPr lang="en-US" dirty="0" smtClean="0"/>
              <a:t>(GPIO_PortSourceGPIOB,GPIO_PinSource9);//</a:t>
            </a:r>
            <a:r>
              <a:rPr lang="zh-CN" altLang="en-US" dirty="0" smtClean="0"/>
              <a:t>将</a:t>
            </a:r>
            <a:r>
              <a:rPr lang="en-US" dirty="0" smtClean="0"/>
              <a:t>EXIT</a:t>
            </a:r>
            <a:r>
              <a:rPr lang="zh-CN" altLang="en-US" dirty="0" smtClean="0"/>
              <a:t>线</a:t>
            </a:r>
            <a:r>
              <a:rPr lang="en-US" altLang="zh-CN" dirty="0" smtClean="0"/>
              <a:t>9</a:t>
            </a:r>
            <a:r>
              <a:rPr lang="zh-CN" altLang="en-US" dirty="0" smtClean="0"/>
              <a:t>连接到</a:t>
            </a:r>
            <a:r>
              <a:rPr lang="en-US" dirty="0" smtClean="0"/>
              <a:t>PB9</a:t>
            </a:r>
          </a:p>
          <a:p>
            <a:pPr>
              <a:lnSpc>
                <a:spcPct val="150000"/>
              </a:lnSpc>
            </a:pPr>
            <a:r>
              <a:rPr lang="en-US" dirty="0" smtClean="0"/>
              <a:t>　　</a:t>
            </a:r>
            <a:r>
              <a:rPr lang="en-US" dirty="0" err="1" smtClean="0"/>
              <a:t>EXTI_InitStructure.EXTI_Line</a:t>
            </a:r>
            <a:r>
              <a:rPr lang="en-US" dirty="0" smtClean="0"/>
              <a:t> = EXTI_Line9;</a:t>
            </a:r>
          </a:p>
          <a:p>
            <a:pPr>
              <a:lnSpc>
                <a:spcPct val="150000"/>
              </a:lnSpc>
            </a:pPr>
            <a:r>
              <a:rPr lang="en-US" dirty="0" smtClean="0"/>
              <a:t>　　</a:t>
            </a:r>
            <a:r>
              <a:rPr lang="en-US" dirty="0" err="1" smtClean="0"/>
              <a:t>EXTI_InitStructure.EXTI_Mode</a:t>
            </a:r>
            <a:r>
              <a:rPr lang="en-US" dirty="0" smtClean="0"/>
              <a:t> = </a:t>
            </a:r>
            <a:r>
              <a:rPr lang="en-US" dirty="0" err="1" smtClean="0"/>
              <a:t>EXTI_Mode_Interrupt</a:t>
            </a:r>
            <a:r>
              <a:rPr lang="en-US" dirty="0" smtClean="0"/>
              <a:t>;</a:t>
            </a:r>
          </a:p>
          <a:p>
            <a:pPr>
              <a:lnSpc>
                <a:spcPct val="150000"/>
              </a:lnSpc>
            </a:pPr>
            <a:r>
              <a:rPr lang="en-US" dirty="0" smtClean="0"/>
              <a:t>　　</a:t>
            </a:r>
            <a:r>
              <a:rPr lang="en-US" dirty="0" err="1" smtClean="0"/>
              <a:t>EXTI_InitStructure.EXTI_Trigger</a:t>
            </a:r>
            <a:r>
              <a:rPr lang="en-US" dirty="0" smtClean="0"/>
              <a:t> = </a:t>
            </a:r>
            <a:r>
              <a:rPr lang="en-US" dirty="0" err="1" smtClean="0"/>
              <a:t>EXTI_Trigger_Rising_Falling</a:t>
            </a:r>
            <a:r>
              <a:rPr lang="en-US" dirty="0" smtClean="0"/>
              <a:t>;　　//</a:t>
            </a:r>
            <a:r>
              <a:rPr lang="zh-CN" altLang="en-US" dirty="0" smtClean="0"/>
              <a:t>上升下降沿触发</a:t>
            </a:r>
          </a:p>
          <a:p>
            <a:pPr>
              <a:lnSpc>
                <a:spcPct val="150000"/>
              </a:lnSpc>
            </a:pPr>
            <a:r>
              <a:rPr lang="zh-CN" altLang="en-US" dirty="0" smtClean="0"/>
              <a:t>　　</a:t>
            </a:r>
            <a:r>
              <a:rPr lang="en-US" dirty="0" err="1" smtClean="0"/>
              <a:t>EXTI_InitStructure.EXTI_LineCmd</a:t>
            </a:r>
            <a:r>
              <a:rPr lang="en-US" dirty="0" smtClean="0"/>
              <a:t> = ENABLE;//</a:t>
            </a:r>
            <a:r>
              <a:rPr lang="zh-CN" altLang="en-US" dirty="0" smtClean="0"/>
              <a:t>使能中断线</a:t>
            </a:r>
          </a:p>
          <a:p>
            <a:pPr>
              <a:lnSpc>
                <a:spcPct val="150000"/>
              </a:lnSpc>
            </a:pPr>
            <a:r>
              <a:rPr lang="zh-CN" altLang="en-US" dirty="0" smtClean="0"/>
              <a:t>　　</a:t>
            </a:r>
            <a:r>
              <a:rPr lang="en-US" dirty="0" err="1" smtClean="0"/>
              <a:t>EXTI_Init</a:t>
            </a:r>
            <a:r>
              <a:rPr lang="en-US" dirty="0" smtClean="0"/>
              <a:t>(&amp;</a:t>
            </a:r>
            <a:r>
              <a:rPr lang="en-US" dirty="0" err="1" smtClean="0"/>
              <a:t>EXTI_InitStructure</a:t>
            </a:r>
            <a:r>
              <a:rPr lang="en-US" dirty="0" smtClean="0"/>
              <a:t>);//</a:t>
            </a:r>
            <a:r>
              <a:rPr lang="zh-CN" altLang="en-US" dirty="0" smtClean="0"/>
              <a:t>初始化中断</a:t>
            </a:r>
            <a:endParaRPr lang="zh-CN"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1"/>
          <p:cNvSpPr>
            <a:spLocks noChangeArrowheads="1"/>
          </p:cNvSpPr>
          <p:nvPr/>
        </p:nvSpPr>
        <p:spPr bwMode="auto">
          <a:xfrm>
            <a:off x="261256" y="326565"/>
            <a:ext cx="10636897" cy="632480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NVIC_InitStructure.NVIC_IRQChannel = EXTI9_5_IRQn;</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NVIC_InitStructure.NVIC_IRQChannelPreemptionPriority = 0;</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NVIC_InitStructure.NVIC_IRQChannelSubPriority = 3;</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NVIC_InitStructure.NVIC_IRQChannelCmd = ENABLE;</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NVIC_Init(&amp;NVIC_InitStructure);</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1" i="0" u="none" strike="noStrike" cap="none" normalizeH="0" baseline="0" dirty="0" smtClean="0">
                <a:ln>
                  <a:noFill/>
                </a:ln>
                <a:solidFill>
                  <a:srgbClr val="4F4F4F"/>
                </a:solidFill>
                <a:effectLst/>
                <a:latin typeface="微软雅黑" pitchFamily="34" charset="-122"/>
                <a:ea typeface="微软雅黑" pitchFamily="34" charset="-122"/>
                <a:cs typeface="宋体" pitchFamily="2" charset="-122"/>
              </a:rPr>
              <a:t>配置中断服务函数：</a:t>
            </a:r>
            <a:r>
              <a:rPr kumimoji="0" lang="zh-CN" b="0" i="0" u="none" strike="noStrike" cap="none" normalizeH="0" baseline="0" dirty="0" smtClean="0">
                <a:ln>
                  <a:noFill/>
                </a:ln>
                <a:solidFill>
                  <a:srgbClr val="4F4F4F"/>
                </a:solidFill>
                <a:effectLst/>
                <a:latin typeface="Arial"/>
                <a:ea typeface="微软雅黑" pitchFamily="34" charset="-122"/>
                <a:cs typeface="宋体" pitchFamily="2" charset="-122"/>
              </a:rPr>
              <a:t> </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void EXTI9_5_IRQHandler(void)</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if(EXTI_GetITStatus(EXTI_Line9) != RESET)</a:t>
            </a: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//EXTI9</a:t>
            </a: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产生了中断</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Arial"/>
                <a:ea typeface="微软雅黑" pitchFamily="34" charset="-122"/>
                <a:cs typeface="宋体" pitchFamily="2" charset="-122"/>
              </a:rPr>
              <a:t>……………………………………………………</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t>
            </a: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中断处理程序</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　　</a:t>
            </a: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EXTI_ClearITPendingBit(EXTI_Line9);//</a:t>
            </a:r>
            <a:r>
              <a:rPr kumimoji="0" 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清除中断</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b="0" i="0" u="none" strike="noStrike" cap="none" normalizeH="0" baseline="0" dirty="0" smtClean="0">
                <a:ln>
                  <a:noFill/>
                </a:ln>
                <a:solidFill>
                  <a:srgbClr val="464646"/>
                </a:solidFill>
                <a:effectLst/>
                <a:latin typeface="微软雅黑" pitchFamily="34" charset="-122"/>
                <a:ea typeface="微软雅黑" pitchFamily="34" charset="-122"/>
                <a:cs typeface="宋体" pitchFamily="2" charset="-122"/>
              </a:rPr>
              <a:t>}</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2.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3.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4.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5.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6.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7.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8.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9.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10.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heme/theme1.xml><?xml version="1.0" encoding="utf-8"?>
<a:theme xmlns:a="http://schemas.openxmlformats.org/drawingml/2006/main" name="Office 主题">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accent1"/>
          </a:solidFill>
        </a:ln>
      </a:spPr>
      <a:bodyPr rtlCol="0" anchor="ctr"/>
      <a:lstStyle>
        <a:defPPr algn="ctr">
          <a:defRPr sz="5400" dirty="0" smtClean="0">
            <a:solidFill>
              <a:srgbClr val="5494C3"/>
            </a:solidFill>
          </a:defRPr>
        </a:defPPr>
      </a:lstStyle>
      <a:style>
        <a:lnRef idx="0">
          <a:schemeClr val="accent5"/>
        </a:lnRef>
        <a:fillRef idx="3">
          <a:schemeClr val="accent5"/>
        </a:fillRef>
        <a:effectRef idx="3">
          <a:schemeClr val="accent5"/>
        </a:effectRef>
        <a:fontRef idx="minor">
          <a:schemeClr val="lt1"/>
        </a:fontRef>
      </a:style>
    </a:sp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mjwangyu">
  <a:themeElements>
    <a:clrScheme name="Office 主题​​">
      <a:dk1>
        <a:srgbClr val="000000"/>
      </a:dk1>
      <a:lt1>
        <a:srgbClr val="FFFFFF"/>
      </a:lt1>
      <a:dk2>
        <a:srgbClr val="44546A"/>
      </a:dk2>
      <a:lt2>
        <a:srgbClr val="E7E6E6"/>
      </a:lt2>
      <a:accent1>
        <a:srgbClr val="318C80"/>
      </a:accent1>
      <a:accent2>
        <a:srgbClr val="F2CF61"/>
      </a:accent2>
      <a:accent3>
        <a:srgbClr val="A6E582"/>
      </a:accent3>
      <a:accent4>
        <a:srgbClr val="51D9B5"/>
      </a:accent4>
      <a:accent5>
        <a:srgbClr val="D95B5B"/>
      </a:accent5>
      <a:accent6>
        <a:srgbClr val="BFBFBF"/>
      </a:accent6>
      <a:hlink>
        <a:srgbClr val="D95B5B"/>
      </a:hlink>
      <a:folHlink>
        <a:srgbClr val="F2CF61"/>
      </a:folHlink>
    </a:clrScheme>
    <a:fontScheme name="雅黑light">
      <a:majorFont>
        <a:latin typeface="Century Gothic"/>
        <a:ea typeface="微软雅黑"/>
        <a:cs typeface=""/>
      </a:majorFont>
      <a:minorFont>
        <a:latin typeface="Century Gothic"/>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4720</TotalTime>
  <Words>3516</Words>
  <Application>Microsoft Office PowerPoint</Application>
  <PresentationFormat>自定义</PresentationFormat>
  <Paragraphs>210</Paragraphs>
  <Slides>42</Slides>
  <Notes>0</Notes>
  <HiddenSlides>0</HiddenSlides>
  <MMClips>0</MMClips>
  <ScaleCrop>false</ScaleCrop>
  <HeadingPairs>
    <vt:vector size="4" baseType="variant">
      <vt:variant>
        <vt:lpstr>主题</vt:lpstr>
      </vt:variant>
      <vt:variant>
        <vt:i4>2</vt:i4>
      </vt:variant>
      <vt:variant>
        <vt:lpstr>幻灯片标题</vt:lpstr>
      </vt:variant>
      <vt:variant>
        <vt:i4>42</vt:i4>
      </vt:variant>
    </vt:vector>
  </HeadingPairs>
  <TitlesOfParts>
    <vt:vector size="44" baseType="lpstr">
      <vt:lpstr>Office 主题</vt:lpstr>
      <vt:lpstr>mjwangyu</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mjwangyu</dc:creator>
  <cp:lastModifiedBy>asus</cp:lastModifiedBy>
  <cp:revision>491</cp:revision>
  <dcterms:created xsi:type="dcterms:W3CDTF">2017-06-03T01:25:00Z</dcterms:created>
  <dcterms:modified xsi:type="dcterms:W3CDTF">2020-11-24T13:00:51Z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