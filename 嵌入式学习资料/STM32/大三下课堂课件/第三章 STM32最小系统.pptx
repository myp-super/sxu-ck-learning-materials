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21"/>
  </p:notesMasterIdLst>
  <p:sldIdLst>
    <p:sldId id="256" r:id="rId3"/>
    <p:sldId id="400" r:id="rId4"/>
    <p:sldId id="432" r:id="rId5"/>
    <p:sldId id="401" r:id="rId6"/>
    <p:sldId id="434" r:id="rId7"/>
    <p:sldId id="435" r:id="rId8"/>
    <p:sldId id="437" r:id="rId9"/>
    <p:sldId id="402" r:id="rId10"/>
    <p:sldId id="436" r:id="rId11"/>
    <p:sldId id="405" r:id="rId12"/>
    <p:sldId id="406" r:id="rId13"/>
    <p:sldId id="407" r:id="rId14"/>
    <p:sldId id="415" r:id="rId15"/>
    <p:sldId id="431" r:id="rId16"/>
    <p:sldId id="408" r:id="rId17"/>
    <p:sldId id="409" r:id="rId18"/>
    <p:sldId id="410" r:id="rId19"/>
    <p:sldId id="411" r:id="rId20"/>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7">
          <p15:clr>
            <a:srgbClr val="A4A3A4"/>
          </p15:clr>
        </p15:guide>
        <p15:guide id="2" pos="375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4529E"/>
    <a:srgbClr val="5494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autoAdjust="0"/>
  </p:normalViewPr>
  <p:slideViewPr>
    <p:cSldViewPr snapToGrid="0" showGuides="1">
      <p:cViewPr varScale="1">
        <p:scale>
          <a:sx n="104" d="100"/>
          <a:sy n="104" d="100"/>
        </p:scale>
        <p:origin x="80" y="208"/>
      </p:cViewPr>
      <p:guideLst>
        <p:guide orient="horz" pos="2107"/>
        <p:guide pos="3752"/>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6887AC20-8C1D-44D7-B35A-E6F76E68648C}" type="datetimeFigureOut">
              <a:rPr lang="zh-CN" altLang="en-US" smtClean="0"/>
              <a:pPr/>
              <a:t>2026/6/21</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679C7271-7ECD-45B6-A4AF-14DDD8E71812}"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
        <p:nvSpPr>
          <p:cNvPr id="6" name="对角圆角矩形 5"/>
          <p:cNvSpPr/>
          <p:nvPr userDrawn="1"/>
        </p:nvSpPr>
        <p:spPr>
          <a:xfrm flipH="1">
            <a:off x="260350" y="330200"/>
            <a:ext cx="11671300" cy="6197600"/>
          </a:xfrm>
          <a:prstGeom prst="round2DiagRect">
            <a:avLst>
              <a:gd name="adj1" fmla="val 4989"/>
              <a:gd name="adj2" fmla="val 0"/>
            </a:avLst>
          </a:prstGeom>
          <a:solidFill>
            <a:schemeClr val="bg1"/>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2_空白">
    <p:bg>
      <p:bgPr>
        <a:solidFill>
          <a:schemeClr val="accent6"/>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2026/6/21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6A473D-8055-43E1-A01D-B0413067B7D8}" type="datetimeFigureOut">
              <a:rPr lang="zh-CN" altLang="en-US" smtClean="0"/>
              <a:pPr/>
              <a:t>2026/6/21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EB8D81A-C667-4EE5-93BD-6120260630F3}"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背景">
    <p:bg>
      <p:bgPr>
        <a:solidFill>
          <a:schemeClr val="bg2"/>
        </a:solidFill>
        <a:effectLst/>
      </p:bgPr>
    </p:bg>
    <p:spTree>
      <p:nvGrpSpPr>
        <p:cNvPr id="1" name=""/>
        <p:cNvGrpSpPr/>
        <p:nvPr/>
      </p:nvGrpSpPr>
      <p:grpSpPr>
        <a:xfrm>
          <a:off x="0" y="0"/>
          <a:ext cx="0" cy="0"/>
          <a:chOff x="0" y="0"/>
          <a:chExt cx="0" cy="0"/>
        </a:xfrm>
      </p:grpSpPr>
      <p:sp>
        <p:nvSpPr>
          <p:cNvPr id="7" name="图片占位符 9"/>
          <p:cNvSpPr>
            <a:spLocks noGrp="1"/>
          </p:cNvSpPr>
          <p:nvPr>
            <p:ph type="pic" sz="quarter" idx="13" hasCustomPrompt="1"/>
          </p:nvPr>
        </p:nvSpPr>
        <p:spPr>
          <a:xfrm>
            <a:off x="183526" y="301839"/>
            <a:ext cx="7882284" cy="443365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4" hasCustomPrompt="1"/>
          </p:nvPr>
        </p:nvSpPr>
        <p:spPr>
          <a:xfrm>
            <a:off x="8174953" y="287325"/>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5" hasCustomPrompt="1"/>
          </p:nvPr>
        </p:nvSpPr>
        <p:spPr>
          <a:xfrm>
            <a:off x="8174953" y="2575658"/>
            <a:ext cx="3856784" cy="2169374"/>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背景">
    <p:bg>
      <p:bgPr>
        <a:solidFill>
          <a:schemeClr val="bg1"/>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631384"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8" name="图片占位符 9"/>
          <p:cNvSpPr>
            <a:spLocks noGrp="1"/>
          </p:cNvSpPr>
          <p:nvPr>
            <p:ph type="pic" sz="quarter" idx="15" hasCustomPrompt="1"/>
          </p:nvPr>
        </p:nvSpPr>
        <p:spPr>
          <a:xfrm>
            <a:off x="4300500"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7969616" y="347886"/>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0" name="图片占位符 9"/>
          <p:cNvSpPr>
            <a:spLocks noGrp="1"/>
          </p:cNvSpPr>
          <p:nvPr>
            <p:ph type="pic" sz="quarter" idx="17" hasCustomPrompt="1"/>
          </p:nvPr>
        </p:nvSpPr>
        <p:spPr>
          <a:xfrm>
            <a:off x="631384"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1" name="图片占位符 9"/>
          <p:cNvSpPr>
            <a:spLocks noGrp="1"/>
          </p:cNvSpPr>
          <p:nvPr>
            <p:ph type="pic" sz="quarter" idx="18" hasCustomPrompt="1"/>
          </p:nvPr>
        </p:nvSpPr>
        <p:spPr>
          <a:xfrm>
            <a:off x="4300500"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2" name="图片占位符 9"/>
          <p:cNvSpPr>
            <a:spLocks noGrp="1"/>
          </p:cNvSpPr>
          <p:nvPr>
            <p:ph type="pic" sz="quarter" idx="19" hasCustomPrompt="1"/>
          </p:nvPr>
        </p:nvSpPr>
        <p:spPr>
          <a:xfrm>
            <a:off x="7969616" y="2423590"/>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631384"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4" name="图片占位符 9"/>
          <p:cNvSpPr>
            <a:spLocks noGrp="1"/>
          </p:cNvSpPr>
          <p:nvPr>
            <p:ph type="pic" sz="quarter" idx="21" hasCustomPrompt="1"/>
          </p:nvPr>
        </p:nvSpPr>
        <p:spPr>
          <a:xfrm>
            <a:off x="4300500"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7969616" y="4499294"/>
            <a:ext cx="3574901" cy="20108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背景">
    <p:bg>
      <p:bgPr>
        <a:solidFill>
          <a:schemeClr val="bg2"/>
        </a:solidFill>
        <a:effectLst/>
      </p:bgPr>
    </p:bg>
    <p:spTree>
      <p:nvGrpSpPr>
        <p:cNvPr id="1" name=""/>
        <p:cNvGrpSpPr/>
        <p:nvPr/>
      </p:nvGrpSpPr>
      <p:grpSpPr>
        <a:xfrm>
          <a:off x="0" y="0"/>
          <a:ext cx="0" cy="0"/>
          <a:chOff x="0" y="0"/>
          <a:chExt cx="0" cy="0"/>
        </a:xfrm>
      </p:grpSpPr>
      <p:sp>
        <p:nvSpPr>
          <p:cNvPr id="6" name="图片占位符 9"/>
          <p:cNvSpPr>
            <a:spLocks noGrp="1"/>
          </p:cNvSpPr>
          <p:nvPr>
            <p:ph type="pic" sz="quarter" idx="13" hasCustomPrompt="1"/>
          </p:nvPr>
        </p:nvSpPr>
        <p:spPr>
          <a:xfrm>
            <a:off x="947430"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9" name="图片占位符 9"/>
          <p:cNvSpPr>
            <a:spLocks noGrp="1"/>
          </p:cNvSpPr>
          <p:nvPr>
            <p:ph type="pic" sz="quarter" idx="16" hasCustomPrompt="1"/>
          </p:nvPr>
        </p:nvSpPr>
        <p:spPr>
          <a:xfrm>
            <a:off x="6136402" y="523274"/>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3" name="图片占位符 9"/>
          <p:cNvSpPr>
            <a:spLocks noGrp="1"/>
          </p:cNvSpPr>
          <p:nvPr>
            <p:ph type="pic" sz="quarter" idx="20" hasCustomPrompt="1"/>
          </p:nvPr>
        </p:nvSpPr>
        <p:spPr>
          <a:xfrm>
            <a:off x="947430"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
        <p:nvSpPr>
          <p:cNvPr id="15" name="图片占位符 9"/>
          <p:cNvSpPr>
            <a:spLocks noGrp="1"/>
          </p:cNvSpPr>
          <p:nvPr>
            <p:ph type="pic" sz="quarter" idx="22" hasCustomPrompt="1"/>
          </p:nvPr>
        </p:nvSpPr>
        <p:spPr>
          <a:xfrm>
            <a:off x="6136402" y="3469401"/>
            <a:ext cx="5109526" cy="2874020"/>
          </a:xfrm>
          <a:prstGeom prst="rect">
            <a:avLst/>
          </a:prstGeom>
        </p:spPr>
        <p:style>
          <a:lnRef idx="0">
            <a:schemeClr val="accent2"/>
          </a:lnRef>
          <a:fillRef idx="3">
            <a:schemeClr val="accent2"/>
          </a:fillRef>
          <a:effectRef idx="3">
            <a:schemeClr val="accent2"/>
          </a:effectRef>
          <a:fontRef idx="minor">
            <a:schemeClr val="lt1"/>
          </a:fontRef>
        </p:style>
        <p:txBody>
          <a:bodyPr anchor="ctr">
            <a:normAutofit/>
          </a:bodyPr>
          <a:lstStyle>
            <a:lvl1pPr marL="0" indent="0" algn="ctr">
              <a:buNone/>
              <a:defRPr sz="1975" b="1"/>
            </a:lvl1pPr>
          </a:lstStyle>
          <a:p>
            <a:r>
              <a:rPr lang="zh-CN" altLang="en-US" dirty="0"/>
              <a:t>点击中心图标添加图片</a:t>
            </a:r>
            <a:endParaRPr lang="en-US" altLang="zh-CN" dirty="0"/>
          </a:p>
          <a:p>
            <a:r>
              <a:rPr lang="en-US" altLang="zh-CN" dirty="0"/>
              <a:t>(SAYOU)</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版权声明">
    <p:spTree>
      <p:nvGrpSpPr>
        <p:cNvPr id="1" name=""/>
        <p:cNvGrpSpPr/>
        <p:nvPr/>
      </p:nvGrpSpPr>
      <p:grpSpPr>
        <a:xfrm>
          <a:off x="0" y="0"/>
          <a:ext cx="0" cy="0"/>
          <a:chOff x="0" y="0"/>
          <a:chExt cx="0" cy="0"/>
        </a:xfrm>
      </p:grpSpPr>
      <p:sp>
        <p:nvSpPr>
          <p:cNvPr id="4" name="矩形 3"/>
          <p:cNvSpPr/>
          <p:nvPr userDrawn="1"/>
        </p:nvSpPr>
        <p:spPr>
          <a:xfrm>
            <a:off x="5444248"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7" name="矩形 6"/>
          <p:cNvSpPr/>
          <p:nvPr userDrawn="1"/>
        </p:nvSpPr>
        <p:spPr>
          <a:xfrm>
            <a:off x="5142690"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微信公众号</a:t>
            </a:r>
          </a:p>
        </p:txBody>
      </p:sp>
      <p:pic>
        <p:nvPicPr>
          <p:cNvPr id="14" name="图片 13" descr="图片包含 文字, 纵横字谜&#10;&#10;已生成极高可信度的说明"/>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86401" y="3125822"/>
            <a:ext cx="1219200" cy="1219199"/>
          </a:xfrm>
          <a:prstGeom prst="rect">
            <a:avLst/>
          </a:prstGeom>
        </p:spPr>
      </p:pic>
      <p:sp>
        <p:nvSpPr>
          <p:cNvPr id="3" name="矩形 2"/>
          <p:cNvSpPr/>
          <p:nvPr userDrawn="1"/>
        </p:nvSpPr>
        <p:spPr>
          <a:xfrm>
            <a:off x="273185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6" name="矩形 5"/>
          <p:cNvSpPr/>
          <p:nvPr userDrawn="1"/>
        </p:nvSpPr>
        <p:spPr>
          <a:xfrm>
            <a:off x="2430294"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95" b="1" dirty="0">
                <a:solidFill>
                  <a:schemeClr val="tx1">
                    <a:lumMod val="85000"/>
                    <a:lumOff val="15000"/>
                  </a:schemeClr>
                </a:solidFill>
              </a:rPr>
              <a:t>微博</a:t>
            </a:r>
          </a:p>
        </p:txBody>
      </p:sp>
      <p:grpSp>
        <p:nvGrpSpPr>
          <p:cNvPr id="16" name="组合 15"/>
          <p:cNvGrpSpPr/>
          <p:nvPr userDrawn="1"/>
        </p:nvGrpSpPr>
        <p:grpSpPr>
          <a:xfrm>
            <a:off x="2787981" y="3139797"/>
            <a:ext cx="1191249" cy="1191249"/>
            <a:chOff x="4094696" y="2530197"/>
            <a:chExt cx="1191249" cy="1191249"/>
          </a:xfrm>
        </p:grpSpPr>
        <p:sp>
          <p:nvSpPr>
            <p:cNvPr id="15" name="矩形 14"/>
            <p:cNvSpPr/>
            <p:nvPr userDrawn="1"/>
          </p:nvSpPr>
          <p:spPr>
            <a:xfrm>
              <a:off x="4094696" y="253019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2" name="图片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47387" y="2582888"/>
              <a:ext cx="1085866" cy="1085866"/>
            </a:xfrm>
            <a:prstGeom prst="rect">
              <a:avLst/>
            </a:prstGeom>
          </p:spPr>
        </p:pic>
      </p:grpSp>
      <p:sp>
        <p:nvSpPr>
          <p:cNvPr id="5" name="矩形 4"/>
          <p:cNvSpPr/>
          <p:nvPr userDrawn="1"/>
        </p:nvSpPr>
        <p:spPr>
          <a:xfrm>
            <a:off x="8156642" y="3083669"/>
            <a:ext cx="1303506" cy="1303506"/>
          </a:xfrm>
          <a:prstGeom prst="rect">
            <a:avLst/>
          </a:prstGeom>
          <a:solidFill>
            <a:schemeClr val="bg1"/>
          </a:solidFill>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64514" tIns="32257" rIns="64514" bIns="32257" numCol="1" spcCol="0" rtlCol="0" fromWordArt="0" anchor="ctr" anchorCtr="0" forceAA="0" compatLnSpc="1">
            <a:noAutofit/>
          </a:bodyPr>
          <a:lstStyle/>
          <a:p>
            <a:pPr lvl="0" algn="ctr"/>
            <a:endParaRPr lang="zh-CN" altLang="en-US" sz="2800" b="1">
              <a:solidFill>
                <a:schemeClr val="bg1">
                  <a:lumMod val="85000"/>
                  <a:lumOff val="15000"/>
                </a:schemeClr>
              </a:solidFill>
            </a:endParaRPr>
          </a:p>
        </p:txBody>
      </p:sp>
      <p:sp>
        <p:nvSpPr>
          <p:cNvPr id="8" name="矩形 7"/>
          <p:cNvSpPr/>
          <p:nvPr userDrawn="1"/>
        </p:nvSpPr>
        <p:spPr>
          <a:xfrm>
            <a:off x="7855085" y="4587099"/>
            <a:ext cx="1906622" cy="646382"/>
          </a:xfrm>
          <a:prstGeom prst="rect">
            <a:avLst/>
          </a:prstGeom>
          <a:noFill/>
          <a:ln>
            <a:noFill/>
          </a:ln>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en-US" altLang="zh-CN" sz="1695" b="1" dirty="0">
                <a:solidFill>
                  <a:schemeClr val="tx1">
                    <a:lumMod val="85000"/>
                    <a:lumOff val="15000"/>
                  </a:schemeClr>
                </a:solidFill>
                <a:latin typeface="+mj-lt"/>
              </a:rPr>
              <a:t>QQ</a:t>
            </a:r>
            <a:endParaRPr lang="zh-CN" altLang="en-US" sz="1695" b="1" dirty="0">
              <a:solidFill>
                <a:schemeClr val="tx1">
                  <a:lumMod val="85000"/>
                  <a:lumOff val="15000"/>
                </a:schemeClr>
              </a:solidFill>
              <a:latin typeface="+mj-lt"/>
            </a:endParaRPr>
          </a:p>
        </p:txBody>
      </p:sp>
      <p:grpSp>
        <p:nvGrpSpPr>
          <p:cNvPr id="19" name="组合 18"/>
          <p:cNvGrpSpPr/>
          <p:nvPr userDrawn="1"/>
        </p:nvGrpSpPr>
        <p:grpSpPr>
          <a:xfrm>
            <a:off x="8212772" y="3139797"/>
            <a:ext cx="1191249" cy="1191249"/>
            <a:chOff x="7049311" y="3295887"/>
            <a:chExt cx="1191249" cy="1191249"/>
          </a:xfrm>
        </p:grpSpPr>
        <p:sp>
          <p:nvSpPr>
            <p:cNvPr id="17" name="矩形 16"/>
            <p:cNvSpPr/>
            <p:nvPr userDrawn="1"/>
          </p:nvSpPr>
          <p:spPr>
            <a:xfrm>
              <a:off x="7049311" y="3295887"/>
              <a:ext cx="1191249" cy="1191249"/>
            </a:xfrm>
            <a:prstGeom prst="rect">
              <a:avLst/>
            </a:prstGeom>
            <a:solidFill>
              <a:schemeClr val="tx1"/>
            </a:solidFill>
            <a:effectLst/>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sz="2345"/>
            </a:p>
          </p:txBody>
        </p:sp>
        <p:pic>
          <p:nvPicPr>
            <p:cNvPr id="18" name="图片 17"/>
            <p:cNvPicPr>
              <a:picLocks noChangeAspect="1"/>
            </p:cNvPicPr>
            <p:nvPr userDrawn="1"/>
          </p:nvPicPr>
          <p:blipFill>
            <a:blip r:embed="rId4"/>
            <a:stretch>
              <a:fillRect/>
            </a:stretch>
          </p:blipFill>
          <p:spPr>
            <a:xfrm>
              <a:off x="7095938" y="3342514"/>
              <a:ext cx="1097994" cy="1097994"/>
            </a:xfrm>
            <a:prstGeom prst="rect">
              <a:avLst/>
            </a:prstGeom>
          </p:spPr>
        </p:pic>
      </p:grpSp>
      <p:sp>
        <p:nvSpPr>
          <p:cNvPr id="21" name="矩形 20"/>
          <p:cNvSpPr/>
          <p:nvPr userDrawn="1"/>
        </p:nvSpPr>
        <p:spPr>
          <a:xfrm>
            <a:off x="5142690" y="1623060"/>
            <a:ext cx="1906622" cy="60167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2400" b="1" dirty="0">
                <a:solidFill>
                  <a:schemeClr val="tx1">
                    <a:lumMod val="85000"/>
                    <a:lumOff val="15000"/>
                  </a:schemeClr>
                </a:solidFill>
                <a:latin typeface="+mj-ea"/>
                <a:ea typeface="+mj-ea"/>
              </a:rPr>
              <a:t>和我联系</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6965"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DB75B134-9E54-4233-9AD4-A661A84126CB}" type="datetimeFigureOut">
              <a:rPr lang="zh-CN" altLang="en-US" smtClean="0"/>
              <a:pPr/>
              <a:t>2026/6/21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B45ECC8-A750-41F8-9F51-0C19912CE8E6}"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5" name="标题 4"/>
          <p:cNvSpPr>
            <a:spLocks noGrp="1"/>
          </p:cNvSpPr>
          <p:nvPr>
            <p:ph type="title"/>
          </p:nvPr>
        </p:nvSpPr>
        <p:spPr>
          <a:xfrm>
            <a:off x="3362400" y="136525"/>
            <a:ext cx="5466080" cy="617538"/>
          </a:xfrm>
        </p:spPr>
        <p:txBody>
          <a:bodyPr anchor="b">
            <a:normAutofit/>
          </a:bodyPr>
          <a:lstStyle>
            <a:lvl1pPr algn="ctr">
              <a:defRPr sz="2800"/>
            </a:lvl1pPr>
          </a:lstStyle>
          <a:p>
            <a:r>
              <a:rPr lang="zh-CN" altLang="en-US" dirty="0"/>
              <a:t>单击此处编辑母版标题样式</a:t>
            </a:r>
          </a:p>
        </p:txBody>
      </p:sp>
      <p:sp>
        <p:nvSpPr>
          <p:cNvPr id="6" name="文本占位符 2"/>
          <p:cNvSpPr>
            <a:spLocks noGrp="1"/>
          </p:cNvSpPr>
          <p:nvPr>
            <p:ph type="body" idx="1" hasCustomPrompt="1"/>
          </p:nvPr>
        </p:nvSpPr>
        <p:spPr>
          <a:xfrm>
            <a:off x="3362400" y="754064"/>
            <a:ext cx="5466080" cy="400757"/>
          </a:xfrm>
        </p:spPr>
        <p:txBody>
          <a:bodyPr>
            <a:normAutofit/>
          </a:bodyPr>
          <a:lstStyle>
            <a:lvl1pPr marL="0" indent="0" algn="ctr">
              <a:buNone/>
              <a:defRPr sz="1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6965" indent="0">
              <a:buNone/>
              <a:defRPr sz="1600">
                <a:solidFill>
                  <a:schemeClr val="tx1">
                    <a:tint val="75000"/>
                  </a:schemeClr>
                </a:solidFill>
              </a:defRPr>
            </a:lvl9pPr>
          </a:lstStyle>
          <a:p>
            <a:r>
              <a:rPr lang="en-US" altLang="zh-CN" dirty="0"/>
              <a:t>Lorem ipsum dolor sit </a:t>
            </a:r>
            <a:r>
              <a:rPr lang="en-US" altLang="zh-CN" dirty="0" err="1"/>
              <a:t>amet</a:t>
            </a:r>
            <a:r>
              <a:rPr lang="en-US" altLang="zh-CN" dirty="0"/>
              <a:t>, </a:t>
            </a:r>
            <a:r>
              <a:rPr lang="en-US" altLang="zh-CN" dirty="0" err="1"/>
              <a:t>consectetuer</a:t>
            </a:r>
            <a:r>
              <a:rPr lang="en-US" altLang="zh-CN" dirty="0"/>
              <a:t> </a:t>
            </a:r>
            <a:r>
              <a:rPr lang="en-US" altLang="zh-CN" dirty="0" err="1"/>
              <a:t>adipiscing</a:t>
            </a:r>
            <a:r>
              <a:rPr lang="en-US" altLang="zh-CN" dirty="0"/>
              <a:t> </a:t>
            </a:r>
            <a:r>
              <a:rPr lang="en-US" altLang="zh-CN" dirty="0" err="1"/>
              <a:t>elit</a:t>
            </a:r>
            <a:r>
              <a:rPr lang="en-US" altLang="zh-CN" dirty="0"/>
              <a:t>. </a:t>
            </a:r>
          </a:p>
        </p:txBody>
      </p:sp>
      <p:cxnSp>
        <p:nvCxnSpPr>
          <p:cNvPr id="11" name="直接连接符 10"/>
          <p:cNvCxnSpPr/>
          <p:nvPr userDrawn="1"/>
        </p:nvCxnSpPr>
        <p:spPr>
          <a:xfrm>
            <a:off x="5773278" y="754063"/>
            <a:ext cx="644324" cy="0"/>
          </a:xfrm>
          <a:prstGeom prst="line">
            <a:avLst/>
          </a:prstGeom>
          <a:ln>
            <a:solidFill>
              <a:schemeClr val="tx1">
                <a:lumMod val="85000"/>
                <a:lumOff val="15000"/>
              </a:schemeClr>
            </a:solidFill>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2026/6/21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1"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370">
                <a:solidFill>
                  <a:schemeClr val="tx1">
                    <a:tint val="75000"/>
                  </a:schemeClr>
                </a:solidFill>
              </a:defRPr>
            </a:lvl1pPr>
          </a:lstStyle>
          <a:p>
            <a:fld id="{0E6A473D-8055-43E1-A01D-B0413067B7D8}" type="datetimeFigureOut">
              <a:rPr lang="zh-CN" altLang="en-US" smtClean="0"/>
              <a:pPr/>
              <a:t>2026/6/21</a:t>
            </a:fld>
            <a:endParaRPr lang="zh-CN" altLang="en-US"/>
          </a:p>
        </p:txBody>
      </p:sp>
      <p:sp>
        <p:nvSpPr>
          <p:cNvPr id="5" name="Footer Placeholder 4"/>
          <p:cNvSpPr>
            <a:spLocks noGrp="1"/>
          </p:cNvSpPr>
          <p:nvPr>
            <p:ph type="ftr" sz="quarter" idx="3"/>
          </p:nvPr>
        </p:nvSpPr>
        <p:spPr>
          <a:xfrm>
            <a:off x="4038600" y="6356352"/>
            <a:ext cx="4114801" cy="365125"/>
          </a:xfrm>
          <a:prstGeom prst="rect">
            <a:avLst/>
          </a:prstGeom>
        </p:spPr>
        <p:txBody>
          <a:bodyPr vert="horz" lIns="91440" tIns="45720" rIns="91440" bIns="45720" rtlCol="0" anchor="ctr"/>
          <a:lstStyle>
            <a:lvl1pPr algn="ctr">
              <a:defRPr sz="137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370">
                <a:solidFill>
                  <a:schemeClr val="tx1">
                    <a:tint val="75000"/>
                  </a:schemeClr>
                </a:solidFill>
              </a:defRPr>
            </a:lvl1pPr>
          </a:lstStyle>
          <a:p>
            <a:fld id="{0EB8D81A-C667-4EE5-93BD-6120260630F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Lst>
  <p:txStyles>
    <p:titleStyle>
      <a:lvl1pPr algn="l" defTabSz="1044575" rtl="0" eaLnBrk="1" latinLnBrk="0" hangingPunct="1">
        <a:lnSpc>
          <a:spcPct val="90000"/>
        </a:lnSpc>
        <a:spcBef>
          <a:spcPct val="0"/>
        </a:spcBef>
        <a:buNone/>
        <a:defRPr sz="5030" kern="1200">
          <a:solidFill>
            <a:schemeClr val="tx1"/>
          </a:solidFill>
          <a:latin typeface="+mj-lt"/>
          <a:ea typeface="+mj-ea"/>
          <a:cs typeface="+mj-cs"/>
        </a:defRPr>
      </a:lvl1pPr>
    </p:titleStyle>
    <p:bodyStyle>
      <a:lvl1pPr marL="260985" indent="-260985" algn="l" defTabSz="1044575" rtl="0" eaLnBrk="1" latinLnBrk="0" hangingPunct="1">
        <a:lnSpc>
          <a:spcPct val="90000"/>
        </a:lnSpc>
        <a:spcBef>
          <a:spcPts val="1140"/>
        </a:spcBef>
        <a:buFont typeface="Arial" panose="020B0604020202020204" pitchFamily="34" charset="0"/>
        <a:buChar char="•"/>
        <a:defRPr sz="3200" kern="1200">
          <a:solidFill>
            <a:schemeClr val="tx1"/>
          </a:solidFill>
          <a:latin typeface="+mn-lt"/>
          <a:ea typeface="+mn-ea"/>
          <a:cs typeface="+mn-cs"/>
        </a:defRPr>
      </a:lvl1pPr>
      <a:lvl2pPr marL="783590" indent="-260985" algn="l" defTabSz="1044575" rtl="0" eaLnBrk="1" latinLnBrk="0" hangingPunct="1">
        <a:lnSpc>
          <a:spcPct val="90000"/>
        </a:lnSpc>
        <a:spcBef>
          <a:spcPts val="570"/>
        </a:spcBef>
        <a:buFont typeface="Arial" panose="020B0604020202020204" pitchFamily="34" charset="0"/>
        <a:buChar char="•"/>
        <a:defRPr sz="2745" kern="1200">
          <a:solidFill>
            <a:schemeClr val="tx1"/>
          </a:solidFill>
          <a:latin typeface="+mn-lt"/>
          <a:ea typeface="+mn-ea"/>
          <a:cs typeface="+mn-cs"/>
        </a:defRPr>
      </a:lvl2pPr>
      <a:lvl3pPr marL="1306195" indent="-260985" algn="l" defTabSz="1044575" rtl="0" eaLnBrk="1" latinLnBrk="0" hangingPunct="1">
        <a:lnSpc>
          <a:spcPct val="90000"/>
        </a:lnSpc>
        <a:spcBef>
          <a:spcPts val="570"/>
        </a:spcBef>
        <a:buFont typeface="Arial" panose="020B0604020202020204" pitchFamily="34" charset="0"/>
        <a:buChar char="•"/>
        <a:defRPr sz="2285" kern="1200">
          <a:solidFill>
            <a:schemeClr val="tx1"/>
          </a:solidFill>
          <a:latin typeface="+mn-lt"/>
          <a:ea typeface="+mn-ea"/>
          <a:cs typeface="+mn-cs"/>
        </a:defRPr>
      </a:lvl3pPr>
      <a:lvl4pPr marL="182880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4pPr>
      <a:lvl5pPr marL="235140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5pPr>
      <a:lvl6pPr marL="287401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6pPr>
      <a:lvl7pPr marL="3396615"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7pPr>
      <a:lvl8pPr marL="391922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8pPr>
      <a:lvl9pPr marL="4441190" indent="-260985" algn="l" defTabSz="1044575" rtl="0" eaLnBrk="1" latinLnBrk="0" hangingPunct="1">
        <a:lnSpc>
          <a:spcPct val="90000"/>
        </a:lnSpc>
        <a:spcBef>
          <a:spcPts val="570"/>
        </a:spcBef>
        <a:buFont typeface="Arial" panose="020B0604020202020204" pitchFamily="34" charset="0"/>
        <a:buChar char="•"/>
        <a:defRPr sz="2055" kern="1200">
          <a:solidFill>
            <a:schemeClr val="tx1"/>
          </a:solidFill>
          <a:latin typeface="+mn-lt"/>
          <a:ea typeface="+mn-ea"/>
          <a:cs typeface="+mn-cs"/>
        </a:defRPr>
      </a:lvl9pPr>
    </p:bodyStyle>
    <p:otherStyle>
      <a:defPPr>
        <a:defRPr lang="en-US"/>
      </a:defPPr>
      <a:lvl1pPr marL="0" algn="l" defTabSz="1044575" rtl="0" eaLnBrk="1" latinLnBrk="0" hangingPunct="1">
        <a:defRPr sz="2055" kern="1200">
          <a:solidFill>
            <a:schemeClr val="tx1"/>
          </a:solidFill>
          <a:latin typeface="+mn-lt"/>
          <a:ea typeface="+mn-ea"/>
          <a:cs typeface="+mn-cs"/>
        </a:defRPr>
      </a:lvl1pPr>
      <a:lvl2pPr marL="522605" algn="l" defTabSz="1044575" rtl="0" eaLnBrk="1" latinLnBrk="0" hangingPunct="1">
        <a:defRPr sz="2055" kern="1200">
          <a:solidFill>
            <a:schemeClr val="tx1"/>
          </a:solidFill>
          <a:latin typeface="+mn-lt"/>
          <a:ea typeface="+mn-ea"/>
          <a:cs typeface="+mn-cs"/>
        </a:defRPr>
      </a:lvl2pPr>
      <a:lvl3pPr marL="1045210" algn="l" defTabSz="1044575" rtl="0" eaLnBrk="1" latinLnBrk="0" hangingPunct="1">
        <a:defRPr sz="2055" kern="1200">
          <a:solidFill>
            <a:schemeClr val="tx1"/>
          </a:solidFill>
          <a:latin typeface="+mn-lt"/>
          <a:ea typeface="+mn-ea"/>
          <a:cs typeface="+mn-cs"/>
        </a:defRPr>
      </a:lvl3pPr>
      <a:lvl4pPr marL="1567815" algn="l" defTabSz="1044575" rtl="0" eaLnBrk="1" latinLnBrk="0" hangingPunct="1">
        <a:defRPr sz="2055" kern="1200">
          <a:solidFill>
            <a:schemeClr val="tx1"/>
          </a:solidFill>
          <a:latin typeface="+mn-lt"/>
          <a:ea typeface="+mn-ea"/>
          <a:cs typeface="+mn-cs"/>
        </a:defRPr>
      </a:lvl4pPr>
      <a:lvl5pPr marL="2089785" algn="l" defTabSz="1044575" rtl="0" eaLnBrk="1" latinLnBrk="0" hangingPunct="1">
        <a:defRPr sz="2055" kern="1200">
          <a:solidFill>
            <a:schemeClr val="tx1"/>
          </a:solidFill>
          <a:latin typeface="+mn-lt"/>
          <a:ea typeface="+mn-ea"/>
          <a:cs typeface="+mn-cs"/>
        </a:defRPr>
      </a:lvl5pPr>
      <a:lvl6pPr marL="2612390" algn="l" defTabSz="1044575" rtl="0" eaLnBrk="1" latinLnBrk="0" hangingPunct="1">
        <a:defRPr sz="2055" kern="1200">
          <a:solidFill>
            <a:schemeClr val="tx1"/>
          </a:solidFill>
          <a:latin typeface="+mn-lt"/>
          <a:ea typeface="+mn-ea"/>
          <a:cs typeface="+mn-cs"/>
        </a:defRPr>
      </a:lvl6pPr>
      <a:lvl7pPr marL="3134995" algn="l" defTabSz="1044575" rtl="0" eaLnBrk="1" latinLnBrk="0" hangingPunct="1">
        <a:defRPr sz="2055" kern="1200">
          <a:solidFill>
            <a:schemeClr val="tx1"/>
          </a:solidFill>
          <a:latin typeface="+mn-lt"/>
          <a:ea typeface="+mn-ea"/>
          <a:cs typeface="+mn-cs"/>
        </a:defRPr>
      </a:lvl7pPr>
      <a:lvl8pPr marL="3657600" algn="l" defTabSz="1044575" rtl="0" eaLnBrk="1" latinLnBrk="0" hangingPunct="1">
        <a:defRPr sz="2055" kern="1200">
          <a:solidFill>
            <a:schemeClr val="tx1"/>
          </a:solidFill>
          <a:latin typeface="+mn-lt"/>
          <a:ea typeface="+mn-ea"/>
          <a:cs typeface="+mn-cs"/>
        </a:defRPr>
      </a:lvl8pPr>
      <a:lvl9pPr marL="4180205" algn="l" defTabSz="1044575" rtl="0" eaLnBrk="1" latinLnBrk="0" hangingPunct="1">
        <a:defRPr sz="205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1" name="圆角矩形 10"/>
          <p:cNvSpPr/>
          <p:nvPr/>
        </p:nvSpPr>
        <p:spPr>
          <a:xfrm>
            <a:off x="3135044" y="1380931"/>
            <a:ext cx="7872925" cy="2056324"/>
          </a:xfrm>
          <a:prstGeom prst="roundRect">
            <a:avLst>
              <a:gd name="adj" fmla="val 18269"/>
            </a:avLst>
          </a:prstGeom>
          <a:noFill/>
          <a:ln>
            <a:solidFill>
              <a:schemeClr val="accent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lvl="0" algn="ctr">
              <a:lnSpc>
                <a:spcPct val="90000"/>
              </a:lnSpc>
              <a:spcBef>
                <a:spcPct val="0"/>
              </a:spcBef>
              <a:defRPr/>
            </a:pPr>
            <a:r>
              <a:rPr lang="zh-CN" altLang="en-US" sz="6000" dirty="0">
                <a:solidFill>
                  <a:schemeClr val="tx1"/>
                </a:solidFill>
              </a:rPr>
              <a:t>第三章</a:t>
            </a:r>
            <a:br>
              <a:rPr lang="en-US" altLang="zh-CN" sz="6000" dirty="0">
                <a:solidFill>
                  <a:schemeClr val="tx1"/>
                </a:solidFill>
              </a:rPr>
            </a:br>
            <a:r>
              <a:rPr lang="en-US" altLang="zh-CN" sz="6000" dirty="0">
                <a:solidFill>
                  <a:schemeClr val="tx1"/>
                </a:solidFill>
              </a:rPr>
              <a:t>STM32</a:t>
            </a:r>
            <a:r>
              <a:rPr lang="zh-CN" altLang="en-US" sz="6000" dirty="0">
                <a:solidFill>
                  <a:schemeClr val="tx1"/>
                </a:solidFill>
              </a:rPr>
              <a:t>最小系统</a:t>
            </a:r>
          </a:p>
        </p:txBody>
      </p:sp>
      <p:pic>
        <p:nvPicPr>
          <p:cNvPr id="6" name="图片 5" descr="A000220150319H47PPIC"/>
          <p:cNvPicPr>
            <a:picLocks noChangeAspect="1"/>
          </p:cNvPicPr>
          <p:nvPr/>
        </p:nvPicPr>
        <p:blipFill>
          <a:blip r:embed="rId2" cstate="print"/>
          <a:stretch>
            <a:fillRect/>
          </a:stretch>
        </p:blipFill>
        <p:spPr>
          <a:xfrm flipH="1">
            <a:off x="454660" y="3429000"/>
            <a:ext cx="2596515" cy="2995295"/>
          </a:xfrm>
          <a:prstGeom prst="rect">
            <a:avLst/>
          </a:prstGeom>
        </p:spPr>
      </p:pic>
      <p:pic>
        <p:nvPicPr>
          <p:cNvPr id="4" name="Picture 2"/>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173000"/>
                    </a14:imgEffect>
                  </a14:imgLayer>
                </a14:imgProps>
              </a:ext>
              <a:ext uri="{28A0092B-C50C-407E-A947-70E740481C1C}">
                <a14:useLocalDpi xmlns:a14="http://schemas.microsoft.com/office/drawing/2010/main" val="0"/>
              </a:ext>
            </a:extLst>
          </a:blip>
          <a:stretch>
            <a:fillRect/>
          </a:stretch>
        </p:blipFill>
        <p:spPr bwMode="auto">
          <a:xfrm>
            <a:off x="1077273" y="763659"/>
            <a:ext cx="1352760" cy="135276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txBox="1">
            <a:spLocks/>
          </p:cNvSpPr>
          <p:nvPr/>
        </p:nvSpPr>
        <p:spPr>
          <a:xfrm>
            <a:off x="1097280" y="758952"/>
            <a:ext cx="10058400" cy="3566160"/>
          </a:xfrm>
          <a:prstGeom prst="rect">
            <a:avLst/>
          </a:prstGeom>
        </p:spPr>
        <p:txBody>
          <a:body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4400" b="0" i="0" u="none" strike="noStrike" kern="1200" cap="none" spc="0" normalizeH="0" baseline="0" noProof="0" dirty="0">
              <a:ln>
                <a:noFill/>
              </a:ln>
              <a:solidFill>
                <a:schemeClr val="tx1"/>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40702" y="529440"/>
            <a:ext cx="9912220" cy="3341620"/>
          </a:xfrm>
          <a:prstGeom prst="rect">
            <a:avLst/>
          </a:prstGeom>
        </p:spPr>
        <p:txBody>
          <a:bodyPr wrap="square">
            <a:spAutoFit/>
          </a:bodyPr>
          <a:lstStyle/>
          <a:p>
            <a:pPr>
              <a:lnSpc>
                <a:spcPct val="150000"/>
              </a:lnSpc>
            </a:pPr>
            <a:r>
              <a:rPr lang="en-US" sz="2400" b="1" dirty="0"/>
              <a:t>ARM Cortex-M</a:t>
            </a:r>
            <a:r>
              <a:rPr lang="zh-CN" altLang="en-US" sz="2400" b="1" dirty="0"/>
              <a:t>系列内核主要用于对功耗和成本非常敏感且对性能要求不断增加的嵌入式应用，与</a:t>
            </a:r>
            <a:r>
              <a:rPr lang="en-US" sz="2400" b="1" dirty="0"/>
              <a:t>51</a:t>
            </a:r>
            <a:r>
              <a:rPr lang="zh-CN" altLang="en-US" sz="2400" b="1" dirty="0"/>
              <a:t>内核相比，若要达到相同的处理能力，其功耗约为</a:t>
            </a:r>
            <a:r>
              <a:rPr lang="en-US" sz="2400" b="1" dirty="0"/>
              <a:t>CM3</a:t>
            </a:r>
            <a:r>
              <a:rPr lang="zh-CN" altLang="en-US" sz="2400" b="1" dirty="0"/>
              <a:t>内核的</a:t>
            </a:r>
            <a:r>
              <a:rPr lang="en-US" sz="2400" b="1" dirty="0"/>
              <a:t>40</a:t>
            </a:r>
            <a:r>
              <a:rPr lang="zh-CN" altLang="en-US" sz="2400" b="1" dirty="0"/>
              <a:t>倍。</a:t>
            </a:r>
            <a:endParaRPr lang="zh-CN" altLang="en-US" sz="2400" dirty="0"/>
          </a:p>
          <a:p>
            <a:pPr>
              <a:lnSpc>
                <a:spcPct val="150000"/>
              </a:lnSpc>
            </a:pPr>
            <a:r>
              <a:rPr lang="zh-CN" altLang="en-US" sz="2400" b="1" dirty="0">
                <a:solidFill>
                  <a:schemeClr val="accent2">
                    <a:lumMod val="50000"/>
                  </a:schemeClr>
                </a:solidFill>
              </a:rPr>
              <a:t>最小系统包括：</a:t>
            </a:r>
            <a:r>
              <a:rPr lang="zh-CN" altLang="en-US" sz="2400" b="1" dirty="0"/>
              <a:t>电源、时钟源、复位电路、启动电路、调试接口、</a:t>
            </a:r>
            <a:r>
              <a:rPr lang="en-US" sz="2400" b="1" dirty="0"/>
              <a:t>ARM</a:t>
            </a:r>
            <a:r>
              <a:rPr lang="zh-CN" altLang="en-US" sz="2400" b="1" dirty="0"/>
              <a:t>处理器</a:t>
            </a:r>
            <a:endParaRPr lang="zh-CN" altLang="en-US" sz="2400" dirty="0"/>
          </a:p>
          <a:p>
            <a:pPr>
              <a:lnSpc>
                <a:spcPct val="150000"/>
              </a:lnSpc>
            </a:pPr>
            <a:endParaRPr lang="zh-CN" altLang="en-US" sz="2400" dirty="0"/>
          </a:p>
        </p:txBody>
      </p:sp>
      <p:sp>
        <p:nvSpPr>
          <p:cNvPr id="5" name="矩形 4"/>
          <p:cNvSpPr/>
          <p:nvPr/>
        </p:nvSpPr>
        <p:spPr>
          <a:xfrm>
            <a:off x="4702628" y="4385398"/>
            <a:ext cx="2313991" cy="737119"/>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2400" b="1" dirty="0">
                <a:solidFill>
                  <a:srgbClr val="5494C3"/>
                </a:solidFill>
              </a:rPr>
              <a:t>ARM</a:t>
            </a:r>
            <a:r>
              <a:rPr lang="zh-CN" altLang="en-US" sz="2400" b="1" dirty="0">
                <a:solidFill>
                  <a:srgbClr val="5494C3"/>
                </a:solidFill>
              </a:rPr>
              <a:t>处理器</a:t>
            </a:r>
          </a:p>
        </p:txBody>
      </p:sp>
      <p:sp>
        <p:nvSpPr>
          <p:cNvPr id="6" name="矩形 5"/>
          <p:cNvSpPr/>
          <p:nvPr/>
        </p:nvSpPr>
        <p:spPr>
          <a:xfrm>
            <a:off x="4595327" y="5682352"/>
            <a:ext cx="957942" cy="622041"/>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a:solidFill>
                  <a:srgbClr val="5494C3"/>
                </a:solidFill>
              </a:rPr>
              <a:t>电源</a:t>
            </a:r>
          </a:p>
        </p:txBody>
      </p:sp>
      <p:sp>
        <p:nvSpPr>
          <p:cNvPr id="9" name="矩形 8"/>
          <p:cNvSpPr/>
          <p:nvPr/>
        </p:nvSpPr>
        <p:spPr>
          <a:xfrm>
            <a:off x="6040017" y="5682352"/>
            <a:ext cx="1340497" cy="653143"/>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a:solidFill>
                  <a:srgbClr val="5494C3"/>
                </a:solidFill>
              </a:rPr>
              <a:t>时钟源</a:t>
            </a:r>
          </a:p>
        </p:txBody>
      </p:sp>
      <p:sp>
        <p:nvSpPr>
          <p:cNvPr id="10" name="矩形 9"/>
          <p:cNvSpPr/>
          <p:nvPr/>
        </p:nvSpPr>
        <p:spPr>
          <a:xfrm>
            <a:off x="4917229" y="3097774"/>
            <a:ext cx="1894114" cy="755780"/>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a:solidFill>
                  <a:srgbClr val="5494C3"/>
                </a:solidFill>
              </a:rPr>
              <a:t>复位电路</a:t>
            </a:r>
          </a:p>
        </p:txBody>
      </p:sp>
      <p:sp>
        <p:nvSpPr>
          <p:cNvPr id="11" name="矩形 10"/>
          <p:cNvSpPr/>
          <p:nvPr/>
        </p:nvSpPr>
        <p:spPr>
          <a:xfrm>
            <a:off x="8005670" y="4301449"/>
            <a:ext cx="1894114" cy="755780"/>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a:solidFill>
                  <a:srgbClr val="5494C3"/>
                </a:solidFill>
              </a:rPr>
              <a:t>启动电路</a:t>
            </a:r>
          </a:p>
        </p:txBody>
      </p:sp>
      <p:sp>
        <p:nvSpPr>
          <p:cNvPr id="13" name="矩形 12"/>
          <p:cNvSpPr/>
          <p:nvPr/>
        </p:nvSpPr>
        <p:spPr>
          <a:xfrm>
            <a:off x="1810139" y="4376066"/>
            <a:ext cx="1894114" cy="755780"/>
          </a:xfrm>
          <a:prstGeom prst="rect">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2400" b="1" dirty="0">
                <a:solidFill>
                  <a:srgbClr val="5494C3"/>
                </a:solidFill>
              </a:rPr>
              <a:t>调试接口</a:t>
            </a:r>
          </a:p>
        </p:txBody>
      </p:sp>
      <p:sp>
        <p:nvSpPr>
          <p:cNvPr id="14" name="右箭头 13"/>
          <p:cNvSpPr/>
          <p:nvPr/>
        </p:nvSpPr>
        <p:spPr>
          <a:xfrm>
            <a:off x="3713584" y="4674647"/>
            <a:ext cx="970383" cy="270588"/>
          </a:xfrm>
          <a:prstGeom prst="rightArrow">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a:solidFill>
                <a:srgbClr val="5494C3"/>
              </a:solidFill>
            </a:endParaRPr>
          </a:p>
        </p:txBody>
      </p:sp>
      <p:sp>
        <p:nvSpPr>
          <p:cNvPr id="15" name="下箭头 14"/>
          <p:cNvSpPr/>
          <p:nvPr/>
        </p:nvSpPr>
        <p:spPr>
          <a:xfrm>
            <a:off x="5850294" y="3881545"/>
            <a:ext cx="251926" cy="494523"/>
          </a:xfrm>
          <a:prstGeom prst="downArrow">
            <a:avLst/>
          </a:prstGeom>
          <a:solidFill>
            <a:schemeClr val="bg1">
              <a:lumMod val="95000"/>
            </a:schemeClr>
          </a:solidFill>
          <a:ln>
            <a:solidFill>
              <a:schemeClr val="accent1"/>
            </a:solidFill>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a:solidFill>
                <a:srgbClr val="5494C3"/>
              </a:solidFill>
            </a:endParaRPr>
          </a:p>
        </p:txBody>
      </p:sp>
      <p:sp>
        <p:nvSpPr>
          <p:cNvPr id="16" name="右箭头 15"/>
          <p:cNvSpPr/>
          <p:nvPr/>
        </p:nvSpPr>
        <p:spPr>
          <a:xfrm>
            <a:off x="7038391" y="4584451"/>
            <a:ext cx="970383" cy="270588"/>
          </a:xfrm>
          <a:prstGeom prst="rightArrow">
            <a:avLst/>
          </a:prstGeom>
          <a:solidFill>
            <a:schemeClr val="bg1">
              <a:lumMod val="95000"/>
            </a:schemeClr>
          </a:solidFill>
          <a:ln>
            <a:solidFill>
              <a:schemeClr val="accent1"/>
            </a:solidFill>
          </a:ln>
          <a:scene3d>
            <a:camera prst="orthographicFront">
              <a:rot lat="0" lon="0" rev="10800000"/>
            </a:camera>
            <a:lightRig rig="threePt" dir="t"/>
          </a:scene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a:solidFill>
                <a:srgbClr val="5494C3"/>
              </a:solidFill>
            </a:endParaRPr>
          </a:p>
        </p:txBody>
      </p:sp>
      <p:sp>
        <p:nvSpPr>
          <p:cNvPr id="17" name="下箭头 16"/>
          <p:cNvSpPr/>
          <p:nvPr/>
        </p:nvSpPr>
        <p:spPr>
          <a:xfrm>
            <a:off x="4948335" y="5172280"/>
            <a:ext cx="251926" cy="494523"/>
          </a:xfrm>
          <a:prstGeom prst="downArrow">
            <a:avLst/>
          </a:prstGeom>
          <a:solidFill>
            <a:schemeClr val="bg1">
              <a:lumMod val="95000"/>
            </a:schemeClr>
          </a:solidFill>
          <a:ln>
            <a:solidFill>
              <a:schemeClr val="accent1"/>
            </a:solidFill>
          </a:ln>
          <a:scene3d>
            <a:camera prst="orthographicFront">
              <a:rot lat="0" lon="0" rev="10800000"/>
            </a:camera>
            <a:lightRig rig="threePt" dir="t"/>
          </a:scene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a:solidFill>
                <a:srgbClr val="5494C3"/>
              </a:solidFill>
            </a:endParaRPr>
          </a:p>
        </p:txBody>
      </p:sp>
      <p:sp>
        <p:nvSpPr>
          <p:cNvPr id="18" name="下箭头 17"/>
          <p:cNvSpPr/>
          <p:nvPr/>
        </p:nvSpPr>
        <p:spPr>
          <a:xfrm>
            <a:off x="6518988" y="5166060"/>
            <a:ext cx="251926" cy="494523"/>
          </a:xfrm>
          <a:prstGeom prst="downArrow">
            <a:avLst/>
          </a:prstGeom>
          <a:solidFill>
            <a:schemeClr val="bg1">
              <a:lumMod val="95000"/>
            </a:schemeClr>
          </a:solidFill>
          <a:ln>
            <a:solidFill>
              <a:schemeClr val="accent1"/>
            </a:solidFill>
          </a:ln>
          <a:scene3d>
            <a:camera prst="orthographicFront">
              <a:rot lat="0" lon="0" rev="10800000"/>
            </a:camera>
            <a:lightRig rig="threePt" dir="t"/>
          </a:scene3d>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5400" dirty="0">
              <a:solidFill>
                <a:srgbClr val="5494C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733386" y="454566"/>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altLang="zh-CN" sz="2800" b="1" dirty="0">
                <a:solidFill>
                  <a:srgbClr val="14529E"/>
                </a:solidFill>
              </a:rPr>
              <a:t>3.1 </a:t>
            </a:r>
            <a:r>
              <a:rPr lang="zh-CN" altLang="en-US" sz="2800" b="1" dirty="0">
                <a:solidFill>
                  <a:srgbClr val="14529E"/>
                </a:solidFill>
              </a:rPr>
              <a:t>电源电路</a:t>
            </a:r>
            <a:endParaRPr lang="en-US" altLang="zh-CN" sz="2800" b="1" dirty="0">
              <a:solidFill>
                <a:srgbClr val="14529E"/>
              </a:solidFill>
            </a:endParaRPr>
          </a:p>
          <a:p>
            <a:pPr marR="0" lvl="0" indent="0" fontAlgn="auto">
              <a:lnSpc>
                <a:spcPct val="90000"/>
              </a:lnSpc>
              <a:spcBef>
                <a:spcPct val="0"/>
              </a:spcBef>
              <a:spcAft>
                <a:spcPts val="0"/>
              </a:spcAft>
              <a:buClrTx/>
              <a:buSzTx/>
              <a:buFontTx/>
              <a:buNone/>
              <a:tabLst/>
              <a:defRPr/>
            </a:pPr>
            <a:r>
              <a:rPr lang="en-US" altLang="zh-CN" sz="2800" b="1" dirty="0">
                <a:solidFill>
                  <a:srgbClr val="C00000"/>
                </a:solidFill>
              </a:rPr>
              <a:t>3.1.1 </a:t>
            </a:r>
            <a:r>
              <a:rPr lang="zh-CN" altLang="en-US" sz="2800" b="1" dirty="0">
                <a:solidFill>
                  <a:srgbClr val="C00000"/>
                </a:solidFill>
              </a:rPr>
              <a:t>供电方案</a:t>
            </a:r>
          </a:p>
        </p:txBody>
      </p:sp>
      <p:pic>
        <p:nvPicPr>
          <p:cNvPr id="146434" name="Picture 2"/>
          <p:cNvPicPr>
            <a:picLocks noChangeAspect="1" noChangeArrowheads="1"/>
          </p:cNvPicPr>
          <p:nvPr/>
        </p:nvPicPr>
        <p:blipFill>
          <a:blip r:embed="rId3"/>
          <a:srcRect/>
          <a:stretch>
            <a:fillRect/>
          </a:stretch>
        </p:blipFill>
        <p:spPr bwMode="auto">
          <a:xfrm>
            <a:off x="409285" y="1421734"/>
            <a:ext cx="3248315" cy="3253984"/>
          </a:xfrm>
          <a:prstGeom prst="rect">
            <a:avLst/>
          </a:prstGeom>
          <a:noFill/>
          <a:ln w="9525">
            <a:noFill/>
            <a:miter lim="800000"/>
            <a:headEnd/>
            <a:tailEnd/>
          </a:ln>
          <a:effectLst/>
        </p:spPr>
      </p:pic>
      <p:sp>
        <p:nvSpPr>
          <p:cNvPr id="146435" name="Rectangle 3"/>
          <p:cNvSpPr>
            <a:spLocks noChangeArrowheads="1"/>
          </p:cNvSpPr>
          <p:nvPr/>
        </p:nvSpPr>
        <p:spPr bwMode="auto">
          <a:xfrm>
            <a:off x="3676261" y="1390261"/>
            <a:ext cx="7744408"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600" b="1" i="0" u="none" strike="noStrike" cap="none" normalizeH="0" baseline="0" dirty="0">
                <a:ln>
                  <a:noFill/>
                </a:ln>
                <a:solidFill>
                  <a:schemeClr val="accent4">
                    <a:lumMod val="75000"/>
                  </a:schemeClr>
                </a:solidFill>
                <a:effectLst/>
                <a:latin typeface="+mn-ea"/>
                <a:cs typeface="Arial" pitchFamily="34" charset="0"/>
              </a:rPr>
              <a:t>1.</a:t>
            </a:r>
            <a:r>
              <a:rPr kumimoji="0" lang="zh-CN" altLang="en-US" sz="1600" b="1" i="0" u="none" strike="noStrike" cap="none" normalizeH="0" baseline="0" dirty="0">
                <a:ln>
                  <a:noFill/>
                </a:ln>
                <a:solidFill>
                  <a:schemeClr val="accent4">
                    <a:lumMod val="75000"/>
                  </a:schemeClr>
                </a:solidFill>
                <a:effectLst/>
                <a:latin typeface="+mn-ea"/>
                <a:cs typeface="Arial" pitchFamily="34" charset="0"/>
              </a:rPr>
              <a:t>数字部分</a:t>
            </a:r>
            <a:endParaRPr kumimoji="0" lang="zh-CN" altLang="en-US" sz="1600" b="1" i="0" u="none" strike="noStrike" cap="none" normalizeH="0" baseline="0" dirty="0">
              <a:ln>
                <a:noFill/>
              </a:ln>
              <a:solidFill>
                <a:schemeClr val="accent4">
                  <a:lumMod val="75000"/>
                </a:schemeClr>
              </a:solidFill>
              <a:effectLst/>
              <a:latin typeface="+mn-ea"/>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VDD</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接</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2.0~3.6V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的直流电源。</a:t>
            </a:r>
            <a:r>
              <a:rPr kumimoji="0" lang="zh-CN" altLang="en-US" sz="1600" b="1" i="0" u="none" strike="noStrike" cap="none" normalizeH="0" baseline="0" dirty="0">
                <a:ln>
                  <a:noFill/>
                </a:ln>
                <a:solidFill>
                  <a:srgbClr val="7030A0"/>
                </a:solidFill>
                <a:effectLst/>
                <a:latin typeface="+mj-ea"/>
                <a:ea typeface="+mj-ea"/>
                <a:cs typeface="Arial" pitchFamily="34" charset="0"/>
              </a:rPr>
              <a:t>通常接</a:t>
            </a:r>
            <a:r>
              <a:rPr kumimoji="0" lang="en-US" altLang="zh-CN" sz="1600" b="1" i="0" u="none" strike="noStrike" cap="none" normalizeH="0" baseline="0" dirty="0">
                <a:ln>
                  <a:noFill/>
                </a:ln>
                <a:solidFill>
                  <a:srgbClr val="7030A0"/>
                </a:solidFill>
                <a:effectLst/>
                <a:latin typeface="+mj-ea"/>
                <a:ea typeface="+mj-ea"/>
                <a:cs typeface="Arial" pitchFamily="34" charset="0"/>
              </a:rPr>
              <a:t>3.3V</a:t>
            </a:r>
            <a:r>
              <a:rPr kumimoji="0" lang="zh-CN" altLang="en-US" sz="1600" b="1" i="0" u="none" strike="noStrike" cap="none" normalizeH="0" baseline="0" dirty="0">
                <a:ln>
                  <a:noFill/>
                </a:ln>
                <a:solidFill>
                  <a:srgbClr val="7030A0"/>
                </a:solidFill>
                <a:effectLst/>
                <a:latin typeface="+mj-ea"/>
                <a:ea typeface="+mj-ea"/>
                <a:cs typeface="Arial" pitchFamily="34" charset="0"/>
              </a:rPr>
              <a:t>，供</a:t>
            </a:r>
            <a:r>
              <a:rPr kumimoji="0" lang="en-US" altLang="zh-CN" sz="1600" b="1" i="0" u="none" strike="noStrike" cap="none" normalizeH="0" baseline="0" dirty="0">
                <a:ln>
                  <a:noFill/>
                </a:ln>
                <a:solidFill>
                  <a:srgbClr val="7030A0"/>
                </a:solidFill>
                <a:effectLst/>
                <a:latin typeface="+mj-ea"/>
                <a:ea typeface="+mj-ea"/>
                <a:cs typeface="Arial" pitchFamily="34" charset="0"/>
              </a:rPr>
              <a:t>I/O</a:t>
            </a:r>
            <a:r>
              <a:rPr kumimoji="0" lang="zh-CN" altLang="en-US" sz="1600" b="1" i="0" u="none" strike="noStrike" cap="none" normalizeH="0" baseline="0" dirty="0">
                <a:ln>
                  <a:noFill/>
                </a:ln>
                <a:solidFill>
                  <a:srgbClr val="7030A0"/>
                </a:solidFill>
                <a:effectLst/>
                <a:latin typeface="+mj-ea"/>
                <a:ea typeface="+mj-ea"/>
                <a:cs typeface="Arial" pitchFamily="34" charset="0"/>
              </a:rPr>
              <a:t>等接口使用</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。内置电压调节器提高</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CM3</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处理器所需的</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电源。电压调节器有三种工作模式：</a:t>
            </a:r>
            <a:endParaRPr kumimoji="0" lang="zh-CN" altLang="en-US"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运行模式：提供</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电源</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处理器、内存、外设</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。在此模式下，可以通过降低系统时钟或关闭总线上未被使用的</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CM3</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处理器外的外设时钟来降低功耗。</a:t>
            </a:r>
            <a:endParaRPr kumimoji="0" lang="zh-CN" altLang="en-US"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停止模式：调节器以低功耗模式提供</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1.8V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电源，以保存寄存器和</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SRAM</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的内容。</a:t>
            </a:r>
            <a:endParaRPr kumimoji="0" lang="zh-CN" altLang="en-US"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
                <a:schemeClr val="accent2">
                  <a:lumMod val="50000"/>
                </a:schemeClr>
              </a:buClr>
              <a:buSzTx/>
              <a:buFont typeface="Wingdings" pitchFamily="2" charset="2"/>
              <a:buChar char="u"/>
              <a:tabLst/>
            </a:pP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待机模式：调节器停止供电，除了备用电路和备份域外，寄存器和</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SRAM</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的内容全部丢失。</a:t>
            </a:r>
            <a:endParaRPr kumimoji="0" lang="zh-CN" altLang="en-US"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
        <p:nvSpPr>
          <p:cNvPr id="8" name="Rectangle 1"/>
          <p:cNvSpPr>
            <a:spLocks noChangeArrowheads="1"/>
          </p:cNvSpPr>
          <p:nvPr/>
        </p:nvSpPr>
        <p:spPr bwMode="auto">
          <a:xfrm>
            <a:off x="494524" y="4702629"/>
            <a:ext cx="10767525"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accent4">
                    <a:lumMod val="75000"/>
                  </a:schemeClr>
                </a:solidFill>
                <a:effectLst/>
                <a:latin typeface="+mn-ea"/>
                <a:cs typeface="Arial" pitchFamily="34" charset="0"/>
              </a:rPr>
              <a:t>2.</a:t>
            </a:r>
            <a:r>
              <a:rPr kumimoji="0" lang="zh-CN" altLang="en-US" sz="1600" b="1" i="0" u="none" strike="noStrike" cap="none" normalizeH="0" baseline="0" dirty="0">
                <a:ln>
                  <a:noFill/>
                </a:ln>
                <a:solidFill>
                  <a:schemeClr val="accent4">
                    <a:lumMod val="75000"/>
                  </a:schemeClr>
                </a:solidFill>
                <a:effectLst/>
                <a:latin typeface="+mn-ea"/>
                <a:cs typeface="Arial" pitchFamily="34" charset="0"/>
              </a:rPr>
              <a:t>模拟部分</a:t>
            </a:r>
            <a:endParaRPr kumimoji="0" lang="zh-CN" altLang="en-US" sz="1600" b="0" i="0" u="none" strike="noStrike" cap="none" normalizeH="0" baseline="0" dirty="0">
              <a:ln>
                <a:noFill/>
              </a:ln>
              <a:solidFill>
                <a:schemeClr val="accent4">
                  <a:lumMod val="75000"/>
                </a:schemeClr>
              </a:solidFill>
              <a:effectLst/>
              <a:latin typeface="+mn-ea"/>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VSSA</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为独立电源地，</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VDDA</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接</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2.0~36V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，为</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ADC</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、复位模块、</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RC</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振荡器和</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PLL</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的模拟部分供电。当</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VDD≥2.4V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时，</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ADC</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工作，当</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VDD≥2.7V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时，</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USB</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开始工作。</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VREF+</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的电压范围为</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2.4V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至</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VDDA</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之间。</a:t>
            </a:r>
            <a:endParaRPr kumimoji="0" lang="zh-CN" altLang="en-US"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600" b="1" i="0" u="none" strike="noStrike" cap="none" normalizeH="0" baseline="0" dirty="0">
                <a:ln>
                  <a:noFill/>
                </a:ln>
                <a:solidFill>
                  <a:schemeClr val="accent4">
                    <a:lumMod val="75000"/>
                  </a:schemeClr>
                </a:solidFill>
                <a:effectLst/>
                <a:latin typeface="+mn-ea"/>
                <a:cs typeface="Arial" pitchFamily="34" charset="0"/>
              </a:rPr>
              <a:t>3.</a:t>
            </a:r>
            <a:r>
              <a:rPr kumimoji="0" lang="zh-CN" altLang="en-US" sz="1600" b="1" i="0" u="none" strike="noStrike" cap="none" normalizeH="0" baseline="0" dirty="0">
                <a:ln>
                  <a:noFill/>
                </a:ln>
                <a:solidFill>
                  <a:schemeClr val="accent4">
                    <a:lumMod val="75000"/>
                  </a:schemeClr>
                </a:solidFill>
                <a:effectLst/>
                <a:latin typeface="+mn-ea"/>
                <a:cs typeface="Arial" pitchFamily="34" charset="0"/>
              </a:rPr>
              <a:t>备份部分</a:t>
            </a:r>
            <a:r>
              <a:rPr kumimoji="0" lang="en-US" altLang="zh-CN" sz="1600" b="1" i="0" u="none" strike="noStrike" cap="none" normalizeH="0" baseline="0" dirty="0">
                <a:ln>
                  <a:noFill/>
                </a:ln>
                <a:solidFill>
                  <a:schemeClr val="accent4">
                    <a:lumMod val="75000"/>
                  </a:schemeClr>
                </a:solidFill>
                <a:effectLst/>
                <a:latin typeface="+mn-ea"/>
                <a:cs typeface="Arial" pitchFamily="34" charset="0"/>
              </a:rPr>
              <a:t>VBAT</a:t>
            </a:r>
            <a:endParaRPr kumimoji="0" lang="zh-CN" altLang="en-US" sz="1600" b="0" i="0" u="none" strike="noStrike" cap="none" normalizeH="0" baseline="0" dirty="0">
              <a:ln>
                <a:noFill/>
              </a:ln>
              <a:solidFill>
                <a:schemeClr val="accent4">
                  <a:lumMod val="75000"/>
                </a:schemeClr>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备份电压指的是备份域使用的供电电源。</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VBAT</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为</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1.8~3.6V</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，当</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VDD</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断电时，为</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RTC</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、外部</a:t>
            </a:r>
            <a:r>
              <a:rPr kumimoji="0" lang="en-US" altLang="zh-CN" sz="1600" b="1" i="0" u="none" strike="noStrike" cap="none" normalizeH="0" baseline="0" dirty="0">
                <a:ln>
                  <a:noFill/>
                </a:ln>
                <a:solidFill>
                  <a:srgbClr val="4D4D4D"/>
                </a:solidFill>
                <a:effectLst/>
                <a:latin typeface="Arial" pitchFamily="34" charset="0"/>
                <a:ea typeface="宋体" pitchFamily="2" charset="-122"/>
                <a:cs typeface="Arial" pitchFamily="34" charset="0"/>
              </a:rPr>
              <a:t>32kHz</a:t>
            </a:r>
            <a:r>
              <a:rPr kumimoji="0" lang="zh-CN" altLang="en-US" sz="1600" b="1" i="0" u="none" strike="noStrike" cap="none" normalizeH="0" baseline="0" dirty="0">
                <a:ln>
                  <a:noFill/>
                </a:ln>
                <a:solidFill>
                  <a:srgbClr val="4D4D4D"/>
                </a:solidFill>
                <a:effectLst/>
                <a:latin typeface="Arial" pitchFamily="34" charset="0"/>
                <a:ea typeface="宋体" pitchFamily="2" charset="-122"/>
                <a:cs typeface="Arial" pitchFamily="34" charset="0"/>
              </a:rPr>
              <a:t>振荡器和后备寄存器供电。</a:t>
            </a:r>
            <a:endParaRPr kumimoji="0" lang="zh-CN" altLang="en-US" sz="16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p:cNvPicPr>
            <a:picLocks noChangeAspect="1" noChangeArrowheads="1"/>
          </p:cNvPicPr>
          <p:nvPr/>
        </p:nvPicPr>
        <p:blipFill>
          <a:blip r:embed="rId2"/>
          <a:srcRect/>
          <a:stretch>
            <a:fillRect/>
          </a:stretch>
        </p:blipFill>
        <p:spPr bwMode="auto">
          <a:xfrm>
            <a:off x="2405063" y="442913"/>
            <a:ext cx="7381875" cy="59721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sz="2800" b="1" dirty="0">
                <a:solidFill>
                  <a:srgbClr val="C00000"/>
                </a:solidFill>
              </a:rPr>
              <a:t>3.1.2 </a:t>
            </a:r>
            <a:r>
              <a:rPr lang="zh-CN" altLang="en-US" sz="2800" b="1" dirty="0">
                <a:solidFill>
                  <a:srgbClr val="C00000"/>
                </a:solidFill>
              </a:rPr>
              <a:t>电源管理器</a:t>
            </a:r>
          </a:p>
        </p:txBody>
      </p:sp>
      <p:sp>
        <p:nvSpPr>
          <p:cNvPr id="147457" name="Rectangle 1"/>
          <p:cNvSpPr>
            <a:spLocks noChangeArrowheads="1"/>
          </p:cNvSpPr>
          <p:nvPr/>
        </p:nvSpPr>
        <p:spPr bwMode="auto">
          <a:xfrm>
            <a:off x="839754" y="1408922"/>
            <a:ext cx="5449078" cy="4651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1.</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上电复位</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(POR)</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和掉电复位</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(PDR)</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STM32</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内部有一个完整的上电复位</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(POR)</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和掉电复位</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(PDR)</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电路，当供电电压达到</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2V</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时，系统就能正常工作。当</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VDD/VDDA</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低于指定的限位电压</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VPOR/PDR</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时，系统保持为复位状态，无需外部复位电路。</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2.</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可编程电压检测器</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(PVD)</a:t>
            </a:r>
            <a:endParaRPr kumimoji="0" lang="en-US" altLang="zh-CN"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当</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VDD</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下降到</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PVD</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阈值以下和</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或</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当</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VDD</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上升到</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PVD</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阈值之上时，会产生</a:t>
            </a:r>
            <a:r>
              <a:rPr kumimoji="0" lang="en-US" altLang="zh-CN" sz="2000" b="1" i="0" u="none" strike="noStrike" cap="none" normalizeH="0" baseline="0" dirty="0">
                <a:ln>
                  <a:noFill/>
                </a:ln>
                <a:solidFill>
                  <a:srgbClr val="4D4D4D"/>
                </a:solidFill>
                <a:effectLst/>
                <a:latin typeface="Arial" pitchFamily="34" charset="0"/>
                <a:ea typeface="宋体" pitchFamily="2" charset="-122"/>
                <a:cs typeface="Arial" pitchFamily="34" charset="0"/>
              </a:rPr>
              <a:t>PVD</a:t>
            </a:r>
            <a:r>
              <a:rPr kumimoji="0" lang="zh-CN" altLang="en-US" sz="2000" b="1" i="0" u="none" strike="noStrike" cap="none" normalizeH="0" baseline="0" dirty="0">
                <a:ln>
                  <a:noFill/>
                </a:ln>
                <a:solidFill>
                  <a:srgbClr val="4D4D4D"/>
                </a:solidFill>
                <a:effectLst/>
                <a:latin typeface="Arial" pitchFamily="34" charset="0"/>
                <a:ea typeface="宋体" pitchFamily="2" charset="-122"/>
                <a:cs typeface="Arial" pitchFamily="34" charset="0"/>
              </a:rPr>
              <a:t>中断。</a:t>
            </a: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147458" name="Picture 2"/>
          <p:cNvPicPr>
            <a:picLocks noChangeAspect="1" noChangeArrowheads="1"/>
          </p:cNvPicPr>
          <p:nvPr/>
        </p:nvPicPr>
        <p:blipFill>
          <a:blip r:embed="rId3"/>
          <a:srcRect/>
          <a:stretch>
            <a:fillRect/>
          </a:stretch>
        </p:blipFill>
        <p:spPr bwMode="auto">
          <a:xfrm>
            <a:off x="6397012" y="1418352"/>
            <a:ext cx="4517762" cy="2164604"/>
          </a:xfrm>
          <a:prstGeom prst="rect">
            <a:avLst/>
          </a:prstGeom>
          <a:noFill/>
          <a:ln w="9525">
            <a:noFill/>
            <a:miter lim="800000"/>
            <a:headEnd/>
            <a:tailEnd/>
          </a:ln>
          <a:effectLst/>
        </p:spPr>
      </p:pic>
      <p:pic>
        <p:nvPicPr>
          <p:cNvPr id="147459" name="Picture 3"/>
          <p:cNvPicPr>
            <a:picLocks noChangeAspect="1" noChangeArrowheads="1"/>
          </p:cNvPicPr>
          <p:nvPr/>
        </p:nvPicPr>
        <p:blipFill>
          <a:blip r:embed="rId4"/>
          <a:srcRect/>
          <a:stretch>
            <a:fillRect/>
          </a:stretch>
        </p:blipFill>
        <p:spPr bwMode="auto">
          <a:xfrm>
            <a:off x="6440650" y="3928382"/>
            <a:ext cx="4677930" cy="2304467"/>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sz="2800" b="1" dirty="0">
                <a:solidFill>
                  <a:srgbClr val="C00000"/>
                </a:solidFill>
              </a:rPr>
              <a:t>3.1.3 </a:t>
            </a:r>
            <a:r>
              <a:rPr lang="zh-CN" altLang="en-US" sz="2800" b="1" dirty="0">
                <a:solidFill>
                  <a:srgbClr val="C00000"/>
                </a:solidFill>
              </a:rPr>
              <a:t>低功耗模式</a:t>
            </a:r>
          </a:p>
        </p:txBody>
      </p:sp>
      <p:sp>
        <p:nvSpPr>
          <p:cNvPr id="147457" name="Rectangle 1"/>
          <p:cNvSpPr>
            <a:spLocks noChangeArrowheads="1"/>
          </p:cNvSpPr>
          <p:nvPr/>
        </p:nvSpPr>
        <p:spPr bwMode="auto">
          <a:xfrm>
            <a:off x="849084" y="1318022"/>
            <a:ext cx="10245013" cy="553997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b="1" dirty="0"/>
              <a:t>      </a:t>
            </a:r>
            <a:r>
              <a:rPr lang="zh-CN" altLang="en-US" sz="2400" dirty="0">
                <a:latin typeface="Times New Roman" pitchFamily="18" charset="0"/>
                <a:cs typeface="Times New Roman" pitchFamily="18" charset="0"/>
              </a:rPr>
              <a:t>在系统或电源复位后，微控制处于运行模式。当处理器不需继续运行时</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如等待某个外部事件</a:t>
            </a:r>
            <a:r>
              <a:rPr lang="en-US" sz="2400" dirty="0">
                <a:latin typeface="Times New Roman" pitchFamily="18" charset="0"/>
                <a:cs typeface="Times New Roman" pitchFamily="18" charset="0"/>
              </a:rPr>
              <a:t>)</a:t>
            </a:r>
            <a:r>
              <a:rPr lang="zh-CN" altLang="en-US" sz="2400" dirty="0">
                <a:latin typeface="Times New Roman" pitchFamily="18" charset="0"/>
                <a:cs typeface="Times New Roman" pitchFamily="18" charset="0"/>
              </a:rPr>
              <a:t>，可以利用多种低功耗模式来节省功耗。用户需要根据最低电源消耗，最快速启动事件和可用的唤醒源等条件，选定一个最佳低功耗卯时。低功耗模式主要是对处理器、处理器外部外设、</a:t>
            </a:r>
            <a:r>
              <a:rPr lang="en-US" sz="2400" dirty="0">
                <a:latin typeface="Times New Roman" pitchFamily="18" charset="0"/>
                <a:cs typeface="Times New Roman" pitchFamily="18" charset="0"/>
              </a:rPr>
              <a:t>SRAM</a:t>
            </a:r>
            <a:r>
              <a:rPr lang="zh-CN" altLang="en-US" sz="2400" dirty="0">
                <a:latin typeface="Times New Roman" pitchFamily="18" charset="0"/>
                <a:cs typeface="Times New Roman" pitchFamily="18" charset="0"/>
              </a:rPr>
              <a:t>和寄存器等的供电电源和时钟进行控制操作。</a:t>
            </a:r>
          </a:p>
          <a:p>
            <a:pPr>
              <a:lnSpc>
                <a:spcPct val="150000"/>
              </a:lnSpc>
            </a:pPr>
            <a:r>
              <a:rPr lang="en-US" sz="2400" dirty="0">
                <a:latin typeface="Times New Roman" pitchFamily="18" charset="0"/>
                <a:cs typeface="Times New Roman" pitchFamily="18" charset="0"/>
              </a:rPr>
              <a:t>STM32F10x</a:t>
            </a:r>
            <a:r>
              <a:rPr lang="zh-CN" altLang="en-US" sz="2400" dirty="0">
                <a:latin typeface="Times New Roman" pitchFamily="18" charset="0"/>
                <a:cs typeface="Times New Roman" pitchFamily="18" charset="0"/>
              </a:rPr>
              <a:t>系列处理器有三种低功耗模式：</a:t>
            </a:r>
          </a:p>
          <a:p>
            <a:pPr>
              <a:lnSpc>
                <a:spcPct val="150000"/>
              </a:lnSpc>
              <a:buClr>
                <a:schemeClr val="accent2">
                  <a:lumMod val="50000"/>
                </a:schemeClr>
              </a:buClr>
              <a:buFont typeface="Wingdings" pitchFamily="2" charset="2"/>
              <a:buChar char="u"/>
            </a:pPr>
            <a:r>
              <a:rPr lang="zh-CN" altLang="en-US" sz="2400" dirty="0">
                <a:latin typeface="Times New Roman" pitchFamily="18" charset="0"/>
                <a:cs typeface="Times New Roman" pitchFamily="18" charset="0"/>
              </a:rPr>
              <a:t>睡眠模式：</a:t>
            </a:r>
            <a:r>
              <a:rPr lang="en-US" sz="2400" dirty="0">
                <a:latin typeface="Times New Roman" pitchFamily="18" charset="0"/>
                <a:cs typeface="Times New Roman" pitchFamily="18" charset="0"/>
              </a:rPr>
              <a:t>CM3</a:t>
            </a:r>
            <a:r>
              <a:rPr lang="zh-CN" altLang="en-US" sz="2400" dirty="0">
                <a:latin typeface="Times New Roman" pitchFamily="18" charset="0"/>
                <a:cs typeface="Times New Roman" pitchFamily="18" charset="0"/>
              </a:rPr>
              <a:t>内核停止，外设仍在运行</a:t>
            </a:r>
          </a:p>
          <a:p>
            <a:pPr>
              <a:lnSpc>
                <a:spcPct val="150000"/>
              </a:lnSpc>
              <a:buClr>
                <a:schemeClr val="accent2">
                  <a:lumMod val="50000"/>
                </a:schemeClr>
              </a:buClr>
              <a:buFont typeface="Wingdings" pitchFamily="2" charset="2"/>
              <a:buChar char="u"/>
            </a:pPr>
            <a:r>
              <a:rPr lang="zh-CN" altLang="en-US" sz="2400" dirty="0">
                <a:latin typeface="Times New Roman" pitchFamily="18" charset="0"/>
                <a:cs typeface="Times New Roman" pitchFamily="18" charset="0"/>
              </a:rPr>
              <a:t>停止模式：所有时钟都已停止</a:t>
            </a:r>
          </a:p>
          <a:p>
            <a:pPr>
              <a:lnSpc>
                <a:spcPct val="150000"/>
              </a:lnSpc>
              <a:buClr>
                <a:schemeClr val="accent2">
                  <a:lumMod val="50000"/>
                </a:schemeClr>
              </a:buClr>
              <a:buFont typeface="Wingdings" pitchFamily="2" charset="2"/>
              <a:buChar char="u"/>
            </a:pPr>
            <a:r>
              <a:rPr lang="zh-CN" altLang="en-US" sz="2400" dirty="0">
                <a:latin typeface="Times New Roman" pitchFamily="18" charset="0"/>
                <a:cs typeface="Times New Roman" pitchFamily="18" charset="0"/>
              </a:rPr>
              <a:t>待机模式：</a:t>
            </a:r>
            <a:r>
              <a:rPr lang="en-US" sz="2400" dirty="0">
                <a:latin typeface="Times New Roman" pitchFamily="18" charset="0"/>
                <a:cs typeface="Times New Roman" pitchFamily="18" charset="0"/>
              </a:rPr>
              <a:t>1.8V</a:t>
            </a:r>
            <a:r>
              <a:rPr lang="zh-CN" altLang="en-US" sz="2400" dirty="0">
                <a:latin typeface="Times New Roman" pitchFamily="18" charset="0"/>
                <a:cs typeface="Times New Roman" pitchFamily="18" charset="0"/>
              </a:rPr>
              <a:t>电源关闭</a:t>
            </a:r>
          </a:p>
          <a:p>
            <a:pPr>
              <a:lnSpc>
                <a:spcPct val="150000"/>
              </a:lnSpc>
            </a:pPr>
            <a:r>
              <a:rPr lang="en-US" sz="2000" dirty="0"/>
              <a:t> </a:t>
            </a:r>
            <a:endParaRPr lang="zh-CN" alt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custDataLst>
              <p:tags r:id="rId1"/>
            </p:custDataLst>
          </p:nvPr>
        </p:nvCxnSpPr>
        <p:spPr>
          <a:xfrm>
            <a:off x="681031" y="1248357"/>
            <a:ext cx="10767630" cy="11276"/>
          </a:xfrm>
          <a:prstGeom prst="line">
            <a:avLst/>
          </a:prstGeom>
          <a:ln w="19050" cap="flat">
            <a:solidFill>
              <a:schemeClr val="accent6"/>
            </a:solidFill>
            <a:prstDash val="solid"/>
          </a:ln>
        </p:spPr>
        <p:style>
          <a:lnRef idx="1">
            <a:schemeClr val="accent1"/>
          </a:lnRef>
          <a:fillRef idx="0">
            <a:schemeClr val="accent1"/>
          </a:fillRef>
          <a:effectRef idx="0">
            <a:schemeClr val="accent1"/>
          </a:effectRef>
          <a:fontRef idx="minor">
            <a:schemeClr val="tx1"/>
          </a:fontRef>
        </p:style>
      </p:cxnSp>
      <p:sp>
        <p:nvSpPr>
          <p:cNvPr id="5" name="标题 1"/>
          <p:cNvSpPr txBox="1">
            <a:spLocks/>
          </p:cNvSpPr>
          <p:nvPr/>
        </p:nvSpPr>
        <p:spPr>
          <a:xfrm>
            <a:off x="602757" y="659840"/>
            <a:ext cx="10058400" cy="683771"/>
          </a:xfrm>
          <a:prstGeom prst="rect">
            <a:avLst/>
          </a:prstGeom>
        </p:spPr>
        <p:txBody>
          <a:bodyPr/>
          <a:lstStyle/>
          <a:p>
            <a:pPr marR="0" lvl="0" indent="0" fontAlgn="auto">
              <a:lnSpc>
                <a:spcPct val="90000"/>
              </a:lnSpc>
              <a:spcBef>
                <a:spcPct val="0"/>
              </a:spcBef>
              <a:spcAft>
                <a:spcPts val="0"/>
              </a:spcAft>
              <a:buClrTx/>
              <a:buSzTx/>
              <a:buFontTx/>
              <a:buNone/>
              <a:tabLst/>
              <a:defRPr/>
            </a:pPr>
            <a:r>
              <a:rPr lang="en-US" sz="2800" b="1" dirty="0">
                <a:solidFill>
                  <a:srgbClr val="C00000"/>
                </a:solidFill>
              </a:rPr>
              <a:t>3.2 </a:t>
            </a:r>
            <a:r>
              <a:rPr lang="zh-CN" altLang="en-US" sz="2800" b="1" dirty="0">
                <a:solidFill>
                  <a:srgbClr val="C00000"/>
                </a:solidFill>
              </a:rPr>
              <a:t>时钟电路</a:t>
            </a:r>
          </a:p>
        </p:txBody>
      </p:sp>
      <p:sp>
        <p:nvSpPr>
          <p:cNvPr id="147457" name="Rectangle 1"/>
          <p:cNvSpPr>
            <a:spLocks noChangeArrowheads="1"/>
          </p:cNvSpPr>
          <p:nvPr/>
        </p:nvSpPr>
        <p:spPr bwMode="auto">
          <a:xfrm>
            <a:off x="849084" y="1318022"/>
            <a:ext cx="10245013" cy="4985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zh-CN" altLang="en-US" sz="2000" b="1" dirty="0"/>
              <a:t>       </a:t>
            </a:r>
            <a:r>
              <a:rPr lang="en-US" altLang="zh-CN" sz="2400" dirty="0">
                <a:latin typeface="Times New Roman" pitchFamily="18" charset="0"/>
                <a:cs typeface="Times New Roman" pitchFamily="18" charset="0"/>
              </a:rPr>
              <a:t>STM32</a:t>
            </a:r>
            <a:r>
              <a:rPr lang="zh-CN" altLang="en-US" sz="2400" dirty="0">
                <a:latin typeface="Times New Roman" pitchFamily="18" charset="0"/>
                <a:cs typeface="Times New Roman" pitchFamily="18" charset="0"/>
              </a:rPr>
              <a:t>时钟系统中的时钟源在不是用时可以单独打开或关闭，以优化系统功耗。</a:t>
            </a:r>
            <a:endParaRPr lang="en-US" altLang="zh-CN" sz="2400" dirty="0">
              <a:latin typeface="Times New Roman" pitchFamily="18" charset="0"/>
              <a:cs typeface="Times New Roman" pitchFamily="18" charset="0"/>
            </a:endParaRPr>
          </a:p>
          <a:p>
            <a:pPr>
              <a:lnSpc>
                <a:spcPct val="150000"/>
              </a:lnSpc>
            </a:pPr>
            <a:r>
              <a:rPr lang="en-US" altLang="zh-CN" sz="2400" dirty="0">
                <a:latin typeface="Times New Roman" pitchFamily="18" charset="0"/>
                <a:cs typeface="Times New Roman" pitchFamily="18" charset="0"/>
              </a:rPr>
              <a:t>        STM32</a:t>
            </a:r>
            <a:r>
              <a:rPr lang="zh-CN" altLang="en-US" sz="2400" dirty="0"/>
              <a:t>本身十分复杂，外设非常多  但我们实际使用的时候只会用到有限的几个外设，使用任何外设都需要时钟才能启动，但并不是所有的外设都需要系统时钟那么高的频率，为了兼容不同速度的设备，有些高速，有些低速，如果都用高速时钟，势必造成浪费   并且，同一个电路，时钟越快功耗越快，同时抗电磁干扰能力也就越弱，所以较为复杂的</a:t>
            </a:r>
            <a:r>
              <a:rPr lang="en-US" altLang="zh-CN" sz="2400" dirty="0"/>
              <a:t>MCU</a:t>
            </a:r>
            <a:r>
              <a:rPr lang="zh-CN" altLang="en-US" sz="2400" dirty="0"/>
              <a:t>都是采用多时钟源的方法来解决这些问题。</a:t>
            </a:r>
            <a:endParaRPr lang="zh-CN" altLang="en-US" sz="2400" dirty="0">
              <a:latin typeface="Times New Roman" pitchFamily="18" charset="0"/>
              <a:cs typeface="Times New Roman" pitchFamily="18" charset="0"/>
            </a:endParaRPr>
          </a:p>
          <a:p>
            <a:pPr>
              <a:lnSpc>
                <a:spcPct val="150000"/>
              </a:lnSpc>
            </a:pPr>
            <a:r>
              <a:rPr lang="en-US" sz="2000" dirty="0"/>
              <a:t> </a:t>
            </a:r>
            <a:endParaRPr lang="zh-CN" alt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2809681" y="-111968"/>
            <a:ext cx="6591300" cy="73279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1"/>
          <p:cNvSpPr>
            <a:spLocks noChangeArrowheads="1"/>
          </p:cNvSpPr>
          <p:nvPr/>
        </p:nvSpPr>
        <p:spPr bwMode="auto">
          <a:xfrm>
            <a:off x="485190" y="599565"/>
            <a:ext cx="10636900" cy="567060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nSpc>
                <a:spcPct val="150000"/>
              </a:lnSpc>
            </a:pPr>
            <a:r>
              <a:rPr lang="en-US" altLang="zh-CN" sz="2000" dirty="0"/>
              <a:t>STM32</a:t>
            </a:r>
            <a:r>
              <a:rPr lang="zh-CN" altLang="en-US" sz="2000" dirty="0"/>
              <a:t>时钟系统主要的目的就是</a:t>
            </a:r>
            <a:r>
              <a:rPr lang="zh-CN" altLang="en-US" sz="2000" b="1" dirty="0">
                <a:solidFill>
                  <a:srgbClr val="FF0000"/>
                </a:solidFill>
              </a:rPr>
              <a:t>给相对独立的外设模块提供时钟</a:t>
            </a:r>
            <a:r>
              <a:rPr lang="zh-CN" altLang="en-US" sz="2000" dirty="0"/>
              <a:t>，也是为了</a:t>
            </a:r>
            <a:r>
              <a:rPr lang="zh-CN" altLang="en-US" sz="2000" b="1" dirty="0"/>
              <a:t>降低整个芯片的耗能</a:t>
            </a:r>
            <a:r>
              <a:rPr lang="zh-CN" altLang="en-US" sz="2000" dirty="0"/>
              <a:t>。</a:t>
            </a:r>
          </a:p>
          <a:p>
            <a:pPr>
              <a:lnSpc>
                <a:spcPct val="150000"/>
              </a:lnSpc>
            </a:pPr>
            <a:r>
              <a:rPr lang="zh-CN" altLang="en-US" sz="2000" dirty="0"/>
              <a:t>系统时钟，是处理器运行时间基准（每一条机器指令一个时钟周期）</a:t>
            </a:r>
          </a:p>
          <a:p>
            <a:pPr>
              <a:lnSpc>
                <a:spcPct val="150000"/>
              </a:lnSpc>
            </a:pPr>
            <a:r>
              <a:rPr lang="zh-CN" altLang="en-US" sz="2000" b="1" dirty="0"/>
              <a:t>时钟是单片机运行的基础，时钟信号推动单片机内各个部分执行相应的指令。</a:t>
            </a:r>
            <a:endParaRPr lang="zh-CN" altLang="en-US" sz="2000" dirty="0"/>
          </a:p>
          <a:p>
            <a:pPr>
              <a:lnSpc>
                <a:spcPct val="150000"/>
              </a:lnSpc>
            </a:pPr>
            <a:r>
              <a:rPr lang="zh-CN" altLang="en-US" sz="2000" b="1" dirty="0"/>
              <a:t>一个单片机内提供多个不同的系统时钟，可以适应更多的应用场合。</a:t>
            </a:r>
            <a:endParaRPr lang="zh-CN" altLang="en-US" sz="2000" dirty="0"/>
          </a:p>
          <a:p>
            <a:pPr>
              <a:lnSpc>
                <a:spcPct val="150000"/>
              </a:lnSpc>
            </a:pPr>
            <a:r>
              <a:rPr lang="zh-CN" altLang="en-US" sz="2000" b="1" dirty="0"/>
              <a:t>不同的功能模块会有不同的时钟上限，因此提供不同的时钟，也能在一个单片机内放置更多的功能模块。</a:t>
            </a:r>
            <a:br>
              <a:rPr lang="zh-CN" altLang="en-US" sz="2000" b="1" dirty="0"/>
            </a:br>
            <a:r>
              <a:rPr lang="zh-CN" altLang="en-US" sz="2000" b="1" dirty="0"/>
              <a:t>对不同模块的时钟增加开启和关闭功能，可以降低单片机的功耗</a:t>
            </a:r>
            <a:endParaRPr lang="zh-CN" altLang="en-US" sz="2000" dirty="0"/>
          </a:p>
          <a:p>
            <a:pPr>
              <a:lnSpc>
                <a:spcPct val="150000"/>
              </a:lnSpc>
            </a:pPr>
            <a:r>
              <a:rPr lang="en-US" altLang="zh-CN" sz="2000" dirty="0"/>
              <a:t>STM32</a:t>
            </a:r>
            <a:r>
              <a:rPr lang="zh-CN" altLang="en-US" sz="2000" dirty="0"/>
              <a:t>为了低功耗，</a:t>
            </a:r>
            <a:r>
              <a:rPr lang="zh-CN" altLang="en-US" sz="2000" b="1" dirty="0">
                <a:solidFill>
                  <a:srgbClr val="FF0000"/>
                </a:solidFill>
              </a:rPr>
              <a:t>他将所有的外设时钟都设置为</a:t>
            </a:r>
            <a:r>
              <a:rPr lang="en-US" altLang="zh-CN" sz="2000" b="1" dirty="0">
                <a:solidFill>
                  <a:srgbClr val="FF0000"/>
                </a:solidFill>
              </a:rPr>
              <a:t>disable(</a:t>
            </a:r>
            <a:r>
              <a:rPr lang="zh-CN" altLang="en-US" sz="2000" b="1" dirty="0">
                <a:solidFill>
                  <a:srgbClr val="FF0000"/>
                </a:solidFill>
              </a:rPr>
              <a:t>不使能</a:t>
            </a:r>
            <a:r>
              <a:rPr lang="en-US" altLang="zh-CN" sz="2000" b="1" dirty="0">
                <a:solidFill>
                  <a:srgbClr val="FF0000"/>
                </a:solidFill>
              </a:rPr>
              <a:t>)</a:t>
            </a:r>
            <a:r>
              <a:rPr lang="zh-CN" altLang="en-US" sz="2000" dirty="0"/>
              <a:t>，用到什么外设，只要打开对应外设的时钟就可以， 其他的没用到的可以还是</a:t>
            </a:r>
            <a:r>
              <a:rPr lang="en-US" altLang="zh-CN" sz="2000" dirty="0"/>
              <a:t>disable(</a:t>
            </a:r>
            <a:r>
              <a:rPr lang="zh-CN" altLang="en-US" sz="2000" dirty="0"/>
              <a:t>不使能</a:t>
            </a:r>
            <a:r>
              <a:rPr lang="en-US" altLang="zh-CN" sz="2000" dirty="0"/>
              <a:t>)</a:t>
            </a:r>
            <a:r>
              <a:rPr lang="zh-CN" altLang="en-US" sz="2000" dirty="0"/>
              <a:t>，这样耗能就会减少。  这就是为什么</a:t>
            </a:r>
            <a:r>
              <a:rPr lang="zh-CN" altLang="en-US" sz="2000" b="1" dirty="0"/>
              <a:t>不管你配置什么功能都需要先打开对应的时钟</a:t>
            </a:r>
            <a:r>
              <a:rPr lang="zh-CN" altLang="en-US" sz="2000" dirty="0"/>
              <a:t>的原因</a:t>
            </a:r>
          </a:p>
          <a:p>
            <a:pPr>
              <a:lnSpc>
                <a:spcPct val="150000"/>
              </a:lnSpc>
            </a:pPr>
            <a:endParaRPr lang="zh-C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82082" y="718086"/>
            <a:ext cx="10854612" cy="5170646"/>
          </a:xfrm>
          <a:prstGeom prst="rect">
            <a:avLst/>
          </a:prstGeom>
        </p:spPr>
        <p:txBody>
          <a:bodyPr wrap="square">
            <a:spAutoFit/>
          </a:bodyPr>
          <a:lstStyle/>
          <a:p>
            <a:pPr>
              <a:lnSpc>
                <a:spcPct val="150000"/>
              </a:lnSpc>
            </a:pPr>
            <a:r>
              <a:rPr lang="en-US" altLang="zh-CN" sz="2000" b="1" dirty="0">
                <a:solidFill>
                  <a:srgbClr val="FF0000"/>
                </a:solidFill>
              </a:rPr>
              <a:t>STM32 </a:t>
            </a:r>
            <a:r>
              <a:rPr lang="zh-CN" altLang="en-US" sz="2000" b="1" dirty="0">
                <a:solidFill>
                  <a:srgbClr val="FF0000"/>
                </a:solidFill>
              </a:rPr>
              <a:t>有</a:t>
            </a:r>
            <a:r>
              <a:rPr lang="en-US" altLang="zh-CN" sz="2000" b="1" dirty="0">
                <a:solidFill>
                  <a:srgbClr val="FF0000"/>
                </a:solidFill>
              </a:rPr>
              <a:t>4</a:t>
            </a:r>
            <a:r>
              <a:rPr lang="zh-CN" altLang="en-US" sz="2000" b="1" dirty="0">
                <a:solidFill>
                  <a:srgbClr val="FF0000"/>
                </a:solidFill>
              </a:rPr>
              <a:t>个独立时钟源</a:t>
            </a:r>
            <a:r>
              <a:rPr lang="en-US" altLang="zh-CN" sz="2000" b="1" dirty="0">
                <a:solidFill>
                  <a:srgbClr val="FF0000"/>
                </a:solidFill>
              </a:rPr>
              <a:t>:HSI</a:t>
            </a:r>
            <a:r>
              <a:rPr lang="zh-CN" altLang="en-US" sz="2000" b="1" dirty="0">
                <a:solidFill>
                  <a:srgbClr val="FF0000"/>
                </a:solidFill>
              </a:rPr>
              <a:t>、</a:t>
            </a:r>
            <a:r>
              <a:rPr lang="en-US" altLang="zh-CN" sz="2000" b="1" dirty="0">
                <a:solidFill>
                  <a:srgbClr val="FF0000"/>
                </a:solidFill>
              </a:rPr>
              <a:t>HSE</a:t>
            </a:r>
            <a:r>
              <a:rPr lang="zh-CN" altLang="en-US" sz="2000" b="1" dirty="0">
                <a:solidFill>
                  <a:srgbClr val="FF0000"/>
                </a:solidFill>
              </a:rPr>
              <a:t>、</a:t>
            </a:r>
            <a:r>
              <a:rPr lang="en-US" altLang="zh-CN" sz="2000" b="1" dirty="0">
                <a:solidFill>
                  <a:srgbClr val="FF0000"/>
                </a:solidFill>
              </a:rPr>
              <a:t>LSI</a:t>
            </a:r>
            <a:r>
              <a:rPr lang="zh-CN" altLang="en-US" sz="2000" b="1" dirty="0">
                <a:solidFill>
                  <a:srgbClr val="FF0000"/>
                </a:solidFill>
              </a:rPr>
              <a:t>、</a:t>
            </a:r>
            <a:r>
              <a:rPr lang="en-US" altLang="zh-CN" sz="2000" b="1" dirty="0">
                <a:solidFill>
                  <a:srgbClr val="FF0000"/>
                </a:solidFill>
              </a:rPr>
              <a:t>LSE</a:t>
            </a:r>
            <a:r>
              <a:rPr lang="zh-CN" altLang="en-US" sz="2000" b="1" dirty="0">
                <a:solidFill>
                  <a:srgbClr val="FF0000"/>
                </a:solidFill>
              </a:rPr>
              <a:t>。</a:t>
            </a:r>
            <a:br>
              <a:rPr lang="zh-CN" altLang="en-US" sz="2000" dirty="0"/>
            </a:br>
            <a:r>
              <a:rPr lang="zh-CN" altLang="en-US" sz="2000" dirty="0"/>
              <a:t>①、</a:t>
            </a:r>
            <a:r>
              <a:rPr lang="en-US" altLang="zh-CN" sz="2000" dirty="0"/>
              <a:t>HSI</a:t>
            </a:r>
            <a:r>
              <a:rPr lang="zh-CN" altLang="en-US" sz="2000" dirty="0"/>
              <a:t>是高速内部时钟，</a:t>
            </a:r>
            <a:r>
              <a:rPr lang="en-US" altLang="zh-CN" sz="2000" dirty="0"/>
              <a:t>RC</a:t>
            </a:r>
            <a:r>
              <a:rPr lang="zh-CN" altLang="en-US" sz="2000" dirty="0"/>
              <a:t>振荡器，频率为</a:t>
            </a:r>
            <a:r>
              <a:rPr lang="en-US" altLang="zh-CN" sz="2000" dirty="0"/>
              <a:t>8MHz</a:t>
            </a:r>
            <a:r>
              <a:rPr lang="zh-CN" altLang="en-US" sz="2000" dirty="0"/>
              <a:t>，精度不高。</a:t>
            </a:r>
            <a:br>
              <a:rPr lang="zh-CN" altLang="en-US" sz="2000" dirty="0"/>
            </a:br>
            <a:r>
              <a:rPr lang="zh-CN" altLang="en-US" sz="2000" dirty="0"/>
              <a:t>②、</a:t>
            </a:r>
            <a:r>
              <a:rPr lang="en-US" altLang="zh-CN" sz="2000" dirty="0"/>
              <a:t>HSE</a:t>
            </a:r>
            <a:r>
              <a:rPr lang="zh-CN" altLang="en-US" sz="2000" dirty="0"/>
              <a:t>是高速外部时钟，可接石英</a:t>
            </a:r>
            <a:r>
              <a:rPr lang="en-US" altLang="zh-CN" sz="2000" dirty="0"/>
              <a:t>/</a:t>
            </a:r>
            <a:r>
              <a:rPr lang="zh-CN" altLang="en-US" sz="2000" dirty="0"/>
              <a:t>陶瓷谐振器，或者接外部时钟源，频率范围为</a:t>
            </a:r>
            <a:r>
              <a:rPr lang="en-US" altLang="zh-CN" sz="2000" b="1" dirty="0"/>
              <a:t>4MHz~16MHz</a:t>
            </a:r>
            <a:r>
              <a:rPr lang="zh-CN" altLang="en-US" sz="2000" dirty="0"/>
              <a:t>。</a:t>
            </a:r>
            <a:br>
              <a:rPr lang="zh-CN" altLang="en-US" sz="2000" dirty="0"/>
            </a:br>
            <a:r>
              <a:rPr lang="zh-CN" altLang="en-US" sz="2000" dirty="0"/>
              <a:t>③、</a:t>
            </a:r>
            <a:r>
              <a:rPr lang="en-US" altLang="zh-CN" sz="2000" dirty="0"/>
              <a:t>LSI</a:t>
            </a:r>
            <a:r>
              <a:rPr lang="zh-CN" altLang="en-US" sz="2000" dirty="0"/>
              <a:t>是低速内部时钟，</a:t>
            </a:r>
            <a:r>
              <a:rPr lang="en-US" altLang="zh-CN" sz="2000" dirty="0"/>
              <a:t>RC</a:t>
            </a:r>
            <a:r>
              <a:rPr lang="zh-CN" altLang="en-US" sz="2000" dirty="0"/>
              <a:t>振荡器，频率为</a:t>
            </a:r>
            <a:r>
              <a:rPr lang="en-US" altLang="zh-CN" sz="2000" dirty="0"/>
              <a:t>40kHz</a:t>
            </a:r>
            <a:r>
              <a:rPr lang="zh-CN" altLang="en-US" sz="2000" dirty="0"/>
              <a:t>，提供低功耗时钟。　 </a:t>
            </a:r>
            <a:br>
              <a:rPr lang="zh-CN" altLang="en-US" sz="2000" dirty="0"/>
            </a:br>
            <a:r>
              <a:rPr lang="zh-CN" altLang="en-US" sz="2000" dirty="0"/>
              <a:t>④、</a:t>
            </a:r>
            <a:r>
              <a:rPr lang="en-US" altLang="zh-CN" sz="2000" dirty="0"/>
              <a:t>LSE</a:t>
            </a:r>
            <a:r>
              <a:rPr lang="zh-CN" altLang="en-US" sz="2000" dirty="0"/>
              <a:t>是低速外部时钟，接频率为</a:t>
            </a:r>
            <a:r>
              <a:rPr lang="en-US" altLang="zh-CN" sz="2000" dirty="0"/>
              <a:t>32.768kHz</a:t>
            </a:r>
            <a:r>
              <a:rPr lang="zh-CN" altLang="en-US" sz="2000" dirty="0"/>
              <a:t>的石英晶体。</a:t>
            </a:r>
            <a:endParaRPr lang="en-US" altLang="zh-CN" sz="2000" dirty="0"/>
          </a:p>
          <a:p>
            <a:pPr>
              <a:lnSpc>
                <a:spcPct val="150000"/>
              </a:lnSpc>
            </a:pPr>
            <a:r>
              <a:rPr lang="zh-CN" altLang="en-US" sz="2000" b="1" dirty="0"/>
              <a:t>其中</a:t>
            </a:r>
            <a:r>
              <a:rPr lang="en-US" altLang="zh-CN" sz="2000" b="1" dirty="0"/>
              <a:t>LSI</a:t>
            </a:r>
            <a:r>
              <a:rPr lang="zh-CN" altLang="en-US" sz="2000" b="1" dirty="0"/>
              <a:t>是作为</a:t>
            </a:r>
            <a:r>
              <a:rPr lang="en-US" altLang="zh-CN" sz="2000" b="1" dirty="0"/>
              <a:t>IWDGCLK(</a:t>
            </a:r>
            <a:r>
              <a:rPr lang="zh-CN" altLang="en-US" sz="2000" b="1" dirty="0"/>
              <a:t>独立看门狗</a:t>
            </a:r>
            <a:r>
              <a:rPr lang="en-US" altLang="zh-CN" sz="2000" b="1" dirty="0"/>
              <a:t>)</a:t>
            </a:r>
            <a:r>
              <a:rPr lang="zh-CN" altLang="en-US" sz="2000" b="1" dirty="0"/>
              <a:t>时钟源和</a:t>
            </a:r>
            <a:r>
              <a:rPr lang="en-US" altLang="zh-CN" sz="2000" b="1" dirty="0"/>
              <a:t>RTC</a:t>
            </a:r>
            <a:r>
              <a:rPr lang="zh-CN" altLang="en-US" sz="2000" b="1" dirty="0"/>
              <a:t>时钟源</a:t>
            </a:r>
            <a:r>
              <a:rPr lang="zh-CN" altLang="en-US" sz="2000" dirty="0"/>
              <a:t> </a:t>
            </a:r>
            <a:r>
              <a:rPr lang="zh-CN" altLang="en-US" sz="2000" b="1" dirty="0"/>
              <a:t>而独立使用</a:t>
            </a:r>
            <a:endParaRPr lang="en-US" altLang="zh-CN" sz="2000" b="1" dirty="0"/>
          </a:p>
          <a:p>
            <a:pPr>
              <a:lnSpc>
                <a:spcPct val="150000"/>
              </a:lnSpc>
            </a:pPr>
            <a:r>
              <a:rPr lang="zh-CN" altLang="en-US" sz="2000" b="1" dirty="0"/>
              <a:t>而</a:t>
            </a:r>
            <a:r>
              <a:rPr lang="en-US" altLang="zh-CN" sz="2000" b="1" dirty="0">
                <a:solidFill>
                  <a:srgbClr val="FF0000"/>
                </a:solidFill>
              </a:rPr>
              <a:t>HSI</a:t>
            </a:r>
            <a:r>
              <a:rPr lang="zh-CN" altLang="en-US" sz="2000" b="1" dirty="0">
                <a:solidFill>
                  <a:srgbClr val="FF0000"/>
                </a:solidFill>
              </a:rPr>
              <a:t>高速内部时钟、</a:t>
            </a:r>
            <a:r>
              <a:rPr lang="en-US" altLang="zh-CN" sz="2000" b="1" dirty="0">
                <a:solidFill>
                  <a:srgbClr val="FF0000"/>
                </a:solidFill>
              </a:rPr>
              <a:t>HSE</a:t>
            </a:r>
            <a:r>
              <a:rPr lang="zh-CN" altLang="en-US" sz="2000" b="1" dirty="0">
                <a:solidFill>
                  <a:srgbClr val="FF0000"/>
                </a:solidFill>
              </a:rPr>
              <a:t>高速外部时钟、</a:t>
            </a:r>
            <a:r>
              <a:rPr lang="en-US" altLang="zh-CN" sz="2000" b="1" dirty="0">
                <a:solidFill>
                  <a:srgbClr val="FF0000"/>
                </a:solidFill>
              </a:rPr>
              <a:t>PLL</a:t>
            </a:r>
            <a:r>
              <a:rPr lang="zh-CN" altLang="en-US" sz="2000" b="1" dirty="0">
                <a:solidFill>
                  <a:srgbClr val="FF0000"/>
                </a:solidFill>
              </a:rPr>
              <a:t>锁相环时钟这三个经过分频或者倍频作为系统时钟来使用</a:t>
            </a:r>
            <a:endParaRPr lang="en-US" altLang="zh-CN" sz="2000" b="1" dirty="0">
              <a:solidFill>
                <a:srgbClr val="FF0000"/>
              </a:solidFill>
            </a:endParaRPr>
          </a:p>
          <a:p>
            <a:pPr>
              <a:lnSpc>
                <a:spcPct val="150000"/>
              </a:lnSpc>
            </a:pPr>
            <a:r>
              <a:rPr lang="en-US" altLang="zh-CN" sz="2000" dirty="0"/>
              <a:t>PLL</a:t>
            </a:r>
            <a:r>
              <a:rPr lang="zh-CN" altLang="en-US" sz="2000" dirty="0"/>
              <a:t>为锁相环倍频输出，其时钟输入源可选择为</a:t>
            </a:r>
            <a:r>
              <a:rPr lang="en-US" altLang="zh-CN" sz="2000" b="1" dirty="0"/>
              <a:t>HSI/2</a:t>
            </a:r>
            <a:r>
              <a:rPr lang="zh-CN" altLang="en-US" sz="2000" b="1" dirty="0"/>
              <a:t>、</a:t>
            </a:r>
            <a:r>
              <a:rPr lang="en-US" altLang="zh-CN" sz="2000" b="1" dirty="0"/>
              <a:t>HSE</a:t>
            </a:r>
            <a:r>
              <a:rPr lang="zh-CN" altLang="en-US" sz="2000" b="1" dirty="0"/>
              <a:t>或者</a:t>
            </a:r>
            <a:r>
              <a:rPr lang="en-US" altLang="zh-CN" sz="2000" b="1" dirty="0"/>
              <a:t>HSE/2</a:t>
            </a:r>
            <a:r>
              <a:rPr lang="zh-CN" altLang="en-US" sz="2000" dirty="0"/>
              <a:t>。倍频可选择为</a:t>
            </a:r>
            <a:r>
              <a:rPr lang="en-US" altLang="zh-CN" sz="2000" b="1" dirty="0"/>
              <a:t>2~16</a:t>
            </a:r>
            <a:r>
              <a:rPr lang="zh-CN" altLang="en-US" sz="2000" dirty="0"/>
              <a:t>倍，但是其输出频率最大不得超过</a:t>
            </a:r>
            <a:r>
              <a:rPr lang="en-US" altLang="zh-CN" sz="2000" dirty="0"/>
              <a:t>72MHz</a:t>
            </a:r>
            <a:r>
              <a:rPr lang="zh-CN" altLang="en-US" sz="2000" dirty="0"/>
              <a:t>。  </a:t>
            </a:r>
            <a:r>
              <a:rPr lang="zh-CN" altLang="en-US" sz="2000" b="1" dirty="0"/>
              <a:t>通过倍频之后作为系统时钟的时钟源</a:t>
            </a:r>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855305" y="844335"/>
            <a:ext cx="10192139" cy="3970318"/>
          </a:xfrm>
          <a:prstGeom prst="rect">
            <a:avLst/>
          </a:prstGeom>
        </p:spPr>
        <p:txBody>
          <a:bodyPr wrap="square">
            <a:spAutoFit/>
          </a:bodyPr>
          <a:lstStyle/>
          <a:p>
            <a:pPr>
              <a:lnSpc>
                <a:spcPct val="150000"/>
              </a:lnSpc>
            </a:pPr>
            <a:r>
              <a:rPr lang="zh-CN" altLang="en-US" sz="2400" b="1" dirty="0">
                <a:solidFill>
                  <a:srgbClr val="FF0000"/>
                </a:solidFill>
              </a:rPr>
              <a:t>例：</a:t>
            </a:r>
            <a:r>
              <a:rPr lang="en-US" altLang="zh-CN" sz="2400" dirty="0" err="1"/>
              <a:t>Keil</a:t>
            </a:r>
            <a:r>
              <a:rPr lang="zh-CN" altLang="en-US" sz="2400" dirty="0"/>
              <a:t>编写程序是默认的时钟为</a:t>
            </a:r>
            <a:r>
              <a:rPr lang="en-US" altLang="zh-CN" sz="2400" dirty="0"/>
              <a:t>72Mhz</a:t>
            </a:r>
            <a:r>
              <a:rPr lang="zh-CN" altLang="en-US" sz="2400" dirty="0"/>
              <a:t>，其实是这么来的：外部晶振</a:t>
            </a:r>
            <a:r>
              <a:rPr lang="en-US" altLang="zh-CN" sz="2400" dirty="0"/>
              <a:t>(</a:t>
            </a:r>
            <a:r>
              <a:rPr lang="en-US" altLang="zh-CN" sz="2400" b="1" dirty="0"/>
              <a:t>HSE</a:t>
            </a:r>
            <a:r>
              <a:rPr lang="en-US" altLang="zh-CN" sz="2400" dirty="0"/>
              <a:t>)</a:t>
            </a:r>
            <a:r>
              <a:rPr lang="zh-CN" altLang="en-US" sz="2400" dirty="0"/>
              <a:t>提供的</a:t>
            </a:r>
            <a:r>
              <a:rPr lang="en-US" altLang="zh-CN" sz="2400" dirty="0"/>
              <a:t>8MHz</a:t>
            </a:r>
            <a:r>
              <a:rPr lang="zh-CN" altLang="en-US" sz="2400" dirty="0"/>
              <a:t>（与电路板上的晶振的相关）通过</a:t>
            </a:r>
            <a:r>
              <a:rPr lang="en-US" altLang="zh-CN" sz="2400" b="1" dirty="0"/>
              <a:t>PLLXTPRE</a:t>
            </a:r>
            <a:r>
              <a:rPr lang="zh-CN" altLang="en-US" sz="2400" b="1" dirty="0"/>
              <a:t>分频器</a:t>
            </a:r>
            <a:r>
              <a:rPr lang="zh-CN" altLang="en-US" sz="2400" dirty="0"/>
              <a:t>后，进入</a:t>
            </a:r>
            <a:r>
              <a:rPr lang="en-US" altLang="zh-CN" sz="2400" b="1" dirty="0"/>
              <a:t>PLLSRC</a:t>
            </a:r>
            <a:r>
              <a:rPr lang="zh-CN" altLang="en-US" sz="2400" b="1" dirty="0"/>
              <a:t>选择开关</a:t>
            </a:r>
            <a:r>
              <a:rPr lang="zh-CN" altLang="en-US" sz="2400" dirty="0"/>
              <a:t>，进而通过</a:t>
            </a:r>
            <a:r>
              <a:rPr lang="en-US" altLang="zh-CN" sz="2400" b="1" dirty="0"/>
              <a:t>PLLMUL</a:t>
            </a:r>
            <a:r>
              <a:rPr lang="zh-CN" altLang="en-US" sz="2400" b="1" dirty="0"/>
              <a:t>锁相环</a:t>
            </a:r>
            <a:r>
              <a:rPr lang="zh-CN" altLang="en-US" sz="2400" dirty="0"/>
              <a:t>进行倍频（</a:t>
            </a:r>
            <a:r>
              <a:rPr lang="en-US" altLang="zh-CN" sz="2400" dirty="0"/>
              <a:t>x9</a:t>
            </a:r>
            <a:r>
              <a:rPr lang="zh-CN" altLang="en-US" sz="2400" dirty="0"/>
              <a:t>）后，为系统提供</a:t>
            </a:r>
            <a:r>
              <a:rPr lang="en-US" altLang="zh-CN" sz="2400" dirty="0"/>
              <a:t>72MHz</a:t>
            </a:r>
            <a:r>
              <a:rPr lang="zh-CN" altLang="en-US" sz="2400" dirty="0"/>
              <a:t>的系统时钟（</a:t>
            </a:r>
            <a:r>
              <a:rPr lang="en-US" altLang="zh-CN" sz="2400" dirty="0"/>
              <a:t>SYSCLK</a:t>
            </a:r>
            <a:r>
              <a:rPr lang="zh-CN" altLang="en-US" sz="2400" dirty="0"/>
              <a:t>）。之后是</a:t>
            </a:r>
            <a:r>
              <a:rPr lang="en-US" altLang="zh-CN" sz="2400" dirty="0"/>
              <a:t>AHB</a:t>
            </a:r>
            <a:r>
              <a:rPr lang="zh-CN" altLang="en-US" sz="2400" dirty="0"/>
              <a:t>预分频器对时钟信号进行分频，然后为低速外设提供时钟。</a:t>
            </a:r>
            <a:endParaRPr lang="en-US" altLang="zh-CN" sz="2400" dirty="0"/>
          </a:p>
          <a:p>
            <a:pPr>
              <a:lnSpc>
                <a:spcPct val="150000"/>
              </a:lnSpc>
            </a:pPr>
            <a:r>
              <a:rPr lang="zh-CN" altLang="en-US" sz="2400" dirty="0"/>
              <a:t>或者</a:t>
            </a:r>
            <a:r>
              <a:rPr lang="zh-CN" altLang="en-US" sz="2400" b="1" dirty="0"/>
              <a:t>内部</a:t>
            </a:r>
            <a:r>
              <a:rPr lang="en-US" altLang="zh-CN" sz="2400" b="1" dirty="0"/>
              <a:t>RC</a:t>
            </a:r>
            <a:r>
              <a:rPr lang="zh-CN" altLang="en-US" sz="2400" b="1" dirty="0"/>
              <a:t>振荡器</a:t>
            </a:r>
            <a:r>
              <a:rPr lang="en-US" altLang="zh-CN" sz="2400" b="1" dirty="0"/>
              <a:t>(HSI) </a:t>
            </a:r>
            <a:r>
              <a:rPr lang="zh-CN" altLang="en-US" sz="2400" b="1" dirty="0"/>
              <a:t>为</a:t>
            </a:r>
            <a:r>
              <a:rPr lang="en-US" altLang="zh-CN" sz="2400" dirty="0"/>
              <a:t>8MHz  /2 </a:t>
            </a:r>
            <a:r>
              <a:rPr lang="zh-CN" altLang="en-US" sz="2400" dirty="0"/>
              <a:t>为</a:t>
            </a:r>
            <a:r>
              <a:rPr lang="en-US" altLang="zh-CN" sz="2400" dirty="0"/>
              <a:t>4MHz </a:t>
            </a:r>
            <a:r>
              <a:rPr lang="zh-CN" altLang="en-US" sz="2400" dirty="0"/>
              <a:t>进入</a:t>
            </a:r>
            <a:r>
              <a:rPr lang="en-US" altLang="zh-CN" sz="2400" b="1" dirty="0"/>
              <a:t>PLLSRC</a:t>
            </a:r>
            <a:r>
              <a:rPr lang="zh-CN" altLang="en-US" sz="2400" b="1" dirty="0"/>
              <a:t>选择开关</a:t>
            </a:r>
            <a:r>
              <a:rPr lang="zh-CN" altLang="en-US" sz="2400" dirty="0"/>
              <a:t>，通过</a:t>
            </a:r>
            <a:r>
              <a:rPr lang="en-US" altLang="zh-CN" sz="2400" b="1" dirty="0"/>
              <a:t>PLLMUL</a:t>
            </a:r>
            <a:r>
              <a:rPr lang="zh-CN" altLang="en-US" sz="2400" b="1" dirty="0"/>
              <a:t>锁相环</a:t>
            </a:r>
            <a:r>
              <a:rPr lang="zh-CN" altLang="en-US" sz="2400" dirty="0"/>
              <a:t>进行倍频（</a:t>
            </a:r>
            <a:r>
              <a:rPr lang="en-US" altLang="zh-CN" sz="2400" dirty="0"/>
              <a:t>x18</a:t>
            </a:r>
            <a:r>
              <a:rPr lang="zh-CN" altLang="en-US" sz="2400" dirty="0"/>
              <a:t>）后 为</a:t>
            </a:r>
            <a:r>
              <a:rPr lang="en-US" altLang="zh-CN" sz="2400" dirty="0"/>
              <a:t>72MHz</a:t>
            </a:r>
            <a:endParaRPr lang="zh-CN"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a:spLocks/>
          </p:cNvSpPr>
          <p:nvPr/>
        </p:nvSpPr>
        <p:spPr>
          <a:xfrm>
            <a:off x="630748" y="436783"/>
            <a:ext cx="10058400" cy="4023360"/>
          </a:xfrm>
          <a:prstGeom prst="rect">
            <a:avLst/>
          </a:prstGeom>
        </p:spPr>
        <p:txBody>
          <a:bodyPr/>
          <a:lstStyle/>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chemeClr val="tx1"/>
              </a:solidFill>
              <a:effectLst/>
              <a:uLnTx/>
              <a:uFillTx/>
              <a:latin typeface="+mn-lt"/>
              <a:ea typeface="+mn-ea"/>
              <a:cs typeface="+mn-cs"/>
            </a:endParaRPr>
          </a:p>
        </p:txBody>
      </p:sp>
      <p:sp>
        <p:nvSpPr>
          <p:cNvPr id="99329" name="Rectangle 1"/>
          <p:cNvSpPr>
            <a:spLocks noChangeArrowheads="1"/>
          </p:cNvSpPr>
          <p:nvPr/>
        </p:nvSpPr>
        <p:spPr bwMode="auto">
          <a:xfrm>
            <a:off x="429209" y="503835"/>
            <a:ext cx="10649069" cy="464191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a:lnSpc>
                <a:spcPct val="150000"/>
              </a:lnSpc>
            </a:pPr>
            <a:r>
              <a:rPr lang="zh-CN" altLang="en-US" sz="3200" b="1" dirty="0">
                <a:solidFill>
                  <a:srgbClr val="7030A0"/>
                </a:solidFill>
              </a:rPr>
              <a:t>系统时钟</a:t>
            </a:r>
            <a:r>
              <a:rPr lang="en-US" sz="3200" b="1" dirty="0">
                <a:solidFill>
                  <a:srgbClr val="7030A0"/>
                </a:solidFill>
              </a:rPr>
              <a:t>SYSCLK</a:t>
            </a:r>
          </a:p>
          <a:p>
            <a:pPr>
              <a:lnSpc>
                <a:spcPct val="150000"/>
              </a:lnSpc>
            </a:pPr>
            <a:r>
              <a:rPr lang="zh-CN" altLang="en-US" sz="2400" dirty="0"/>
              <a:t>大部分外设时钟都是用的高速时钟。系统内核和外设时钟的时钟只有一个源，</a:t>
            </a:r>
            <a:endParaRPr lang="en-US" altLang="zh-CN" sz="2400" dirty="0"/>
          </a:p>
          <a:p>
            <a:pPr>
              <a:lnSpc>
                <a:spcPct val="150000"/>
              </a:lnSpc>
            </a:pPr>
            <a:r>
              <a:rPr lang="zh-CN" altLang="en-US" sz="2400" dirty="0"/>
              <a:t>那就是</a:t>
            </a:r>
            <a:r>
              <a:rPr lang="en-US" altLang="zh-CN" sz="2400" dirty="0"/>
              <a:t>SYSCLK</a:t>
            </a:r>
            <a:r>
              <a:rPr lang="zh-CN" altLang="en-US" sz="2400" dirty="0"/>
              <a:t>， 即常说的系统时钟，系统时钟</a:t>
            </a:r>
            <a:r>
              <a:rPr lang="en-US" altLang="zh-CN" sz="2400" dirty="0"/>
              <a:t>SYSCLK</a:t>
            </a:r>
            <a:r>
              <a:rPr lang="zh-CN" altLang="en-US" sz="2400" dirty="0"/>
              <a:t>可来源于三个时钟</a:t>
            </a:r>
            <a:endParaRPr lang="en-US" altLang="zh-CN" sz="2400" dirty="0"/>
          </a:p>
          <a:p>
            <a:pPr>
              <a:lnSpc>
                <a:spcPct val="150000"/>
              </a:lnSpc>
            </a:pPr>
            <a:r>
              <a:rPr lang="zh-CN" altLang="en-US" sz="2400" dirty="0"/>
              <a:t>源，由一个选择器</a:t>
            </a:r>
            <a:r>
              <a:rPr lang="en-US" altLang="zh-CN" sz="2400" dirty="0"/>
              <a:t>SW</a:t>
            </a:r>
            <a:r>
              <a:rPr lang="zh-CN" altLang="en-US" sz="2400" dirty="0"/>
              <a:t>来做选择：</a:t>
            </a:r>
            <a:br>
              <a:rPr lang="zh-CN" altLang="en-US" sz="2400" dirty="0"/>
            </a:br>
            <a:r>
              <a:rPr lang="zh-CN" altLang="en-US" sz="2400" dirty="0"/>
              <a:t>①、</a:t>
            </a:r>
            <a:r>
              <a:rPr lang="en-US" altLang="zh-CN" sz="2400" dirty="0"/>
              <a:t>HSI</a:t>
            </a:r>
            <a:r>
              <a:rPr lang="zh-CN" altLang="en-US" sz="2400" dirty="0"/>
              <a:t>振荡器时钟</a:t>
            </a:r>
            <a:br>
              <a:rPr lang="zh-CN" altLang="en-US" sz="2400" dirty="0"/>
            </a:br>
            <a:r>
              <a:rPr lang="zh-CN" altLang="en-US" sz="2400" dirty="0"/>
              <a:t>②、</a:t>
            </a:r>
            <a:r>
              <a:rPr lang="en-US" altLang="zh-CN" sz="2400" dirty="0"/>
              <a:t>HSE</a:t>
            </a:r>
            <a:r>
              <a:rPr lang="zh-CN" altLang="en-US" sz="2400" dirty="0"/>
              <a:t>振荡器时钟</a:t>
            </a:r>
            <a:br>
              <a:rPr lang="zh-CN" altLang="en-US" sz="2400" dirty="0"/>
            </a:br>
            <a:r>
              <a:rPr lang="zh-CN" altLang="en-US" sz="2400" dirty="0"/>
              <a:t>③、</a:t>
            </a:r>
            <a:r>
              <a:rPr lang="en-US" altLang="zh-CN" sz="2400" dirty="0"/>
              <a:t>PLL</a:t>
            </a:r>
            <a:r>
              <a:rPr lang="zh-CN" altLang="en-US" sz="2400" dirty="0"/>
              <a:t>时钟</a:t>
            </a:r>
            <a:br>
              <a:rPr lang="zh-CN" altLang="en-US" sz="2400" dirty="0"/>
            </a:br>
            <a:r>
              <a:rPr lang="zh-CN" altLang="en-US" sz="2400" dirty="0"/>
              <a:t>最大为</a:t>
            </a:r>
            <a:r>
              <a:rPr lang="en-US" altLang="zh-CN" sz="2400" dirty="0"/>
              <a:t>72Mhz</a:t>
            </a:r>
            <a:endParaRPr lang="en-US" sz="2400" b="1" dirty="0"/>
          </a:p>
        </p:txBody>
      </p:sp>
      <p:pic>
        <p:nvPicPr>
          <p:cNvPr id="3074" name="Picture 2"/>
          <p:cNvPicPr>
            <a:picLocks noChangeAspect="1" noChangeArrowheads="1"/>
          </p:cNvPicPr>
          <p:nvPr/>
        </p:nvPicPr>
        <p:blipFill>
          <a:blip r:embed="rId2"/>
          <a:srcRect/>
          <a:stretch>
            <a:fillRect/>
          </a:stretch>
        </p:blipFill>
        <p:spPr bwMode="auto">
          <a:xfrm>
            <a:off x="5351300" y="2433716"/>
            <a:ext cx="3624749" cy="3624749"/>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6098" y="599707"/>
            <a:ext cx="11246498" cy="2950551"/>
          </a:xfrm>
          <a:prstGeom prst="rect">
            <a:avLst/>
          </a:prstGeom>
        </p:spPr>
        <p:txBody>
          <a:bodyPr wrap="square">
            <a:spAutoFit/>
          </a:bodyPr>
          <a:lstStyle/>
          <a:p>
            <a:pPr>
              <a:lnSpc>
                <a:spcPct val="150000"/>
              </a:lnSpc>
            </a:pPr>
            <a:r>
              <a:rPr lang="en-US" b="1" dirty="0">
                <a:solidFill>
                  <a:srgbClr val="7030A0"/>
                </a:solidFill>
              </a:rPr>
              <a:t>USB</a:t>
            </a:r>
            <a:r>
              <a:rPr lang="zh-CN" altLang="en-US" b="1" dirty="0">
                <a:solidFill>
                  <a:srgbClr val="7030A0"/>
                </a:solidFill>
              </a:rPr>
              <a:t>时钟</a:t>
            </a:r>
            <a:endParaRPr lang="en-US" altLang="zh-CN" b="1" dirty="0">
              <a:solidFill>
                <a:srgbClr val="7030A0"/>
              </a:solidFill>
            </a:endParaRPr>
          </a:p>
          <a:p>
            <a:pPr>
              <a:lnSpc>
                <a:spcPct val="150000"/>
              </a:lnSpc>
            </a:pPr>
            <a:r>
              <a:rPr lang="en-US" altLang="zh-CN" dirty="0"/>
              <a:t>      STM32</a:t>
            </a:r>
            <a:r>
              <a:rPr lang="zh-CN" altLang="en-US" dirty="0"/>
              <a:t>中有一个全速功能的</a:t>
            </a:r>
            <a:r>
              <a:rPr lang="en-US" altLang="zh-CN" dirty="0"/>
              <a:t>USB</a:t>
            </a:r>
            <a:r>
              <a:rPr lang="zh-CN" altLang="en-US" dirty="0"/>
              <a:t>模块，其串行接口引擎需要一个频率为</a:t>
            </a:r>
            <a:r>
              <a:rPr lang="en-US" altLang="zh-CN" dirty="0"/>
              <a:t>48MHz</a:t>
            </a:r>
            <a:r>
              <a:rPr lang="zh-CN" altLang="en-US" dirty="0"/>
              <a:t>的时钟源。该时钟源只能从</a:t>
            </a:r>
            <a:r>
              <a:rPr lang="en-US" altLang="zh-CN" dirty="0"/>
              <a:t>PLL</a:t>
            </a:r>
            <a:r>
              <a:rPr lang="zh-CN" altLang="en-US" dirty="0"/>
              <a:t>输出端获取（唯一的），，可以选择为</a:t>
            </a:r>
            <a:r>
              <a:rPr lang="en-US" altLang="zh-CN" dirty="0"/>
              <a:t>1.5</a:t>
            </a:r>
            <a:r>
              <a:rPr lang="zh-CN" altLang="en-US" dirty="0"/>
              <a:t>分频或者</a:t>
            </a:r>
            <a:r>
              <a:rPr lang="en-US" altLang="zh-CN" dirty="0"/>
              <a:t>1</a:t>
            </a:r>
            <a:r>
              <a:rPr lang="zh-CN" altLang="en-US" dirty="0"/>
              <a:t>分频，也就是，当需要使用</a:t>
            </a:r>
            <a:r>
              <a:rPr lang="en-US" altLang="zh-CN" dirty="0"/>
              <a:t>USB</a:t>
            </a:r>
            <a:r>
              <a:rPr lang="zh-CN" altLang="en-US" dirty="0"/>
              <a:t>模块时，</a:t>
            </a:r>
            <a:r>
              <a:rPr lang="en-US" altLang="zh-CN" dirty="0"/>
              <a:t>PLL</a:t>
            </a:r>
            <a:r>
              <a:rPr lang="zh-CN" altLang="en-US" dirty="0"/>
              <a:t>必须使能，并且时钟频率配置为</a:t>
            </a:r>
            <a:r>
              <a:rPr lang="en-US" altLang="zh-CN" dirty="0"/>
              <a:t>48MHz</a:t>
            </a:r>
            <a:r>
              <a:rPr lang="zh-CN" altLang="en-US" dirty="0"/>
              <a:t>或</a:t>
            </a:r>
            <a:r>
              <a:rPr lang="en-US" altLang="zh-CN" dirty="0"/>
              <a:t>72MHz</a:t>
            </a:r>
          </a:p>
          <a:p>
            <a:pPr>
              <a:lnSpc>
                <a:spcPct val="150000"/>
              </a:lnSpc>
            </a:pPr>
            <a:r>
              <a:rPr lang="zh-CN" altLang="en-US" b="1" dirty="0">
                <a:solidFill>
                  <a:srgbClr val="7030A0"/>
                </a:solidFill>
              </a:rPr>
              <a:t>时钟信号输出</a:t>
            </a:r>
            <a:endParaRPr lang="en-US" altLang="zh-CN" b="1" dirty="0">
              <a:solidFill>
                <a:srgbClr val="7030A0"/>
              </a:solidFill>
            </a:endParaRPr>
          </a:p>
          <a:p>
            <a:pPr>
              <a:lnSpc>
                <a:spcPct val="150000"/>
              </a:lnSpc>
            </a:pPr>
            <a:r>
              <a:rPr lang="zh-CN" altLang="en-US" dirty="0"/>
              <a:t>另外，</a:t>
            </a:r>
            <a:r>
              <a:rPr lang="en-US" altLang="zh-CN" dirty="0"/>
              <a:t>STM32</a:t>
            </a:r>
            <a:r>
              <a:rPr lang="zh-CN" altLang="en-US" dirty="0"/>
              <a:t>还可以选择一个时钟信号输出到</a:t>
            </a:r>
            <a:r>
              <a:rPr lang="en-US" altLang="zh-CN" dirty="0"/>
              <a:t>MCO</a:t>
            </a:r>
            <a:r>
              <a:rPr lang="zh-CN" altLang="en-US" dirty="0"/>
              <a:t>脚</a:t>
            </a:r>
            <a:r>
              <a:rPr lang="en-US" altLang="zh-CN" dirty="0"/>
              <a:t>(PA8)</a:t>
            </a:r>
            <a:r>
              <a:rPr lang="zh-CN" altLang="en-US" dirty="0"/>
              <a:t>上，可以选择为</a:t>
            </a:r>
            <a:r>
              <a:rPr lang="en-US" altLang="zh-CN" dirty="0"/>
              <a:t>PLL</a:t>
            </a:r>
            <a:r>
              <a:rPr lang="zh-CN" altLang="en-US" dirty="0"/>
              <a:t>输出的</a:t>
            </a:r>
            <a:r>
              <a:rPr lang="en-US" altLang="zh-CN" dirty="0"/>
              <a:t>2</a:t>
            </a:r>
            <a:r>
              <a:rPr lang="zh-CN" altLang="en-US" dirty="0"/>
              <a:t>分频、</a:t>
            </a:r>
            <a:r>
              <a:rPr lang="en-US" altLang="zh-CN" dirty="0"/>
              <a:t>HSI</a:t>
            </a:r>
            <a:r>
              <a:rPr lang="zh-CN" altLang="en-US" dirty="0"/>
              <a:t>、</a:t>
            </a:r>
            <a:r>
              <a:rPr lang="en-US" altLang="zh-CN" dirty="0"/>
              <a:t>HSE</a:t>
            </a:r>
            <a:r>
              <a:rPr lang="zh-CN" altLang="en-US" dirty="0"/>
              <a:t>、或者系统时钟。</a:t>
            </a:r>
            <a:endParaRPr lang="zh-CN" altLang="en-US" b="1" dirty="0"/>
          </a:p>
        </p:txBody>
      </p:sp>
      <p:pic>
        <p:nvPicPr>
          <p:cNvPr id="4099" name="Picture 3"/>
          <p:cNvPicPr>
            <a:picLocks noChangeAspect="1" noChangeArrowheads="1"/>
          </p:cNvPicPr>
          <p:nvPr/>
        </p:nvPicPr>
        <p:blipFill>
          <a:blip r:embed="rId2"/>
          <a:srcRect/>
          <a:stretch>
            <a:fillRect/>
          </a:stretch>
        </p:blipFill>
        <p:spPr bwMode="auto">
          <a:xfrm>
            <a:off x="1120840" y="3855196"/>
            <a:ext cx="3992336" cy="1815307"/>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5919107" y="3140722"/>
            <a:ext cx="4910942" cy="3232085"/>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1"/>
          <p:cNvSpPr>
            <a:spLocks noChangeArrowheads="1"/>
          </p:cNvSpPr>
          <p:nvPr/>
        </p:nvSpPr>
        <p:spPr bwMode="auto">
          <a:xfrm>
            <a:off x="326571" y="354553"/>
            <a:ext cx="6949659" cy="6555641"/>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indent="261938" fontAlgn="base">
              <a:lnSpc>
                <a:spcPct val="150000"/>
              </a:lnSpc>
              <a:spcBef>
                <a:spcPct val="0"/>
              </a:spcBef>
              <a:spcAft>
                <a:spcPct val="0"/>
              </a:spcAft>
            </a:pPr>
            <a:r>
              <a:rPr lang="zh-CN" altLang="en-US" sz="2000" b="1" dirty="0">
                <a:solidFill>
                  <a:srgbClr val="7030A0"/>
                </a:solidFill>
              </a:rPr>
              <a:t>系统时钟</a:t>
            </a:r>
            <a:r>
              <a:rPr lang="en-US" altLang="zh-CN" sz="2000" b="1" dirty="0">
                <a:solidFill>
                  <a:srgbClr val="7030A0"/>
                </a:solidFill>
              </a:rPr>
              <a:t>SYSCLK</a:t>
            </a:r>
            <a:r>
              <a:rPr lang="zh-CN" altLang="en-US" sz="2000" b="1" dirty="0">
                <a:solidFill>
                  <a:srgbClr val="7030A0"/>
                </a:solidFill>
              </a:rPr>
              <a:t>分配</a:t>
            </a:r>
            <a:endParaRPr lang="en-US" altLang="zh-CN" sz="2000" b="1" dirty="0">
              <a:solidFill>
                <a:srgbClr val="7030A0"/>
              </a:solidFill>
            </a:endParaRPr>
          </a:p>
          <a:p>
            <a:pPr lvl="0" indent="261938" fontAlgn="base">
              <a:lnSpc>
                <a:spcPct val="150000"/>
              </a:lnSpc>
              <a:spcBef>
                <a:spcPct val="0"/>
              </a:spcBef>
              <a:spcAft>
                <a:spcPct val="0"/>
              </a:spcAft>
            </a:pPr>
            <a:r>
              <a:rPr lang="zh-CN" altLang="en-US" sz="2000" dirty="0"/>
              <a:t>系统时钟</a:t>
            </a:r>
            <a:r>
              <a:rPr lang="en-US" altLang="zh-CN" sz="2000" dirty="0"/>
              <a:t>SYSCLK</a:t>
            </a:r>
            <a:r>
              <a:rPr lang="zh-CN" altLang="en-US" sz="2000" dirty="0"/>
              <a:t>，它是供</a:t>
            </a:r>
            <a:r>
              <a:rPr lang="en-US" altLang="zh-CN" sz="2000" dirty="0"/>
              <a:t>STM32</a:t>
            </a:r>
            <a:r>
              <a:rPr lang="zh-CN" altLang="en-US" sz="2000" dirty="0"/>
              <a:t>中绝大部分部件工作的</a:t>
            </a:r>
            <a:endParaRPr lang="en-US" altLang="zh-CN" sz="2000" dirty="0"/>
          </a:p>
          <a:p>
            <a:pPr lvl="0" indent="261938" fontAlgn="base">
              <a:lnSpc>
                <a:spcPct val="150000"/>
              </a:lnSpc>
              <a:spcBef>
                <a:spcPct val="0"/>
              </a:spcBef>
              <a:spcAft>
                <a:spcPct val="0"/>
              </a:spcAft>
            </a:pPr>
            <a:r>
              <a:rPr lang="zh-CN" altLang="en-US" sz="2000" dirty="0"/>
              <a:t>时钟源。系统时钟最大频率为</a:t>
            </a:r>
            <a:r>
              <a:rPr lang="en-US" altLang="zh-CN" sz="2000" dirty="0"/>
              <a:t>72MHz</a:t>
            </a:r>
            <a:r>
              <a:rPr lang="zh-CN" altLang="en-US" sz="2000" dirty="0"/>
              <a:t>，供给</a:t>
            </a:r>
            <a:r>
              <a:rPr lang="en-US" altLang="zh-CN" sz="2000" dirty="0"/>
              <a:t>I</a:t>
            </a:r>
            <a:r>
              <a:rPr lang="en-US" altLang="zh-CN" sz="2000" baseline="30000" dirty="0"/>
              <a:t>2</a:t>
            </a:r>
            <a:r>
              <a:rPr lang="en-US" altLang="zh-CN" sz="2000" dirty="0"/>
              <a:t>S</a:t>
            </a:r>
            <a:r>
              <a:rPr lang="zh-CN" altLang="en-US" sz="2000" dirty="0"/>
              <a:t>音频总线</a:t>
            </a:r>
            <a:endParaRPr lang="en-US" altLang="zh-CN" sz="2000" dirty="0"/>
          </a:p>
          <a:p>
            <a:pPr lvl="0" indent="261938" fontAlgn="base">
              <a:lnSpc>
                <a:spcPct val="150000"/>
              </a:lnSpc>
              <a:spcBef>
                <a:spcPct val="0"/>
              </a:spcBef>
              <a:spcAft>
                <a:spcPct val="0"/>
              </a:spcAft>
            </a:pPr>
            <a:r>
              <a:rPr lang="zh-CN" altLang="en-US" sz="2000" dirty="0"/>
              <a:t>和</a:t>
            </a:r>
            <a:r>
              <a:rPr lang="en-US" altLang="zh-CN" sz="2000" dirty="0"/>
              <a:t>AHB</a:t>
            </a:r>
            <a:r>
              <a:rPr lang="zh-CN" altLang="en-US" sz="2000" dirty="0"/>
              <a:t>总线时钟。它通过</a:t>
            </a:r>
            <a:r>
              <a:rPr lang="en-US" altLang="zh-CN" sz="2000" dirty="0"/>
              <a:t>AHB</a:t>
            </a:r>
            <a:r>
              <a:rPr lang="zh-CN" altLang="en-US" sz="2000" dirty="0"/>
              <a:t>分频器分频后送给各模块使</a:t>
            </a:r>
            <a:endParaRPr lang="en-US" altLang="zh-CN" sz="2000" dirty="0"/>
          </a:p>
          <a:p>
            <a:pPr lvl="0" indent="261938" fontAlgn="base">
              <a:lnSpc>
                <a:spcPct val="150000"/>
              </a:lnSpc>
              <a:spcBef>
                <a:spcPct val="0"/>
              </a:spcBef>
              <a:spcAft>
                <a:spcPct val="0"/>
              </a:spcAft>
            </a:pPr>
            <a:r>
              <a:rPr lang="zh-CN" altLang="en-US" sz="2000" dirty="0"/>
              <a:t>用，</a:t>
            </a:r>
            <a:r>
              <a:rPr lang="en-US" altLang="zh-CN" sz="2000" dirty="0"/>
              <a:t>AHB</a:t>
            </a:r>
            <a:r>
              <a:rPr lang="zh-CN" altLang="en-US" sz="2000" dirty="0"/>
              <a:t>分频器可选择</a:t>
            </a:r>
            <a:r>
              <a:rPr lang="en-US" altLang="zh-CN" sz="2000" dirty="0"/>
              <a:t>1</a:t>
            </a:r>
            <a:r>
              <a:rPr lang="zh-CN" altLang="en-US" sz="2000" dirty="0"/>
              <a:t>、</a:t>
            </a:r>
            <a:r>
              <a:rPr lang="en-US" altLang="zh-CN" sz="2000" dirty="0"/>
              <a:t>2</a:t>
            </a:r>
            <a:r>
              <a:rPr lang="zh-CN" altLang="en-US" sz="2000" dirty="0"/>
              <a:t>、</a:t>
            </a:r>
            <a:r>
              <a:rPr lang="en-US" altLang="zh-CN" sz="2000" dirty="0"/>
              <a:t>4</a:t>
            </a:r>
            <a:r>
              <a:rPr lang="zh-CN" altLang="en-US" sz="2000" dirty="0"/>
              <a:t>、</a:t>
            </a:r>
            <a:r>
              <a:rPr lang="en-US" altLang="zh-CN" sz="2000" dirty="0"/>
              <a:t>8</a:t>
            </a:r>
            <a:r>
              <a:rPr lang="zh-CN" altLang="en-US" sz="2000" dirty="0"/>
              <a:t>、</a:t>
            </a:r>
            <a:r>
              <a:rPr lang="en-US" altLang="zh-CN" sz="2000" dirty="0"/>
              <a:t>16</a:t>
            </a:r>
            <a:r>
              <a:rPr lang="zh-CN" altLang="en-US" sz="2000" dirty="0"/>
              <a:t>、</a:t>
            </a:r>
            <a:r>
              <a:rPr lang="en-US" altLang="zh-CN" sz="2000" dirty="0"/>
              <a:t>64</a:t>
            </a:r>
            <a:r>
              <a:rPr lang="zh-CN" altLang="en-US" sz="2000" dirty="0"/>
              <a:t>、</a:t>
            </a:r>
            <a:r>
              <a:rPr lang="en-US" altLang="zh-CN" sz="2000" dirty="0"/>
              <a:t>128</a:t>
            </a:r>
            <a:r>
              <a:rPr lang="zh-CN" altLang="en-US" sz="2000" dirty="0"/>
              <a:t>、</a:t>
            </a:r>
            <a:endParaRPr lang="en-US" altLang="zh-CN" sz="2000" dirty="0"/>
          </a:p>
          <a:p>
            <a:pPr lvl="0" indent="261938" fontAlgn="base">
              <a:lnSpc>
                <a:spcPct val="150000"/>
              </a:lnSpc>
              <a:spcBef>
                <a:spcPct val="0"/>
              </a:spcBef>
              <a:spcAft>
                <a:spcPct val="0"/>
              </a:spcAft>
            </a:pPr>
            <a:r>
              <a:rPr lang="en-US" altLang="zh-CN" sz="2000" dirty="0"/>
              <a:t>256</a:t>
            </a:r>
            <a:r>
              <a:rPr lang="zh-CN" altLang="en-US" sz="2000" dirty="0"/>
              <a:t>、</a:t>
            </a:r>
            <a:r>
              <a:rPr lang="en-US" altLang="zh-CN" sz="2000" dirty="0"/>
              <a:t>512</a:t>
            </a:r>
            <a:r>
              <a:rPr lang="zh-CN" altLang="en-US" sz="2000" dirty="0"/>
              <a:t>分频。其中</a:t>
            </a:r>
            <a:r>
              <a:rPr lang="en-US" altLang="zh-CN" sz="2000" dirty="0"/>
              <a:t>AHB</a:t>
            </a:r>
            <a:r>
              <a:rPr lang="zh-CN" altLang="en-US" sz="2000" dirty="0"/>
              <a:t>分频器输出的时钟送给</a:t>
            </a:r>
            <a:r>
              <a:rPr lang="en-US" altLang="zh-CN" sz="2000" dirty="0"/>
              <a:t>8</a:t>
            </a:r>
            <a:r>
              <a:rPr lang="zh-CN" altLang="en-US" sz="2000" dirty="0"/>
              <a:t>大模</a:t>
            </a:r>
            <a:endParaRPr lang="en-US" altLang="zh-CN" sz="2000" dirty="0"/>
          </a:p>
          <a:p>
            <a:pPr lvl="0" indent="261938" fontAlgn="base">
              <a:lnSpc>
                <a:spcPct val="150000"/>
              </a:lnSpc>
              <a:spcBef>
                <a:spcPct val="0"/>
              </a:spcBef>
              <a:spcAft>
                <a:spcPct val="0"/>
              </a:spcAft>
            </a:pPr>
            <a:r>
              <a:rPr lang="zh-CN" altLang="en-US" sz="2000" dirty="0"/>
              <a:t>块使用：</a:t>
            </a:r>
            <a:endParaRPr lang="en-US" altLang="zh-CN" sz="2000" dirty="0"/>
          </a:p>
          <a:p>
            <a:pPr>
              <a:lnSpc>
                <a:spcPct val="150000"/>
              </a:lnSpc>
            </a:pPr>
            <a:r>
              <a:rPr lang="zh-CN" altLang="en-US" sz="2000" dirty="0"/>
              <a:t>①、送给</a:t>
            </a:r>
            <a:r>
              <a:rPr lang="en-US" altLang="zh-CN" sz="2000" dirty="0"/>
              <a:t>AHB</a:t>
            </a:r>
            <a:r>
              <a:rPr lang="zh-CN" altLang="en-US" sz="2000" dirty="0"/>
              <a:t>总线、内核、内存和</a:t>
            </a:r>
            <a:r>
              <a:rPr lang="en-US" altLang="zh-CN" sz="2000" dirty="0"/>
              <a:t>DMA</a:t>
            </a:r>
            <a:r>
              <a:rPr lang="zh-CN" altLang="en-US" sz="2000" dirty="0"/>
              <a:t>使用的</a:t>
            </a:r>
            <a:r>
              <a:rPr lang="en-US" altLang="zh-CN" sz="2000" dirty="0"/>
              <a:t>HCLK</a:t>
            </a:r>
            <a:r>
              <a:rPr lang="zh-CN" altLang="en-US" sz="2000" dirty="0"/>
              <a:t>时钟。</a:t>
            </a:r>
          </a:p>
          <a:p>
            <a:pPr>
              <a:lnSpc>
                <a:spcPct val="150000"/>
              </a:lnSpc>
            </a:pPr>
            <a:r>
              <a:rPr lang="zh-CN" altLang="en-US" sz="2000" dirty="0"/>
              <a:t>②、通过</a:t>
            </a:r>
            <a:r>
              <a:rPr lang="en-US" altLang="zh-CN" sz="2000" dirty="0"/>
              <a:t>8</a:t>
            </a:r>
            <a:r>
              <a:rPr lang="zh-CN" altLang="en-US" sz="2000" dirty="0"/>
              <a:t>分频后送给</a:t>
            </a:r>
            <a:r>
              <a:rPr lang="en-US" altLang="zh-CN" sz="2000" dirty="0"/>
              <a:t>Cortex</a:t>
            </a:r>
            <a:r>
              <a:rPr lang="zh-CN" altLang="en-US" sz="2000" dirty="0"/>
              <a:t>的系统定时器时钟。</a:t>
            </a:r>
          </a:p>
          <a:p>
            <a:pPr>
              <a:lnSpc>
                <a:spcPct val="150000"/>
              </a:lnSpc>
            </a:pPr>
            <a:r>
              <a:rPr lang="zh-CN" altLang="en-US" sz="2000" dirty="0"/>
              <a:t>③、直接送给</a:t>
            </a:r>
            <a:r>
              <a:rPr lang="en-US" altLang="zh-CN" sz="2000" dirty="0"/>
              <a:t>Cortex</a:t>
            </a:r>
            <a:r>
              <a:rPr lang="zh-CN" altLang="en-US" sz="2000" dirty="0"/>
              <a:t>的空闲运行时钟</a:t>
            </a:r>
            <a:r>
              <a:rPr lang="en-US" altLang="zh-CN" sz="2000" dirty="0"/>
              <a:t>FCLK</a:t>
            </a:r>
            <a:r>
              <a:rPr lang="zh-CN" altLang="en-US" sz="2000" dirty="0"/>
              <a:t>。</a:t>
            </a:r>
            <a:endParaRPr lang="en-US" altLang="zh-CN" sz="2000" dirty="0"/>
          </a:p>
          <a:p>
            <a:pPr>
              <a:lnSpc>
                <a:spcPct val="150000"/>
              </a:lnSpc>
            </a:pPr>
            <a:r>
              <a:rPr lang="zh-CN" altLang="en-US" sz="2000" dirty="0"/>
              <a:t>④、送给</a:t>
            </a:r>
            <a:r>
              <a:rPr lang="en-US" altLang="zh-CN" sz="2000" dirty="0"/>
              <a:t>SDIO</a:t>
            </a:r>
            <a:r>
              <a:rPr lang="zh-CN" altLang="en-US" sz="2000" dirty="0"/>
              <a:t>使用的</a:t>
            </a:r>
            <a:r>
              <a:rPr lang="en-US" altLang="zh-CN" sz="2000" dirty="0"/>
              <a:t>SDIOCLK</a:t>
            </a:r>
            <a:r>
              <a:rPr lang="zh-CN" altLang="en-US" sz="2000" dirty="0"/>
              <a:t>时钟</a:t>
            </a:r>
            <a:endParaRPr lang="en-US" altLang="zh-CN" sz="2000" dirty="0"/>
          </a:p>
          <a:p>
            <a:pPr>
              <a:lnSpc>
                <a:spcPct val="150000"/>
              </a:lnSpc>
            </a:pPr>
            <a:r>
              <a:rPr lang="zh-CN" altLang="en-US" sz="2000" dirty="0"/>
              <a:t>⑤、送给</a:t>
            </a:r>
            <a:r>
              <a:rPr lang="en-US" altLang="zh-CN" sz="2000" dirty="0"/>
              <a:t>FSMC</a:t>
            </a:r>
            <a:r>
              <a:rPr lang="zh-CN" altLang="en-US" sz="2000" dirty="0"/>
              <a:t>使用的</a:t>
            </a:r>
            <a:r>
              <a:rPr lang="en-US" altLang="zh-CN" sz="2000" dirty="0"/>
              <a:t>FSMC</a:t>
            </a:r>
            <a:r>
              <a:rPr lang="zh-CN" altLang="en-US" sz="2000" dirty="0"/>
              <a:t>时钟</a:t>
            </a:r>
            <a:endParaRPr lang="en-US" altLang="zh-CN" sz="2000" dirty="0"/>
          </a:p>
          <a:p>
            <a:pPr>
              <a:lnSpc>
                <a:spcPct val="150000"/>
              </a:lnSpc>
            </a:pPr>
            <a:r>
              <a:rPr lang="en-US" altLang="zh-CN" sz="2000" dirty="0"/>
              <a:t>⑥ </a:t>
            </a:r>
            <a:r>
              <a:rPr lang="zh-CN" altLang="en-US" sz="2000" dirty="0"/>
              <a:t>、</a:t>
            </a:r>
            <a:r>
              <a:rPr lang="en-US" altLang="zh-CN" sz="2000" dirty="0"/>
              <a:t>2</a:t>
            </a:r>
            <a:r>
              <a:rPr lang="zh-CN" altLang="en-US" sz="2000" dirty="0"/>
              <a:t>分频后送给</a:t>
            </a:r>
            <a:r>
              <a:rPr lang="en-US" altLang="zh-CN" sz="2000" dirty="0"/>
              <a:t>SDIO AHB</a:t>
            </a:r>
            <a:r>
              <a:rPr lang="zh-CN" altLang="en-US" sz="2000" dirty="0"/>
              <a:t>接口使用</a:t>
            </a:r>
            <a:r>
              <a:rPr lang="en-US" altLang="zh-CN" sz="2000" dirty="0"/>
              <a:t>(HCLK/2)</a:t>
            </a:r>
            <a:endParaRPr lang="zh-CN" altLang="en-US" sz="2000" dirty="0"/>
          </a:p>
          <a:p>
            <a:pPr lvl="0" indent="261938" fontAlgn="base">
              <a:lnSpc>
                <a:spcPct val="150000"/>
              </a:lnSpc>
              <a:spcBef>
                <a:spcPct val="0"/>
              </a:spcBef>
              <a:spcAft>
                <a:spcPct val="0"/>
              </a:spcAft>
            </a:pPr>
            <a:endParaRPr kumimoji="0" lang="zh-CN" altLang="en-US" sz="20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pic>
        <p:nvPicPr>
          <p:cNvPr id="5122" name="Picture 2"/>
          <p:cNvPicPr>
            <a:picLocks noChangeAspect="1" noChangeArrowheads="1"/>
          </p:cNvPicPr>
          <p:nvPr/>
        </p:nvPicPr>
        <p:blipFill>
          <a:blip r:embed="rId2"/>
          <a:srcRect/>
          <a:stretch>
            <a:fillRect/>
          </a:stretch>
        </p:blipFill>
        <p:spPr bwMode="auto">
          <a:xfrm>
            <a:off x="7112313" y="323851"/>
            <a:ext cx="4876800" cy="621030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98105" y="330575"/>
            <a:ext cx="10901266" cy="6274538"/>
          </a:xfrm>
          <a:prstGeom prst="rect">
            <a:avLst/>
          </a:prstGeom>
        </p:spPr>
        <p:txBody>
          <a:bodyPr wrap="square">
            <a:spAutoFit/>
          </a:bodyPr>
          <a:lstStyle/>
          <a:p>
            <a:pPr>
              <a:lnSpc>
                <a:spcPct val="150000"/>
              </a:lnSpc>
            </a:pPr>
            <a:r>
              <a:rPr lang="zh-CN" altLang="en-US" dirty="0"/>
              <a:t>⑦ 、</a:t>
            </a:r>
            <a:r>
              <a:rPr lang="en-US" altLang="zh-CN" b="1" dirty="0"/>
              <a:t>APB1</a:t>
            </a:r>
            <a:r>
              <a:rPr lang="zh-CN" altLang="en-US" b="1" dirty="0"/>
              <a:t>外设：</a:t>
            </a:r>
            <a:r>
              <a:rPr lang="zh-CN" altLang="en-US" dirty="0"/>
              <a:t>送给</a:t>
            </a:r>
            <a:r>
              <a:rPr lang="en-US" altLang="zh-CN" dirty="0"/>
              <a:t>APB1</a:t>
            </a:r>
            <a:r>
              <a:rPr lang="zh-CN" altLang="en-US" dirty="0"/>
              <a:t>分频器。</a:t>
            </a:r>
            <a:r>
              <a:rPr lang="en-US" altLang="zh-CN" dirty="0"/>
              <a:t>APB1</a:t>
            </a:r>
            <a:r>
              <a:rPr lang="zh-CN" altLang="en-US" dirty="0"/>
              <a:t>分频器可选择</a:t>
            </a:r>
            <a:r>
              <a:rPr lang="en-US" altLang="zh-CN" dirty="0"/>
              <a:t>1</a:t>
            </a:r>
            <a:r>
              <a:rPr lang="zh-CN" altLang="en-US" dirty="0"/>
              <a:t>、</a:t>
            </a:r>
            <a:r>
              <a:rPr lang="en-US" altLang="zh-CN" dirty="0"/>
              <a:t>2</a:t>
            </a:r>
            <a:r>
              <a:rPr lang="zh-CN" altLang="en-US" dirty="0"/>
              <a:t>、</a:t>
            </a:r>
            <a:r>
              <a:rPr lang="en-US" altLang="zh-CN" dirty="0"/>
              <a:t>4</a:t>
            </a:r>
            <a:r>
              <a:rPr lang="zh-CN" altLang="en-US" dirty="0"/>
              <a:t>、</a:t>
            </a:r>
            <a:r>
              <a:rPr lang="en-US" altLang="zh-CN" dirty="0"/>
              <a:t>8</a:t>
            </a:r>
            <a:r>
              <a:rPr lang="zh-CN" altLang="en-US" dirty="0"/>
              <a:t>、</a:t>
            </a:r>
            <a:r>
              <a:rPr lang="en-US" altLang="zh-CN" dirty="0"/>
              <a:t>16</a:t>
            </a:r>
            <a:r>
              <a:rPr lang="zh-CN" altLang="en-US" dirty="0"/>
              <a:t>分频，其输出一路供</a:t>
            </a:r>
            <a:r>
              <a:rPr lang="en-US" altLang="zh-CN" dirty="0"/>
              <a:t>APB1</a:t>
            </a:r>
            <a:r>
              <a:rPr lang="zh-CN" altLang="en-US" dirty="0"/>
              <a:t>外设使用</a:t>
            </a:r>
            <a:r>
              <a:rPr lang="en-US" altLang="zh-CN" dirty="0"/>
              <a:t>(PCLK1</a:t>
            </a:r>
            <a:r>
              <a:rPr lang="zh-CN" altLang="en-US" dirty="0"/>
              <a:t>，最大频率</a:t>
            </a:r>
            <a:r>
              <a:rPr lang="en-US" altLang="zh-CN" dirty="0"/>
              <a:t>36MHz)</a:t>
            </a:r>
            <a:r>
              <a:rPr lang="zh-CN" altLang="en-US" dirty="0"/>
              <a:t>，另一路送给定时器</a:t>
            </a:r>
            <a:r>
              <a:rPr lang="en-US" altLang="zh-CN" dirty="0"/>
              <a:t>(Timer)2</a:t>
            </a:r>
            <a:r>
              <a:rPr lang="zh-CN" altLang="en-US" dirty="0"/>
              <a:t>、</a:t>
            </a:r>
            <a:r>
              <a:rPr lang="en-US" altLang="zh-CN" dirty="0"/>
              <a:t>3</a:t>
            </a:r>
            <a:r>
              <a:rPr lang="zh-CN" altLang="en-US" dirty="0"/>
              <a:t>、</a:t>
            </a:r>
            <a:r>
              <a:rPr lang="en-US" altLang="zh-CN" dirty="0"/>
              <a:t>4</a:t>
            </a:r>
            <a:r>
              <a:rPr lang="zh-CN" altLang="en-US" dirty="0"/>
              <a:t>倍频器使用。该倍频器可选择</a:t>
            </a:r>
            <a:r>
              <a:rPr lang="en-US" altLang="zh-CN" dirty="0"/>
              <a:t>1</a:t>
            </a:r>
            <a:r>
              <a:rPr lang="zh-CN" altLang="en-US" dirty="0"/>
              <a:t>或者</a:t>
            </a:r>
            <a:r>
              <a:rPr lang="en-US" altLang="zh-CN" dirty="0"/>
              <a:t>2</a:t>
            </a:r>
            <a:r>
              <a:rPr lang="zh-CN" altLang="en-US" dirty="0"/>
              <a:t>倍频，时钟输出供定时器</a:t>
            </a:r>
            <a:r>
              <a:rPr lang="en-US" altLang="zh-CN" dirty="0"/>
              <a:t>2</a:t>
            </a:r>
            <a:r>
              <a:rPr lang="zh-CN" altLang="en-US" dirty="0"/>
              <a:t>、</a:t>
            </a:r>
            <a:r>
              <a:rPr lang="en-US" altLang="zh-CN" dirty="0"/>
              <a:t>3</a:t>
            </a:r>
            <a:r>
              <a:rPr lang="zh-CN" altLang="en-US" dirty="0"/>
              <a:t>、</a:t>
            </a:r>
            <a:r>
              <a:rPr lang="en-US" altLang="zh-CN" dirty="0"/>
              <a:t>4</a:t>
            </a:r>
            <a:r>
              <a:rPr lang="zh-CN" altLang="en-US" dirty="0"/>
              <a:t>使用。</a:t>
            </a:r>
          </a:p>
          <a:p>
            <a:pPr>
              <a:lnSpc>
                <a:spcPct val="150000"/>
              </a:lnSpc>
            </a:pPr>
            <a:r>
              <a:rPr lang="zh-CN" altLang="en-US" dirty="0"/>
              <a:t>⑧ 、</a:t>
            </a:r>
            <a:r>
              <a:rPr lang="en-US" altLang="zh-CN" b="1" dirty="0"/>
              <a:t>APB2</a:t>
            </a:r>
            <a:r>
              <a:rPr lang="zh-CN" altLang="en-US" b="1" dirty="0"/>
              <a:t>外设：</a:t>
            </a:r>
            <a:r>
              <a:rPr lang="zh-CN" altLang="en-US" dirty="0"/>
              <a:t>送给</a:t>
            </a:r>
            <a:r>
              <a:rPr lang="en-US" altLang="zh-CN" dirty="0"/>
              <a:t>APB2</a:t>
            </a:r>
            <a:r>
              <a:rPr lang="zh-CN" altLang="en-US" dirty="0"/>
              <a:t>分频器。</a:t>
            </a:r>
            <a:r>
              <a:rPr lang="en-US" altLang="zh-CN" dirty="0"/>
              <a:t>APB2</a:t>
            </a:r>
            <a:r>
              <a:rPr lang="zh-CN" altLang="en-US" dirty="0"/>
              <a:t>分频器可选择</a:t>
            </a:r>
            <a:r>
              <a:rPr lang="en-US" altLang="zh-CN" dirty="0"/>
              <a:t>1</a:t>
            </a:r>
            <a:r>
              <a:rPr lang="zh-CN" altLang="en-US" dirty="0"/>
              <a:t>、</a:t>
            </a:r>
            <a:r>
              <a:rPr lang="en-US" altLang="zh-CN" dirty="0"/>
              <a:t>2</a:t>
            </a:r>
            <a:r>
              <a:rPr lang="zh-CN" altLang="en-US" dirty="0"/>
              <a:t>、</a:t>
            </a:r>
            <a:r>
              <a:rPr lang="en-US" altLang="zh-CN" dirty="0"/>
              <a:t>4</a:t>
            </a:r>
            <a:r>
              <a:rPr lang="zh-CN" altLang="en-US" dirty="0"/>
              <a:t>、</a:t>
            </a:r>
            <a:r>
              <a:rPr lang="en-US" altLang="zh-CN" dirty="0"/>
              <a:t>8</a:t>
            </a:r>
            <a:r>
              <a:rPr lang="zh-CN" altLang="en-US" dirty="0"/>
              <a:t>、</a:t>
            </a:r>
            <a:r>
              <a:rPr lang="en-US" altLang="zh-CN" dirty="0"/>
              <a:t>16</a:t>
            </a:r>
            <a:r>
              <a:rPr lang="zh-CN" altLang="en-US" dirty="0"/>
              <a:t>分频，其输出一路供</a:t>
            </a:r>
            <a:r>
              <a:rPr lang="en-US" altLang="zh-CN" dirty="0"/>
              <a:t>APB2</a:t>
            </a:r>
            <a:r>
              <a:rPr lang="zh-CN" altLang="en-US" dirty="0"/>
              <a:t>外设使用</a:t>
            </a:r>
            <a:r>
              <a:rPr lang="en-US" altLang="zh-CN" dirty="0"/>
              <a:t>(PCLK2</a:t>
            </a:r>
            <a:r>
              <a:rPr lang="zh-CN" altLang="en-US" dirty="0"/>
              <a:t>，最大频率</a:t>
            </a:r>
            <a:r>
              <a:rPr lang="en-US" altLang="zh-CN" dirty="0"/>
              <a:t>72MHz)</a:t>
            </a:r>
            <a:r>
              <a:rPr lang="zh-CN" altLang="en-US" dirty="0"/>
              <a:t>，另一路送给定时器</a:t>
            </a:r>
            <a:r>
              <a:rPr lang="en-US" altLang="zh-CN" dirty="0"/>
              <a:t>(Timer)1</a:t>
            </a:r>
            <a:r>
              <a:rPr lang="zh-CN" altLang="en-US" dirty="0"/>
              <a:t>倍频器使用。该倍频器可选择</a:t>
            </a:r>
            <a:r>
              <a:rPr lang="en-US" altLang="zh-CN" dirty="0"/>
              <a:t>1</a:t>
            </a:r>
            <a:r>
              <a:rPr lang="zh-CN" altLang="en-US" dirty="0"/>
              <a:t>或者</a:t>
            </a:r>
            <a:r>
              <a:rPr lang="en-US" altLang="zh-CN" dirty="0"/>
              <a:t>2</a:t>
            </a:r>
            <a:r>
              <a:rPr lang="zh-CN" altLang="en-US" dirty="0"/>
              <a:t>倍频，时钟输出供定时器</a:t>
            </a:r>
            <a:r>
              <a:rPr lang="en-US" altLang="zh-CN" dirty="0"/>
              <a:t>1</a:t>
            </a:r>
            <a:r>
              <a:rPr lang="zh-CN" altLang="en-US" dirty="0"/>
              <a:t>使用。另外，</a:t>
            </a:r>
            <a:r>
              <a:rPr lang="en-US" altLang="zh-CN" dirty="0"/>
              <a:t>APB2</a:t>
            </a:r>
            <a:r>
              <a:rPr lang="zh-CN" altLang="en-US" dirty="0"/>
              <a:t>分频器还有一路输出供</a:t>
            </a:r>
            <a:r>
              <a:rPr lang="en-US" altLang="zh-CN" dirty="0"/>
              <a:t>ADC</a:t>
            </a:r>
            <a:r>
              <a:rPr lang="zh-CN" altLang="en-US" dirty="0"/>
              <a:t>分频器使用，分频后送给</a:t>
            </a:r>
            <a:r>
              <a:rPr lang="en-US" altLang="zh-CN" dirty="0"/>
              <a:t>ADC</a:t>
            </a:r>
            <a:r>
              <a:rPr lang="zh-CN" altLang="en-US" dirty="0"/>
              <a:t>模块使用。</a:t>
            </a:r>
            <a:r>
              <a:rPr lang="en-US" altLang="zh-CN" dirty="0"/>
              <a:t>ADC</a:t>
            </a:r>
            <a:r>
              <a:rPr lang="zh-CN" altLang="en-US" dirty="0"/>
              <a:t>分频器可选择为</a:t>
            </a:r>
            <a:r>
              <a:rPr lang="en-US" altLang="zh-CN" dirty="0"/>
              <a:t>2</a:t>
            </a:r>
            <a:r>
              <a:rPr lang="zh-CN" altLang="en-US" dirty="0"/>
              <a:t>、</a:t>
            </a:r>
            <a:r>
              <a:rPr lang="en-US" altLang="zh-CN" dirty="0"/>
              <a:t>4</a:t>
            </a:r>
            <a:r>
              <a:rPr lang="zh-CN" altLang="en-US" dirty="0"/>
              <a:t>、</a:t>
            </a:r>
            <a:r>
              <a:rPr lang="en-US" altLang="zh-CN" dirty="0"/>
              <a:t>6</a:t>
            </a:r>
            <a:r>
              <a:rPr lang="zh-CN" altLang="en-US" dirty="0"/>
              <a:t>、</a:t>
            </a:r>
            <a:r>
              <a:rPr lang="en-US" altLang="zh-CN" dirty="0"/>
              <a:t>8</a:t>
            </a:r>
            <a:r>
              <a:rPr lang="zh-CN" altLang="en-US" dirty="0"/>
              <a:t>分频。</a:t>
            </a:r>
            <a:endParaRPr lang="en-US" altLang="zh-CN" dirty="0"/>
          </a:p>
          <a:p>
            <a:pPr>
              <a:lnSpc>
                <a:spcPct val="150000"/>
              </a:lnSpc>
            </a:pPr>
            <a:r>
              <a:rPr lang="zh-CN" altLang="en-US" b="1" dirty="0"/>
              <a:t>连接在</a:t>
            </a:r>
            <a:r>
              <a:rPr lang="en-US" altLang="zh-CN" b="1" dirty="0"/>
              <a:t>APB1(</a:t>
            </a:r>
            <a:r>
              <a:rPr lang="zh-CN" altLang="en-US" b="1" dirty="0"/>
              <a:t>低速外设</a:t>
            </a:r>
            <a:r>
              <a:rPr lang="en-US" altLang="zh-CN" b="1" dirty="0"/>
              <a:t>)</a:t>
            </a:r>
            <a:r>
              <a:rPr lang="zh-CN" altLang="en-US" b="1" dirty="0"/>
              <a:t>上的设备有</a:t>
            </a:r>
            <a:r>
              <a:rPr lang="zh-CN" altLang="en-US" dirty="0"/>
              <a:t>：电源接口、备份接口、</a:t>
            </a:r>
            <a:r>
              <a:rPr lang="en-US" altLang="zh-CN" dirty="0"/>
              <a:t>CAN</a:t>
            </a:r>
            <a:r>
              <a:rPr lang="zh-CN" altLang="en-US" dirty="0"/>
              <a:t>、</a:t>
            </a:r>
            <a:r>
              <a:rPr lang="en-US" altLang="zh-CN" dirty="0"/>
              <a:t>USB</a:t>
            </a:r>
            <a:r>
              <a:rPr lang="zh-CN" altLang="en-US" dirty="0"/>
              <a:t>、</a:t>
            </a:r>
            <a:r>
              <a:rPr lang="en-US" altLang="zh-CN" dirty="0"/>
              <a:t>I2C1</a:t>
            </a:r>
            <a:r>
              <a:rPr lang="zh-CN" altLang="en-US" dirty="0"/>
              <a:t>、</a:t>
            </a:r>
            <a:r>
              <a:rPr lang="en-US" altLang="zh-CN" dirty="0"/>
              <a:t>I2C2</a:t>
            </a:r>
            <a:r>
              <a:rPr lang="zh-CN" altLang="en-US" dirty="0"/>
              <a:t>、</a:t>
            </a:r>
            <a:r>
              <a:rPr lang="en-US" altLang="zh-CN" dirty="0"/>
              <a:t>UART2</a:t>
            </a:r>
            <a:r>
              <a:rPr lang="zh-CN" altLang="en-US" dirty="0"/>
              <a:t>、</a:t>
            </a:r>
            <a:r>
              <a:rPr lang="en-US" altLang="zh-CN" dirty="0"/>
              <a:t>UART3</a:t>
            </a:r>
            <a:r>
              <a:rPr lang="zh-CN" altLang="en-US" dirty="0"/>
              <a:t>、</a:t>
            </a:r>
            <a:r>
              <a:rPr lang="en-US" altLang="zh-CN" dirty="0"/>
              <a:t>SPI2</a:t>
            </a:r>
            <a:r>
              <a:rPr lang="zh-CN" altLang="en-US" dirty="0"/>
              <a:t>、窗口看门狗、</a:t>
            </a:r>
            <a:r>
              <a:rPr lang="en-US" altLang="zh-CN" dirty="0"/>
              <a:t>Timer2</a:t>
            </a:r>
            <a:r>
              <a:rPr lang="zh-CN" altLang="en-US" dirty="0"/>
              <a:t>、</a:t>
            </a:r>
            <a:r>
              <a:rPr lang="en-US" altLang="zh-CN" dirty="0"/>
              <a:t>Timer3</a:t>
            </a:r>
            <a:r>
              <a:rPr lang="zh-CN" altLang="en-US" dirty="0"/>
              <a:t>、</a:t>
            </a:r>
            <a:r>
              <a:rPr lang="en-US" altLang="zh-CN" dirty="0"/>
              <a:t>Timer4</a:t>
            </a:r>
            <a:r>
              <a:rPr lang="zh-CN" altLang="en-US" dirty="0"/>
              <a:t>。注意</a:t>
            </a:r>
            <a:r>
              <a:rPr lang="en-US" altLang="zh-CN" dirty="0"/>
              <a:t>USB</a:t>
            </a:r>
            <a:r>
              <a:rPr lang="zh-CN" altLang="en-US" dirty="0"/>
              <a:t>模块虽然需要一个单独的</a:t>
            </a:r>
            <a:r>
              <a:rPr lang="en-US" altLang="zh-CN" dirty="0"/>
              <a:t>48MHz</a:t>
            </a:r>
            <a:r>
              <a:rPr lang="zh-CN" altLang="en-US" dirty="0"/>
              <a:t>时钟信号，但它不是供</a:t>
            </a:r>
            <a:r>
              <a:rPr lang="en-US" altLang="zh-CN" dirty="0"/>
              <a:t>USB</a:t>
            </a:r>
            <a:r>
              <a:rPr lang="zh-CN" altLang="en-US" dirty="0"/>
              <a:t>模块工作的时钟，而只是提供给串行接口引擎</a:t>
            </a:r>
            <a:r>
              <a:rPr lang="en-US" altLang="zh-CN" dirty="0"/>
              <a:t>(SIE)</a:t>
            </a:r>
            <a:r>
              <a:rPr lang="zh-CN" altLang="en-US" dirty="0"/>
              <a:t>使用的时钟。</a:t>
            </a:r>
            <a:r>
              <a:rPr lang="en-US" altLang="zh-CN" dirty="0"/>
              <a:t>USB</a:t>
            </a:r>
            <a:r>
              <a:rPr lang="zh-CN" altLang="en-US" dirty="0"/>
              <a:t>模块工作的时钟应该是由</a:t>
            </a:r>
            <a:r>
              <a:rPr lang="en-US" altLang="zh-CN" dirty="0"/>
              <a:t>APB1</a:t>
            </a:r>
            <a:r>
              <a:rPr lang="zh-CN" altLang="en-US" dirty="0"/>
              <a:t>提供的。</a:t>
            </a:r>
            <a:endParaRPr lang="en-US" altLang="zh-CN" dirty="0"/>
          </a:p>
          <a:p>
            <a:pPr>
              <a:lnSpc>
                <a:spcPct val="150000"/>
              </a:lnSpc>
            </a:pPr>
            <a:r>
              <a:rPr lang="zh-CN" altLang="en-US" b="1" dirty="0"/>
              <a:t>连接在</a:t>
            </a:r>
            <a:r>
              <a:rPr lang="en-US" b="1" dirty="0"/>
              <a:t>APB2(</a:t>
            </a:r>
            <a:r>
              <a:rPr lang="zh-CN" altLang="en-US" b="1" dirty="0"/>
              <a:t>高速外设</a:t>
            </a:r>
            <a:r>
              <a:rPr lang="en-US" altLang="zh-CN" b="1" dirty="0"/>
              <a:t>)</a:t>
            </a:r>
            <a:r>
              <a:rPr lang="zh-CN" altLang="en-US" b="1" dirty="0"/>
              <a:t>上的设备有</a:t>
            </a:r>
            <a:r>
              <a:rPr lang="zh-CN" altLang="en-US" dirty="0"/>
              <a:t>：</a:t>
            </a:r>
            <a:r>
              <a:rPr lang="en-US" dirty="0"/>
              <a:t>UART1、SPI1、Timer1、ADC1、ADC2、</a:t>
            </a:r>
            <a:r>
              <a:rPr lang="zh-CN" altLang="en-US" dirty="0"/>
              <a:t>所有普通</a:t>
            </a:r>
            <a:r>
              <a:rPr lang="en-US" dirty="0"/>
              <a:t>IO</a:t>
            </a:r>
            <a:r>
              <a:rPr lang="zh-CN" altLang="en-US" dirty="0"/>
              <a:t>口</a:t>
            </a:r>
            <a:r>
              <a:rPr lang="en-US" altLang="zh-CN" dirty="0"/>
              <a:t>(</a:t>
            </a:r>
            <a:r>
              <a:rPr lang="en-US" dirty="0"/>
              <a:t>PA~PE)、</a:t>
            </a:r>
            <a:r>
              <a:rPr lang="zh-CN" altLang="en-US" dirty="0"/>
              <a:t>第二功能</a:t>
            </a:r>
            <a:r>
              <a:rPr lang="en-US" dirty="0"/>
              <a:t>IO</a:t>
            </a:r>
            <a:r>
              <a:rPr lang="zh-CN" altLang="en-US" dirty="0"/>
              <a:t>口。</a:t>
            </a:r>
            <a:endParaRPr lang="en-US" altLang="zh-CN" dirty="0"/>
          </a:p>
          <a:p>
            <a:pPr>
              <a:lnSpc>
                <a:spcPct val="150000"/>
              </a:lnSpc>
            </a:pPr>
            <a:r>
              <a:rPr lang="zh-CN" altLang="en-US" dirty="0"/>
              <a:t>在以上的时钟输出中，有很多是带使能控制的，例如</a:t>
            </a:r>
            <a:r>
              <a:rPr lang="en-US" altLang="zh-CN" dirty="0"/>
              <a:t>AHB</a:t>
            </a:r>
            <a:r>
              <a:rPr lang="zh-CN" altLang="en-US" dirty="0"/>
              <a:t>总线时钟、内核时钟、各种</a:t>
            </a:r>
            <a:r>
              <a:rPr lang="en-US" altLang="zh-CN" dirty="0"/>
              <a:t>APB1</a:t>
            </a:r>
            <a:r>
              <a:rPr lang="zh-CN" altLang="en-US" dirty="0"/>
              <a:t>外设、</a:t>
            </a:r>
            <a:r>
              <a:rPr lang="en-US" altLang="zh-CN" dirty="0"/>
              <a:t>APB2</a:t>
            </a:r>
            <a:r>
              <a:rPr lang="zh-CN" altLang="en-US" dirty="0"/>
              <a:t>外设等等。当需要使用某模块时，记得一定要先使能对应的时钟。</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4776" y="1031848"/>
            <a:ext cx="6469224" cy="5909310"/>
          </a:xfrm>
          <a:prstGeom prst="rect">
            <a:avLst/>
          </a:prstGeom>
        </p:spPr>
        <p:txBody>
          <a:bodyPr wrap="square">
            <a:spAutoFit/>
          </a:bodyPr>
          <a:lstStyle/>
          <a:p>
            <a:pPr>
              <a:lnSpc>
                <a:spcPct val="150000"/>
              </a:lnSpc>
            </a:pPr>
            <a:r>
              <a:rPr lang="en-US" dirty="0" err="1"/>
              <a:t>typedef</a:t>
            </a:r>
            <a:r>
              <a:rPr lang="en-US" dirty="0"/>
              <a:t> </a:t>
            </a:r>
            <a:r>
              <a:rPr lang="en-US" dirty="0" err="1"/>
              <a:t>struct</a:t>
            </a:r>
            <a:r>
              <a:rPr lang="en-US" dirty="0"/>
              <a:t> </a:t>
            </a:r>
          </a:p>
          <a:p>
            <a:pPr>
              <a:lnSpc>
                <a:spcPct val="150000"/>
              </a:lnSpc>
            </a:pPr>
            <a:r>
              <a:rPr lang="en-US" dirty="0"/>
              <a:t>{ </a:t>
            </a:r>
          </a:p>
          <a:p>
            <a:pPr>
              <a:lnSpc>
                <a:spcPct val="150000"/>
              </a:lnSpc>
            </a:pPr>
            <a:r>
              <a:rPr lang="en-US" dirty="0"/>
              <a:t>vu32 CR; //</a:t>
            </a:r>
            <a:r>
              <a:rPr lang="en-US" dirty="0">
                <a:solidFill>
                  <a:srgbClr val="FF0000"/>
                </a:solidFill>
              </a:rPr>
              <a:t>HSI,HSE,CSS,PLL</a:t>
            </a:r>
            <a:r>
              <a:rPr lang="zh-CN" altLang="en-US" dirty="0">
                <a:solidFill>
                  <a:srgbClr val="FF0000"/>
                </a:solidFill>
              </a:rPr>
              <a:t>等的使能 </a:t>
            </a:r>
          </a:p>
          <a:p>
            <a:pPr>
              <a:lnSpc>
                <a:spcPct val="150000"/>
              </a:lnSpc>
            </a:pPr>
            <a:r>
              <a:rPr lang="en-US" dirty="0"/>
              <a:t>vu32 CFGR; //</a:t>
            </a:r>
            <a:r>
              <a:rPr lang="en-US" dirty="0">
                <a:solidFill>
                  <a:srgbClr val="FF0000"/>
                </a:solidFill>
              </a:rPr>
              <a:t>PLL</a:t>
            </a:r>
            <a:r>
              <a:rPr lang="zh-CN" altLang="en-US" dirty="0">
                <a:solidFill>
                  <a:srgbClr val="FF0000"/>
                </a:solidFill>
              </a:rPr>
              <a:t>等的时钟源选择以及分频系</a:t>
            </a:r>
            <a:endParaRPr lang="en-US" altLang="zh-CN" dirty="0">
              <a:solidFill>
                <a:srgbClr val="FF0000"/>
              </a:solidFill>
            </a:endParaRPr>
          </a:p>
          <a:p>
            <a:pPr>
              <a:lnSpc>
                <a:spcPct val="150000"/>
              </a:lnSpc>
            </a:pPr>
            <a:r>
              <a:rPr lang="en-US" altLang="zh-CN" dirty="0">
                <a:solidFill>
                  <a:srgbClr val="FF0000"/>
                </a:solidFill>
              </a:rPr>
              <a:t>                     </a:t>
            </a:r>
            <a:r>
              <a:rPr lang="zh-CN" altLang="en-US" dirty="0">
                <a:solidFill>
                  <a:srgbClr val="FF0000"/>
                </a:solidFill>
              </a:rPr>
              <a:t>数设定 </a:t>
            </a:r>
          </a:p>
          <a:p>
            <a:pPr>
              <a:lnSpc>
                <a:spcPct val="150000"/>
              </a:lnSpc>
            </a:pPr>
            <a:r>
              <a:rPr lang="en-US" dirty="0"/>
              <a:t>vu32 CIR; // </a:t>
            </a:r>
            <a:r>
              <a:rPr lang="zh-CN" altLang="en-US" dirty="0">
                <a:solidFill>
                  <a:srgbClr val="FF0000"/>
                </a:solidFill>
              </a:rPr>
              <a:t>清除</a:t>
            </a:r>
            <a:r>
              <a:rPr lang="en-US" altLang="zh-CN" dirty="0">
                <a:solidFill>
                  <a:srgbClr val="FF0000"/>
                </a:solidFill>
              </a:rPr>
              <a:t>/</a:t>
            </a:r>
            <a:r>
              <a:rPr lang="zh-CN" altLang="en-US" dirty="0">
                <a:solidFill>
                  <a:srgbClr val="FF0000"/>
                </a:solidFill>
              </a:rPr>
              <a:t>使能 时钟就绪中断 </a:t>
            </a:r>
          </a:p>
          <a:p>
            <a:pPr>
              <a:lnSpc>
                <a:spcPct val="150000"/>
              </a:lnSpc>
            </a:pPr>
            <a:r>
              <a:rPr lang="en-US" dirty="0"/>
              <a:t>vu32 APB2RSTR; //</a:t>
            </a:r>
            <a:r>
              <a:rPr lang="en-US" dirty="0">
                <a:solidFill>
                  <a:srgbClr val="FF0000"/>
                </a:solidFill>
              </a:rPr>
              <a:t>APB2</a:t>
            </a:r>
            <a:r>
              <a:rPr lang="zh-CN" altLang="en-US" dirty="0">
                <a:solidFill>
                  <a:srgbClr val="FF0000"/>
                </a:solidFill>
              </a:rPr>
              <a:t>线上外设复位寄存器 </a:t>
            </a:r>
          </a:p>
          <a:p>
            <a:pPr>
              <a:lnSpc>
                <a:spcPct val="150000"/>
              </a:lnSpc>
            </a:pPr>
            <a:r>
              <a:rPr lang="en-US" dirty="0"/>
              <a:t>vu32 APB1RSTR; //</a:t>
            </a:r>
            <a:r>
              <a:rPr lang="en-US" dirty="0">
                <a:solidFill>
                  <a:srgbClr val="FF0000"/>
                </a:solidFill>
              </a:rPr>
              <a:t>APB1</a:t>
            </a:r>
            <a:r>
              <a:rPr lang="zh-CN" altLang="en-US" dirty="0">
                <a:solidFill>
                  <a:srgbClr val="FF0000"/>
                </a:solidFill>
              </a:rPr>
              <a:t>线上外设复位寄存器 </a:t>
            </a:r>
          </a:p>
          <a:p>
            <a:pPr>
              <a:lnSpc>
                <a:spcPct val="150000"/>
              </a:lnSpc>
            </a:pPr>
            <a:r>
              <a:rPr lang="en-US" dirty="0"/>
              <a:t>vu32 AHBENR; //</a:t>
            </a:r>
            <a:r>
              <a:rPr lang="en-US" dirty="0">
                <a:solidFill>
                  <a:srgbClr val="FF0000"/>
                </a:solidFill>
              </a:rPr>
              <a:t>DMA，SDIO</a:t>
            </a:r>
            <a:r>
              <a:rPr lang="zh-CN" altLang="en-US" dirty="0">
                <a:solidFill>
                  <a:srgbClr val="FF0000"/>
                </a:solidFill>
              </a:rPr>
              <a:t>等时钟使能 </a:t>
            </a:r>
          </a:p>
          <a:p>
            <a:pPr>
              <a:lnSpc>
                <a:spcPct val="150000"/>
              </a:lnSpc>
            </a:pPr>
            <a:r>
              <a:rPr lang="en-US" dirty="0"/>
              <a:t>vu32 APB2ENR; //</a:t>
            </a:r>
            <a:r>
              <a:rPr lang="en-US" dirty="0">
                <a:solidFill>
                  <a:srgbClr val="FF0000"/>
                </a:solidFill>
              </a:rPr>
              <a:t>APB2</a:t>
            </a:r>
            <a:r>
              <a:rPr lang="zh-CN" altLang="en-US" dirty="0">
                <a:solidFill>
                  <a:srgbClr val="FF0000"/>
                </a:solidFill>
              </a:rPr>
              <a:t>线上外设时钟使能 </a:t>
            </a:r>
          </a:p>
          <a:p>
            <a:pPr>
              <a:lnSpc>
                <a:spcPct val="150000"/>
              </a:lnSpc>
            </a:pPr>
            <a:r>
              <a:rPr lang="en-US" dirty="0"/>
              <a:t>vu32 APB1ENR; //</a:t>
            </a:r>
            <a:r>
              <a:rPr lang="en-US" dirty="0">
                <a:solidFill>
                  <a:srgbClr val="FF0000"/>
                </a:solidFill>
              </a:rPr>
              <a:t>APB1</a:t>
            </a:r>
            <a:r>
              <a:rPr lang="zh-CN" altLang="en-US" dirty="0">
                <a:solidFill>
                  <a:srgbClr val="FF0000"/>
                </a:solidFill>
              </a:rPr>
              <a:t>线上外设时钟使能 </a:t>
            </a:r>
          </a:p>
          <a:p>
            <a:pPr>
              <a:lnSpc>
                <a:spcPct val="150000"/>
              </a:lnSpc>
            </a:pPr>
            <a:r>
              <a:rPr lang="en-US" dirty="0"/>
              <a:t>vu32 BDCR; //</a:t>
            </a:r>
            <a:r>
              <a:rPr lang="zh-CN" altLang="en-US" dirty="0">
                <a:solidFill>
                  <a:srgbClr val="FF0000"/>
                </a:solidFill>
              </a:rPr>
              <a:t>备份域控制寄存器 </a:t>
            </a:r>
          </a:p>
          <a:p>
            <a:pPr>
              <a:lnSpc>
                <a:spcPct val="150000"/>
              </a:lnSpc>
            </a:pPr>
            <a:r>
              <a:rPr lang="en-US" dirty="0"/>
              <a:t>vu32 CSR; } </a:t>
            </a:r>
            <a:r>
              <a:rPr lang="en-US" dirty="0" err="1"/>
              <a:t>RCC_TypeDef</a:t>
            </a:r>
            <a:r>
              <a:rPr lang="en-US" dirty="0"/>
              <a:t>; </a:t>
            </a:r>
          </a:p>
          <a:p>
            <a:pPr>
              <a:lnSpc>
                <a:spcPct val="150000"/>
              </a:lnSpc>
            </a:pPr>
            <a:endParaRPr lang="en-US" dirty="0"/>
          </a:p>
        </p:txBody>
      </p:sp>
      <p:sp>
        <p:nvSpPr>
          <p:cNvPr id="4" name="TextBox 3"/>
          <p:cNvSpPr txBox="1"/>
          <p:nvPr/>
        </p:nvSpPr>
        <p:spPr>
          <a:xfrm>
            <a:off x="5410931" y="992623"/>
            <a:ext cx="7707113" cy="4247317"/>
          </a:xfrm>
          <a:prstGeom prst="rect">
            <a:avLst/>
          </a:prstGeom>
          <a:noFill/>
        </p:spPr>
        <p:txBody>
          <a:bodyPr wrap="square" rtlCol="0">
            <a:spAutoFit/>
          </a:bodyPr>
          <a:lstStyle/>
          <a:p>
            <a:pPr>
              <a:lnSpc>
                <a:spcPct val="150000"/>
              </a:lnSpc>
            </a:pPr>
            <a:r>
              <a:rPr lang="en-US" dirty="0"/>
              <a:t>#define PHRIPH_BASE   ((u32)0x40000000)</a:t>
            </a:r>
            <a:endParaRPr lang="zh-CN" altLang="en-US" dirty="0"/>
          </a:p>
          <a:p>
            <a:pPr>
              <a:lnSpc>
                <a:spcPct val="150000"/>
              </a:lnSpc>
            </a:pPr>
            <a:r>
              <a:rPr lang="en-US" dirty="0"/>
              <a:t>…</a:t>
            </a:r>
            <a:endParaRPr lang="zh-CN" altLang="en-US" dirty="0"/>
          </a:p>
          <a:p>
            <a:pPr>
              <a:lnSpc>
                <a:spcPct val="150000"/>
              </a:lnSpc>
            </a:pPr>
            <a:r>
              <a:rPr lang="en-US" dirty="0"/>
              <a:t>#define AHBPHRIPH_BASE   (PHRIPH_BASE+0x20000)</a:t>
            </a:r>
            <a:endParaRPr lang="zh-CN" altLang="en-US" dirty="0"/>
          </a:p>
          <a:p>
            <a:pPr>
              <a:lnSpc>
                <a:spcPct val="150000"/>
              </a:lnSpc>
            </a:pPr>
            <a:r>
              <a:rPr lang="en-US" dirty="0"/>
              <a:t>…</a:t>
            </a:r>
            <a:endParaRPr lang="zh-CN" altLang="en-US" dirty="0"/>
          </a:p>
          <a:p>
            <a:pPr>
              <a:lnSpc>
                <a:spcPct val="150000"/>
              </a:lnSpc>
            </a:pPr>
            <a:r>
              <a:rPr lang="en-US" dirty="0"/>
              <a:t>#define RCC_BASE    (AHBPHRIPH_BASE+0x1000)</a:t>
            </a:r>
            <a:endParaRPr lang="zh-CN" altLang="en-US" dirty="0"/>
          </a:p>
          <a:p>
            <a:pPr>
              <a:lnSpc>
                <a:spcPct val="150000"/>
              </a:lnSpc>
            </a:pPr>
            <a:r>
              <a:rPr lang="en-US" dirty="0"/>
              <a:t>…</a:t>
            </a:r>
            <a:endParaRPr lang="zh-CN" altLang="en-US" dirty="0"/>
          </a:p>
          <a:p>
            <a:pPr>
              <a:lnSpc>
                <a:spcPct val="150000"/>
              </a:lnSpc>
            </a:pPr>
            <a:r>
              <a:rPr lang="en-US" dirty="0"/>
              <a:t>#</a:t>
            </a:r>
            <a:r>
              <a:rPr lang="en-US" dirty="0" err="1"/>
              <a:t>ifdef</a:t>
            </a:r>
            <a:r>
              <a:rPr lang="en-US" dirty="0"/>
              <a:t> _RCC</a:t>
            </a:r>
            <a:endParaRPr lang="zh-CN" altLang="en-US" dirty="0"/>
          </a:p>
          <a:p>
            <a:pPr>
              <a:lnSpc>
                <a:spcPct val="150000"/>
              </a:lnSpc>
            </a:pPr>
            <a:r>
              <a:rPr lang="en-US" dirty="0"/>
              <a:t>  #define RCC   ((</a:t>
            </a:r>
            <a:r>
              <a:rPr lang="en-US" dirty="0" err="1"/>
              <a:t>RCC_TypeDef</a:t>
            </a:r>
            <a:r>
              <a:rPr lang="en-US" dirty="0"/>
              <a:t> *) RCC_BASE))</a:t>
            </a:r>
            <a:endParaRPr lang="zh-CN" altLang="en-US" dirty="0"/>
          </a:p>
          <a:p>
            <a:pPr>
              <a:lnSpc>
                <a:spcPct val="150000"/>
              </a:lnSpc>
            </a:pPr>
            <a:r>
              <a:rPr lang="en-US" dirty="0"/>
              <a:t>#</a:t>
            </a:r>
            <a:r>
              <a:rPr lang="en-US" dirty="0" err="1"/>
              <a:t>endif</a:t>
            </a:r>
            <a:r>
              <a:rPr lang="en-US" dirty="0"/>
              <a:t> /*_RCC*/</a:t>
            </a:r>
            <a:endParaRPr lang="zh-CN" altLang="en-US" dirty="0"/>
          </a:p>
          <a:p>
            <a:pPr>
              <a:lnSpc>
                <a:spcPct val="150000"/>
              </a:lnSpc>
            </a:pPr>
            <a:endParaRPr lang="zh-CN" altLang="en-US" dirty="0"/>
          </a:p>
        </p:txBody>
      </p:sp>
      <p:sp>
        <p:nvSpPr>
          <p:cNvPr id="5" name="TextBox 4"/>
          <p:cNvSpPr txBox="1"/>
          <p:nvPr/>
        </p:nvSpPr>
        <p:spPr>
          <a:xfrm>
            <a:off x="5437762" y="4649821"/>
            <a:ext cx="6186791" cy="1704056"/>
          </a:xfrm>
          <a:prstGeom prst="rect">
            <a:avLst/>
          </a:prstGeom>
          <a:noFill/>
        </p:spPr>
        <p:txBody>
          <a:bodyPr wrap="square" rtlCol="0">
            <a:spAutoFit/>
          </a:bodyPr>
          <a:lstStyle/>
          <a:p>
            <a:pPr>
              <a:lnSpc>
                <a:spcPct val="150000"/>
              </a:lnSpc>
            </a:pPr>
            <a:r>
              <a:rPr lang="zh-CN" altLang="en-US" dirty="0">
                <a:solidFill>
                  <a:srgbClr val="FF0000"/>
                </a:solidFill>
              </a:rPr>
              <a:t>从宏定义看出，对于程序中所有的</a:t>
            </a:r>
            <a:r>
              <a:rPr lang="en-US" altLang="zh-CN" dirty="0">
                <a:solidFill>
                  <a:srgbClr val="FF0000"/>
                </a:solidFill>
              </a:rPr>
              <a:t>RCC</a:t>
            </a:r>
            <a:r>
              <a:rPr lang="zh-CN" altLang="en-US" dirty="0">
                <a:solidFill>
                  <a:srgbClr val="FF0000"/>
                </a:solidFill>
              </a:rPr>
              <a:t>，编译器预处理程序将它替换成</a:t>
            </a:r>
            <a:r>
              <a:rPr lang="en-US" dirty="0">
                <a:solidFill>
                  <a:srgbClr val="FF0000"/>
                </a:solidFill>
              </a:rPr>
              <a:t>RCC   ((</a:t>
            </a:r>
            <a:r>
              <a:rPr lang="en-US" dirty="0" err="1">
                <a:solidFill>
                  <a:srgbClr val="FF0000"/>
                </a:solidFill>
              </a:rPr>
              <a:t>RCC_TypeDef</a:t>
            </a:r>
            <a:r>
              <a:rPr lang="en-US" dirty="0">
                <a:solidFill>
                  <a:srgbClr val="FF0000"/>
                </a:solidFill>
              </a:rPr>
              <a:t> *) 0x40021000), 0x40021000</a:t>
            </a:r>
            <a:r>
              <a:rPr lang="zh-CN" altLang="en-US" dirty="0">
                <a:solidFill>
                  <a:srgbClr val="FF0000"/>
                </a:solidFill>
              </a:rPr>
              <a:t>是</a:t>
            </a:r>
            <a:r>
              <a:rPr lang="en-US" altLang="zh-CN" dirty="0">
                <a:solidFill>
                  <a:srgbClr val="FF0000"/>
                </a:solidFill>
              </a:rPr>
              <a:t>RCC</a:t>
            </a:r>
            <a:r>
              <a:rPr lang="zh-CN" altLang="en-US" dirty="0">
                <a:solidFill>
                  <a:srgbClr val="FF0000"/>
                </a:solidFill>
              </a:rPr>
              <a:t>寄存器的存储映射首地址，首地址加上表</a:t>
            </a:r>
            <a:r>
              <a:rPr lang="en-US" altLang="zh-CN" dirty="0">
                <a:solidFill>
                  <a:srgbClr val="FF0000"/>
                </a:solidFill>
              </a:rPr>
              <a:t>3-2</a:t>
            </a:r>
            <a:r>
              <a:rPr lang="zh-CN" altLang="en-US" dirty="0">
                <a:solidFill>
                  <a:srgbClr val="FF0000"/>
                </a:solidFill>
              </a:rPr>
              <a:t>中各寄存器偏移就是寄存器在存储器中的地址。</a:t>
            </a:r>
          </a:p>
        </p:txBody>
      </p:sp>
      <p:sp>
        <p:nvSpPr>
          <p:cNvPr id="6" name="矩形 5"/>
          <p:cNvSpPr/>
          <p:nvPr/>
        </p:nvSpPr>
        <p:spPr>
          <a:xfrm>
            <a:off x="304799" y="227941"/>
            <a:ext cx="10901266" cy="969496"/>
          </a:xfrm>
          <a:prstGeom prst="rect">
            <a:avLst/>
          </a:prstGeom>
        </p:spPr>
        <p:txBody>
          <a:bodyPr wrap="square">
            <a:spAutoFit/>
          </a:bodyPr>
          <a:lstStyle/>
          <a:p>
            <a:pPr>
              <a:lnSpc>
                <a:spcPct val="150000"/>
              </a:lnSpc>
            </a:pPr>
            <a:r>
              <a:rPr lang="en-US" altLang="zh-CN" sz="2000" b="1" dirty="0">
                <a:solidFill>
                  <a:srgbClr val="7030A0"/>
                </a:solidFill>
              </a:rPr>
              <a:t>RCC</a:t>
            </a:r>
            <a:r>
              <a:rPr lang="zh-CN" altLang="en-US" sz="2000" b="1" dirty="0">
                <a:solidFill>
                  <a:srgbClr val="7030A0"/>
                </a:solidFill>
              </a:rPr>
              <a:t>寄存器</a:t>
            </a:r>
            <a:endParaRPr lang="en-US" altLang="zh-CN" sz="2000" b="1" dirty="0">
              <a:solidFill>
                <a:srgbClr val="7030A0"/>
              </a:solidFill>
            </a:endParaRPr>
          </a:p>
          <a:p>
            <a:pPr>
              <a:lnSpc>
                <a:spcPct val="150000"/>
              </a:lnSpc>
            </a:pPr>
            <a:r>
              <a:rPr lang="zh-CN" altLang="en-US" b="1" dirty="0"/>
              <a:t>        时钟配置与</a:t>
            </a:r>
            <a:r>
              <a:rPr lang="en-US" altLang="zh-CN" b="1" dirty="0"/>
              <a:t>RCC</a:t>
            </a:r>
            <a:r>
              <a:rPr lang="zh-CN" altLang="en-US" b="1" dirty="0"/>
              <a:t>寄存器密切相关，它能管理处理器内部和外部的外设时钟。</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373223" y="289233"/>
            <a:ext cx="11402009" cy="6740307"/>
          </a:xfrm>
          <a:prstGeom prst="rect">
            <a:avLst/>
          </a:prstGeom>
          <a:noFill/>
        </p:spPr>
        <p:txBody>
          <a:bodyPr wrap="square" rtlCol="0">
            <a:spAutoFit/>
          </a:bodyPr>
          <a:lstStyle/>
          <a:p>
            <a:pPr>
              <a:lnSpc>
                <a:spcPct val="150000"/>
              </a:lnSpc>
            </a:pPr>
            <a:r>
              <a:rPr lang="zh-CN" altLang="en-US" dirty="0"/>
              <a:t>      在</a:t>
            </a:r>
            <a:r>
              <a:rPr lang="en-US" dirty="0"/>
              <a:t>stm32</a:t>
            </a:r>
            <a:r>
              <a:rPr lang="zh-CN" altLang="en-US" dirty="0"/>
              <a:t>固件库</a:t>
            </a:r>
            <a:r>
              <a:rPr lang="en-US" dirty="0"/>
              <a:t>3.0</a:t>
            </a:r>
            <a:r>
              <a:rPr lang="zh-CN" altLang="en-US" dirty="0"/>
              <a:t>中对时钟频率的选择进行了大大的简化，原先的一大堆操作都在后台进行。系统给出的函数为</a:t>
            </a:r>
            <a:r>
              <a:rPr lang="en-US" dirty="0" err="1"/>
              <a:t>SystemInit</a:t>
            </a:r>
            <a:r>
              <a:rPr lang="en-US" dirty="0"/>
              <a:t>()</a:t>
            </a:r>
            <a:r>
              <a:rPr lang="zh-CN" altLang="en-US" dirty="0"/>
              <a:t>。但在调用前还需要进行一些宏定义的设置，具体的设置在</a:t>
            </a:r>
            <a:r>
              <a:rPr lang="en-US" dirty="0"/>
              <a:t>system_stm32f10x.c</a:t>
            </a:r>
            <a:r>
              <a:rPr lang="zh-CN" altLang="en-US" dirty="0"/>
              <a:t>文件中。</a:t>
            </a:r>
          </a:p>
          <a:p>
            <a:pPr>
              <a:lnSpc>
                <a:spcPct val="150000"/>
              </a:lnSpc>
              <a:buClr>
                <a:srgbClr val="C00000"/>
              </a:buClr>
              <a:buFont typeface="Wingdings" pitchFamily="2" charset="2"/>
              <a:buChar char="u"/>
            </a:pPr>
            <a:r>
              <a:rPr lang="en-US" dirty="0"/>
              <a:t> system_stm32f10x.c </a:t>
            </a:r>
            <a:r>
              <a:rPr lang="zh-CN" altLang="en-US" dirty="0"/>
              <a:t>中，有这样一个宏定义：</a:t>
            </a:r>
            <a:endParaRPr lang="en-US" altLang="zh-CN" dirty="0"/>
          </a:p>
          <a:p>
            <a:pPr>
              <a:lnSpc>
                <a:spcPct val="150000"/>
              </a:lnSpc>
            </a:pPr>
            <a:r>
              <a:rPr lang="en-US" dirty="0"/>
              <a:t>//#define SYSCLK_FREQ_24MHz 24000000</a:t>
            </a:r>
          </a:p>
          <a:p>
            <a:pPr>
              <a:lnSpc>
                <a:spcPct val="150000"/>
              </a:lnSpc>
            </a:pPr>
            <a:r>
              <a:rPr lang="en-US" dirty="0"/>
              <a:t>//#define SYSCLK_FREQ_36MHz 36000000</a:t>
            </a:r>
          </a:p>
          <a:p>
            <a:pPr>
              <a:lnSpc>
                <a:spcPct val="150000"/>
              </a:lnSpc>
            </a:pPr>
            <a:r>
              <a:rPr lang="en-US" dirty="0"/>
              <a:t>//#define SYSCLK_FREQ_48MHz 48000000</a:t>
            </a:r>
          </a:p>
          <a:p>
            <a:pPr>
              <a:lnSpc>
                <a:spcPct val="150000"/>
              </a:lnSpc>
            </a:pPr>
            <a:r>
              <a:rPr lang="en-US" dirty="0"/>
              <a:t>//#define SYSCLK_FREQ_56MHz 56000000</a:t>
            </a:r>
          </a:p>
          <a:p>
            <a:pPr>
              <a:lnSpc>
                <a:spcPct val="150000"/>
              </a:lnSpc>
            </a:pPr>
            <a:r>
              <a:rPr lang="en-US" b="1" dirty="0">
                <a:solidFill>
                  <a:srgbClr val="C00000"/>
                </a:solidFill>
              </a:rPr>
              <a:t>#define SYSCLK_FREQ_72MHz 72000000</a:t>
            </a:r>
            <a:r>
              <a:rPr lang="en-US" dirty="0"/>
              <a:t> </a:t>
            </a:r>
            <a:endParaRPr lang="zh-CN" altLang="en-US" dirty="0"/>
          </a:p>
          <a:p>
            <a:pPr>
              <a:lnSpc>
                <a:spcPct val="150000"/>
              </a:lnSpc>
              <a:buClr>
                <a:srgbClr val="C00000"/>
              </a:buClr>
              <a:buFont typeface="Wingdings" pitchFamily="2" charset="2"/>
              <a:buChar char="u"/>
            </a:pPr>
            <a:r>
              <a:rPr lang="zh-CN" altLang="en-US" dirty="0"/>
              <a:t>以下代码定义微处理器频率为</a:t>
            </a:r>
            <a:r>
              <a:rPr lang="en-US" altLang="zh-CN" dirty="0"/>
              <a:t>72MHz</a:t>
            </a:r>
            <a:r>
              <a:rPr lang="zh-CN" altLang="en-US" dirty="0"/>
              <a:t>时各系统的速度，</a:t>
            </a:r>
            <a:r>
              <a:rPr lang="en-US" altLang="zh-CN" dirty="0"/>
              <a:t>.</a:t>
            </a:r>
            <a:r>
              <a:rPr lang="zh-CN" altLang="en-US" dirty="0"/>
              <a:t>他们分别是</a:t>
            </a:r>
            <a:r>
              <a:rPr lang="en-US" altLang="zh-CN" dirty="0"/>
              <a:t>:</a:t>
            </a:r>
            <a:r>
              <a:rPr lang="zh-CN" altLang="en-US" dirty="0"/>
              <a:t>硬件频率</a:t>
            </a:r>
            <a:r>
              <a:rPr lang="en-US" altLang="zh-CN" dirty="0"/>
              <a:t>,</a:t>
            </a:r>
            <a:r>
              <a:rPr lang="zh-CN" altLang="en-US" dirty="0"/>
              <a:t>系统时钟</a:t>
            </a:r>
            <a:r>
              <a:rPr lang="en-US" altLang="zh-CN" dirty="0"/>
              <a:t>,AHB</a:t>
            </a:r>
            <a:r>
              <a:rPr lang="zh-CN" altLang="en-US" dirty="0"/>
              <a:t>总线频率</a:t>
            </a:r>
            <a:r>
              <a:rPr lang="en-US" altLang="zh-CN" dirty="0"/>
              <a:t>,APB1</a:t>
            </a:r>
            <a:r>
              <a:rPr lang="zh-CN" altLang="en-US" dirty="0"/>
              <a:t>总线频率</a:t>
            </a:r>
            <a:r>
              <a:rPr lang="en-US" altLang="zh-CN" dirty="0"/>
              <a:t>,APB2</a:t>
            </a:r>
            <a:r>
              <a:rPr lang="zh-CN" altLang="en-US" dirty="0"/>
              <a:t>总线频率</a:t>
            </a:r>
            <a:r>
              <a:rPr lang="en-US" altLang="zh-CN" dirty="0"/>
              <a:t>.</a:t>
            </a:r>
          </a:p>
          <a:p>
            <a:pPr>
              <a:lnSpc>
                <a:spcPct val="150000"/>
              </a:lnSpc>
            </a:pPr>
            <a:r>
              <a:rPr lang="en-US" dirty="0"/>
              <a:t>const uint32_t </a:t>
            </a:r>
            <a:r>
              <a:rPr lang="en-US" dirty="0" err="1"/>
              <a:t>SystemFrequency</a:t>
            </a:r>
            <a:r>
              <a:rPr lang="en-US" dirty="0"/>
              <a:t>         = SYSCLK_FREQ_72MHz;    </a:t>
            </a:r>
          </a:p>
          <a:p>
            <a:pPr>
              <a:lnSpc>
                <a:spcPct val="150000"/>
              </a:lnSpc>
            </a:pPr>
            <a:r>
              <a:rPr lang="en-US" dirty="0"/>
              <a:t>const uint32_t </a:t>
            </a:r>
            <a:r>
              <a:rPr lang="en-US" dirty="0" err="1"/>
              <a:t>SystemFrequency_SysClk</a:t>
            </a:r>
            <a:r>
              <a:rPr lang="en-US" dirty="0"/>
              <a:t>   = SYSCLK_FREQ_72MHz;    </a:t>
            </a:r>
          </a:p>
          <a:p>
            <a:pPr>
              <a:lnSpc>
                <a:spcPct val="150000"/>
              </a:lnSpc>
            </a:pPr>
            <a:r>
              <a:rPr lang="en-US" dirty="0"/>
              <a:t>const uint32_t </a:t>
            </a:r>
            <a:r>
              <a:rPr lang="en-US" dirty="0" err="1"/>
              <a:t>SystemFrequency_AHBClk</a:t>
            </a:r>
            <a:r>
              <a:rPr lang="en-US" dirty="0"/>
              <a:t>   = SYSCLK_FREQ_72MHz;    </a:t>
            </a:r>
          </a:p>
          <a:p>
            <a:pPr>
              <a:lnSpc>
                <a:spcPct val="150000"/>
              </a:lnSpc>
            </a:pPr>
            <a:r>
              <a:rPr lang="en-US" dirty="0"/>
              <a:t>const uint32_t SystemFrequency_APB1Clk  = (SYSCLK_FREQ_72MHz/2);</a:t>
            </a:r>
          </a:p>
          <a:p>
            <a:pPr>
              <a:lnSpc>
                <a:spcPct val="150000"/>
              </a:lnSpc>
            </a:pPr>
            <a:r>
              <a:rPr lang="en-US" dirty="0"/>
              <a:t>const uint32_t SystemFrequency_APB2Clk  = SYSCLK_FREQ_72MHz;</a:t>
            </a:r>
          </a:p>
          <a:p>
            <a:pPr>
              <a:lnSpc>
                <a:spcPct val="150000"/>
              </a:lnSpc>
              <a:buClr>
                <a:srgbClr val="C00000"/>
              </a:buClr>
            </a:pP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363895" y="597159"/>
            <a:ext cx="11105541" cy="590931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fontAlgn="base">
              <a:lnSpc>
                <a:spcPct val="150000"/>
              </a:lnSpc>
              <a:spcBef>
                <a:spcPct val="0"/>
              </a:spcBef>
              <a:spcAft>
                <a:spcPct val="0"/>
              </a:spcAft>
            </a:pPr>
            <a:r>
              <a:rPr lang="zh-CN" altLang="en-US" dirty="0"/>
              <a:t>      以下代码定义微处理器频率为</a:t>
            </a:r>
            <a:r>
              <a:rPr lang="en-US" altLang="zh-CN" dirty="0"/>
              <a:t>72MHz</a:t>
            </a:r>
            <a:r>
              <a:rPr lang="zh-CN" altLang="en-US" dirty="0"/>
              <a:t>时，设置时钟的函数。此函数被</a:t>
            </a:r>
            <a:r>
              <a:rPr lang="en-US" altLang="zh-CN" dirty="0" err="1"/>
              <a:t>SetSysClock</a:t>
            </a:r>
            <a:r>
              <a:rPr lang="en-US" altLang="zh-CN" dirty="0"/>
              <a:t>()</a:t>
            </a:r>
            <a:r>
              <a:rPr lang="zh-CN" altLang="en-US" dirty="0"/>
              <a:t>函数调用，而</a:t>
            </a:r>
            <a:endParaRPr lang="en-US" altLang="zh-CN" dirty="0"/>
          </a:p>
          <a:p>
            <a:pPr lvl="0" fontAlgn="base">
              <a:lnSpc>
                <a:spcPct val="150000"/>
              </a:lnSpc>
              <a:spcBef>
                <a:spcPct val="0"/>
              </a:spcBef>
              <a:spcAft>
                <a:spcPct val="0"/>
              </a:spcAft>
            </a:pPr>
            <a:r>
              <a:rPr lang="en-US" altLang="zh-CN" dirty="0" err="1"/>
              <a:t>SetSysClock</a:t>
            </a:r>
            <a:r>
              <a:rPr lang="en-US" altLang="zh-CN" dirty="0"/>
              <a:t>()</a:t>
            </a:r>
            <a:r>
              <a:rPr lang="zh-CN" altLang="en-US" dirty="0"/>
              <a:t>函数被</a:t>
            </a:r>
            <a:r>
              <a:rPr lang="en-US" altLang="zh-CN" dirty="0" err="1"/>
              <a:t>SystemInit</a:t>
            </a:r>
            <a:r>
              <a:rPr lang="en-US" altLang="zh-CN" dirty="0"/>
              <a:t>()</a:t>
            </a:r>
            <a:r>
              <a:rPr lang="zh-CN" altLang="en-US" dirty="0"/>
              <a:t>函数调用。最后在主函数中调用</a:t>
            </a:r>
            <a:r>
              <a:rPr lang="en-US" altLang="zh-CN" dirty="0" err="1"/>
              <a:t>SystemInit</a:t>
            </a:r>
            <a:r>
              <a:rPr lang="en-US" altLang="zh-CN" dirty="0"/>
              <a:t>()</a:t>
            </a:r>
            <a:r>
              <a:rPr lang="zh-CN" altLang="en-US" dirty="0"/>
              <a:t>函数实现时钟的设置。</a:t>
            </a:r>
            <a:endParaRPr lang="en-US" altLang="zh-CN" dirty="0"/>
          </a:p>
          <a:p>
            <a:pPr>
              <a:lnSpc>
                <a:spcPct val="150000"/>
              </a:lnSpc>
            </a:pPr>
            <a:r>
              <a:rPr lang="en-US" altLang="en-US" dirty="0"/>
              <a:t>#</a:t>
            </a:r>
            <a:r>
              <a:rPr lang="en-US" altLang="en-US" dirty="0" err="1"/>
              <a:t>elif</a:t>
            </a:r>
            <a:r>
              <a:rPr lang="en-US" altLang="en-US" dirty="0"/>
              <a:t> defined SYSCLK_FREQ_72MHz </a:t>
            </a:r>
          </a:p>
          <a:p>
            <a:pPr>
              <a:lnSpc>
                <a:spcPct val="150000"/>
              </a:lnSpc>
            </a:pPr>
            <a:r>
              <a:rPr lang="en-US" dirty="0"/>
              <a:t>static void SetSysClockTo72(void);</a:t>
            </a:r>
          </a:p>
          <a:p>
            <a:pPr>
              <a:lnSpc>
                <a:spcPct val="150000"/>
              </a:lnSpc>
            </a:pPr>
            <a:r>
              <a:rPr lang="zh-CN" altLang="en-US" dirty="0"/>
              <a:t>下面是​</a:t>
            </a:r>
            <a:r>
              <a:rPr lang="en-US" dirty="0"/>
              <a:t>SetSysClockTo72(void)</a:t>
            </a:r>
            <a:r>
              <a:rPr lang="zh-CN" altLang="en-US" dirty="0"/>
              <a:t>函数中的一部分：</a:t>
            </a:r>
          </a:p>
          <a:p>
            <a:pPr>
              <a:lnSpc>
                <a:spcPct val="150000"/>
              </a:lnSpc>
            </a:pPr>
            <a:r>
              <a:rPr lang="zh-CN" altLang="en-US" dirty="0"/>
              <a:t>    </a:t>
            </a:r>
            <a:r>
              <a:rPr lang="en-US" dirty="0"/>
              <a:t>RCC-&gt;CFGR |= (uint32_t)RCC_CFGR_HPRE_DIV1;</a:t>
            </a:r>
          </a:p>
          <a:p>
            <a:pPr>
              <a:lnSpc>
                <a:spcPct val="150000"/>
              </a:lnSpc>
            </a:pPr>
            <a:r>
              <a:rPr lang="en-US" dirty="0"/>
              <a:t>    RCC-&gt;CFGR |= (uint32_t)RCC_CFGR_PPRE2_DIV1;</a:t>
            </a:r>
          </a:p>
          <a:p>
            <a:pPr>
              <a:lnSpc>
                <a:spcPct val="150000"/>
              </a:lnSpc>
            </a:pPr>
            <a:r>
              <a:rPr lang="en-US" dirty="0"/>
              <a:t>    RCC-&gt;CFGR |= (uint32_t)RCC_CFGR_PPRE1_DIV2;</a:t>
            </a:r>
          </a:p>
          <a:p>
            <a:pPr>
              <a:lnSpc>
                <a:spcPct val="150000"/>
              </a:lnSpc>
            </a:pPr>
            <a:r>
              <a:rPr lang="zh-CN" altLang="en-US" b="1" dirty="0">
                <a:solidFill>
                  <a:srgbClr val="C00000"/>
                </a:solidFill>
              </a:rPr>
              <a:t>所以设置系统时钟的流程就是</a:t>
            </a:r>
            <a:r>
              <a:rPr lang="en-US" altLang="zh-CN" b="1" dirty="0">
                <a:solidFill>
                  <a:srgbClr val="C00000"/>
                </a:solidFill>
              </a:rPr>
              <a:t>:</a:t>
            </a:r>
          </a:p>
          <a:p>
            <a:pPr>
              <a:lnSpc>
                <a:spcPct val="150000"/>
              </a:lnSpc>
            </a:pPr>
            <a:r>
              <a:rPr lang="en-US" altLang="zh-CN" dirty="0"/>
              <a:t>     </a:t>
            </a:r>
            <a:r>
              <a:rPr lang="zh-CN" altLang="en-US" dirty="0"/>
              <a:t>首先用户程序调用 </a:t>
            </a:r>
            <a:r>
              <a:rPr lang="en-US" dirty="0" err="1"/>
              <a:t>SystemInit</a:t>
            </a:r>
            <a:r>
              <a:rPr lang="en-US" dirty="0"/>
              <a:t>()</a:t>
            </a:r>
            <a:r>
              <a:rPr lang="zh-CN" altLang="en-US" dirty="0"/>
              <a:t>函数</a:t>
            </a:r>
            <a:r>
              <a:rPr lang="en-US" altLang="zh-CN" dirty="0"/>
              <a:t>,</a:t>
            </a:r>
            <a:r>
              <a:rPr lang="zh-CN" altLang="en-US" dirty="0"/>
              <a:t>这是一个库函数</a:t>
            </a:r>
            <a:r>
              <a:rPr lang="en-US" altLang="zh-CN" dirty="0"/>
              <a:t>,</a:t>
            </a:r>
            <a:r>
              <a:rPr lang="zh-CN" altLang="en-US" dirty="0"/>
              <a:t>然后 </a:t>
            </a:r>
            <a:r>
              <a:rPr lang="en-US" dirty="0" err="1"/>
              <a:t>SystemInit</a:t>
            </a:r>
            <a:r>
              <a:rPr lang="en-US" dirty="0"/>
              <a:t>()</a:t>
            </a:r>
            <a:r>
              <a:rPr lang="zh-CN" altLang="en-US" dirty="0"/>
              <a:t>函数里面</a:t>
            </a:r>
            <a:r>
              <a:rPr lang="en-US" altLang="zh-CN" dirty="0"/>
              <a:t>,</a:t>
            </a:r>
            <a:r>
              <a:rPr lang="zh-CN" altLang="en-US" dirty="0"/>
              <a:t>进行了一些寄存器</a:t>
            </a:r>
            <a:endParaRPr lang="en-US" altLang="zh-CN" dirty="0"/>
          </a:p>
          <a:p>
            <a:pPr>
              <a:lnSpc>
                <a:spcPct val="150000"/>
              </a:lnSpc>
            </a:pPr>
            <a:r>
              <a:rPr lang="zh-CN" altLang="en-US" dirty="0"/>
              <a:t>必要的初始化后</a:t>
            </a:r>
            <a:r>
              <a:rPr lang="en-US" altLang="zh-CN" dirty="0"/>
              <a:t>,</a:t>
            </a:r>
            <a:r>
              <a:rPr lang="zh-CN" altLang="en-US" dirty="0"/>
              <a:t>就调用 </a:t>
            </a:r>
            <a:r>
              <a:rPr lang="en-US" dirty="0" err="1"/>
              <a:t>SetSysClock</a:t>
            </a:r>
            <a:r>
              <a:rPr lang="en-US" dirty="0"/>
              <a:t>()</a:t>
            </a:r>
            <a:r>
              <a:rPr lang="zh-CN" altLang="en-US" dirty="0"/>
              <a:t>函数</a:t>
            </a:r>
            <a:r>
              <a:rPr lang="en-US" altLang="zh-CN" dirty="0"/>
              <a:t>.</a:t>
            </a:r>
            <a:r>
              <a:rPr lang="en-US" dirty="0" err="1"/>
              <a:t>SetSysClock</a:t>
            </a:r>
            <a:r>
              <a:rPr lang="en-US" dirty="0"/>
              <a:t>()</a:t>
            </a:r>
            <a:r>
              <a:rPr lang="zh-CN" altLang="en-US" dirty="0"/>
              <a:t>函数根据那个</a:t>
            </a:r>
            <a:endParaRPr lang="en-US" altLang="zh-CN" dirty="0"/>
          </a:p>
          <a:p>
            <a:pPr>
              <a:lnSpc>
                <a:spcPct val="150000"/>
              </a:lnSpc>
            </a:pPr>
            <a:r>
              <a:rPr lang="en-US" altLang="zh-CN" dirty="0"/>
              <a:t>#</a:t>
            </a:r>
            <a:r>
              <a:rPr lang="en-US" dirty="0"/>
              <a:t>define SYSCLK_FREQ_72MHz 72000000 </a:t>
            </a:r>
            <a:r>
              <a:rPr lang="zh-CN" altLang="en-US" dirty="0"/>
              <a:t>的宏定义</a:t>
            </a:r>
            <a:r>
              <a:rPr lang="en-US" altLang="zh-CN" dirty="0"/>
              <a:t>,</a:t>
            </a:r>
            <a:r>
              <a:rPr lang="zh-CN" altLang="en-US" dirty="0"/>
              <a:t>知道了要调用</a:t>
            </a:r>
            <a:r>
              <a:rPr lang="en-US" dirty="0"/>
              <a:t>SetSysClockTo72()</a:t>
            </a:r>
            <a:r>
              <a:rPr lang="zh-CN" altLang="en-US" dirty="0"/>
              <a:t>这个函数</a:t>
            </a:r>
            <a:r>
              <a:rPr lang="en-US" altLang="zh-CN" dirty="0"/>
              <a:t>,</a:t>
            </a:r>
          </a:p>
          <a:p>
            <a:pPr>
              <a:lnSpc>
                <a:spcPct val="150000"/>
              </a:lnSpc>
            </a:pPr>
            <a:endParaRPr lang="en-US" dirty="0"/>
          </a:p>
          <a:p>
            <a:pPr lvl="0" eaLnBrk="0" fontAlgn="base" hangingPunct="0">
              <a:lnSpc>
                <a:spcPct val="150000"/>
              </a:lnSpc>
              <a:spcBef>
                <a:spcPct val="0"/>
              </a:spcBef>
              <a:spcAft>
                <a:spcPct val="0"/>
              </a:spcAft>
            </a:pPr>
            <a:endParaRPr kumimoji="0" lang="en-US" altLang="zh-CN" sz="1800" b="0" i="0" u="none" strike="noStrike" cap="none" normalizeH="0" baseline="0" dirty="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2.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3.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ags/tag4.xml><?xml version="1.0" encoding="utf-8"?>
<p:tagLst xmlns:a="http://schemas.openxmlformats.org/drawingml/2006/main" xmlns:r="http://schemas.openxmlformats.org/officeDocument/2006/relationships" xmlns:p="http://schemas.openxmlformats.org/presentationml/2006/main">
  <p:tag name="WM_BEAUTIFY_ZORDER_FLAG_TAG" val="2"/>
</p:tagLst>
</file>

<file path=ppt/theme/theme1.xml><?xml version="1.0" encoding="utf-8"?>
<a:theme xmlns:a="http://schemas.openxmlformats.org/drawingml/2006/main" name="Office 主题">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accent1"/>
          </a:solidFill>
        </a:ln>
      </a:spPr>
      <a:bodyPr rtlCol="0" anchor="ctr"/>
      <a:lstStyle>
        <a:defPPr algn="ctr">
          <a:defRPr sz="5400" dirty="0" smtClean="0">
            <a:solidFill>
              <a:srgbClr val="5494C3"/>
            </a:solidFill>
          </a:defRPr>
        </a:defPPr>
      </a:lstStyle>
      <a:style>
        <a:lnRef idx="0">
          <a:schemeClr val="accent5"/>
        </a:lnRef>
        <a:fillRef idx="3">
          <a:schemeClr val="accent5"/>
        </a:fillRef>
        <a:effectRef idx="3">
          <a:schemeClr val="accent5"/>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jwangyu">
  <a:themeElements>
    <a:clrScheme name="Office 主题​​">
      <a:dk1>
        <a:srgbClr val="000000"/>
      </a:dk1>
      <a:lt1>
        <a:srgbClr val="FFFFFF"/>
      </a:lt1>
      <a:dk2>
        <a:srgbClr val="44546A"/>
      </a:dk2>
      <a:lt2>
        <a:srgbClr val="E7E6E6"/>
      </a:lt2>
      <a:accent1>
        <a:srgbClr val="318C80"/>
      </a:accent1>
      <a:accent2>
        <a:srgbClr val="F2CF61"/>
      </a:accent2>
      <a:accent3>
        <a:srgbClr val="A6E582"/>
      </a:accent3>
      <a:accent4>
        <a:srgbClr val="51D9B5"/>
      </a:accent4>
      <a:accent5>
        <a:srgbClr val="D95B5B"/>
      </a:accent5>
      <a:accent6>
        <a:srgbClr val="BFBFBF"/>
      </a:accent6>
      <a:hlink>
        <a:srgbClr val="D95B5B"/>
      </a:hlink>
      <a:folHlink>
        <a:srgbClr val="F2CF61"/>
      </a:folHlink>
    </a:clrScheme>
    <a:fontScheme name="雅黑light">
      <a:majorFont>
        <a:latin typeface="Century Gothic"/>
        <a:ea typeface="微软雅黑"/>
        <a:cs typeface=""/>
      </a:majorFont>
      <a:minorFont>
        <a:latin typeface="Century Gothic"/>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2657</TotalTime>
  <Words>2534</Words>
  <Application>Microsoft Office PowerPoint</Application>
  <PresentationFormat>宽屏</PresentationFormat>
  <Paragraphs>124</Paragraphs>
  <Slides>18</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18</vt:i4>
      </vt:variant>
    </vt:vector>
  </HeadingPairs>
  <TitlesOfParts>
    <vt:vector size="26" baseType="lpstr">
      <vt:lpstr>等线</vt:lpstr>
      <vt:lpstr>Arial</vt:lpstr>
      <vt:lpstr>Century Gothic</vt:lpstr>
      <vt:lpstr>Times New Roman</vt:lpstr>
      <vt:lpstr>Verdana</vt:lpstr>
      <vt:lpstr>Wingdings</vt:lpstr>
      <vt:lpstr>Office 主题</vt:lpstr>
      <vt:lpstr>mjwangyu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mjwangyu</dc:creator>
  <cp:lastModifiedBy>宇佩 马</cp:lastModifiedBy>
  <cp:revision>279</cp:revision>
  <dcterms:created xsi:type="dcterms:W3CDTF">2017-06-03T01:25:00Z</dcterms:created>
  <dcterms:modified xsi:type="dcterms:W3CDTF">2026-06-21T06:35:48Z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