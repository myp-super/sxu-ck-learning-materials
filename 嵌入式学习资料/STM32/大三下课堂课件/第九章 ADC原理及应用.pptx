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46"/>
  </p:notesMasterIdLst>
  <p:sldIdLst>
    <p:sldId id="256" r:id="rId3"/>
    <p:sldId id="400" r:id="rId4"/>
    <p:sldId id="401" r:id="rId5"/>
    <p:sldId id="402" r:id="rId6"/>
    <p:sldId id="405" r:id="rId7"/>
    <p:sldId id="461" r:id="rId8"/>
    <p:sldId id="462" r:id="rId9"/>
    <p:sldId id="465" r:id="rId10"/>
    <p:sldId id="477" r:id="rId11"/>
    <p:sldId id="478" r:id="rId12"/>
    <p:sldId id="479" r:id="rId13"/>
    <p:sldId id="480" r:id="rId14"/>
    <p:sldId id="474" r:id="rId15"/>
    <p:sldId id="481" r:id="rId16"/>
    <p:sldId id="476" r:id="rId17"/>
    <p:sldId id="483" r:id="rId18"/>
    <p:sldId id="484" r:id="rId19"/>
    <p:sldId id="485" r:id="rId20"/>
    <p:sldId id="406" r:id="rId21"/>
    <p:sldId id="407" r:id="rId22"/>
    <p:sldId id="466" r:id="rId23"/>
    <p:sldId id="467" r:id="rId24"/>
    <p:sldId id="415" r:id="rId25"/>
    <p:sldId id="470" r:id="rId26"/>
    <p:sldId id="471" r:id="rId27"/>
    <p:sldId id="487" r:id="rId28"/>
    <p:sldId id="472" r:id="rId29"/>
    <p:sldId id="473" r:id="rId30"/>
    <p:sldId id="431" r:id="rId31"/>
    <p:sldId id="409" r:id="rId32"/>
    <p:sldId id="410" r:id="rId33"/>
    <p:sldId id="488" r:id="rId34"/>
    <p:sldId id="489" r:id="rId35"/>
    <p:sldId id="411" r:id="rId36"/>
    <p:sldId id="412" r:id="rId37"/>
    <p:sldId id="413" r:id="rId38"/>
    <p:sldId id="414" r:id="rId39"/>
    <p:sldId id="416" r:id="rId40"/>
    <p:sldId id="417" r:id="rId41"/>
    <p:sldId id="418" r:id="rId42"/>
    <p:sldId id="419" r:id="rId43"/>
    <p:sldId id="420" r:id="rId44"/>
    <p:sldId id="421" r:id="rId45"/>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7">
          <p15:clr>
            <a:srgbClr val="A4A3A4"/>
          </p15:clr>
        </p15:guide>
        <p15:guide id="2" pos="3752">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1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4529E"/>
    <a:srgbClr val="5494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autoAdjust="0"/>
  </p:normalViewPr>
  <p:slideViewPr>
    <p:cSldViewPr snapToGrid="0" showGuides="1">
      <p:cViewPr varScale="1">
        <p:scale>
          <a:sx n="104" d="100"/>
          <a:sy n="104" d="100"/>
        </p:scale>
        <p:origin x="80" y="208"/>
      </p:cViewPr>
      <p:guideLst>
        <p:guide orient="horz" pos="2107"/>
        <p:guide pos="3752"/>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6887AC20-8C1D-44D7-B35A-E6F76E68648C}" type="datetimeFigureOut">
              <a:rPr lang="zh-CN" altLang="en-US" smtClean="0"/>
              <a:pPr/>
              <a:t>2026/7/3</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679C7271-7ECD-45B6-A4AF-14DDD8E71812}"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1_空白">
    <p:bg>
      <p:bgPr>
        <a:solidFill>
          <a:schemeClr val="accent6"/>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2026/7/3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
        <p:nvSpPr>
          <p:cNvPr id="6" name="对角圆角矩形 5"/>
          <p:cNvSpPr/>
          <p:nvPr userDrawn="1"/>
        </p:nvSpPr>
        <p:spPr>
          <a:xfrm flipH="1">
            <a:off x="260350" y="330200"/>
            <a:ext cx="11671300" cy="6197600"/>
          </a:xfrm>
          <a:prstGeom prst="round2DiagRect">
            <a:avLst>
              <a:gd name="adj1" fmla="val 4989"/>
              <a:gd name="adj2" fmla="val 0"/>
            </a:avLst>
          </a:prstGeom>
          <a:solidFill>
            <a:schemeClr val="bg1"/>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2_空白">
    <p:bg>
      <p:bgPr>
        <a:solidFill>
          <a:schemeClr val="accent6"/>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2026/7/3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2026/7/3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2026/7/3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2026/7/3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2026/7/3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2026/7/3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pPr/>
              <a:t>2026/7/3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2026/7/3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2026/7/3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2026/7/3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2026/7/3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2026/7/3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6A473D-8055-43E1-A01D-B0413067B7D8}" type="datetimeFigureOut">
              <a:rPr lang="zh-CN" altLang="en-US" smtClean="0"/>
              <a:pPr/>
              <a:t>2026/7/3</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EB8D81A-C667-4EE5-93BD-6120260630F3}" type="slidenum">
              <a:rPr lang="zh-CN" altLang="en-US" smtClean="0"/>
              <a:pPr/>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背景">
    <p:bg>
      <p:bgPr>
        <a:solidFill>
          <a:schemeClr val="bg2"/>
        </a:solidFill>
        <a:effectLst/>
      </p:bgPr>
    </p:bg>
    <p:spTree>
      <p:nvGrpSpPr>
        <p:cNvPr id="1" name=""/>
        <p:cNvGrpSpPr/>
        <p:nvPr/>
      </p:nvGrpSpPr>
      <p:grpSpPr>
        <a:xfrm>
          <a:off x="0" y="0"/>
          <a:ext cx="0" cy="0"/>
          <a:chOff x="0" y="0"/>
          <a:chExt cx="0" cy="0"/>
        </a:xfrm>
      </p:grpSpPr>
      <p:sp>
        <p:nvSpPr>
          <p:cNvPr id="7" name="图片占位符 9"/>
          <p:cNvSpPr>
            <a:spLocks noGrp="1"/>
          </p:cNvSpPr>
          <p:nvPr>
            <p:ph type="pic" sz="quarter" idx="13" hasCustomPrompt="1"/>
          </p:nvPr>
        </p:nvSpPr>
        <p:spPr>
          <a:xfrm>
            <a:off x="183526" y="301839"/>
            <a:ext cx="7882284" cy="443365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8" name="图片占位符 9"/>
          <p:cNvSpPr>
            <a:spLocks noGrp="1"/>
          </p:cNvSpPr>
          <p:nvPr>
            <p:ph type="pic" sz="quarter" idx="14" hasCustomPrompt="1"/>
          </p:nvPr>
        </p:nvSpPr>
        <p:spPr>
          <a:xfrm>
            <a:off x="8174953" y="287325"/>
            <a:ext cx="3856784" cy="2169374"/>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9" name="图片占位符 9"/>
          <p:cNvSpPr>
            <a:spLocks noGrp="1"/>
          </p:cNvSpPr>
          <p:nvPr>
            <p:ph type="pic" sz="quarter" idx="15" hasCustomPrompt="1"/>
          </p:nvPr>
        </p:nvSpPr>
        <p:spPr>
          <a:xfrm>
            <a:off x="8174953" y="2575658"/>
            <a:ext cx="3856784" cy="2169374"/>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背景">
    <p:bg>
      <p:bgPr>
        <a:solidFill>
          <a:schemeClr val="bg1"/>
        </a:solidFill>
        <a:effectLst/>
      </p:bgPr>
    </p:bg>
    <p:spTree>
      <p:nvGrpSpPr>
        <p:cNvPr id="1" name=""/>
        <p:cNvGrpSpPr/>
        <p:nvPr/>
      </p:nvGrpSpPr>
      <p:grpSpPr>
        <a:xfrm>
          <a:off x="0" y="0"/>
          <a:ext cx="0" cy="0"/>
          <a:chOff x="0" y="0"/>
          <a:chExt cx="0" cy="0"/>
        </a:xfrm>
      </p:grpSpPr>
      <p:sp>
        <p:nvSpPr>
          <p:cNvPr id="6" name="图片占位符 9"/>
          <p:cNvSpPr>
            <a:spLocks noGrp="1"/>
          </p:cNvSpPr>
          <p:nvPr>
            <p:ph type="pic" sz="quarter" idx="13" hasCustomPrompt="1"/>
          </p:nvPr>
        </p:nvSpPr>
        <p:spPr>
          <a:xfrm>
            <a:off x="631384" y="347886"/>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8" name="图片占位符 9"/>
          <p:cNvSpPr>
            <a:spLocks noGrp="1"/>
          </p:cNvSpPr>
          <p:nvPr>
            <p:ph type="pic" sz="quarter" idx="15" hasCustomPrompt="1"/>
          </p:nvPr>
        </p:nvSpPr>
        <p:spPr>
          <a:xfrm>
            <a:off x="4300500" y="347886"/>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9" name="图片占位符 9"/>
          <p:cNvSpPr>
            <a:spLocks noGrp="1"/>
          </p:cNvSpPr>
          <p:nvPr>
            <p:ph type="pic" sz="quarter" idx="16" hasCustomPrompt="1"/>
          </p:nvPr>
        </p:nvSpPr>
        <p:spPr>
          <a:xfrm>
            <a:off x="7969616" y="347886"/>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0" name="图片占位符 9"/>
          <p:cNvSpPr>
            <a:spLocks noGrp="1"/>
          </p:cNvSpPr>
          <p:nvPr>
            <p:ph type="pic" sz="quarter" idx="17" hasCustomPrompt="1"/>
          </p:nvPr>
        </p:nvSpPr>
        <p:spPr>
          <a:xfrm>
            <a:off x="631384" y="2423590"/>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1" name="图片占位符 9"/>
          <p:cNvSpPr>
            <a:spLocks noGrp="1"/>
          </p:cNvSpPr>
          <p:nvPr>
            <p:ph type="pic" sz="quarter" idx="18" hasCustomPrompt="1"/>
          </p:nvPr>
        </p:nvSpPr>
        <p:spPr>
          <a:xfrm>
            <a:off x="4300500" y="2423590"/>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2" name="图片占位符 9"/>
          <p:cNvSpPr>
            <a:spLocks noGrp="1"/>
          </p:cNvSpPr>
          <p:nvPr>
            <p:ph type="pic" sz="quarter" idx="19" hasCustomPrompt="1"/>
          </p:nvPr>
        </p:nvSpPr>
        <p:spPr>
          <a:xfrm>
            <a:off x="7969616" y="2423590"/>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3" name="图片占位符 9"/>
          <p:cNvSpPr>
            <a:spLocks noGrp="1"/>
          </p:cNvSpPr>
          <p:nvPr>
            <p:ph type="pic" sz="quarter" idx="20" hasCustomPrompt="1"/>
          </p:nvPr>
        </p:nvSpPr>
        <p:spPr>
          <a:xfrm>
            <a:off x="631384" y="4499294"/>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4" name="图片占位符 9"/>
          <p:cNvSpPr>
            <a:spLocks noGrp="1"/>
          </p:cNvSpPr>
          <p:nvPr>
            <p:ph type="pic" sz="quarter" idx="21" hasCustomPrompt="1"/>
          </p:nvPr>
        </p:nvSpPr>
        <p:spPr>
          <a:xfrm>
            <a:off x="4300500" y="4499294"/>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5" name="图片占位符 9"/>
          <p:cNvSpPr>
            <a:spLocks noGrp="1"/>
          </p:cNvSpPr>
          <p:nvPr>
            <p:ph type="pic" sz="quarter" idx="22" hasCustomPrompt="1"/>
          </p:nvPr>
        </p:nvSpPr>
        <p:spPr>
          <a:xfrm>
            <a:off x="7969616" y="4499294"/>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背景">
    <p:bg>
      <p:bgPr>
        <a:solidFill>
          <a:schemeClr val="bg2"/>
        </a:solidFill>
        <a:effectLst/>
      </p:bgPr>
    </p:bg>
    <p:spTree>
      <p:nvGrpSpPr>
        <p:cNvPr id="1" name=""/>
        <p:cNvGrpSpPr/>
        <p:nvPr/>
      </p:nvGrpSpPr>
      <p:grpSpPr>
        <a:xfrm>
          <a:off x="0" y="0"/>
          <a:ext cx="0" cy="0"/>
          <a:chOff x="0" y="0"/>
          <a:chExt cx="0" cy="0"/>
        </a:xfrm>
      </p:grpSpPr>
      <p:sp>
        <p:nvSpPr>
          <p:cNvPr id="6" name="图片占位符 9"/>
          <p:cNvSpPr>
            <a:spLocks noGrp="1"/>
          </p:cNvSpPr>
          <p:nvPr>
            <p:ph type="pic" sz="quarter" idx="13" hasCustomPrompt="1"/>
          </p:nvPr>
        </p:nvSpPr>
        <p:spPr>
          <a:xfrm>
            <a:off x="947430" y="523274"/>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9" name="图片占位符 9"/>
          <p:cNvSpPr>
            <a:spLocks noGrp="1"/>
          </p:cNvSpPr>
          <p:nvPr>
            <p:ph type="pic" sz="quarter" idx="16" hasCustomPrompt="1"/>
          </p:nvPr>
        </p:nvSpPr>
        <p:spPr>
          <a:xfrm>
            <a:off x="6136402" y="523274"/>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3" name="图片占位符 9"/>
          <p:cNvSpPr>
            <a:spLocks noGrp="1"/>
          </p:cNvSpPr>
          <p:nvPr>
            <p:ph type="pic" sz="quarter" idx="20" hasCustomPrompt="1"/>
          </p:nvPr>
        </p:nvSpPr>
        <p:spPr>
          <a:xfrm>
            <a:off x="947430" y="3469401"/>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5" name="图片占位符 9"/>
          <p:cNvSpPr>
            <a:spLocks noGrp="1"/>
          </p:cNvSpPr>
          <p:nvPr>
            <p:ph type="pic" sz="quarter" idx="22" hasCustomPrompt="1"/>
          </p:nvPr>
        </p:nvSpPr>
        <p:spPr>
          <a:xfrm>
            <a:off x="6136402" y="3469401"/>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版权声明">
    <p:spTree>
      <p:nvGrpSpPr>
        <p:cNvPr id="1" name=""/>
        <p:cNvGrpSpPr/>
        <p:nvPr/>
      </p:nvGrpSpPr>
      <p:grpSpPr>
        <a:xfrm>
          <a:off x="0" y="0"/>
          <a:ext cx="0" cy="0"/>
          <a:chOff x="0" y="0"/>
          <a:chExt cx="0" cy="0"/>
        </a:xfrm>
      </p:grpSpPr>
      <p:sp>
        <p:nvSpPr>
          <p:cNvPr id="4" name="矩形 3"/>
          <p:cNvSpPr/>
          <p:nvPr userDrawn="1"/>
        </p:nvSpPr>
        <p:spPr>
          <a:xfrm>
            <a:off x="5444248" y="3083669"/>
            <a:ext cx="1303506" cy="1303506"/>
          </a:xfrm>
          <a:prstGeom prst="rect">
            <a:avLst/>
          </a:prstGeom>
          <a:solidFill>
            <a:schemeClr val="bg1"/>
          </a:solidFill>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64514" tIns="32257" rIns="64514" bIns="32257" numCol="1" spcCol="0" rtlCol="0" fromWordArt="0" anchor="ctr" anchorCtr="0" forceAA="0" compatLnSpc="1">
            <a:noAutofit/>
          </a:bodyPr>
          <a:lstStyle/>
          <a:p>
            <a:pPr lvl="0" algn="ctr"/>
            <a:endParaRPr lang="zh-CN" altLang="en-US" sz="2800" b="1">
              <a:solidFill>
                <a:schemeClr val="bg1">
                  <a:lumMod val="85000"/>
                  <a:lumOff val="15000"/>
                </a:schemeClr>
              </a:solidFill>
            </a:endParaRPr>
          </a:p>
        </p:txBody>
      </p:sp>
      <p:sp>
        <p:nvSpPr>
          <p:cNvPr id="7" name="矩形 6"/>
          <p:cNvSpPr/>
          <p:nvPr userDrawn="1"/>
        </p:nvSpPr>
        <p:spPr>
          <a:xfrm>
            <a:off x="5142690" y="4587099"/>
            <a:ext cx="1906622" cy="646382"/>
          </a:xfrm>
          <a:prstGeom prst="rect">
            <a:avLst/>
          </a:prstGeom>
          <a:noFill/>
          <a:ln>
            <a:noFill/>
          </a:ln>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1695" b="1" dirty="0">
                <a:solidFill>
                  <a:schemeClr val="tx1">
                    <a:lumMod val="85000"/>
                    <a:lumOff val="15000"/>
                  </a:schemeClr>
                </a:solidFill>
              </a:rPr>
              <a:t>微信公众号</a:t>
            </a:r>
          </a:p>
        </p:txBody>
      </p:sp>
      <p:pic>
        <p:nvPicPr>
          <p:cNvPr id="14" name="图片 13" descr="图片包含 文字, 纵横字谜&#10;&#10;已生成极高可信度的说明"/>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86401" y="3125822"/>
            <a:ext cx="1219200" cy="1219199"/>
          </a:xfrm>
          <a:prstGeom prst="rect">
            <a:avLst/>
          </a:prstGeom>
        </p:spPr>
      </p:pic>
      <p:sp>
        <p:nvSpPr>
          <p:cNvPr id="3" name="矩形 2"/>
          <p:cNvSpPr/>
          <p:nvPr userDrawn="1"/>
        </p:nvSpPr>
        <p:spPr>
          <a:xfrm>
            <a:off x="2731852" y="3083669"/>
            <a:ext cx="1303506" cy="1303506"/>
          </a:xfrm>
          <a:prstGeom prst="rect">
            <a:avLst/>
          </a:prstGeom>
          <a:solidFill>
            <a:schemeClr val="bg1"/>
          </a:solidFill>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64514" tIns="32257" rIns="64514" bIns="32257" numCol="1" spcCol="0" rtlCol="0" fromWordArt="0" anchor="ctr" anchorCtr="0" forceAA="0" compatLnSpc="1">
            <a:noAutofit/>
          </a:bodyPr>
          <a:lstStyle/>
          <a:p>
            <a:pPr lvl="0" algn="ctr"/>
            <a:endParaRPr lang="zh-CN" altLang="en-US" sz="2800" b="1">
              <a:solidFill>
                <a:schemeClr val="bg1">
                  <a:lumMod val="85000"/>
                  <a:lumOff val="15000"/>
                </a:schemeClr>
              </a:solidFill>
            </a:endParaRPr>
          </a:p>
        </p:txBody>
      </p:sp>
      <p:sp>
        <p:nvSpPr>
          <p:cNvPr id="6" name="矩形 5"/>
          <p:cNvSpPr/>
          <p:nvPr userDrawn="1"/>
        </p:nvSpPr>
        <p:spPr>
          <a:xfrm>
            <a:off x="2430294" y="4587099"/>
            <a:ext cx="1906622" cy="646382"/>
          </a:xfrm>
          <a:prstGeom prst="rect">
            <a:avLst/>
          </a:prstGeom>
          <a:noFill/>
          <a:ln>
            <a:noFill/>
          </a:ln>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1695" b="1" dirty="0">
                <a:solidFill>
                  <a:schemeClr val="tx1">
                    <a:lumMod val="85000"/>
                    <a:lumOff val="15000"/>
                  </a:schemeClr>
                </a:solidFill>
              </a:rPr>
              <a:t>微博</a:t>
            </a:r>
          </a:p>
        </p:txBody>
      </p:sp>
      <p:grpSp>
        <p:nvGrpSpPr>
          <p:cNvPr id="16" name="组合 15"/>
          <p:cNvGrpSpPr/>
          <p:nvPr userDrawn="1"/>
        </p:nvGrpSpPr>
        <p:grpSpPr>
          <a:xfrm>
            <a:off x="2787981" y="3139797"/>
            <a:ext cx="1191249" cy="1191249"/>
            <a:chOff x="4094696" y="2530197"/>
            <a:chExt cx="1191249" cy="1191249"/>
          </a:xfrm>
        </p:grpSpPr>
        <p:sp>
          <p:nvSpPr>
            <p:cNvPr id="15" name="矩形 14"/>
            <p:cNvSpPr/>
            <p:nvPr userDrawn="1"/>
          </p:nvSpPr>
          <p:spPr>
            <a:xfrm>
              <a:off x="4094696" y="2530197"/>
              <a:ext cx="1191249" cy="1191249"/>
            </a:xfrm>
            <a:prstGeom prst="rect">
              <a:avLst/>
            </a:prstGeom>
            <a:solidFill>
              <a:schemeClr val="tx1"/>
            </a:solidFill>
            <a:effectLst/>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345"/>
            </a:p>
          </p:txBody>
        </p:sp>
        <p:pic>
          <p:nvPicPr>
            <p:cNvPr id="12" name="图片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147387" y="2582888"/>
              <a:ext cx="1085866" cy="1085866"/>
            </a:xfrm>
            <a:prstGeom prst="rect">
              <a:avLst/>
            </a:prstGeom>
          </p:spPr>
        </p:pic>
      </p:grpSp>
      <p:sp>
        <p:nvSpPr>
          <p:cNvPr id="5" name="矩形 4"/>
          <p:cNvSpPr/>
          <p:nvPr userDrawn="1"/>
        </p:nvSpPr>
        <p:spPr>
          <a:xfrm>
            <a:off x="8156642" y="3083669"/>
            <a:ext cx="1303506" cy="1303506"/>
          </a:xfrm>
          <a:prstGeom prst="rect">
            <a:avLst/>
          </a:prstGeom>
          <a:solidFill>
            <a:schemeClr val="bg1"/>
          </a:solidFill>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64514" tIns="32257" rIns="64514" bIns="32257" numCol="1" spcCol="0" rtlCol="0" fromWordArt="0" anchor="ctr" anchorCtr="0" forceAA="0" compatLnSpc="1">
            <a:noAutofit/>
          </a:bodyPr>
          <a:lstStyle/>
          <a:p>
            <a:pPr lvl="0" algn="ctr"/>
            <a:endParaRPr lang="zh-CN" altLang="en-US" sz="2800" b="1">
              <a:solidFill>
                <a:schemeClr val="bg1">
                  <a:lumMod val="85000"/>
                  <a:lumOff val="15000"/>
                </a:schemeClr>
              </a:solidFill>
            </a:endParaRPr>
          </a:p>
        </p:txBody>
      </p:sp>
      <p:sp>
        <p:nvSpPr>
          <p:cNvPr id="8" name="矩形 7"/>
          <p:cNvSpPr/>
          <p:nvPr userDrawn="1"/>
        </p:nvSpPr>
        <p:spPr>
          <a:xfrm>
            <a:off x="7855085" y="4587099"/>
            <a:ext cx="1906622" cy="646382"/>
          </a:xfrm>
          <a:prstGeom prst="rect">
            <a:avLst/>
          </a:prstGeom>
          <a:noFill/>
          <a:ln>
            <a:noFill/>
          </a:ln>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sz="1695" b="1" dirty="0">
                <a:solidFill>
                  <a:schemeClr val="tx1">
                    <a:lumMod val="85000"/>
                    <a:lumOff val="15000"/>
                  </a:schemeClr>
                </a:solidFill>
                <a:latin typeface="+mj-lt"/>
              </a:rPr>
              <a:t>QQ</a:t>
            </a:r>
            <a:endParaRPr lang="zh-CN" altLang="en-US" sz="1695" b="1" dirty="0">
              <a:solidFill>
                <a:schemeClr val="tx1">
                  <a:lumMod val="85000"/>
                  <a:lumOff val="15000"/>
                </a:schemeClr>
              </a:solidFill>
              <a:latin typeface="+mj-lt"/>
            </a:endParaRPr>
          </a:p>
        </p:txBody>
      </p:sp>
      <p:grpSp>
        <p:nvGrpSpPr>
          <p:cNvPr id="19" name="组合 18"/>
          <p:cNvGrpSpPr/>
          <p:nvPr userDrawn="1"/>
        </p:nvGrpSpPr>
        <p:grpSpPr>
          <a:xfrm>
            <a:off x="8212772" y="3139797"/>
            <a:ext cx="1191249" cy="1191249"/>
            <a:chOff x="7049311" y="3295887"/>
            <a:chExt cx="1191249" cy="1191249"/>
          </a:xfrm>
        </p:grpSpPr>
        <p:sp>
          <p:nvSpPr>
            <p:cNvPr id="17" name="矩形 16"/>
            <p:cNvSpPr/>
            <p:nvPr userDrawn="1"/>
          </p:nvSpPr>
          <p:spPr>
            <a:xfrm>
              <a:off x="7049311" y="3295887"/>
              <a:ext cx="1191249" cy="1191249"/>
            </a:xfrm>
            <a:prstGeom prst="rect">
              <a:avLst/>
            </a:prstGeom>
            <a:solidFill>
              <a:schemeClr val="tx1"/>
            </a:solidFill>
            <a:effectLst/>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345"/>
            </a:p>
          </p:txBody>
        </p:sp>
        <p:pic>
          <p:nvPicPr>
            <p:cNvPr id="18" name="图片 17"/>
            <p:cNvPicPr>
              <a:picLocks noChangeAspect="1"/>
            </p:cNvPicPr>
            <p:nvPr userDrawn="1"/>
          </p:nvPicPr>
          <p:blipFill>
            <a:blip r:embed="rId4"/>
            <a:stretch>
              <a:fillRect/>
            </a:stretch>
          </p:blipFill>
          <p:spPr>
            <a:xfrm>
              <a:off x="7095938" y="3342514"/>
              <a:ext cx="1097994" cy="1097994"/>
            </a:xfrm>
            <a:prstGeom prst="rect">
              <a:avLst/>
            </a:prstGeom>
          </p:spPr>
        </p:pic>
      </p:grpSp>
      <p:sp>
        <p:nvSpPr>
          <p:cNvPr id="21" name="矩形 20"/>
          <p:cNvSpPr/>
          <p:nvPr userDrawn="1"/>
        </p:nvSpPr>
        <p:spPr>
          <a:xfrm>
            <a:off x="5142690" y="1623060"/>
            <a:ext cx="1906622" cy="601676"/>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2400" b="1" dirty="0">
                <a:solidFill>
                  <a:schemeClr val="tx1">
                    <a:lumMod val="85000"/>
                    <a:lumOff val="15000"/>
                  </a:schemeClr>
                </a:solidFill>
                <a:latin typeface="+mj-ea"/>
                <a:ea typeface="+mj-ea"/>
              </a:rPr>
              <a:t>和我联系</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9"/>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6965"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DB75B134-9E54-4233-9AD4-A661A84126CB}" type="datetimeFigureOut">
              <a:rPr lang="zh-CN" altLang="en-US" smtClean="0"/>
              <a:pPr/>
              <a:t>2026/7/3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45ECC8-A750-41F8-9F51-0C19912CE8E6}" type="slidenum">
              <a:rPr lang="zh-CN" altLang="en-US" smtClean="0"/>
              <a:pPr/>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8_空白">
    <p:spTree>
      <p:nvGrpSpPr>
        <p:cNvPr id="1" name=""/>
        <p:cNvGrpSpPr/>
        <p:nvPr/>
      </p:nvGrpSpPr>
      <p:grpSpPr>
        <a:xfrm>
          <a:off x="0" y="0"/>
          <a:ext cx="0" cy="0"/>
          <a:chOff x="0" y="0"/>
          <a:chExt cx="0" cy="0"/>
        </a:xfrm>
      </p:grpSpPr>
      <p:sp>
        <p:nvSpPr>
          <p:cNvPr id="5" name="标题 4"/>
          <p:cNvSpPr>
            <a:spLocks noGrp="1"/>
          </p:cNvSpPr>
          <p:nvPr>
            <p:ph type="title"/>
          </p:nvPr>
        </p:nvSpPr>
        <p:spPr>
          <a:xfrm>
            <a:off x="3362400" y="136525"/>
            <a:ext cx="5466080" cy="617538"/>
          </a:xfrm>
        </p:spPr>
        <p:txBody>
          <a:bodyPr anchor="b">
            <a:normAutofit/>
          </a:bodyPr>
          <a:lstStyle>
            <a:lvl1pPr algn="ctr">
              <a:defRPr sz="2800"/>
            </a:lvl1pPr>
          </a:lstStyle>
          <a:p>
            <a:r>
              <a:rPr lang="zh-CN" altLang="en-US" dirty="0"/>
              <a:t>单击此处编辑母版标题样式</a:t>
            </a:r>
          </a:p>
        </p:txBody>
      </p:sp>
      <p:sp>
        <p:nvSpPr>
          <p:cNvPr id="6" name="文本占位符 2"/>
          <p:cNvSpPr>
            <a:spLocks noGrp="1"/>
          </p:cNvSpPr>
          <p:nvPr>
            <p:ph type="body" idx="1" hasCustomPrompt="1"/>
          </p:nvPr>
        </p:nvSpPr>
        <p:spPr>
          <a:xfrm>
            <a:off x="3362400" y="754064"/>
            <a:ext cx="5466080" cy="400757"/>
          </a:xfrm>
        </p:spPr>
        <p:txBody>
          <a:bodyPr>
            <a:normAutofit/>
          </a:bodyPr>
          <a:lstStyle>
            <a:lvl1pPr marL="0" indent="0" algn="ctr">
              <a:buNone/>
              <a:defRPr sz="16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6965" indent="0">
              <a:buNone/>
              <a:defRPr sz="1600">
                <a:solidFill>
                  <a:schemeClr val="tx1">
                    <a:tint val="75000"/>
                  </a:schemeClr>
                </a:solidFill>
              </a:defRPr>
            </a:lvl9pPr>
          </a:lstStyle>
          <a:p>
            <a:r>
              <a:rPr lang="en-US" altLang="zh-CN" dirty="0"/>
              <a:t>Lorem ipsum dolor sit </a:t>
            </a:r>
            <a:r>
              <a:rPr lang="en-US" altLang="zh-CN" dirty="0" err="1"/>
              <a:t>amet</a:t>
            </a:r>
            <a:r>
              <a:rPr lang="en-US" altLang="zh-CN" dirty="0"/>
              <a:t>, </a:t>
            </a:r>
            <a:r>
              <a:rPr lang="en-US" altLang="zh-CN" dirty="0" err="1"/>
              <a:t>consectetuer</a:t>
            </a:r>
            <a:r>
              <a:rPr lang="en-US" altLang="zh-CN" dirty="0"/>
              <a:t> </a:t>
            </a:r>
            <a:r>
              <a:rPr lang="en-US" altLang="zh-CN" dirty="0" err="1"/>
              <a:t>adipiscing</a:t>
            </a:r>
            <a:r>
              <a:rPr lang="en-US" altLang="zh-CN" dirty="0"/>
              <a:t> </a:t>
            </a:r>
            <a:r>
              <a:rPr lang="en-US" altLang="zh-CN" dirty="0" err="1"/>
              <a:t>elit</a:t>
            </a:r>
            <a:r>
              <a:rPr lang="en-US" altLang="zh-CN" dirty="0"/>
              <a:t>. </a:t>
            </a:r>
          </a:p>
        </p:txBody>
      </p:sp>
      <p:cxnSp>
        <p:nvCxnSpPr>
          <p:cNvPr id="11" name="直接连接符 10"/>
          <p:cNvCxnSpPr/>
          <p:nvPr userDrawn="1"/>
        </p:nvCxnSpPr>
        <p:spPr>
          <a:xfrm>
            <a:off x="5773278" y="754063"/>
            <a:ext cx="644324" cy="0"/>
          </a:xfrm>
          <a:prstGeom prst="line">
            <a:avLst/>
          </a:prstGeom>
          <a:ln>
            <a:solidFill>
              <a:schemeClr val="tx1">
                <a:lumMod val="85000"/>
                <a:lumOff val="15000"/>
              </a:schemeClr>
            </a:solidFill>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pPr/>
              <a:t>2026/7/3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7"/>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1"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370">
                <a:solidFill>
                  <a:schemeClr val="tx1">
                    <a:tint val="75000"/>
                  </a:schemeClr>
                </a:solidFill>
              </a:defRPr>
            </a:lvl1pPr>
          </a:lstStyle>
          <a:p>
            <a:fld id="{0E6A473D-8055-43E1-A01D-B0413067B7D8}" type="datetimeFigureOut">
              <a:rPr lang="zh-CN" altLang="en-US" smtClean="0"/>
              <a:pPr/>
              <a:t>2026/7/3</a:t>
            </a:fld>
            <a:endParaRPr lang="zh-CN" altLang="en-US"/>
          </a:p>
        </p:txBody>
      </p:sp>
      <p:sp>
        <p:nvSpPr>
          <p:cNvPr id="5" name="Footer Placeholder 4"/>
          <p:cNvSpPr>
            <a:spLocks noGrp="1"/>
          </p:cNvSpPr>
          <p:nvPr>
            <p:ph type="ftr" sz="quarter" idx="3"/>
          </p:nvPr>
        </p:nvSpPr>
        <p:spPr>
          <a:xfrm>
            <a:off x="4038600" y="6356352"/>
            <a:ext cx="4114801" cy="365125"/>
          </a:xfrm>
          <a:prstGeom prst="rect">
            <a:avLst/>
          </a:prstGeom>
        </p:spPr>
        <p:txBody>
          <a:bodyPr vert="horz" lIns="91440" tIns="45720" rIns="91440" bIns="45720" rtlCol="0" anchor="ctr"/>
          <a:lstStyle>
            <a:lvl1pPr algn="ctr">
              <a:defRPr sz="137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370">
                <a:solidFill>
                  <a:schemeClr val="tx1">
                    <a:tint val="75000"/>
                  </a:schemeClr>
                </a:solidFill>
              </a:defRPr>
            </a:lvl1pPr>
          </a:lstStyle>
          <a:p>
            <a:fld id="{0EB8D81A-C667-4EE5-93BD-6120260630F3}"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Lst>
  <p:txStyles>
    <p:titleStyle>
      <a:lvl1pPr algn="l" defTabSz="1044575" rtl="0" eaLnBrk="1" latinLnBrk="0" hangingPunct="1">
        <a:lnSpc>
          <a:spcPct val="90000"/>
        </a:lnSpc>
        <a:spcBef>
          <a:spcPct val="0"/>
        </a:spcBef>
        <a:buNone/>
        <a:defRPr sz="5030" kern="1200">
          <a:solidFill>
            <a:schemeClr val="tx1"/>
          </a:solidFill>
          <a:latin typeface="+mj-lt"/>
          <a:ea typeface="+mj-ea"/>
          <a:cs typeface="+mj-cs"/>
        </a:defRPr>
      </a:lvl1pPr>
    </p:titleStyle>
    <p:bodyStyle>
      <a:lvl1pPr marL="260985" indent="-260985" algn="l" defTabSz="1044575" rtl="0" eaLnBrk="1" latinLnBrk="0" hangingPunct="1">
        <a:lnSpc>
          <a:spcPct val="90000"/>
        </a:lnSpc>
        <a:spcBef>
          <a:spcPts val="1140"/>
        </a:spcBef>
        <a:buFont typeface="Arial" panose="020B0604020202020204" pitchFamily="34" charset="0"/>
        <a:buChar char="•"/>
        <a:defRPr sz="3200" kern="1200">
          <a:solidFill>
            <a:schemeClr val="tx1"/>
          </a:solidFill>
          <a:latin typeface="+mn-lt"/>
          <a:ea typeface="+mn-ea"/>
          <a:cs typeface="+mn-cs"/>
        </a:defRPr>
      </a:lvl1pPr>
      <a:lvl2pPr marL="783590" indent="-260985" algn="l" defTabSz="1044575" rtl="0" eaLnBrk="1" latinLnBrk="0" hangingPunct="1">
        <a:lnSpc>
          <a:spcPct val="90000"/>
        </a:lnSpc>
        <a:spcBef>
          <a:spcPts val="570"/>
        </a:spcBef>
        <a:buFont typeface="Arial" panose="020B0604020202020204" pitchFamily="34" charset="0"/>
        <a:buChar char="•"/>
        <a:defRPr sz="2745" kern="1200">
          <a:solidFill>
            <a:schemeClr val="tx1"/>
          </a:solidFill>
          <a:latin typeface="+mn-lt"/>
          <a:ea typeface="+mn-ea"/>
          <a:cs typeface="+mn-cs"/>
        </a:defRPr>
      </a:lvl2pPr>
      <a:lvl3pPr marL="1306195" indent="-260985" algn="l" defTabSz="1044575" rtl="0" eaLnBrk="1" latinLnBrk="0" hangingPunct="1">
        <a:lnSpc>
          <a:spcPct val="90000"/>
        </a:lnSpc>
        <a:spcBef>
          <a:spcPts val="570"/>
        </a:spcBef>
        <a:buFont typeface="Arial" panose="020B0604020202020204" pitchFamily="34" charset="0"/>
        <a:buChar char="•"/>
        <a:defRPr sz="2285" kern="1200">
          <a:solidFill>
            <a:schemeClr val="tx1"/>
          </a:solidFill>
          <a:latin typeface="+mn-lt"/>
          <a:ea typeface="+mn-ea"/>
          <a:cs typeface="+mn-cs"/>
        </a:defRPr>
      </a:lvl3pPr>
      <a:lvl4pPr marL="182880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4pPr>
      <a:lvl5pPr marL="2351405"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5pPr>
      <a:lvl6pPr marL="287401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6pPr>
      <a:lvl7pPr marL="3396615"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7pPr>
      <a:lvl8pPr marL="391922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8pPr>
      <a:lvl9pPr marL="444119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9pPr>
    </p:bodyStyle>
    <p:otherStyle>
      <a:defPPr>
        <a:defRPr lang="en-US"/>
      </a:defPPr>
      <a:lvl1pPr marL="0" algn="l" defTabSz="1044575" rtl="0" eaLnBrk="1" latinLnBrk="0" hangingPunct="1">
        <a:defRPr sz="2055" kern="1200">
          <a:solidFill>
            <a:schemeClr val="tx1"/>
          </a:solidFill>
          <a:latin typeface="+mn-lt"/>
          <a:ea typeface="+mn-ea"/>
          <a:cs typeface="+mn-cs"/>
        </a:defRPr>
      </a:lvl1pPr>
      <a:lvl2pPr marL="522605" algn="l" defTabSz="1044575" rtl="0" eaLnBrk="1" latinLnBrk="0" hangingPunct="1">
        <a:defRPr sz="2055" kern="1200">
          <a:solidFill>
            <a:schemeClr val="tx1"/>
          </a:solidFill>
          <a:latin typeface="+mn-lt"/>
          <a:ea typeface="+mn-ea"/>
          <a:cs typeface="+mn-cs"/>
        </a:defRPr>
      </a:lvl2pPr>
      <a:lvl3pPr marL="1045210" algn="l" defTabSz="1044575" rtl="0" eaLnBrk="1" latinLnBrk="0" hangingPunct="1">
        <a:defRPr sz="2055" kern="1200">
          <a:solidFill>
            <a:schemeClr val="tx1"/>
          </a:solidFill>
          <a:latin typeface="+mn-lt"/>
          <a:ea typeface="+mn-ea"/>
          <a:cs typeface="+mn-cs"/>
        </a:defRPr>
      </a:lvl3pPr>
      <a:lvl4pPr marL="1567815" algn="l" defTabSz="1044575" rtl="0" eaLnBrk="1" latinLnBrk="0" hangingPunct="1">
        <a:defRPr sz="2055" kern="1200">
          <a:solidFill>
            <a:schemeClr val="tx1"/>
          </a:solidFill>
          <a:latin typeface="+mn-lt"/>
          <a:ea typeface="+mn-ea"/>
          <a:cs typeface="+mn-cs"/>
        </a:defRPr>
      </a:lvl4pPr>
      <a:lvl5pPr marL="2089785" algn="l" defTabSz="1044575" rtl="0" eaLnBrk="1" latinLnBrk="0" hangingPunct="1">
        <a:defRPr sz="2055" kern="1200">
          <a:solidFill>
            <a:schemeClr val="tx1"/>
          </a:solidFill>
          <a:latin typeface="+mn-lt"/>
          <a:ea typeface="+mn-ea"/>
          <a:cs typeface="+mn-cs"/>
        </a:defRPr>
      </a:lvl5pPr>
      <a:lvl6pPr marL="2612390" algn="l" defTabSz="1044575" rtl="0" eaLnBrk="1" latinLnBrk="0" hangingPunct="1">
        <a:defRPr sz="2055" kern="1200">
          <a:solidFill>
            <a:schemeClr val="tx1"/>
          </a:solidFill>
          <a:latin typeface="+mn-lt"/>
          <a:ea typeface="+mn-ea"/>
          <a:cs typeface="+mn-cs"/>
        </a:defRPr>
      </a:lvl6pPr>
      <a:lvl7pPr marL="3134995" algn="l" defTabSz="1044575" rtl="0" eaLnBrk="1" latinLnBrk="0" hangingPunct="1">
        <a:defRPr sz="2055" kern="1200">
          <a:solidFill>
            <a:schemeClr val="tx1"/>
          </a:solidFill>
          <a:latin typeface="+mn-lt"/>
          <a:ea typeface="+mn-ea"/>
          <a:cs typeface="+mn-cs"/>
        </a:defRPr>
      </a:lvl7pPr>
      <a:lvl8pPr marL="3657600" algn="l" defTabSz="1044575" rtl="0" eaLnBrk="1" latinLnBrk="0" hangingPunct="1">
        <a:defRPr sz="2055" kern="1200">
          <a:solidFill>
            <a:schemeClr val="tx1"/>
          </a:solidFill>
          <a:latin typeface="+mn-lt"/>
          <a:ea typeface="+mn-ea"/>
          <a:cs typeface="+mn-cs"/>
        </a:defRPr>
      </a:lvl8pPr>
      <a:lvl9pPr marL="4180205" algn="l" defTabSz="1044575" rtl="0" eaLnBrk="1" latinLnBrk="0" hangingPunct="1">
        <a:defRPr sz="205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11" name="圆角矩形 10"/>
          <p:cNvSpPr/>
          <p:nvPr/>
        </p:nvSpPr>
        <p:spPr>
          <a:xfrm>
            <a:off x="3135044" y="1380931"/>
            <a:ext cx="7872925" cy="2056324"/>
          </a:xfrm>
          <a:prstGeom prst="roundRect">
            <a:avLst>
              <a:gd name="adj" fmla="val 18269"/>
            </a:avLst>
          </a:prstGeom>
          <a:noFill/>
          <a:ln>
            <a:solidFill>
              <a:schemeClr val="accent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lvl="0" algn="ctr">
              <a:lnSpc>
                <a:spcPct val="90000"/>
              </a:lnSpc>
              <a:spcBef>
                <a:spcPct val="0"/>
              </a:spcBef>
              <a:defRPr/>
            </a:pPr>
            <a:r>
              <a:rPr lang="zh-CN" altLang="en-US" sz="6000" dirty="0">
                <a:solidFill>
                  <a:schemeClr val="tx1"/>
                </a:solidFill>
              </a:rPr>
              <a:t>第九章</a:t>
            </a:r>
            <a:br>
              <a:rPr lang="en-US" altLang="zh-CN" sz="6000" dirty="0">
                <a:solidFill>
                  <a:schemeClr val="tx1"/>
                </a:solidFill>
              </a:rPr>
            </a:br>
            <a:r>
              <a:rPr lang="en-US" altLang="zh-CN" sz="6000" dirty="0">
                <a:solidFill>
                  <a:schemeClr val="tx1"/>
                </a:solidFill>
              </a:rPr>
              <a:t>ADC</a:t>
            </a:r>
            <a:r>
              <a:rPr lang="zh-CN" altLang="en-US" sz="6000" dirty="0">
                <a:solidFill>
                  <a:schemeClr val="tx1"/>
                </a:solidFill>
              </a:rPr>
              <a:t>原理及应用 </a:t>
            </a:r>
          </a:p>
        </p:txBody>
      </p:sp>
      <p:pic>
        <p:nvPicPr>
          <p:cNvPr id="6" name="图片 5" descr="A000220150319H47PPIC"/>
          <p:cNvPicPr>
            <a:picLocks noChangeAspect="1"/>
          </p:cNvPicPr>
          <p:nvPr/>
        </p:nvPicPr>
        <p:blipFill>
          <a:blip r:embed="rId2" cstate="print"/>
          <a:stretch>
            <a:fillRect/>
          </a:stretch>
        </p:blipFill>
        <p:spPr>
          <a:xfrm flipH="1">
            <a:off x="454660" y="3429000"/>
            <a:ext cx="2596515" cy="2995295"/>
          </a:xfrm>
          <a:prstGeom prst="rect">
            <a:avLst/>
          </a:prstGeom>
        </p:spPr>
      </p:pic>
      <p:pic>
        <p:nvPicPr>
          <p:cNvPr id="4" name="Picture 2"/>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173000"/>
                    </a14:imgEffect>
                  </a14:imgLayer>
                </a14:imgProps>
              </a:ext>
              <a:ext uri="{28A0092B-C50C-407E-A947-70E740481C1C}">
                <a14:useLocalDpi xmlns:a14="http://schemas.microsoft.com/office/drawing/2010/main" val="0"/>
              </a:ext>
            </a:extLst>
          </a:blip>
          <a:stretch>
            <a:fillRect/>
          </a:stretch>
        </p:blipFill>
        <p:spPr bwMode="auto">
          <a:xfrm>
            <a:off x="1077273" y="763659"/>
            <a:ext cx="1352760" cy="1352760"/>
          </a:xfrm>
          <a:prstGeom prst="rect">
            <a:avLst/>
          </a:prstGeom>
          <a:noFill/>
          <a:extLst>
            <a:ext uri="{909E8E84-426E-40DD-AFC4-6F175D3DCCD1}">
              <a14:hiddenFill xmlns:a14="http://schemas.microsoft.com/office/drawing/2010/main">
                <a:solidFill>
                  <a:srgbClr val="FFFFFF"/>
                </a:solidFill>
              </a14:hiddenFill>
            </a:ext>
          </a:extLst>
        </p:spPr>
      </p:pic>
      <p:sp>
        <p:nvSpPr>
          <p:cNvPr id="5" name="标题 1"/>
          <p:cNvSpPr txBox="1">
            <a:spLocks/>
          </p:cNvSpPr>
          <p:nvPr/>
        </p:nvSpPr>
        <p:spPr>
          <a:xfrm>
            <a:off x="1097280" y="758952"/>
            <a:ext cx="10058400" cy="3566160"/>
          </a:xfrm>
          <a:prstGeom prst="rect">
            <a:avLst/>
          </a:prstGeom>
        </p:spPr>
        <p:txBody>
          <a:body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zh-CN" altLang="en-US" sz="44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1427480" y="1276350"/>
            <a:ext cx="9674225" cy="9525"/>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12" name="标题 1"/>
          <p:cNvSpPr txBox="1">
            <a:spLocks/>
          </p:cNvSpPr>
          <p:nvPr/>
        </p:nvSpPr>
        <p:spPr>
          <a:xfrm>
            <a:off x="1097280" y="538540"/>
            <a:ext cx="10058400" cy="1450757"/>
          </a:xfrm>
          <a:prstGeom prst="rect">
            <a:avLst/>
          </a:prstGeom>
        </p:spPr>
        <p:txBody>
          <a:bodyPr/>
          <a:lstStyle/>
          <a:p>
            <a:pPr>
              <a:lnSpc>
                <a:spcPct val="90000"/>
              </a:lnSpc>
              <a:spcBef>
                <a:spcPct val="0"/>
              </a:spcBef>
              <a:defRPr/>
            </a:pPr>
            <a:r>
              <a:rPr lang="en-US" altLang="zh-CN" sz="4400" b="1" dirty="0">
                <a:solidFill>
                  <a:srgbClr val="14529E"/>
                </a:solidFill>
              </a:rPr>
              <a:t>9.1 ADC</a:t>
            </a:r>
            <a:r>
              <a:rPr lang="zh-CN" altLang="en-US" sz="4400" b="1" dirty="0">
                <a:solidFill>
                  <a:srgbClr val="14529E"/>
                </a:solidFill>
              </a:rPr>
              <a:t>的功能及结构</a:t>
            </a:r>
          </a:p>
        </p:txBody>
      </p:sp>
      <p:sp>
        <p:nvSpPr>
          <p:cNvPr id="8" name="矩形 7"/>
          <p:cNvSpPr/>
          <p:nvPr/>
        </p:nvSpPr>
        <p:spPr>
          <a:xfrm>
            <a:off x="1228531" y="1486687"/>
            <a:ext cx="10033518" cy="4247317"/>
          </a:xfrm>
          <a:prstGeom prst="rect">
            <a:avLst/>
          </a:prstGeom>
        </p:spPr>
        <p:txBody>
          <a:bodyPr wrap="square">
            <a:spAutoFit/>
          </a:bodyPr>
          <a:lstStyle/>
          <a:p>
            <a:pPr>
              <a:lnSpc>
                <a:spcPct val="150000"/>
              </a:lnSpc>
            </a:pPr>
            <a:r>
              <a:rPr lang="en-US" altLang="zh-CN" sz="2000" dirty="0"/>
              <a:t>      Analog-to-Digital Converter</a:t>
            </a:r>
            <a:r>
              <a:rPr lang="zh-CN" altLang="en-US" sz="2000" dirty="0"/>
              <a:t>的缩写。指模</a:t>
            </a:r>
            <a:r>
              <a:rPr lang="en-US" altLang="zh-CN" sz="2000" dirty="0"/>
              <a:t>/</a:t>
            </a:r>
            <a:r>
              <a:rPr lang="zh-CN" altLang="en-US" sz="2000" dirty="0"/>
              <a:t>数转换器或者模拟</a:t>
            </a:r>
            <a:r>
              <a:rPr lang="en-US" altLang="zh-CN" sz="2000" dirty="0"/>
              <a:t>/</a:t>
            </a:r>
            <a:r>
              <a:rPr lang="zh-CN" altLang="en-US" sz="2000" dirty="0"/>
              <a:t>数字转换器。是指将</a:t>
            </a:r>
            <a:r>
              <a:rPr lang="zh-CN" altLang="en-US" sz="2000" b="1" dirty="0">
                <a:solidFill>
                  <a:srgbClr val="C00000"/>
                </a:solidFill>
                <a:highlight>
                  <a:srgbClr val="FFFF00"/>
                </a:highlight>
              </a:rPr>
              <a:t>连续变量的模拟信号转换为离散的数字信号的器件。</a:t>
            </a:r>
            <a:endParaRPr lang="zh-CN" altLang="en-US" sz="2000" dirty="0">
              <a:solidFill>
                <a:srgbClr val="C00000"/>
              </a:solidFill>
              <a:highlight>
                <a:srgbClr val="FFFF00"/>
              </a:highlight>
            </a:endParaRPr>
          </a:p>
          <a:p>
            <a:pPr>
              <a:lnSpc>
                <a:spcPct val="150000"/>
              </a:lnSpc>
            </a:pPr>
            <a:r>
              <a:rPr lang="zh-CN" altLang="en-US" sz="2000" dirty="0"/>
              <a:t>      典型的模拟数字转换器将模拟信号转换为表示一定比例电压值的数字信号。</a:t>
            </a:r>
            <a:endParaRPr lang="en-US" altLang="zh-CN" sz="2000" dirty="0"/>
          </a:p>
          <a:p>
            <a:pPr>
              <a:lnSpc>
                <a:spcPct val="150000"/>
              </a:lnSpc>
            </a:pPr>
            <a:r>
              <a:rPr lang="en-US" altLang="zh-CN" sz="2000" dirty="0"/>
              <a:t>      STM32F103ZET6 </a:t>
            </a:r>
            <a:r>
              <a:rPr lang="zh-CN" altLang="en-US" sz="2000" dirty="0"/>
              <a:t>拥有</a:t>
            </a:r>
            <a:r>
              <a:rPr lang="en-US" altLang="zh-CN" sz="2000" dirty="0"/>
              <a:t>12</a:t>
            </a:r>
            <a:r>
              <a:rPr lang="zh-CN" altLang="en-US" sz="2000" dirty="0"/>
              <a:t>位</a:t>
            </a:r>
            <a:r>
              <a:rPr lang="en-US" altLang="zh-CN" sz="2000" dirty="0"/>
              <a:t>ADC</a:t>
            </a:r>
            <a:r>
              <a:rPr lang="zh-CN" altLang="en-US" sz="2000" dirty="0"/>
              <a:t>，是一种</a:t>
            </a:r>
            <a:r>
              <a:rPr lang="zh-CN" altLang="en-US" sz="2000" dirty="0">
                <a:highlight>
                  <a:srgbClr val="FFFF00"/>
                </a:highlight>
              </a:rPr>
              <a:t>逐次逼近型模拟数字转换器</a:t>
            </a:r>
            <a:r>
              <a:rPr lang="zh-CN" altLang="en-US" sz="2000" dirty="0"/>
              <a:t>。</a:t>
            </a:r>
            <a:endParaRPr lang="en-US" altLang="zh-CN" sz="2000" dirty="0"/>
          </a:p>
          <a:p>
            <a:pPr>
              <a:lnSpc>
                <a:spcPct val="150000"/>
              </a:lnSpc>
            </a:pPr>
            <a:r>
              <a:rPr lang="en-US" altLang="zh-CN" sz="2000" dirty="0"/>
              <a:t>      12bits ADC </a:t>
            </a:r>
            <a:r>
              <a:rPr lang="zh-CN" altLang="en-US" sz="2000" dirty="0"/>
              <a:t>代表了 </a:t>
            </a:r>
            <a:r>
              <a:rPr lang="en-US" altLang="zh-CN" sz="2000" dirty="0"/>
              <a:t>ADC </a:t>
            </a:r>
            <a:r>
              <a:rPr lang="zh-CN" altLang="en-US" sz="2000" dirty="0"/>
              <a:t>的转换精度。存在输入参考电压的情况下，</a:t>
            </a:r>
            <a:r>
              <a:rPr lang="en-US" altLang="zh-CN" sz="2000" dirty="0"/>
              <a:t>ADC </a:t>
            </a:r>
            <a:r>
              <a:rPr lang="zh-CN" altLang="en-US" sz="2000" dirty="0"/>
              <a:t>将模拟信号经信号线输入，进行模拟信号的采样，再将采样后的数字信号存放于数据寄存器中，以供软件进行读取（</a:t>
            </a:r>
            <a:r>
              <a:rPr lang="en-US" altLang="zh-CN" sz="2000" dirty="0"/>
              <a:t>CPU</a:t>
            </a:r>
            <a:r>
              <a:rPr lang="zh-CN" altLang="en-US" sz="2000" dirty="0"/>
              <a:t>或者</a:t>
            </a:r>
            <a:r>
              <a:rPr lang="en-US" altLang="zh-CN" sz="2000" dirty="0"/>
              <a:t>DMA</a:t>
            </a:r>
            <a:r>
              <a:rPr lang="zh-CN" altLang="en-US" sz="2000" dirty="0"/>
              <a:t>方式），存储的数据是经过参考电压比较后，按照</a:t>
            </a:r>
            <a:r>
              <a:rPr lang="en-US" altLang="zh-CN" sz="2000" dirty="0"/>
              <a:t>12bits </a:t>
            </a:r>
            <a:r>
              <a:rPr lang="zh-CN" altLang="en-US" sz="2000" dirty="0"/>
              <a:t>进行换算得到。</a:t>
            </a:r>
            <a:endParaRPr lang="en-US" altLang="zh-CN" sz="2000" dirty="0"/>
          </a:p>
          <a:p>
            <a:pPr>
              <a:lnSpc>
                <a:spcPct val="150000"/>
              </a:lnSpc>
            </a:pPr>
            <a:r>
              <a:rPr lang="en-US" sz="2000" dirty="0"/>
              <a:t>      </a:t>
            </a:r>
            <a:r>
              <a:rPr lang="en-US" sz="2000" b="1" dirty="0">
                <a:solidFill>
                  <a:srgbClr val="C00000"/>
                </a:solidFill>
              </a:rPr>
              <a:t>ADC</a:t>
            </a:r>
            <a:r>
              <a:rPr lang="zh-CN" altLang="en-US" sz="2000" b="1" dirty="0">
                <a:solidFill>
                  <a:srgbClr val="C00000"/>
                </a:solidFill>
              </a:rPr>
              <a:t>输入范围：</a:t>
            </a:r>
            <a:r>
              <a:rPr lang="en-US" sz="2000" b="1" dirty="0" err="1">
                <a:solidFill>
                  <a:srgbClr val="C00000"/>
                </a:solidFill>
              </a:rPr>
              <a:t>Vref</a:t>
            </a:r>
            <a:r>
              <a:rPr lang="en-US" sz="2000" b="1" dirty="0">
                <a:solidFill>
                  <a:srgbClr val="C00000"/>
                </a:solidFill>
              </a:rPr>
              <a:t>- ≤ Vin ≤ </a:t>
            </a:r>
            <a:r>
              <a:rPr lang="en-US" sz="2000" b="1" dirty="0" err="1">
                <a:solidFill>
                  <a:srgbClr val="C00000"/>
                </a:solidFill>
              </a:rPr>
              <a:t>Vref</a:t>
            </a:r>
            <a:r>
              <a:rPr lang="en-US" sz="2000" b="1" dirty="0">
                <a:solidFill>
                  <a:srgbClr val="C00000"/>
                </a:solidFill>
              </a:rPr>
              <a:t>+</a:t>
            </a:r>
            <a:endParaRPr lang="zh-CN" altLang="en-US" sz="2000" b="1" dirty="0">
              <a:solidFill>
                <a:srgbClr val="C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914296" y="1071077"/>
            <a:ext cx="9674225" cy="9525"/>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949175" y="547787"/>
            <a:ext cx="2440092" cy="461665"/>
          </a:xfrm>
          <a:prstGeom prst="rect">
            <a:avLst/>
          </a:prstGeom>
        </p:spPr>
        <p:txBody>
          <a:bodyPr wrap="none">
            <a:spAutoFit/>
          </a:bodyPr>
          <a:lstStyle/>
          <a:p>
            <a:r>
              <a:rPr lang="en-US" sz="2400" b="1" dirty="0">
                <a:solidFill>
                  <a:srgbClr val="C00000"/>
                </a:solidFill>
              </a:rPr>
              <a:t>ADC</a:t>
            </a:r>
            <a:r>
              <a:rPr lang="zh-CN" altLang="en-US" sz="2400" b="1" dirty="0">
                <a:solidFill>
                  <a:srgbClr val="C00000"/>
                </a:solidFill>
              </a:rPr>
              <a:t>的主要特征</a:t>
            </a:r>
          </a:p>
        </p:txBody>
      </p:sp>
      <p:sp>
        <p:nvSpPr>
          <p:cNvPr id="6" name="矩形 5"/>
          <p:cNvSpPr/>
          <p:nvPr/>
        </p:nvSpPr>
        <p:spPr>
          <a:xfrm>
            <a:off x="836644" y="1057790"/>
            <a:ext cx="10136155" cy="5853269"/>
          </a:xfrm>
          <a:prstGeom prst="rect">
            <a:avLst/>
          </a:prstGeom>
        </p:spPr>
        <p:txBody>
          <a:bodyPr wrap="square">
            <a:spAutoFit/>
          </a:bodyPr>
          <a:lstStyle/>
          <a:p>
            <a:pPr>
              <a:lnSpc>
                <a:spcPct val="150000"/>
              </a:lnSpc>
              <a:buClr>
                <a:srgbClr val="C00000"/>
              </a:buClr>
              <a:buFont typeface="Wingdings" pitchFamily="2" charset="2"/>
              <a:buChar char="u"/>
            </a:pPr>
            <a:r>
              <a:rPr lang="zh-CN" altLang="en-US" dirty="0"/>
              <a:t>逐次逼近型的模拟数字转换器；</a:t>
            </a:r>
            <a:endParaRPr lang="en-US" altLang="zh-CN" dirty="0"/>
          </a:p>
          <a:p>
            <a:pPr>
              <a:lnSpc>
                <a:spcPct val="150000"/>
              </a:lnSpc>
              <a:buClr>
                <a:srgbClr val="C00000"/>
              </a:buClr>
              <a:buFont typeface="Wingdings" pitchFamily="2" charset="2"/>
              <a:buChar char="u"/>
            </a:pPr>
            <a:r>
              <a:rPr lang="zh-CN" altLang="en-US" dirty="0"/>
              <a:t>最多带</a:t>
            </a:r>
            <a:r>
              <a:rPr lang="en-US" altLang="zh-CN" dirty="0"/>
              <a:t>3</a:t>
            </a:r>
            <a:r>
              <a:rPr lang="zh-CN" altLang="en-US" dirty="0"/>
              <a:t>个</a:t>
            </a:r>
            <a:r>
              <a:rPr lang="en-US" altLang="zh-CN" dirty="0"/>
              <a:t>ADC</a:t>
            </a:r>
            <a:r>
              <a:rPr lang="zh-CN" altLang="en-US" dirty="0"/>
              <a:t>控制器，可以单独使用，也可以使用双重模式提高采样率；最多支持</a:t>
            </a:r>
            <a:r>
              <a:rPr lang="en-US" altLang="zh-CN" dirty="0"/>
              <a:t>23</a:t>
            </a:r>
            <a:r>
              <a:rPr lang="zh-CN" altLang="en-US" dirty="0"/>
              <a:t>个通道，可最多测量</a:t>
            </a:r>
            <a:r>
              <a:rPr lang="en-US" altLang="zh-CN" dirty="0"/>
              <a:t>21</a:t>
            </a:r>
            <a:r>
              <a:rPr lang="zh-CN" altLang="en-US" dirty="0"/>
              <a:t>个外部和</a:t>
            </a:r>
            <a:r>
              <a:rPr lang="en-US" altLang="zh-CN" dirty="0"/>
              <a:t>2</a:t>
            </a:r>
            <a:r>
              <a:rPr lang="zh-CN" altLang="en-US" dirty="0"/>
              <a:t>个内部信号源；</a:t>
            </a:r>
            <a:endParaRPr lang="en-US" altLang="zh-CN" dirty="0"/>
          </a:p>
          <a:p>
            <a:pPr>
              <a:lnSpc>
                <a:spcPct val="150000"/>
              </a:lnSpc>
              <a:buClr>
                <a:srgbClr val="C00000"/>
              </a:buClr>
              <a:buFont typeface="Wingdings" pitchFamily="2" charset="2"/>
              <a:buChar char="u"/>
            </a:pPr>
            <a:r>
              <a:rPr lang="zh-CN" altLang="en-US" dirty="0">
                <a:highlight>
                  <a:srgbClr val="FFFF00"/>
                </a:highlight>
              </a:rPr>
              <a:t>支持单次和连续转换模式</a:t>
            </a:r>
            <a:r>
              <a:rPr lang="zh-CN" altLang="en-US" dirty="0"/>
              <a:t>；</a:t>
            </a:r>
            <a:endParaRPr lang="en-US" altLang="zh-CN" dirty="0"/>
          </a:p>
          <a:p>
            <a:pPr>
              <a:lnSpc>
                <a:spcPct val="150000"/>
              </a:lnSpc>
              <a:buClr>
                <a:srgbClr val="C00000"/>
              </a:buClr>
              <a:buFont typeface="Wingdings" pitchFamily="2" charset="2"/>
              <a:buChar char="u"/>
            </a:pPr>
            <a:r>
              <a:rPr lang="zh-CN" altLang="en-US" dirty="0"/>
              <a:t>转换结束，注入转换结束，和发生模拟看门狗事件时产生中断；</a:t>
            </a:r>
            <a:endParaRPr lang="en-US" altLang="zh-CN" dirty="0"/>
          </a:p>
          <a:p>
            <a:pPr>
              <a:lnSpc>
                <a:spcPct val="150000"/>
              </a:lnSpc>
              <a:buClr>
                <a:srgbClr val="C00000"/>
              </a:buClr>
              <a:buFont typeface="Wingdings" pitchFamily="2" charset="2"/>
              <a:buChar char="u"/>
            </a:pPr>
            <a:r>
              <a:rPr lang="zh-CN" altLang="en-US" dirty="0"/>
              <a:t>通道</a:t>
            </a:r>
            <a:r>
              <a:rPr lang="en-US" altLang="zh-CN" dirty="0"/>
              <a:t>0</a:t>
            </a:r>
            <a:r>
              <a:rPr lang="zh-CN" altLang="en-US" dirty="0"/>
              <a:t>到通道</a:t>
            </a:r>
            <a:r>
              <a:rPr lang="en-US" altLang="zh-CN" dirty="0"/>
              <a:t>n</a:t>
            </a:r>
            <a:r>
              <a:rPr lang="zh-CN" altLang="en-US" dirty="0"/>
              <a:t>的自动扫描模式；</a:t>
            </a:r>
            <a:endParaRPr lang="en-US" altLang="zh-CN" dirty="0"/>
          </a:p>
          <a:p>
            <a:pPr>
              <a:lnSpc>
                <a:spcPct val="150000"/>
              </a:lnSpc>
              <a:buClr>
                <a:srgbClr val="C00000"/>
              </a:buClr>
              <a:buFont typeface="Wingdings" pitchFamily="2" charset="2"/>
              <a:buChar char="u"/>
            </a:pPr>
            <a:r>
              <a:rPr lang="zh-CN" altLang="en-US" dirty="0"/>
              <a:t>自动校准；</a:t>
            </a:r>
            <a:endParaRPr lang="en-US" altLang="zh-CN" dirty="0"/>
          </a:p>
          <a:p>
            <a:pPr>
              <a:lnSpc>
                <a:spcPct val="150000"/>
              </a:lnSpc>
              <a:buClr>
                <a:srgbClr val="C00000"/>
              </a:buClr>
              <a:buFont typeface="Wingdings" pitchFamily="2" charset="2"/>
              <a:buChar char="u"/>
            </a:pPr>
            <a:r>
              <a:rPr lang="zh-CN" altLang="en-US" dirty="0"/>
              <a:t>采样间隔可以按通道编程；</a:t>
            </a:r>
            <a:endParaRPr lang="en-US" altLang="zh-CN" dirty="0"/>
          </a:p>
          <a:p>
            <a:pPr>
              <a:lnSpc>
                <a:spcPct val="150000"/>
              </a:lnSpc>
              <a:buClr>
                <a:srgbClr val="C00000"/>
              </a:buClr>
              <a:buFont typeface="Wingdings" pitchFamily="2" charset="2"/>
              <a:buChar char="u"/>
            </a:pPr>
            <a:r>
              <a:rPr lang="zh-CN" altLang="en-US" dirty="0"/>
              <a:t>规则通道和注入通道均有外部触发选项；</a:t>
            </a:r>
            <a:endParaRPr lang="en-US" altLang="zh-CN" dirty="0"/>
          </a:p>
          <a:p>
            <a:pPr>
              <a:lnSpc>
                <a:spcPct val="150000"/>
              </a:lnSpc>
              <a:buClr>
                <a:srgbClr val="C00000"/>
              </a:buClr>
              <a:buFont typeface="Wingdings" pitchFamily="2" charset="2"/>
              <a:buChar char="u"/>
            </a:pPr>
            <a:r>
              <a:rPr lang="zh-CN" altLang="en-US" dirty="0"/>
              <a:t>转换结果支持左对齐或右对齐方式存储在</a:t>
            </a:r>
            <a:r>
              <a:rPr lang="en-US" altLang="zh-CN" dirty="0"/>
              <a:t>16</a:t>
            </a:r>
            <a:r>
              <a:rPr lang="zh-CN" altLang="en-US" dirty="0"/>
              <a:t>位数据寄存器；</a:t>
            </a:r>
            <a:endParaRPr lang="en-US" altLang="zh-CN" dirty="0"/>
          </a:p>
          <a:p>
            <a:pPr>
              <a:lnSpc>
                <a:spcPct val="150000"/>
              </a:lnSpc>
              <a:buClr>
                <a:srgbClr val="C00000"/>
              </a:buClr>
              <a:buFont typeface="Wingdings" pitchFamily="2" charset="2"/>
              <a:buChar char="u"/>
            </a:pPr>
            <a:r>
              <a:rPr lang="en-US" altLang="zh-CN" dirty="0"/>
              <a:t>ADC</a:t>
            </a:r>
            <a:r>
              <a:rPr lang="zh-CN" altLang="en-US" dirty="0"/>
              <a:t>转换时间：最大转换速率 </a:t>
            </a:r>
            <a:r>
              <a:rPr lang="en-US" altLang="zh-CN" dirty="0"/>
              <a:t>1us</a:t>
            </a:r>
            <a:r>
              <a:rPr lang="zh-CN" altLang="en-US" dirty="0"/>
              <a:t>（最大转换速度为</a:t>
            </a:r>
            <a:r>
              <a:rPr lang="en-US" altLang="zh-CN" dirty="0"/>
              <a:t>1MHz</a:t>
            </a:r>
            <a:r>
              <a:rPr lang="zh-CN" altLang="en-US" dirty="0"/>
              <a:t>，在</a:t>
            </a:r>
            <a:r>
              <a:rPr lang="en-US" altLang="zh-CN" dirty="0"/>
              <a:t>ADCCLK=14M</a:t>
            </a:r>
            <a:r>
              <a:rPr lang="zh-CN" altLang="en-US" dirty="0"/>
              <a:t>，采样周期为</a:t>
            </a:r>
            <a:r>
              <a:rPr lang="en-US" altLang="zh-CN" dirty="0"/>
              <a:t>1.5</a:t>
            </a:r>
            <a:r>
              <a:rPr lang="zh-CN" altLang="en-US" dirty="0"/>
              <a:t>个</a:t>
            </a:r>
            <a:r>
              <a:rPr lang="en-US" altLang="zh-CN" dirty="0"/>
              <a:t>ADC</a:t>
            </a:r>
            <a:r>
              <a:rPr lang="zh-CN" altLang="en-US" dirty="0"/>
              <a:t>时钟下得到）；</a:t>
            </a:r>
            <a:endParaRPr lang="en-US" altLang="zh-CN" dirty="0"/>
          </a:p>
          <a:p>
            <a:pPr>
              <a:lnSpc>
                <a:spcPct val="150000"/>
              </a:lnSpc>
              <a:buClr>
                <a:srgbClr val="C00000"/>
              </a:buClr>
              <a:buFont typeface="Wingdings" pitchFamily="2" charset="2"/>
              <a:buChar char="u"/>
            </a:pPr>
            <a:r>
              <a:rPr lang="en-US" altLang="zh-CN" dirty="0"/>
              <a:t>ADC</a:t>
            </a:r>
            <a:r>
              <a:rPr lang="zh-CN" altLang="en-US" dirty="0"/>
              <a:t>供电要求：</a:t>
            </a:r>
            <a:r>
              <a:rPr lang="en-US" altLang="zh-CN" dirty="0"/>
              <a:t>2.4V-3.6V</a:t>
            </a:r>
            <a:r>
              <a:rPr lang="zh-CN" altLang="en-US" dirty="0"/>
              <a:t>；</a:t>
            </a:r>
            <a:r>
              <a:rPr lang="en-US" altLang="zh-CN" dirty="0"/>
              <a:t>ADC</a:t>
            </a:r>
            <a:r>
              <a:rPr lang="zh-CN" altLang="en-US" dirty="0"/>
              <a:t>输入范围：</a:t>
            </a:r>
            <a:r>
              <a:rPr lang="en-US" altLang="zh-CN" dirty="0"/>
              <a:t>VREF- ≤  VIN  ≤  VREF+</a:t>
            </a:r>
            <a:r>
              <a:rPr lang="zh-CN" altLang="en-US" dirty="0"/>
              <a:t>。</a:t>
            </a:r>
          </a:p>
          <a:p>
            <a:pPr>
              <a:lnSpc>
                <a:spcPct val="150000"/>
              </a:lnSpc>
            </a:pP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2" name="Picture 2" descr="https://img-blog.csdn.net/20180424220221833"/>
          <p:cNvPicPr>
            <a:picLocks noChangeAspect="1" noChangeArrowheads="1"/>
          </p:cNvPicPr>
          <p:nvPr/>
        </p:nvPicPr>
        <p:blipFill>
          <a:blip r:embed="rId2"/>
          <a:srcRect/>
          <a:stretch>
            <a:fillRect/>
          </a:stretch>
        </p:blipFill>
        <p:spPr bwMode="auto">
          <a:xfrm>
            <a:off x="3290661" y="445699"/>
            <a:ext cx="5106890" cy="4984717"/>
          </a:xfrm>
          <a:prstGeom prst="rect">
            <a:avLst/>
          </a:prstGeom>
          <a:noFill/>
        </p:spPr>
      </p:pic>
      <p:sp>
        <p:nvSpPr>
          <p:cNvPr id="9" name="矩形 8"/>
          <p:cNvSpPr/>
          <p:nvPr/>
        </p:nvSpPr>
        <p:spPr>
          <a:xfrm>
            <a:off x="482081" y="5376094"/>
            <a:ext cx="10556034" cy="873060"/>
          </a:xfrm>
          <a:prstGeom prst="rect">
            <a:avLst/>
          </a:prstGeom>
        </p:spPr>
        <p:txBody>
          <a:bodyPr wrap="square">
            <a:spAutoFit/>
          </a:bodyPr>
          <a:lstStyle/>
          <a:p>
            <a:pPr>
              <a:lnSpc>
                <a:spcPct val="150000"/>
              </a:lnSpc>
            </a:pPr>
            <a:r>
              <a:rPr lang="zh-CN" altLang="en-US" b="1" dirty="0">
                <a:solidFill>
                  <a:srgbClr val="C00000"/>
                </a:solidFill>
              </a:rPr>
              <a:t>由上图中可以看出，</a:t>
            </a:r>
            <a:r>
              <a:rPr lang="en-US" altLang="zh-CN" b="1" dirty="0">
                <a:solidFill>
                  <a:srgbClr val="C00000"/>
                </a:solidFill>
              </a:rPr>
              <a:t>STM32F103ZET6</a:t>
            </a:r>
            <a:r>
              <a:rPr lang="zh-CN" altLang="en-US" b="1" dirty="0">
                <a:solidFill>
                  <a:srgbClr val="C00000"/>
                </a:solidFill>
              </a:rPr>
              <a:t>带</a:t>
            </a:r>
            <a:r>
              <a:rPr lang="en-US" altLang="zh-CN" b="1" dirty="0">
                <a:solidFill>
                  <a:srgbClr val="C00000"/>
                </a:solidFill>
              </a:rPr>
              <a:t>3</a:t>
            </a:r>
            <a:r>
              <a:rPr lang="zh-CN" altLang="en-US" b="1" dirty="0">
                <a:solidFill>
                  <a:srgbClr val="C00000"/>
                </a:solidFill>
              </a:rPr>
              <a:t>个</a:t>
            </a:r>
            <a:r>
              <a:rPr lang="en-US" altLang="zh-CN" b="1" dirty="0">
                <a:solidFill>
                  <a:srgbClr val="C00000"/>
                </a:solidFill>
              </a:rPr>
              <a:t>ADC</a:t>
            </a:r>
            <a:r>
              <a:rPr lang="zh-CN" altLang="en-US" b="1" dirty="0">
                <a:solidFill>
                  <a:srgbClr val="C00000"/>
                </a:solidFill>
              </a:rPr>
              <a:t>控制器，一共支持</a:t>
            </a:r>
            <a:r>
              <a:rPr lang="en-US" altLang="zh-CN" b="1" dirty="0">
                <a:solidFill>
                  <a:srgbClr val="C00000"/>
                </a:solidFill>
              </a:rPr>
              <a:t>23</a:t>
            </a:r>
            <a:r>
              <a:rPr lang="zh-CN" altLang="en-US" b="1" dirty="0">
                <a:solidFill>
                  <a:srgbClr val="C00000"/>
                </a:solidFill>
              </a:rPr>
              <a:t>个通道，包括</a:t>
            </a:r>
            <a:r>
              <a:rPr lang="en-US" altLang="zh-CN" b="1" dirty="0">
                <a:solidFill>
                  <a:srgbClr val="C00000"/>
                </a:solidFill>
              </a:rPr>
              <a:t>21</a:t>
            </a:r>
            <a:r>
              <a:rPr lang="zh-CN" altLang="en-US" b="1" dirty="0">
                <a:solidFill>
                  <a:srgbClr val="C00000"/>
                </a:solidFill>
              </a:rPr>
              <a:t>个外部和</a:t>
            </a:r>
            <a:r>
              <a:rPr lang="en-US" altLang="zh-CN" b="1" dirty="0">
                <a:solidFill>
                  <a:srgbClr val="C00000"/>
                </a:solidFill>
              </a:rPr>
              <a:t>2</a:t>
            </a:r>
            <a:r>
              <a:rPr lang="zh-CN" altLang="en-US" b="1" dirty="0">
                <a:solidFill>
                  <a:srgbClr val="C00000"/>
                </a:solidFill>
              </a:rPr>
              <a:t>个内部信号源；但是每个</a:t>
            </a:r>
            <a:r>
              <a:rPr lang="en-US" altLang="zh-CN" b="1" dirty="0">
                <a:solidFill>
                  <a:srgbClr val="C00000"/>
                </a:solidFill>
              </a:rPr>
              <a:t>ADC</a:t>
            </a:r>
            <a:r>
              <a:rPr lang="zh-CN" altLang="en-US" b="1" dirty="0">
                <a:solidFill>
                  <a:srgbClr val="C00000"/>
                </a:solidFill>
              </a:rPr>
              <a:t>控制器最多只可以有</a:t>
            </a:r>
            <a:r>
              <a:rPr lang="en-US" altLang="zh-CN" b="1" dirty="0">
                <a:solidFill>
                  <a:srgbClr val="C00000"/>
                </a:solidFill>
              </a:rPr>
              <a:t>18</a:t>
            </a:r>
            <a:r>
              <a:rPr lang="zh-CN" altLang="en-US" b="1" dirty="0">
                <a:solidFill>
                  <a:srgbClr val="C00000"/>
                </a:solidFill>
              </a:rPr>
              <a:t>个通道，包括</a:t>
            </a:r>
            <a:r>
              <a:rPr lang="en-US" altLang="zh-CN" b="1" dirty="0">
                <a:solidFill>
                  <a:srgbClr val="C00000"/>
                </a:solidFill>
              </a:rPr>
              <a:t>16</a:t>
            </a:r>
            <a:r>
              <a:rPr lang="zh-CN" altLang="en-US" b="1" dirty="0">
                <a:solidFill>
                  <a:srgbClr val="C00000"/>
                </a:solidFill>
              </a:rPr>
              <a:t>个外部和</a:t>
            </a:r>
            <a:r>
              <a:rPr lang="en-US" altLang="zh-CN" b="1" dirty="0">
                <a:solidFill>
                  <a:srgbClr val="C00000"/>
                </a:solidFill>
              </a:rPr>
              <a:t>2</a:t>
            </a:r>
            <a:r>
              <a:rPr lang="zh-CN" altLang="en-US" b="1" dirty="0">
                <a:solidFill>
                  <a:srgbClr val="C00000"/>
                </a:solidFill>
              </a:rPr>
              <a:t>个内部信号源。</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43431" y="501134"/>
            <a:ext cx="11197296" cy="5493812"/>
          </a:xfrm>
          <a:prstGeom prst="rect">
            <a:avLst/>
          </a:prstGeom>
        </p:spPr>
        <p:txBody>
          <a:bodyPr wrap="none">
            <a:spAutoFit/>
          </a:bodyPr>
          <a:lstStyle/>
          <a:p>
            <a:pPr>
              <a:lnSpc>
                <a:spcPct val="150000"/>
              </a:lnSpc>
            </a:pPr>
            <a:r>
              <a:rPr lang="zh-CN" altLang="en-US" b="1" dirty="0">
                <a:solidFill>
                  <a:srgbClr val="C00000"/>
                </a:solidFill>
              </a:rPr>
              <a:t>转换模式：</a:t>
            </a:r>
            <a:endParaRPr lang="en-US" altLang="zh-CN" b="1" dirty="0">
              <a:solidFill>
                <a:srgbClr val="C00000"/>
              </a:solidFill>
            </a:endParaRPr>
          </a:p>
          <a:p>
            <a:pPr>
              <a:lnSpc>
                <a:spcPct val="150000"/>
              </a:lnSpc>
            </a:pPr>
            <a:r>
              <a:rPr lang="zh-CN" altLang="en-US" dirty="0"/>
              <a:t>      支持单次转换和连续转换，顾名思义，单次转换就仅仅只进行一次转换，然后就将值写入数据寄存器，</a:t>
            </a:r>
            <a:endParaRPr lang="en-US" altLang="zh-CN" dirty="0"/>
          </a:p>
          <a:p>
            <a:pPr>
              <a:lnSpc>
                <a:spcPct val="150000"/>
              </a:lnSpc>
            </a:pPr>
            <a:r>
              <a:rPr lang="zh-CN" altLang="en-US" dirty="0"/>
              <a:t>连续转换时不间断的进行</a:t>
            </a:r>
            <a:r>
              <a:rPr lang="en-US" altLang="zh-CN" dirty="0"/>
              <a:t>ADC</a:t>
            </a:r>
            <a:r>
              <a:rPr lang="zh-CN" altLang="en-US" dirty="0"/>
              <a:t>操作，并将值写入到数据寄存器。</a:t>
            </a:r>
            <a:endParaRPr lang="en-US" altLang="zh-CN" dirty="0"/>
          </a:p>
          <a:p>
            <a:pPr>
              <a:lnSpc>
                <a:spcPct val="150000"/>
              </a:lnSpc>
            </a:pPr>
            <a:r>
              <a:rPr lang="zh-CN" altLang="en-US" b="1" dirty="0">
                <a:solidFill>
                  <a:srgbClr val="C00000"/>
                </a:solidFill>
              </a:rPr>
              <a:t>通道描述：</a:t>
            </a:r>
            <a:endParaRPr lang="en-US" altLang="zh-CN" b="1" dirty="0">
              <a:solidFill>
                <a:srgbClr val="C00000"/>
              </a:solidFill>
            </a:endParaRPr>
          </a:p>
          <a:p>
            <a:pPr>
              <a:lnSpc>
                <a:spcPct val="150000"/>
              </a:lnSpc>
            </a:pPr>
            <a:r>
              <a:rPr lang="en-US" altLang="zh-CN" dirty="0"/>
              <a:t>      ADC</a:t>
            </a:r>
            <a:r>
              <a:rPr lang="zh-CN" altLang="en-US" dirty="0"/>
              <a:t>有两组通道：规则通道组和注入通道组。</a:t>
            </a:r>
            <a:endParaRPr lang="en-US" altLang="zh-CN" dirty="0"/>
          </a:p>
          <a:p>
            <a:pPr>
              <a:lnSpc>
                <a:spcPct val="150000"/>
              </a:lnSpc>
            </a:pPr>
            <a:r>
              <a:rPr lang="zh-CN" altLang="en-US" b="1" dirty="0">
                <a:solidFill>
                  <a:srgbClr val="7030A0"/>
                </a:solidFill>
              </a:rPr>
              <a:t>规则通道组：</a:t>
            </a:r>
            <a:r>
              <a:rPr lang="zh-CN" altLang="en-US" dirty="0"/>
              <a:t>相当于你正常运行的程序。</a:t>
            </a:r>
            <a:endParaRPr lang="en-US" altLang="zh-CN" dirty="0"/>
          </a:p>
          <a:p>
            <a:pPr>
              <a:lnSpc>
                <a:spcPct val="150000"/>
              </a:lnSpc>
            </a:pPr>
            <a:r>
              <a:rPr lang="zh-CN" altLang="en-US" b="1" dirty="0">
                <a:solidFill>
                  <a:srgbClr val="7030A0"/>
                </a:solidFill>
              </a:rPr>
              <a:t>注入通道组：</a:t>
            </a:r>
            <a:r>
              <a:rPr lang="zh-CN" altLang="en-US" dirty="0"/>
              <a:t>就相当于中断。在你程序正常执行的时候，中断是可以打断你的执行的。同这个类似，注入</a:t>
            </a:r>
            <a:endParaRPr lang="en-US" altLang="zh-CN" dirty="0"/>
          </a:p>
          <a:p>
            <a:pPr>
              <a:lnSpc>
                <a:spcPct val="150000"/>
              </a:lnSpc>
            </a:pPr>
            <a:r>
              <a:rPr lang="zh-CN" altLang="en-US" dirty="0"/>
              <a:t>通道的转换可以打断规则通道的转换， 在注入通道被转换完成之后，规则通道才得以继续转换。 也就是说，</a:t>
            </a:r>
            <a:endParaRPr lang="en-US" altLang="zh-CN" dirty="0"/>
          </a:p>
          <a:p>
            <a:pPr>
              <a:lnSpc>
                <a:spcPct val="150000"/>
              </a:lnSpc>
            </a:pPr>
            <a:r>
              <a:rPr lang="zh-CN" altLang="en-US" dirty="0"/>
              <a:t>注入通道可以来打断当前正在进行的规则的 </a:t>
            </a:r>
            <a:r>
              <a:rPr lang="en-US" altLang="zh-CN" dirty="0"/>
              <a:t>ADC </a:t>
            </a:r>
            <a:r>
              <a:rPr lang="zh-CN" altLang="en-US" dirty="0"/>
              <a:t>数据转换，暂时理解成为优先级的概念即可。</a:t>
            </a:r>
            <a:endParaRPr lang="en-US" altLang="zh-CN" dirty="0"/>
          </a:p>
          <a:p>
            <a:pPr>
              <a:lnSpc>
                <a:spcPct val="150000"/>
              </a:lnSpc>
            </a:pPr>
            <a:r>
              <a:rPr lang="zh-CN" altLang="en-US" b="1" dirty="0">
                <a:solidFill>
                  <a:srgbClr val="C00000"/>
                </a:solidFill>
              </a:rPr>
              <a:t>双重模式：</a:t>
            </a:r>
            <a:endParaRPr lang="en-US" altLang="zh-CN" b="1" dirty="0">
              <a:solidFill>
                <a:srgbClr val="C00000"/>
              </a:solidFill>
            </a:endParaRPr>
          </a:p>
          <a:p>
            <a:pPr>
              <a:lnSpc>
                <a:spcPct val="150000"/>
              </a:lnSpc>
            </a:pPr>
            <a:r>
              <a:rPr lang="zh-CN" altLang="en-US" dirty="0"/>
              <a:t>      双 </a:t>
            </a:r>
            <a:r>
              <a:rPr lang="en-US" altLang="zh-CN" dirty="0"/>
              <a:t>ADC </a:t>
            </a:r>
            <a:r>
              <a:rPr lang="zh-CN" altLang="en-US" dirty="0"/>
              <a:t>的机制就是使用两个 </a:t>
            </a:r>
            <a:r>
              <a:rPr lang="en-US" altLang="zh-CN" dirty="0"/>
              <a:t>ADC </a:t>
            </a:r>
            <a:r>
              <a:rPr lang="zh-CN" altLang="en-US" dirty="0"/>
              <a:t>同时采样一个或者多个通道。双重</a:t>
            </a:r>
            <a:r>
              <a:rPr lang="en-US" altLang="zh-CN" dirty="0"/>
              <a:t>ADC </a:t>
            </a:r>
            <a:r>
              <a:rPr lang="zh-CN" altLang="en-US" dirty="0"/>
              <a:t>模式较独立模式一个最大</a:t>
            </a:r>
            <a:endParaRPr lang="en-US" altLang="zh-CN" dirty="0"/>
          </a:p>
          <a:p>
            <a:pPr>
              <a:lnSpc>
                <a:spcPct val="150000"/>
              </a:lnSpc>
            </a:pPr>
            <a:r>
              <a:rPr lang="zh-CN" altLang="en-US" dirty="0"/>
              <a:t>的优势就是提高了采样率，弥补了单个 </a:t>
            </a:r>
            <a:r>
              <a:rPr lang="en-US" altLang="zh-CN" dirty="0"/>
              <a:t>ADC </a:t>
            </a:r>
            <a:r>
              <a:rPr lang="zh-CN" altLang="en-US" dirty="0"/>
              <a:t>采样不够快的缺点。</a:t>
            </a:r>
          </a:p>
          <a:p>
            <a:pPr>
              <a:lnSpc>
                <a:spcPct val="150000"/>
              </a:lnSpc>
            </a:pPr>
            <a:endParaRPr lang="zh-CN" altLang="en-US"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6435" name="Picture 3"/>
          <p:cNvPicPr>
            <a:picLocks noChangeAspect="1" noChangeArrowheads="1"/>
          </p:cNvPicPr>
          <p:nvPr/>
        </p:nvPicPr>
        <p:blipFill>
          <a:blip r:embed="rId2"/>
          <a:srcRect/>
          <a:stretch>
            <a:fillRect/>
          </a:stretch>
        </p:blipFill>
        <p:spPr bwMode="auto">
          <a:xfrm>
            <a:off x="434986" y="1165439"/>
            <a:ext cx="11176053" cy="4154862"/>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458" name="Picture 2"/>
          <p:cNvPicPr>
            <a:picLocks noChangeAspect="1" noChangeArrowheads="1"/>
          </p:cNvPicPr>
          <p:nvPr/>
        </p:nvPicPr>
        <p:blipFill>
          <a:blip r:embed="rId2"/>
          <a:srcRect/>
          <a:stretch>
            <a:fillRect/>
          </a:stretch>
        </p:blipFill>
        <p:spPr bwMode="auto">
          <a:xfrm>
            <a:off x="821677" y="449424"/>
            <a:ext cx="9877926" cy="4617098"/>
          </a:xfrm>
          <a:prstGeom prst="rect">
            <a:avLst/>
          </a:prstGeom>
          <a:noFill/>
          <a:ln w="9525">
            <a:noFill/>
            <a:miter lim="800000"/>
            <a:headEnd/>
            <a:tailEnd/>
          </a:ln>
          <a:effectLst/>
        </p:spPr>
      </p:pic>
      <p:sp>
        <p:nvSpPr>
          <p:cNvPr id="4" name="矩形 3"/>
          <p:cNvSpPr/>
          <p:nvPr/>
        </p:nvSpPr>
        <p:spPr>
          <a:xfrm>
            <a:off x="883297" y="5132036"/>
            <a:ext cx="10220132" cy="1282787"/>
          </a:xfrm>
          <a:prstGeom prst="rect">
            <a:avLst/>
          </a:prstGeom>
        </p:spPr>
        <p:txBody>
          <a:bodyPr wrap="square">
            <a:spAutoFit/>
          </a:bodyPr>
          <a:lstStyle/>
          <a:p>
            <a:pPr>
              <a:lnSpc>
                <a:spcPct val="150000"/>
              </a:lnSpc>
            </a:pPr>
            <a:r>
              <a:rPr lang="en-US" altLang="zh-CN" dirty="0"/>
              <a:t>      ADC</a:t>
            </a:r>
            <a:r>
              <a:rPr lang="zh-CN" altLang="en-US" dirty="0"/>
              <a:t>在开始精确转换前需要一个稳定时间</a:t>
            </a:r>
            <a:r>
              <a:rPr lang="en-US" altLang="zh-CN" dirty="0" err="1"/>
              <a:t>t</a:t>
            </a:r>
            <a:r>
              <a:rPr lang="en-US" altLang="zh-CN" sz="1100" dirty="0" err="1"/>
              <a:t>STAB</a:t>
            </a:r>
            <a:r>
              <a:rPr lang="zh-CN" altLang="en-US" dirty="0"/>
              <a:t>。在开始</a:t>
            </a:r>
            <a:r>
              <a:rPr lang="en-US" altLang="zh-CN" dirty="0"/>
              <a:t>ADC</a:t>
            </a:r>
            <a:r>
              <a:rPr lang="zh-CN" altLang="en-US" dirty="0"/>
              <a:t>转换和</a:t>
            </a:r>
            <a:r>
              <a:rPr lang="en-US" altLang="zh-CN" dirty="0"/>
              <a:t>14</a:t>
            </a:r>
            <a:r>
              <a:rPr lang="zh-CN" altLang="en-US" dirty="0"/>
              <a:t>个时钟周期 后，</a:t>
            </a:r>
            <a:r>
              <a:rPr lang="en-US" altLang="zh-CN" dirty="0"/>
              <a:t>EOC</a:t>
            </a:r>
            <a:r>
              <a:rPr lang="zh-CN" altLang="en-US" dirty="0"/>
              <a:t>标志被设置，</a:t>
            </a:r>
            <a:r>
              <a:rPr lang="en-US" altLang="zh-CN" dirty="0"/>
              <a:t>16</a:t>
            </a:r>
            <a:r>
              <a:rPr lang="zh-CN" altLang="en-US" dirty="0"/>
              <a:t>位</a:t>
            </a:r>
            <a:r>
              <a:rPr lang="en-US" altLang="zh-CN" dirty="0"/>
              <a:t>ADC</a:t>
            </a:r>
            <a:r>
              <a:rPr lang="zh-CN" altLang="en-US" dirty="0"/>
              <a:t>数据寄存器包含转换的结果。</a:t>
            </a:r>
            <a:endParaRPr lang="en-US" altLang="zh-CN" dirty="0"/>
          </a:p>
          <a:p>
            <a:pPr>
              <a:lnSpc>
                <a:spcPct val="150000"/>
              </a:lnSpc>
            </a:pPr>
            <a:r>
              <a:rPr lang="zh-CN" altLang="en-US" dirty="0"/>
              <a:t>    通过清除</a:t>
            </a:r>
            <a:r>
              <a:rPr lang="en-US" altLang="zh-CN" dirty="0"/>
              <a:t>ADON</a:t>
            </a:r>
            <a:r>
              <a:rPr lang="zh-CN" altLang="en-US" dirty="0"/>
              <a:t>位可以停止转换，并将</a:t>
            </a:r>
            <a:r>
              <a:rPr lang="en-US" altLang="zh-CN" dirty="0"/>
              <a:t>ADC</a:t>
            </a:r>
            <a:r>
              <a:rPr lang="zh-CN" altLang="en-US" dirty="0"/>
              <a:t>置于断电模式。在这个模式中，</a:t>
            </a:r>
            <a:r>
              <a:rPr lang="en-US" altLang="zh-CN" dirty="0"/>
              <a:t>ADC</a:t>
            </a:r>
            <a:r>
              <a:rPr lang="zh-CN" altLang="en-US" dirty="0"/>
              <a:t>几乎不耗电。</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153166" y="855697"/>
            <a:ext cx="10971401" cy="2308324"/>
          </a:xfrm>
          <a:prstGeom prst="rect">
            <a:avLst/>
          </a:prstGeom>
        </p:spPr>
        <p:txBody>
          <a:bodyPr wrap="none">
            <a:spAutoFit/>
          </a:bodyPr>
          <a:lstStyle/>
          <a:p>
            <a:pPr>
              <a:lnSpc>
                <a:spcPct val="150000"/>
              </a:lnSpc>
            </a:pPr>
            <a:r>
              <a:rPr lang="zh-CN" altLang="en-US" sz="2400" b="1" dirty="0">
                <a:solidFill>
                  <a:srgbClr val="C00000"/>
                </a:solidFill>
              </a:rPr>
              <a:t>模拟看门狗</a:t>
            </a:r>
            <a:endParaRPr lang="en-US" altLang="zh-CN" sz="2400" b="1" dirty="0">
              <a:solidFill>
                <a:srgbClr val="C00000"/>
              </a:solidFill>
            </a:endParaRPr>
          </a:p>
          <a:p>
            <a:pPr>
              <a:lnSpc>
                <a:spcPct val="150000"/>
              </a:lnSpc>
            </a:pPr>
            <a:r>
              <a:rPr lang="zh-CN" altLang="en-US" sz="2400" dirty="0"/>
              <a:t>      如果被</a:t>
            </a:r>
            <a:r>
              <a:rPr lang="en-US" altLang="zh-CN" sz="2400" dirty="0"/>
              <a:t>ADC</a:t>
            </a:r>
            <a:r>
              <a:rPr lang="zh-CN" altLang="en-US" sz="2400" dirty="0"/>
              <a:t>转换的模拟电压低于低阀值或高于高阀值，</a:t>
            </a:r>
            <a:r>
              <a:rPr lang="en-US" altLang="zh-CN" sz="2400" dirty="0"/>
              <a:t>AWD</a:t>
            </a:r>
            <a:r>
              <a:rPr lang="zh-CN" altLang="en-US" sz="2400" dirty="0"/>
              <a:t>模拟看门狗</a:t>
            </a:r>
            <a:endParaRPr lang="en-US" altLang="zh-CN" sz="2400" dirty="0"/>
          </a:p>
          <a:p>
            <a:pPr>
              <a:lnSpc>
                <a:spcPct val="150000"/>
              </a:lnSpc>
            </a:pPr>
            <a:r>
              <a:rPr lang="zh-CN" altLang="en-US" sz="2400" dirty="0"/>
              <a:t>状态位被设置。阀值位 于</a:t>
            </a:r>
            <a:r>
              <a:rPr lang="en-US" altLang="zh-CN" sz="2400" dirty="0"/>
              <a:t>ADC_HTR</a:t>
            </a:r>
            <a:r>
              <a:rPr lang="zh-CN" altLang="en-US" sz="2400" dirty="0"/>
              <a:t>和</a:t>
            </a:r>
            <a:r>
              <a:rPr lang="en-US" altLang="zh-CN" sz="2400" dirty="0"/>
              <a:t>ADC_LTR</a:t>
            </a:r>
            <a:r>
              <a:rPr lang="zh-CN" altLang="en-US" sz="2400" dirty="0"/>
              <a:t>寄存器的最低</a:t>
            </a:r>
            <a:r>
              <a:rPr lang="en-US" altLang="zh-CN" sz="2400" dirty="0"/>
              <a:t>12</a:t>
            </a:r>
            <a:r>
              <a:rPr lang="zh-CN" altLang="en-US" sz="2400" dirty="0"/>
              <a:t>个有效位中。</a:t>
            </a:r>
            <a:endParaRPr lang="en-US" altLang="zh-CN" sz="2400" dirty="0"/>
          </a:p>
          <a:p>
            <a:pPr>
              <a:lnSpc>
                <a:spcPct val="150000"/>
              </a:lnSpc>
            </a:pPr>
            <a:r>
              <a:rPr lang="zh-CN" altLang="en-US" sz="2400" dirty="0"/>
              <a:t>通过设置</a:t>
            </a:r>
            <a:r>
              <a:rPr lang="en-US" altLang="zh-CN" sz="2400" dirty="0"/>
              <a:t>ADC_CR1</a:t>
            </a:r>
            <a:r>
              <a:rPr lang="zh-CN" altLang="en-US" sz="2400" dirty="0"/>
              <a:t>寄存器的</a:t>
            </a:r>
            <a:r>
              <a:rPr lang="en-US" altLang="zh-CN" sz="2400" dirty="0"/>
              <a:t>AWDIE</a:t>
            </a:r>
            <a:r>
              <a:rPr lang="zh-CN" altLang="en-US" sz="2400" dirty="0"/>
              <a:t>位以允许产生相应中断。</a:t>
            </a:r>
          </a:p>
        </p:txBody>
      </p:sp>
      <p:pic>
        <p:nvPicPr>
          <p:cNvPr id="150530" name="Picture 2"/>
          <p:cNvPicPr>
            <a:picLocks noChangeAspect="1" noChangeArrowheads="1"/>
          </p:cNvPicPr>
          <p:nvPr/>
        </p:nvPicPr>
        <p:blipFill>
          <a:blip r:embed="rId2"/>
          <a:srcRect/>
          <a:stretch>
            <a:fillRect/>
          </a:stretch>
        </p:blipFill>
        <p:spPr bwMode="auto">
          <a:xfrm>
            <a:off x="3143352" y="3872419"/>
            <a:ext cx="5457825" cy="23622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9746" name="Picture 2" descr="https://img2020.cnblogs.com/blog/1959382/202004/1959382-20200412221708084-1592912428.png"/>
          <p:cNvPicPr>
            <a:picLocks noChangeAspect="1" noChangeArrowheads="1"/>
          </p:cNvPicPr>
          <p:nvPr/>
        </p:nvPicPr>
        <p:blipFill>
          <a:blip r:embed="rId2"/>
          <a:srcRect/>
          <a:stretch>
            <a:fillRect/>
          </a:stretch>
        </p:blipFill>
        <p:spPr bwMode="auto">
          <a:xfrm>
            <a:off x="2684835" y="888527"/>
            <a:ext cx="7077075" cy="5400675"/>
          </a:xfrm>
          <a:prstGeom prst="rect">
            <a:avLst/>
          </a:prstGeom>
          <a:noFill/>
        </p:spPr>
      </p:pic>
      <p:sp>
        <p:nvSpPr>
          <p:cNvPr id="6" name="TextBox 5"/>
          <p:cNvSpPr txBox="1"/>
          <p:nvPr/>
        </p:nvSpPr>
        <p:spPr>
          <a:xfrm>
            <a:off x="632298" y="700391"/>
            <a:ext cx="2480553" cy="523220"/>
          </a:xfrm>
          <a:prstGeom prst="rect">
            <a:avLst/>
          </a:prstGeom>
          <a:noFill/>
        </p:spPr>
        <p:txBody>
          <a:bodyPr wrap="square" rtlCol="0">
            <a:spAutoFit/>
          </a:bodyPr>
          <a:lstStyle/>
          <a:p>
            <a:r>
              <a:rPr lang="zh-CN" altLang="en-US" sz="2800" b="1" dirty="0">
                <a:solidFill>
                  <a:srgbClr val="C00000"/>
                </a:solidFill>
              </a:rPr>
              <a:t>步骤：</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794" name="Picture 2" descr="https://img2020.cnblogs.com/blog/1959382/202004/1959382-20200412221742966-994250074.png"/>
          <p:cNvPicPr>
            <a:picLocks noChangeAspect="1" noChangeArrowheads="1"/>
          </p:cNvPicPr>
          <p:nvPr/>
        </p:nvPicPr>
        <p:blipFill>
          <a:blip r:embed="rId2"/>
          <a:srcRect/>
          <a:stretch>
            <a:fillRect/>
          </a:stretch>
        </p:blipFill>
        <p:spPr bwMode="auto">
          <a:xfrm>
            <a:off x="2525551" y="1025914"/>
            <a:ext cx="6838950" cy="44958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28734" y="629731"/>
            <a:ext cx="10891935" cy="5170646"/>
          </a:xfrm>
          <a:prstGeom prst="rect">
            <a:avLst/>
          </a:prstGeom>
        </p:spPr>
        <p:txBody>
          <a:bodyPr wrap="square">
            <a:spAutoFit/>
          </a:bodyPr>
          <a:lstStyle/>
          <a:p>
            <a:pPr>
              <a:lnSpc>
                <a:spcPct val="150000"/>
              </a:lnSpc>
              <a:buClr>
                <a:srgbClr val="7030A0"/>
              </a:buClr>
              <a:buFont typeface="Wingdings" pitchFamily="2" charset="2"/>
              <a:buChar char="u"/>
            </a:pPr>
            <a:r>
              <a:rPr lang="zh-CN" altLang="en-US" sz="2000" b="1" dirty="0">
                <a:solidFill>
                  <a:srgbClr val="7030A0"/>
                </a:solidFill>
              </a:rPr>
              <a:t>（</a:t>
            </a:r>
            <a:r>
              <a:rPr lang="en-US" altLang="zh-CN" sz="2000" b="1" dirty="0">
                <a:solidFill>
                  <a:srgbClr val="7030A0"/>
                </a:solidFill>
              </a:rPr>
              <a:t>1</a:t>
            </a:r>
            <a:r>
              <a:rPr lang="zh-CN" altLang="en-US" sz="2000" b="1" dirty="0">
                <a:solidFill>
                  <a:srgbClr val="7030A0"/>
                </a:solidFill>
              </a:rPr>
              <a:t>）标号</a:t>
            </a:r>
            <a:r>
              <a:rPr lang="en-US" altLang="zh-CN" sz="2000" b="1" dirty="0">
                <a:solidFill>
                  <a:srgbClr val="7030A0"/>
                </a:solidFill>
              </a:rPr>
              <a:t>1</a:t>
            </a:r>
            <a:r>
              <a:rPr lang="zh-CN" altLang="en-US" sz="2000" b="1" dirty="0">
                <a:solidFill>
                  <a:srgbClr val="7030A0"/>
                </a:solidFill>
              </a:rPr>
              <a:t>：电压输入引脚</a:t>
            </a:r>
          </a:p>
          <a:p>
            <a:pPr>
              <a:lnSpc>
                <a:spcPct val="150000"/>
              </a:lnSpc>
            </a:pPr>
            <a:r>
              <a:rPr lang="zh-CN" altLang="en-US" sz="2000" dirty="0"/>
              <a:t>　　</a:t>
            </a:r>
            <a:r>
              <a:rPr lang="en-US" altLang="zh-CN" sz="2000" dirty="0"/>
              <a:t>ADC</a:t>
            </a:r>
            <a:r>
              <a:rPr lang="zh-CN" altLang="en-US" sz="2000" dirty="0"/>
              <a:t>输入电压范围为： </a:t>
            </a:r>
            <a:r>
              <a:rPr lang="en-US" altLang="zh-CN" sz="2000" dirty="0"/>
              <a:t>VREF- ≤ VIN ≤ VREF+</a:t>
            </a:r>
            <a:r>
              <a:rPr lang="zh-CN" altLang="en-US" sz="2000" dirty="0"/>
              <a:t>。由 </a:t>
            </a:r>
            <a:r>
              <a:rPr lang="en-US" altLang="zh-CN" sz="2000" dirty="0"/>
              <a:t>VREF-</a:t>
            </a:r>
            <a:r>
              <a:rPr lang="zh-CN" altLang="en-US" sz="2000" dirty="0"/>
              <a:t>、 </a:t>
            </a:r>
            <a:r>
              <a:rPr lang="en-US" altLang="zh-CN" sz="2000" dirty="0"/>
              <a:t>VREF+ </a:t>
            </a:r>
            <a:r>
              <a:rPr lang="zh-CN" altLang="en-US" sz="2000" dirty="0"/>
              <a:t>、 </a:t>
            </a:r>
            <a:r>
              <a:rPr lang="en-US" altLang="zh-CN" sz="2000" dirty="0"/>
              <a:t>VDDA </a:t>
            </a:r>
            <a:r>
              <a:rPr lang="zh-CN" altLang="en-US" sz="2000" dirty="0"/>
              <a:t>、 </a:t>
            </a:r>
            <a:r>
              <a:rPr lang="en-US" altLang="zh-CN" sz="2000" dirty="0"/>
              <a:t>VSSA</a:t>
            </a:r>
            <a:r>
              <a:rPr lang="zh-CN" altLang="en-US" sz="2000" dirty="0"/>
              <a:t>这四个外部引脚决定。通常我们把 </a:t>
            </a:r>
            <a:r>
              <a:rPr lang="en-US" altLang="zh-CN" sz="2000" dirty="0"/>
              <a:t>VSSA</a:t>
            </a:r>
            <a:r>
              <a:rPr lang="zh-CN" altLang="en-US" sz="2000" dirty="0"/>
              <a:t>和 </a:t>
            </a:r>
            <a:r>
              <a:rPr lang="en-US" altLang="zh-CN" sz="2000" dirty="0"/>
              <a:t>VREF-</a:t>
            </a:r>
            <a:r>
              <a:rPr lang="zh-CN" altLang="en-US" sz="2000" dirty="0"/>
              <a:t>接地 ，把 </a:t>
            </a:r>
            <a:r>
              <a:rPr lang="en-US" altLang="zh-CN" sz="2000" dirty="0"/>
              <a:t>VREF+</a:t>
            </a:r>
            <a:r>
              <a:rPr lang="zh-CN" altLang="en-US" sz="2000" dirty="0"/>
              <a:t>和 </a:t>
            </a:r>
            <a:r>
              <a:rPr lang="en-US" altLang="zh-CN" sz="2000" dirty="0"/>
              <a:t>VDDA </a:t>
            </a:r>
            <a:r>
              <a:rPr lang="zh-CN" altLang="en-US" sz="2000" dirty="0"/>
              <a:t>接 </a:t>
            </a:r>
            <a:r>
              <a:rPr lang="en-US" altLang="zh-CN" sz="2000" dirty="0"/>
              <a:t>3.3V</a:t>
            </a:r>
            <a:r>
              <a:rPr lang="zh-CN" altLang="en-US" sz="2000" dirty="0"/>
              <a:t>，因此</a:t>
            </a:r>
            <a:r>
              <a:rPr lang="en-US" altLang="zh-CN" sz="2000" dirty="0"/>
              <a:t>ADC</a:t>
            </a:r>
            <a:r>
              <a:rPr lang="zh-CN" altLang="en-US" sz="2000" dirty="0"/>
              <a:t>的输入电压范围为：</a:t>
            </a:r>
            <a:r>
              <a:rPr lang="en-US" altLang="zh-CN" sz="2000" dirty="0"/>
              <a:t>0~3.3V</a:t>
            </a:r>
            <a:r>
              <a:rPr lang="zh-CN" altLang="en-US" sz="2000" dirty="0"/>
              <a:t>。我 们使用的开发板</a:t>
            </a:r>
            <a:r>
              <a:rPr lang="en-US" altLang="zh-CN" sz="2000" dirty="0"/>
              <a:t>ADC</a:t>
            </a:r>
            <a:r>
              <a:rPr lang="zh-CN" altLang="en-US" sz="2000" dirty="0"/>
              <a:t>输入电压范围为</a:t>
            </a:r>
            <a:r>
              <a:rPr lang="en-US" altLang="zh-CN" sz="2000" dirty="0"/>
              <a:t>0~3.3V</a:t>
            </a:r>
            <a:r>
              <a:rPr lang="zh-CN" altLang="en-US" sz="2000" dirty="0"/>
              <a:t>。</a:t>
            </a:r>
            <a:endParaRPr lang="en-US" altLang="zh-CN" sz="2000" dirty="0"/>
          </a:p>
          <a:p>
            <a:pPr>
              <a:lnSpc>
                <a:spcPct val="150000"/>
              </a:lnSpc>
              <a:buClr>
                <a:srgbClr val="7030A0"/>
              </a:buClr>
              <a:buFont typeface="Wingdings" pitchFamily="2" charset="2"/>
              <a:buChar char="u"/>
            </a:pPr>
            <a:r>
              <a:rPr lang="zh-CN" altLang="en-US" sz="2000" b="1" dirty="0">
                <a:solidFill>
                  <a:srgbClr val="7030A0"/>
                </a:solidFill>
              </a:rPr>
              <a:t>（</a:t>
            </a:r>
            <a:r>
              <a:rPr lang="en-US" altLang="zh-CN" sz="2000" b="1" dirty="0">
                <a:solidFill>
                  <a:srgbClr val="7030A0"/>
                </a:solidFill>
              </a:rPr>
              <a:t>2</a:t>
            </a:r>
            <a:r>
              <a:rPr lang="zh-CN" altLang="en-US" sz="2000" b="1" dirty="0">
                <a:solidFill>
                  <a:srgbClr val="7030A0"/>
                </a:solidFill>
              </a:rPr>
              <a:t>）标号</a:t>
            </a:r>
            <a:r>
              <a:rPr lang="en-US" altLang="zh-CN" sz="2000" b="1" dirty="0">
                <a:solidFill>
                  <a:srgbClr val="7030A0"/>
                </a:solidFill>
              </a:rPr>
              <a:t>2</a:t>
            </a:r>
            <a:r>
              <a:rPr lang="zh-CN" altLang="en-US" sz="2000" b="1" dirty="0">
                <a:solidFill>
                  <a:srgbClr val="7030A0"/>
                </a:solidFill>
              </a:rPr>
              <a:t>：输入通道</a:t>
            </a:r>
          </a:p>
          <a:p>
            <a:pPr>
              <a:lnSpc>
                <a:spcPct val="150000"/>
              </a:lnSpc>
            </a:pPr>
            <a:r>
              <a:rPr lang="zh-CN" altLang="en-US" sz="2000" dirty="0"/>
              <a:t>　　</a:t>
            </a:r>
            <a:r>
              <a:rPr lang="en-US" altLang="zh-CN" sz="2000" dirty="0"/>
              <a:t>STM32 </a:t>
            </a:r>
            <a:r>
              <a:rPr lang="zh-CN" altLang="en-US" sz="2000" dirty="0"/>
              <a:t>的 </a:t>
            </a:r>
            <a:r>
              <a:rPr lang="en-US" altLang="zh-CN" sz="2000" dirty="0"/>
              <a:t>ADC</a:t>
            </a:r>
            <a:r>
              <a:rPr lang="zh-CN" altLang="en-US" sz="2000" dirty="0"/>
              <a:t>的输入通道多达 </a:t>
            </a:r>
            <a:r>
              <a:rPr lang="en-US" altLang="zh-CN" sz="2000" dirty="0"/>
              <a:t>18 </a:t>
            </a:r>
            <a:r>
              <a:rPr lang="zh-CN" altLang="en-US" sz="2000" dirty="0"/>
              <a:t>个，其中外部的</a:t>
            </a:r>
            <a:r>
              <a:rPr lang="en-US" altLang="zh-CN" sz="2000" dirty="0"/>
              <a:t>16</a:t>
            </a:r>
            <a:r>
              <a:rPr lang="zh-CN" altLang="en-US" sz="2000" dirty="0"/>
              <a:t>个通道就是框 图中的</a:t>
            </a:r>
            <a:r>
              <a:rPr lang="en-US" altLang="zh-CN" sz="2000" dirty="0"/>
              <a:t>ADCx_IN0</a:t>
            </a:r>
            <a:r>
              <a:rPr lang="zh-CN" altLang="en-US" sz="2000" dirty="0"/>
              <a:t>、    </a:t>
            </a:r>
            <a:r>
              <a:rPr lang="en-US" altLang="zh-CN" sz="2000" dirty="0"/>
              <a:t>ADCx_IN1...ADCx_IN5</a:t>
            </a:r>
            <a:r>
              <a:rPr lang="zh-CN" altLang="en-US" sz="2000" dirty="0"/>
              <a:t>（</a:t>
            </a:r>
            <a:r>
              <a:rPr lang="en-US" altLang="zh-CN" sz="2000" dirty="0"/>
              <a:t>x=1/2/3</a:t>
            </a:r>
            <a:r>
              <a:rPr lang="zh-CN" altLang="en-US" sz="2000" dirty="0"/>
              <a:t>，表示</a:t>
            </a:r>
            <a:r>
              <a:rPr lang="en-US" altLang="zh-CN" sz="2000" dirty="0"/>
              <a:t>ADC</a:t>
            </a:r>
            <a:r>
              <a:rPr lang="zh-CN" altLang="en-US" sz="2000" dirty="0"/>
              <a:t>数），通过这</a:t>
            </a:r>
            <a:r>
              <a:rPr lang="en-US" altLang="zh-CN" sz="2000" dirty="0"/>
              <a:t>16</a:t>
            </a:r>
            <a:r>
              <a:rPr lang="zh-CN" altLang="en-US" sz="2000" dirty="0"/>
              <a:t>个外部通道可以采集模拟信号。这 </a:t>
            </a:r>
            <a:r>
              <a:rPr lang="en-US" altLang="zh-CN" sz="2000" dirty="0"/>
              <a:t>16 </a:t>
            </a:r>
            <a:r>
              <a:rPr lang="zh-CN" altLang="en-US" sz="2000" dirty="0"/>
              <a:t>个通道对应着不同的</a:t>
            </a:r>
            <a:r>
              <a:rPr lang="en-US" altLang="zh-CN" sz="2000" dirty="0"/>
              <a:t>IO</a:t>
            </a:r>
            <a:r>
              <a:rPr lang="zh-CN" altLang="en-US" sz="2000" dirty="0"/>
              <a:t>口，具体是哪一个</a:t>
            </a:r>
            <a:r>
              <a:rPr lang="en-US" altLang="zh-CN" sz="2000" dirty="0"/>
              <a:t>IO</a:t>
            </a:r>
            <a:r>
              <a:rPr lang="zh-CN" altLang="en-US" sz="2000" dirty="0"/>
              <a:t>口可以从数据手册查询到。其中 </a:t>
            </a:r>
            <a:r>
              <a:rPr lang="en-US" altLang="zh-CN" sz="2000" dirty="0"/>
              <a:t>ADC1 </a:t>
            </a:r>
            <a:r>
              <a:rPr lang="zh-CN" altLang="en-US" sz="2000" dirty="0"/>
              <a:t>还有</a:t>
            </a:r>
            <a:r>
              <a:rPr lang="en-US" altLang="zh-CN" sz="2000" dirty="0"/>
              <a:t>2 </a:t>
            </a:r>
            <a:r>
              <a:rPr lang="zh-CN" altLang="en-US" sz="2000" dirty="0"/>
              <a:t>个内部通道：</a:t>
            </a:r>
            <a:r>
              <a:rPr lang="en-US" altLang="zh-CN" sz="2000" dirty="0"/>
              <a:t>ADC1 </a:t>
            </a:r>
            <a:r>
              <a:rPr lang="zh-CN" altLang="en-US" sz="2000" dirty="0"/>
              <a:t>的通道</a:t>
            </a:r>
            <a:r>
              <a:rPr lang="en-US" altLang="zh-CN" sz="2000" dirty="0"/>
              <a:t>16</a:t>
            </a:r>
            <a:r>
              <a:rPr lang="zh-CN" altLang="en-US" sz="2000" dirty="0"/>
              <a:t>连接到了芯片内部的温度传感器，通道</a:t>
            </a:r>
            <a:r>
              <a:rPr lang="en-US" altLang="zh-CN" sz="2000" dirty="0"/>
              <a:t>17</a:t>
            </a:r>
            <a:r>
              <a:rPr lang="zh-CN" altLang="en-US" sz="2000" dirty="0"/>
              <a:t>连接到了内部参考电压 </a:t>
            </a:r>
            <a:r>
              <a:rPr lang="en-US" altLang="zh-CN" sz="2000" dirty="0"/>
              <a:t>VREFINT</a:t>
            </a:r>
            <a:r>
              <a:rPr lang="zh-CN" altLang="en-US" sz="2000" dirty="0"/>
              <a:t>。</a:t>
            </a:r>
            <a:r>
              <a:rPr lang="en-US" altLang="zh-CN" sz="2000" dirty="0"/>
              <a:t>ADC2 </a:t>
            </a:r>
            <a:r>
              <a:rPr lang="zh-CN" altLang="en-US" sz="2000" dirty="0"/>
              <a:t>和</a:t>
            </a:r>
            <a:r>
              <a:rPr lang="en-US" altLang="zh-CN" sz="2000" dirty="0"/>
              <a:t>ADC3</a:t>
            </a:r>
            <a:r>
              <a:rPr lang="zh-CN" altLang="en-US" sz="2000" dirty="0"/>
              <a:t>的通道 </a:t>
            </a:r>
            <a:r>
              <a:rPr lang="en-US" altLang="zh-CN" sz="2000" dirty="0"/>
              <a:t>16</a:t>
            </a:r>
            <a:r>
              <a:rPr lang="zh-CN" altLang="en-US" sz="2000" dirty="0"/>
              <a:t>、</a:t>
            </a:r>
            <a:r>
              <a:rPr lang="en-US" altLang="zh-CN" sz="2000" dirty="0"/>
              <a:t>17</a:t>
            </a:r>
            <a:r>
              <a:rPr lang="zh-CN" altLang="en-US" sz="2000" dirty="0"/>
              <a:t>全部连接到 了内部的 </a:t>
            </a:r>
            <a:r>
              <a:rPr lang="en-US" altLang="zh-CN" sz="2000" dirty="0"/>
              <a:t>VSS</a:t>
            </a:r>
            <a:r>
              <a:rPr lang="zh-CN" altLang="en-US" sz="2000" dirty="0"/>
              <a:t>。</a:t>
            </a:r>
          </a:p>
          <a:p>
            <a:pPr>
              <a:lnSpc>
                <a:spcPct val="150000"/>
              </a:lnSpc>
            </a:pPr>
            <a:endParaRPr lang="zh-CN" alt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28734" y="629731"/>
            <a:ext cx="10891935" cy="4538422"/>
          </a:xfrm>
          <a:prstGeom prst="rect">
            <a:avLst/>
          </a:prstGeom>
        </p:spPr>
        <p:txBody>
          <a:bodyPr wrap="square">
            <a:spAutoFit/>
          </a:bodyPr>
          <a:lstStyle/>
          <a:p>
            <a:pPr>
              <a:lnSpc>
                <a:spcPct val="150000"/>
              </a:lnSpc>
              <a:buClr>
                <a:srgbClr val="7030A0"/>
              </a:buClr>
              <a:buFont typeface="Wingdings" pitchFamily="2" charset="2"/>
              <a:buChar char="u"/>
            </a:pPr>
            <a:r>
              <a:rPr lang="zh-CN" altLang="en-US" sz="2800" b="1" dirty="0">
                <a:solidFill>
                  <a:srgbClr val="7030A0"/>
                </a:solidFill>
              </a:rPr>
              <a:t>（</a:t>
            </a:r>
            <a:r>
              <a:rPr lang="en-US" altLang="zh-CN" sz="2800" b="1" dirty="0">
                <a:solidFill>
                  <a:srgbClr val="7030A0"/>
                </a:solidFill>
              </a:rPr>
              <a:t>3</a:t>
            </a:r>
            <a:r>
              <a:rPr lang="zh-CN" altLang="en-US" sz="2800" b="1" dirty="0">
                <a:solidFill>
                  <a:srgbClr val="7030A0"/>
                </a:solidFill>
              </a:rPr>
              <a:t>）标号</a:t>
            </a:r>
            <a:r>
              <a:rPr lang="en-US" altLang="zh-CN" sz="2800" b="1" dirty="0">
                <a:solidFill>
                  <a:srgbClr val="7030A0"/>
                </a:solidFill>
              </a:rPr>
              <a:t>3</a:t>
            </a:r>
            <a:r>
              <a:rPr lang="zh-CN" altLang="en-US" sz="2800" b="1" dirty="0">
                <a:solidFill>
                  <a:srgbClr val="7030A0"/>
                </a:solidFill>
              </a:rPr>
              <a:t>：通道转换顺序</a:t>
            </a:r>
          </a:p>
          <a:p>
            <a:pPr>
              <a:lnSpc>
                <a:spcPct val="150000"/>
              </a:lnSpc>
            </a:pPr>
            <a:r>
              <a:rPr lang="zh-CN" altLang="en-US" sz="2800" dirty="0"/>
              <a:t>　　外部的 </a:t>
            </a:r>
            <a:r>
              <a:rPr lang="en-US" altLang="zh-CN" sz="2800" dirty="0"/>
              <a:t>16 </a:t>
            </a:r>
            <a:r>
              <a:rPr lang="zh-CN" altLang="en-US" sz="2800" dirty="0"/>
              <a:t>个通道在转换的时候可分为</a:t>
            </a:r>
            <a:r>
              <a:rPr lang="en-US" altLang="zh-CN" sz="2800" dirty="0"/>
              <a:t>2</a:t>
            </a:r>
            <a:r>
              <a:rPr lang="zh-CN" altLang="en-US" sz="2800" dirty="0"/>
              <a:t>组通道：</a:t>
            </a:r>
            <a:r>
              <a:rPr lang="zh-CN" altLang="en-US" sz="2800" b="1" dirty="0">
                <a:solidFill>
                  <a:srgbClr val="0070C0"/>
                </a:solidFill>
              </a:rPr>
              <a:t>规则通道组</a:t>
            </a:r>
            <a:r>
              <a:rPr lang="zh-CN" altLang="en-US" sz="2800" dirty="0"/>
              <a:t>和</a:t>
            </a:r>
            <a:r>
              <a:rPr lang="zh-CN" altLang="en-US" sz="2800" b="1" dirty="0">
                <a:solidFill>
                  <a:srgbClr val="0070C0"/>
                </a:solidFill>
              </a:rPr>
              <a:t>注入通道组</a:t>
            </a:r>
            <a:r>
              <a:rPr lang="zh-CN" altLang="en-US" sz="2800" dirty="0"/>
              <a:t>，其中规则通道组最多有</a:t>
            </a:r>
            <a:r>
              <a:rPr lang="en-US" altLang="zh-CN" sz="2800" dirty="0"/>
              <a:t>16</a:t>
            </a:r>
            <a:r>
              <a:rPr lang="zh-CN" altLang="en-US" sz="2800" dirty="0"/>
              <a:t>路，注入通道组最多有 </a:t>
            </a:r>
            <a:r>
              <a:rPr lang="en-US" altLang="zh-CN" sz="2800" dirty="0"/>
              <a:t>4 </a:t>
            </a:r>
            <a:r>
              <a:rPr lang="zh-CN" altLang="en-US" sz="2800" dirty="0"/>
              <a:t>路每个组包含一个转换序列，该序列可按任意顺序在任意通道上完成。 例如，可按以下顺序对序列进行转换： </a:t>
            </a:r>
            <a:r>
              <a:rPr lang="en-US" altLang="zh-CN" sz="2800" dirty="0"/>
              <a:t>ADC_IN3</a:t>
            </a:r>
            <a:r>
              <a:rPr lang="zh-CN" altLang="en-US" sz="2800" dirty="0"/>
              <a:t>、</a:t>
            </a:r>
            <a:r>
              <a:rPr lang="en-US" altLang="zh-CN" sz="2800" dirty="0"/>
              <a:t>ADC_IN8</a:t>
            </a:r>
            <a:r>
              <a:rPr lang="zh-CN" altLang="en-US" sz="2800" dirty="0"/>
              <a:t>、 </a:t>
            </a:r>
            <a:r>
              <a:rPr lang="en-US" altLang="zh-CN" sz="2800" dirty="0"/>
              <a:t>ADC_IN2</a:t>
            </a:r>
            <a:r>
              <a:rPr lang="zh-CN" altLang="en-US" sz="2800" dirty="0"/>
              <a:t>、 </a:t>
            </a:r>
            <a:r>
              <a:rPr lang="en-US" altLang="zh-CN" sz="2800" dirty="0"/>
              <a:t>ADC_IN2</a:t>
            </a:r>
            <a:r>
              <a:rPr lang="zh-CN" altLang="en-US" sz="2800" dirty="0"/>
              <a:t>、 </a:t>
            </a:r>
            <a:r>
              <a:rPr lang="en-US" altLang="zh-CN" sz="2800" dirty="0"/>
              <a:t>ADC_IN0</a:t>
            </a:r>
            <a:r>
              <a:rPr lang="zh-CN" altLang="en-US" sz="2800" dirty="0"/>
              <a:t>、 </a:t>
            </a:r>
            <a:r>
              <a:rPr lang="en-US" altLang="zh-CN" sz="2800" dirty="0"/>
              <a:t>ADC_IN2</a:t>
            </a:r>
            <a:r>
              <a:rPr lang="zh-CN" altLang="en-US" sz="2800" dirty="0"/>
              <a:t>、 </a:t>
            </a:r>
            <a:r>
              <a:rPr lang="en-US" altLang="zh-CN" sz="2800" dirty="0"/>
              <a:t>ADC_IN2</a:t>
            </a:r>
            <a:r>
              <a:rPr lang="zh-CN" altLang="en-US" sz="2800" dirty="0"/>
              <a:t>、 </a:t>
            </a:r>
            <a:r>
              <a:rPr lang="en-US" altLang="zh-CN" sz="2800" dirty="0"/>
              <a:t>ADC_IN15</a:t>
            </a:r>
            <a:r>
              <a:rPr lang="zh-CN" altLang="en-US" sz="2800" dirty="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48096" y="314522"/>
            <a:ext cx="11433831" cy="6555641"/>
          </a:xfrm>
          <a:prstGeom prst="rect">
            <a:avLst/>
          </a:prstGeom>
        </p:spPr>
        <p:txBody>
          <a:bodyPr wrap="square">
            <a:spAutoFit/>
          </a:bodyPr>
          <a:lstStyle/>
          <a:p>
            <a:pPr>
              <a:lnSpc>
                <a:spcPct val="150000"/>
              </a:lnSpc>
              <a:buClr>
                <a:srgbClr val="7030A0"/>
              </a:buClr>
              <a:buFont typeface="Wingdings" pitchFamily="2" charset="2"/>
              <a:buChar char="u"/>
            </a:pPr>
            <a:r>
              <a:rPr lang="zh-CN" altLang="en-US" sz="2400" b="1" dirty="0">
                <a:solidFill>
                  <a:srgbClr val="7030A0"/>
                </a:solidFill>
              </a:rPr>
              <a:t>（</a:t>
            </a:r>
            <a:r>
              <a:rPr lang="en-US" altLang="zh-CN" sz="2400" b="1" dirty="0">
                <a:solidFill>
                  <a:srgbClr val="7030A0"/>
                </a:solidFill>
              </a:rPr>
              <a:t>4</a:t>
            </a:r>
            <a:r>
              <a:rPr lang="zh-CN" altLang="en-US" sz="2400" b="1" dirty="0">
                <a:solidFill>
                  <a:srgbClr val="7030A0"/>
                </a:solidFill>
              </a:rPr>
              <a:t>）标号</a:t>
            </a:r>
            <a:r>
              <a:rPr lang="en-US" altLang="zh-CN" sz="2400" b="1" dirty="0">
                <a:solidFill>
                  <a:srgbClr val="7030A0"/>
                </a:solidFill>
              </a:rPr>
              <a:t>4</a:t>
            </a:r>
            <a:r>
              <a:rPr lang="zh-CN" altLang="en-US" sz="2400" b="1" dirty="0">
                <a:solidFill>
                  <a:srgbClr val="7030A0"/>
                </a:solidFill>
              </a:rPr>
              <a:t>：触发源（外部触发和软件触发）</a:t>
            </a:r>
            <a:endParaRPr lang="en-US" altLang="zh-CN" sz="2400" b="1" dirty="0">
              <a:solidFill>
                <a:srgbClr val="7030A0"/>
              </a:solidFill>
            </a:endParaRPr>
          </a:p>
          <a:p>
            <a:pPr>
              <a:lnSpc>
                <a:spcPct val="150000"/>
              </a:lnSpc>
            </a:pPr>
            <a:r>
              <a:rPr lang="zh-CN" altLang="en-US" sz="2400" dirty="0"/>
              <a:t>     </a:t>
            </a:r>
            <a:r>
              <a:rPr lang="zh-CN" altLang="en-US" sz="2000" dirty="0"/>
              <a:t>选择好输入通道，设置好转换顺序，接下来就可以开始转换。要开启 </a:t>
            </a:r>
            <a:r>
              <a:rPr lang="en-US" altLang="zh-CN" sz="2000" dirty="0"/>
              <a:t>ADC</a:t>
            </a:r>
            <a:r>
              <a:rPr lang="zh-CN" altLang="en-US" sz="2000" dirty="0"/>
              <a:t>转换，</a:t>
            </a:r>
            <a:r>
              <a:rPr lang="zh-CN" altLang="en-US" sz="2000" b="1" dirty="0">
                <a:solidFill>
                  <a:srgbClr val="0070C0"/>
                </a:solidFill>
              </a:rPr>
              <a:t>可以直接设置</a:t>
            </a:r>
            <a:r>
              <a:rPr lang="en-US" altLang="zh-CN" sz="2000" b="1" dirty="0">
                <a:solidFill>
                  <a:srgbClr val="0070C0"/>
                </a:solidFill>
              </a:rPr>
              <a:t>ADC </a:t>
            </a:r>
            <a:r>
              <a:rPr lang="zh-CN" altLang="en-US" sz="2000" b="1" dirty="0">
                <a:solidFill>
                  <a:srgbClr val="0070C0"/>
                </a:solidFill>
              </a:rPr>
              <a:t>控制寄存器</a:t>
            </a:r>
            <a:r>
              <a:rPr lang="en-US" altLang="zh-CN" sz="2000" b="1" dirty="0">
                <a:solidFill>
                  <a:srgbClr val="0070C0"/>
                </a:solidFill>
              </a:rPr>
              <a:t>ADC_CR2 </a:t>
            </a:r>
            <a:r>
              <a:rPr lang="zh-CN" altLang="en-US" sz="2000" b="1" dirty="0">
                <a:solidFill>
                  <a:srgbClr val="0070C0"/>
                </a:solidFill>
              </a:rPr>
              <a:t>的 </a:t>
            </a:r>
            <a:r>
              <a:rPr lang="en-US" altLang="zh-CN" sz="2000" b="1" dirty="0">
                <a:solidFill>
                  <a:srgbClr val="0070C0"/>
                </a:solidFill>
              </a:rPr>
              <a:t>ADON</a:t>
            </a:r>
            <a:r>
              <a:rPr lang="zh-CN" altLang="en-US" sz="2000" b="1" dirty="0">
                <a:solidFill>
                  <a:srgbClr val="0070C0"/>
                </a:solidFill>
              </a:rPr>
              <a:t>位为</a:t>
            </a:r>
            <a:r>
              <a:rPr lang="en-US" altLang="zh-CN" sz="2000" b="1" dirty="0">
                <a:solidFill>
                  <a:srgbClr val="0070C0"/>
                </a:solidFill>
              </a:rPr>
              <a:t>1</a:t>
            </a:r>
            <a:r>
              <a:rPr lang="zh-CN" altLang="en-US" sz="2000" b="1" dirty="0">
                <a:solidFill>
                  <a:srgbClr val="0070C0"/>
                </a:solidFill>
              </a:rPr>
              <a:t>，即使能</a:t>
            </a:r>
            <a:r>
              <a:rPr lang="en-US" altLang="zh-CN" sz="2000" b="1" dirty="0">
                <a:solidFill>
                  <a:srgbClr val="0070C0"/>
                </a:solidFill>
              </a:rPr>
              <a:t>ADC</a:t>
            </a:r>
            <a:r>
              <a:rPr lang="zh-CN" altLang="en-US" sz="2000" dirty="0">
                <a:solidFill>
                  <a:srgbClr val="0070C0"/>
                </a:solidFill>
              </a:rPr>
              <a:t>。</a:t>
            </a:r>
            <a:r>
              <a:rPr lang="zh-CN" altLang="en-US" sz="2000" dirty="0"/>
              <a:t>当然</a:t>
            </a:r>
            <a:r>
              <a:rPr lang="en-US" altLang="zh-CN" sz="2000" b="1" dirty="0">
                <a:solidFill>
                  <a:srgbClr val="0070C0"/>
                </a:solidFill>
              </a:rPr>
              <a:t>ADC</a:t>
            </a:r>
            <a:r>
              <a:rPr lang="zh-CN" altLang="en-US" sz="2000" b="1" dirty="0">
                <a:solidFill>
                  <a:srgbClr val="0070C0"/>
                </a:solidFill>
              </a:rPr>
              <a:t>还支持外部事件触发转换，</a:t>
            </a:r>
            <a:r>
              <a:rPr lang="zh-CN" altLang="en-US" sz="2000" dirty="0"/>
              <a:t>触发源有很多，具体选择哪一种触发源，由</a:t>
            </a:r>
            <a:r>
              <a:rPr lang="en-US" altLang="zh-CN" sz="2000" dirty="0"/>
              <a:t>ADC </a:t>
            </a:r>
            <a:r>
              <a:rPr lang="zh-CN" altLang="en-US" sz="2000" dirty="0"/>
              <a:t>控制寄存器</a:t>
            </a:r>
            <a:r>
              <a:rPr lang="en-US" altLang="zh-CN" sz="2000" dirty="0"/>
              <a:t>2:ADC_CR2 </a:t>
            </a:r>
            <a:r>
              <a:rPr lang="zh-CN" altLang="en-US" sz="2000" dirty="0"/>
              <a:t>的 </a:t>
            </a:r>
            <a:r>
              <a:rPr lang="en-US" altLang="zh-CN" sz="2000" dirty="0"/>
              <a:t>EXTSEL[2:0]</a:t>
            </a:r>
            <a:r>
              <a:rPr lang="zh-CN" altLang="en-US" sz="2000" dirty="0"/>
              <a:t>和 </a:t>
            </a:r>
            <a:r>
              <a:rPr lang="en-US" altLang="zh-CN" sz="2000" dirty="0"/>
              <a:t>JEXTSEL[2:0]</a:t>
            </a:r>
            <a:r>
              <a:rPr lang="zh-CN" altLang="en-US" sz="2000" dirty="0"/>
              <a:t>位来控制。</a:t>
            </a:r>
            <a:r>
              <a:rPr lang="en-US" altLang="zh-CN" sz="2000" b="1" dirty="0">
                <a:solidFill>
                  <a:srgbClr val="0070C0"/>
                </a:solidFill>
              </a:rPr>
              <a:t>EXTSEL[2:0]</a:t>
            </a:r>
            <a:r>
              <a:rPr lang="zh-CN" altLang="en-US" sz="2000" b="1" dirty="0">
                <a:solidFill>
                  <a:srgbClr val="0070C0"/>
                </a:solidFill>
              </a:rPr>
              <a:t>用于选择规则通道的触发源， </a:t>
            </a:r>
            <a:r>
              <a:rPr lang="en-US" altLang="zh-CN" sz="2000" b="1" dirty="0">
                <a:solidFill>
                  <a:srgbClr val="0070C0"/>
                </a:solidFill>
              </a:rPr>
              <a:t>JEXTSEL[2:0]</a:t>
            </a:r>
            <a:r>
              <a:rPr lang="zh-CN" altLang="en-US" sz="2000" b="1" dirty="0">
                <a:solidFill>
                  <a:srgbClr val="0070C0"/>
                </a:solidFill>
              </a:rPr>
              <a:t>用于选择注入通道的触发源。</a:t>
            </a:r>
            <a:r>
              <a:rPr lang="zh-CN" altLang="en-US" sz="2000" dirty="0"/>
              <a:t>选定好触发源之后，</a:t>
            </a:r>
            <a:r>
              <a:rPr lang="zh-CN" altLang="en-US" sz="2000" b="1" dirty="0">
                <a:solidFill>
                  <a:srgbClr val="0070C0"/>
                </a:solidFill>
              </a:rPr>
              <a:t>触发源是否要激活，则由 </a:t>
            </a:r>
            <a:r>
              <a:rPr lang="en-US" altLang="zh-CN" sz="2000" b="1" dirty="0">
                <a:solidFill>
                  <a:srgbClr val="0070C0"/>
                </a:solidFill>
              </a:rPr>
              <a:t>ADC </a:t>
            </a:r>
            <a:r>
              <a:rPr lang="zh-CN" altLang="en-US" sz="2000" b="1" dirty="0">
                <a:solidFill>
                  <a:srgbClr val="0070C0"/>
                </a:solidFill>
              </a:rPr>
              <a:t>控制寄存器</a:t>
            </a:r>
            <a:r>
              <a:rPr lang="en-US" altLang="zh-CN" sz="2000" b="1" dirty="0">
                <a:solidFill>
                  <a:srgbClr val="0070C0"/>
                </a:solidFill>
              </a:rPr>
              <a:t>ADC_CR2 </a:t>
            </a:r>
            <a:r>
              <a:rPr lang="zh-CN" altLang="en-US" sz="2000" b="1" dirty="0">
                <a:solidFill>
                  <a:srgbClr val="0070C0"/>
                </a:solidFill>
              </a:rPr>
              <a:t>的 </a:t>
            </a:r>
            <a:r>
              <a:rPr lang="en-US" altLang="zh-CN" sz="2000" b="1" dirty="0">
                <a:solidFill>
                  <a:srgbClr val="0070C0"/>
                </a:solidFill>
              </a:rPr>
              <a:t>EXTTRIG </a:t>
            </a:r>
            <a:r>
              <a:rPr lang="zh-CN" altLang="en-US" sz="2000" b="1" dirty="0">
                <a:solidFill>
                  <a:srgbClr val="0070C0"/>
                </a:solidFill>
              </a:rPr>
              <a:t>和 </a:t>
            </a:r>
            <a:r>
              <a:rPr lang="en-US" altLang="zh-CN" sz="2000" b="1" dirty="0">
                <a:solidFill>
                  <a:srgbClr val="0070C0"/>
                </a:solidFill>
              </a:rPr>
              <a:t>JEXTTRIG </a:t>
            </a:r>
            <a:r>
              <a:rPr lang="zh-CN" altLang="en-US" sz="2000" b="1" dirty="0">
                <a:solidFill>
                  <a:srgbClr val="0070C0"/>
                </a:solidFill>
              </a:rPr>
              <a:t>这两位来激活。</a:t>
            </a:r>
            <a:r>
              <a:rPr lang="zh-CN" altLang="en-US" sz="2000" dirty="0"/>
              <a:t>如果使能了外部触发事件，我们还可以通过设置 </a:t>
            </a:r>
            <a:r>
              <a:rPr lang="en-US" altLang="zh-CN" sz="2000" dirty="0"/>
              <a:t>ADC </a:t>
            </a:r>
            <a:r>
              <a:rPr lang="zh-CN" altLang="en-US" sz="2000" dirty="0"/>
              <a:t>控制寄存器 </a:t>
            </a:r>
            <a:r>
              <a:rPr lang="en-US" altLang="zh-CN" sz="2000" dirty="0"/>
              <a:t>2:ADC_CR2 </a:t>
            </a:r>
            <a:r>
              <a:rPr lang="zh-CN" altLang="en-US" sz="2000" dirty="0"/>
              <a:t>的</a:t>
            </a:r>
            <a:r>
              <a:rPr lang="en-US" altLang="zh-CN" sz="2000" dirty="0"/>
              <a:t>EXTEN[1:0]</a:t>
            </a:r>
            <a:r>
              <a:rPr lang="zh-CN" altLang="en-US" sz="2000" dirty="0"/>
              <a:t>和</a:t>
            </a:r>
            <a:r>
              <a:rPr lang="en-US" altLang="zh-CN" sz="2000" dirty="0"/>
              <a:t>JEXTEN[1:0]</a:t>
            </a:r>
            <a:r>
              <a:rPr lang="zh-CN" altLang="en-US" sz="2000" dirty="0"/>
              <a:t>来控制触发极性，可以有 </a:t>
            </a:r>
            <a:r>
              <a:rPr lang="en-US" altLang="zh-CN" sz="2000" dirty="0"/>
              <a:t>4 </a:t>
            </a:r>
            <a:r>
              <a:rPr lang="zh-CN" altLang="en-US" sz="2000" dirty="0"/>
              <a:t>种 状态，分别是：禁止触发检测、上升沿检测、下降沿检测以及上升沿和下降沿均检测。</a:t>
            </a:r>
            <a:endParaRPr lang="en-US" altLang="zh-CN" sz="2000" dirty="0"/>
          </a:p>
          <a:p>
            <a:pPr>
              <a:lnSpc>
                <a:spcPct val="150000"/>
              </a:lnSpc>
            </a:pPr>
            <a:endParaRPr lang="en-US" altLang="zh-CN" sz="2400" b="1" dirty="0">
              <a:solidFill>
                <a:srgbClr val="0070C0"/>
              </a:solidFill>
            </a:endParaRPr>
          </a:p>
          <a:p>
            <a:pPr>
              <a:lnSpc>
                <a:spcPct val="150000"/>
              </a:lnSpc>
            </a:pPr>
            <a:r>
              <a:rPr lang="zh-CN" altLang="en-US" sz="2400" b="1" dirty="0">
                <a:solidFill>
                  <a:srgbClr val="0070C0"/>
                </a:solidFill>
              </a:rPr>
              <a:t>注意：当外部触发信号被选为</a:t>
            </a:r>
            <a:r>
              <a:rPr lang="en-US" altLang="zh-CN" sz="2400" b="1" dirty="0">
                <a:solidFill>
                  <a:srgbClr val="0070C0"/>
                </a:solidFill>
              </a:rPr>
              <a:t>ADC</a:t>
            </a:r>
            <a:r>
              <a:rPr lang="zh-CN" altLang="en-US" sz="2400" b="1" dirty="0">
                <a:solidFill>
                  <a:srgbClr val="0070C0"/>
                </a:solidFill>
              </a:rPr>
              <a:t>规则或注入转换时，只有它的上升沿可以启动转换。</a:t>
            </a:r>
            <a:endParaRPr lang="en-US" altLang="zh-CN" sz="2400" b="1" dirty="0">
              <a:solidFill>
                <a:srgbClr val="0070C0"/>
              </a:solidFill>
            </a:endParaRPr>
          </a:p>
          <a:p>
            <a:pPr>
              <a:lnSpc>
                <a:spcPct val="150000"/>
              </a:lnSpc>
            </a:pPr>
            <a:r>
              <a:rPr lang="zh-CN" altLang="en-US" sz="2000" dirty="0"/>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7698" name="Picture 2"/>
          <p:cNvPicPr>
            <a:picLocks noChangeAspect="1" noChangeArrowheads="1"/>
          </p:cNvPicPr>
          <p:nvPr/>
        </p:nvPicPr>
        <p:blipFill>
          <a:blip r:embed="rId2"/>
          <a:srcRect/>
          <a:stretch>
            <a:fillRect/>
          </a:stretch>
        </p:blipFill>
        <p:spPr bwMode="auto">
          <a:xfrm>
            <a:off x="980491" y="895931"/>
            <a:ext cx="9847917" cy="3704059"/>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722" name="Picture 2"/>
          <p:cNvPicPr>
            <a:picLocks noChangeAspect="1" noChangeArrowheads="1"/>
          </p:cNvPicPr>
          <p:nvPr/>
        </p:nvPicPr>
        <p:blipFill>
          <a:blip r:embed="rId2"/>
          <a:srcRect/>
          <a:stretch>
            <a:fillRect/>
          </a:stretch>
        </p:blipFill>
        <p:spPr bwMode="auto">
          <a:xfrm>
            <a:off x="1024164" y="1309460"/>
            <a:ext cx="10402937" cy="3934344"/>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31371" y="612973"/>
            <a:ext cx="10873273" cy="5909310"/>
          </a:xfrm>
          <a:prstGeom prst="rect">
            <a:avLst/>
          </a:prstGeom>
        </p:spPr>
        <p:txBody>
          <a:bodyPr wrap="square">
            <a:spAutoFit/>
          </a:bodyPr>
          <a:lstStyle/>
          <a:p>
            <a:pPr>
              <a:lnSpc>
                <a:spcPct val="150000"/>
              </a:lnSpc>
              <a:buClr>
                <a:srgbClr val="7030A0"/>
              </a:buClr>
              <a:buFont typeface="Wingdings" pitchFamily="2" charset="2"/>
              <a:buChar char="u"/>
            </a:pPr>
            <a:r>
              <a:rPr lang="zh-CN" altLang="en-US" b="1" dirty="0">
                <a:solidFill>
                  <a:srgbClr val="7030A0"/>
                </a:solidFill>
              </a:rPr>
              <a:t>（</a:t>
            </a:r>
            <a:r>
              <a:rPr lang="en-US" altLang="zh-CN" b="1" dirty="0">
                <a:solidFill>
                  <a:srgbClr val="7030A0"/>
                </a:solidFill>
              </a:rPr>
              <a:t>5</a:t>
            </a:r>
            <a:r>
              <a:rPr lang="zh-CN" altLang="en-US" b="1" dirty="0">
                <a:solidFill>
                  <a:srgbClr val="7030A0"/>
                </a:solidFill>
              </a:rPr>
              <a:t>）标号</a:t>
            </a:r>
            <a:r>
              <a:rPr lang="en-US" altLang="zh-CN" b="1" dirty="0">
                <a:solidFill>
                  <a:srgbClr val="7030A0"/>
                </a:solidFill>
              </a:rPr>
              <a:t>5</a:t>
            </a:r>
            <a:r>
              <a:rPr lang="zh-CN" altLang="en-US" b="1" dirty="0">
                <a:solidFill>
                  <a:srgbClr val="7030A0"/>
                </a:solidFill>
              </a:rPr>
              <a:t>：</a:t>
            </a:r>
            <a:r>
              <a:rPr lang="en-US" altLang="zh-CN" b="1" dirty="0">
                <a:solidFill>
                  <a:srgbClr val="7030A0"/>
                </a:solidFill>
              </a:rPr>
              <a:t>ADC</a:t>
            </a:r>
            <a:r>
              <a:rPr lang="zh-CN" altLang="en-US" b="1" dirty="0">
                <a:solidFill>
                  <a:srgbClr val="7030A0"/>
                </a:solidFill>
              </a:rPr>
              <a:t>时钟</a:t>
            </a:r>
            <a:endParaRPr lang="en-US" altLang="zh-CN" b="1" dirty="0">
              <a:solidFill>
                <a:srgbClr val="7030A0"/>
              </a:solidFill>
            </a:endParaRPr>
          </a:p>
          <a:p>
            <a:pPr>
              <a:lnSpc>
                <a:spcPct val="150000"/>
              </a:lnSpc>
            </a:pPr>
            <a:r>
              <a:rPr lang="en-US" altLang="zh-CN" dirty="0"/>
              <a:t>      ADC </a:t>
            </a:r>
            <a:r>
              <a:rPr lang="zh-CN" altLang="en-US" dirty="0"/>
              <a:t>输入时钟 </a:t>
            </a:r>
            <a:r>
              <a:rPr lang="en-US" altLang="zh-CN" dirty="0"/>
              <a:t>ADC_CLK </a:t>
            </a:r>
            <a:r>
              <a:rPr lang="zh-CN" altLang="en-US" dirty="0"/>
              <a:t>由 </a:t>
            </a:r>
            <a:r>
              <a:rPr lang="en-US" altLang="zh-CN" dirty="0"/>
              <a:t>APB2</a:t>
            </a:r>
            <a:r>
              <a:rPr lang="zh-CN" altLang="en-US" dirty="0"/>
              <a:t>经过分频产生，最大值是</a:t>
            </a:r>
            <a:r>
              <a:rPr lang="en-US" altLang="zh-CN" dirty="0"/>
              <a:t>14MHz</a:t>
            </a:r>
            <a:r>
              <a:rPr lang="zh-CN" altLang="en-US" dirty="0"/>
              <a:t>，分频因子由 </a:t>
            </a:r>
            <a:r>
              <a:rPr lang="en-US" altLang="zh-CN" dirty="0"/>
              <a:t>RCC </a:t>
            </a:r>
            <a:r>
              <a:rPr lang="zh-CN" altLang="en-US" dirty="0"/>
              <a:t>时钟配置寄存器 </a:t>
            </a:r>
            <a:r>
              <a:rPr lang="en-US" altLang="zh-CN" dirty="0"/>
              <a:t>RCC_CFGR </a:t>
            </a:r>
            <a:r>
              <a:rPr lang="zh-CN" altLang="en-US" dirty="0"/>
              <a:t>的位 </a:t>
            </a:r>
            <a:r>
              <a:rPr lang="en-US" altLang="zh-CN" dirty="0"/>
              <a:t>15:14 ADCPRE[1:0]</a:t>
            </a:r>
            <a:r>
              <a:rPr lang="zh-CN" altLang="en-US" dirty="0"/>
              <a:t>设置 ，可以是 </a:t>
            </a:r>
            <a:r>
              <a:rPr lang="en-US" altLang="zh-CN" dirty="0"/>
              <a:t>2/4/6/8 </a:t>
            </a:r>
            <a:r>
              <a:rPr lang="zh-CN" altLang="en-US" dirty="0"/>
              <a:t>分频，注意这里没有 </a:t>
            </a:r>
            <a:r>
              <a:rPr lang="en-US" altLang="zh-CN" dirty="0"/>
              <a:t>1 </a:t>
            </a:r>
            <a:r>
              <a:rPr lang="zh-CN" altLang="en-US" dirty="0"/>
              <a:t>分频。我们知道</a:t>
            </a:r>
            <a:r>
              <a:rPr lang="en-US" altLang="zh-CN" b="1" dirty="0">
                <a:solidFill>
                  <a:srgbClr val="0070C0"/>
                </a:solidFill>
              </a:rPr>
              <a:t>APB2</a:t>
            </a:r>
            <a:r>
              <a:rPr lang="zh-CN" altLang="en-US" b="1" dirty="0">
                <a:solidFill>
                  <a:srgbClr val="0070C0"/>
                </a:solidFill>
              </a:rPr>
              <a:t>总线时 钟为</a:t>
            </a:r>
            <a:r>
              <a:rPr lang="en-US" altLang="zh-CN" b="1" dirty="0">
                <a:solidFill>
                  <a:srgbClr val="0070C0"/>
                </a:solidFill>
              </a:rPr>
              <a:t>72M</a:t>
            </a:r>
            <a:r>
              <a:rPr lang="zh-CN" altLang="en-US" dirty="0">
                <a:solidFill>
                  <a:srgbClr val="0070C0"/>
                </a:solidFill>
              </a:rPr>
              <a:t>，</a:t>
            </a:r>
            <a:r>
              <a:rPr lang="zh-CN" altLang="en-US" b="1" dirty="0">
                <a:solidFill>
                  <a:srgbClr val="0070C0"/>
                </a:solidFill>
              </a:rPr>
              <a:t>而</a:t>
            </a:r>
            <a:r>
              <a:rPr lang="en-US" altLang="zh-CN" b="1" dirty="0">
                <a:solidFill>
                  <a:srgbClr val="0070C0"/>
                </a:solidFill>
              </a:rPr>
              <a:t>ADC</a:t>
            </a:r>
            <a:r>
              <a:rPr lang="zh-CN" altLang="en-US" b="1" dirty="0">
                <a:solidFill>
                  <a:srgbClr val="0070C0"/>
                </a:solidFill>
              </a:rPr>
              <a:t>最大工作频率为</a:t>
            </a:r>
            <a:r>
              <a:rPr lang="en-US" altLang="zh-CN" b="1" dirty="0">
                <a:solidFill>
                  <a:srgbClr val="0070C0"/>
                </a:solidFill>
              </a:rPr>
              <a:t>14M</a:t>
            </a:r>
            <a:r>
              <a:rPr lang="zh-CN" altLang="en-US" dirty="0">
                <a:solidFill>
                  <a:srgbClr val="0070C0"/>
                </a:solidFill>
              </a:rPr>
              <a:t>，</a:t>
            </a:r>
            <a:r>
              <a:rPr lang="zh-CN" altLang="en-US" b="1" dirty="0">
                <a:solidFill>
                  <a:srgbClr val="0070C0"/>
                </a:solidFill>
              </a:rPr>
              <a:t>所以一般设置分频因子为</a:t>
            </a:r>
            <a:r>
              <a:rPr lang="en-US" altLang="zh-CN" b="1" dirty="0">
                <a:solidFill>
                  <a:srgbClr val="0070C0"/>
                </a:solidFill>
              </a:rPr>
              <a:t>6</a:t>
            </a:r>
            <a:r>
              <a:rPr lang="zh-CN" altLang="en-US" b="1" dirty="0">
                <a:solidFill>
                  <a:srgbClr val="0070C0"/>
                </a:solidFill>
              </a:rPr>
              <a:t>，这样 </a:t>
            </a:r>
            <a:r>
              <a:rPr lang="en-US" altLang="zh-CN" b="1" dirty="0">
                <a:solidFill>
                  <a:srgbClr val="0070C0"/>
                </a:solidFill>
              </a:rPr>
              <a:t>ADC</a:t>
            </a:r>
            <a:r>
              <a:rPr lang="zh-CN" altLang="en-US" b="1" dirty="0">
                <a:solidFill>
                  <a:srgbClr val="0070C0"/>
                </a:solidFill>
              </a:rPr>
              <a:t>的输入时钟为</a:t>
            </a:r>
            <a:r>
              <a:rPr lang="en-US" altLang="zh-CN" b="1" dirty="0">
                <a:solidFill>
                  <a:srgbClr val="0070C0"/>
                </a:solidFill>
              </a:rPr>
              <a:t>12MHz</a:t>
            </a:r>
            <a:r>
              <a:rPr lang="zh-CN" altLang="en-US" b="1" dirty="0">
                <a:solidFill>
                  <a:srgbClr val="0070C0"/>
                </a:solidFill>
              </a:rPr>
              <a:t>。</a:t>
            </a:r>
            <a:endParaRPr lang="en-US" altLang="zh-CN" b="1" dirty="0">
              <a:solidFill>
                <a:srgbClr val="0070C0"/>
              </a:solidFill>
            </a:endParaRPr>
          </a:p>
          <a:p>
            <a:pPr>
              <a:lnSpc>
                <a:spcPct val="150000"/>
              </a:lnSpc>
            </a:pPr>
            <a:r>
              <a:rPr lang="en-US" altLang="zh-CN" dirty="0"/>
              <a:t>      </a:t>
            </a:r>
            <a:r>
              <a:rPr lang="en-US" altLang="zh-CN" b="1" dirty="0">
                <a:solidFill>
                  <a:srgbClr val="0070C0"/>
                </a:solidFill>
              </a:rPr>
              <a:t>ADC</a:t>
            </a:r>
            <a:r>
              <a:rPr lang="zh-CN" altLang="en-US" b="1" dirty="0">
                <a:solidFill>
                  <a:srgbClr val="0070C0"/>
                </a:solidFill>
              </a:rPr>
              <a:t>要完成对输入电压的采样需要若干个</a:t>
            </a:r>
            <a:r>
              <a:rPr lang="en-US" altLang="zh-CN" b="1" dirty="0">
                <a:solidFill>
                  <a:srgbClr val="0070C0"/>
                </a:solidFill>
              </a:rPr>
              <a:t>ADC_CLK</a:t>
            </a:r>
            <a:r>
              <a:rPr lang="zh-CN" altLang="en-US" b="1" dirty="0">
                <a:solidFill>
                  <a:srgbClr val="0070C0"/>
                </a:solidFill>
              </a:rPr>
              <a:t>周期</a:t>
            </a:r>
            <a:r>
              <a:rPr lang="zh-CN" altLang="en-US" dirty="0"/>
              <a:t>，采样的周期数 可通过</a:t>
            </a:r>
            <a:r>
              <a:rPr lang="en-US" altLang="zh-CN" dirty="0"/>
              <a:t>ADC </a:t>
            </a:r>
            <a:r>
              <a:rPr lang="zh-CN" altLang="en-US" dirty="0"/>
              <a:t>采样时间</a:t>
            </a:r>
            <a:r>
              <a:rPr lang="zh-CN" altLang="en-US" b="1" dirty="0">
                <a:solidFill>
                  <a:srgbClr val="0070C0"/>
                </a:solidFill>
              </a:rPr>
              <a:t>寄存器 </a:t>
            </a:r>
            <a:r>
              <a:rPr lang="en-US" altLang="zh-CN" b="1" dirty="0">
                <a:solidFill>
                  <a:srgbClr val="0070C0"/>
                </a:solidFill>
              </a:rPr>
              <a:t>ADC_SMPR1 </a:t>
            </a:r>
            <a:r>
              <a:rPr lang="zh-CN" altLang="en-US" b="1" dirty="0">
                <a:solidFill>
                  <a:srgbClr val="0070C0"/>
                </a:solidFill>
              </a:rPr>
              <a:t>和 </a:t>
            </a:r>
            <a:r>
              <a:rPr lang="en-US" altLang="zh-CN" b="1" dirty="0">
                <a:solidFill>
                  <a:srgbClr val="0070C0"/>
                </a:solidFill>
              </a:rPr>
              <a:t>ADC_SMPR2 </a:t>
            </a:r>
            <a:r>
              <a:rPr lang="zh-CN" altLang="en-US" b="1" dirty="0">
                <a:solidFill>
                  <a:srgbClr val="0070C0"/>
                </a:solidFill>
              </a:rPr>
              <a:t>中的 </a:t>
            </a:r>
            <a:r>
              <a:rPr lang="en-US" altLang="zh-CN" b="1" dirty="0">
                <a:solidFill>
                  <a:srgbClr val="0070C0"/>
                </a:solidFill>
              </a:rPr>
              <a:t>SMP[2:0]</a:t>
            </a:r>
            <a:r>
              <a:rPr lang="zh-CN" altLang="en-US" b="1" dirty="0">
                <a:solidFill>
                  <a:srgbClr val="0070C0"/>
                </a:solidFill>
              </a:rPr>
              <a:t>位 </a:t>
            </a:r>
            <a:r>
              <a:rPr lang="zh-CN" altLang="en-US" dirty="0"/>
              <a:t>设置， </a:t>
            </a:r>
            <a:r>
              <a:rPr lang="en-US" altLang="zh-CN" dirty="0"/>
              <a:t>ADC_SMPR2</a:t>
            </a:r>
            <a:r>
              <a:rPr lang="zh-CN" altLang="en-US" dirty="0"/>
              <a:t>控制的是通道 </a:t>
            </a:r>
            <a:r>
              <a:rPr lang="en-US" altLang="zh-CN" dirty="0"/>
              <a:t>0~9</a:t>
            </a:r>
            <a:r>
              <a:rPr lang="zh-CN" altLang="en-US" dirty="0"/>
              <a:t>， </a:t>
            </a:r>
            <a:r>
              <a:rPr lang="en-US" altLang="zh-CN" dirty="0"/>
              <a:t>ADC_SMPR1 </a:t>
            </a:r>
            <a:r>
              <a:rPr lang="zh-CN" altLang="en-US" dirty="0"/>
              <a:t>控制的是通道 </a:t>
            </a:r>
            <a:r>
              <a:rPr lang="en-US" altLang="zh-CN" dirty="0"/>
              <a:t>10~17 </a:t>
            </a:r>
            <a:r>
              <a:rPr lang="zh-CN" altLang="en-US" dirty="0"/>
              <a:t>。每个通道可以分别用不同的时间采样。其中采样周期最小是</a:t>
            </a:r>
            <a:r>
              <a:rPr lang="en-US" altLang="zh-CN" dirty="0"/>
              <a:t>1.5</a:t>
            </a:r>
            <a:r>
              <a:rPr lang="zh-CN" altLang="en-US" dirty="0"/>
              <a:t>个周期。</a:t>
            </a:r>
          </a:p>
          <a:p>
            <a:pPr>
              <a:lnSpc>
                <a:spcPct val="150000"/>
              </a:lnSpc>
            </a:pPr>
            <a:r>
              <a:rPr lang="zh-CN" altLang="en-US" dirty="0"/>
              <a:t>　　</a:t>
            </a:r>
            <a:r>
              <a:rPr lang="en-US" altLang="zh-CN" dirty="0"/>
              <a:t>ADC </a:t>
            </a:r>
            <a:r>
              <a:rPr lang="zh-CN" altLang="en-US" dirty="0"/>
              <a:t>的总转换时间跟</a:t>
            </a:r>
            <a:r>
              <a:rPr lang="en-US" altLang="zh-CN" dirty="0"/>
              <a:t>ADC </a:t>
            </a:r>
            <a:r>
              <a:rPr lang="zh-CN" altLang="en-US" dirty="0"/>
              <a:t>的输入时钟和采样时间有关，其公式如下：</a:t>
            </a:r>
          </a:p>
          <a:p>
            <a:pPr>
              <a:lnSpc>
                <a:spcPct val="150000"/>
              </a:lnSpc>
            </a:pPr>
            <a:r>
              <a:rPr lang="zh-CN" altLang="en-US" dirty="0"/>
              <a:t>　　                   </a:t>
            </a:r>
            <a:r>
              <a:rPr lang="zh-CN" altLang="en-US" b="1" dirty="0">
                <a:solidFill>
                  <a:srgbClr val="0070C0"/>
                </a:solidFill>
              </a:rPr>
              <a:t>（转换时间） </a:t>
            </a:r>
            <a:r>
              <a:rPr lang="en-US" altLang="zh-CN" b="1" dirty="0" err="1">
                <a:solidFill>
                  <a:srgbClr val="0070C0"/>
                </a:solidFill>
              </a:rPr>
              <a:t>Tconv</a:t>
            </a:r>
            <a:r>
              <a:rPr lang="en-US" altLang="zh-CN" b="1" dirty="0">
                <a:solidFill>
                  <a:srgbClr val="0070C0"/>
                </a:solidFill>
              </a:rPr>
              <a:t> = </a:t>
            </a:r>
            <a:r>
              <a:rPr lang="zh-CN" altLang="en-US" b="1" dirty="0">
                <a:solidFill>
                  <a:srgbClr val="0070C0"/>
                </a:solidFill>
              </a:rPr>
              <a:t>采样时间 </a:t>
            </a:r>
            <a:r>
              <a:rPr lang="en-US" altLang="zh-CN" b="1" dirty="0">
                <a:solidFill>
                  <a:srgbClr val="0070C0"/>
                </a:solidFill>
              </a:rPr>
              <a:t>+ 12.5</a:t>
            </a:r>
            <a:r>
              <a:rPr lang="zh-CN" altLang="en-US" b="1" dirty="0">
                <a:solidFill>
                  <a:srgbClr val="0070C0"/>
                </a:solidFill>
              </a:rPr>
              <a:t>个周期</a:t>
            </a:r>
          </a:p>
          <a:p>
            <a:pPr>
              <a:lnSpc>
                <a:spcPct val="150000"/>
              </a:lnSpc>
            </a:pPr>
            <a:r>
              <a:rPr lang="zh-CN" altLang="en-US" dirty="0"/>
              <a:t>      其中</a:t>
            </a:r>
            <a:r>
              <a:rPr lang="en-US" altLang="zh-CN" dirty="0" err="1"/>
              <a:t>Tconv</a:t>
            </a:r>
            <a:r>
              <a:rPr lang="zh-CN" altLang="en-US" dirty="0"/>
              <a:t>为</a:t>
            </a:r>
            <a:r>
              <a:rPr lang="en-US" altLang="zh-CN" dirty="0"/>
              <a:t>ADC</a:t>
            </a:r>
            <a:r>
              <a:rPr lang="zh-CN" altLang="en-US" dirty="0"/>
              <a:t>总转换时间，</a:t>
            </a:r>
            <a:r>
              <a:rPr lang="zh-CN" altLang="en-US" b="1" dirty="0">
                <a:solidFill>
                  <a:srgbClr val="0070C0"/>
                </a:solidFill>
              </a:rPr>
              <a:t>当</a:t>
            </a:r>
            <a:r>
              <a:rPr lang="en-US" altLang="zh-CN" b="1" dirty="0">
                <a:solidFill>
                  <a:srgbClr val="0070C0"/>
                </a:solidFill>
              </a:rPr>
              <a:t>ADC_CLK=14Mhz</a:t>
            </a:r>
            <a:r>
              <a:rPr lang="zh-CN" altLang="en-US" b="1" dirty="0">
                <a:solidFill>
                  <a:srgbClr val="0070C0"/>
                </a:solidFill>
              </a:rPr>
              <a:t>的时候，并设置</a:t>
            </a:r>
            <a:r>
              <a:rPr lang="en-US" altLang="zh-CN" b="1" dirty="0">
                <a:solidFill>
                  <a:srgbClr val="0070C0"/>
                </a:solidFill>
              </a:rPr>
              <a:t>1.5</a:t>
            </a:r>
            <a:r>
              <a:rPr lang="zh-CN" altLang="en-US" b="1" dirty="0">
                <a:solidFill>
                  <a:srgbClr val="0070C0"/>
                </a:solidFill>
              </a:rPr>
              <a:t>个周 期的采样时间，则</a:t>
            </a:r>
            <a:r>
              <a:rPr lang="en-US" altLang="zh-CN" b="1" dirty="0" err="1">
                <a:solidFill>
                  <a:srgbClr val="0070C0"/>
                </a:solidFill>
              </a:rPr>
              <a:t>Tcovn</a:t>
            </a:r>
            <a:r>
              <a:rPr lang="en-US" altLang="zh-CN" b="1" dirty="0">
                <a:solidFill>
                  <a:srgbClr val="0070C0"/>
                </a:solidFill>
              </a:rPr>
              <a:t>=1.5+12.5=14</a:t>
            </a:r>
            <a:r>
              <a:rPr lang="zh-CN" altLang="en-US" b="1" dirty="0">
                <a:solidFill>
                  <a:srgbClr val="0070C0"/>
                </a:solidFill>
              </a:rPr>
              <a:t>个周期</a:t>
            </a:r>
            <a:r>
              <a:rPr lang="en-US" altLang="zh-CN" b="1" dirty="0">
                <a:solidFill>
                  <a:srgbClr val="0070C0"/>
                </a:solidFill>
              </a:rPr>
              <a:t>=1us</a:t>
            </a:r>
            <a:r>
              <a:rPr lang="zh-CN" altLang="en-US" dirty="0">
                <a:solidFill>
                  <a:srgbClr val="0070C0"/>
                </a:solidFill>
              </a:rPr>
              <a:t>。</a:t>
            </a:r>
          </a:p>
          <a:p>
            <a:pPr>
              <a:lnSpc>
                <a:spcPct val="150000"/>
              </a:lnSpc>
            </a:pPr>
            <a:endParaRPr lang="zh-CN" altLang="en-US" dirty="0">
              <a:solidFill>
                <a:srgbClr val="0070C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31371" y="612973"/>
            <a:ext cx="10873273" cy="5632311"/>
          </a:xfrm>
          <a:prstGeom prst="rect">
            <a:avLst/>
          </a:prstGeom>
        </p:spPr>
        <p:txBody>
          <a:bodyPr wrap="square">
            <a:spAutoFit/>
          </a:bodyPr>
          <a:lstStyle/>
          <a:p>
            <a:pPr>
              <a:lnSpc>
                <a:spcPct val="150000"/>
              </a:lnSpc>
              <a:buClr>
                <a:srgbClr val="7030A0"/>
              </a:buClr>
              <a:buFont typeface="Wingdings" pitchFamily="2" charset="2"/>
              <a:buChar char="u"/>
            </a:pPr>
            <a:r>
              <a:rPr lang="zh-CN" altLang="en-US" sz="2000" b="1" dirty="0">
                <a:solidFill>
                  <a:srgbClr val="7030A0"/>
                </a:solidFill>
              </a:rPr>
              <a:t>（</a:t>
            </a:r>
            <a:r>
              <a:rPr lang="en-US" altLang="zh-CN" sz="2000" b="1" dirty="0">
                <a:solidFill>
                  <a:srgbClr val="7030A0"/>
                </a:solidFill>
              </a:rPr>
              <a:t>6</a:t>
            </a:r>
            <a:r>
              <a:rPr lang="zh-CN" altLang="en-US" sz="2000" b="1" dirty="0">
                <a:solidFill>
                  <a:srgbClr val="7030A0"/>
                </a:solidFill>
              </a:rPr>
              <a:t>）标号</a:t>
            </a:r>
            <a:r>
              <a:rPr lang="en-US" altLang="zh-CN" sz="2000" b="1" dirty="0">
                <a:solidFill>
                  <a:srgbClr val="7030A0"/>
                </a:solidFill>
              </a:rPr>
              <a:t>6</a:t>
            </a:r>
            <a:r>
              <a:rPr lang="zh-CN" altLang="en-US" sz="2000" b="1" dirty="0">
                <a:solidFill>
                  <a:srgbClr val="7030A0"/>
                </a:solidFill>
              </a:rPr>
              <a:t>：数据寄存器</a:t>
            </a:r>
          </a:p>
          <a:p>
            <a:pPr>
              <a:lnSpc>
                <a:spcPct val="150000"/>
              </a:lnSpc>
            </a:pPr>
            <a:r>
              <a:rPr lang="zh-CN" altLang="en-US" sz="2000" dirty="0"/>
              <a:t>　　</a:t>
            </a:r>
            <a:r>
              <a:rPr lang="en-US" altLang="zh-CN" sz="2000" dirty="0"/>
              <a:t>ADC</a:t>
            </a:r>
            <a:r>
              <a:rPr lang="zh-CN" altLang="en-US" sz="2000" dirty="0"/>
              <a:t>转换后的数据根据转换组的不同，规则组的数据放在</a:t>
            </a:r>
            <a:r>
              <a:rPr lang="en-US" altLang="zh-CN" sz="2000" dirty="0"/>
              <a:t>ADC_DR </a:t>
            </a:r>
            <a:r>
              <a:rPr lang="zh-CN" altLang="en-US" sz="2000" dirty="0"/>
              <a:t>寄 存器内，注入组的数据放在 </a:t>
            </a:r>
            <a:r>
              <a:rPr lang="en-US" altLang="zh-CN" sz="2000" dirty="0" err="1"/>
              <a:t>JDRx</a:t>
            </a:r>
            <a:r>
              <a:rPr lang="zh-CN" altLang="en-US" sz="2000" dirty="0"/>
              <a:t>内。 因为</a:t>
            </a:r>
            <a:r>
              <a:rPr lang="en-US" altLang="zh-CN" sz="2000" dirty="0"/>
              <a:t>STM32F1</a:t>
            </a:r>
            <a:r>
              <a:rPr lang="zh-CN" altLang="en-US" sz="2000" dirty="0"/>
              <a:t>的</a:t>
            </a:r>
            <a:r>
              <a:rPr lang="en-US" altLang="zh-CN" sz="2000" dirty="0"/>
              <a:t>ADC</a:t>
            </a:r>
            <a:r>
              <a:rPr lang="zh-CN" altLang="en-US" sz="2000" dirty="0"/>
              <a:t>是</a:t>
            </a:r>
            <a:r>
              <a:rPr lang="en-US" altLang="zh-CN" sz="2000" dirty="0"/>
              <a:t>12</a:t>
            </a:r>
            <a:r>
              <a:rPr lang="zh-CN" altLang="en-US" sz="2000" dirty="0"/>
              <a:t>位转换精度，而数据寄存器是</a:t>
            </a:r>
            <a:r>
              <a:rPr lang="en-US" altLang="zh-CN" sz="2000" dirty="0"/>
              <a:t>16</a:t>
            </a:r>
            <a:r>
              <a:rPr lang="zh-CN" altLang="en-US" sz="2000" dirty="0"/>
              <a:t>位，所以</a:t>
            </a:r>
            <a:r>
              <a:rPr lang="en-US" altLang="zh-CN" sz="2000" dirty="0"/>
              <a:t>ADC </a:t>
            </a:r>
            <a:r>
              <a:rPr lang="zh-CN" altLang="en-US" sz="2000" dirty="0"/>
              <a:t>在存放数据的时候就有左对齐和右对齐区分。如果是左对齐，</a:t>
            </a:r>
            <a:r>
              <a:rPr lang="en-US" altLang="zh-CN" sz="2000" dirty="0"/>
              <a:t>AD</a:t>
            </a:r>
            <a:r>
              <a:rPr lang="zh-CN" altLang="en-US" sz="2000" dirty="0"/>
              <a:t>转换完 成数据存放在 </a:t>
            </a:r>
            <a:r>
              <a:rPr lang="en-US" altLang="zh-CN" sz="2000" dirty="0"/>
              <a:t>ADC_DR </a:t>
            </a:r>
            <a:r>
              <a:rPr lang="zh-CN" altLang="en-US" sz="2000" dirty="0"/>
              <a:t>寄存器的</a:t>
            </a:r>
            <a:r>
              <a:rPr lang="en-US" altLang="zh-CN" sz="2000" dirty="0"/>
              <a:t>[4:15]</a:t>
            </a:r>
            <a:r>
              <a:rPr lang="zh-CN" altLang="en-US" sz="2000" dirty="0"/>
              <a:t>位内；如果是右对齐，则存放在 </a:t>
            </a:r>
            <a:r>
              <a:rPr lang="en-US" altLang="zh-CN" sz="2000" dirty="0"/>
              <a:t>ADC_DR </a:t>
            </a:r>
            <a:r>
              <a:rPr lang="zh-CN" altLang="en-US" sz="2000" dirty="0"/>
              <a:t>寄存器的</a:t>
            </a:r>
            <a:r>
              <a:rPr lang="en-US" altLang="zh-CN" sz="2000" dirty="0"/>
              <a:t>[0:11]</a:t>
            </a:r>
            <a:r>
              <a:rPr lang="zh-CN" altLang="en-US" sz="2000" dirty="0"/>
              <a:t>位内。具体选择何种存放方式，需通过</a:t>
            </a:r>
            <a:r>
              <a:rPr lang="en-US" altLang="zh-CN" sz="2000" dirty="0"/>
              <a:t>ADC_CR2 </a:t>
            </a:r>
            <a:r>
              <a:rPr lang="zh-CN" altLang="en-US" sz="2000" dirty="0"/>
              <a:t>的 </a:t>
            </a:r>
            <a:r>
              <a:rPr lang="en-US" altLang="zh-CN" sz="2000" dirty="0"/>
              <a:t>11 </a:t>
            </a:r>
            <a:r>
              <a:rPr lang="zh-CN" altLang="en-US" sz="2000" dirty="0"/>
              <a:t>位 </a:t>
            </a:r>
            <a:r>
              <a:rPr lang="en-US" altLang="zh-CN" sz="2000" dirty="0"/>
              <a:t>ALIGN </a:t>
            </a:r>
            <a:r>
              <a:rPr lang="zh-CN" altLang="en-US" sz="2000" dirty="0"/>
              <a:t>设置。</a:t>
            </a:r>
            <a:endParaRPr lang="en-US" altLang="zh-CN" sz="2000" dirty="0"/>
          </a:p>
          <a:p>
            <a:pPr>
              <a:lnSpc>
                <a:spcPct val="150000"/>
              </a:lnSpc>
              <a:buClr>
                <a:srgbClr val="7030A0"/>
              </a:buClr>
              <a:buFont typeface="Wingdings" pitchFamily="2" charset="2"/>
              <a:buChar char="u"/>
            </a:pPr>
            <a:r>
              <a:rPr lang="zh-CN" altLang="en-US" sz="2000" b="1" dirty="0">
                <a:solidFill>
                  <a:srgbClr val="7030A0"/>
                </a:solidFill>
              </a:rPr>
              <a:t>（</a:t>
            </a:r>
            <a:r>
              <a:rPr lang="en-US" altLang="zh-CN" sz="2000" b="1" dirty="0">
                <a:solidFill>
                  <a:srgbClr val="7030A0"/>
                </a:solidFill>
              </a:rPr>
              <a:t>7</a:t>
            </a:r>
            <a:r>
              <a:rPr lang="zh-CN" altLang="en-US" sz="2000" b="1" dirty="0">
                <a:solidFill>
                  <a:srgbClr val="7030A0"/>
                </a:solidFill>
              </a:rPr>
              <a:t>）标号</a:t>
            </a:r>
            <a:r>
              <a:rPr lang="en-US" altLang="zh-CN" sz="2000" b="1" dirty="0">
                <a:solidFill>
                  <a:srgbClr val="7030A0"/>
                </a:solidFill>
              </a:rPr>
              <a:t>7</a:t>
            </a:r>
            <a:r>
              <a:rPr lang="zh-CN" altLang="en-US" sz="2000" b="1" dirty="0">
                <a:solidFill>
                  <a:srgbClr val="7030A0"/>
                </a:solidFill>
              </a:rPr>
              <a:t>：中断</a:t>
            </a:r>
          </a:p>
          <a:p>
            <a:pPr>
              <a:lnSpc>
                <a:spcPct val="150000"/>
              </a:lnSpc>
            </a:pPr>
            <a:r>
              <a:rPr lang="zh-CN" altLang="en-US" sz="2000" dirty="0"/>
              <a:t>当发生如下事件且使能相应中断标志位时，</a:t>
            </a:r>
            <a:r>
              <a:rPr lang="en-US" altLang="zh-CN" sz="2000" dirty="0"/>
              <a:t>ADC</a:t>
            </a:r>
            <a:r>
              <a:rPr lang="zh-CN" altLang="en-US" sz="2000" dirty="0"/>
              <a:t>能产生中断：</a:t>
            </a:r>
          </a:p>
          <a:p>
            <a:pPr>
              <a:lnSpc>
                <a:spcPct val="150000"/>
              </a:lnSpc>
            </a:pPr>
            <a:r>
              <a:rPr lang="en-US" altLang="zh-CN" sz="2000" dirty="0"/>
              <a:t>1.</a:t>
            </a:r>
            <a:r>
              <a:rPr lang="zh-CN" altLang="en-US" sz="2000" dirty="0"/>
              <a:t>转换结束（规则转换）与注入转换结束</a:t>
            </a:r>
          </a:p>
          <a:p>
            <a:pPr>
              <a:lnSpc>
                <a:spcPct val="150000"/>
              </a:lnSpc>
            </a:pPr>
            <a:r>
              <a:rPr lang="en-US" altLang="zh-CN" sz="2000" dirty="0"/>
              <a:t>2.</a:t>
            </a:r>
            <a:r>
              <a:rPr lang="zh-CN" altLang="en-US" sz="2000" dirty="0"/>
              <a:t>模拟看门狗事件</a:t>
            </a:r>
          </a:p>
          <a:p>
            <a:pPr>
              <a:lnSpc>
                <a:spcPct val="150000"/>
              </a:lnSpc>
            </a:pPr>
            <a:r>
              <a:rPr lang="en-US" altLang="zh-CN" sz="2000" dirty="0"/>
              <a:t>3.DMA</a:t>
            </a:r>
            <a:r>
              <a:rPr lang="zh-CN" altLang="en-US" sz="2000" dirty="0"/>
              <a:t>请求</a:t>
            </a:r>
          </a:p>
          <a:p>
            <a:pPr>
              <a:lnSpc>
                <a:spcPct val="150000"/>
              </a:lnSpc>
            </a:pPr>
            <a:endParaRPr lang="zh-CN" alt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14297" y="502509"/>
            <a:ext cx="11467323" cy="5632311"/>
          </a:xfrm>
          <a:prstGeom prst="rect">
            <a:avLst/>
          </a:prstGeom>
        </p:spPr>
        <p:txBody>
          <a:bodyPr wrap="square">
            <a:spAutoFit/>
          </a:bodyPr>
          <a:lstStyle/>
          <a:p>
            <a:pPr>
              <a:lnSpc>
                <a:spcPct val="150000"/>
              </a:lnSpc>
            </a:pPr>
            <a:r>
              <a:rPr lang="en-US" sz="2000" b="1" dirty="0">
                <a:solidFill>
                  <a:srgbClr val="C00000"/>
                </a:solidFill>
              </a:rPr>
              <a:t>ADC</a:t>
            </a:r>
            <a:r>
              <a:rPr lang="zh-CN" altLang="en-US" sz="2000" b="1" dirty="0">
                <a:solidFill>
                  <a:srgbClr val="C00000"/>
                </a:solidFill>
              </a:rPr>
              <a:t>配置步骤：</a:t>
            </a:r>
            <a:endParaRPr lang="en-US" altLang="zh-CN" sz="2000" b="1" dirty="0">
              <a:solidFill>
                <a:srgbClr val="C00000"/>
              </a:solidFill>
            </a:endParaRPr>
          </a:p>
          <a:p>
            <a:pPr>
              <a:lnSpc>
                <a:spcPct val="150000"/>
              </a:lnSpc>
              <a:buClr>
                <a:srgbClr val="C00000"/>
              </a:buClr>
            </a:pPr>
            <a:r>
              <a:rPr lang="zh-CN" altLang="en-US" sz="2000" dirty="0"/>
              <a:t>实例要求：利用</a:t>
            </a:r>
            <a:r>
              <a:rPr lang="en-US" altLang="zh-CN" sz="2000" dirty="0"/>
              <a:t>ADC1</a:t>
            </a:r>
            <a:r>
              <a:rPr lang="zh-CN" altLang="en-US" sz="2000" dirty="0"/>
              <a:t>的通道</a:t>
            </a:r>
            <a:r>
              <a:rPr lang="en-US" altLang="zh-CN" sz="2000" dirty="0"/>
              <a:t>1</a:t>
            </a:r>
            <a:r>
              <a:rPr lang="zh-CN" altLang="en-US" sz="2000" dirty="0"/>
              <a:t>（</a:t>
            </a:r>
            <a:r>
              <a:rPr lang="en-US" altLang="zh-CN" sz="2000" dirty="0"/>
              <a:t>PA1</a:t>
            </a:r>
            <a:r>
              <a:rPr lang="zh-CN" altLang="en-US" sz="2000" dirty="0"/>
              <a:t>）采集外部电压值。</a:t>
            </a:r>
            <a:endParaRPr lang="en-US" altLang="zh-CN" sz="2000" dirty="0"/>
          </a:p>
          <a:p>
            <a:pPr>
              <a:lnSpc>
                <a:spcPct val="150000"/>
              </a:lnSpc>
              <a:buClr>
                <a:srgbClr val="C00000"/>
              </a:buClr>
              <a:buFont typeface="Wingdings" pitchFamily="2" charset="2"/>
              <a:buChar char="u"/>
            </a:pPr>
            <a:r>
              <a:rPr lang="zh-CN" altLang="en-US" sz="2000" dirty="0">
                <a:highlight>
                  <a:srgbClr val="FFFF00"/>
                </a:highlight>
              </a:rPr>
              <a:t>开启</a:t>
            </a:r>
            <a:r>
              <a:rPr lang="en-US" altLang="zh-CN" sz="2000" dirty="0">
                <a:highlight>
                  <a:srgbClr val="FFFF00"/>
                </a:highlight>
              </a:rPr>
              <a:t>PA</a:t>
            </a:r>
            <a:r>
              <a:rPr lang="zh-CN" altLang="en-US" sz="2000" dirty="0">
                <a:highlight>
                  <a:srgbClr val="FFFF00"/>
                </a:highlight>
              </a:rPr>
              <a:t>口时钟和</a:t>
            </a:r>
            <a:r>
              <a:rPr lang="en-US" altLang="zh-CN" sz="2000" dirty="0">
                <a:highlight>
                  <a:srgbClr val="FFFF00"/>
                </a:highlight>
              </a:rPr>
              <a:t>ADC1</a:t>
            </a:r>
            <a:r>
              <a:rPr lang="zh-CN" altLang="en-US" sz="2000" dirty="0">
                <a:highlight>
                  <a:srgbClr val="FFFF00"/>
                </a:highlight>
              </a:rPr>
              <a:t>时钟</a:t>
            </a:r>
            <a:r>
              <a:rPr lang="zh-CN" altLang="en-US" sz="2000" dirty="0"/>
              <a:t>，设置</a:t>
            </a:r>
            <a:r>
              <a:rPr lang="en-US" altLang="zh-CN" sz="2000" dirty="0"/>
              <a:t>PA1</a:t>
            </a:r>
            <a:r>
              <a:rPr lang="zh-CN" altLang="en-US" sz="2000" dirty="0"/>
              <a:t>为模拟输入。</a:t>
            </a:r>
            <a:endParaRPr lang="en-US" altLang="zh-CN" sz="2000" dirty="0"/>
          </a:p>
          <a:p>
            <a:pPr>
              <a:lnSpc>
                <a:spcPct val="150000"/>
              </a:lnSpc>
              <a:buClr>
                <a:srgbClr val="C00000"/>
              </a:buClr>
            </a:pPr>
            <a:r>
              <a:rPr lang="zh-CN" altLang="en-US" sz="2000" dirty="0"/>
              <a:t>调用函数：</a:t>
            </a:r>
            <a:r>
              <a:rPr lang="en-US" altLang="zh-CN" sz="2000" dirty="0" err="1"/>
              <a:t>GPIO_Init</a:t>
            </a:r>
            <a:r>
              <a:rPr lang="en-US" altLang="zh-CN" sz="2000" dirty="0"/>
              <a:t>()</a:t>
            </a:r>
            <a:r>
              <a:rPr lang="zh-CN" altLang="en-US" sz="2000" dirty="0"/>
              <a:t>；</a:t>
            </a:r>
            <a:r>
              <a:rPr lang="en-US" altLang="zh-CN" sz="2000" dirty="0"/>
              <a:t>APB2PeriphClockCmd()</a:t>
            </a:r>
            <a:r>
              <a:rPr lang="zh-CN" altLang="en-US" sz="2000" dirty="0"/>
              <a:t>；</a:t>
            </a:r>
            <a:endParaRPr lang="en-US" altLang="zh-CN" sz="2000" dirty="0"/>
          </a:p>
          <a:p>
            <a:pPr>
              <a:lnSpc>
                <a:spcPct val="150000"/>
              </a:lnSpc>
              <a:buClr>
                <a:srgbClr val="C00000"/>
              </a:buClr>
              <a:buFont typeface="Wingdings" pitchFamily="2" charset="2"/>
              <a:buChar char="u"/>
            </a:pPr>
            <a:r>
              <a:rPr lang="zh-CN" altLang="en-US" sz="2000" dirty="0"/>
              <a:t>复位</a:t>
            </a:r>
            <a:r>
              <a:rPr lang="en-US" altLang="zh-CN" sz="2000" dirty="0"/>
              <a:t>ADC1</a:t>
            </a:r>
            <a:r>
              <a:rPr lang="zh-CN" altLang="en-US" sz="2000" dirty="0"/>
              <a:t>，同时设置</a:t>
            </a:r>
            <a:r>
              <a:rPr lang="en-US" altLang="zh-CN" sz="2000" dirty="0"/>
              <a:t>ADC1</a:t>
            </a:r>
            <a:r>
              <a:rPr lang="zh-CN" altLang="en-US" sz="2000" dirty="0"/>
              <a:t>分频因子。</a:t>
            </a:r>
            <a:endParaRPr lang="en-US" altLang="zh-CN" sz="2000" dirty="0"/>
          </a:p>
          <a:p>
            <a:pPr>
              <a:lnSpc>
                <a:spcPct val="150000"/>
              </a:lnSpc>
              <a:buClr>
                <a:srgbClr val="C00000"/>
              </a:buClr>
            </a:pPr>
            <a:r>
              <a:rPr lang="zh-CN" altLang="en-US" sz="2000" dirty="0"/>
              <a:t>调用函数：</a:t>
            </a:r>
            <a:r>
              <a:rPr lang="en-US" altLang="zh-CN" sz="2000" dirty="0" err="1"/>
              <a:t>ADC_DeInit</a:t>
            </a:r>
            <a:r>
              <a:rPr lang="en-US" altLang="zh-CN" sz="2000" dirty="0"/>
              <a:t>(ADC1)</a:t>
            </a:r>
            <a:r>
              <a:rPr lang="zh-CN" altLang="en-US" sz="2000" dirty="0"/>
              <a:t>；</a:t>
            </a:r>
            <a:r>
              <a:rPr lang="en-US" altLang="zh-CN" sz="2000" dirty="0" err="1"/>
              <a:t>RCC_ADCCLKConfig</a:t>
            </a:r>
            <a:r>
              <a:rPr lang="en-US" altLang="zh-CN" sz="2000" dirty="0"/>
              <a:t>(RCC_PCLK2_Div6)</a:t>
            </a:r>
            <a:r>
              <a:rPr lang="zh-CN" altLang="en-US" sz="2000" dirty="0"/>
              <a:t>；</a:t>
            </a:r>
            <a:endParaRPr lang="en-US" altLang="zh-CN" sz="2000" dirty="0"/>
          </a:p>
          <a:p>
            <a:pPr>
              <a:lnSpc>
                <a:spcPct val="150000"/>
              </a:lnSpc>
              <a:buClr>
                <a:srgbClr val="C00000"/>
              </a:buClr>
              <a:buFont typeface="Wingdings" pitchFamily="2" charset="2"/>
              <a:buChar char="u"/>
            </a:pPr>
            <a:r>
              <a:rPr lang="zh-CN" altLang="en-US" sz="2000" dirty="0"/>
              <a:t>初始化</a:t>
            </a:r>
            <a:r>
              <a:rPr lang="en-US" altLang="zh-CN" sz="2000" dirty="0"/>
              <a:t>ADC1</a:t>
            </a:r>
            <a:r>
              <a:rPr lang="zh-CN" altLang="en-US" sz="2000" dirty="0"/>
              <a:t>参数，设置</a:t>
            </a:r>
            <a:r>
              <a:rPr lang="en-US" altLang="zh-CN" sz="2000" dirty="0"/>
              <a:t>ADC1</a:t>
            </a:r>
            <a:r>
              <a:rPr lang="zh-CN" altLang="en-US" sz="2000" dirty="0"/>
              <a:t>的工作模式以及规则序列的相关信息。</a:t>
            </a:r>
            <a:endParaRPr lang="en-US" altLang="zh-CN" sz="2000" dirty="0"/>
          </a:p>
          <a:p>
            <a:pPr>
              <a:lnSpc>
                <a:spcPct val="150000"/>
              </a:lnSpc>
              <a:buClr>
                <a:srgbClr val="C00000"/>
              </a:buClr>
            </a:pPr>
            <a:r>
              <a:rPr lang="zh-CN" altLang="en-US" sz="2000" dirty="0"/>
              <a:t>调用函数：</a:t>
            </a:r>
            <a:r>
              <a:rPr lang="en-US" altLang="zh-CN" sz="2000" dirty="0"/>
              <a:t>void </a:t>
            </a:r>
            <a:r>
              <a:rPr lang="en-US" altLang="zh-CN" sz="2000" dirty="0" err="1"/>
              <a:t>ADC_Init</a:t>
            </a:r>
            <a:r>
              <a:rPr lang="en-US" altLang="zh-CN" sz="2000" dirty="0"/>
              <a:t>()</a:t>
            </a:r>
            <a:r>
              <a:rPr lang="zh-CN" altLang="en-US" sz="2000" dirty="0"/>
              <a:t>；</a:t>
            </a:r>
            <a:endParaRPr lang="en-US" altLang="zh-CN" sz="2000" dirty="0"/>
          </a:p>
          <a:p>
            <a:pPr>
              <a:lnSpc>
                <a:spcPct val="150000"/>
              </a:lnSpc>
              <a:buClr>
                <a:srgbClr val="C00000"/>
              </a:buClr>
              <a:buFont typeface="Wingdings" pitchFamily="2" charset="2"/>
              <a:buChar char="u"/>
            </a:pPr>
            <a:r>
              <a:rPr lang="zh-CN" altLang="en-US" sz="2000" dirty="0"/>
              <a:t>使能</a:t>
            </a:r>
            <a:r>
              <a:rPr lang="en-US" altLang="zh-CN" sz="2000" dirty="0"/>
              <a:t>ADC</a:t>
            </a:r>
            <a:r>
              <a:rPr lang="zh-CN" altLang="en-US" sz="2000" dirty="0"/>
              <a:t>并校准。调用函数：</a:t>
            </a:r>
            <a:r>
              <a:rPr lang="en-US" altLang="zh-CN" sz="2000" dirty="0" err="1"/>
              <a:t>ADC_Cmd</a:t>
            </a:r>
            <a:r>
              <a:rPr lang="en-US" altLang="zh-CN" sz="2000" dirty="0"/>
              <a:t>()</a:t>
            </a:r>
            <a:r>
              <a:rPr lang="zh-CN" altLang="en-US" sz="2000" dirty="0"/>
              <a:t>；</a:t>
            </a:r>
            <a:endParaRPr lang="en-US" altLang="zh-CN" sz="2000" dirty="0"/>
          </a:p>
          <a:p>
            <a:pPr>
              <a:lnSpc>
                <a:spcPct val="150000"/>
              </a:lnSpc>
              <a:buClr>
                <a:srgbClr val="C00000"/>
              </a:buClr>
              <a:buFont typeface="Wingdings" pitchFamily="2" charset="2"/>
              <a:buChar char="u"/>
            </a:pPr>
            <a:r>
              <a:rPr lang="zh-CN" altLang="en-US" sz="2000" dirty="0"/>
              <a:t>配置规则通道参数。调用函数：</a:t>
            </a:r>
            <a:r>
              <a:rPr lang="en-US" altLang="zh-CN" sz="2000" dirty="0" err="1"/>
              <a:t>ADC_RegularChannelConfig</a:t>
            </a:r>
            <a:r>
              <a:rPr lang="en-US" altLang="zh-CN" sz="2000" dirty="0"/>
              <a:t>()</a:t>
            </a:r>
            <a:r>
              <a:rPr lang="zh-CN" altLang="en-US" sz="2000" dirty="0"/>
              <a:t>；</a:t>
            </a:r>
            <a:endParaRPr lang="en-US" altLang="zh-CN" sz="2000" dirty="0"/>
          </a:p>
          <a:p>
            <a:pPr>
              <a:lnSpc>
                <a:spcPct val="150000"/>
              </a:lnSpc>
              <a:buClr>
                <a:srgbClr val="C00000"/>
              </a:buClr>
              <a:buFont typeface="Wingdings" pitchFamily="2" charset="2"/>
              <a:buChar char="u"/>
            </a:pPr>
            <a:r>
              <a:rPr lang="zh-CN" altLang="en-US" sz="2000" dirty="0"/>
              <a:t>开启软件转换：</a:t>
            </a:r>
            <a:r>
              <a:rPr lang="en-US" altLang="zh-CN" sz="2000" dirty="0" err="1"/>
              <a:t>ADC_SoftwareStartConvCmd</a:t>
            </a:r>
            <a:r>
              <a:rPr lang="en-US" altLang="zh-CN" sz="2000" dirty="0"/>
              <a:t>(ADC1)</a:t>
            </a:r>
            <a:r>
              <a:rPr lang="zh-CN" altLang="en-US" sz="2000" dirty="0"/>
              <a:t>；</a:t>
            </a:r>
            <a:endParaRPr lang="en-US" altLang="zh-CN" sz="2000" dirty="0"/>
          </a:p>
          <a:p>
            <a:pPr>
              <a:lnSpc>
                <a:spcPct val="150000"/>
              </a:lnSpc>
              <a:buClr>
                <a:srgbClr val="C00000"/>
              </a:buClr>
              <a:buFont typeface="Wingdings" pitchFamily="2" charset="2"/>
              <a:buChar char="u"/>
            </a:pPr>
            <a:r>
              <a:rPr lang="zh-CN" altLang="en-US" sz="2000" dirty="0"/>
              <a:t>等待转换完成，读取</a:t>
            </a:r>
            <a:r>
              <a:rPr lang="en-US" altLang="zh-CN" sz="2000" dirty="0"/>
              <a:t>ADC</a:t>
            </a:r>
            <a:r>
              <a:rPr lang="zh-CN" altLang="en-US" sz="2000" dirty="0"/>
              <a:t>值。调用函数：</a:t>
            </a:r>
            <a:r>
              <a:rPr lang="en-US" altLang="zh-CN" sz="2000" dirty="0" err="1"/>
              <a:t>ADC_GetConversionValue</a:t>
            </a:r>
            <a:r>
              <a:rPr lang="en-US" altLang="zh-CN" sz="2000" dirty="0"/>
              <a:t>(ADC1)</a:t>
            </a:r>
            <a:r>
              <a:rPr lang="zh-CN" altLang="en-US" sz="2000" dirty="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1427480" y="1276350"/>
            <a:ext cx="9674225" cy="9525"/>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1041296" y="725152"/>
            <a:ext cx="10058400" cy="1450757"/>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3600" b="1" dirty="0">
                <a:solidFill>
                  <a:srgbClr val="14529E"/>
                </a:solidFill>
              </a:rPr>
              <a:t>9.2 ADC</a:t>
            </a:r>
            <a:r>
              <a:rPr lang="zh-CN" altLang="en-US" sz="3600" b="1" dirty="0">
                <a:solidFill>
                  <a:srgbClr val="14529E"/>
                </a:solidFill>
              </a:rPr>
              <a:t>工作模式</a:t>
            </a:r>
          </a:p>
        </p:txBody>
      </p:sp>
      <p:sp>
        <p:nvSpPr>
          <p:cNvPr id="6" name="内容占位符 2"/>
          <p:cNvSpPr txBox="1">
            <a:spLocks/>
          </p:cNvSpPr>
          <p:nvPr/>
        </p:nvSpPr>
        <p:spPr>
          <a:xfrm>
            <a:off x="1041296" y="1481850"/>
            <a:ext cx="10058400" cy="4023360"/>
          </a:xfrm>
          <a:prstGeom prst="rect">
            <a:avLst/>
          </a:prstGeom>
        </p:spPr>
        <p:txBody>
          <a:bodyPr/>
          <a:lstStyle/>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cs"/>
              </a:rPr>
              <a:t>STM32</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的每个</a:t>
            </a:r>
            <a:r>
              <a:rPr kumimoji="0" lang="en-US" altLang="zh-CN" sz="2800" b="0" i="0" u="none" strike="noStrike" kern="1200" cap="none" spc="0" normalizeH="0" baseline="0" noProof="0" dirty="0">
                <a:ln>
                  <a:noFill/>
                </a:ln>
                <a:solidFill>
                  <a:schemeClr val="tx1"/>
                </a:solidFill>
                <a:effectLst/>
                <a:uLnTx/>
                <a:uFillTx/>
                <a:latin typeface="+mn-lt"/>
                <a:ea typeface="+mn-ea"/>
                <a:cs typeface="+mn-cs"/>
              </a:rPr>
              <a:t>ADC</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模块可以通过内部的模拟多路开关</a:t>
            </a:r>
            <a:r>
              <a:rPr lang="zh-CN" altLang="en-US" sz="2800" dirty="0"/>
              <a:t>切换到不同的输入通道并进行换换，在任意多个通道上以任意顺序进行一系列转换构成组转换。例如可以以如下顺序完成转换：</a:t>
            </a:r>
            <a:r>
              <a:rPr lang="en-US" altLang="zh-CN" sz="2800" dirty="0"/>
              <a:t>3,8,2,0,2,2</a:t>
            </a:r>
            <a:r>
              <a:rPr lang="zh-CN" altLang="en-US" sz="2800" dirty="0"/>
              <a:t>，</a:t>
            </a:r>
            <a:r>
              <a:rPr lang="en-US" altLang="zh-CN" sz="2800" dirty="0"/>
              <a:t>15.</a:t>
            </a: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cs"/>
              </a:rPr>
              <a:t>按工作模式划分，</a:t>
            </a:r>
            <a:r>
              <a:rPr kumimoji="0" lang="en-US" altLang="zh-CN" sz="2800" b="0" i="0" u="none" strike="noStrike" kern="1200" cap="none" spc="0" normalizeH="0" baseline="0" noProof="0" dirty="0">
                <a:ln>
                  <a:noFill/>
                </a:ln>
                <a:solidFill>
                  <a:schemeClr val="tx1"/>
                </a:solidFill>
                <a:effectLst/>
                <a:uLnTx/>
                <a:uFillTx/>
                <a:latin typeface="+mn-lt"/>
                <a:ea typeface="+mn-ea"/>
                <a:cs typeface="+mn-cs"/>
              </a:rPr>
              <a:t>ADC</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主要有</a:t>
            </a:r>
            <a:r>
              <a:rPr kumimoji="0" lang="en-US" altLang="zh-CN" sz="2800" b="0" i="0" u="none" strike="noStrike" kern="1200" cap="none" spc="0" normalizeH="0" baseline="0" noProof="0" dirty="0">
                <a:ln>
                  <a:noFill/>
                </a:ln>
                <a:solidFill>
                  <a:schemeClr val="tx1"/>
                </a:solidFill>
                <a:effectLst/>
                <a:uLnTx/>
                <a:uFillTx/>
                <a:latin typeface="+mn-lt"/>
                <a:ea typeface="+mn-ea"/>
                <a:cs typeface="+mn-cs"/>
              </a:rPr>
              <a:t>4</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中转换模式：单次转换、连续转换、扫描模式和间断模式。</a:t>
            </a:r>
            <a:endParaRPr kumimoji="0" lang="zh-CN" altLang="zh-CN" sz="2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150000"/>
              </a:lnSpc>
              <a:spcBef>
                <a:spcPts val="1000"/>
              </a:spcBef>
              <a:spcAft>
                <a:spcPts val="0"/>
              </a:spcAft>
              <a:buClrTx/>
              <a:buSzTx/>
              <a:tabLst/>
              <a:defRPr/>
            </a:pPr>
            <a:endParaRPr kumimoji="0" lang="zh-CN" altLang="en-US"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29" name="Picture 1"/>
          <p:cNvPicPr>
            <a:picLocks noChangeAspect="1" noChangeArrowheads="1"/>
          </p:cNvPicPr>
          <p:nvPr/>
        </p:nvPicPr>
        <p:blipFill>
          <a:blip r:embed="rId2"/>
          <a:srcRect/>
          <a:stretch>
            <a:fillRect/>
          </a:stretch>
        </p:blipFill>
        <p:spPr bwMode="auto">
          <a:xfrm>
            <a:off x="1488232" y="409673"/>
            <a:ext cx="8159621" cy="2822827"/>
          </a:xfrm>
          <a:prstGeom prst="rect">
            <a:avLst/>
          </a:prstGeom>
          <a:noFill/>
          <a:ln w="9525">
            <a:noFill/>
            <a:miter lim="800000"/>
            <a:headEnd/>
            <a:tailEnd/>
          </a:ln>
          <a:effectLst/>
        </p:spPr>
      </p:pic>
      <p:pic>
        <p:nvPicPr>
          <p:cNvPr id="99330" name="Picture 2"/>
          <p:cNvPicPr>
            <a:picLocks noChangeAspect="1" noChangeArrowheads="1"/>
          </p:cNvPicPr>
          <p:nvPr/>
        </p:nvPicPr>
        <p:blipFill>
          <a:blip r:embed="rId3"/>
          <a:srcRect/>
          <a:stretch>
            <a:fillRect/>
          </a:stretch>
        </p:blipFill>
        <p:spPr bwMode="auto">
          <a:xfrm>
            <a:off x="1527305" y="3349689"/>
            <a:ext cx="3286513" cy="2905319"/>
          </a:xfrm>
          <a:prstGeom prst="rect">
            <a:avLst/>
          </a:prstGeom>
          <a:noFill/>
          <a:ln w="9525">
            <a:noFill/>
            <a:miter lim="800000"/>
            <a:headEnd/>
            <a:tailEnd/>
          </a:ln>
          <a:effectLst/>
        </p:spPr>
      </p:pic>
      <p:pic>
        <p:nvPicPr>
          <p:cNvPr id="99331" name="Picture 3"/>
          <p:cNvPicPr>
            <a:picLocks noChangeAspect="1" noChangeArrowheads="1"/>
          </p:cNvPicPr>
          <p:nvPr/>
        </p:nvPicPr>
        <p:blipFill>
          <a:blip r:embed="rId4"/>
          <a:srcRect/>
          <a:stretch>
            <a:fillRect/>
          </a:stretch>
        </p:blipFill>
        <p:spPr bwMode="auto">
          <a:xfrm>
            <a:off x="5503117" y="3183491"/>
            <a:ext cx="5040474" cy="3351145"/>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3813" y="522514"/>
            <a:ext cx="10282334" cy="5816977"/>
          </a:xfrm>
          <a:prstGeom prst="rect">
            <a:avLst/>
          </a:prstGeom>
          <a:noFill/>
        </p:spPr>
        <p:txBody>
          <a:bodyPr wrap="square" rtlCol="0">
            <a:spAutoFit/>
          </a:bodyPr>
          <a:lstStyle/>
          <a:p>
            <a:pPr>
              <a:lnSpc>
                <a:spcPct val="150000"/>
              </a:lnSpc>
              <a:buClr>
                <a:srgbClr val="C00000"/>
              </a:buClr>
              <a:buFont typeface="Wingdings" pitchFamily="2" charset="2"/>
              <a:buChar char="u"/>
            </a:pPr>
            <a:r>
              <a:rPr lang="zh-CN" altLang="en-US" sz="2800" b="1" dirty="0">
                <a:solidFill>
                  <a:srgbClr val="C00000"/>
                </a:solidFill>
              </a:rPr>
              <a:t>单次转换</a:t>
            </a:r>
            <a:endParaRPr lang="en-US" altLang="zh-CN" sz="2800" b="1" dirty="0">
              <a:solidFill>
                <a:srgbClr val="C00000"/>
              </a:solidFill>
            </a:endParaRPr>
          </a:p>
          <a:p>
            <a:pPr>
              <a:lnSpc>
                <a:spcPct val="150000"/>
              </a:lnSpc>
              <a:buClr>
                <a:srgbClr val="C00000"/>
              </a:buClr>
            </a:pPr>
            <a:r>
              <a:rPr lang="zh-CN" altLang="en-US" sz="2000" dirty="0"/>
              <a:t>      单次转换模式下，</a:t>
            </a:r>
            <a:r>
              <a:rPr lang="en-US" altLang="zh-CN" sz="2000" dirty="0"/>
              <a:t>ADC</a:t>
            </a:r>
            <a:r>
              <a:rPr lang="zh-CN" altLang="en-US" sz="2000" dirty="0"/>
              <a:t>只执行一次转换。该模式既可通过设置</a:t>
            </a:r>
            <a:r>
              <a:rPr lang="en-US" altLang="zh-CN" sz="2000" dirty="0"/>
              <a:t>ADC_CR2</a:t>
            </a:r>
            <a:r>
              <a:rPr lang="zh-CN" altLang="en-US" sz="2000" dirty="0"/>
              <a:t>寄存器的</a:t>
            </a:r>
            <a:r>
              <a:rPr lang="en-US" altLang="zh-CN" sz="2000" dirty="0"/>
              <a:t>ADON</a:t>
            </a:r>
            <a:r>
              <a:rPr lang="zh-CN" altLang="en-US" sz="2000" dirty="0"/>
              <a:t>位</a:t>
            </a:r>
            <a:r>
              <a:rPr lang="en-US" altLang="zh-CN" sz="2000" dirty="0"/>
              <a:t>(</a:t>
            </a:r>
            <a:r>
              <a:rPr lang="zh-CN" altLang="en-US" sz="2000" dirty="0"/>
              <a:t>只适用于规则通道</a:t>
            </a:r>
            <a:r>
              <a:rPr lang="en-US" altLang="zh-CN" sz="2000" dirty="0"/>
              <a:t>)</a:t>
            </a:r>
            <a:r>
              <a:rPr lang="zh-CN" altLang="en-US" sz="2000" dirty="0"/>
              <a:t>启动也可通过外部触发启动</a:t>
            </a:r>
            <a:r>
              <a:rPr lang="en-US" altLang="zh-CN" sz="2000" dirty="0"/>
              <a:t>(</a:t>
            </a:r>
            <a:r>
              <a:rPr lang="zh-CN" altLang="en-US" sz="2000" dirty="0"/>
              <a:t>适用于规则通道或注入通道</a:t>
            </a:r>
            <a:r>
              <a:rPr lang="en-US" altLang="zh-CN" sz="2000" dirty="0"/>
              <a:t>)</a:t>
            </a:r>
            <a:r>
              <a:rPr lang="zh-CN" altLang="en-US" sz="2000" dirty="0"/>
              <a:t>，这时</a:t>
            </a:r>
            <a:r>
              <a:rPr lang="en-US" altLang="zh-CN" sz="2000" dirty="0"/>
              <a:t>CONT</a:t>
            </a:r>
            <a:r>
              <a:rPr lang="zh-CN" altLang="en-US" sz="2000" dirty="0"/>
              <a:t>位为</a:t>
            </a:r>
            <a:r>
              <a:rPr lang="en-US" altLang="zh-CN" sz="2000" dirty="0"/>
              <a:t>0</a:t>
            </a:r>
            <a:r>
              <a:rPr lang="zh-CN" altLang="en-US" sz="2000" dirty="0"/>
              <a:t>。 一旦选择通道的转换完成：</a:t>
            </a:r>
            <a:endParaRPr lang="en-US" altLang="zh-CN" sz="2000" dirty="0"/>
          </a:p>
          <a:p>
            <a:pPr>
              <a:lnSpc>
                <a:spcPct val="150000"/>
              </a:lnSpc>
              <a:buClr>
                <a:srgbClr val="C00000"/>
              </a:buClr>
            </a:pPr>
            <a:r>
              <a:rPr lang="zh-CN" altLang="en-US" sz="2000" dirty="0"/>
              <a:t> ● </a:t>
            </a:r>
            <a:r>
              <a:rPr lang="zh-CN" altLang="en-US" sz="2000" b="1" dirty="0">
                <a:solidFill>
                  <a:srgbClr val="7030A0"/>
                </a:solidFill>
              </a:rPr>
              <a:t>如果一个规则通道被转换：</a:t>
            </a:r>
            <a:endParaRPr lang="en-US" altLang="zh-CN" sz="2000" b="1" dirty="0">
              <a:solidFill>
                <a:srgbClr val="7030A0"/>
              </a:solidFill>
            </a:endParaRPr>
          </a:p>
          <a:p>
            <a:pPr>
              <a:lnSpc>
                <a:spcPct val="150000"/>
              </a:lnSpc>
              <a:buClr>
                <a:srgbClr val="C00000"/>
              </a:buClr>
            </a:pPr>
            <a:r>
              <a:rPr lang="zh-CN" altLang="en-US" sz="2000" b="1" dirty="0">
                <a:solidFill>
                  <a:srgbClr val="7030A0"/>
                </a:solidFill>
              </a:rPr>
              <a:t> </a:t>
            </a:r>
            <a:r>
              <a:rPr lang="zh-CN" altLang="en-US" sz="2000" dirty="0"/>
              <a:t>─ 转换数据被储存在</a:t>
            </a:r>
            <a:r>
              <a:rPr lang="en-US" altLang="zh-CN" sz="2000" dirty="0"/>
              <a:t>16</a:t>
            </a:r>
            <a:r>
              <a:rPr lang="zh-CN" altLang="en-US" sz="2000" dirty="0"/>
              <a:t>位</a:t>
            </a:r>
            <a:r>
              <a:rPr lang="en-US" altLang="zh-CN" sz="2000" dirty="0"/>
              <a:t>ADC_DR</a:t>
            </a:r>
            <a:r>
              <a:rPr lang="zh-CN" altLang="en-US" sz="2000" dirty="0"/>
              <a:t>寄存器中 </a:t>
            </a:r>
            <a:endParaRPr lang="en-US" altLang="zh-CN" sz="2000" dirty="0"/>
          </a:p>
          <a:p>
            <a:pPr>
              <a:lnSpc>
                <a:spcPct val="150000"/>
              </a:lnSpc>
              <a:buClr>
                <a:srgbClr val="C00000"/>
              </a:buClr>
            </a:pPr>
            <a:r>
              <a:rPr lang="zh-CN" altLang="en-US" sz="2000" dirty="0"/>
              <a:t>─ </a:t>
            </a:r>
            <a:r>
              <a:rPr lang="en-US" altLang="zh-CN" sz="2000" dirty="0"/>
              <a:t>EOC(</a:t>
            </a:r>
            <a:r>
              <a:rPr lang="zh-CN" altLang="en-US" sz="2000" dirty="0"/>
              <a:t>转换结束</a:t>
            </a:r>
            <a:r>
              <a:rPr lang="en-US" altLang="zh-CN" sz="2000" dirty="0"/>
              <a:t>)</a:t>
            </a:r>
            <a:r>
              <a:rPr lang="zh-CN" altLang="en-US" sz="2000" dirty="0"/>
              <a:t>标志被设置 </a:t>
            </a:r>
            <a:endParaRPr lang="en-US" altLang="zh-CN" sz="2000" dirty="0"/>
          </a:p>
          <a:p>
            <a:pPr>
              <a:lnSpc>
                <a:spcPct val="150000"/>
              </a:lnSpc>
              <a:buClr>
                <a:srgbClr val="C00000"/>
              </a:buClr>
            </a:pPr>
            <a:r>
              <a:rPr lang="zh-CN" altLang="en-US" sz="2000" dirty="0"/>
              <a:t>─ 如果设置了</a:t>
            </a:r>
            <a:r>
              <a:rPr lang="en-US" altLang="zh-CN" sz="2000" dirty="0"/>
              <a:t>EOCIE</a:t>
            </a:r>
            <a:r>
              <a:rPr lang="zh-CN" altLang="en-US" sz="2000" dirty="0"/>
              <a:t>，则产生中断。</a:t>
            </a:r>
            <a:endParaRPr lang="en-US" altLang="zh-CN" sz="2000" dirty="0"/>
          </a:p>
          <a:p>
            <a:pPr>
              <a:lnSpc>
                <a:spcPct val="150000"/>
              </a:lnSpc>
              <a:buClr>
                <a:srgbClr val="C00000"/>
              </a:buClr>
            </a:pPr>
            <a:r>
              <a:rPr lang="zh-CN" altLang="en-US" sz="2000" dirty="0"/>
              <a:t> ● </a:t>
            </a:r>
            <a:r>
              <a:rPr lang="zh-CN" altLang="en-US" sz="2000" b="1" dirty="0">
                <a:solidFill>
                  <a:srgbClr val="7030A0"/>
                </a:solidFill>
              </a:rPr>
              <a:t>如果一个注入通道被转换： </a:t>
            </a:r>
            <a:endParaRPr lang="en-US" altLang="zh-CN" sz="2000" b="1" dirty="0">
              <a:solidFill>
                <a:srgbClr val="7030A0"/>
              </a:solidFill>
            </a:endParaRPr>
          </a:p>
          <a:p>
            <a:pPr>
              <a:lnSpc>
                <a:spcPct val="150000"/>
              </a:lnSpc>
              <a:buClr>
                <a:srgbClr val="C00000"/>
              </a:buClr>
            </a:pPr>
            <a:r>
              <a:rPr lang="zh-CN" altLang="en-US" sz="2000" dirty="0"/>
              <a:t>─ 转换数据被储存在</a:t>
            </a:r>
            <a:r>
              <a:rPr lang="en-US" altLang="zh-CN" sz="2000" dirty="0"/>
              <a:t>16</a:t>
            </a:r>
            <a:r>
              <a:rPr lang="zh-CN" altLang="en-US" sz="2000" dirty="0"/>
              <a:t>位的</a:t>
            </a:r>
            <a:r>
              <a:rPr lang="en-US" altLang="zh-CN" sz="2000" dirty="0"/>
              <a:t>ADC_DRJ1</a:t>
            </a:r>
            <a:r>
              <a:rPr lang="zh-CN" altLang="en-US" sz="2000" dirty="0"/>
              <a:t>寄存器中 </a:t>
            </a:r>
            <a:endParaRPr lang="en-US" altLang="zh-CN" sz="2000" dirty="0"/>
          </a:p>
          <a:p>
            <a:pPr>
              <a:lnSpc>
                <a:spcPct val="150000"/>
              </a:lnSpc>
              <a:buClr>
                <a:srgbClr val="C00000"/>
              </a:buClr>
            </a:pPr>
            <a:r>
              <a:rPr lang="zh-CN" altLang="en-US" sz="2000" dirty="0"/>
              <a:t>─ </a:t>
            </a:r>
            <a:r>
              <a:rPr lang="en-US" altLang="zh-CN" sz="2000" dirty="0"/>
              <a:t>JEOC(</a:t>
            </a:r>
            <a:r>
              <a:rPr lang="zh-CN" altLang="en-US" sz="2000" dirty="0"/>
              <a:t>注入转换结束</a:t>
            </a:r>
            <a:r>
              <a:rPr lang="en-US" altLang="zh-CN" sz="2000" dirty="0"/>
              <a:t>)</a:t>
            </a:r>
            <a:r>
              <a:rPr lang="zh-CN" altLang="en-US" sz="2000" dirty="0"/>
              <a:t>标志被设置 </a:t>
            </a:r>
            <a:endParaRPr lang="en-US" altLang="zh-CN" sz="2000" dirty="0"/>
          </a:p>
          <a:p>
            <a:pPr>
              <a:lnSpc>
                <a:spcPct val="150000"/>
              </a:lnSpc>
              <a:buClr>
                <a:srgbClr val="C00000"/>
              </a:buClr>
            </a:pPr>
            <a:r>
              <a:rPr lang="zh-CN" altLang="en-US" sz="2000" dirty="0"/>
              <a:t>─ 如果设置了</a:t>
            </a:r>
            <a:r>
              <a:rPr lang="en-US" altLang="zh-CN" sz="2000" dirty="0"/>
              <a:t>JEOCIE</a:t>
            </a:r>
            <a:r>
              <a:rPr lang="zh-CN" altLang="en-US" sz="2000" dirty="0"/>
              <a:t>位，则产生中断。</a:t>
            </a:r>
          </a:p>
        </p:txBody>
      </p:sp>
      <p:pic>
        <p:nvPicPr>
          <p:cNvPr id="151554" name="Picture 2"/>
          <p:cNvPicPr>
            <a:picLocks noChangeAspect="1" noChangeArrowheads="1"/>
          </p:cNvPicPr>
          <p:nvPr/>
        </p:nvPicPr>
        <p:blipFill>
          <a:blip r:embed="rId2"/>
          <a:srcRect/>
          <a:stretch>
            <a:fillRect/>
          </a:stretch>
        </p:blipFill>
        <p:spPr bwMode="auto">
          <a:xfrm>
            <a:off x="7538163" y="2774691"/>
            <a:ext cx="3143250" cy="2857500"/>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3813" y="522514"/>
            <a:ext cx="10282334" cy="5355312"/>
          </a:xfrm>
          <a:prstGeom prst="rect">
            <a:avLst/>
          </a:prstGeom>
          <a:noFill/>
        </p:spPr>
        <p:txBody>
          <a:bodyPr wrap="square" rtlCol="0">
            <a:spAutoFit/>
          </a:bodyPr>
          <a:lstStyle/>
          <a:p>
            <a:pPr>
              <a:lnSpc>
                <a:spcPct val="150000"/>
              </a:lnSpc>
              <a:buClr>
                <a:srgbClr val="C00000"/>
              </a:buClr>
              <a:buFont typeface="Wingdings" pitchFamily="2" charset="2"/>
              <a:buChar char="u"/>
            </a:pPr>
            <a:r>
              <a:rPr lang="zh-CN" altLang="en-US" sz="2800" b="1" dirty="0">
                <a:solidFill>
                  <a:srgbClr val="C00000"/>
                </a:solidFill>
              </a:rPr>
              <a:t>连续转换模式</a:t>
            </a:r>
            <a:endParaRPr lang="en-US" altLang="zh-CN" sz="2800" b="1" dirty="0">
              <a:solidFill>
                <a:srgbClr val="C00000"/>
              </a:solidFill>
            </a:endParaRPr>
          </a:p>
          <a:p>
            <a:pPr>
              <a:lnSpc>
                <a:spcPct val="150000"/>
              </a:lnSpc>
              <a:buClr>
                <a:srgbClr val="C00000"/>
              </a:buClr>
            </a:pPr>
            <a:r>
              <a:rPr lang="zh-CN" altLang="en-US" sz="2000" dirty="0"/>
              <a:t>      在连续转换模式中，当前面</a:t>
            </a:r>
            <a:r>
              <a:rPr lang="en-US" altLang="zh-CN" sz="2000" dirty="0"/>
              <a:t>ADC</a:t>
            </a:r>
            <a:r>
              <a:rPr lang="zh-CN" altLang="en-US" sz="2000" dirty="0"/>
              <a:t>转换一结束马上就启动另一次转换。此模式可通过外部触发启动或通过设置</a:t>
            </a:r>
            <a:r>
              <a:rPr lang="en-US" altLang="zh-CN" sz="2000" dirty="0"/>
              <a:t>ADC_CR2</a:t>
            </a:r>
            <a:r>
              <a:rPr lang="zh-CN" altLang="en-US" sz="2000" dirty="0"/>
              <a:t>寄存器上的</a:t>
            </a:r>
            <a:r>
              <a:rPr lang="en-US" altLang="zh-CN" sz="2000" dirty="0"/>
              <a:t>ADON</a:t>
            </a:r>
            <a:r>
              <a:rPr lang="zh-CN" altLang="en-US" sz="2000" dirty="0"/>
              <a:t>位启动，此时</a:t>
            </a:r>
            <a:r>
              <a:rPr lang="en-US" altLang="zh-CN" sz="2000" dirty="0"/>
              <a:t>CONT</a:t>
            </a:r>
            <a:r>
              <a:rPr lang="zh-CN" altLang="en-US" sz="2000" dirty="0"/>
              <a:t>位是</a:t>
            </a:r>
            <a:r>
              <a:rPr lang="en-US" altLang="zh-CN" sz="2000" dirty="0"/>
              <a:t>1</a:t>
            </a:r>
            <a:r>
              <a:rPr lang="zh-CN" altLang="en-US" sz="2000" dirty="0"/>
              <a:t>。</a:t>
            </a:r>
            <a:endParaRPr lang="en-US" altLang="zh-CN" sz="2000" dirty="0"/>
          </a:p>
          <a:p>
            <a:pPr>
              <a:lnSpc>
                <a:spcPct val="150000"/>
              </a:lnSpc>
              <a:buClr>
                <a:srgbClr val="C00000"/>
              </a:buClr>
            </a:pPr>
            <a:r>
              <a:rPr lang="zh-CN" altLang="en-US" sz="2000" dirty="0"/>
              <a:t> ● </a:t>
            </a:r>
            <a:r>
              <a:rPr lang="zh-CN" altLang="en-US" sz="2000" b="1" dirty="0">
                <a:solidFill>
                  <a:srgbClr val="7030A0"/>
                </a:solidFill>
              </a:rPr>
              <a:t>如果一个规则通道被转换：</a:t>
            </a:r>
            <a:endParaRPr lang="en-US" altLang="zh-CN" sz="2000" b="1" dirty="0">
              <a:solidFill>
                <a:srgbClr val="7030A0"/>
              </a:solidFill>
            </a:endParaRPr>
          </a:p>
          <a:p>
            <a:pPr>
              <a:lnSpc>
                <a:spcPct val="150000"/>
              </a:lnSpc>
              <a:buClr>
                <a:srgbClr val="C00000"/>
              </a:buClr>
            </a:pPr>
            <a:r>
              <a:rPr lang="zh-CN" altLang="en-US" sz="2000" dirty="0"/>
              <a:t> ─ 转换数据被储存在</a:t>
            </a:r>
            <a:r>
              <a:rPr lang="en-US" altLang="zh-CN" sz="2000" dirty="0"/>
              <a:t>16</a:t>
            </a:r>
            <a:r>
              <a:rPr lang="zh-CN" altLang="en-US" sz="2000" dirty="0"/>
              <a:t>位的</a:t>
            </a:r>
            <a:r>
              <a:rPr lang="en-US" altLang="zh-CN" sz="2000" dirty="0"/>
              <a:t>ADC_DR</a:t>
            </a:r>
            <a:r>
              <a:rPr lang="zh-CN" altLang="en-US" sz="2000" dirty="0"/>
              <a:t>寄存器中</a:t>
            </a:r>
            <a:endParaRPr lang="en-US" altLang="zh-CN" sz="2000" dirty="0"/>
          </a:p>
          <a:p>
            <a:pPr>
              <a:lnSpc>
                <a:spcPct val="150000"/>
              </a:lnSpc>
              <a:buClr>
                <a:srgbClr val="C00000"/>
              </a:buClr>
            </a:pPr>
            <a:r>
              <a:rPr lang="zh-CN" altLang="en-US" sz="2000" dirty="0"/>
              <a:t> ─ </a:t>
            </a:r>
            <a:r>
              <a:rPr lang="en-US" altLang="zh-CN" sz="2000" dirty="0"/>
              <a:t>EOC(</a:t>
            </a:r>
            <a:r>
              <a:rPr lang="zh-CN" altLang="en-US" sz="2000" dirty="0"/>
              <a:t>转换结束</a:t>
            </a:r>
            <a:r>
              <a:rPr lang="en-US" altLang="zh-CN" sz="2000" dirty="0"/>
              <a:t>)</a:t>
            </a:r>
            <a:r>
              <a:rPr lang="zh-CN" altLang="en-US" sz="2000" dirty="0"/>
              <a:t>标志被设置</a:t>
            </a:r>
            <a:endParaRPr lang="en-US" altLang="zh-CN" sz="2000" dirty="0"/>
          </a:p>
          <a:p>
            <a:pPr>
              <a:lnSpc>
                <a:spcPct val="150000"/>
              </a:lnSpc>
              <a:buClr>
                <a:srgbClr val="C00000"/>
              </a:buClr>
            </a:pPr>
            <a:r>
              <a:rPr lang="zh-CN" altLang="en-US" sz="2000" dirty="0"/>
              <a:t> ─ 如果设置了</a:t>
            </a:r>
            <a:r>
              <a:rPr lang="en-US" altLang="zh-CN" sz="2000" dirty="0"/>
              <a:t>EOCIE</a:t>
            </a:r>
            <a:r>
              <a:rPr lang="zh-CN" altLang="en-US" sz="2000" dirty="0"/>
              <a:t>，则产生中断。</a:t>
            </a:r>
            <a:endParaRPr lang="en-US" altLang="zh-CN" sz="2000" dirty="0"/>
          </a:p>
          <a:p>
            <a:pPr>
              <a:lnSpc>
                <a:spcPct val="150000"/>
              </a:lnSpc>
              <a:buClr>
                <a:srgbClr val="C00000"/>
              </a:buClr>
            </a:pPr>
            <a:r>
              <a:rPr lang="zh-CN" altLang="en-US" sz="2000" dirty="0"/>
              <a:t> ● </a:t>
            </a:r>
            <a:r>
              <a:rPr lang="zh-CN" altLang="en-US" sz="2000" b="1" dirty="0">
                <a:solidFill>
                  <a:srgbClr val="7030A0"/>
                </a:solidFill>
              </a:rPr>
              <a:t>如果一个注入通道被转换：</a:t>
            </a:r>
            <a:endParaRPr lang="en-US" altLang="zh-CN" sz="2000" b="1" dirty="0">
              <a:solidFill>
                <a:srgbClr val="7030A0"/>
              </a:solidFill>
            </a:endParaRPr>
          </a:p>
          <a:p>
            <a:pPr>
              <a:lnSpc>
                <a:spcPct val="150000"/>
              </a:lnSpc>
              <a:buClr>
                <a:srgbClr val="C00000"/>
              </a:buClr>
            </a:pPr>
            <a:r>
              <a:rPr lang="zh-CN" altLang="en-US" sz="2000" dirty="0"/>
              <a:t> ─ 转换数据被储存在</a:t>
            </a:r>
            <a:r>
              <a:rPr lang="en-US" altLang="zh-CN" sz="2000" dirty="0"/>
              <a:t>16</a:t>
            </a:r>
            <a:r>
              <a:rPr lang="zh-CN" altLang="en-US" sz="2000" dirty="0"/>
              <a:t>位的</a:t>
            </a:r>
            <a:r>
              <a:rPr lang="en-US" altLang="zh-CN" sz="2000" dirty="0"/>
              <a:t>ADC_DRJ1</a:t>
            </a:r>
            <a:r>
              <a:rPr lang="zh-CN" altLang="en-US" sz="2000" dirty="0"/>
              <a:t>寄存器中</a:t>
            </a:r>
            <a:endParaRPr lang="en-US" altLang="zh-CN" sz="2000" dirty="0"/>
          </a:p>
          <a:p>
            <a:pPr>
              <a:lnSpc>
                <a:spcPct val="150000"/>
              </a:lnSpc>
              <a:buClr>
                <a:srgbClr val="C00000"/>
              </a:buClr>
            </a:pPr>
            <a:r>
              <a:rPr lang="zh-CN" altLang="en-US" sz="2000" dirty="0"/>
              <a:t> ─ </a:t>
            </a:r>
            <a:r>
              <a:rPr lang="en-US" altLang="zh-CN" sz="2000" dirty="0"/>
              <a:t>JEOC(</a:t>
            </a:r>
            <a:r>
              <a:rPr lang="zh-CN" altLang="en-US" sz="2000" dirty="0"/>
              <a:t>注入转换结束</a:t>
            </a:r>
            <a:r>
              <a:rPr lang="en-US" altLang="zh-CN" sz="2000" dirty="0"/>
              <a:t>)</a:t>
            </a:r>
            <a:r>
              <a:rPr lang="zh-CN" altLang="en-US" sz="2000" dirty="0"/>
              <a:t>标志被设置 </a:t>
            </a:r>
            <a:endParaRPr lang="en-US" altLang="zh-CN" sz="2000" dirty="0"/>
          </a:p>
          <a:p>
            <a:pPr>
              <a:lnSpc>
                <a:spcPct val="150000"/>
              </a:lnSpc>
              <a:buClr>
                <a:srgbClr val="C00000"/>
              </a:buClr>
            </a:pPr>
            <a:r>
              <a:rPr lang="zh-CN" altLang="en-US" sz="2000" dirty="0"/>
              <a:t>─ 如果设置了</a:t>
            </a:r>
            <a:r>
              <a:rPr lang="en-US" altLang="zh-CN" sz="2000" dirty="0"/>
              <a:t>JEOCIE</a:t>
            </a:r>
            <a:r>
              <a:rPr lang="zh-CN" altLang="en-US" sz="2000" dirty="0"/>
              <a:t>位，则产生中断。</a:t>
            </a:r>
          </a:p>
        </p:txBody>
      </p:sp>
      <p:pic>
        <p:nvPicPr>
          <p:cNvPr id="152578" name="Picture 2"/>
          <p:cNvPicPr>
            <a:picLocks noChangeAspect="1" noChangeArrowheads="1"/>
          </p:cNvPicPr>
          <p:nvPr/>
        </p:nvPicPr>
        <p:blipFill>
          <a:blip r:embed="rId2"/>
          <a:srcRect/>
          <a:stretch>
            <a:fillRect/>
          </a:stretch>
        </p:blipFill>
        <p:spPr bwMode="auto">
          <a:xfrm>
            <a:off x="6464268" y="2875675"/>
            <a:ext cx="4600575" cy="2562225"/>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98376" y="765110"/>
            <a:ext cx="10282334" cy="5262979"/>
          </a:xfrm>
          <a:prstGeom prst="rect">
            <a:avLst/>
          </a:prstGeom>
          <a:noFill/>
        </p:spPr>
        <p:txBody>
          <a:bodyPr wrap="square" rtlCol="0">
            <a:spAutoFit/>
          </a:bodyPr>
          <a:lstStyle/>
          <a:p>
            <a:pPr>
              <a:lnSpc>
                <a:spcPct val="150000"/>
              </a:lnSpc>
              <a:buClr>
                <a:srgbClr val="C00000"/>
              </a:buClr>
              <a:buFont typeface="Wingdings" pitchFamily="2" charset="2"/>
              <a:buChar char="u"/>
            </a:pPr>
            <a:r>
              <a:rPr lang="zh-CN" altLang="en-US" sz="2800" b="1" dirty="0">
                <a:solidFill>
                  <a:srgbClr val="C00000"/>
                </a:solidFill>
              </a:rPr>
              <a:t>扫描模式</a:t>
            </a:r>
            <a:endParaRPr lang="en-US" altLang="zh-CN" sz="2800" b="1" dirty="0">
              <a:solidFill>
                <a:srgbClr val="C00000"/>
              </a:solidFill>
            </a:endParaRPr>
          </a:p>
          <a:p>
            <a:pPr>
              <a:lnSpc>
                <a:spcPct val="150000"/>
              </a:lnSpc>
              <a:buClr>
                <a:srgbClr val="C00000"/>
              </a:buClr>
            </a:pPr>
            <a:r>
              <a:rPr lang="en-US" altLang="zh-CN" sz="2800" dirty="0"/>
              <a:t>    </a:t>
            </a:r>
            <a:r>
              <a:rPr lang="zh-CN" altLang="en-US" sz="2400" dirty="0"/>
              <a:t>此模式用来扫描一组模拟通道。 扫描模式可通过设置</a:t>
            </a:r>
            <a:r>
              <a:rPr lang="en-US" altLang="zh-CN" sz="2400" dirty="0"/>
              <a:t>ADC_CR1</a:t>
            </a:r>
            <a:r>
              <a:rPr lang="zh-CN" altLang="en-US" sz="2400" dirty="0"/>
              <a:t>寄存器的</a:t>
            </a:r>
            <a:r>
              <a:rPr lang="en-US" altLang="zh-CN" sz="2400" b="1" dirty="0">
                <a:solidFill>
                  <a:srgbClr val="7030A0"/>
                </a:solidFill>
              </a:rPr>
              <a:t>SCAN</a:t>
            </a:r>
            <a:r>
              <a:rPr lang="zh-CN" altLang="en-US" sz="2400" b="1" dirty="0">
                <a:solidFill>
                  <a:srgbClr val="7030A0"/>
                </a:solidFill>
              </a:rPr>
              <a:t>位</a:t>
            </a:r>
            <a:r>
              <a:rPr lang="zh-CN" altLang="en-US" sz="2400" dirty="0"/>
              <a:t>来选择。一旦这个位被设置，</a:t>
            </a:r>
            <a:r>
              <a:rPr lang="en-US" altLang="zh-CN" sz="2400" dirty="0"/>
              <a:t>ADC</a:t>
            </a:r>
            <a:r>
              <a:rPr lang="zh-CN" altLang="en-US" sz="2400" dirty="0"/>
              <a:t>扫描所有被 </a:t>
            </a:r>
            <a:r>
              <a:rPr lang="en-US" altLang="zh-CN" sz="2400" dirty="0"/>
              <a:t>ADC_SQRX</a:t>
            </a:r>
            <a:r>
              <a:rPr lang="zh-CN" altLang="en-US" sz="2400" dirty="0"/>
              <a:t>寄存器</a:t>
            </a:r>
            <a:r>
              <a:rPr lang="en-US" altLang="zh-CN" sz="2400" dirty="0"/>
              <a:t>(</a:t>
            </a:r>
            <a:r>
              <a:rPr lang="zh-CN" altLang="en-US" sz="2400" dirty="0"/>
              <a:t>对规则通道</a:t>
            </a:r>
            <a:r>
              <a:rPr lang="en-US" altLang="zh-CN" sz="2400" dirty="0"/>
              <a:t>)</a:t>
            </a:r>
            <a:r>
              <a:rPr lang="zh-CN" altLang="en-US" sz="2400" dirty="0"/>
              <a:t>或</a:t>
            </a:r>
            <a:r>
              <a:rPr lang="en-US" altLang="zh-CN" sz="2400" dirty="0"/>
              <a:t>ADC_JSQR(</a:t>
            </a:r>
            <a:r>
              <a:rPr lang="zh-CN" altLang="en-US" sz="2400" dirty="0"/>
              <a:t>对注入通道</a:t>
            </a:r>
            <a:r>
              <a:rPr lang="en-US" altLang="zh-CN" sz="2400" dirty="0"/>
              <a:t>)</a:t>
            </a:r>
            <a:r>
              <a:rPr lang="zh-CN" altLang="en-US" sz="2400" dirty="0"/>
              <a:t>选中的所有通道。在每个组的每个通道上执行单次转换。在每个转换结束时，同一组的下一个通道被自动转换。如果设置了</a:t>
            </a:r>
            <a:r>
              <a:rPr lang="en-US" altLang="zh-CN" sz="2400" b="1" dirty="0">
                <a:solidFill>
                  <a:srgbClr val="7030A0"/>
                </a:solidFill>
              </a:rPr>
              <a:t>CONT</a:t>
            </a:r>
            <a:r>
              <a:rPr lang="zh-CN" altLang="en-US" sz="2400" dirty="0"/>
              <a:t>位，转换不会在选择组的最后一个通道上停止，而是再次从选择组的第一个通道继续转换。</a:t>
            </a:r>
            <a:endParaRPr lang="en-US" altLang="zh-CN" sz="2400" dirty="0"/>
          </a:p>
          <a:p>
            <a:pPr>
              <a:lnSpc>
                <a:spcPct val="150000"/>
              </a:lnSpc>
              <a:buClr>
                <a:srgbClr val="C00000"/>
              </a:buClr>
            </a:pPr>
            <a:r>
              <a:rPr lang="zh-CN" altLang="en-US" sz="2400" b="1" dirty="0">
                <a:solidFill>
                  <a:srgbClr val="7030A0"/>
                </a:solidFill>
              </a:rPr>
              <a:t>      即多个通道单次转换。</a:t>
            </a:r>
            <a:r>
              <a:rPr lang="en-US" altLang="zh-CN" sz="2400" b="1" dirty="0">
                <a:solidFill>
                  <a:srgbClr val="7030A0"/>
                </a:solidFill>
              </a:rPr>
              <a:t>CONT</a:t>
            </a:r>
            <a:r>
              <a:rPr lang="zh-CN" altLang="en-US" sz="2400" b="1" dirty="0">
                <a:solidFill>
                  <a:srgbClr val="7030A0"/>
                </a:solidFill>
              </a:rPr>
              <a:t>位用于设置是否进行连续转换。</a:t>
            </a:r>
            <a:endParaRPr lang="en-US" altLang="zh-CN" sz="2400" b="1" dirty="0">
              <a:solidFill>
                <a:srgbClr val="7030A0"/>
              </a:solidFill>
            </a:endParaRPr>
          </a:p>
          <a:p>
            <a:pPr>
              <a:lnSpc>
                <a:spcPct val="150000"/>
              </a:lnSpc>
              <a:buClr>
                <a:srgbClr val="C00000"/>
              </a:buClr>
            </a:pPr>
            <a:endParaRPr lang="zh-CN" alt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87829" y="457200"/>
            <a:ext cx="10282334" cy="1015663"/>
          </a:xfrm>
          <a:prstGeom prst="rect">
            <a:avLst/>
          </a:prstGeom>
          <a:noFill/>
        </p:spPr>
        <p:txBody>
          <a:bodyPr wrap="square" rtlCol="0">
            <a:spAutoFit/>
          </a:bodyPr>
          <a:lstStyle/>
          <a:p>
            <a:r>
              <a:rPr lang="zh-CN" altLang="en-US" b="1" dirty="0"/>
              <a:t>单次转换、连续转换与扫描模式的关系</a:t>
            </a:r>
          </a:p>
          <a:p>
            <a:pPr>
              <a:lnSpc>
                <a:spcPct val="150000"/>
              </a:lnSpc>
              <a:buClr>
                <a:srgbClr val="C00000"/>
              </a:buClr>
            </a:pPr>
            <a:r>
              <a:rPr lang="en-US" altLang="zh-CN" sz="2800" dirty="0"/>
              <a:t>    </a:t>
            </a:r>
            <a:endParaRPr lang="zh-CN" altLang="en-US" sz="2400" dirty="0"/>
          </a:p>
        </p:txBody>
      </p:sp>
      <p:pic>
        <p:nvPicPr>
          <p:cNvPr id="136194" name="Picture 2"/>
          <p:cNvPicPr>
            <a:picLocks noChangeAspect="1" noChangeArrowheads="1"/>
          </p:cNvPicPr>
          <p:nvPr/>
        </p:nvPicPr>
        <p:blipFill>
          <a:blip r:embed="rId2"/>
          <a:srcRect/>
          <a:stretch>
            <a:fillRect/>
          </a:stretch>
        </p:blipFill>
        <p:spPr bwMode="auto">
          <a:xfrm>
            <a:off x="559836" y="801796"/>
            <a:ext cx="9386595" cy="5689019"/>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18458" y="345231"/>
            <a:ext cx="10282334" cy="6832640"/>
          </a:xfrm>
          <a:prstGeom prst="rect">
            <a:avLst/>
          </a:prstGeom>
          <a:noFill/>
        </p:spPr>
        <p:txBody>
          <a:bodyPr wrap="square" rtlCol="0">
            <a:spAutoFit/>
          </a:bodyPr>
          <a:lstStyle/>
          <a:p>
            <a:pPr>
              <a:lnSpc>
                <a:spcPct val="150000"/>
              </a:lnSpc>
              <a:buClr>
                <a:srgbClr val="C00000"/>
              </a:buClr>
              <a:buFont typeface="Wingdings" pitchFamily="2" charset="2"/>
              <a:buChar char="u"/>
            </a:pPr>
            <a:r>
              <a:rPr lang="zh-CN" altLang="en-US" sz="2800" b="1" dirty="0">
                <a:solidFill>
                  <a:srgbClr val="C00000"/>
                </a:solidFill>
              </a:rPr>
              <a:t>注入通道管理</a:t>
            </a:r>
            <a:endParaRPr lang="en-US" altLang="zh-CN" sz="2800" b="1" dirty="0">
              <a:solidFill>
                <a:srgbClr val="C00000"/>
              </a:solidFill>
            </a:endParaRPr>
          </a:p>
          <a:p>
            <a:pPr>
              <a:lnSpc>
                <a:spcPct val="150000"/>
              </a:lnSpc>
              <a:buClr>
                <a:srgbClr val="C00000"/>
              </a:buClr>
            </a:pPr>
            <a:r>
              <a:rPr lang="zh-CN" altLang="en-US" sz="2400" b="1" dirty="0">
                <a:solidFill>
                  <a:srgbClr val="7030A0"/>
                </a:solidFill>
              </a:rPr>
              <a:t>触发注入 </a:t>
            </a:r>
            <a:endParaRPr lang="en-US" altLang="zh-CN" sz="2400" b="1" dirty="0">
              <a:solidFill>
                <a:srgbClr val="7030A0"/>
              </a:solidFill>
            </a:endParaRPr>
          </a:p>
          <a:p>
            <a:pPr>
              <a:lnSpc>
                <a:spcPct val="150000"/>
              </a:lnSpc>
              <a:buClr>
                <a:srgbClr val="C00000"/>
              </a:buClr>
            </a:pPr>
            <a:r>
              <a:rPr lang="en-US" altLang="zh-CN" sz="2400" dirty="0"/>
              <a:t>    </a:t>
            </a:r>
            <a:r>
              <a:rPr lang="zh-CN" altLang="en-US" sz="2400" b="1" dirty="0">
                <a:solidFill>
                  <a:srgbClr val="002060"/>
                </a:solidFill>
              </a:rPr>
              <a:t>清除</a:t>
            </a:r>
            <a:r>
              <a:rPr lang="en-US" altLang="zh-CN" sz="2400" b="1" dirty="0">
                <a:solidFill>
                  <a:srgbClr val="002060"/>
                </a:solidFill>
              </a:rPr>
              <a:t>ADC_CR1</a:t>
            </a:r>
            <a:r>
              <a:rPr lang="zh-CN" altLang="en-US" sz="2400" b="1" dirty="0">
                <a:solidFill>
                  <a:srgbClr val="002060"/>
                </a:solidFill>
              </a:rPr>
              <a:t>寄存器的</a:t>
            </a:r>
            <a:r>
              <a:rPr lang="en-US" altLang="zh-CN" sz="2400" b="1" dirty="0">
                <a:solidFill>
                  <a:srgbClr val="002060"/>
                </a:solidFill>
              </a:rPr>
              <a:t>JAUTO</a:t>
            </a:r>
            <a:r>
              <a:rPr lang="zh-CN" altLang="en-US" sz="2400" b="1" dirty="0">
                <a:solidFill>
                  <a:srgbClr val="002060"/>
                </a:solidFill>
              </a:rPr>
              <a:t>位，并且设置</a:t>
            </a:r>
            <a:r>
              <a:rPr lang="en-US" altLang="zh-CN" sz="2400" b="1" dirty="0">
                <a:solidFill>
                  <a:srgbClr val="002060"/>
                </a:solidFill>
              </a:rPr>
              <a:t>SCAN</a:t>
            </a:r>
            <a:r>
              <a:rPr lang="zh-CN" altLang="en-US" sz="2400" b="1" dirty="0">
                <a:solidFill>
                  <a:srgbClr val="002060"/>
                </a:solidFill>
              </a:rPr>
              <a:t>位，即可使用触发注入功能。</a:t>
            </a:r>
            <a:endParaRPr lang="en-US" altLang="zh-CN" sz="2400" b="1" dirty="0">
              <a:solidFill>
                <a:srgbClr val="002060"/>
              </a:solidFill>
            </a:endParaRPr>
          </a:p>
          <a:p>
            <a:pPr>
              <a:lnSpc>
                <a:spcPct val="150000"/>
              </a:lnSpc>
              <a:buClr>
                <a:srgbClr val="C00000"/>
              </a:buClr>
              <a:buFont typeface="Wingdings" pitchFamily="2" charset="2"/>
              <a:buChar char="Ø"/>
            </a:pPr>
            <a:r>
              <a:rPr lang="zh-CN" altLang="en-US" sz="2400" dirty="0"/>
              <a:t> </a:t>
            </a:r>
            <a:r>
              <a:rPr lang="en-US" altLang="zh-CN" sz="2400" dirty="0"/>
              <a:t>1. </a:t>
            </a:r>
            <a:r>
              <a:rPr lang="zh-CN" altLang="en-US" sz="2400" dirty="0"/>
              <a:t>利用外部触发或通过设置</a:t>
            </a:r>
            <a:r>
              <a:rPr lang="en-US" altLang="zh-CN" sz="2400" dirty="0"/>
              <a:t>ADC_CR2</a:t>
            </a:r>
            <a:r>
              <a:rPr lang="zh-CN" altLang="en-US" sz="2400" dirty="0"/>
              <a:t>寄存器的</a:t>
            </a:r>
            <a:r>
              <a:rPr lang="en-US" altLang="zh-CN" sz="2400" dirty="0"/>
              <a:t>ADON</a:t>
            </a:r>
            <a:r>
              <a:rPr lang="zh-CN" altLang="en-US" sz="2400" dirty="0"/>
              <a:t>位，启动一组规则通道的转换。</a:t>
            </a:r>
            <a:endParaRPr lang="en-US" altLang="zh-CN" sz="2400" dirty="0"/>
          </a:p>
          <a:p>
            <a:pPr>
              <a:lnSpc>
                <a:spcPct val="150000"/>
              </a:lnSpc>
              <a:buClr>
                <a:srgbClr val="C00000"/>
              </a:buClr>
              <a:buFont typeface="Wingdings" pitchFamily="2" charset="2"/>
              <a:buChar char="Ø"/>
            </a:pPr>
            <a:r>
              <a:rPr lang="zh-CN" altLang="en-US" sz="2400" dirty="0"/>
              <a:t> </a:t>
            </a:r>
            <a:r>
              <a:rPr lang="en-US" altLang="zh-CN" sz="2400" dirty="0"/>
              <a:t>2. </a:t>
            </a:r>
            <a:r>
              <a:rPr lang="zh-CN" altLang="en-US" sz="2400" dirty="0"/>
              <a:t>如果在规则通道转换期间产生一外部注入触发，当前转换被复位，注入通道序列被以单次扫描方式进行转换。</a:t>
            </a:r>
            <a:endParaRPr lang="en-US" altLang="zh-CN" sz="2400" dirty="0"/>
          </a:p>
          <a:p>
            <a:pPr>
              <a:lnSpc>
                <a:spcPct val="150000"/>
              </a:lnSpc>
              <a:buClr>
                <a:srgbClr val="C00000"/>
              </a:buClr>
              <a:buFont typeface="Wingdings" pitchFamily="2" charset="2"/>
              <a:buChar char="Ø"/>
            </a:pPr>
            <a:r>
              <a:rPr lang="zh-CN" altLang="en-US" sz="2400" dirty="0"/>
              <a:t> </a:t>
            </a:r>
            <a:r>
              <a:rPr lang="en-US" altLang="zh-CN" sz="2400" dirty="0"/>
              <a:t>3. </a:t>
            </a:r>
            <a:r>
              <a:rPr lang="zh-CN" altLang="en-US" sz="2400" dirty="0"/>
              <a:t>然后，恢复上次被中断的规则组通道转换。如果在注入转换期间产生一规则事件，注入转换不会被中断，但是规则序列将在注入序列结束后被执行。</a:t>
            </a:r>
            <a:endParaRPr lang="en-US" altLang="zh-CN" sz="2400" b="1" dirty="0">
              <a:solidFill>
                <a:srgbClr val="C00000"/>
              </a:solidFill>
            </a:endParaRPr>
          </a:p>
          <a:p>
            <a:pPr>
              <a:lnSpc>
                <a:spcPct val="150000"/>
              </a:lnSpc>
              <a:buClr>
                <a:srgbClr val="C00000"/>
              </a:buClr>
            </a:pPr>
            <a:endParaRPr lang="zh-CN" alt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https://img-blog.csdn.net/20180424223040319"/>
          <p:cNvPicPr>
            <a:picLocks noChangeAspect="1" noChangeArrowheads="1"/>
          </p:cNvPicPr>
          <p:nvPr/>
        </p:nvPicPr>
        <p:blipFill>
          <a:blip r:embed="rId2"/>
          <a:srcRect/>
          <a:stretch>
            <a:fillRect/>
          </a:stretch>
        </p:blipFill>
        <p:spPr bwMode="auto">
          <a:xfrm>
            <a:off x="3020073" y="1309882"/>
            <a:ext cx="5619750" cy="2981326"/>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25152" y="681133"/>
            <a:ext cx="10842170" cy="4062651"/>
          </a:xfrm>
          <a:prstGeom prst="rect">
            <a:avLst/>
          </a:prstGeom>
          <a:noFill/>
        </p:spPr>
        <p:txBody>
          <a:bodyPr wrap="square" rtlCol="0">
            <a:spAutoFit/>
          </a:bodyPr>
          <a:lstStyle/>
          <a:p>
            <a:pPr>
              <a:lnSpc>
                <a:spcPct val="150000"/>
              </a:lnSpc>
              <a:buClr>
                <a:srgbClr val="C00000"/>
              </a:buClr>
            </a:pPr>
            <a:r>
              <a:rPr lang="zh-CN" altLang="en-US" sz="3200" b="1" dirty="0">
                <a:solidFill>
                  <a:srgbClr val="7030A0"/>
                </a:solidFill>
              </a:rPr>
              <a:t>自动注入 </a:t>
            </a:r>
            <a:endParaRPr lang="en-US" altLang="zh-CN" sz="3200" b="1" dirty="0">
              <a:solidFill>
                <a:srgbClr val="7030A0"/>
              </a:solidFill>
            </a:endParaRPr>
          </a:p>
          <a:p>
            <a:pPr>
              <a:lnSpc>
                <a:spcPct val="150000"/>
              </a:lnSpc>
              <a:buClr>
                <a:srgbClr val="C00000"/>
              </a:buClr>
            </a:pPr>
            <a:r>
              <a:rPr lang="zh-CN" altLang="en-US" sz="2800" dirty="0"/>
              <a:t>      如果设置了</a:t>
            </a:r>
            <a:r>
              <a:rPr lang="en-US" altLang="zh-CN" sz="2800" dirty="0"/>
              <a:t>JAUTO</a:t>
            </a:r>
            <a:r>
              <a:rPr lang="zh-CN" altLang="en-US" sz="2800" dirty="0"/>
              <a:t>位，</a:t>
            </a:r>
            <a:r>
              <a:rPr lang="zh-CN" altLang="en-US" sz="2800" b="1" dirty="0">
                <a:solidFill>
                  <a:srgbClr val="00B0F0"/>
                </a:solidFill>
              </a:rPr>
              <a:t>在规则组通道之后，注入组通道被自动转换。</a:t>
            </a:r>
            <a:r>
              <a:rPr lang="zh-CN" altLang="en-US" sz="2800" dirty="0"/>
              <a:t>这可以用来转换在 </a:t>
            </a:r>
            <a:r>
              <a:rPr lang="en-US" altLang="zh-CN" sz="2800" dirty="0" err="1"/>
              <a:t>ADC_SQRx</a:t>
            </a:r>
            <a:r>
              <a:rPr lang="zh-CN" altLang="en-US" sz="2800" dirty="0"/>
              <a:t>和</a:t>
            </a:r>
            <a:r>
              <a:rPr lang="en-US" altLang="zh-CN" sz="2800" dirty="0"/>
              <a:t>ADC_JSQR</a:t>
            </a:r>
            <a:r>
              <a:rPr lang="zh-CN" altLang="en-US" sz="2800" dirty="0"/>
              <a:t>寄存器中设置的多至</a:t>
            </a:r>
            <a:r>
              <a:rPr lang="en-US" altLang="zh-CN" sz="2800" dirty="0"/>
              <a:t>20</a:t>
            </a:r>
            <a:r>
              <a:rPr lang="zh-CN" altLang="en-US" sz="2800" dirty="0"/>
              <a:t>个转换序列。 </a:t>
            </a:r>
            <a:endParaRPr lang="en-US" altLang="zh-CN" sz="2800" dirty="0"/>
          </a:p>
          <a:p>
            <a:pPr>
              <a:lnSpc>
                <a:spcPct val="150000"/>
              </a:lnSpc>
              <a:buClr>
                <a:srgbClr val="C00000"/>
              </a:buClr>
            </a:pPr>
            <a:r>
              <a:rPr lang="en-US" altLang="zh-CN" sz="2800" dirty="0"/>
              <a:t>      </a:t>
            </a:r>
            <a:r>
              <a:rPr lang="zh-CN" altLang="en-US" sz="2800" dirty="0"/>
              <a:t>在此模式里，必须禁止注入通道的外部触发。 如果除</a:t>
            </a:r>
            <a:r>
              <a:rPr lang="en-US" altLang="zh-CN" sz="2800" dirty="0"/>
              <a:t>JAUTO</a:t>
            </a:r>
            <a:r>
              <a:rPr lang="zh-CN" altLang="en-US" sz="2800" dirty="0"/>
              <a:t>位外还设置了</a:t>
            </a:r>
            <a:r>
              <a:rPr lang="en-US" altLang="zh-CN" sz="2800" dirty="0"/>
              <a:t>CONT</a:t>
            </a:r>
            <a:r>
              <a:rPr lang="zh-CN" altLang="en-US" sz="2800" dirty="0"/>
              <a:t>位，规则通道至注入通道的转换序列被连续执行。</a:t>
            </a:r>
            <a:endParaRPr lang="zh-CN" altLang="en-US" sz="2400" dirty="0"/>
          </a:p>
        </p:txBody>
      </p:sp>
      <p:sp>
        <p:nvSpPr>
          <p:cNvPr id="3" name="矩形 2"/>
          <p:cNvSpPr/>
          <p:nvPr/>
        </p:nvSpPr>
        <p:spPr>
          <a:xfrm>
            <a:off x="700110" y="5054472"/>
            <a:ext cx="8122736" cy="584775"/>
          </a:xfrm>
          <a:prstGeom prst="rect">
            <a:avLst/>
          </a:prstGeom>
        </p:spPr>
        <p:txBody>
          <a:bodyPr wrap="none">
            <a:spAutoFit/>
          </a:bodyPr>
          <a:lstStyle/>
          <a:p>
            <a:r>
              <a:rPr lang="zh-CN" altLang="en-US" sz="3200" b="1" dirty="0">
                <a:solidFill>
                  <a:srgbClr val="002060"/>
                </a:solidFill>
              </a:rPr>
              <a:t>注意： 不可能同时使用自动注入和间断模式</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218" name="Picture 2" descr="https://img-blog.csdnimg.cn/20200925144817488.png?x-oss-process=image/watermark,type_ZmFuZ3poZW5naGVpdGk,shadow_10,text_aHR0cHM6Ly9ibG9nLmNzZG4ubmV0L3FxXzI4NTE0OTkx,size_16,color_FFFFFF,t_70"/>
          <p:cNvPicPr>
            <a:picLocks noChangeAspect="1" noChangeArrowheads="1"/>
          </p:cNvPicPr>
          <p:nvPr/>
        </p:nvPicPr>
        <p:blipFill>
          <a:blip r:embed="rId2"/>
          <a:srcRect/>
          <a:stretch>
            <a:fillRect/>
          </a:stretch>
        </p:blipFill>
        <p:spPr bwMode="auto">
          <a:xfrm>
            <a:off x="29732" y="634482"/>
            <a:ext cx="12162268" cy="5587805"/>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1" name="Picture 1"/>
          <p:cNvPicPr>
            <a:picLocks noChangeAspect="1" noChangeArrowheads="1"/>
          </p:cNvPicPr>
          <p:nvPr/>
        </p:nvPicPr>
        <p:blipFill>
          <a:blip r:embed="rId2"/>
          <a:srcRect/>
          <a:stretch>
            <a:fillRect/>
          </a:stretch>
        </p:blipFill>
        <p:spPr bwMode="auto">
          <a:xfrm>
            <a:off x="1245119" y="1111704"/>
            <a:ext cx="9347200" cy="3981450"/>
          </a:xfrm>
          <a:prstGeom prst="rect">
            <a:avLst/>
          </a:prstGeom>
          <a:noFill/>
          <a:ln w="9525">
            <a:noFill/>
            <a:miter lim="800000"/>
            <a:headEnd/>
            <a:tailEnd/>
          </a:ln>
          <a:effectLst/>
        </p:spPr>
      </p:pic>
      <p:pic>
        <p:nvPicPr>
          <p:cNvPr id="97282" name="Picture 2"/>
          <p:cNvPicPr>
            <a:picLocks noChangeAspect="1" noChangeArrowheads="1"/>
          </p:cNvPicPr>
          <p:nvPr/>
        </p:nvPicPr>
        <p:blipFill>
          <a:blip r:embed="rId3"/>
          <a:srcRect/>
          <a:stretch>
            <a:fillRect/>
          </a:stretch>
        </p:blipFill>
        <p:spPr bwMode="auto">
          <a:xfrm>
            <a:off x="2184919" y="5086804"/>
            <a:ext cx="8382000" cy="603250"/>
          </a:xfrm>
          <a:prstGeom prst="rect">
            <a:avLst/>
          </a:prstGeom>
          <a:noFill/>
          <a:ln w="9525">
            <a:noFill/>
            <a:miter lim="800000"/>
            <a:headEnd/>
            <a:tailEnd/>
          </a:ln>
          <a:effectLst/>
        </p:spPr>
      </p:pic>
      <p:sp>
        <p:nvSpPr>
          <p:cNvPr id="5" name="矩形 4"/>
          <p:cNvSpPr/>
          <p:nvPr/>
        </p:nvSpPr>
        <p:spPr>
          <a:xfrm>
            <a:off x="767347" y="631763"/>
            <a:ext cx="4107215" cy="369332"/>
          </a:xfrm>
          <a:prstGeom prst="rect">
            <a:avLst/>
          </a:prstGeom>
        </p:spPr>
        <p:txBody>
          <a:bodyPr wrap="none">
            <a:spAutoFit/>
          </a:bodyPr>
          <a:lstStyle/>
          <a:p>
            <a:r>
              <a:rPr lang="en-US" dirty="0"/>
              <a:t>ADC</a:t>
            </a:r>
            <a:r>
              <a:rPr lang="zh-CN" altLang="en-US" dirty="0"/>
              <a:t>规则序列寄存器 </a:t>
            </a:r>
            <a:r>
              <a:rPr lang="en-US" altLang="zh-CN" dirty="0"/>
              <a:t>1(</a:t>
            </a:r>
            <a:r>
              <a:rPr lang="en-US" dirty="0"/>
              <a:t>ADC_SQR1) </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33" name="Picture 1"/>
          <p:cNvPicPr>
            <a:picLocks noChangeAspect="1" noChangeArrowheads="1"/>
          </p:cNvPicPr>
          <p:nvPr/>
        </p:nvPicPr>
        <p:blipFill>
          <a:blip r:embed="rId2"/>
          <a:srcRect/>
          <a:stretch>
            <a:fillRect/>
          </a:stretch>
        </p:blipFill>
        <p:spPr bwMode="auto">
          <a:xfrm>
            <a:off x="1686800" y="956682"/>
            <a:ext cx="8240971" cy="4483430"/>
          </a:xfrm>
          <a:prstGeom prst="rect">
            <a:avLst/>
          </a:prstGeom>
          <a:noFill/>
          <a:ln w="9525">
            <a:noFill/>
            <a:miter lim="800000"/>
            <a:headEnd/>
            <a:tailEnd/>
          </a:ln>
          <a:effectLst/>
        </p:spPr>
      </p:pic>
      <p:sp>
        <p:nvSpPr>
          <p:cNvPr id="8" name="TextBox 7"/>
          <p:cNvSpPr txBox="1"/>
          <p:nvPr/>
        </p:nvSpPr>
        <p:spPr>
          <a:xfrm>
            <a:off x="941227" y="5468540"/>
            <a:ext cx="9005207" cy="461665"/>
          </a:xfrm>
          <a:prstGeom prst="rect">
            <a:avLst/>
          </a:prstGeom>
          <a:noFill/>
        </p:spPr>
        <p:txBody>
          <a:bodyPr wrap="square" rtlCol="0">
            <a:spAutoFit/>
          </a:bodyPr>
          <a:lstStyle/>
          <a:p>
            <a:r>
              <a:rPr lang="zh-CN" altLang="en-US" sz="2400" b="1" dirty="0">
                <a:solidFill>
                  <a:schemeClr val="accent6"/>
                </a:solidFill>
              </a:rPr>
              <a:t>注：如果转换序列中超过</a:t>
            </a:r>
            <a:r>
              <a:rPr lang="en-US" altLang="zh-CN" sz="2400" b="1" dirty="0">
                <a:solidFill>
                  <a:schemeClr val="accent6"/>
                </a:solidFill>
              </a:rPr>
              <a:t>1</a:t>
            </a:r>
            <a:r>
              <a:rPr lang="zh-CN" altLang="en-US" sz="2400" b="1" dirty="0">
                <a:solidFill>
                  <a:schemeClr val="accent6"/>
                </a:solidFill>
              </a:rPr>
              <a:t>个通道需要转换，必须开启扫描模式</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1427480" y="1276350"/>
            <a:ext cx="9674225" cy="9525"/>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09451" y="519878"/>
            <a:ext cx="10058400" cy="1450757"/>
          </a:xfrm>
          <a:prstGeom prst="rect">
            <a:avLst/>
          </a:prstGeom>
        </p:spPr>
        <p:txBody>
          <a:bodyPr/>
          <a:lstStyle/>
          <a:p>
            <a:pPr marR="0" lvl="0" indent="0" fontAlgn="auto">
              <a:lnSpc>
                <a:spcPct val="90000"/>
              </a:lnSpc>
              <a:spcBef>
                <a:spcPct val="0"/>
              </a:spcBef>
              <a:spcAft>
                <a:spcPts val="0"/>
              </a:spcAft>
              <a:buClrTx/>
              <a:buSzTx/>
              <a:buFontTx/>
              <a:buNone/>
              <a:tabLst/>
              <a:defRPr/>
            </a:pPr>
            <a:r>
              <a:rPr lang="en-US" sz="4400" b="1" dirty="0">
                <a:solidFill>
                  <a:srgbClr val="14529E"/>
                </a:solidFill>
              </a:rPr>
              <a:t>9.3 </a:t>
            </a:r>
            <a:r>
              <a:rPr lang="zh-CN" altLang="en-US" sz="4400" b="1" dirty="0">
                <a:solidFill>
                  <a:srgbClr val="14529E"/>
                </a:solidFill>
              </a:rPr>
              <a:t>数据对齐</a:t>
            </a:r>
            <a:endParaRPr lang="zh-CN" altLang="en-US" sz="4400" b="1" dirty="0">
              <a:solidFill>
                <a:srgbClr val="14529E"/>
              </a:solidFill>
              <a:latin typeface="+mj-lt"/>
              <a:ea typeface="+mj-ea"/>
              <a:cs typeface="+mj-cs"/>
            </a:endParaRPr>
          </a:p>
        </p:txBody>
      </p:sp>
      <p:sp>
        <p:nvSpPr>
          <p:cNvPr id="6" name="矩形 5"/>
          <p:cNvSpPr/>
          <p:nvPr/>
        </p:nvSpPr>
        <p:spPr>
          <a:xfrm>
            <a:off x="559837" y="1348800"/>
            <a:ext cx="11122089" cy="2344744"/>
          </a:xfrm>
          <a:prstGeom prst="rect">
            <a:avLst/>
          </a:prstGeom>
        </p:spPr>
        <p:txBody>
          <a:bodyPr wrap="square">
            <a:spAutoFit/>
          </a:bodyPr>
          <a:lstStyle/>
          <a:p>
            <a:pPr>
              <a:lnSpc>
                <a:spcPct val="150000"/>
              </a:lnSpc>
            </a:pPr>
            <a:r>
              <a:rPr lang="en-US" altLang="zh-CN" sz="2000" dirty="0"/>
              <a:t>      ADC</a:t>
            </a:r>
            <a:r>
              <a:rPr lang="zh-CN" altLang="en-US" sz="2000" dirty="0"/>
              <a:t>转换后的数据根据转换组的不同，规则组的数据放在</a:t>
            </a:r>
            <a:r>
              <a:rPr lang="en-US" altLang="zh-CN" sz="2000" dirty="0"/>
              <a:t>ADC_DR</a:t>
            </a:r>
            <a:r>
              <a:rPr lang="zh-CN" altLang="en-US" sz="2000" dirty="0"/>
              <a:t>寄存器内，注入组的数据放在 </a:t>
            </a:r>
            <a:r>
              <a:rPr lang="en-US" altLang="zh-CN" sz="2000" dirty="0" err="1"/>
              <a:t>JDRx</a:t>
            </a:r>
            <a:r>
              <a:rPr lang="zh-CN" altLang="en-US" sz="2000" dirty="0"/>
              <a:t>内。 因为</a:t>
            </a:r>
            <a:r>
              <a:rPr lang="en-US" altLang="zh-CN" sz="2000" dirty="0"/>
              <a:t>STM32F1</a:t>
            </a:r>
            <a:r>
              <a:rPr lang="zh-CN" altLang="en-US" sz="2000" dirty="0"/>
              <a:t>的</a:t>
            </a:r>
            <a:r>
              <a:rPr lang="en-US" altLang="zh-CN" sz="2000" dirty="0"/>
              <a:t>ADC</a:t>
            </a:r>
            <a:r>
              <a:rPr lang="zh-CN" altLang="en-US" sz="2000" dirty="0"/>
              <a:t>是</a:t>
            </a:r>
            <a:r>
              <a:rPr lang="en-US" altLang="zh-CN" sz="2000" dirty="0"/>
              <a:t>12</a:t>
            </a:r>
            <a:r>
              <a:rPr lang="zh-CN" altLang="en-US" sz="2000" dirty="0"/>
              <a:t>位转换精度，而数据寄存器是</a:t>
            </a:r>
            <a:r>
              <a:rPr lang="en-US" altLang="zh-CN" sz="2000" dirty="0"/>
              <a:t>16</a:t>
            </a:r>
            <a:r>
              <a:rPr lang="zh-CN" altLang="en-US" sz="2000" dirty="0"/>
              <a:t>位，所以</a:t>
            </a:r>
            <a:r>
              <a:rPr lang="en-US" altLang="zh-CN" sz="2000" dirty="0"/>
              <a:t>ADC </a:t>
            </a:r>
            <a:r>
              <a:rPr lang="zh-CN" altLang="en-US" sz="2000" dirty="0"/>
              <a:t>在存放数据的时候就有左对齐和右对齐区分。如果是左对齐，</a:t>
            </a:r>
            <a:r>
              <a:rPr lang="en-US" altLang="zh-CN" sz="2000" dirty="0"/>
              <a:t>AD</a:t>
            </a:r>
            <a:r>
              <a:rPr lang="zh-CN" altLang="en-US" sz="2000" dirty="0"/>
              <a:t>转换完 成数据存放在 </a:t>
            </a:r>
            <a:r>
              <a:rPr lang="en-US" altLang="zh-CN" sz="2000" dirty="0"/>
              <a:t>ADC_DR </a:t>
            </a:r>
            <a:r>
              <a:rPr lang="zh-CN" altLang="en-US" sz="2000" dirty="0"/>
              <a:t>寄存器的</a:t>
            </a:r>
            <a:r>
              <a:rPr lang="en-US" altLang="zh-CN" sz="2000" dirty="0"/>
              <a:t>[4:15]</a:t>
            </a:r>
            <a:r>
              <a:rPr lang="zh-CN" altLang="en-US" sz="2000" dirty="0"/>
              <a:t>位内；如果是右对齐，则存放在 </a:t>
            </a:r>
            <a:r>
              <a:rPr lang="en-US" altLang="zh-CN" sz="2000" dirty="0"/>
              <a:t>ADC_DR </a:t>
            </a:r>
            <a:r>
              <a:rPr lang="zh-CN" altLang="en-US" sz="2000" dirty="0"/>
              <a:t>寄存器的</a:t>
            </a:r>
            <a:r>
              <a:rPr lang="en-US" altLang="zh-CN" sz="2000" dirty="0"/>
              <a:t>[0:11]</a:t>
            </a:r>
            <a:r>
              <a:rPr lang="zh-CN" altLang="en-US" sz="2000" dirty="0"/>
              <a:t>位内。具体选择何种存放方式，需通过</a:t>
            </a:r>
            <a:r>
              <a:rPr lang="en-US" altLang="zh-CN" sz="2000" dirty="0"/>
              <a:t>ADC_CR2 </a:t>
            </a:r>
            <a:r>
              <a:rPr lang="zh-CN" altLang="en-US" sz="2000" dirty="0"/>
              <a:t>的 </a:t>
            </a:r>
            <a:r>
              <a:rPr lang="en-US" altLang="zh-CN" sz="2000" dirty="0"/>
              <a:t>11 </a:t>
            </a:r>
            <a:r>
              <a:rPr lang="zh-CN" altLang="en-US" sz="2000" dirty="0"/>
              <a:t>位 </a:t>
            </a:r>
            <a:r>
              <a:rPr lang="en-US" altLang="zh-CN" sz="2000" dirty="0"/>
              <a:t>ALIGN </a:t>
            </a:r>
            <a:r>
              <a:rPr lang="zh-CN" altLang="en-US" sz="2000" dirty="0"/>
              <a:t>设置。</a:t>
            </a:r>
          </a:p>
        </p:txBody>
      </p:sp>
      <p:pic>
        <p:nvPicPr>
          <p:cNvPr id="94209" name="Picture 1"/>
          <p:cNvPicPr>
            <a:picLocks noChangeAspect="1" noChangeArrowheads="1"/>
          </p:cNvPicPr>
          <p:nvPr/>
        </p:nvPicPr>
        <p:blipFill>
          <a:blip r:embed="rId3"/>
          <a:srcRect/>
          <a:stretch>
            <a:fillRect/>
          </a:stretch>
        </p:blipFill>
        <p:spPr bwMode="auto">
          <a:xfrm>
            <a:off x="2342761" y="3645726"/>
            <a:ext cx="6539982" cy="2872289"/>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1427480" y="1276350"/>
            <a:ext cx="9674225" cy="9525"/>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09451" y="519878"/>
            <a:ext cx="10058400" cy="1450757"/>
          </a:xfrm>
          <a:prstGeom prst="rect">
            <a:avLst/>
          </a:prstGeom>
        </p:spPr>
        <p:txBody>
          <a:bodyPr/>
          <a:lstStyle/>
          <a:p>
            <a:pPr marR="0" lvl="0" indent="0" fontAlgn="auto">
              <a:lnSpc>
                <a:spcPct val="90000"/>
              </a:lnSpc>
              <a:spcBef>
                <a:spcPct val="0"/>
              </a:spcBef>
              <a:spcAft>
                <a:spcPts val="0"/>
              </a:spcAft>
              <a:buClrTx/>
              <a:buSzTx/>
              <a:buFontTx/>
              <a:buNone/>
              <a:tabLst/>
              <a:defRPr/>
            </a:pPr>
            <a:r>
              <a:rPr lang="en-US" sz="4400" b="1" dirty="0">
                <a:solidFill>
                  <a:srgbClr val="14529E"/>
                </a:solidFill>
              </a:rPr>
              <a:t>9.3 ADC</a:t>
            </a:r>
            <a:r>
              <a:rPr lang="zh-CN" altLang="en-US" sz="4400" b="1" dirty="0">
                <a:solidFill>
                  <a:srgbClr val="14529E"/>
                </a:solidFill>
              </a:rPr>
              <a:t>中断</a:t>
            </a:r>
          </a:p>
        </p:txBody>
      </p:sp>
      <p:sp>
        <p:nvSpPr>
          <p:cNvPr id="6" name="矩形 5"/>
          <p:cNvSpPr/>
          <p:nvPr/>
        </p:nvSpPr>
        <p:spPr>
          <a:xfrm>
            <a:off x="559837" y="1348800"/>
            <a:ext cx="11122089" cy="1415067"/>
          </a:xfrm>
          <a:prstGeom prst="rect">
            <a:avLst/>
          </a:prstGeom>
        </p:spPr>
        <p:txBody>
          <a:bodyPr wrap="square">
            <a:spAutoFit/>
          </a:bodyPr>
          <a:lstStyle/>
          <a:p>
            <a:pPr>
              <a:lnSpc>
                <a:spcPct val="150000"/>
              </a:lnSpc>
            </a:pPr>
            <a:r>
              <a:rPr lang="zh-CN" altLang="en-US" sz="2000" dirty="0"/>
              <a:t>      规则和注入组转换结束时能产生中断，当模拟看门狗状态位被设置时也能产生中断。它们都有 独立的中断使能位。</a:t>
            </a:r>
            <a:endParaRPr lang="en-US" altLang="zh-CN" sz="2000" dirty="0"/>
          </a:p>
          <a:p>
            <a:pPr>
              <a:lnSpc>
                <a:spcPct val="150000"/>
              </a:lnSpc>
            </a:pPr>
            <a:r>
              <a:rPr lang="zh-CN" altLang="en-US" sz="2000" b="1" dirty="0">
                <a:solidFill>
                  <a:srgbClr val="0070C0"/>
                </a:solidFill>
              </a:rPr>
              <a:t>注： </a:t>
            </a:r>
            <a:r>
              <a:rPr lang="en-US" altLang="zh-CN" sz="2000" dirty="0"/>
              <a:t>ADC1</a:t>
            </a:r>
            <a:r>
              <a:rPr lang="zh-CN" altLang="en-US" sz="2000" dirty="0"/>
              <a:t>和</a:t>
            </a:r>
            <a:r>
              <a:rPr lang="en-US" altLang="zh-CN" sz="2000" dirty="0"/>
              <a:t>ADC2</a:t>
            </a:r>
            <a:r>
              <a:rPr lang="zh-CN" altLang="en-US" sz="2000" dirty="0"/>
              <a:t>的中断映射在同一个中断向量上，而</a:t>
            </a:r>
            <a:r>
              <a:rPr lang="en-US" altLang="zh-CN" sz="2000" dirty="0"/>
              <a:t>ADC3</a:t>
            </a:r>
            <a:r>
              <a:rPr lang="zh-CN" altLang="en-US" sz="2000" dirty="0"/>
              <a:t>的中断有自己的中断向量</a:t>
            </a:r>
          </a:p>
        </p:txBody>
      </p:sp>
      <p:pic>
        <p:nvPicPr>
          <p:cNvPr id="149506" name="Picture 2"/>
          <p:cNvPicPr>
            <a:picLocks noChangeAspect="1" noChangeArrowheads="1"/>
          </p:cNvPicPr>
          <p:nvPr/>
        </p:nvPicPr>
        <p:blipFill>
          <a:blip r:embed="rId3"/>
          <a:srcRect/>
          <a:stretch>
            <a:fillRect/>
          </a:stretch>
        </p:blipFill>
        <p:spPr bwMode="auto">
          <a:xfrm>
            <a:off x="1022480" y="3082699"/>
            <a:ext cx="8915400" cy="2390775"/>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1427480" y="1276350"/>
            <a:ext cx="9674225" cy="9525"/>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09451" y="519878"/>
            <a:ext cx="10058400" cy="1450757"/>
          </a:xfrm>
          <a:prstGeom prst="rect">
            <a:avLst/>
          </a:prstGeom>
        </p:spPr>
        <p:txBody>
          <a:bodyPr/>
          <a:lstStyle/>
          <a:p>
            <a:pPr marR="0" lvl="0" indent="0" fontAlgn="auto">
              <a:lnSpc>
                <a:spcPct val="90000"/>
              </a:lnSpc>
              <a:spcBef>
                <a:spcPct val="0"/>
              </a:spcBef>
              <a:spcAft>
                <a:spcPts val="0"/>
              </a:spcAft>
              <a:buClrTx/>
              <a:buSzTx/>
              <a:buFontTx/>
              <a:buNone/>
              <a:tabLst/>
              <a:defRPr/>
            </a:pPr>
            <a:r>
              <a:rPr lang="en-US" sz="4400" b="1" dirty="0">
                <a:solidFill>
                  <a:srgbClr val="14529E"/>
                </a:solidFill>
              </a:rPr>
              <a:t>9.4 ADC</a:t>
            </a:r>
            <a:r>
              <a:rPr lang="zh-CN" altLang="en-US" sz="4400" b="1" dirty="0">
                <a:solidFill>
                  <a:srgbClr val="14529E"/>
                </a:solidFill>
              </a:rPr>
              <a:t>库函数</a:t>
            </a:r>
          </a:p>
        </p:txBody>
      </p:sp>
      <p:sp>
        <p:nvSpPr>
          <p:cNvPr id="8" name="矩形 7"/>
          <p:cNvSpPr/>
          <p:nvPr/>
        </p:nvSpPr>
        <p:spPr>
          <a:xfrm>
            <a:off x="864635" y="1460156"/>
            <a:ext cx="10397413" cy="4247317"/>
          </a:xfrm>
          <a:prstGeom prst="rect">
            <a:avLst/>
          </a:prstGeom>
        </p:spPr>
        <p:txBody>
          <a:bodyPr wrap="square">
            <a:spAutoFit/>
          </a:bodyPr>
          <a:lstStyle/>
          <a:p>
            <a:pPr>
              <a:lnSpc>
                <a:spcPct val="150000"/>
              </a:lnSpc>
            </a:pPr>
            <a:r>
              <a:rPr lang="en-US" altLang="en-US" sz="2000" dirty="0"/>
              <a:t>typedef  </a:t>
            </a:r>
            <a:r>
              <a:rPr lang="en-US" altLang="en-US" sz="2000" dirty="0" err="1"/>
              <a:t>struct</a:t>
            </a:r>
            <a:r>
              <a:rPr lang="en-US" altLang="en-US" sz="2000" dirty="0"/>
              <a:t> </a:t>
            </a:r>
          </a:p>
          <a:p>
            <a:pPr>
              <a:lnSpc>
                <a:spcPct val="150000"/>
              </a:lnSpc>
            </a:pPr>
            <a:r>
              <a:rPr lang="en-US" altLang="en-US" sz="2000" dirty="0"/>
              <a:t>{</a:t>
            </a:r>
          </a:p>
          <a:p>
            <a:pPr>
              <a:lnSpc>
                <a:spcPct val="150000"/>
              </a:lnSpc>
            </a:pPr>
            <a:r>
              <a:rPr lang="en-US" altLang="en-US" sz="2000" dirty="0"/>
              <a:t> uint32_t </a:t>
            </a:r>
            <a:r>
              <a:rPr lang="en-US" altLang="en-US" sz="2000" dirty="0" err="1"/>
              <a:t>ADC_Mode</a:t>
            </a:r>
            <a:r>
              <a:rPr lang="en-US" altLang="en-US" sz="2000" dirty="0"/>
              <a:t>; //</a:t>
            </a:r>
            <a:r>
              <a:rPr lang="zh-CN" altLang="en-US" sz="2000" dirty="0">
                <a:solidFill>
                  <a:srgbClr val="FF0000"/>
                </a:solidFill>
              </a:rPr>
              <a:t>设置 </a:t>
            </a:r>
            <a:r>
              <a:rPr lang="en-US" altLang="zh-CN" sz="2000" dirty="0">
                <a:solidFill>
                  <a:srgbClr val="FF0000"/>
                </a:solidFill>
              </a:rPr>
              <a:t>ADC </a:t>
            </a:r>
            <a:r>
              <a:rPr lang="zh-CN" altLang="en-US" sz="2000" dirty="0">
                <a:solidFill>
                  <a:srgbClr val="FF0000"/>
                </a:solidFill>
              </a:rPr>
              <a:t>的工作模式</a:t>
            </a:r>
            <a:endParaRPr lang="en-US" altLang="en-US" sz="2000" dirty="0">
              <a:solidFill>
                <a:srgbClr val="FF0000"/>
              </a:solidFill>
            </a:endParaRPr>
          </a:p>
          <a:p>
            <a:pPr>
              <a:lnSpc>
                <a:spcPct val="150000"/>
              </a:lnSpc>
            </a:pPr>
            <a:r>
              <a:rPr lang="en-US" altLang="en-US" sz="2000" dirty="0" err="1"/>
              <a:t>FunctionalState</a:t>
            </a:r>
            <a:r>
              <a:rPr lang="en-US" altLang="en-US" sz="2000" dirty="0"/>
              <a:t> </a:t>
            </a:r>
            <a:r>
              <a:rPr lang="en-US" altLang="en-US" sz="2000" dirty="0" err="1"/>
              <a:t>ADC_ScanConvMode</a:t>
            </a:r>
            <a:r>
              <a:rPr lang="en-US" altLang="en-US" sz="2000" dirty="0"/>
              <a:t>; //</a:t>
            </a:r>
            <a:r>
              <a:rPr lang="zh-CN" altLang="en-US" sz="2000" dirty="0">
                <a:solidFill>
                  <a:srgbClr val="FF0000"/>
                </a:solidFill>
              </a:rPr>
              <a:t>设置是否开启扫描模式</a:t>
            </a:r>
            <a:endParaRPr lang="en-US" altLang="en-US" sz="2000" dirty="0">
              <a:solidFill>
                <a:srgbClr val="FF0000"/>
              </a:solidFill>
            </a:endParaRPr>
          </a:p>
          <a:p>
            <a:pPr>
              <a:lnSpc>
                <a:spcPct val="150000"/>
              </a:lnSpc>
            </a:pPr>
            <a:r>
              <a:rPr lang="en-US" altLang="en-US" sz="2000" dirty="0" err="1"/>
              <a:t>FunctionalState</a:t>
            </a:r>
            <a:r>
              <a:rPr lang="en-US" altLang="en-US" sz="2000" dirty="0"/>
              <a:t> </a:t>
            </a:r>
            <a:r>
              <a:rPr lang="en-US" altLang="en-US" sz="2000" dirty="0" err="1"/>
              <a:t>ADC_ContinuousConvMode</a:t>
            </a:r>
            <a:r>
              <a:rPr lang="en-US" altLang="en-US" sz="2000" dirty="0"/>
              <a:t>; //</a:t>
            </a:r>
            <a:r>
              <a:rPr lang="zh-CN" altLang="en-US" sz="2000" dirty="0">
                <a:solidFill>
                  <a:srgbClr val="FF0000"/>
                </a:solidFill>
              </a:rPr>
              <a:t>设置是否开启连续转换模式</a:t>
            </a:r>
            <a:endParaRPr lang="en-US" altLang="en-US" sz="2000" dirty="0">
              <a:solidFill>
                <a:srgbClr val="FF0000"/>
              </a:solidFill>
            </a:endParaRPr>
          </a:p>
          <a:p>
            <a:pPr>
              <a:lnSpc>
                <a:spcPct val="150000"/>
              </a:lnSpc>
            </a:pPr>
            <a:r>
              <a:rPr lang="en-US" altLang="en-US" sz="2000" dirty="0"/>
              <a:t>uint32_t </a:t>
            </a:r>
            <a:r>
              <a:rPr lang="en-US" altLang="en-US" sz="2000" dirty="0" err="1"/>
              <a:t>ADC_ExternalTrigConv</a:t>
            </a:r>
            <a:r>
              <a:rPr lang="en-US" altLang="en-US" sz="2000" dirty="0"/>
              <a:t>; //</a:t>
            </a:r>
            <a:r>
              <a:rPr lang="zh-CN" altLang="en-US" sz="2000" dirty="0">
                <a:solidFill>
                  <a:srgbClr val="FF0000"/>
                </a:solidFill>
              </a:rPr>
              <a:t>设置启动规则转换组转换的外部事件</a:t>
            </a:r>
            <a:endParaRPr lang="en-US" altLang="en-US" sz="2000" dirty="0">
              <a:solidFill>
                <a:srgbClr val="FF0000"/>
              </a:solidFill>
            </a:endParaRPr>
          </a:p>
          <a:p>
            <a:pPr>
              <a:lnSpc>
                <a:spcPct val="150000"/>
              </a:lnSpc>
            </a:pPr>
            <a:r>
              <a:rPr lang="en-US" altLang="en-US" sz="2000" dirty="0"/>
              <a:t>uint32_t </a:t>
            </a:r>
            <a:r>
              <a:rPr lang="en-US" altLang="en-US" sz="2000" dirty="0" err="1"/>
              <a:t>ADC_DataAlign</a:t>
            </a:r>
            <a:r>
              <a:rPr lang="en-US" altLang="en-US" sz="2000" dirty="0"/>
              <a:t>; //</a:t>
            </a:r>
            <a:r>
              <a:rPr lang="zh-CN" altLang="en-US" sz="2000" dirty="0">
                <a:solidFill>
                  <a:srgbClr val="FF0000"/>
                </a:solidFill>
              </a:rPr>
              <a:t>设置 </a:t>
            </a:r>
            <a:r>
              <a:rPr lang="en-US" altLang="zh-CN" sz="2000" dirty="0">
                <a:solidFill>
                  <a:srgbClr val="FF0000"/>
                </a:solidFill>
              </a:rPr>
              <a:t>ADC </a:t>
            </a:r>
            <a:r>
              <a:rPr lang="zh-CN" altLang="en-US" sz="2000" dirty="0">
                <a:solidFill>
                  <a:srgbClr val="FF0000"/>
                </a:solidFill>
              </a:rPr>
              <a:t>数据对齐方式</a:t>
            </a:r>
            <a:endParaRPr lang="en-US" altLang="en-US" sz="2000" dirty="0">
              <a:solidFill>
                <a:srgbClr val="FF0000"/>
              </a:solidFill>
            </a:endParaRPr>
          </a:p>
          <a:p>
            <a:pPr>
              <a:lnSpc>
                <a:spcPct val="150000"/>
              </a:lnSpc>
            </a:pPr>
            <a:r>
              <a:rPr lang="en-US" altLang="en-US" sz="2000" dirty="0"/>
              <a:t>uint8_t </a:t>
            </a:r>
            <a:r>
              <a:rPr lang="en-US" altLang="en-US" sz="2000" dirty="0" err="1"/>
              <a:t>ADC_NbrOfChannel</a:t>
            </a:r>
            <a:r>
              <a:rPr lang="en-US" altLang="en-US" sz="2000" dirty="0"/>
              <a:t>; //</a:t>
            </a:r>
            <a:r>
              <a:rPr lang="zh-CN" altLang="en-US" sz="2000" dirty="0">
                <a:solidFill>
                  <a:srgbClr val="FF0000"/>
                </a:solidFill>
              </a:rPr>
              <a:t>用来设置规则序列的长度</a:t>
            </a:r>
            <a:endParaRPr lang="en-US" altLang="en-US" sz="2000" dirty="0">
              <a:solidFill>
                <a:srgbClr val="FF0000"/>
              </a:solidFill>
            </a:endParaRPr>
          </a:p>
          <a:p>
            <a:pPr>
              <a:lnSpc>
                <a:spcPct val="150000"/>
              </a:lnSpc>
            </a:pPr>
            <a:r>
              <a:rPr lang="en-US" altLang="en-US" sz="2000" dirty="0"/>
              <a:t>}</a:t>
            </a:r>
            <a:r>
              <a:rPr lang="en-US" altLang="en-US" sz="2000" dirty="0" err="1"/>
              <a:t>ADC_InitTypeDef</a:t>
            </a:r>
            <a:r>
              <a:rPr lang="en-US" altLang="en-US" sz="2000" dirty="0"/>
              <a:t>;</a:t>
            </a:r>
            <a:endParaRPr lang="zh-CN" alt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70881" y="547787"/>
            <a:ext cx="11461151" cy="5262979"/>
          </a:xfrm>
          <a:prstGeom prst="rect">
            <a:avLst/>
          </a:prstGeom>
        </p:spPr>
        <p:txBody>
          <a:bodyPr wrap="none">
            <a:spAutoFit/>
          </a:bodyPr>
          <a:lstStyle/>
          <a:p>
            <a:pPr>
              <a:lnSpc>
                <a:spcPct val="150000"/>
              </a:lnSpc>
            </a:pPr>
            <a:r>
              <a:rPr lang="zh-CN" altLang="en-US" sz="2400" b="1" dirty="0">
                <a:solidFill>
                  <a:srgbClr val="C00000"/>
                </a:solidFill>
              </a:rPr>
              <a:t>初始化范例</a:t>
            </a:r>
            <a:r>
              <a:rPr lang="en-US" altLang="zh-CN" sz="2400" b="1" dirty="0">
                <a:solidFill>
                  <a:srgbClr val="C00000"/>
                </a:solidFill>
              </a:rPr>
              <a:t>:</a:t>
            </a:r>
          </a:p>
          <a:p>
            <a:pPr>
              <a:lnSpc>
                <a:spcPct val="150000"/>
              </a:lnSpc>
            </a:pPr>
            <a:r>
              <a:rPr lang="en-US" altLang="en-US" sz="2000" dirty="0" err="1"/>
              <a:t>ADC_InitTypeDef</a:t>
            </a:r>
            <a:r>
              <a:rPr lang="en-US" altLang="en-US" sz="2000" dirty="0"/>
              <a:t> </a:t>
            </a:r>
            <a:r>
              <a:rPr lang="en-US" altLang="en-US" sz="2000" dirty="0" err="1"/>
              <a:t>ADC_InitStructure</a:t>
            </a:r>
            <a:r>
              <a:rPr lang="en-US" altLang="en-US" sz="2000" dirty="0"/>
              <a:t>; </a:t>
            </a:r>
          </a:p>
          <a:p>
            <a:pPr>
              <a:lnSpc>
                <a:spcPct val="150000"/>
              </a:lnSpc>
            </a:pPr>
            <a:r>
              <a:rPr lang="en-US" altLang="en-US" sz="2000" dirty="0" err="1"/>
              <a:t>ADC_InitStructure.ADC_Mode</a:t>
            </a:r>
            <a:r>
              <a:rPr lang="en-US" altLang="en-US" sz="2000" dirty="0"/>
              <a:t> = </a:t>
            </a:r>
            <a:r>
              <a:rPr lang="en-US" altLang="en-US" sz="2000" dirty="0" err="1"/>
              <a:t>ADC_Mode_Independent</a:t>
            </a:r>
            <a:r>
              <a:rPr lang="en-US" altLang="en-US" sz="2000" dirty="0"/>
              <a:t>; //</a:t>
            </a:r>
            <a:r>
              <a:rPr lang="en-US" altLang="en-US" sz="2000" dirty="0">
                <a:solidFill>
                  <a:srgbClr val="FF0000"/>
                </a:solidFill>
              </a:rPr>
              <a:t>ADC </a:t>
            </a:r>
            <a:r>
              <a:rPr lang="zh-CN" altLang="en-US" sz="2000" dirty="0">
                <a:solidFill>
                  <a:srgbClr val="FF0000"/>
                </a:solidFill>
              </a:rPr>
              <a:t>工作模式</a:t>
            </a:r>
            <a:r>
              <a:rPr lang="en-US" altLang="zh-CN" sz="2000" dirty="0">
                <a:solidFill>
                  <a:srgbClr val="FF0000"/>
                </a:solidFill>
              </a:rPr>
              <a:t>:</a:t>
            </a:r>
            <a:r>
              <a:rPr lang="zh-CN" altLang="en-US" sz="2000" dirty="0">
                <a:solidFill>
                  <a:srgbClr val="FF0000"/>
                </a:solidFill>
              </a:rPr>
              <a:t>独立模式 </a:t>
            </a:r>
            <a:endParaRPr lang="en-US" altLang="zh-CN" sz="2000" dirty="0">
              <a:solidFill>
                <a:srgbClr val="FF0000"/>
              </a:solidFill>
            </a:endParaRPr>
          </a:p>
          <a:p>
            <a:pPr>
              <a:lnSpc>
                <a:spcPct val="150000"/>
              </a:lnSpc>
            </a:pPr>
            <a:r>
              <a:rPr lang="en-US" altLang="en-US" sz="2000" dirty="0" err="1"/>
              <a:t>ADC_InitStructure.ADC_ScanConvMode</a:t>
            </a:r>
            <a:r>
              <a:rPr lang="en-US" altLang="en-US" sz="2000" dirty="0"/>
              <a:t> = DISABLE; //</a:t>
            </a:r>
            <a:r>
              <a:rPr lang="en-US" altLang="en-US" sz="2000" dirty="0">
                <a:solidFill>
                  <a:srgbClr val="FF0000"/>
                </a:solidFill>
              </a:rPr>
              <a:t>AD </a:t>
            </a:r>
            <a:r>
              <a:rPr lang="zh-CN" altLang="en-US" sz="2000" dirty="0">
                <a:solidFill>
                  <a:srgbClr val="FF0000"/>
                </a:solidFill>
              </a:rPr>
              <a:t>单通道模式</a:t>
            </a:r>
            <a:endParaRPr lang="en-US" altLang="zh-CN" sz="2000" dirty="0">
              <a:solidFill>
                <a:srgbClr val="FF0000"/>
              </a:solidFill>
            </a:endParaRPr>
          </a:p>
          <a:p>
            <a:pPr>
              <a:lnSpc>
                <a:spcPct val="150000"/>
              </a:lnSpc>
            </a:pPr>
            <a:r>
              <a:rPr lang="zh-CN" altLang="en-US" sz="2000" dirty="0"/>
              <a:t> </a:t>
            </a:r>
            <a:r>
              <a:rPr lang="en-US" altLang="en-US" sz="2000" dirty="0" err="1"/>
              <a:t>ADC_InitStructure.ADC_ContinuousConvMode</a:t>
            </a:r>
            <a:r>
              <a:rPr lang="en-US" altLang="en-US" sz="2000" dirty="0"/>
              <a:t> = DISABLE; //</a:t>
            </a:r>
            <a:r>
              <a:rPr lang="en-US" altLang="en-US" sz="2000" dirty="0">
                <a:solidFill>
                  <a:srgbClr val="FF0000"/>
                </a:solidFill>
              </a:rPr>
              <a:t>AD </a:t>
            </a:r>
            <a:r>
              <a:rPr lang="zh-CN" altLang="en-US" sz="2000" dirty="0">
                <a:solidFill>
                  <a:srgbClr val="FF0000"/>
                </a:solidFill>
              </a:rPr>
              <a:t>单次转换模式</a:t>
            </a:r>
            <a:endParaRPr lang="en-US" altLang="zh-CN" sz="2000" dirty="0">
              <a:solidFill>
                <a:srgbClr val="FF0000"/>
              </a:solidFill>
            </a:endParaRPr>
          </a:p>
          <a:p>
            <a:pPr>
              <a:lnSpc>
                <a:spcPct val="150000"/>
              </a:lnSpc>
            </a:pPr>
            <a:r>
              <a:rPr lang="zh-CN" altLang="en-US" sz="2000" dirty="0"/>
              <a:t> </a:t>
            </a:r>
            <a:r>
              <a:rPr lang="en-US" altLang="en-US" sz="2000" dirty="0" err="1"/>
              <a:t>ADC_InitStructure.ADC_ExternalTrigConv</a:t>
            </a:r>
            <a:r>
              <a:rPr lang="en-US" altLang="en-US" sz="2000" dirty="0"/>
              <a:t> = </a:t>
            </a:r>
            <a:r>
              <a:rPr lang="en-US" altLang="en-US" sz="2000" dirty="0" err="1"/>
              <a:t>ADC_ExternalTrigConv_None</a:t>
            </a:r>
            <a:r>
              <a:rPr lang="en-US" altLang="en-US" sz="2000" dirty="0"/>
              <a:t>; //</a:t>
            </a:r>
            <a:r>
              <a:rPr lang="zh-CN" altLang="en-US" sz="2000" dirty="0">
                <a:solidFill>
                  <a:srgbClr val="FF0000"/>
                </a:solidFill>
              </a:rPr>
              <a:t>转换由软件</a:t>
            </a:r>
            <a:endParaRPr lang="en-US" altLang="zh-CN" sz="2000" dirty="0">
              <a:solidFill>
                <a:srgbClr val="FF0000"/>
              </a:solidFill>
            </a:endParaRPr>
          </a:p>
          <a:p>
            <a:pPr>
              <a:lnSpc>
                <a:spcPct val="150000"/>
              </a:lnSpc>
            </a:pPr>
            <a:r>
              <a:rPr lang="en-US" altLang="zh-CN" sz="2000" dirty="0">
                <a:solidFill>
                  <a:srgbClr val="FF0000"/>
                </a:solidFill>
              </a:rPr>
              <a:t>                                                                                                </a:t>
            </a:r>
            <a:r>
              <a:rPr lang="zh-CN" altLang="en-US" sz="2000" dirty="0">
                <a:solidFill>
                  <a:srgbClr val="FF0000"/>
                </a:solidFill>
              </a:rPr>
              <a:t>而不是外部触发启动</a:t>
            </a:r>
            <a:endParaRPr lang="en-US" altLang="zh-CN" sz="2000" dirty="0">
              <a:solidFill>
                <a:srgbClr val="FF0000"/>
              </a:solidFill>
            </a:endParaRPr>
          </a:p>
          <a:p>
            <a:pPr>
              <a:lnSpc>
                <a:spcPct val="150000"/>
              </a:lnSpc>
            </a:pPr>
            <a:r>
              <a:rPr lang="zh-CN" altLang="en-US" sz="2000" dirty="0"/>
              <a:t> </a:t>
            </a:r>
            <a:r>
              <a:rPr lang="en-US" altLang="en-US" sz="2000" dirty="0" err="1"/>
              <a:t>ADC_InitStructure.ADC_DataAlign</a:t>
            </a:r>
            <a:r>
              <a:rPr lang="en-US" altLang="en-US" sz="2000" dirty="0"/>
              <a:t> = </a:t>
            </a:r>
            <a:r>
              <a:rPr lang="en-US" altLang="en-US" sz="2000" dirty="0" err="1"/>
              <a:t>ADC_DataAlign_Right</a:t>
            </a:r>
            <a:r>
              <a:rPr lang="en-US" altLang="en-US" sz="2000" dirty="0"/>
              <a:t>; //</a:t>
            </a:r>
            <a:r>
              <a:rPr lang="en-US" altLang="en-US" sz="2000" dirty="0">
                <a:solidFill>
                  <a:srgbClr val="FF0000"/>
                </a:solidFill>
              </a:rPr>
              <a:t>ADC </a:t>
            </a:r>
            <a:r>
              <a:rPr lang="zh-CN" altLang="en-US" sz="2000" dirty="0">
                <a:solidFill>
                  <a:srgbClr val="FF0000"/>
                </a:solidFill>
              </a:rPr>
              <a:t>数据右对齐</a:t>
            </a:r>
            <a:endParaRPr lang="en-US" altLang="zh-CN" sz="2000" dirty="0">
              <a:solidFill>
                <a:srgbClr val="FF0000"/>
              </a:solidFill>
            </a:endParaRPr>
          </a:p>
          <a:p>
            <a:pPr>
              <a:lnSpc>
                <a:spcPct val="150000"/>
              </a:lnSpc>
            </a:pPr>
            <a:r>
              <a:rPr lang="zh-CN" altLang="en-US" sz="2000" dirty="0"/>
              <a:t> </a:t>
            </a:r>
            <a:r>
              <a:rPr lang="en-US" altLang="en-US" sz="2000" dirty="0" err="1"/>
              <a:t>ADC_InitStructure.ADC_NbrOfChannel</a:t>
            </a:r>
            <a:r>
              <a:rPr lang="en-US" altLang="en-US" sz="2000" dirty="0"/>
              <a:t> = 1; //</a:t>
            </a:r>
            <a:r>
              <a:rPr lang="zh-CN" altLang="en-US" sz="2000" dirty="0">
                <a:solidFill>
                  <a:srgbClr val="FF0000"/>
                </a:solidFill>
              </a:rPr>
              <a:t>顺序进行规则转换的 </a:t>
            </a:r>
            <a:r>
              <a:rPr lang="en-US" altLang="en-US" sz="2000" dirty="0">
                <a:solidFill>
                  <a:srgbClr val="FF0000"/>
                </a:solidFill>
              </a:rPr>
              <a:t>ADC </a:t>
            </a:r>
            <a:r>
              <a:rPr lang="zh-CN" altLang="en-US" sz="2000" dirty="0">
                <a:solidFill>
                  <a:srgbClr val="FF0000"/>
                </a:solidFill>
              </a:rPr>
              <a:t>通道的数目 </a:t>
            </a:r>
            <a:r>
              <a:rPr lang="en-US" altLang="zh-CN" sz="2000" dirty="0">
                <a:solidFill>
                  <a:srgbClr val="FF0000"/>
                </a:solidFill>
              </a:rPr>
              <a:t>1 </a:t>
            </a:r>
          </a:p>
          <a:p>
            <a:pPr>
              <a:lnSpc>
                <a:spcPct val="150000"/>
              </a:lnSpc>
            </a:pPr>
            <a:r>
              <a:rPr lang="en-US" altLang="en-US" sz="2000" dirty="0" err="1"/>
              <a:t>ADC_Init</a:t>
            </a:r>
            <a:r>
              <a:rPr lang="en-US" altLang="en-US" sz="2000" dirty="0"/>
              <a:t>(ADC1, &amp;</a:t>
            </a:r>
            <a:r>
              <a:rPr lang="en-US" altLang="en-US" sz="2000" dirty="0" err="1"/>
              <a:t>ADC_InitStructure</a:t>
            </a:r>
            <a:r>
              <a:rPr lang="en-US" altLang="en-US" sz="2000" dirty="0"/>
              <a:t>); //</a:t>
            </a:r>
            <a:r>
              <a:rPr lang="zh-CN" altLang="en-US" sz="2000" dirty="0">
                <a:solidFill>
                  <a:srgbClr val="FF0000"/>
                </a:solidFill>
              </a:rPr>
              <a:t>根据指定的参数初始化外设 </a:t>
            </a:r>
            <a:r>
              <a:rPr lang="en-US" altLang="en-US" sz="2000" dirty="0" err="1">
                <a:solidFill>
                  <a:srgbClr val="FF0000"/>
                </a:solidFill>
              </a:rPr>
              <a:t>ADCx</a:t>
            </a:r>
            <a:endParaRPr lang="en-US" altLang="en-US" sz="2000" dirty="0">
              <a:solidFill>
                <a:srgbClr val="FF0000"/>
              </a:solidFill>
            </a:endParaRPr>
          </a:p>
          <a:p>
            <a:pPr>
              <a:lnSpc>
                <a:spcPct val="150000"/>
              </a:lnSpc>
            </a:pPr>
            <a:r>
              <a:rPr lang="en-US" sz="2000" b="1" dirty="0" err="1">
                <a:solidFill>
                  <a:srgbClr val="0070C0"/>
                </a:solidFill>
              </a:rPr>
              <a:t>ADC_DeInit</a:t>
            </a:r>
            <a:r>
              <a:rPr lang="en-US" sz="2000" b="1" dirty="0">
                <a:solidFill>
                  <a:srgbClr val="0070C0"/>
                </a:solidFill>
              </a:rPr>
              <a:t>(ADC1); </a:t>
            </a:r>
            <a:r>
              <a:rPr lang="en-US" sz="2000" dirty="0"/>
              <a:t>//</a:t>
            </a:r>
            <a:r>
              <a:rPr lang="zh-CN" altLang="en-US" sz="2000" dirty="0">
                <a:solidFill>
                  <a:srgbClr val="FF0000"/>
                </a:solidFill>
              </a:rPr>
              <a:t>复位 </a:t>
            </a:r>
            <a:r>
              <a:rPr lang="en-US" sz="2000" dirty="0">
                <a:solidFill>
                  <a:srgbClr val="FF0000"/>
                </a:solidFill>
              </a:rPr>
              <a:t>ADC1,</a:t>
            </a:r>
            <a:r>
              <a:rPr lang="zh-CN" altLang="en-US" sz="2000" dirty="0">
                <a:solidFill>
                  <a:srgbClr val="FF0000"/>
                </a:solidFill>
              </a:rPr>
              <a:t>将外设 </a:t>
            </a:r>
            <a:r>
              <a:rPr lang="en-US" sz="2000" dirty="0">
                <a:solidFill>
                  <a:srgbClr val="FF0000"/>
                </a:solidFill>
              </a:rPr>
              <a:t>ADC1 </a:t>
            </a:r>
            <a:r>
              <a:rPr lang="zh-CN" altLang="en-US" sz="2000" dirty="0">
                <a:solidFill>
                  <a:srgbClr val="FF0000"/>
                </a:solidFill>
              </a:rPr>
              <a:t>的全部寄存器重设为缺省值</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63893" y="559837"/>
            <a:ext cx="11290042" cy="5632311"/>
          </a:xfrm>
          <a:prstGeom prst="rect">
            <a:avLst/>
          </a:prstGeom>
          <a:noFill/>
        </p:spPr>
        <p:txBody>
          <a:bodyPr wrap="square" rtlCol="0">
            <a:spAutoFit/>
          </a:bodyPr>
          <a:lstStyle/>
          <a:p>
            <a:pPr>
              <a:lnSpc>
                <a:spcPct val="150000"/>
              </a:lnSpc>
            </a:pPr>
            <a:r>
              <a:rPr lang="zh-CN" altLang="en-US" sz="2400" b="1" dirty="0">
                <a:solidFill>
                  <a:srgbClr val="C00000"/>
                </a:solidFill>
              </a:rPr>
              <a:t>开启 </a:t>
            </a:r>
            <a:r>
              <a:rPr lang="en-US" altLang="zh-CN" sz="2400" b="1" dirty="0">
                <a:solidFill>
                  <a:srgbClr val="C00000"/>
                </a:solidFill>
              </a:rPr>
              <a:t>PA </a:t>
            </a:r>
            <a:r>
              <a:rPr lang="zh-CN" altLang="en-US" sz="2400" b="1" dirty="0">
                <a:solidFill>
                  <a:srgbClr val="C00000"/>
                </a:solidFill>
              </a:rPr>
              <a:t>口时钟和 </a:t>
            </a:r>
            <a:r>
              <a:rPr lang="en-US" altLang="zh-CN" sz="2400" b="1" dirty="0">
                <a:solidFill>
                  <a:srgbClr val="C00000"/>
                </a:solidFill>
              </a:rPr>
              <a:t>ADC1 </a:t>
            </a:r>
            <a:r>
              <a:rPr lang="zh-CN" altLang="en-US" sz="2400" b="1" dirty="0">
                <a:solidFill>
                  <a:srgbClr val="C00000"/>
                </a:solidFill>
              </a:rPr>
              <a:t>时钟，设置 </a:t>
            </a:r>
            <a:r>
              <a:rPr lang="en-US" altLang="zh-CN" sz="2400" b="1" dirty="0">
                <a:solidFill>
                  <a:srgbClr val="C00000"/>
                </a:solidFill>
              </a:rPr>
              <a:t>PA1 </a:t>
            </a:r>
            <a:r>
              <a:rPr lang="zh-CN" altLang="en-US" sz="2400" b="1" dirty="0">
                <a:solidFill>
                  <a:srgbClr val="C00000"/>
                </a:solidFill>
              </a:rPr>
              <a:t>为模拟输入</a:t>
            </a:r>
            <a:endParaRPr lang="en-US" altLang="zh-CN" sz="2400" b="1" dirty="0">
              <a:solidFill>
                <a:srgbClr val="C00000"/>
              </a:solidFill>
            </a:endParaRPr>
          </a:p>
          <a:p>
            <a:pPr>
              <a:lnSpc>
                <a:spcPct val="150000"/>
              </a:lnSpc>
            </a:pPr>
            <a:r>
              <a:rPr lang="en-US" dirty="0"/>
              <a:t>      STM32F103ZET6 </a:t>
            </a:r>
            <a:r>
              <a:rPr lang="zh-CN" altLang="en-US" dirty="0"/>
              <a:t>的 </a:t>
            </a:r>
            <a:r>
              <a:rPr lang="en-US" dirty="0"/>
              <a:t>ADC </a:t>
            </a:r>
            <a:r>
              <a:rPr lang="zh-CN" altLang="en-US" dirty="0"/>
              <a:t>通道 </a:t>
            </a:r>
            <a:r>
              <a:rPr lang="en-US" altLang="zh-CN" dirty="0"/>
              <a:t>1 </a:t>
            </a:r>
            <a:r>
              <a:rPr lang="zh-CN" altLang="en-US" dirty="0"/>
              <a:t>在 </a:t>
            </a:r>
            <a:r>
              <a:rPr lang="en-US" dirty="0"/>
              <a:t>PA1 </a:t>
            </a:r>
            <a:r>
              <a:rPr lang="zh-CN" altLang="en-US" dirty="0"/>
              <a:t>上，所以，我们先要使能 </a:t>
            </a:r>
            <a:r>
              <a:rPr lang="en-US" dirty="0"/>
              <a:t>PORTA </a:t>
            </a:r>
            <a:r>
              <a:rPr lang="zh-CN" altLang="en-US" dirty="0"/>
              <a:t>的时钟和 </a:t>
            </a:r>
            <a:r>
              <a:rPr lang="en-US" dirty="0"/>
              <a:t>ADC1 </a:t>
            </a:r>
            <a:r>
              <a:rPr lang="zh-CN" altLang="en-US" dirty="0"/>
              <a:t>时钟，然后设置 </a:t>
            </a:r>
            <a:r>
              <a:rPr lang="en-US" dirty="0"/>
              <a:t>PA1 </a:t>
            </a:r>
            <a:r>
              <a:rPr lang="zh-CN" altLang="en-US" dirty="0"/>
              <a:t>为模拟输入。使能 </a:t>
            </a:r>
            <a:r>
              <a:rPr lang="en-US" dirty="0"/>
              <a:t>GPIOA </a:t>
            </a:r>
            <a:r>
              <a:rPr lang="zh-CN" altLang="en-US" dirty="0"/>
              <a:t>和 </a:t>
            </a:r>
            <a:r>
              <a:rPr lang="en-US" dirty="0"/>
              <a:t>ADC </a:t>
            </a:r>
            <a:r>
              <a:rPr lang="zh-CN" altLang="en-US" dirty="0"/>
              <a:t>时钟用 </a:t>
            </a:r>
            <a:r>
              <a:rPr lang="en-US" dirty="0"/>
              <a:t>RCC_APB2PeriphClockCmd </a:t>
            </a:r>
            <a:r>
              <a:rPr lang="zh-CN" altLang="en-US" dirty="0"/>
              <a:t>函 数，设置 </a:t>
            </a:r>
            <a:r>
              <a:rPr lang="en-US" dirty="0"/>
              <a:t>PA1 </a:t>
            </a:r>
            <a:r>
              <a:rPr lang="zh-CN" altLang="en-US" dirty="0"/>
              <a:t>的输入方式，使用 </a:t>
            </a:r>
            <a:r>
              <a:rPr lang="en-US" dirty="0" err="1"/>
              <a:t>GPIO_Init</a:t>
            </a:r>
            <a:r>
              <a:rPr lang="en-US" dirty="0"/>
              <a:t> </a:t>
            </a:r>
            <a:r>
              <a:rPr lang="zh-CN" altLang="en-US" dirty="0"/>
              <a:t>函数即可。</a:t>
            </a:r>
            <a:endParaRPr lang="en-US" altLang="zh-CN" dirty="0"/>
          </a:p>
          <a:p>
            <a:pPr>
              <a:lnSpc>
                <a:spcPct val="150000"/>
              </a:lnSpc>
            </a:pPr>
            <a:r>
              <a:rPr lang="en-US" dirty="0"/>
              <a:t>RCC_APB2PeriphClockCmd(RCC_APB2Periph_GPIOA |RCC_APB2Periph_ADC1 </a:t>
            </a:r>
            <a:r>
              <a:rPr lang="en-US" altLang="zh-CN" dirty="0"/>
              <a:t>|</a:t>
            </a:r>
            <a:r>
              <a:rPr lang="en-US" dirty="0"/>
              <a:t>RCC_APB2Periph_AFIO, ENABLE ); </a:t>
            </a:r>
          </a:p>
          <a:p>
            <a:pPr>
              <a:lnSpc>
                <a:spcPct val="150000"/>
              </a:lnSpc>
            </a:pPr>
            <a:r>
              <a:rPr lang="en-US" dirty="0"/>
              <a:t>//</a:t>
            </a:r>
            <a:r>
              <a:rPr lang="zh-CN" altLang="en-US" dirty="0">
                <a:solidFill>
                  <a:srgbClr val="FF0000"/>
                </a:solidFill>
              </a:rPr>
              <a:t>使能 </a:t>
            </a:r>
            <a:r>
              <a:rPr lang="en-US" dirty="0">
                <a:solidFill>
                  <a:srgbClr val="FF0000"/>
                </a:solidFill>
              </a:rPr>
              <a:t>ADC1 </a:t>
            </a:r>
            <a:r>
              <a:rPr lang="zh-CN" altLang="en-US" dirty="0">
                <a:solidFill>
                  <a:srgbClr val="FF0000"/>
                </a:solidFill>
              </a:rPr>
              <a:t>通道时钟 </a:t>
            </a:r>
            <a:endParaRPr lang="en-US" altLang="zh-CN" dirty="0">
              <a:solidFill>
                <a:srgbClr val="FF0000"/>
              </a:solidFill>
            </a:endParaRPr>
          </a:p>
          <a:p>
            <a:pPr>
              <a:lnSpc>
                <a:spcPct val="150000"/>
              </a:lnSpc>
            </a:pPr>
            <a:r>
              <a:rPr lang="en-US" dirty="0" err="1"/>
              <a:t>RCC_ADCCLKConfig</a:t>
            </a:r>
            <a:r>
              <a:rPr lang="en-US" dirty="0"/>
              <a:t>(RCC_PCLK2_Div6); </a:t>
            </a:r>
          </a:p>
          <a:p>
            <a:pPr>
              <a:lnSpc>
                <a:spcPct val="150000"/>
              </a:lnSpc>
            </a:pPr>
            <a:r>
              <a:rPr lang="en-US" dirty="0"/>
              <a:t>//</a:t>
            </a:r>
            <a:r>
              <a:rPr lang="zh-CN" altLang="en-US" dirty="0">
                <a:solidFill>
                  <a:srgbClr val="FF0000"/>
                </a:solidFill>
                <a:highlight>
                  <a:srgbClr val="FFFF00"/>
                </a:highlight>
              </a:rPr>
              <a:t>设置 </a:t>
            </a:r>
            <a:r>
              <a:rPr lang="en-US" dirty="0">
                <a:solidFill>
                  <a:srgbClr val="FF0000"/>
                </a:solidFill>
                <a:highlight>
                  <a:srgbClr val="FFFF00"/>
                </a:highlight>
              </a:rPr>
              <a:t>ADC </a:t>
            </a:r>
            <a:r>
              <a:rPr lang="zh-CN" altLang="en-US" dirty="0">
                <a:solidFill>
                  <a:srgbClr val="FF0000"/>
                </a:solidFill>
                <a:highlight>
                  <a:srgbClr val="FFFF00"/>
                </a:highlight>
              </a:rPr>
              <a:t>分频因子 </a:t>
            </a:r>
            <a:r>
              <a:rPr lang="en-US" altLang="zh-CN" dirty="0">
                <a:solidFill>
                  <a:srgbClr val="FF0000"/>
                </a:solidFill>
                <a:highlight>
                  <a:srgbClr val="FFFF00"/>
                </a:highlight>
              </a:rPr>
              <a:t>6</a:t>
            </a:r>
            <a:r>
              <a:rPr lang="zh-CN" altLang="en-US" dirty="0">
                <a:solidFill>
                  <a:srgbClr val="FF0000"/>
                </a:solidFill>
                <a:highlight>
                  <a:srgbClr val="FFFF00"/>
                </a:highlight>
              </a:rPr>
              <a:t>，</a:t>
            </a:r>
            <a:r>
              <a:rPr lang="en-US" altLang="zh-CN" dirty="0">
                <a:solidFill>
                  <a:srgbClr val="FF0000"/>
                </a:solidFill>
                <a:highlight>
                  <a:srgbClr val="FFFF00"/>
                </a:highlight>
              </a:rPr>
              <a:t>72</a:t>
            </a:r>
            <a:r>
              <a:rPr lang="en-US" dirty="0">
                <a:solidFill>
                  <a:srgbClr val="FF0000"/>
                </a:solidFill>
                <a:highlight>
                  <a:srgbClr val="FFFF00"/>
                </a:highlight>
              </a:rPr>
              <a:t>M/6=12,ADC </a:t>
            </a:r>
            <a:r>
              <a:rPr lang="zh-CN" altLang="en-US" dirty="0">
                <a:solidFill>
                  <a:srgbClr val="FF0000"/>
                </a:solidFill>
                <a:highlight>
                  <a:srgbClr val="FFFF00"/>
                </a:highlight>
              </a:rPr>
              <a:t>最大时间不能超过 </a:t>
            </a:r>
            <a:r>
              <a:rPr lang="en-US" altLang="zh-CN" dirty="0">
                <a:solidFill>
                  <a:srgbClr val="FF0000"/>
                </a:solidFill>
                <a:highlight>
                  <a:srgbClr val="FFFF00"/>
                </a:highlight>
              </a:rPr>
              <a:t>14</a:t>
            </a:r>
            <a:r>
              <a:rPr lang="en-US" dirty="0">
                <a:solidFill>
                  <a:srgbClr val="FF0000"/>
                </a:solidFill>
                <a:highlight>
                  <a:srgbClr val="FFFF00"/>
                </a:highlight>
              </a:rPr>
              <a:t>M </a:t>
            </a:r>
          </a:p>
          <a:p>
            <a:pPr>
              <a:lnSpc>
                <a:spcPct val="150000"/>
              </a:lnSpc>
            </a:pPr>
            <a:r>
              <a:rPr lang="en-US" dirty="0"/>
              <a:t>//</a:t>
            </a:r>
            <a:r>
              <a:rPr lang="en-US" dirty="0">
                <a:solidFill>
                  <a:srgbClr val="FF0000"/>
                </a:solidFill>
              </a:rPr>
              <a:t>PA1 </a:t>
            </a:r>
            <a:r>
              <a:rPr lang="zh-CN" altLang="en-US" dirty="0">
                <a:solidFill>
                  <a:srgbClr val="FF0000"/>
                </a:solidFill>
              </a:rPr>
              <a:t>作为模拟通道输入引脚 </a:t>
            </a:r>
            <a:endParaRPr lang="en-US" altLang="zh-CN" dirty="0">
              <a:solidFill>
                <a:srgbClr val="FF0000"/>
              </a:solidFill>
            </a:endParaRPr>
          </a:p>
          <a:p>
            <a:pPr>
              <a:lnSpc>
                <a:spcPct val="150000"/>
              </a:lnSpc>
            </a:pPr>
            <a:r>
              <a:rPr lang="en-US" dirty="0" err="1"/>
              <a:t>GPIO_InitStructure.GPIO_Pin</a:t>
            </a:r>
            <a:r>
              <a:rPr lang="en-US" dirty="0"/>
              <a:t> =GPIO_Pin_1; </a:t>
            </a:r>
          </a:p>
          <a:p>
            <a:pPr>
              <a:lnSpc>
                <a:spcPct val="150000"/>
              </a:lnSpc>
            </a:pPr>
            <a:r>
              <a:rPr lang="en-US" dirty="0" err="1"/>
              <a:t>GPIO_InitStructure.GPIO_Mode</a:t>
            </a:r>
            <a:r>
              <a:rPr lang="en-US" dirty="0"/>
              <a:t> = </a:t>
            </a:r>
            <a:r>
              <a:rPr lang="en-US" dirty="0" err="1"/>
              <a:t>GPIO_Mode_AIN</a:t>
            </a:r>
            <a:r>
              <a:rPr lang="en-US" dirty="0"/>
              <a:t>;//</a:t>
            </a:r>
            <a:r>
              <a:rPr lang="zh-CN" altLang="en-US" dirty="0">
                <a:solidFill>
                  <a:srgbClr val="FF0000"/>
                </a:solidFill>
              </a:rPr>
              <a:t>模拟输入 </a:t>
            </a:r>
            <a:endParaRPr lang="en-US" altLang="zh-CN" dirty="0">
              <a:solidFill>
                <a:srgbClr val="FF0000"/>
              </a:solidFill>
            </a:endParaRPr>
          </a:p>
          <a:p>
            <a:pPr>
              <a:lnSpc>
                <a:spcPct val="150000"/>
              </a:lnSpc>
            </a:pPr>
            <a:r>
              <a:rPr lang="en-US" dirty="0" err="1"/>
              <a:t>GPIO_Init</a:t>
            </a:r>
            <a:r>
              <a:rPr lang="en-US" dirty="0"/>
              <a:t>(GPIOA, &amp;</a:t>
            </a:r>
            <a:r>
              <a:rPr lang="en-US" dirty="0" err="1"/>
              <a:t>GPIO_InitStructure</a:t>
            </a:r>
            <a:r>
              <a:rPr lang="en-US" dirty="0"/>
              <a:t>); //</a:t>
            </a:r>
            <a:r>
              <a:rPr lang="zh-CN" altLang="en-US" dirty="0">
                <a:solidFill>
                  <a:srgbClr val="FF0000"/>
                </a:solidFill>
              </a:rPr>
              <a:t>初始化 </a:t>
            </a:r>
            <a:r>
              <a:rPr lang="en-US" dirty="0">
                <a:solidFill>
                  <a:srgbClr val="FF0000"/>
                </a:solidFill>
              </a:rPr>
              <a:t>GPIOA.1</a:t>
            </a:r>
            <a:endParaRPr lang="zh-CN" altLang="en-US" b="1" dirty="0">
              <a:solidFill>
                <a:srgbClr val="FF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96375" y="641093"/>
            <a:ext cx="10987303" cy="5632311"/>
          </a:xfrm>
          <a:prstGeom prst="rect">
            <a:avLst/>
          </a:prstGeom>
        </p:spPr>
        <p:txBody>
          <a:bodyPr wrap="none">
            <a:spAutoFit/>
          </a:bodyPr>
          <a:lstStyle/>
          <a:p>
            <a:pPr>
              <a:lnSpc>
                <a:spcPct val="150000"/>
              </a:lnSpc>
            </a:pPr>
            <a:r>
              <a:rPr lang="zh-CN" altLang="en-US" sz="2400" b="1" dirty="0">
                <a:solidFill>
                  <a:srgbClr val="C00000"/>
                </a:solidFill>
              </a:rPr>
              <a:t>使能 </a:t>
            </a:r>
            <a:r>
              <a:rPr lang="en-US" sz="2400" b="1" dirty="0">
                <a:solidFill>
                  <a:srgbClr val="C00000"/>
                </a:solidFill>
              </a:rPr>
              <a:t>ADC </a:t>
            </a:r>
            <a:r>
              <a:rPr lang="zh-CN" altLang="en-US" sz="2400" b="1" dirty="0">
                <a:solidFill>
                  <a:srgbClr val="C00000"/>
                </a:solidFill>
              </a:rPr>
              <a:t>并校准</a:t>
            </a:r>
            <a:endParaRPr lang="en-US" altLang="zh-CN" sz="2400" b="1" dirty="0">
              <a:solidFill>
                <a:srgbClr val="C00000"/>
              </a:solidFill>
            </a:endParaRPr>
          </a:p>
          <a:p>
            <a:pPr>
              <a:lnSpc>
                <a:spcPct val="150000"/>
              </a:lnSpc>
            </a:pPr>
            <a:r>
              <a:rPr lang="zh-CN" altLang="en-US" dirty="0"/>
              <a:t>      在设置完了以上信息后，我们就使能 </a:t>
            </a:r>
            <a:r>
              <a:rPr lang="en-US" dirty="0"/>
              <a:t>AD </a:t>
            </a:r>
            <a:r>
              <a:rPr lang="zh-CN" altLang="en-US" dirty="0"/>
              <a:t>转换器，执行复位校准和 </a:t>
            </a:r>
            <a:r>
              <a:rPr lang="en-US" dirty="0"/>
              <a:t>AD </a:t>
            </a:r>
            <a:r>
              <a:rPr lang="zh-CN" altLang="en-US" dirty="0"/>
              <a:t>校准，</a:t>
            </a:r>
            <a:r>
              <a:rPr lang="zh-CN" altLang="en-US" b="1" dirty="0">
                <a:solidFill>
                  <a:srgbClr val="00B0F0"/>
                </a:solidFill>
              </a:rPr>
              <a:t>注意这两步 是必须的！</a:t>
            </a:r>
            <a:endParaRPr lang="en-US" altLang="zh-CN" b="1" dirty="0">
              <a:solidFill>
                <a:srgbClr val="00B0F0"/>
              </a:solidFill>
            </a:endParaRPr>
          </a:p>
          <a:p>
            <a:pPr>
              <a:lnSpc>
                <a:spcPct val="150000"/>
              </a:lnSpc>
            </a:pPr>
            <a:r>
              <a:rPr lang="zh-CN" altLang="en-US" dirty="0"/>
              <a:t>不校准将导致结果很不准确。 </a:t>
            </a:r>
            <a:endParaRPr lang="en-US" altLang="zh-CN" dirty="0"/>
          </a:p>
          <a:p>
            <a:pPr>
              <a:lnSpc>
                <a:spcPct val="150000"/>
              </a:lnSpc>
            </a:pPr>
            <a:r>
              <a:rPr lang="zh-CN" altLang="en-US" b="1" dirty="0">
                <a:solidFill>
                  <a:srgbClr val="14529E"/>
                </a:solidFill>
              </a:rPr>
              <a:t>使能指定的 </a:t>
            </a:r>
            <a:r>
              <a:rPr lang="en-US" b="1" dirty="0">
                <a:solidFill>
                  <a:srgbClr val="14529E"/>
                </a:solidFill>
              </a:rPr>
              <a:t>ADC </a:t>
            </a:r>
            <a:r>
              <a:rPr lang="zh-CN" altLang="en-US" b="1" dirty="0">
                <a:solidFill>
                  <a:srgbClr val="14529E"/>
                </a:solidFill>
              </a:rPr>
              <a:t>的方法是： </a:t>
            </a:r>
            <a:endParaRPr lang="en-US" altLang="zh-CN" b="1" dirty="0">
              <a:solidFill>
                <a:srgbClr val="14529E"/>
              </a:solidFill>
            </a:endParaRPr>
          </a:p>
          <a:p>
            <a:pPr>
              <a:lnSpc>
                <a:spcPct val="150000"/>
              </a:lnSpc>
            </a:pPr>
            <a:r>
              <a:rPr lang="en-US" dirty="0" err="1"/>
              <a:t>ADC_Cmd</a:t>
            </a:r>
            <a:r>
              <a:rPr lang="en-US" dirty="0"/>
              <a:t>(ADC1, ENABLE); //</a:t>
            </a:r>
            <a:r>
              <a:rPr lang="zh-CN" altLang="en-US" dirty="0">
                <a:solidFill>
                  <a:srgbClr val="FF0000"/>
                </a:solidFill>
              </a:rPr>
              <a:t>使能指定的 </a:t>
            </a:r>
            <a:r>
              <a:rPr lang="en-US" dirty="0">
                <a:solidFill>
                  <a:srgbClr val="FF0000"/>
                </a:solidFill>
              </a:rPr>
              <a:t>ADC1 </a:t>
            </a:r>
          </a:p>
          <a:p>
            <a:pPr>
              <a:lnSpc>
                <a:spcPct val="150000"/>
              </a:lnSpc>
            </a:pPr>
            <a:r>
              <a:rPr lang="zh-CN" altLang="en-US" b="1" dirty="0">
                <a:solidFill>
                  <a:srgbClr val="14529E"/>
                </a:solidFill>
              </a:rPr>
              <a:t>执行复位校准的方法是： </a:t>
            </a:r>
            <a:endParaRPr lang="en-US" altLang="zh-CN" b="1" dirty="0">
              <a:solidFill>
                <a:srgbClr val="14529E"/>
              </a:solidFill>
            </a:endParaRPr>
          </a:p>
          <a:p>
            <a:pPr>
              <a:lnSpc>
                <a:spcPct val="150000"/>
              </a:lnSpc>
            </a:pPr>
            <a:r>
              <a:rPr lang="en-US" dirty="0" err="1"/>
              <a:t>ADC_ResetCalibration</a:t>
            </a:r>
            <a:r>
              <a:rPr lang="en-US" dirty="0"/>
              <a:t>(ADC1); </a:t>
            </a:r>
          </a:p>
          <a:p>
            <a:pPr>
              <a:lnSpc>
                <a:spcPct val="150000"/>
              </a:lnSpc>
            </a:pPr>
            <a:r>
              <a:rPr lang="zh-CN" altLang="en-US" b="1" dirty="0">
                <a:solidFill>
                  <a:srgbClr val="14529E"/>
                </a:solidFill>
              </a:rPr>
              <a:t>执行 </a:t>
            </a:r>
            <a:r>
              <a:rPr lang="en-US" b="1" dirty="0">
                <a:solidFill>
                  <a:srgbClr val="14529E"/>
                </a:solidFill>
              </a:rPr>
              <a:t>ADC </a:t>
            </a:r>
            <a:r>
              <a:rPr lang="zh-CN" altLang="en-US" b="1" dirty="0">
                <a:solidFill>
                  <a:srgbClr val="14529E"/>
                </a:solidFill>
              </a:rPr>
              <a:t>校准的方法是：</a:t>
            </a:r>
            <a:endParaRPr lang="en-US" altLang="zh-CN" b="1" dirty="0">
              <a:solidFill>
                <a:srgbClr val="14529E"/>
              </a:solidFill>
            </a:endParaRPr>
          </a:p>
          <a:p>
            <a:pPr>
              <a:lnSpc>
                <a:spcPct val="150000"/>
              </a:lnSpc>
            </a:pPr>
            <a:r>
              <a:rPr lang="zh-CN" altLang="en-US" dirty="0"/>
              <a:t> </a:t>
            </a:r>
            <a:r>
              <a:rPr lang="en-US" dirty="0" err="1"/>
              <a:t>ADC_StartCalibration</a:t>
            </a:r>
            <a:r>
              <a:rPr lang="en-US" dirty="0"/>
              <a:t>(ADC1); //</a:t>
            </a:r>
            <a:r>
              <a:rPr lang="zh-CN" altLang="en-US" dirty="0">
                <a:solidFill>
                  <a:srgbClr val="FF0000"/>
                </a:solidFill>
              </a:rPr>
              <a:t>开始指定 </a:t>
            </a:r>
            <a:r>
              <a:rPr lang="en-US" dirty="0">
                <a:solidFill>
                  <a:srgbClr val="FF0000"/>
                </a:solidFill>
              </a:rPr>
              <a:t>ADC1 </a:t>
            </a:r>
            <a:r>
              <a:rPr lang="zh-CN" altLang="en-US" dirty="0">
                <a:solidFill>
                  <a:srgbClr val="FF0000"/>
                </a:solidFill>
              </a:rPr>
              <a:t>的校准状态 </a:t>
            </a:r>
            <a:endParaRPr lang="en-US" altLang="zh-CN" dirty="0">
              <a:solidFill>
                <a:srgbClr val="FF0000"/>
              </a:solidFill>
            </a:endParaRPr>
          </a:p>
          <a:p>
            <a:pPr>
              <a:lnSpc>
                <a:spcPct val="150000"/>
              </a:lnSpc>
            </a:pPr>
            <a:r>
              <a:rPr lang="zh-CN" altLang="en-US" dirty="0"/>
              <a:t>    每次进行校准之后要等待校准结束。这里是通过获取校准状态来判断是否校准是否结束。 </a:t>
            </a:r>
            <a:endParaRPr lang="en-US" altLang="zh-CN" dirty="0"/>
          </a:p>
          <a:p>
            <a:pPr>
              <a:lnSpc>
                <a:spcPct val="150000"/>
              </a:lnSpc>
            </a:pPr>
            <a:r>
              <a:rPr lang="zh-CN" altLang="en-US" b="1" dirty="0">
                <a:solidFill>
                  <a:srgbClr val="14529E"/>
                </a:solidFill>
              </a:rPr>
              <a:t>复位校准和 </a:t>
            </a:r>
            <a:r>
              <a:rPr lang="en-US" b="1" dirty="0">
                <a:solidFill>
                  <a:srgbClr val="14529E"/>
                </a:solidFill>
              </a:rPr>
              <a:t>AD </a:t>
            </a:r>
            <a:r>
              <a:rPr lang="zh-CN" altLang="en-US" b="1" dirty="0">
                <a:solidFill>
                  <a:srgbClr val="14529E"/>
                </a:solidFill>
              </a:rPr>
              <a:t>校准的等待结束方法： </a:t>
            </a:r>
            <a:endParaRPr lang="en-US" altLang="zh-CN" b="1" dirty="0">
              <a:solidFill>
                <a:srgbClr val="14529E"/>
              </a:solidFill>
            </a:endParaRPr>
          </a:p>
          <a:p>
            <a:pPr>
              <a:lnSpc>
                <a:spcPct val="150000"/>
              </a:lnSpc>
            </a:pPr>
            <a:r>
              <a:rPr lang="en-US" dirty="0"/>
              <a:t>while(</a:t>
            </a:r>
            <a:r>
              <a:rPr lang="en-US" dirty="0" err="1"/>
              <a:t>ADC_GetResetCalibrationStatus</a:t>
            </a:r>
            <a:r>
              <a:rPr lang="en-US" dirty="0"/>
              <a:t>(ADC1)); //</a:t>
            </a:r>
            <a:r>
              <a:rPr lang="zh-CN" altLang="en-US" dirty="0">
                <a:solidFill>
                  <a:srgbClr val="FF0000"/>
                </a:solidFill>
              </a:rPr>
              <a:t>等待复位校准结束 </a:t>
            </a:r>
            <a:endParaRPr lang="en-US" altLang="zh-CN" dirty="0">
              <a:solidFill>
                <a:srgbClr val="FF0000"/>
              </a:solidFill>
            </a:endParaRPr>
          </a:p>
          <a:p>
            <a:pPr>
              <a:lnSpc>
                <a:spcPct val="150000"/>
              </a:lnSpc>
            </a:pPr>
            <a:r>
              <a:rPr lang="en-US" dirty="0"/>
              <a:t>while(</a:t>
            </a:r>
            <a:r>
              <a:rPr lang="en-US" dirty="0" err="1"/>
              <a:t>ADC_GetCalibrationStatus</a:t>
            </a:r>
            <a:r>
              <a:rPr lang="en-US" dirty="0"/>
              <a:t>(ADC1)); //</a:t>
            </a:r>
            <a:r>
              <a:rPr lang="zh-CN" altLang="en-US" dirty="0">
                <a:solidFill>
                  <a:srgbClr val="FF0000"/>
                </a:solidFill>
              </a:rPr>
              <a:t>等待校 </a:t>
            </a:r>
            <a:r>
              <a:rPr lang="en-US" dirty="0">
                <a:solidFill>
                  <a:srgbClr val="FF0000"/>
                </a:solidFill>
              </a:rPr>
              <a:t>AD </a:t>
            </a:r>
            <a:r>
              <a:rPr lang="zh-CN" altLang="en-US" dirty="0">
                <a:solidFill>
                  <a:srgbClr val="FF0000"/>
                </a:solidFill>
              </a:rPr>
              <a:t>准结束</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745870" y="669085"/>
            <a:ext cx="10921580" cy="5493812"/>
          </a:xfrm>
          <a:prstGeom prst="rect">
            <a:avLst/>
          </a:prstGeom>
        </p:spPr>
        <p:txBody>
          <a:bodyPr wrap="none">
            <a:spAutoFit/>
          </a:bodyPr>
          <a:lstStyle/>
          <a:p>
            <a:pPr>
              <a:lnSpc>
                <a:spcPct val="150000"/>
              </a:lnSpc>
            </a:pPr>
            <a:r>
              <a:rPr lang="zh-CN" altLang="en-US" b="1" dirty="0">
                <a:solidFill>
                  <a:srgbClr val="C00000"/>
                </a:solidFill>
              </a:rPr>
              <a:t>读取 </a:t>
            </a:r>
            <a:r>
              <a:rPr lang="en-US" b="1" dirty="0">
                <a:solidFill>
                  <a:srgbClr val="C00000"/>
                </a:solidFill>
              </a:rPr>
              <a:t>ADC </a:t>
            </a:r>
            <a:r>
              <a:rPr lang="zh-CN" altLang="en-US" b="1" dirty="0">
                <a:solidFill>
                  <a:srgbClr val="C00000"/>
                </a:solidFill>
              </a:rPr>
              <a:t>值</a:t>
            </a:r>
            <a:endParaRPr lang="en-US" altLang="zh-CN" b="1" dirty="0">
              <a:solidFill>
                <a:srgbClr val="C00000"/>
              </a:solidFill>
            </a:endParaRPr>
          </a:p>
          <a:p>
            <a:pPr>
              <a:lnSpc>
                <a:spcPct val="150000"/>
              </a:lnSpc>
            </a:pPr>
            <a:r>
              <a:rPr lang="zh-CN" altLang="en-US" dirty="0"/>
              <a:t>      校准完成之后，</a:t>
            </a:r>
            <a:r>
              <a:rPr lang="en-US" altLang="zh-CN" dirty="0"/>
              <a:t>ADC </a:t>
            </a:r>
            <a:r>
              <a:rPr lang="zh-CN" altLang="en-US" dirty="0"/>
              <a:t>就算准备好了。接下来我们要做的就是设置规则序列 里面的通道，采样顺序，</a:t>
            </a:r>
            <a:endParaRPr lang="en-US" altLang="zh-CN" dirty="0"/>
          </a:p>
          <a:p>
            <a:pPr>
              <a:lnSpc>
                <a:spcPct val="150000"/>
              </a:lnSpc>
            </a:pPr>
            <a:r>
              <a:rPr lang="zh-CN" altLang="en-US" dirty="0"/>
              <a:t>以及通道的采样周期，然后启动 </a:t>
            </a:r>
            <a:r>
              <a:rPr lang="en-US" altLang="zh-CN" dirty="0"/>
              <a:t>ADC </a:t>
            </a:r>
            <a:r>
              <a:rPr lang="zh-CN" altLang="en-US" dirty="0"/>
              <a:t>转换。在转换结束后，读取 </a:t>
            </a:r>
            <a:r>
              <a:rPr lang="en-US" altLang="zh-CN" dirty="0"/>
              <a:t>ADC </a:t>
            </a:r>
            <a:r>
              <a:rPr lang="zh-CN" altLang="en-US" dirty="0"/>
              <a:t>转换结果值。</a:t>
            </a:r>
            <a:endParaRPr lang="en-US" altLang="zh-CN" dirty="0"/>
          </a:p>
          <a:p>
            <a:pPr>
              <a:lnSpc>
                <a:spcPct val="150000"/>
              </a:lnSpc>
            </a:pPr>
            <a:r>
              <a:rPr lang="zh-CN" altLang="en-US" dirty="0">
                <a:solidFill>
                  <a:srgbClr val="FF0000"/>
                </a:solidFill>
              </a:rPr>
              <a:t>设置规则序列通道以及采样周期的函数是：</a:t>
            </a:r>
            <a:endParaRPr lang="en-US" altLang="zh-CN" dirty="0">
              <a:solidFill>
                <a:srgbClr val="FF0000"/>
              </a:solidFill>
            </a:endParaRPr>
          </a:p>
          <a:p>
            <a:pPr>
              <a:lnSpc>
                <a:spcPct val="150000"/>
              </a:lnSpc>
            </a:pPr>
            <a:r>
              <a:rPr lang="en-US" dirty="0"/>
              <a:t>void </a:t>
            </a:r>
            <a:r>
              <a:rPr lang="en-US" dirty="0" err="1"/>
              <a:t>ADC_RegularChannelConfig</a:t>
            </a:r>
            <a:r>
              <a:rPr lang="en-US" dirty="0"/>
              <a:t>(</a:t>
            </a:r>
            <a:r>
              <a:rPr lang="en-US" dirty="0" err="1"/>
              <a:t>ADC_TypeDef</a:t>
            </a:r>
            <a:r>
              <a:rPr lang="en-US" dirty="0"/>
              <a:t>* </a:t>
            </a:r>
            <a:r>
              <a:rPr lang="en-US" dirty="0" err="1"/>
              <a:t>ADCx</a:t>
            </a:r>
            <a:r>
              <a:rPr lang="en-US" dirty="0"/>
              <a:t>, uint8_t </a:t>
            </a:r>
            <a:r>
              <a:rPr lang="en-US" dirty="0" err="1"/>
              <a:t>ADC_Channel</a:t>
            </a:r>
            <a:r>
              <a:rPr lang="en-US" dirty="0"/>
              <a:t>, </a:t>
            </a:r>
          </a:p>
          <a:p>
            <a:pPr>
              <a:lnSpc>
                <a:spcPct val="150000"/>
              </a:lnSpc>
            </a:pPr>
            <a:r>
              <a:rPr lang="en-US" dirty="0"/>
              <a:t>uint8_t Rank, uint8_t </a:t>
            </a:r>
            <a:r>
              <a:rPr lang="en-US" dirty="0" err="1"/>
              <a:t>ADC_SampleTime</a:t>
            </a:r>
            <a:r>
              <a:rPr lang="en-US" dirty="0"/>
              <a:t>)； </a:t>
            </a:r>
          </a:p>
          <a:p>
            <a:pPr>
              <a:lnSpc>
                <a:spcPct val="150000"/>
              </a:lnSpc>
            </a:pPr>
            <a:r>
              <a:rPr lang="zh-CN" altLang="en-US" dirty="0">
                <a:solidFill>
                  <a:srgbClr val="14529E"/>
                </a:solidFill>
              </a:rPr>
              <a:t>参数</a:t>
            </a:r>
            <a:r>
              <a:rPr lang="en-US" altLang="zh-CN" dirty="0">
                <a:solidFill>
                  <a:srgbClr val="14529E"/>
                </a:solidFill>
              </a:rPr>
              <a:t>1</a:t>
            </a:r>
            <a:r>
              <a:rPr lang="zh-CN" altLang="en-US" dirty="0">
                <a:solidFill>
                  <a:srgbClr val="14529E"/>
                </a:solidFill>
              </a:rPr>
              <a:t>：</a:t>
            </a:r>
            <a:r>
              <a:rPr lang="en-US" altLang="zh-CN" dirty="0" err="1"/>
              <a:t>ADCx</a:t>
            </a:r>
            <a:r>
              <a:rPr lang="zh-CN" altLang="en-US" dirty="0"/>
              <a:t>：</a:t>
            </a:r>
            <a:r>
              <a:rPr lang="en-US" altLang="zh-CN" dirty="0"/>
              <a:t>x</a:t>
            </a:r>
            <a:r>
              <a:rPr lang="zh-CN" altLang="en-US" dirty="0"/>
              <a:t>可以是</a:t>
            </a:r>
            <a:r>
              <a:rPr lang="en-US" altLang="zh-CN" dirty="0"/>
              <a:t>1</a:t>
            </a:r>
            <a:r>
              <a:rPr lang="zh-CN" altLang="en-US" dirty="0"/>
              <a:t>或者</a:t>
            </a:r>
            <a:r>
              <a:rPr lang="en-US" altLang="zh-CN" dirty="0"/>
              <a:t>2</a:t>
            </a:r>
            <a:r>
              <a:rPr lang="zh-CN" altLang="en-US" dirty="0"/>
              <a:t>来选择</a:t>
            </a:r>
            <a:r>
              <a:rPr lang="en-US" altLang="zh-CN" dirty="0"/>
              <a:t>ADC</a:t>
            </a:r>
            <a:r>
              <a:rPr lang="zh-CN" altLang="en-US" dirty="0"/>
              <a:t>外设</a:t>
            </a:r>
            <a:r>
              <a:rPr lang="en-US" altLang="zh-CN" dirty="0"/>
              <a:t>ADC1</a:t>
            </a:r>
            <a:r>
              <a:rPr lang="zh-CN" altLang="en-US" dirty="0"/>
              <a:t>或</a:t>
            </a:r>
            <a:r>
              <a:rPr lang="en-US" altLang="zh-CN" dirty="0"/>
              <a:t>ADC2</a:t>
            </a:r>
          </a:p>
          <a:p>
            <a:pPr>
              <a:lnSpc>
                <a:spcPct val="150000"/>
              </a:lnSpc>
            </a:pPr>
            <a:r>
              <a:rPr lang="zh-CN" altLang="en-US" dirty="0">
                <a:solidFill>
                  <a:srgbClr val="14529E"/>
                </a:solidFill>
              </a:rPr>
              <a:t>参数</a:t>
            </a:r>
            <a:r>
              <a:rPr lang="en-US" altLang="zh-CN" dirty="0">
                <a:solidFill>
                  <a:srgbClr val="14529E"/>
                </a:solidFill>
              </a:rPr>
              <a:t>2</a:t>
            </a:r>
            <a:r>
              <a:rPr lang="zh-CN" altLang="en-US" dirty="0">
                <a:solidFill>
                  <a:srgbClr val="14529E"/>
                </a:solidFill>
              </a:rPr>
              <a:t>：</a:t>
            </a:r>
            <a:r>
              <a:rPr lang="en-US" altLang="zh-CN" dirty="0" err="1"/>
              <a:t>ADC_Channel</a:t>
            </a:r>
            <a:r>
              <a:rPr lang="zh-CN" altLang="en-US" dirty="0"/>
              <a:t>：被设置的</a:t>
            </a:r>
            <a:r>
              <a:rPr lang="en-US" altLang="zh-CN" dirty="0"/>
              <a:t>ADC</a:t>
            </a:r>
            <a:r>
              <a:rPr lang="zh-CN" altLang="en-US" dirty="0"/>
              <a:t>通道  范围</a:t>
            </a:r>
            <a:r>
              <a:rPr lang="en-US" altLang="zh-CN" dirty="0"/>
              <a:t>ADC_Channel_0~ADC_Channel_17</a:t>
            </a:r>
          </a:p>
          <a:p>
            <a:pPr>
              <a:lnSpc>
                <a:spcPct val="150000"/>
              </a:lnSpc>
            </a:pPr>
            <a:r>
              <a:rPr lang="zh-CN" altLang="en-US" dirty="0">
                <a:solidFill>
                  <a:srgbClr val="14529E"/>
                </a:solidFill>
              </a:rPr>
              <a:t>参数</a:t>
            </a:r>
            <a:r>
              <a:rPr lang="en-US" altLang="zh-CN" dirty="0">
                <a:solidFill>
                  <a:srgbClr val="14529E"/>
                </a:solidFill>
              </a:rPr>
              <a:t>3</a:t>
            </a:r>
            <a:r>
              <a:rPr lang="zh-CN" altLang="en-US" dirty="0">
                <a:solidFill>
                  <a:srgbClr val="14529E"/>
                </a:solidFill>
              </a:rPr>
              <a:t>：</a:t>
            </a:r>
            <a:r>
              <a:rPr lang="en-US" altLang="zh-CN" dirty="0"/>
              <a:t>Rank</a:t>
            </a:r>
            <a:r>
              <a:rPr lang="zh-CN" altLang="en-US" dirty="0"/>
              <a:t>：规则组采样顺序。取值范围</a:t>
            </a:r>
            <a:r>
              <a:rPr lang="en-US" altLang="zh-CN" dirty="0"/>
              <a:t>1</a:t>
            </a:r>
            <a:r>
              <a:rPr lang="zh-CN" altLang="en-US" dirty="0"/>
              <a:t>到</a:t>
            </a:r>
            <a:r>
              <a:rPr lang="en-US" altLang="zh-CN" dirty="0"/>
              <a:t>16</a:t>
            </a:r>
            <a:r>
              <a:rPr lang="zh-CN" altLang="en-US" dirty="0"/>
              <a:t>。</a:t>
            </a:r>
          </a:p>
          <a:p>
            <a:pPr>
              <a:lnSpc>
                <a:spcPct val="150000"/>
              </a:lnSpc>
            </a:pPr>
            <a:r>
              <a:rPr lang="zh-CN" altLang="en-US" dirty="0">
                <a:solidFill>
                  <a:srgbClr val="14529E"/>
                </a:solidFill>
              </a:rPr>
              <a:t>参数</a:t>
            </a:r>
            <a:r>
              <a:rPr lang="en-US" altLang="zh-CN" dirty="0">
                <a:solidFill>
                  <a:srgbClr val="14529E"/>
                </a:solidFill>
              </a:rPr>
              <a:t>4</a:t>
            </a:r>
            <a:r>
              <a:rPr lang="zh-CN" altLang="en-US" dirty="0">
                <a:solidFill>
                  <a:srgbClr val="14529E"/>
                </a:solidFill>
              </a:rPr>
              <a:t>：</a:t>
            </a:r>
            <a:r>
              <a:rPr lang="en-US" altLang="zh-CN" dirty="0" err="1"/>
              <a:t>ADC_SampleTime</a:t>
            </a:r>
            <a:r>
              <a:rPr lang="zh-CN" altLang="en-US" dirty="0"/>
              <a:t>：指定</a:t>
            </a:r>
            <a:r>
              <a:rPr lang="en-US" altLang="zh-CN" dirty="0"/>
              <a:t>ADC</a:t>
            </a:r>
            <a:r>
              <a:rPr lang="zh-CN" altLang="en-US" dirty="0"/>
              <a:t>通道的采样时间值  </a:t>
            </a:r>
            <a:endParaRPr lang="en-US" dirty="0"/>
          </a:p>
          <a:p>
            <a:pPr>
              <a:lnSpc>
                <a:spcPct val="150000"/>
              </a:lnSpc>
            </a:pPr>
            <a:r>
              <a:rPr lang="zh-CN" altLang="en-US" dirty="0"/>
              <a:t>假设这里是规则序列中的第 </a:t>
            </a:r>
            <a:r>
              <a:rPr lang="en-US" altLang="zh-CN" dirty="0"/>
              <a:t>1 </a:t>
            </a:r>
            <a:r>
              <a:rPr lang="zh-CN" altLang="en-US" dirty="0"/>
              <a:t>个转换，同时采样周期为 </a:t>
            </a:r>
            <a:r>
              <a:rPr lang="en-US" altLang="zh-CN" dirty="0"/>
              <a:t>239.5</a:t>
            </a:r>
            <a:r>
              <a:rPr lang="zh-CN" altLang="en-US" dirty="0"/>
              <a:t>，所以设置为：</a:t>
            </a:r>
            <a:endParaRPr lang="en-US" dirty="0"/>
          </a:p>
          <a:p>
            <a:pPr>
              <a:lnSpc>
                <a:spcPct val="150000"/>
              </a:lnSpc>
            </a:pPr>
            <a:r>
              <a:rPr lang="en-US" dirty="0" err="1"/>
              <a:t>ADC_RegularChannelConfig</a:t>
            </a:r>
            <a:r>
              <a:rPr lang="en-US" dirty="0"/>
              <a:t>(ADC1, ADC_Channel_0, 1, ADC_SampleTime_239Cycles5 ); </a:t>
            </a:r>
          </a:p>
          <a:p>
            <a:pPr>
              <a:lnSpc>
                <a:spcPct val="150000"/>
              </a:lnSpc>
            </a:pPr>
            <a:r>
              <a:rPr lang="zh-CN" altLang="en-US" b="1" dirty="0">
                <a:solidFill>
                  <a:srgbClr val="FF0000"/>
                </a:solidFill>
              </a:rPr>
              <a:t>采样时间可以配置为</a:t>
            </a:r>
            <a:r>
              <a:rPr lang="en-US" altLang="zh-CN" b="1" dirty="0">
                <a:solidFill>
                  <a:srgbClr val="FF0000"/>
                </a:solidFill>
              </a:rPr>
              <a:t>1.5</a:t>
            </a:r>
            <a:r>
              <a:rPr lang="zh-CN" altLang="en-US" b="1" dirty="0">
                <a:solidFill>
                  <a:srgbClr val="FF0000"/>
                </a:solidFill>
              </a:rPr>
              <a:t>、</a:t>
            </a:r>
            <a:r>
              <a:rPr lang="en-US" altLang="zh-CN" b="1" dirty="0">
                <a:solidFill>
                  <a:srgbClr val="FF0000"/>
                </a:solidFill>
              </a:rPr>
              <a:t>7.5</a:t>
            </a:r>
            <a:r>
              <a:rPr lang="zh-CN" altLang="en-US" b="1" dirty="0">
                <a:solidFill>
                  <a:srgbClr val="FF0000"/>
                </a:solidFill>
              </a:rPr>
              <a:t>、</a:t>
            </a:r>
            <a:r>
              <a:rPr lang="en-US" altLang="zh-CN" b="1" dirty="0">
                <a:solidFill>
                  <a:srgbClr val="FF0000"/>
                </a:solidFill>
              </a:rPr>
              <a:t>13.5</a:t>
            </a:r>
            <a:r>
              <a:rPr lang="zh-CN" altLang="en-US" b="1" dirty="0">
                <a:solidFill>
                  <a:srgbClr val="FF0000"/>
                </a:solidFill>
              </a:rPr>
              <a:t>、</a:t>
            </a:r>
            <a:r>
              <a:rPr lang="en-US" altLang="zh-CN" b="1" dirty="0">
                <a:solidFill>
                  <a:srgbClr val="FF0000"/>
                </a:solidFill>
              </a:rPr>
              <a:t>28.5</a:t>
            </a:r>
            <a:r>
              <a:rPr lang="zh-CN" altLang="en-US" b="1" dirty="0">
                <a:solidFill>
                  <a:srgbClr val="FF0000"/>
                </a:solidFill>
              </a:rPr>
              <a:t>、</a:t>
            </a:r>
            <a:r>
              <a:rPr lang="en-US" altLang="zh-CN" b="1" dirty="0">
                <a:solidFill>
                  <a:srgbClr val="FF0000"/>
                </a:solidFill>
              </a:rPr>
              <a:t>41.5</a:t>
            </a:r>
            <a:r>
              <a:rPr lang="zh-CN" altLang="en-US" b="1" dirty="0">
                <a:solidFill>
                  <a:srgbClr val="FF0000"/>
                </a:solidFill>
              </a:rPr>
              <a:t>、</a:t>
            </a:r>
            <a:r>
              <a:rPr lang="en-US" altLang="zh-CN" b="1" dirty="0">
                <a:solidFill>
                  <a:srgbClr val="FF0000"/>
                </a:solidFill>
              </a:rPr>
              <a:t>55.5</a:t>
            </a:r>
            <a:r>
              <a:rPr lang="zh-CN" altLang="en-US" b="1" dirty="0">
                <a:solidFill>
                  <a:srgbClr val="FF0000"/>
                </a:solidFill>
              </a:rPr>
              <a:t>、</a:t>
            </a:r>
            <a:r>
              <a:rPr lang="en-US" altLang="zh-CN" b="1" dirty="0">
                <a:solidFill>
                  <a:srgbClr val="FF0000"/>
                </a:solidFill>
              </a:rPr>
              <a:t>71.5</a:t>
            </a:r>
            <a:r>
              <a:rPr lang="zh-CN" altLang="en-US" b="1" dirty="0">
                <a:solidFill>
                  <a:srgbClr val="FF0000"/>
                </a:solidFill>
              </a:rPr>
              <a:t>、</a:t>
            </a:r>
            <a:r>
              <a:rPr lang="en-US" altLang="zh-CN" b="1" dirty="0">
                <a:solidFill>
                  <a:srgbClr val="FF0000"/>
                </a:solidFill>
              </a:rPr>
              <a:t>239.5</a:t>
            </a:r>
            <a:r>
              <a:rPr lang="zh-CN" altLang="en-US" b="1" dirty="0">
                <a:solidFill>
                  <a:srgbClr val="FF0000"/>
                </a:solidFill>
              </a:rPr>
              <a:t>这样几个</a:t>
            </a:r>
            <a:r>
              <a:rPr lang="en-US" altLang="zh-CN" b="1" dirty="0">
                <a:solidFill>
                  <a:srgbClr val="FF0000"/>
                </a:solidFill>
              </a:rPr>
              <a:t>ADC</a:t>
            </a:r>
            <a:r>
              <a:rPr lang="zh-CN" altLang="en-US" b="1" dirty="0">
                <a:solidFill>
                  <a:srgbClr val="FF0000"/>
                </a:solidFill>
              </a:rPr>
              <a:t>时钟周期。</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91113" y="697275"/>
            <a:ext cx="11900887" cy="5632311"/>
          </a:xfrm>
          <a:prstGeom prst="rect">
            <a:avLst/>
          </a:prstGeom>
        </p:spPr>
        <p:txBody>
          <a:bodyPr wrap="none">
            <a:spAutoFit/>
          </a:bodyPr>
          <a:lstStyle/>
          <a:p>
            <a:pPr>
              <a:lnSpc>
                <a:spcPct val="150000"/>
              </a:lnSpc>
            </a:pPr>
            <a:r>
              <a:rPr lang="zh-CN" altLang="en-US" sz="2400" dirty="0">
                <a:solidFill>
                  <a:srgbClr val="FF0000"/>
                </a:solidFill>
              </a:rPr>
              <a:t>软件开启 </a:t>
            </a:r>
            <a:r>
              <a:rPr lang="en-US" altLang="zh-CN" sz="2400" dirty="0">
                <a:solidFill>
                  <a:srgbClr val="FF0000"/>
                </a:solidFill>
              </a:rPr>
              <a:t>ADC </a:t>
            </a:r>
            <a:r>
              <a:rPr lang="zh-CN" altLang="en-US" sz="2400" dirty="0">
                <a:solidFill>
                  <a:srgbClr val="FF0000"/>
                </a:solidFill>
              </a:rPr>
              <a:t>转换的方法是：</a:t>
            </a:r>
            <a:endParaRPr lang="en-US" altLang="zh-CN" sz="2400" dirty="0">
              <a:solidFill>
                <a:srgbClr val="FF0000"/>
              </a:solidFill>
            </a:endParaRPr>
          </a:p>
          <a:p>
            <a:pPr>
              <a:lnSpc>
                <a:spcPct val="150000"/>
              </a:lnSpc>
            </a:pPr>
            <a:r>
              <a:rPr lang="en-US" sz="2400" dirty="0" err="1"/>
              <a:t>ADC_SoftwareStartConvCmd</a:t>
            </a:r>
            <a:r>
              <a:rPr lang="en-US" sz="2400" dirty="0"/>
              <a:t>(ADC1, ENABLE);//</a:t>
            </a:r>
            <a:r>
              <a:rPr lang="zh-CN" altLang="en-US" sz="2400" dirty="0"/>
              <a:t>使能指定的 </a:t>
            </a:r>
            <a:r>
              <a:rPr lang="en-US" sz="2400" dirty="0"/>
              <a:t>ADC1 </a:t>
            </a:r>
            <a:r>
              <a:rPr lang="zh-CN" altLang="en-US" sz="2400" dirty="0"/>
              <a:t>的软件</a:t>
            </a:r>
            <a:endParaRPr lang="en-US" altLang="zh-CN" sz="2400" dirty="0"/>
          </a:p>
          <a:p>
            <a:pPr>
              <a:lnSpc>
                <a:spcPct val="150000"/>
              </a:lnSpc>
            </a:pPr>
            <a:r>
              <a:rPr lang="zh-CN" altLang="en-US" sz="2400" dirty="0"/>
              <a:t>转换启动功能，</a:t>
            </a:r>
            <a:r>
              <a:rPr lang="zh-CN" altLang="en-US" sz="2400" dirty="0">
                <a:solidFill>
                  <a:srgbClr val="FF0000"/>
                </a:solidFill>
              </a:rPr>
              <a:t>开启转换之后，就可以获取转换 </a:t>
            </a:r>
            <a:r>
              <a:rPr lang="en-US" altLang="zh-CN" sz="2400" dirty="0">
                <a:solidFill>
                  <a:srgbClr val="FF0000"/>
                </a:solidFill>
              </a:rPr>
              <a:t>ADC </a:t>
            </a:r>
            <a:r>
              <a:rPr lang="zh-CN" altLang="en-US" sz="2400" dirty="0">
                <a:solidFill>
                  <a:srgbClr val="FF0000"/>
                </a:solidFill>
              </a:rPr>
              <a:t>转换结果数据，方法是：</a:t>
            </a:r>
            <a:endParaRPr lang="en-US" altLang="zh-CN" sz="2400" dirty="0">
              <a:solidFill>
                <a:srgbClr val="FF0000"/>
              </a:solidFill>
            </a:endParaRPr>
          </a:p>
          <a:p>
            <a:pPr>
              <a:lnSpc>
                <a:spcPct val="150000"/>
              </a:lnSpc>
            </a:pPr>
            <a:r>
              <a:rPr lang="en-US" sz="2400" dirty="0" err="1"/>
              <a:t>ADC_GetConversionValue</a:t>
            </a:r>
            <a:r>
              <a:rPr lang="en-US" sz="2400" dirty="0"/>
              <a:t>(ADC1);</a:t>
            </a:r>
          </a:p>
          <a:p>
            <a:pPr>
              <a:lnSpc>
                <a:spcPct val="150000"/>
              </a:lnSpc>
            </a:pPr>
            <a:r>
              <a:rPr lang="zh-CN" altLang="en-US" sz="2400" dirty="0"/>
              <a:t>同时在 </a:t>
            </a:r>
            <a:r>
              <a:rPr lang="en-US" altLang="zh-CN" sz="2400" dirty="0"/>
              <a:t>AD </a:t>
            </a:r>
            <a:r>
              <a:rPr lang="zh-CN" altLang="en-US" sz="2400" dirty="0"/>
              <a:t>转换中，我们还要根据状态寄存器的标志位来获取 </a:t>
            </a:r>
            <a:r>
              <a:rPr lang="en-US" altLang="zh-CN" sz="2400" dirty="0"/>
              <a:t>AD </a:t>
            </a:r>
            <a:r>
              <a:rPr lang="zh-CN" altLang="en-US" sz="2400" dirty="0"/>
              <a:t>转换的各个状态</a:t>
            </a:r>
            <a:endParaRPr lang="en-US" altLang="zh-CN" sz="2400" dirty="0"/>
          </a:p>
          <a:p>
            <a:pPr>
              <a:lnSpc>
                <a:spcPct val="150000"/>
              </a:lnSpc>
            </a:pPr>
            <a:r>
              <a:rPr lang="zh-CN" altLang="en-US" sz="2400" dirty="0"/>
              <a:t>信息。</a:t>
            </a:r>
            <a:endParaRPr lang="en-US" altLang="zh-CN" sz="2400" dirty="0"/>
          </a:p>
          <a:p>
            <a:pPr>
              <a:lnSpc>
                <a:spcPct val="150000"/>
              </a:lnSpc>
            </a:pPr>
            <a:r>
              <a:rPr lang="zh-CN" altLang="en-US" sz="2400" dirty="0">
                <a:solidFill>
                  <a:srgbClr val="FF0000"/>
                </a:solidFill>
              </a:rPr>
              <a:t>库函数获取 </a:t>
            </a:r>
            <a:r>
              <a:rPr lang="en-US" altLang="zh-CN" sz="2400" dirty="0">
                <a:solidFill>
                  <a:srgbClr val="FF0000"/>
                </a:solidFill>
              </a:rPr>
              <a:t>AD </a:t>
            </a:r>
            <a:r>
              <a:rPr lang="zh-CN" altLang="en-US" sz="2400" dirty="0">
                <a:solidFill>
                  <a:srgbClr val="FF0000"/>
                </a:solidFill>
              </a:rPr>
              <a:t>转换的状态信息的函数是：</a:t>
            </a:r>
            <a:endParaRPr lang="en-US" altLang="zh-CN" sz="2400" dirty="0">
              <a:solidFill>
                <a:srgbClr val="FF0000"/>
              </a:solidFill>
            </a:endParaRPr>
          </a:p>
          <a:p>
            <a:pPr>
              <a:lnSpc>
                <a:spcPct val="150000"/>
              </a:lnSpc>
            </a:pPr>
            <a:r>
              <a:rPr lang="en-US" sz="2400" dirty="0" err="1"/>
              <a:t>FlagStatus</a:t>
            </a:r>
            <a:r>
              <a:rPr lang="en-US" sz="2400" dirty="0"/>
              <a:t> </a:t>
            </a:r>
            <a:r>
              <a:rPr lang="en-US" sz="2400" dirty="0" err="1"/>
              <a:t>ADC_GetFlagStatus</a:t>
            </a:r>
            <a:r>
              <a:rPr lang="en-US" sz="2400" dirty="0"/>
              <a:t>(</a:t>
            </a:r>
            <a:r>
              <a:rPr lang="en-US" sz="2400" dirty="0" err="1"/>
              <a:t>ADC_TypeDef</a:t>
            </a:r>
            <a:r>
              <a:rPr lang="en-US" sz="2400" dirty="0"/>
              <a:t>* </a:t>
            </a:r>
            <a:r>
              <a:rPr lang="en-US" sz="2400" dirty="0" err="1"/>
              <a:t>ADCx</a:t>
            </a:r>
            <a:r>
              <a:rPr lang="en-US" sz="2400" dirty="0"/>
              <a:t>, uint8_t ADC_FLAG)</a:t>
            </a:r>
            <a:r>
              <a:rPr lang="zh-CN" altLang="en-US" sz="2400" dirty="0"/>
              <a:t>；</a:t>
            </a:r>
            <a:endParaRPr lang="en-US" altLang="zh-CN" sz="2400" dirty="0"/>
          </a:p>
          <a:p>
            <a:pPr>
              <a:lnSpc>
                <a:spcPct val="150000"/>
              </a:lnSpc>
            </a:pPr>
            <a:r>
              <a:rPr lang="zh-CN" altLang="en-US" sz="2400" dirty="0"/>
              <a:t>比如我们要判断 </a:t>
            </a:r>
            <a:r>
              <a:rPr lang="en-US" altLang="zh-CN" sz="2400" dirty="0"/>
              <a:t>ADC1 </a:t>
            </a:r>
            <a:r>
              <a:rPr lang="zh-CN" altLang="en-US" sz="2400" dirty="0"/>
              <a:t>的转换是否结束，方法是：</a:t>
            </a:r>
            <a:endParaRPr lang="en-US" altLang="zh-CN" sz="2400" dirty="0"/>
          </a:p>
          <a:p>
            <a:pPr>
              <a:lnSpc>
                <a:spcPct val="150000"/>
              </a:lnSpc>
            </a:pPr>
            <a:r>
              <a:rPr lang="en-US" sz="2400" dirty="0"/>
              <a:t>while(!</a:t>
            </a:r>
            <a:r>
              <a:rPr lang="en-US" sz="2400" dirty="0" err="1"/>
              <a:t>ADC_GetFlagStatus</a:t>
            </a:r>
            <a:r>
              <a:rPr lang="en-US" sz="2400" dirty="0"/>
              <a:t>(ADC1, ADC_FLAG_EOC ));//</a:t>
            </a:r>
            <a:r>
              <a:rPr lang="zh-CN" altLang="en-US" sz="2400" dirty="0"/>
              <a:t>等待转换结束</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83297" y="838811"/>
            <a:ext cx="7420947" cy="4606774"/>
          </a:xfrm>
          <a:prstGeom prst="rect">
            <a:avLst/>
          </a:prstGeom>
        </p:spPr>
        <p:txBody>
          <a:bodyPr wrap="square">
            <a:spAutoFit/>
          </a:bodyPr>
          <a:lstStyle/>
          <a:p>
            <a:pPr>
              <a:lnSpc>
                <a:spcPct val="150000"/>
              </a:lnSpc>
            </a:pPr>
            <a:r>
              <a:rPr lang="en-US" altLang="zh-CN" dirty="0"/>
              <a:t> while(1) { </a:t>
            </a:r>
          </a:p>
          <a:p>
            <a:pPr>
              <a:lnSpc>
                <a:spcPct val="150000"/>
              </a:lnSpc>
            </a:pPr>
            <a:r>
              <a:rPr lang="en-US" altLang="zh-CN" dirty="0"/>
              <a:t> /* </a:t>
            </a:r>
            <a:r>
              <a:rPr lang="zh-CN" altLang="en-US" dirty="0"/>
              <a:t>启动转换 *</a:t>
            </a:r>
            <a:r>
              <a:rPr lang="en-US" altLang="zh-CN" dirty="0"/>
              <a:t>/  </a:t>
            </a:r>
          </a:p>
          <a:p>
            <a:pPr>
              <a:lnSpc>
                <a:spcPct val="150000"/>
              </a:lnSpc>
            </a:pPr>
            <a:r>
              <a:rPr lang="en-US" altLang="zh-CN" dirty="0" err="1"/>
              <a:t>ADC_SoftwareStartConvCmd</a:t>
            </a:r>
            <a:r>
              <a:rPr lang="en-US" altLang="zh-CN" dirty="0"/>
              <a:t>(ADC1, ENABLE); </a:t>
            </a:r>
          </a:p>
          <a:p>
            <a:pPr>
              <a:lnSpc>
                <a:spcPct val="150000"/>
              </a:lnSpc>
            </a:pPr>
            <a:r>
              <a:rPr lang="en-US" altLang="zh-CN" dirty="0"/>
              <a:t> /* </a:t>
            </a:r>
            <a:r>
              <a:rPr lang="zh-CN" altLang="en-US" dirty="0"/>
              <a:t>等待转换结束 *</a:t>
            </a:r>
            <a:r>
              <a:rPr lang="en-US" altLang="zh-CN" dirty="0"/>
              <a:t>/ </a:t>
            </a:r>
          </a:p>
          <a:p>
            <a:pPr>
              <a:lnSpc>
                <a:spcPct val="150000"/>
              </a:lnSpc>
            </a:pPr>
            <a:r>
              <a:rPr lang="en-US" altLang="zh-CN" dirty="0"/>
              <a:t> while(!</a:t>
            </a:r>
            <a:r>
              <a:rPr lang="en-US" altLang="zh-CN" dirty="0" err="1"/>
              <a:t>ADC_GetFlagStatus</a:t>
            </a:r>
            <a:r>
              <a:rPr lang="en-US" altLang="zh-CN" dirty="0"/>
              <a:t>(ADC1,ADC_FLAG_EOC));  </a:t>
            </a:r>
          </a:p>
          <a:p>
            <a:pPr>
              <a:lnSpc>
                <a:spcPct val="150000"/>
              </a:lnSpc>
            </a:pPr>
            <a:r>
              <a:rPr lang="en-US" altLang="zh-CN" dirty="0"/>
              <a:t>  /* </a:t>
            </a:r>
            <a:r>
              <a:rPr lang="zh-CN" altLang="en-US" dirty="0"/>
              <a:t>获取转换值 *</a:t>
            </a:r>
            <a:r>
              <a:rPr lang="en-US" altLang="zh-CN" dirty="0"/>
              <a:t>/ </a:t>
            </a:r>
          </a:p>
          <a:p>
            <a:pPr>
              <a:lnSpc>
                <a:spcPct val="150000"/>
              </a:lnSpc>
            </a:pPr>
            <a:r>
              <a:rPr lang="en-US" altLang="zh-CN" dirty="0"/>
              <a:t> value = </a:t>
            </a:r>
            <a:r>
              <a:rPr lang="en-US" altLang="zh-CN" dirty="0" err="1"/>
              <a:t>ADC_GetConversionValue</a:t>
            </a:r>
            <a:r>
              <a:rPr lang="en-US" altLang="zh-CN" dirty="0"/>
              <a:t>(ADC1);    </a:t>
            </a:r>
          </a:p>
          <a:p>
            <a:pPr>
              <a:lnSpc>
                <a:spcPct val="150000"/>
              </a:lnSpc>
            </a:pPr>
            <a:r>
              <a:rPr lang="en-US" altLang="zh-CN" dirty="0"/>
              <a:t>/* </a:t>
            </a:r>
            <a:r>
              <a:rPr lang="zh-CN" altLang="en-US" dirty="0"/>
              <a:t>将数字量转换为电压值 *</a:t>
            </a:r>
            <a:r>
              <a:rPr lang="en-US" altLang="zh-CN" dirty="0"/>
              <a:t>/  </a:t>
            </a:r>
          </a:p>
          <a:p>
            <a:pPr>
              <a:lnSpc>
                <a:spcPct val="150000"/>
              </a:lnSpc>
            </a:pPr>
            <a:r>
              <a:rPr lang="en-US" altLang="zh-CN" dirty="0"/>
              <a:t>V = (float)value / 4096 * 3.3;    </a:t>
            </a:r>
          </a:p>
          <a:p>
            <a:pPr>
              <a:lnSpc>
                <a:spcPct val="150000"/>
              </a:lnSpc>
            </a:pPr>
            <a:r>
              <a:rPr lang="en-US" altLang="zh-CN" dirty="0" err="1"/>
              <a:t>delay_ms</a:t>
            </a:r>
            <a:r>
              <a:rPr lang="en-US" altLang="zh-CN" dirty="0"/>
              <a:t>(1000); </a:t>
            </a:r>
          </a:p>
          <a:p>
            <a:pPr>
              <a:lnSpc>
                <a:spcPct val="150000"/>
              </a:lnSpc>
            </a:pPr>
            <a:r>
              <a:rPr lang="en-US" altLang="zh-CN" dirty="0"/>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02120" y="501134"/>
            <a:ext cx="9307420" cy="5853269"/>
          </a:xfrm>
          <a:prstGeom prst="rect">
            <a:avLst/>
          </a:prstGeom>
        </p:spPr>
        <p:txBody>
          <a:bodyPr wrap="none">
            <a:spAutoFit/>
          </a:bodyPr>
          <a:lstStyle/>
          <a:p>
            <a:pPr latinLnBrk="1">
              <a:lnSpc>
                <a:spcPct val="150000"/>
              </a:lnSpc>
            </a:pPr>
            <a:r>
              <a:rPr lang="zh-CN" altLang="en-US" b="1" dirty="0">
                <a:solidFill>
                  <a:srgbClr val="C00000"/>
                </a:solidFill>
              </a:rPr>
              <a:t>多通道</a:t>
            </a:r>
            <a:r>
              <a:rPr lang="en-US" b="1" dirty="0">
                <a:solidFill>
                  <a:srgbClr val="C00000"/>
                </a:solidFill>
              </a:rPr>
              <a:t>ADC</a:t>
            </a:r>
            <a:r>
              <a:rPr lang="zh-CN" altLang="en-US" b="1" dirty="0">
                <a:solidFill>
                  <a:srgbClr val="C00000"/>
                </a:solidFill>
              </a:rPr>
              <a:t>转换</a:t>
            </a:r>
            <a:endParaRPr lang="en-US" altLang="zh-CN" b="1" dirty="0">
              <a:solidFill>
                <a:srgbClr val="C00000"/>
              </a:solidFill>
            </a:endParaRPr>
          </a:p>
          <a:p>
            <a:pPr latinLnBrk="1">
              <a:lnSpc>
                <a:spcPct val="150000"/>
              </a:lnSpc>
            </a:pPr>
            <a:r>
              <a:rPr lang="zh-CN" altLang="en-US" dirty="0">
                <a:solidFill>
                  <a:srgbClr val="14529E"/>
                </a:solidFill>
              </a:rPr>
              <a:t>第一步：配置相应</a:t>
            </a:r>
            <a:r>
              <a:rPr lang="en-US" altLang="zh-CN" dirty="0">
                <a:solidFill>
                  <a:srgbClr val="14529E"/>
                </a:solidFill>
              </a:rPr>
              <a:t>I/O</a:t>
            </a:r>
            <a:r>
              <a:rPr lang="zh-CN" altLang="en-US" dirty="0">
                <a:solidFill>
                  <a:srgbClr val="14529E"/>
                </a:solidFill>
              </a:rPr>
              <a:t>口（设使用</a:t>
            </a:r>
            <a:r>
              <a:rPr lang="en-US" altLang="zh-CN" dirty="0">
                <a:solidFill>
                  <a:srgbClr val="14529E"/>
                </a:solidFill>
              </a:rPr>
              <a:t>PA1</a:t>
            </a:r>
            <a:r>
              <a:rPr lang="zh-CN" altLang="en-US" dirty="0">
                <a:solidFill>
                  <a:srgbClr val="14529E"/>
                </a:solidFill>
              </a:rPr>
              <a:t>和</a:t>
            </a:r>
            <a:r>
              <a:rPr lang="en-US" altLang="zh-CN" dirty="0">
                <a:solidFill>
                  <a:srgbClr val="14529E"/>
                </a:solidFill>
              </a:rPr>
              <a:t>PB1</a:t>
            </a:r>
            <a:r>
              <a:rPr lang="zh-CN" altLang="en-US" dirty="0">
                <a:solidFill>
                  <a:srgbClr val="14529E"/>
                </a:solidFill>
              </a:rPr>
              <a:t>，通道</a:t>
            </a:r>
            <a:r>
              <a:rPr lang="en-US" altLang="zh-CN" dirty="0">
                <a:solidFill>
                  <a:srgbClr val="14529E"/>
                </a:solidFill>
              </a:rPr>
              <a:t>1</a:t>
            </a:r>
            <a:r>
              <a:rPr lang="zh-CN" altLang="en-US" dirty="0">
                <a:solidFill>
                  <a:srgbClr val="14529E"/>
                </a:solidFill>
              </a:rPr>
              <a:t>和通道</a:t>
            </a:r>
            <a:r>
              <a:rPr lang="en-US" altLang="zh-CN" dirty="0">
                <a:solidFill>
                  <a:srgbClr val="14529E"/>
                </a:solidFill>
              </a:rPr>
              <a:t>8</a:t>
            </a:r>
            <a:r>
              <a:rPr lang="zh-CN" altLang="en-US" dirty="0">
                <a:solidFill>
                  <a:srgbClr val="14529E"/>
                </a:solidFill>
              </a:rPr>
              <a:t>，使用规则通道）</a:t>
            </a:r>
            <a:endParaRPr lang="en-US" altLang="zh-CN" dirty="0">
              <a:solidFill>
                <a:srgbClr val="14529E"/>
              </a:solidFill>
            </a:endParaRPr>
          </a:p>
          <a:p>
            <a:pPr>
              <a:lnSpc>
                <a:spcPct val="150000"/>
              </a:lnSpc>
            </a:pPr>
            <a:r>
              <a:rPr lang="en-US" dirty="0" err="1"/>
              <a:t>GPIO_InitTypeDef</a:t>
            </a:r>
            <a:r>
              <a:rPr lang="en-US" dirty="0"/>
              <a:t> </a:t>
            </a:r>
            <a:r>
              <a:rPr lang="en-US" dirty="0" err="1"/>
              <a:t>GPIO_InitStructure</a:t>
            </a:r>
            <a:r>
              <a:rPr lang="en-US" dirty="0"/>
              <a:t>;</a:t>
            </a:r>
            <a:br>
              <a:rPr lang="en-US" dirty="0"/>
            </a:br>
            <a:r>
              <a:rPr lang="en-US" dirty="0"/>
              <a:t>RCC_APB2PeriphClockCmd(RCC_APB2Periph_GPIOA|RCC_APB2Periph_GPIOB,</a:t>
            </a:r>
          </a:p>
          <a:p>
            <a:pPr>
              <a:lnSpc>
                <a:spcPct val="150000"/>
              </a:lnSpc>
            </a:pPr>
            <a:r>
              <a:rPr lang="en-US" dirty="0"/>
              <a:t>RCC_APB2Periph_AFIO,ENABLE); //</a:t>
            </a:r>
            <a:r>
              <a:rPr lang="zh-CN" altLang="en-US" dirty="0">
                <a:solidFill>
                  <a:srgbClr val="FF0000"/>
                </a:solidFill>
              </a:rPr>
              <a:t>打开相应时钟</a:t>
            </a:r>
            <a:br>
              <a:rPr lang="zh-CN" altLang="en-US" dirty="0"/>
            </a:br>
            <a:r>
              <a:rPr lang="en-US" dirty="0" err="1"/>
              <a:t>GPIO_InitStructure.GPIO_Pin</a:t>
            </a:r>
            <a:r>
              <a:rPr lang="en-US" dirty="0"/>
              <a:t>=GPIO_Pin_1; //</a:t>
            </a:r>
            <a:r>
              <a:rPr lang="zh-CN" altLang="en-US" dirty="0">
                <a:solidFill>
                  <a:srgbClr val="FF0000"/>
                </a:solidFill>
              </a:rPr>
              <a:t>选择你要设置的</a:t>
            </a:r>
            <a:r>
              <a:rPr lang="en-US" dirty="0">
                <a:solidFill>
                  <a:srgbClr val="FF0000"/>
                </a:solidFill>
              </a:rPr>
              <a:t>IO</a:t>
            </a:r>
            <a:r>
              <a:rPr lang="zh-CN" altLang="en-US" dirty="0">
                <a:solidFill>
                  <a:srgbClr val="FF0000"/>
                </a:solidFill>
              </a:rPr>
              <a:t>口</a:t>
            </a:r>
            <a:br>
              <a:rPr lang="zh-CN" altLang="en-US" dirty="0"/>
            </a:br>
            <a:r>
              <a:rPr lang="en-US" dirty="0" err="1"/>
              <a:t>GPIO_InitStructure.GPIO_Mode</a:t>
            </a:r>
            <a:r>
              <a:rPr lang="en-US" dirty="0"/>
              <a:t>=</a:t>
            </a:r>
            <a:r>
              <a:rPr lang="en-US" dirty="0" err="1"/>
              <a:t>GPIO_Mode_AIN</a:t>
            </a:r>
            <a:r>
              <a:rPr lang="en-US" dirty="0"/>
              <a:t>; //</a:t>
            </a:r>
            <a:r>
              <a:rPr lang="zh-CN" altLang="en-US" dirty="0">
                <a:solidFill>
                  <a:srgbClr val="FF0000"/>
                </a:solidFill>
              </a:rPr>
              <a:t>模拟输入模式</a:t>
            </a:r>
            <a:br>
              <a:rPr lang="zh-CN" altLang="en-US" dirty="0"/>
            </a:br>
            <a:r>
              <a:rPr lang="en-US" dirty="0" err="1"/>
              <a:t>GPIO_InitStructure.GPIO_Speed</a:t>
            </a:r>
            <a:r>
              <a:rPr lang="en-US" dirty="0"/>
              <a:t>=GPIO_Speed_50MHz; //</a:t>
            </a:r>
            <a:r>
              <a:rPr lang="zh-CN" altLang="en-US" dirty="0">
                <a:solidFill>
                  <a:srgbClr val="FF0000"/>
                </a:solidFill>
              </a:rPr>
              <a:t>设置传输速率</a:t>
            </a:r>
            <a:br>
              <a:rPr lang="zh-CN" altLang="en-US" dirty="0"/>
            </a:br>
            <a:r>
              <a:rPr lang="en-US" dirty="0" err="1"/>
              <a:t>GPIO_Init</a:t>
            </a:r>
            <a:r>
              <a:rPr lang="en-US" dirty="0"/>
              <a:t>(</a:t>
            </a:r>
            <a:r>
              <a:rPr lang="en-US" dirty="0" err="1"/>
              <a:t>GPIOA,&amp;GPIO_InitStructure</a:t>
            </a:r>
            <a:r>
              <a:rPr lang="en-US" dirty="0"/>
              <a:t>); </a:t>
            </a:r>
            <a:r>
              <a:rPr lang="en-US" dirty="0">
                <a:solidFill>
                  <a:srgbClr val="FF0000"/>
                </a:solidFill>
              </a:rPr>
              <a:t>/* </a:t>
            </a:r>
            <a:r>
              <a:rPr lang="zh-CN" altLang="en-US" dirty="0">
                <a:solidFill>
                  <a:srgbClr val="FF0000"/>
                </a:solidFill>
              </a:rPr>
              <a:t>初始化</a:t>
            </a:r>
            <a:r>
              <a:rPr lang="en-US" dirty="0">
                <a:solidFill>
                  <a:srgbClr val="FF0000"/>
                </a:solidFill>
              </a:rPr>
              <a:t>GPIO */</a:t>
            </a:r>
          </a:p>
          <a:p>
            <a:pPr>
              <a:lnSpc>
                <a:spcPct val="150000"/>
              </a:lnSpc>
            </a:pPr>
            <a:r>
              <a:rPr lang="en-US" dirty="0" err="1"/>
              <a:t>GPIO_InitStructure.GPIO_Pin</a:t>
            </a:r>
            <a:r>
              <a:rPr lang="en-US" dirty="0"/>
              <a:t>=GPIO_Pin_0; //</a:t>
            </a:r>
            <a:r>
              <a:rPr lang="zh-CN" altLang="en-US" dirty="0">
                <a:solidFill>
                  <a:srgbClr val="FF0000"/>
                </a:solidFill>
              </a:rPr>
              <a:t>选择你要设置的</a:t>
            </a:r>
            <a:r>
              <a:rPr lang="en-US" dirty="0">
                <a:solidFill>
                  <a:srgbClr val="FF0000"/>
                </a:solidFill>
              </a:rPr>
              <a:t>IO</a:t>
            </a:r>
            <a:r>
              <a:rPr lang="zh-CN" altLang="en-US" dirty="0">
                <a:solidFill>
                  <a:srgbClr val="FF0000"/>
                </a:solidFill>
              </a:rPr>
              <a:t>口</a:t>
            </a:r>
            <a:br>
              <a:rPr lang="zh-CN" altLang="en-US" dirty="0"/>
            </a:br>
            <a:r>
              <a:rPr lang="en-US" dirty="0" err="1"/>
              <a:t>GPIO_InitStructure.GPIO_Mode</a:t>
            </a:r>
            <a:r>
              <a:rPr lang="en-US" dirty="0"/>
              <a:t>=</a:t>
            </a:r>
            <a:r>
              <a:rPr lang="en-US" dirty="0" err="1"/>
              <a:t>GPIO_Mode_AIN</a:t>
            </a:r>
            <a:r>
              <a:rPr lang="en-US" dirty="0"/>
              <a:t>; //</a:t>
            </a:r>
            <a:r>
              <a:rPr lang="zh-CN" altLang="en-US" dirty="0">
                <a:solidFill>
                  <a:srgbClr val="FF0000"/>
                </a:solidFill>
              </a:rPr>
              <a:t>模拟输入模式</a:t>
            </a:r>
            <a:br>
              <a:rPr lang="zh-CN" altLang="en-US" dirty="0"/>
            </a:br>
            <a:r>
              <a:rPr lang="en-US" dirty="0" err="1"/>
              <a:t>GPIO_InitStructure.GPIO_Speed</a:t>
            </a:r>
            <a:r>
              <a:rPr lang="en-US" dirty="0"/>
              <a:t>=GPIO_Speed_50MHz; //</a:t>
            </a:r>
            <a:r>
              <a:rPr lang="zh-CN" altLang="en-US" dirty="0">
                <a:solidFill>
                  <a:srgbClr val="FF0000"/>
                </a:solidFill>
              </a:rPr>
              <a:t>设置传输速率</a:t>
            </a:r>
            <a:br>
              <a:rPr lang="zh-CN" altLang="en-US" dirty="0"/>
            </a:br>
            <a:r>
              <a:rPr lang="en-US" dirty="0" err="1"/>
              <a:t>GPIO_Init</a:t>
            </a:r>
            <a:r>
              <a:rPr lang="en-US" dirty="0"/>
              <a:t>(</a:t>
            </a:r>
            <a:r>
              <a:rPr lang="en-US" dirty="0" err="1"/>
              <a:t>GPIOB,&amp;GPIO_InitStructure</a:t>
            </a:r>
            <a:r>
              <a:rPr lang="en-US" dirty="0"/>
              <a:t>); </a:t>
            </a:r>
            <a:r>
              <a:rPr lang="en-US" dirty="0">
                <a:solidFill>
                  <a:srgbClr val="FF0000"/>
                </a:solidFill>
              </a:rPr>
              <a:t>/* </a:t>
            </a:r>
            <a:r>
              <a:rPr lang="zh-CN" altLang="en-US" dirty="0">
                <a:solidFill>
                  <a:srgbClr val="FF0000"/>
                </a:solidFill>
              </a:rPr>
              <a:t>初始化</a:t>
            </a:r>
            <a:r>
              <a:rPr lang="en-US" dirty="0">
                <a:solidFill>
                  <a:srgbClr val="FF0000"/>
                </a:solidFill>
              </a:rPr>
              <a:t>GPIO */</a:t>
            </a:r>
          </a:p>
          <a:p>
            <a:pPr latinLnBrk="1">
              <a:lnSpc>
                <a:spcPct val="150000"/>
              </a:lnSpc>
            </a:pPr>
            <a:endParaRPr lang="zh-CN" altLang="en-US" b="1"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10547" y="746392"/>
            <a:ext cx="10944808" cy="5124480"/>
          </a:xfrm>
          <a:prstGeom prst="rect">
            <a:avLst/>
          </a:prstGeom>
        </p:spPr>
        <p:txBody>
          <a:bodyPr wrap="square">
            <a:spAutoFit/>
          </a:bodyPr>
          <a:lstStyle/>
          <a:p>
            <a:pPr>
              <a:lnSpc>
                <a:spcPct val="150000"/>
              </a:lnSpc>
            </a:pPr>
            <a:r>
              <a:rPr lang="zh-CN" altLang="en-US" dirty="0">
                <a:solidFill>
                  <a:srgbClr val="14529E"/>
                </a:solidFill>
              </a:rPr>
              <a:t>第二步：配置</a:t>
            </a:r>
            <a:r>
              <a:rPr lang="en-US" altLang="zh-CN" dirty="0">
                <a:solidFill>
                  <a:srgbClr val="14529E"/>
                </a:solidFill>
              </a:rPr>
              <a:t>ADC</a:t>
            </a:r>
            <a:r>
              <a:rPr lang="zh-CN" altLang="en-US" dirty="0">
                <a:solidFill>
                  <a:srgbClr val="14529E"/>
                </a:solidFill>
              </a:rPr>
              <a:t>参数</a:t>
            </a:r>
            <a:br>
              <a:rPr lang="zh-CN" altLang="en-US" dirty="0"/>
            </a:br>
            <a:r>
              <a:rPr lang="en-US" dirty="0" err="1"/>
              <a:t>ADC_InitTypeDef</a:t>
            </a:r>
            <a:r>
              <a:rPr lang="en-US" dirty="0"/>
              <a:t> </a:t>
            </a:r>
            <a:r>
              <a:rPr lang="en-US" dirty="0" err="1"/>
              <a:t>ADC_InitStructure</a:t>
            </a:r>
            <a:r>
              <a:rPr lang="en-US" dirty="0"/>
              <a:t>;</a:t>
            </a:r>
            <a:br>
              <a:rPr lang="en-US" dirty="0"/>
            </a:br>
            <a:r>
              <a:rPr lang="en-US" dirty="0"/>
              <a:t>RCC_APB2PeriphClockCmd(RCC_APB2Periph_ADC1,ENABLE);</a:t>
            </a:r>
            <a:br>
              <a:rPr lang="en-US" dirty="0"/>
            </a:br>
            <a:r>
              <a:rPr lang="en-US" dirty="0" err="1"/>
              <a:t>RCC_ADCCLKConfig</a:t>
            </a:r>
            <a:r>
              <a:rPr lang="en-US" dirty="0"/>
              <a:t>(RCC_PCLK2_Div6);//</a:t>
            </a:r>
            <a:r>
              <a:rPr lang="en-US" dirty="0">
                <a:solidFill>
                  <a:srgbClr val="FF0000"/>
                </a:solidFill>
              </a:rPr>
              <a:t>12M </a:t>
            </a:r>
            <a:r>
              <a:rPr lang="zh-CN" altLang="en-US" dirty="0">
                <a:solidFill>
                  <a:srgbClr val="FF0000"/>
                </a:solidFill>
              </a:rPr>
              <a:t>最大</a:t>
            </a:r>
            <a:r>
              <a:rPr lang="en-US" altLang="zh-CN" dirty="0">
                <a:solidFill>
                  <a:srgbClr val="FF0000"/>
                </a:solidFill>
              </a:rPr>
              <a:t>14</a:t>
            </a:r>
            <a:r>
              <a:rPr lang="en-US" dirty="0">
                <a:solidFill>
                  <a:srgbClr val="FF0000"/>
                </a:solidFill>
              </a:rPr>
              <a:t>M </a:t>
            </a:r>
            <a:r>
              <a:rPr lang="zh-CN" altLang="en-US" dirty="0">
                <a:solidFill>
                  <a:srgbClr val="FF0000"/>
                </a:solidFill>
              </a:rPr>
              <a:t>设置</a:t>
            </a:r>
            <a:r>
              <a:rPr lang="en-US" dirty="0">
                <a:solidFill>
                  <a:srgbClr val="FF0000"/>
                </a:solidFill>
              </a:rPr>
              <a:t>ADC</a:t>
            </a:r>
            <a:r>
              <a:rPr lang="zh-CN" altLang="en-US" dirty="0">
                <a:solidFill>
                  <a:srgbClr val="FF0000"/>
                </a:solidFill>
              </a:rPr>
              <a:t>时钟（</a:t>
            </a:r>
            <a:r>
              <a:rPr lang="en-US" dirty="0">
                <a:solidFill>
                  <a:srgbClr val="FF0000"/>
                </a:solidFill>
              </a:rPr>
              <a:t>ADCCLK）</a:t>
            </a:r>
            <a:br>
              <a:rPr lang="en-US" dirty="0"/>
            </a:br>
            <a:r>
              <a:rPr lang="en-US" dirty="0" err="1"/>
              <a:t>ADC_InitStructure.ADC_Mode</a:t>
            </a:r>
            <a:r>
              <a:rPr lang="en-US" dirty="0"/>
              <a:t> = </a:t>
            </a:r>
            <a:r>
              <a:rPr lang="en-US" dirty="0" err="1"/>
              <a:t>ADC_Mode_Independent</a:t>
            </a:r>
            <a:r>
              <a:rPr lang="en-US" dirty="0"/>
              <a:t>; //</a:t>
            </a:r>
            <a:r>
              <a:rPr lang="en-US" dirty="0">
                <a:solidFill>
                  <a:srgbClr val="FF0000"/>
                </a:solidFill>
              </a:rPr>
              <a:t>ADC1 </a:t>
            </a:r>
            <a:r>
              <a:rPr lang="zh-CN" altLang="en-US" dirty="0">
                <a:solidFill>
                  <a:srgbClr val="FF0000"/>
                </a:solidFill>
              </a:rPr>
              <a:t>和 </a:t>
            </a:r>
            <a:r>
              <a:rPr lang="en-US" dirty="0">
                <a:solidFill>
                  <a:srgbClr val="FF0000"/>
                </a:solidFill>
              </a:rPr>
              <a:t>ADC2 </a:t>
            </a:r>
            <a:r>
              <a:rPr lang="zh-CN" altLang="en-US" dirty="0">
                <a:solidFill>
                  <a:srgbClr val="FF0000"/>
                </a:solidFill>
              </a:rPr>
              <a:t>工作在独立模式</a:t>
            </a:r>
            <a:br>
              <a:rPr lang="zh-CN" altLang="en-US" dirty="0"/>
            </a:br>
            <a:r>
              <a:rPr lang="en-US" dirty="0" err="1"/>
              <a:t>ADC_InitStructure.ADC_ScanConvMode</a:t>
            </a:r>
            <a:r>
              <a:rPr lang="en-US" dirty="0"/>
              <a:t> = ENABLE; //</a:t>
            </a:r>
            <a:r>
              <a:rPr lang="zh-CN" altLang="en-US" dirty="0">
                <a:solidFill>
                  <a:srgbClr val="FF0000"/>
                </a:solidFill>
              </a:rPr>
              <a:t>多通道模式</a:t>
            </a:r>
            <a:br>
              <a:rPr lang="zh-CN" altLang="en-US" dirty="0"/>
            </a:br>
            <a:r>
              <a:rPr lang="en-US" dirty="0" err="1"/>
              <a:t>ADC_InitStructure</a:t>
            </a:r>
            <a:r>
              <a:rPr lang="en-US" dirty="0"/>
              <a:t>.</a:t>
            </a:r>
            <a:r>
              <a:rPr lang="en-US" altLang="en-US" dirty="0"/>
              <a:t> </a:t>
            </a:r>
            <a:r>
              <a:rPr lang="en-US" altLang="en-US" dirty="0" err="1"/>
              <a:t>ADC_ContinuousConvMode</a:t>
            </a:r>
            <a:r>
              <a:rPr lang="en-US" dirty="0"/>
              <a:t>= DISABLE; //</a:t>
            </a:r>
            <a:r>
              <a:rPr lang="zh-CN" altLang="en-US" dirty="0">
                <a:solidFill>
                  <a:srgbClr val="FF0000"/>
                </a:solidFill>
              </a:rPr>
              <a:t>工作在单次模式</a:t>
            </a:r>
            <a:br>
              <a:rPr lang="zh-CN" altLang="en-US" dirty="0"/>
            </a:br>
            <a:r>
              <a:rPr lang="en-US" dirty="0" err="1"/>
              <a:t>ADC_InitStructure.ADC_ExternalTrigConv</a:t>
            </a:r>
            <a:r>
              <a:rPr lang="en-US" dirty="0"/>
              <a:t> = </a:t>
            </a:r>
            <a:r>
              <a:rPr lang="en-US" dirty="0" err="1"/>
              <a:t>ADC_ExternalTrigConv_None</a:t>
            </a:r>
            <a:r>
              <a:rPr lang="en-US" dirty="0"/>
              <a:t>; </a:t>
            </a:r>
            <a:r>
              <a:rPr lang="zh-CN" altLang="en-US" dirty="0">
                <a:solidFill>
                  <a:srgbClr val="FF0000"/>
                </a:solidFill>
              </a:rPr>
              <a:t>转换由软件而不是外部触发启动</a:t>
            </a:r>
            <a:br>
              <a:rPr lang="zh-CN" altLang="en-US" dirty="0"/>
            </a:br>
            <a:r>
              <a:rPr lang="en-US" dirty="0" err="1"/>
              <a:t>ADC_InitStructure.ADC_DataAlign</a:t>
            </a:r>
            <a:r>
              <a:rPr lang="en-US" dirty="0"/>
              <a:t> = </a:t>
            </a:r>
            <a:r>
              <a:rPr lang="en-US" dirty="0" err="1"/>
              <a:t>ADC_DataAlign_Right</a:t>
            </a:r>
            <a:r>
              <a:rPr lang="en-US" dirty="0"/>
              <a:t>; //</a:t>
            </a:r>
            <a:r>
              <a:rPr lang="en-US" dirty="0" err="1">
                <a:solidFill>
                  <a:srgbClr val="FF0000"/>
                </a:solidFill>
              </a:rPr>
              <a:t>adc</a:t>
            </a:r>
            <a:r>
              <a:rPr lang="zh-CN" altLang="en-US" dirty="0">
                <a:solidFill>
                  <a:srgbClr val="FF0000"/>
                </a:solidFill>
              </a:rPr>
              <a:t>的数据右对齐</a:t>
            </a:r>
            <a:br>
              <a:rPr lang="zh-CN" altLang="en-US" dirty="0"/>
            </a:br>
            <a:r>
              <a:rPr lang="en-US" dirty="0" err="1"/>
              <a:t>ADC_InitStructure.ADC_NbrOfChannel</a:t>
            </a:r>
            <a:r>
              <a:rPr lang="en-US" dirty="0"/>
              <a:t> = 2; //</a:t>
            </a:r>
            <a:r>
              <a:rPr lang="zh-CN" altLang="en-US" dirty="0">
                <a:solidFill>
                  <a:srgbClr val="FF0000"/>
                </a:solidFill>
              </a:rPr>
              <a:t>两个</a:t>
            </a:r>
            <a:r>
              <a:rPr lang="en-US" dirty="0" err="1">
                <a:solidFill>
                  <a:srgbClr val="FF0000"/>
                </a:solidFill>
              </a:rPr>
              <a:t>adc</a:t>
            </a:r>
            <a:r>
              <a:rPr lang="zh-CN" altLang="en-US" dirty="0">
                <a:solidFill>
                  <a:srgbClr val="FF0000"/>
                </a:solidFill>
              </a:rPr>
              <a:t>通道</a:t>
            </a:r>
            <a:br>
              <a:rPr lang="zh-CN" altLang="en-US" dirty="0"/>
            </a:br>
            <a:r>
              <a:rPr lang="en-US" dirty="0" err="1"/>
              <a:t>ADC_Init</a:t>
            </a:r>
            <a:r>
              <a:rPr lang="en-US" dirty="0"/>
              <a:t>(ADC1, &amp;</a:t>
            </a:r>
            <a:r>
              <a:rPr lang="en-US" dirty="0" err="1"/>
              <a:t>ADC_InitStructure</a:t>
            </a:r>
            <a:r>
              <a:rPr lang="en-US" dirty="0"/>
              <a:t>);</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8538" y="538200"/>
            <a:ext cx="10739535" cy="5909310"/>
          </a:xfrm>
          <a:prstGeom prst="rect">
            <a:avLst/>
          </a:prstGeom>
        </p:spPr>
        <p:txBody>
          <a:bodyPr wrap="square">
            <a:spAutoFit/>
          </a:bodyPr>
          <a:lstStyle/>
          <a:p>
            <a:pPr>
              <a:lnSpc>
                <a:spcPct val="150000"/>
              </a:lnSpc>
            </a:pPr>
            <a:r>
              <a:rPr lang="en-US" altLang="en-US" dirty="0" err="1"/>
              <a:t>ADC_RegularChannelConfig</a:t>
            </a:r>
            <a:r>
              <a:rPr lang="en-US" altLang="en-US" dirty="0"/>
              <a:t>(ADC1,ADC_Channel_1,1,ADC_Sampletime_239Cycles5); </a:t>
            </a:r>
          </a:p>
          <a:p>
            <a:pPr>
              <a:lnSpc>
                <a:spcPct val="150000"/>
              </a:lnSpc>
            </a:pPr>
            <a:r>
              <a:rPr lang="en-US" altLang="en-US" dirty="0"/>
              <a:t>//</a:t>
            </a:r>
            <a:r>
              <a:rPr lang="zh-CN" altLang="en-US" dirty="0">
                <a:solidFill>
                  <a:srgbClr val="FF0000"/>
                </a:solidFill>
              </a:rPr>
              <a:t>设置指定 </a:t>
            </a:r>
            <a:r>
              <a:rPr lang="en-US" altLang="en-US" dirty="0">
                <a:solidFill>
                  <a:srgbClr val="FF0000"/>
                </a:solidFill>
              </a:rPr>
              <a:t>ADC </a:t>
            </a:r>
            <a:r>
              <a:rPr lang="zh-CN" altLang="en-US" dirty="0">
                <a:solidFill>
                  <a:srgbClr val="FF0000"/>
                </a:solidFill>
              </a:rPr>
              <a:t>的规则组通道，设置它们的转化顺序和采样时间</a:t>
            </a:r>
            <a:br>
              <a:rPr lang="zh-CN" altLang="en-US" dirty="0"/>
            </a:br>
            <a:r>
              <a:rPr lang="en-US" altLang="en-US" dirty="0" err="1"/>
              <a:t>ADC_RegularChannelConfig</a:t>
            </a:r>
            <a:r>
              <a:rPr lang="en-US" altLang="en-US" dirty="0"/>
              <a:t>(ADC1,ADC_Channel_8,2,ADC_SampleTime_239Cycles5);</a:t>
            </a:r>
          </a:p>
          <a:p>
            <a:pPr>
              <a:lnSpc>
                <a:spcPct val="150000"/>
              </a:lnSpc>
            </a:pPr>
            <a:r>
              <a:rPr lang="en-US" altLang="en-US" dirty="0" err="1"/>
              <a:t>ADC_Cmd</a:t>
            </a:r>
            <a:r>
              <a:rPr lang="en-US" altLang="en-US" dirty="0"/>
              <a:t>(ADC1,ENABLE);</a:t>
            </a:r>
          </a:p>
          <a:p>
            <a:pPr>
              <a:lnSpc>
                <a:spcPct val="150000"/>
              </a:lnSpc>
            </a:pPr>
            <a:r>
              <a:rPr lang="en-US" altLang="en-US" dirty="0"/>
              <a:t> </a:t>
            </a:r>
            <a:r>
              <a:rPr lang="en-US" altLang="en-US" dirty="0" err="1"/>
              <a:t>ADC_ResetCalibration</a:t>
            </a:r>
            <a:r>
              <a:rPr lang="en-US" altLang="en-US" dirty="0"/>
              <a:t>(ADC1);</a:t>
            </a:r>
          </a:p>
          <a:p>
            <a:pPr>
              <a:lnSpc>
                <a:spcPct val="150000"/>
              </a:lnSpc>
            </a:pPr>
            <a:r>
              <a:rPr lang="en-US" altLang="en-US" dirty="0"/>
              <a:t> //</a:t>
            </a:r>
            <a:r>
              <a:rPr lang="zh-CN" altLang="en-US" dirty="0">
                <a:solidFill>
                  <a:srgbClr val="FF0000"/>
                </a:solidFill>
              </a:rPr>
              <a:t>重置指定的</a:t>
            </a:r>
            <a:r>
              <a:rPr lang="en-US" altLang="en-US" dirty="0">
                <a:solidFill>
                  <a:srgbClr val="FF0000"/>
                </a:solidFill>
              </a:rPr>
              <a:t>ADC</a:t>
            </a:r>
            <a:r>
              <a:rPr lang="zh-CN" altLang="en-US" dirty="0">
                <a:solidFill>
                  <a:srgbClr val="FF0000"/>
                </a:solidFill>
              </a:rPr>
              <a:t>的校准寄存器</a:t>
            </a:r>
            <a:br>
              <a:rPr lang="zh-CN" altLang="en-US" dirty="0"/>
            </a:br>
            <a:r>
              <a:rPr lang="en-US" altLang="en-US" dirty="0"/>
              <a:t>while(</a:t>
            </a:r>
            <a:r>
              <a:rPr lang="en-US" altLang="en-US" dirty="0" err="1"/>
              <a:t>ADC_GetResetCalibrationStatus</a:t>
            </a:r>
            <a:r>
              <a:rPr lang="en-US" altLang="en-US" dirty="0"/>
              <a:t>(ADC1)); </a:t>
            </a:r>
          </a:p>
          <a:p>
            <a:pPr>
              <a:lnSpc>
                <a:spcPct val="150000"/>
              </a:lnSpc>
            </a:pPr>
            <a:r>
              <a:rPr lang="en-US" altLang="en-US" dirty="0"/>
              <a:t>//</a:t>
            </a:r>
            <a:r>
              <a:rPr lang="zh-CN" altLang="en-US" dirty="0">
                <a:solidFill>
                  <a:srgbClr val="FF0000"/>
                </a:solidFill>
              </a:rPr>
              <a:t>获取</a:t>
            </a:r>
            <a:r>
              <a:rPr lang="en-US" altLang="en-US" dirty="0">
                <a:solidFill>
                  <a:srgbClr val="FF0000"/>
                </a:solidFill>
              </a:rPr>
              <a:t>ADC</a:t>
            </a:r>
            <a:r>
              <a:rPr lang="zh-CN" altLang="en-US" dirty="0">
                <a:solidFill>
                  <a:srgbClr val="FF0000"/>
                </a:solidFill>
              </a:rPr>
              <a:t>重置校准寄存器的状态</a:t>
            </a:r>
            <a:br>
              <a:rPr lang="zh-CN" altLang="en-US" dirty="0"/>
            </a:br>
            <a:r>
              <a:rPr lang="en-US" altLang="en-US" dirty="0" err="1"/>
              <a:t>ADC_StartCalibration</a:t>
            </a:r>
            <a:r>
              <a:rPr lang="en-US" altLang="en-US" dirty="0"/>
              <a:t>(ADC1); </a:t>
            </a:r>
          </a:p>
          <a:p>
            <a:pPr>
              <a:lnSpc>
                <a:spcPct val="150000"/>
              </a:lnSpc>
            </a:pPr>
            <a:r>
              <a:rPr lang="en-US" altLang="en-US" dirty="0"/>
              <a:t>//</a:t>
            </a:r>
            <a:r>
              <a:rPr lang="zh-CN" altLang="en-US" dirty="0">
                <a:solidFill>
                  <a:srgbClr val="FF0000"/>
                </a:solidFill>
              </a:rPr>
              <a:t>开始指定</a:t>
            </a:r>
            <a:r>
              <a:rPr lang="en-US" altLang="en-US" dirty="0">
                <a:solidFill>
                  <a:srgbClr val="FF0000"/>
                </a:solidFill>
              </a:rPr>
              <a:t>ADC</a:t>
            </a:r>
            <a:r>
              <a:rPr lang="zh-CN" altLang="en-US" dirty="0">
                <a:solidFill>
                  <a:srgbClr val="FF0000"/>
                </a:solidFill>
              </a:rPr>
              <a:t>的校准状态</a:t>
            </a:r>
            <a:br>
              <a:rPr lang="zh-CN" altLang="en-US" dirty="0"/>
            </a:br>
            <a:r>
              <a:rPr lang="en-US" altLang="en-US" dirty="0"/>
              <a:t>while(</a:t>
            </a:r>
            <a:r>
              <a:rPr lang="en-US" altLang="en-US" dirty="0" err="1"/>
              <a:t>ADC_GetCalibrationStatus</a:t>
            </a:r>
            <a:r>
              <a:rPr lang="en-US" altLang="en-US" dirty="0"/>
              <a:t>(ADC1)); </a:t>
            </a:r>
          </a:p>
          <a:p>
            <a:pPr>
              <a:lnSpc>
                <a:spcPct val="150000"/>
              </a:lnSpc>
            </a:pPr>
            <a:r>
              <a:rPr lang="en-US" altLang="en-US" dirty="0"/>
              <a:t>//</a:t>
            </a:r>
            <a:r>
              <a:rPr lang="zh-CN" altLang="en-US" dirty="0">
                <a:solidFill>
                  <a:srgbClr val="FF0000"/>
                </a:solidFill>
              </a:rPr>
              <a:t>获取指定</a:t>
            </a:r>
            <a:r>
              <a:rPr lang="en-US" altLang="en-US" dirty="0">
                <a:solidFill>
                  <a:srgbClr val="FF0000"/>
                </a:solidFill>
              </a:rPr>
              <a:t>ADC</a:t>
            </a:r>
            <a:r>
              <a:rPr lang="zh-CN" altLang="en-US" dirty="0">
                <a:solidFill>
                  <a:srgbClr val="FF0000"/>
                </a:solidFill>
              </a:rPr>
              <a:t>的校准程序</a:t>
            </a:r>
            <a:br>
              <a:rPr lang="zh-CN" altLang="en-US" dirty="0"/>
            </a:br>
            <a:r>
              <a:rPr lang="en-US" altLang="en-US" dirty="0" err="1"/>
              <a:t>ADC_SoftwareStartConvCmd</a:t>
            </a:r>
            <a:r>
              <a:rPr lang="en-US" altLang="en-US" dirty="0"/>
              <a:t>(ADC1, ENABLE); </a:t>
            </a:r>
          </a:p>
          <a:p>
            <a:pPr>
              <a:lnSpc>
                <a:spcPct val="150000"/>
              </a:lnSpc>
            </a:pPr>
            <a:r>
              <a:rPr lang="en-US" altLang="en-US" dirty="0"/>
              <a:t>//</a:t>
            </a:r>
            <a:r>
              <a:rPr lang="zh-CN" altLang="en-US" dirty="0">
                <a:solidFill>
                  <a:srgbClr val="FF0000"/>
                </a:solidFill>
              </a:rPr>
              <a:t>使能或者失能指定的</a:t>
            </a:r>
            <a:r>
              <a:rPr lang="en-US" altLang="en-US" dirty="0">
                <a:solidFill>
                  <a:srgbClr val="FF0000"/>
                </a:solidFill>
              </a:rPr>
              <a:t>ADC</a:t>
            </a:r>
            <a:r>
              <a:rPr lang="zh-CN" altLang="en-US" dirty="0">
                <a:solidFill>
                  <a:srgbClr val="FF0000"/>
                </a:solidFill>
              </a:rPr>
              <a:t>的软件转换启动功能</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8539" y="445782"/>
            <a:ext cx="11196735" cy="5355312"/>
          </a:xfrm>
          <a:prstGeom prst="rect">
            <a:avLst/>
          </a:prstGeom>
        </p:spPr>
        <p:txBody>
          <a:bodyPr wrap="square">
            <a:spAutoFit/>
          </a:bodyPr>
          <a:lstStyle/>
          <a:p>
            <a:r>
              <a:rPr lang="zh-CN" altLang="en-US" dirty="0">
                <a:solidFill>
                  <a:srgbClr val="14529E"/>
                </a:solidFill>
              </a:rPr>
              <a:t>第三步：进行数据采集</a:t>
            </a:r>
            <a:br>
              <a:rPr lang="zh-CN" altLang="en-US" dirty="0"/>
            </a:br>
            <a:r>
              <a:rPr lang="en-US" dirty="0"/>
              <a:t>while(1)</a:t>
            </a:r>
            <a:br>
              <a:rPr lang="en-US" dirty="0"/>
            </a:br>
            <a:r>
              <a:rPr lang="en-US" dirty="0"/>
              <a:t>{</a:t>
            </a:r>
            <a:br>
              <a:rPr lang="en-US" dirty="0"/>
            </a:br>
            <a:r>
              <a:rPr lang="en-US" dirty="0"/>
              <a:t>adc1 = 0;</a:t>
            </a:r>
            <a:br>
              <a:rPr lang="en-US" dirty="0"/>
            </a:br>
            <a:r>
              <a:rPr lang="en-US" dirty="0"/>
              <a:t>adc2 = 0;</a:t>
            </a:r>
            <a:br>
              <a:rPr lang="en-US" dirty="0"/>
            </a:br>
            <a:r>
              <a:rPr lang="en-US" dirty="0"/>
              <a:t>for(</a:t>
            </a:r>
            <a:r>
              <a:rPr lang="en-US" dirty="0" err="1"/>
              <a:t>i</a:t>
            </a:r>
            <a:r>
              <a:rPr lang="en-US" dirty="0"/>
              <a:t>=0;i&lt;50;i++);</a:t>
            </a:r>
            <a:br>
              <a:rPr lang="en-US" dirty="0"/>
            </a:br>
            <a:r>
              <a:rPr lang="en-US" dirty="0"/>
              <a:t>{</a:t>
            </a:r>
            <a:br>
              <a:rPr lang="en-US" dirty="0"/>
            </a:br>
            <a:r>
              <a:rPr lang="en-US" dirty="0" err="1"/>
              <a:t>ADC_SoftwareStartConvCmd</a:t>
            </a:r>
            <a:r>
              <a:rPr lang="en-US" dirty="0"/>
              <a:t>(ADC1, ENABLE); //</a:t>
            </a:r>
            <a:r>
              <a:rPr lang="zh-CN" altLang="en-US" dirty="0">
                <a:solidFill>
                  <a:srgbClr val="FF0000"/>
                </a:solidFill>
              </a:rPr>
              <a:t>使能或者失能指定的</a:t>
            </a:r>
            <a:r>
              <a:rPr lang="en-US" dirty="0">
                <a:solidFill>
                  <a:srgbClr val="FF0000"/>
                </a:solidFill>
              </a:rPr>
              <a:t>ADC</a:t>
            </a:r>
            <a:r>
              <a:rPr lang="zh-CN" altLang="en-US" dirty="0">
                <a:solidFill>
                  <a:srgbClr val="FF0000"/>
                </a:solidFill>
              </a:rPr>
              <a:t>的软件转换启动功能</a:t>
            </a:r>
            <a:br>
              <a:rPr lang="zh-CN" altLang="en-US" dirty="0">
                <a:solidFill>
                  <a:srgbClr val="FF0000"/>
                </a:solidFill>
              </a:rPr>
            </a:br>
            <a:r>
              <a:rPr lang="en-US" dirty="0"/>
              <a:t>while(!</a:t>
            </a:r>
            <a:r>
              <a:rPr lang="en-US" dirty="0" err="1"/>
              <a:t>ADC_GetFlagStatus</a:t>
            </a:r>
            <a:r>
              <a:rPr lang="en-US" dirty="0"/>
              <a:t>(ADC1, ADC_FLAG_EOC)); //</a:t>
            </a:r>
            <a:r>
              <a:rPr lang="zh-CN" altLang="en-US" dirty="0">
                <a:solidFill>
                  <a:srgbClr val="FF0000"/>
                </a:solidFill>
              </a:rPr>
              <a:t>等待转换完成</a:t>
            </a:r>
            <a:br>
              <a:rPr lang="zh-CN" altLang="en-US" dirty="0"/>
            </a:br>
            <a:r>
              <a:rPr lang="en-US" dirty="0"/>
              <a:t>adc1 += </a:t>
            </a:r>
            <a:r>
              <a:rPr lang="en-US" dirty="0" err="1"/>
              <a:t>ADC_GetConversionValue</a:t>
            </a:r>
            <a:r>
              <a:rPr lang="en-US" dirty="0"/>
              <a:t>(ADC1); //</a:t>
            </a:r>
            <a:r>
              <a:rPr lang="zh-CN" altLang="en-US" dirty="0">
                <a:solidFill>
                  <a:srgbClr val="FF0000"/>
                </a:solidFill>
              </a:rPr>
              <a:t>返回最近一次 </a:t>
            </a:r>
            <a:r>
              <a:rPr lang="en-US" dirty="0" err="1">
                <a:solidFill>
                  <a:srgbClr val="FF0000"/>
                </a:solidFill>
              </a:rPr>
              <a:t>ADCx</a:t>
            </a:r>
            <a:r>
              <a:rPr lang="en-US" dirty="0">
                <a:solidFill>
                  <a:srgbClr val="FF0000"/>
                </a:solidFill>
              </a:rPr>
              <a:t> </a:t>
            </a:r>
            <a:r>
              <a:rPr lang="zh-CN" altLang="en-US" dirty="0">
                <a:solidFill>
                  <a:srgbClr val="FF0000"/>
                </a:solidFill>
              </a:rPr>
              <a:t>规则组的转换结果</a:t>
            </a:r>
            <a:br>
              <a:rPr lang="zh-CN" altLang="en-US" dirty="0"/>
            </a:br>
            <a:r>
              <a:rPr lang="en-US" dirty="0" err="1"/>
              <a:t>ADC_SoftwareStartConvCmd</a:t>
            </a:r>
            <a:r>
              <a:rPr lang="en-US" dirty="0"/>
              <a:t>(ADC1, ENABLE); //</a:t>
            </a:r>
            <a:r>
              <a:rPr lang="zh-CN" altLang="en-US" dirty="0">
                <a:solidFill>
                  <a:srgbClr val="FF0000"/>
                </a:solidFill>
              </a:rPr>
              <a:t>使能或者失能指定的</a:t>
            </a:r>
            <a:r>
              <a:rPr lang="en-US" dirty="0">
                <a:solidFill>
                  <a:srgbClr val="FF0000"/>
                </a:solidFill>
              </a:rPr>
              <a:t>ADC</a:t>
            </a:r>
            <a:r>
              <a:rPr lang="zh-CN" altLang="en-US" dirty="0">
                <a:solidFill>
                  <a:srgbClr val="FF0000"/>
                </a:solidFill>
              </a:rPr>
              <a:t>的软件转换启动功能</a:t>
            </a:r>
            <a:br>
              <a:rPr lang="zh-CN" altLang="en-US" dirty="0">
                <a:solidFill>
                  <a:srgbClr val="FF0000"/>
                </a:solidFill>
              </a:rPr>
            </a:br>
            <a:r>
              <a:rPr lang="en-US" dirty="0"/>
              <a:t>while(!</a:t>
            </a:r>
            <a:r>
              <a:rPr lang="en-US" dirty="0" err="1"/>
              <a:t>ADC_GetFlagStatus</a:t>
            </a:r>
            <a:r>
              <a:rPr lang="en-US" dirty="0"/>
              <a:t>(ADC1, ADC_FLAG_EOC)); //</a:t>
            </a:r>
            <a:r>
              <a:rPr lang="zh-CN" altLang="en-US" dirty="0">
                <a:solidFill>
                  <a:srgbClr val="FF0000"/>
                </a:solidFill>
              </a:rPr>
              <a:t>等待转换完成</a:t>
            </a:r>
            <a:br>
              <a:rPr lang="zh-CN" altLang="en-US" dirty="0"/>
            </a:br>
            <a:r>
              <a:rPr lang="en-US" dirty="0"/>
              <a:t>adc2 += </a:t>
            </a:r>
            <a:r>
              <a:rPr lang="en-US" dirty="0" err="1"/>
              <a:t>ADC_GetConversionValue</a:t>
            </a:r>
            <a:r>
              <a:rPr lang="en-US" dirty="0"/>
              <a:t>(ADC1); //</a:t>
            </a:r>
            <a:r>
              <a:rPr lang="zh-CN" altLang="en-US" dirty="0">
                <a:solidFill>
                  <a:srgbClr val="FF0000"/>
                </a:solidFill>
              </a:rPr>
              <a:t>返回最近一次 </a:t>
            </a:r>
            <a:r>
              <a:rPr lang="en-US" dirty="0" err="1">
                <a:solidFill>
                  <a:srgbClr val="FF0000"/>
                </a:solidFill>
              </a:rPr>
              <a:t>ADCx</a:t>
            </a:r>
            <a:r>
              <a:rPr lang="en-US" dirty="0">
                <a:solidFill>
                  <a:srgbClr val="FF0000"/>
                </a:solidFill>
              </a:rPr>
              <a:t> </a:t>
            </a:r>
            <a:r>
              <a:rPr lang="zh-CN" altLang="en-US" dirty="0">
                <a:solidFill>
                  <a:srgbClr val="FF0000"/>
                </a:solidFill>
              </a:rPr>
              <a:t>规则组的转换结果</a:t>
            </a:r>
            <a:br>
              <a:rPr lang="zh-CN" altLang="en-US" dirty="0"/>
            </a:br>
            <a:r>
              <a:rPr lang="en-US" altLang="zh-CN" dirty="0"/>
              <a:t>}</a:t>
            </a:r>
            <a:br>
              <a:rPr lang="zh-CN" altLang="en-US" dirty="0"/>
            </a:br>
            <a:r>
              <a:rPr lang="en-US" dirty="0"/>
              <a:t>adc1 /= 50;</a:t>
            </a:r>
            <a:br>
              <a:rPr lang="en-US" dirty="0"/>
            </a:br>
            <a:r>
              <a:rPr lang="en-US" dirty="0"/>
              <a:t>adc2 /= 50;</a:t>
            </a:r>
            <a:br>
              <a:rPr lang="en-US" dirty="0"/>
            </a:br>
            <a:r>
              <a:rPr lang="en-US" dirty="0" err="1"/>
              <a:t>printf</a:t>
            </a:r>
            <a:r>
              <a:rPr lang="en-US" dirty="0"/>
              <a:t>("ADC1 = %.3f V \t ADC2 = %.3f V \r\n", adc1 * 3.3 / 4096, adc2 * 3.3 / 4096);</a:t>
            </a:r>
            <a:br>
              <a:rPr lang="en-US" dirty="0"/>
            </a:br>
            <a:r>
              <a:rPr lang="en-US" dirty="0" err="1"/>
              <a:t>delay_ms</a:t>
            </a:r>
            <a:r>
              <a:rPr lang="en-US" dirty="0"/>
              <a:t>(1000);</a:t>
            </a:r>
            <a:br>
              <a:rPr lang="en-US" dirty="0"/>
            </a:br>
            <a:r>
              <a:rPr lang="en-US" dirty="0"/>
              <a:t>}</a:t>
            </a:r>
            <a:endParaRPr lang="zh-CN" alt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2.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3.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4.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5.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6.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heme/theme1.xml><?xml version="1.0" encoding="utf-8"?>
<a:theme xmlns:a="http://schemas.openxmlformats.org/drawingml/2006/main" name="Office 主题">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accent1"/>
          </a:solidFill>
        </a:ln>
      </a:spPr>
      <a:bodyPr rtlCol="0" anchor="ctr"/>
      <a:lstStyle>
        <a:defPPr algn="ctr">
          <a:defRPr sz="5400" dirty="0" smtClean="0">
            <a:solidFill>
              <a:srgbClr val="5494C3"/>
            </a:solidFill>
          </a:defRPr>
        </a:defPPr>
      </a:lstStyle>
      <a:style>
        <a:lnRef idx="0">
          <a:schemeClr val="accent5"/>
        </a:lnRef>
        <a:fillRef idx="3">
          <a:schemeClr val="accent5"/>
        </a:fillRef>
        <a:effectRef idx="3">
          <a:schemeClr val="accent5"/>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jwangyu">
  <a:themeElements>
    <a:clrScheme name="Office 主题​​">
      <a:dk1>
        <a:srgbClr val="000000"/>
      </a:dk1>
      <a:lt1>
        <a:srgbClr val="FFFFFF"/>
      </a:lt1>
      <a:dk2>
        <a:srgbClr val="44546A"/>
      </a:dk2>
      <a:lt2>
        <a:srgbClr val="E7E6E6"/>
      </a:lt2>
      <a:accent1>
        <a:srgbClr val="318C80"/>
      </a:accent1>
      <a:accent2>
        <a:srgbClr val="F2CF61"/>
      </a:accent2>
      <a:accent3>
        <a:srgbClr val="A6E582"/>
      </a:accent3>
      <a:accent4>
        <a:srgbClr val="51D9B5"/>
      </a:accent4>
      <a:accent5>
        <a:srgbClr val="D95B5B"/>
      </a:accent5>
      <a:accent6>
        <a:srgbClr val="BFBFBF"/>
      </a:accent6>
      <a:hlink>
        <a:srgbClr val="D95B5B"/>
      </a:hlink>
      <a:folHlink>
        <a:srgbClr val="F2CF61"/>
      </a:folHlink>
    </a:clrScheme>
    <a:fontScheme name="雅黑light">
      <a:majorFont>
        <a:latin typeface="Century Gothic"/>
        <a:ea typeface="微软雅黑"/>
        <a:cs typeface=""/>
      </a:majorFont>
      <a:minorFont>
        <a:latin typeface="Century Gothic"/>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3862</TotalTime>
  <Words>4581</Words>
  <Application>Microsoft Office PowerPoint</Application>
  <PresentationFormat>宽屏</PresentationFormat>
  <Paragraphs>214</Paragraphs>
  <Slides>43</Slides>
  <Notes>0</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43</vt:i4>
      </vt:variant>
    </vt:vector>
  </HeadingPairs>
  <TitlesOfParts>
    <vt:vector size="50" baseType="lpstr">
      <vt:lpstr>等线</vt:lpstr>
      <vt:lpstr>Arial</vt:lpstr>
      <vt:lpstr>Century Gothic</vt:lpstr>
      <vt:lpstr>Verdana</vt:lpstr>
      <vt:lpstr>Wingdings</vt:lpstr>
      <vt:lpstr>Office 主题</vt:lpstr>
      <vt:lpstr>mjwangyu</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mjwangyu</dc:creator>
  <cp:lastModifiedBy>宇佩 马</cp:lastModifiedBy>
  <cp:revision>416</cp:revision>
  <dcterms:created xsi:type="dcterms:W3CDTF">2017-06-03T01:25:00Z</dcterms:created>
  <dcterms:modified xsi:type="dcterms:W3CDTF">2026-07-03T10:15:59Z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2052-10.1.0.7520</vt:lpwstr>
  </property>
</Properties>
</file>