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56"/>
  </p:notesMasterIdLst>
  <p:sldIdLst>
    <p:sldId id="256" r:id="rId3"/>
    <p:sldId id="438" r:id="rId4"/>
    <p:sldId id="450" r:id="rId5"/>
    <p:sldId id="439" r:id="rId6"/>
    <p:sldId id="400" r:id="rId7"/>
    <p:sldId id="432" r:id="rId8"/>
    <p:sldId id="440" r:id="rId9"/>
    <p:sldId id="441" r:id="rId10"/>
    <p:sldId id="442" r:id="rId11"/>
    <p:sldId id="443" r:id="rId12"/>
    <p:sldId id="448" r:id="rId13"/>
    <p:sldId id="444" r:id="rId14"/>
    <p:sldId id="446" r:id="rId15"/>
    <p:sldId id="445" r:id="rId16"/>
    <p:sldId id="447" r:id="rId17"/>
    <p:sldId id="449" r:id="rId18"/>
    <p:sldId id="401" r:id="rId19"/>
    <p:sldId id="433" r:id="rId20"/>
    <p:sldId id="434" r:id="rId21"/>
    <p:sldId id="435" r:id="rId22"/>
    <p:sldId id="437" r:id="rId23"/>
    <p:sldId id="402" r:id="rId24"/>
    <p:sldId id="451" r:id="rId25"/>
    <p:sldId id="452" r:id="rId26"/>
    <p:sldId id="436" r:id="rId27"/>
    <p:sldId id="405" r:id="rId28"/>
    <p:sldId id="453" r:id="rId29"/>
    <p:sldId id="406" r:id="rId30"/>
    <p:sldId id="407" r:id="rId31"/>
    <p:sldId id="415" r:id="rId32"/>
    <p:sldId id="431" r:id="rId33"/>
    <p:sldId id="408" r:id="rId34"/>
    <p:sldId id="409" r:id="rId35"/>
    <p:sldId id="410" r:id="rId36"/>
    <p:sldId id="411" r:id="rId37"/>
    <p:sldId id="460" r:id="rId38"/>
    <p:sldId id="461" r:id="rId39"/>
    <p:sldId id="454" r:id="rId40"/>
    <p:sldId id="455" r:id="rId41"/>
    <p:sldId id="456" r:id="rId42"/>
    <p:sldId id="457" r:id="rId43"/>
    <p:sldId id="458" r:id="rId44"/>
    <p:sldId id="459" r:id="rId45"/>
    <p:sldId id="462" r:id="rId46"/>
    <p:sldId id="463" r:id="rId47"/>
    <p:sldId id="464" r:id="rId48"/>
    <p:sldId id="465" r:id="rId49"/>
    <p:sldId id="466" r:id="rId50"/>
    <p:sldId id="467" r:id="rId51"/>
    <p:sldId id="468" r:id="rId52"/>
    <p:sldId id="469" r:id="rId53"/>
    <p:sldId id="470" r:id="rId54"/>
    <p:sldId id="471" r:id="rId5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94C3"/>
    <a:srgbClr val="1452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showGuides="1">
      <p:cViewPr varScale="1">
        <p:scale>
          <a:sx n="104" d="100"/>
          <a:sy n="104" d="100"/>
        </p:scale>
        <p:origin x="80" y="208"/>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2026/6/14</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2026/6/14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2026/6/14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2026/6/14</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a:solidFill>
                  <a:schemeClr val="tx1"/>
                </a:solidFill>
              </a:rPr>
              <a:t>第五章</a:t>
            </a:r>
            <a:br>
              <a:rPr lang="en-US" altLang="zh-CN" sz="6000" dirty="0">
                <a:solidFill>
                  <a:schemeClr val="tx1"/>
                </a:solidFill>
              </a:rPr>
            </a:br>
            <a:r>
              <a:rPr lang="en-US" altLang="zh-CN" sz="6000" dirty="0">
                <a:solidFill>
                  <a:schemeClr val="tx1"/>
                </a:solidFill>
              </a:rPr>
              <a:t>GPIO</a:t>
            </a:r>
            <a:r>
              <a:rPr lang="zh-CN" altLang="en-US" sz="6000" dirty="0">
                <a:solidFill>
                  <a:schemeClr val="tx1"/>
                </a:solidFill>
              </a:rPr>
              <a:t>原理及应用</a:t>
            </a: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173000"/>
                    </a14:imgEffect>
                  </a14:imgLayer>
                </a14:imgProps>
              </a:ext>
              <a:ext uri="{28A0092B-C50C-407E-A947-70E740481C1C}">
                <a14:useLocalDpi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5.1 GPIO</a:t>
            </a:r>
            <a:r>
              <a:rPr lang="zh-CN" altLang="en-US" sz="2800" b="1" dirty="0">
                <a:solidFill>
                  <a:srgbClr val="14529E"/>
                </a:solidFill>
              </a:rPr>
              <a:t>的硬件结构和功能</a:t>
            </a:r>
            <a:endParaRPr lang="zh-CN" altLang="en-US" sz="2800" b="1" dirty="0">
              <a:solidFill>
                <a:srgbClr val="C00000"/>
              </a:solidFill>
            </a:endParaRPr>
          </a:p>
        </p:txBody>
      </p:sp>
      <p:sp>
        <p:nvSpPr>
          <p:cNvPr id="9" name="矩形 8"/>
          <p:cNvSpPr/>
          <p:nvPr/>
        </p:nvSpPr>
        <p:spPr>
          <a:xfrm>
            <a:off x="771330" y="1247897"/>
            <a:ext cx="10779967" cy="5078313"/>
          </a:xfrm>
          <a:prstGeom prst="rect">
            <a:avLst/>
          </a:prstGeom>
        </p:spPr>
        <p:txBody>
          <a:bodyPr wrap="square">
            <a:spAutoFit/>
          </a:bodyPr>
          <a:lstStyle/>
          <a:p>
            <a:pPr>
              <a:lnSpc>
                <a:spcPct val="150000"/>
              </a:lnSpc>
              <a:buClr>
                <a:srgbClr val="C00000"/>
              </a:buClr>
              <a:buFont typeface="Wingdings" pitchFamily="2" charset="2"/>
              <a:buChar char="u"/>
            </a:pPr>
            <a:r>
              <a:rPr lang="en-US" altLang="zh-CN" sz="2400" dirty="0"/>
              <a:t>GPIO</a:t>
            </a:r>
            <a:r>
              <a:rPr lang="zh-CN" altLang="en-US" sz="2400" dirty="0"/>
              <a:t>是通用输入</a:t>
            </a:r>
            <a:r>
              <a:rPr lang="en-US" altLang="zh-CN" sz="2400" dirty="0"/>
              <a:t>/</a:t>
            </a:r>
            <a:r>
              <a:rPr lang="zh-CN" altLang="en-US" sz="2400" dirty="0"/>
              <a:t>输出端口的简称，是</a:t>
            </a:r>
            <a:r>
              <a:rPr lang="en-US" altLang="zh-CN" sz="2400" dirty="0"/>
              <a:t>STM32</a:t>
            </a:r>
            <a:r>
              <a:rPr lang="zh-CN" altLang="en-US" sz="2400" dirty="0"/>
              <a:t>可控制的引脚。</a:t>
            </a:r>
            <a:r>
              <a:rPr lang="en-US" altLang="zh-CN" sz="2400" dirty="0"/>
              <a:t>GPIO</a:t>
            </a:r>
            <a:r>
              <a:rPr lang="zh-CN" altLang="en-US" sz="2400" dirty="0"/>
              <a:t>的引脚与外部硬件设备连接，可实现与外部通讯、控制外部硬件或者采集外部硬件数据的功能。</a:t>
            </a:r>
            <a:endParaRPr lang="en-US" altLang="zh-CN" sz="2400" dirty="0"/>
          </a:p>
          <a:p>
            <a:pPr>
              <a:lnSpc>
                <a:spcPct val="150000"/>
              </a:lnSpc>
              <a:buClr>
                <a:srgbClr val="C00000"/>
              </a:buClr>
              <a:buFont typeface="Wingdings" pitchFamily="2" charset="2"/>
              <a:buChar char="u"/>
            </a:pPr>
            <a:r>
              <a:rPr lang="en-US" altLang="zh-CN" sz="2400" dirty="0"/>
              <a:t>STM32F103ZET6</a:t>
            </a:r>
            <a:r>
              <a:rPr lang="zh-CN" altLang="en-US" sz="2400" dirty="0"/>
              <a:t>芯片为</a:t>
            </a:r>
            <a:r>
              <a:rPr lang="en-US" altLang="zh-CN" sz="2400" dirty="0"/>
              <a:t>144</a:t>
            </a:r>
            <a:r>
              <a:rPr lang="zh-CN" altLang="en-US" sz="2400" dirty="0"/>
              <a:t>脚芯片，包括</a:t>
            </a:r>
            <a:r>
              <a:rPr lang="en-US" altLang="zh-CN" sz="2400" dirty="0"/>
              <a:t>7</a:t>
            </a:r>
            <a:r>
              <a:rPr lang="zh-CN" altLang="en-US" sz="2400" dirty="0"/>
              <a:t>个通用目的的输入</a:t>
            </a:r>
            <a:r>
              <a:rPr lang="en-US" altLang="zh-CN" sz="2400" dirty="0"/>
              <a:t>/</a:t>
            </a:r>
            <a:r>
              <a:rPr lang="zh-CN" altLang="en-US" sz="2400" dirty="0"/>
              <a:t>输出口（</a:t>
            </a:r>
            <a:r>
              <a:rPr lang="en-US" altLang="zh-CN" sz="2400" dirty="0"/>
              <a:t>GPIO</a:t>
            </a:r>
            <a:r>
              <a:rPr lang="zh-CN" altLang="en-US" sz="2400" dirty="0"/>
              <a:t>）组，分别为</a:t>
            </a:r>
            <a:r>
              <a:rPr lang="en-US" altLang="zh-CN" sz="2400" dirty="0"/>
              <a:t>GPIOA</a:t>
            </a:r>
            <a:r>
              <a:rPr lang="zh-CN" altLang="en-US" sz="2400" dirty="0"/>
              <a:t>、</a:t>
            </a:r>
            <a:r>
              <a:rPr lang="en-US" altLang="zh-CN" sz="2400" dirty="0"/>
              <a:t>GPIOB</a:t>
            </a:r>
            <a:r>
              <a:rPr lang="zh-CN" altLang="en-US" sz="2400" dirty="0"/>
              <a:t>、</a:t>
            </a:r>
            <a:r>
              <a:rPr lang="en-US" altLang="zh-CN" sz="2400" dirty="0"/>
              <a:t>GPIOC</a:t>
            </a:r>
            <a:r>
              <a:rPr lang="zh-CN" altLang="en-US" sz="2400" dirty="0"/>
              <a:t>、</a:t>
            </a:r>
            <a:r>
              <a:rPr lang="en-US" altLang="zh-CN" sz="2400" dirty="0"/>
              <a:t>GPIOD</a:t>
            </a:r>
            <a:r>
              <a:rPr lang="zh-CN" altLang="en-US" sz="2400" dirty="0"/>
              <a:t>、</a:t>
            </a:r>
            <a:r>
              <a:rPr lang="en-US" altLang="zh-CN" sz="2400" dirty="0"/>
              <a:t>GPIOE</a:t>
            </a:r>
            <a:r>
              <a:rPr lang="zh-CN" altLang="en-US" sz="2400" dirty="0"/>
              <a:t>、</a:t>
            </a:r>
            <a:r>
              <a:rPr lang="en-US" altLang="zh-CN" sz="2400" dirty="0"/>
              <a:t>GPIOF</a:t>
            </a:r>
            <a:r>
              <a:rPr lang="zh-CN" altLang="en-US" sz="2400" dirty="0"/>
              <a:t>、</a:t>
            </a:r>
            <a:r>
              <a:rPr lang="en-US" altLang="zh-CN" sz="2400" dirty="0"/>
              <a:t>GPIOG</a:t>
            </a:r>
            <a:r>
              <a:rPr lang="zh-CN" altLang="en-US" sz="2400" dirty="0"/>
              <a:t>，同时每组</a:t>
            </a:r>
            <a:r>
              <a:rPr lang="en-US" altLang="zh-CN" sz="2400" dirty="0"/>
              <a:t>GPIO</a:t>
            </a:r>
            <a:r>
              <a:rPr lang="zh-CN" altLang="en-US" sz="2400" dirty="0"/>
              <a:t>口组有</a:t>
            </a:r>
            <a:r>
              <a:rPr lang="en-US" altLang="zh-CN" sz="2400" dirty="0"/>
              <a:t>16</a:t>
            </a:r>
            <a:r>
              <a:rPr lang="zh-CN" altLang="en-US" sz="2400" dirty="0"/>
              <a:t>个</a:t>
            </a:r>
            <a:r>
              <a:rPr lang="en-US" altLang="zh-CN" sz="2400" dirty="0"/>
              <a:t>GPIO</a:t>
            </a:r>
            <a:r>
              <a:rPr lang="zh-CN" altLang="en-US" sz="2400" dirty="0"/>
              <a:t>口。通常简略称为</a:t>
            </a:r>
            <a:r>
              <a:rPr lang="en-US" altLang="zh-CN" sz="2400" dirty="0" err="1"/>
              <a:t>PAx</a:t>
            </a:r>
            <a:r>
              <a:rPr lang="zh-CN" altLang="en-US" sz="2400" dirty="0"/>
              <a:t>、</a:t>
            </a:r>
            <a:r>
              <a:rPr lang="en-US" altLang="zh-CN" sz="2400" dirty="0" err="1"/>
              <a:t>PBx</a:t>
            </a:r>
            <a:r>
              <a:rPr lang="zh-CN" altLang="en-US" sz="2400" dirty="0"/>
              <a:t>、</a:t>
            </a:r>
            <a:r>
              <a:rPr lang="en-US" altLang="zh-CN" sz="2400" dirty="0" err="1"/>
              <a:t>PCx</a:t>
            </a:r>
            <a:r>
              <a:rPr lang="zh-CN" altLang="en-US" sz="2400" dirty="0"/>
              <a:t>、</a:t>
            </a:r>
            <a:r>
              <a:rPr lang="en-US" altLang="zh-CN" sz="2400" dirty="0" err="1"/>
              <a:t>PDx</a:t>
            </a:r>
            <a:r>
              <a:rPr lang="zh-CN" altLang="en-US" sz="2400" dirty="0"/>
              <a:t>、</a:t>
            </a:r>
            <a:r>
              <a:rPr lang="en-US" altLang="zh-CN" sz="2400" dirty="0" err="1"/>
              <a:t>PEx</a:t>
            </a:r>
            <a:r>
              <a:rPr lang="zh-CN" altLang="en-US" sz="2400" dirty="0"/>
              <a:t>、</a:t>
            </a:r>
            <a:r>
              <a:rPr lang="en-US" altLang="zh-CN" sz="2400" dirty="0" err="1"/>
              <a:t>PFx</a:t>
            </a:r>
            <a:r>
              <a:rPr lang="zh-CN" altLang="en-US" sz="2400" dirty="0"/>
              <a:t>、</a:t>
            </a:r>
            <a:r>
              <a:rPr lang="en-US" altLang="zh-CN" sz="2400" dirty="0" err="1"/>
              <a:t>PGx</a:t>
            </a:r>
            <a:r>
              <a:rPr lang="zh-CN" altLang="en-US" sz="2400" dirty="0"/>
              <a:t>，其中</a:t>
            </a:r>
            <a:r>
              <a:rPr lang="en-US" altLang="zh-CN" sz="2400" dirty="0"/>
              <a:t>x</a:t>
            </a:r>
            <a:r>
              <a:rPr lang="zh-CN" altLang="en-US" sz="2400" dirty="0"/>
              <a:t>为</a:t>
            </a:r>
            <a:r>
              <a:rPr lang="en-US" altLang="zh-CN" sz="2400" dirty="0"/>
              <a:t>0-15</a:t>
            </a:r>
            <a:r>
              <a:rPr lang="zh-CN" altLang="en-US" sz="2400" dirty="0"/>
              <a:t>。</a:t>
            </a:r>
            <a:endParaRPr lang="en-US" altLang="zh-CN" sz="2400" dirty="0"/>
          </a:p>
          <a:p>
            <a:pPr>
              <a:lnSpc>
                <a:spcPct val="150000"/>
              </a:lnSpc>
              <a:buClr>
                <a:srgbClr val="C00000"/>
              </a:buClr>
              <a:buFont typeface="Wingdings" pitchFamily="2" charset="2"/>
              <a:buChar char="u"/>
            </a:pPr>
            <a:r>
              <a:rPr lang="en-US" altLang="zh-CN" sz="2400" dirty="0"/>
              <a:t>STM32</a:t>
            </a:r>
            <a:r>
              <a:rPr lang="zh-CN" altLang="en-US" sz="2400" dirty="0"/>
              <a:t>的大部分引脚除了当</a:t>
            </a:r>
            <a:r>
              <a:rPr lang="en-US" altLang="zh-CN" sz="2400" dirty="0"/>
              <a:t>GPIO</a:t>
            </a:r>
            <a:r>
              <a:rPr lang="zh-CN" altLang="en-US" sz="2400" dirty="0"/>
              <a:t>使用之外，还可以复用位外设功能引脚（比如串口）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94048" y="893335"/>
            <a:ext cx="10901265" cy="4524315"/>
          </a:xfrm>
          <a:prstGeom prst="rect">
            <a:avLst/>
          </a:prstGeom>
        </p:spPr>
        <p:txBody>
          <a:bodyPr wrap="square">
            <a:spAutoFit/>
          </a:bodyPr>
          <a:lstStyle/>
          <a:p>
            <a:pPr>
              <a:lnSpc>
                <a:spcPct val="150000"/>
              </a:lnSpc>
            </a:pPr>
            <a:r>
              <a:rPr lang="en-US" altLang="zh-CN" sz="2400" b="1" dirty="0">
                <a:solidFill>
                  <a:srgbClr val="7030A0"/>
                </a:solidFill>
              </a:rPr>
              <a:t>STM32</a:t>
            </a:r>
            <a:r>
              <a:rPr lang="zh-CN" altLang="en-US" sz="2400" b="1" dirty="0">
                <a:solidFill>
                  <a:srgbClr val="7030A0"/>
                </a:solidFill>
              </a:rPr>
              <a:t>中</a:t>
            </a:r>
            <a:r>
              <a:rPr lang="en-US" altLang="zh-CN" sz="2400" b="1" dirty="0">
                <a:solidFill>
                  <a:srgbClr val="7030A0"/>
                </a:solidFill>
              </a:rPr>
              <a:t>GPIO</a:t>
            </a:r>
            <a:r>
              <a:rPr lang="zh-CN" altLang="en-US" sz="2400" b="1" dirty="0">
                <a:solidFill>
                  <a:srgbClr val="7030A0"/>
                </a:solidFill>
              </a:rPr>
              <a:t>口：</a:t>
            </a:r>
          </a:p>
          <a:p>
            <a:pPr>
              <a:lnSpc>
                <a:spcPct val="150000"/>
              </a:lnSpc>
            </a:pPr>
            <a:r>
              <a:rPr lang="zh-CN" altLang="en-US" sz="2400" dirty="0"/>
              <a:t>一共分为</a:t>
            </a:r>
            <a:r>
              <a:rPr lang="en-US" altLang="zh-CN" sz="2400" dirty="0"/>
              <a:t>7</a:t>
            </a:r>
            <a:r>
              <a:rPr lang="zh-CN" altLang="en-US" sz="2400" dirty="0"/>
              <a:t>组端口：</a:t>
            </a:r>
            <a:r>
              <a:rPr lang="en-US" altLang="zh-CN" sz="2400" dirty="0"/>
              <a:t>GPIOA~GPIOG</a:t>
            </a:r>
          </a:p>
          <a:p>
            <a:pPr>
              <a:lnSpc>
                <a:spcPct val="150000"/>
              </a:lnSpc>
            </a:pPr>
            <a:r>
              <a:rPr lang="zh-CN" altLang="en-US" sz="2400" dirty="0"/>
              <a:t>每组端口分为</a:t>
            </a:r>
            <a:r>
              <a:rPr lang="en-US" altLang="zh-CN" sz="2400" dirty="0"/>
              <a:t>16</a:t>
            </a:r>
            <a:r>
              <a:rPr lang="zh-CN" altLang="en-US" sz="2400" dirty="0"/>
              <a:t>个管脚：</a:t>
            </a:r>
            <a:r>
              <a:rPr lang="en-US" altLang="zh-CN" sz="2400" dirty="0"/>
              <a:t>0~15   </a:t>
            </a:r>
            <a:r>
              <a:rPr lang="zh-CN" altLang="en-US" sz="2400" dirty="0"/>
              <a:t>一共是</a:t>
            </a:r>
            <a:r>
              <a:rPr lang="en-US" altLang="zh-CN" sz="2400" dirty="0"/>
              <a:t>7*16=112</a:t>
            </a:r>
            <a:r>
              <a:rPr lang="zh-CN" altLang="en-US" sz="2400" dirty="0"/>
              <a:t>个管脚</a:t>
            </a:r>
            <a:r>
              <a:rPr lang="en-US" altLang="zh-CN" sz="2400" dirty="0"/>
              <a:t>--- I/O</a:t>
            </a:r>
          </a:p>
          <a:p>
            <a:pPr>
              <a:lnSpc>
                <a:spcPct val="150000"/>
              </a:lnSpc>
            </a:pPr>
            <a:r>
              <a:rPr lang="en-US" altLang="zh-CN" sz="2400" dirty="0"/>
              <a:t>A</a:t>
            </a:r>
            <a:r>
              <a:rPr lang="zh-CN" altLang="en-US" sz="2400" dirty="0"/>
              <a:t>端口的第</a:t>
            </a:r>
            <a:r>
              <a:rPr lang="en-US" altLang="zh-CN" sz="2400" dirty="0"/>
              <a:t>5</a:t>
            </a:r>
            <a:r>
              <a:rPr lang="zh-CN" altLang="en-US" sz="2400" dirty="0"/>
              <a:t>个管脚：</a:t>
            </a:r>
            <a:r>
              <a:rPr lang="en-US" altLang="zh-CN" sz="2400" dirty="0"/>
              <a:t>PA5             </a:t>
            </a:r>
            <a:r>
              <a:rPr lang="zh-CN" altLang="en-US" sz="2400" dirty="0"/>
              <a:t>端口</a:t>
            </a:r>
            <a:r>
              <a:rPr lang="en-US" altLang="zh-CN" sz="2400" dirty="0"/>
              <a:t>B</a:t>
            </a:r>
            <a:r>
              <a:rPr lang="zh-CN" altLang="en-US" sz="2400" dirty="0"/>
              <a:t>的第</a:t>
            </a:r>
            <a:r>
              <a:rPr lang="en-US" altLang="zh-CN" sz="2400" dirty="0"/>
              <a:t>6</a:t>
            </a:r>
            <a:r>
              <a:rPr lang="zh-CN" altLang="en-US" sz="2400" dirty="0"/>
              <a:t>个管脚：</a:t>
            </a:r>
            <a:r>
              <a:rPr lang="en-US" altLang="zh-CN" sz="2400" dirty="0"/>
              <a:t>PB6</a:t>
            </a:r>
          </a:p>
          <a:p>
            <a:pPr>
              <a:lnSpc>
                <a:spcPct val="150000"/>
              </a:lnSpc>
            </a:pPr>
            <a:r>
              <a:rPr lang="en-US" altLang="zh-CN" sz="2400" dirty="0"/>
              <a:t>PA0:  A</a:t>
            </a:r>
            <a:r>
              <a:rPr lang="zh-CN" altLang="en-US" sz="2400" dirty="0"/>
              <a:t>端口的第</a:t>
            </a:r>
            <a:r>
              <a:rPr lang="en-US" altLang="zh-CN" sz="2400" dirty="0"/>
              <a:t>0</a:t>
            </a:r>
            <a:r>
              <a:rPr lang="zh-CN" altLang="en-US" sz="2400" dirty="0"/>
              <a:t>个管脚        </a:t>
            </a:r>
            <a:r>
              <a:rPr lang="en-US" altLang="zh-CN" sz="2400" dirty="0"/>
              <a:t>PA15---A</a:t>
            </a:r>
            <a:r>
              <a:rPr lang="zh-CN" altLang="en-US" sz="2400" dirty="0"/>
              <a:t>端口的第</a:t>
            </a:r>
            <a:r>
              <a:rPr lang="en-US" altLang="zh-CN" sz="2400" dirty="0"/>
              <a:t>15</a:t>
            </a:r>
            <a:r>
              <a:rPr lang="zh-CN" altLang="en-US" sz="2400" dirty="0"/>
              <a:t>个管脚     </a:t>
            </a:r>
          </a:p>
          <a:p>
            <a:pPr>
              <a:lnSpc>
                <a:spcPct val="150000"/>
              </a:lnSpc>
            </a:pPr>
            <a:r>
              <a:rPr lang="en-US" altLang="zh-CN" sz="2400" b="1" dirty="0">
                <a:solidFill>
                  <a:srgbClr val="7030A0"/>
                </a:solidFill>
              </a:rPr>
              <a:t>GPIO</a:t>
            </a:r>
            <a:r>
              <a:rPr lang="zh-CN" altLang="en-US" sz="2400" b="1" dirty="0">
                <a:solidFill>
                  <a:srgbClr val="7030A0"/>
                </a:solidFill>
              </a:rPr>
              <a:t>口作用：</a:t>
            </a:r>
            <a:endParaRPr lang="en-US" altLang="zh-CN" sz="2400" b="1" dirty="0">
              <a:solidFill>
                <a:srgbClr val="7030A0"/>
              </a:solidFill>
            </a:endParaRPr>
          </a:p>
          <a:p>
            <a:pPr>
              <a:lnSpc>
                <a:spcPct val="150000"/>
              </a:lnSpc>
            </a:pPr>
            <a:r>
              <a:rPr lang="zh-CN" altLang="en-US" sz="2400" dirty="0"/>
              <a:t>输入输出接口，进行数据交换的接口；只能输入输出高低电平；</a:t>
            </a:r>
          </a:p>
          <a:p>
            <a:pPr>
              <a:lnSpc>
                <a:spcPct val="150000"/>
              </a:lnSpc>
            </a:pPr>
            <a:r>
              <a:rPr lang="zh-CN" altLang="en-US" sz="2400" dirty="0"/>
              <a:t>即：高电平 </a:t>
            </a:r>
            <a:r>
              <a:rPr lang="en-US" altLang="zh-CN" sz="2400" dirty="0"/>
              <a:t>1(3.3v)   </a:t>
            </a:r>
            <a:r>
              <a:rPr lang="zh-CN" altLang="en-US" sz="2400" dirty="0"/>
              <a:t>低电平</a:t>
            </a:r>
            <a:r>
              <a:rPr lang="en-US" altLang="zh-CN" sz="2400" dirty="0"/>
              <a:t>0(0v)     ---GPIO</a:t>
            </a:r>
            <a:r>
              <a:rPr lang="zh-CN" altLang="en-US" sz="2400" dirty="0"/>
              <a:t>管脚只能呈现</a:t>
            </a:r>
            <a:r>
              <a:rPr lang="en-US" altLang="zh-CN" sz="2400" dirty="0"/>
              <a:t>0</a:t>
            </a:r>
            <a:r>
              <a:rPr lang="zh-CN" altLang="en-US" sz="2400" dirty="0"/>
              <a:t>和</a:t>
            </a:r>
            <a:r>
              <a:rPr lang="en-US" altLang="zh-CN" sz="2400" dirty="0"/>
              <a:t>1</a:t>
            </a:r>
            <a:r>
              <a:rPr lang="zh-CN" altLang="en-US" sz="2400" dirty="0"/>
              <a:t>两种状态！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5.1.1 GPIO</a:t>
            </a:r>
            <a:r>
              <a:rPr lang="zh-CN" altLang="en-US" sz="2800" b="1" dirty="0">
                <a:solidFill>
                  <a:srgbClr val="14529E"/>
                </a:solidFill>
              </a:rPr>
              <a:t>硬件结构</a:t>
            </a:r>
            <a:endParaRPr lang="zh-CN" altLang="en-US" sz="2800" b="1" dirty="0">
              <a:solidFill>
                <a:srgbClr val="C00000"/>
              </a:solidFill>
            </a:endParaRPr>
          </a:p>
        </p:txBody>
      </p:sp>
      <p:sp>
        <p:nvSpPr>
          <p:cNvPr id="9" name="矩形 8"/>
          <p:cNvSpPr/>
          <p:nvPr/>
        </p:nvSpPr>
        <p:spPr>
          <a:xfrm>
            <a:off x="771330" y="1247897"/>
            <a:ext cx="10779967" cy="1679627"/>
          </a:xfrm>
          <a:prstGeom prst="rect">
            <a:avLst/>
          </a:prstGeom>
        </p:spPr>
        <p:txBody>
          <a:bodyPr wrap="square">
            <a:spAutoFit/>
          </a:bodyPr>
          <a:lstStyle/>
          <a:p>
            <a:pPr>
              <a:lnSpc>
                <a:spcPct val="150000"/>
              </a:lnSpc>
              <a:buClr>
                <a:srgbClr val="C00000"/>
              </a:buClr>
            </a:pPr>
            <a:r>
              <a:rPr lang="zh-CN" altLang="en-US" sz="2400" dirty="0"/>
              <a:t>每个</a:t>
            </a:r>
            <a:r>
              <a:rPr lang="en-US" altLang="zh-CN" sz="2400" dirty="0"/>
              <a:t>GPIO</a:t>
            </a:r>
            <a:r>
              <a:rPr lang="zh-CN" altLang="en-US" sz="2400" dirty="0"/>
              <a:t>内部都有这样的一个电路结构。输出数据寄存器缩写成</a:t>
            </a:r>
            <a:r>
              <a:rPr lang="en-US" altLang="zh-CN" sz="2400" dirty="0"/>
              <a:t>ODR,</a:t>
            </a:r>
            <a:r>
              <a:rPr lang="zh-CN" altLang="en-US" sz="2400" dirty="0"/>
              <a:t>输入数据寄存器缩写成</a:t>
            </a:r>
            <a:r>
              <a:rPr lang="en-US" altLang="zh-CN" sz="2400" dirty="0"/>
              <a:t>IDR</a:t>
            </a:r>
            <a:r>
              <a:rPr lang="zh-CN" altLang="en-US" sz="2400" dirty="0"/>
              <a:t>。</a:t>
            </a:r>
            <a:r>
              <a:rPr lang="en-US" altLang="zh-CN" sz="2400" b="1" dirty="0">
                <a:solidFill>
                  <a:srgbClr val="FF0000"/>
                </a:solidFill>
              </a:rPr>
              <a:t>GPIO</a:t>
            </a:r>
            <a:r>
              <a:rPr lang="zh-CN" altLang="en-US" sz="2400" b="1" dirty="0">
                <a:solidFill>
                  <a:srgbClr val="FF0000"/>
                </a:solidFill>
              </a:rPr>
              <a:t>的每个位可由软件分别配置成多种模式。</a:t>
            </a:r>
          </a:p>
          <a:p>
            <a:pPr>
              <a:lnSpc>
                <a:spcPct val="150000"/>
              </a:lnSpc>
              <a:buClr>
                <a:srgbClr val="C00000"/>
              </a:buClr>
            </a:pPr>
            <a:endParaRPr lang="zh-CN" altLang="en-US" sz="2400" dirty="0"/>
          </a:p>
        </p:txBody>
      </p:sp>
      <p:pic>
        <p:nvPicPr>
          <p:cNvPr id="1026" name="Picture 2"/>
          <p:cNvPicPr>
            <a:picLocks noChangeAspect="1" noChangeArrowheads="1"/>
          </p:cNvPicPr>
          <p:nvPr/>
        </p:nvPicPr>
        <p:blipFill>
          <a:blip r:embed="rId3"/>
          <a:srcRect/>
          <a:stretch>
            <a:fillRect/>
          </a:stretch>
        </p:blipFill>
        <p:spPr bwMode="auto">
          <a:xfrm>
            <a:off x="2126408" y="2317386"/>
            <a:ext cx="7922661" cy="410997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94048" y="464126"/>
            <a:ext cx="10901265" cy="6740307"/>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b="1" dirty="0"/>
              <a:t>保护二极管：</a:t>
            </a:r>
            <a:r>
              <a:rPr lang="en-US" altLang="zh-CN" sz="2400" b="1" dirty="0">
                <a:solidFill>
                  <a:srgbClr val="FF0000"/>
                </a:solidFill>
              </a:rPr>
              <a:t>IO</a:t>
            </a:r>
            <a:r>
              <a:rPr lang="zh-CN" altLang="en-US" sz="2400" b="1" dirty="0">
                <a:solidFill>
                  <a:srgbClr val="FF0000"/>
                </a:solidFill>
              </a:rPr>
              <a:t>引脚上下两边两个二极管用于防止引脚外部过高、过低的电压输入。</a:t>
            </a:r>
            <a:r>
              <a:rPr lang="zh-CN" altLang="en-US" sz="2400" dirty="0"/>
              <a:t>当引脚电压高于</a:t>
            </a:r>
            <a:r>
              <a:rPr lang="en-US" altLang="zh-CN" sz="2400" dirty="0"/>
              <a:t>VDD</a:t>
            </a:r>
            <a:r>
              <a:rPr lang="zh-CN" altLang="en-US" sz="2400" dirty="0"/>
              <a:t>时，上方的二极管导通；当引脚电压低于</a:t>
            </a:r>
            <a:r>
              <a:rPr lang="en-US" altLang="zh-CN" sz="2400" dirty="0"/>
              <a:t>VSS</a:t>
            </a:r>
            <a:r>
              <a:rPr lang="zh-CN" altLang="en-US" sz="2400" dirty="0"/>
              <a:t>时，下方的二极管导通，防止不正常电压引入芯片导致芯片烧毁。但是尽管如此，还是不能直接外接大功率器件，须加大功率及隔离电路驱动，防止烧坏芯片或者外接器件无法正常工作。</a:t>
            </a:r>
            <a:endParaRPr lang="en-US" altLang="zh-CN" sz="2400" dirty="0"/>
          </a:p>
          <a:p>
            <a:pPr>
              <a:lnSpc>
                <a:spcPct val="150000"/>
              </a:lnSpc>
              <a:buClr>
                <a:srgbClr val="C00000"/>
              </a:buClr>
              <a:buFont typeface="Wingdings" pitchFamily="2" charset="2"/>
              <a:buChar char="u"/>
            </a:pPr>
            <a:r>
              <a:rPr lang="en-US" altLang="zh-CN" sz="2400" b="1" dirty="0"/>
              <a:t>P-MOS</a:t>
            </a:r>
            <a:r>
              <a:rPr lang="zh-CN" altLang="en-US" sz="2400" b="1" dirty="0"/>
              <a:t>管和</a:t>
            </a:r>
            <a:r>
              <a:rPr lang="en-US" altLang="zh-CN" sz="2400" b="1" dirty="0"/>
              <a:t>N-MOS</a:t>
            </a:r>
            <a:r>
              <a:rPr lang="zh-CN" altLang="en-US" sz="2400" b="1" dirty="0"/>
              <a:t>管：</a:t>
            </a:r>
            <a:r>
              <a:rPr lang="zh-CN" altLang="en-US" sz="2400" b="1" dirty="0">
                <a:solidFill>
                  <a:srgbClr val="FF0000"/>
                </a:solidFill>
              </a:rPr>
              <a:t>由</a:t>
            </a:r>
            <a:r>
              <a:rPr lang="en-US" altLang="zh-CN" sz="2400" b="1" dirty="0">
                <a:solidFill>
                  <a:srgbClr val="FF0000"/>
                </a:solidFill>
              </a:rPr>
              <a:t>P-MOS</a:t>
            </a:r>
            <a:r>
              <a:rPr lang="zh-CN" altLang="en-US" sz="2400" b="1" dirty="0">
                <a:solidFill>
                  <a:srgbClr val="FF0000"/>
                </a:solidFill>
              </a:rPr>
              <a:t>管和</a:t>
            </a:r>
            <a:r>
              <a:rPr lang="en-US" altLang="zh-CN" sz="2400" b="1" dirty="0">
                <a:solidFill>
                  <a:srgbClr val="FF0000"/>
                </a:solidFill>
              </a:rPr>
              <a:t>N-MOS</a:t>
            </a:r>
            <a:r>
              <a:rPr lang="zh-CN" altLang="en-US" sz="2400" b="1" dirty="0">
                <a:solidFill>
                  <a:srgbClr val="FF0000"/>
                </a:solidFill>
              </a:rPr>
              <a:t>管组成的单元电路使得</a:t>
            </a:r>
            <a:r>
              <a:rPr lang="en-US" altLang="zh-CN" sz="2400" b="1" dirty="0">
                <a:solidFill>
                  <a:srgbClr val="FF0000"/>
                </a:solidFill>
              </a:rPr>
              <a:t>GPIO</a:t>
            </a:r>
            <a:r>
              <a:rPr lang="zh-CN" altLang="en-US" sz="2400" b="1" dirty="0">
                <a:solidFill>
                  <a:srgbClr val="FF0000"/>
                </a:solidFill>
              </a:rPr>
              <a:t>具有“推挽输出”和“开漏输出”的模式</a:t>
            </a:r>
            <a:r>
              <a:rPr lang="zh-CN" altLang="en-US" sz="2400" dirty="0">
                <a:solidFill>
                  <a:srgbClr val="FF0000"/>
                </a:solidFill>
              </a:rPr>
              <a:t>。</a:t>
            </a:r>
            <a:endParaRPr lang="zh-CN" altLang="en-US" sz="2400" dirty="0"/>
          </a:p>
          <a:p>
            <a:pPr>
              <a:lnSpc>
                <a:spcPct val="150000"/>
              </a:lnSpc>
              <a:buClr>
                <a:srgbClr val="C00000"/>
              </a:buClr>
              <a:buFont typeface="Wingdings" pitchFamily="2" charset="2"/>
              <a:buChar char="u"/>
            </a:pPr>
            <a:r>
              <a:rPr lang="en-US" altLang="zh-CN" sz="2400" b="1" dirty="0"/>
              <a:t>TTL</a:t>
            </a:r>
            <a:r>
              <a:rPr lang="zh-CN" altLang="en-US" sz="2400" b="1" dirty="0"/>
              <a:t>肖特基触发器：信号经过触发器后，模拟信号转化为</a:t>
            </a:r>
            <a:r>
              <a:rPr lang="en-US" altLang="zh-CN" sz="2400" b="1" dirty="0"/>
              <a:t>0</a:t>
            </a:r>
            <a:r>
              <a:rPr lang="zh-CN" altLang="en-US" sz="2400" b="1" dirty="0"/>
              <a:t>和</a:t>
            </a:r>
            <a:r>
              <a:rPr lang="en-US" altLang="zh-CN" sz="2400" b="1" dirty="0"/>
              <a:t>1</a:t>
            </a:r>
            <a:r>
              <a:rPr lang="zh-CN" altLang="en-US" sz="2400" b="1" dirty="0"/>
              <a:t>的数字信号。但是，当</a:t>
            </a:r>
            <a:r>
              <a:rPr lang="en-US" altLang="zh-CN" sz="2400" b="1" dirty="0"/>
              <a:t>GPIO</a:t>
            </a:r>
            <a:r>
              <a:rPr lang="zh-CN" altLang="en-US" sz="2400" b="1" dirty="0"/>
              <a:t>引脚作为</a:t>
            </a:r>
            <a:r>
              <a:rPr lang="en-US" altLang="zh-CN" sz="2400" b="1" dirty="0"/>
              <a:t>ADC</a:t>
            </a:r>
            <a:r>
              <a:rPr lang="zh-CN" altLang="en-US" sz="2400" b="1" dirty="0"/>
              <a:t>采集电压的输入通道时，用其“模拟输入”功能，此时信号不再经过触发器进行</a:t>
            </a:r>
            <a:r>
              <a:rPr lang="en-US" altLang="zh-CN" sz="2400" b="1" dirty="0"/>
              <a:t>TTL</a:t>
            </a:r>
            <a:r>
              <a:rPr lang="zh-CN" altLang="en-US" sz="2400" b="1" dirty="0"/>
              <a:t>电平转换。</a:t>
            </a:r>
            <a:r>
              <a:rPr lang="en-US" altLang="zh-CN" sz="2400" dirty="0"/>
              <a:t>ADC</a:t>
            </a:r>
            <a:r>
              <a:rPr lang="zh-CN" altLang="en-US" sz="2400" dirty="0"/>
              <a:t>外设要采集到的原始的模拟信号。</a:t>
            </a:r>
          </a:p>
          <a:p>
            <a:pPr>
              <a:lnSpc>
                <a:spcPct val="150000"/>
              </a:lnSpc>
            </a:pPr>
            <a:endParaRPr lang="zh-CN"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12088" y="557203"/>
            <a:ext cx="10058400" cy="683771"/>
          </a:xfrm>
          <a:prstGeom prst="rect">
            <a:avLst/>
          </a:prstGeom>
        </p:spPr>
        <p:txBody>
          <a:bodyPr/>
          <a:lstStyle/>
          <a:p>
            <a:r>
              <a:rPr lang="en-US" altLang="zh-CN" sz="2800" b="1" dirty="0">
                <a:solidFill>
                  <a:srgbClr val="14529E"/>
                </a:solidFill>
              </a:rPr>
              <a:t>5.1.2 STM32</a:t>
            </a:r>
            <a:r>
              <a:rPr lang="zh-CN" altLang="en-US" sz="2800" b="1" dirty="0">
                <a:solidFill>
                  <a:srgbClr val="14529E"/>
                </a:solidFill>
              </a:rPr>
              <a:t>的</a:t>
            </a:r>
            <a:r>
              <a:rPr lang="en-US" altLang="zh-CN" sz="2800" b="1" dirty="0">
                <a:solidFill>
                  <a:srgbClr val="14529E"/>
                </a:solidFill>
              </a:rPr>
              <a:t>GPIO</a:t>
            </a:r>
            <a:r>
              <a:rPr lang="zh-CN" altLang="en-US" sz="2800" b="1" dirty="0">
                <a:solidFill>
                  <a:srgbClr val="14529E"/>
                </a:solidFill>
              </a:rPr>
              <a:t>工作方式</a:t>
            </a:r>
          </a:p>
        </p:txBody>
      </p:sp>
      <p:sp>
        <p:nvSpPr>
          <p:cNvPr id="146435" name="Rectangle 3"/>
          <p:cNvSpPr>
            <a:spLocks noChangeArrowheads="1"/>
          </p:cNvSpPr>
          <p:nvPr/>
        </p:nvSpPr>
        <p:spPr bwMode="auto">
          <a:xfrm>
            <a:off x="839754" y="1763485"/>
            <a:ext cx="10347649"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en-US" altLang="zh-CN" sz="2400" dirty="0"/>
              <a:t>GPIO</a:t>
            </a:r>
            <a:r>
              <a:rPr lang="zh-CN" altLang="en-US" sz="2400" dirty="0"/>
              <a:t>支持</a:t>
            </a:r>
            <a:r>
              <a:rPr lang="en-US" altLang="zh-CN" sz="2400" dirty="0"/>
              <a:t>4</a:t>
            </a:r>
            <a:r>
              <a:rPr lang="zh-CN" altLang="en-US" sz="2400" dirty="0"/>
              <a:t>种输入模式（浮空输入、上拉输入、下拉输入、模拟输入）和</a:t>
            </a:r>
            <a:r>
              <a:rPr lang="en-US" altLang="zh-CN" sz="2400" dirty="0"/>
              <a:t>4</a:t>
            </a:r>
            <a:r>
              <a:rPr lang="zh-CN" altLang="en-US" sz="2400" dirty="0"/>
              <a:t>种输出模式（开漏输出、开漏复用输出、推挽输出、推挽复用输出）。同时，</a:t>
            </a:r>
            <a:r>
              <a:rPr lang="en-US" altLang="zh-CN" sz="2400" dirty="0"/>
              <a:t>GPIO</a:t>
            </a:r>
            <a:r>
              <a:rPr lang="zh-CN" altLang="en-US" sz="2400" dirty="0"/>
              <a:t>还支持三种最大翻转速度（</a:t>
            </a:r>
            <a:r>
              <a:rPr lang="en-US" altLang="zh-CN" sz="2400" dirty="0"/>
              <a:t>2MHz</a:t>
            </a:r>
            <a:r>
              <a:rPr lang="zh-CN" altLang="en-US" sz="2400" dirty="0"/>
              <a:t>、</a:t>
            </a:r>
            <a:r>
              <a:rPr lang="en-US" altLang="zh-CN" sz="2400" dirty="0"/>
              <a:t>10MHz</a:t>
            </a:r>
            <a:r>
              <a:rPr lang="zh-CN" altLang="en-US" sz="2400" dirty="0"/>
              <a:t>、</a:t>
            </a:r>
            <a:r>
              <a:rPr lang="en-US" altLang="zh-CN" sz="2400" dirty="0"/>
              <a:t>50MHz</a:t>
            </a:r>
            <a:r>
              <a:rPr lang="zh-CN" altLang="en-US" sz="2400" dirty="0"/>
              <a:t>）。</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模拟输入模式</a:t>
            </a:r>
          </a:p>
        </p:txBody>
      </p:sp>
      <p:sp>
        <p:nvSpPr>
          <p:cNvPr id="146435" name="Rectangle 3"/>
          <p:cNvSpPr>
            <a:spLocks noChangeArrowheads="1"/>
          </p:cNvSpPr>
          <p:nvPr/>
        </p:nvSpPr>
        <p:spPr bwMode="auto">
          <a:xfrm>
            <a:off x="765109" y="5365101"/>
            <a:ext cx="10347649" cy="113325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400" dirty="0"/>
              <a:t>模拟输入模式下，</a:t>
            </a:r>
            <a:r>
              <a:rPr lang="en-US" altLang="zh-CN" sz="2400" dirty="0"/>
              <a:t>I/O</a:t>
            </a:r>
            <a:r>
              <a:rPr lang="zh-CN" altLang="en-US" sz="2400" dirty="0"/>
              <a:t>端口的模拟信号（电压信号，而非电平信号）直接模拟输入到片上外设模块，比如</a:t>
            </a:r>
            <a:r>
              <a:rPr lang="en-US" altLang="zh-CN" sz="2400" dirty="0"/>
              <a:t>ADC</a:t>
            </a:r>
            <a:r>
              <a:rPr lang="zh-CN" altLang="en-US" sz="2400" dirty="0"/>
              <a:t>模块等等。</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2050" name="Picture 2"/>
          <p:cNvPicPr>
            <a:picLocks noChangeAspect="1" noChangeArrowheads="1"/>
          </p:cNvPicPr>
          <p:nvPr/>
        </p:nvPicPr>
        <p:blipFill>
          <a:blip r:embed="rId3"/>
          <a:srcRect/>
          <a:stretch>
            <a:fillRect/>
          </a:stretch>
        </p:blipFill>
        <p:spPr bwMode="auto">
          <a:xfrm>
            <a:off x="2285322" y="986421"/>
            <a:ext cx="7530484" cy="4337041"/>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浮空输入模式</a:t>
            </a:r>
          </a:p>
        </p:txBody>
      </p:sp>
      <p:sp>
        <p:nvSpPr>
          <p:cNvPr id="146435" name="Rectangle 3"/>
          <p:cNvSpPr>
            <a:spLocks noChangeArrowheads="1"/>
          </p:cNvSpPr>
          <p:nvPr/>
        </p:nvSpPr>
        <p:spPr bwMode="auto">
          <a:xfrm>
            <a:off x="7948291" y="1171686"/>
            <a:ext cx="3608170" cy="50783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400" b="1" dirty="0"/>
              <a:t>浮空输入模式下，</a:t>
            </a:r>
            <a:r>
              <a:rPr lang="en-US" altLang="zh-CN" sz="2400" b="1" dirty="0"/>
              <a:t>I/O</a:t>
            </a:r>
            <a:r>
              <a:rPr lang="zh-CN" altLang="en-US" sz="2400" b="1" dirty="0"/>
              <a:t>端口的电平信号直接进入输入数据寄存器。也就是说，</a:t>
            </a:r>
            <a:r>
              <a:rPr lang="en-US" altLang="zh-CN" sz="2400" b="1" dirty="0">
                <a:highlight>
                  <a:srgbClr val="FFFF00"/>
                </a:highlight>
              </a:rPr>
              <a:t>I/O</a:t>
            </a:r>
            <a:r>
              <a:rPr lang="zh-CN" altLang="en-US" sz="2400" b="1" dirty="0">
                <a:highlight>
                  <a:srgbClr val="FFFF00"/>
                </a:highlight>
              </a:rPr>
              <a:t>的电平状态是不确定的</a:t>
            </a:r>
            <a:r>
              <a:rPr lang="zh-CN" altLang="en-US" sz="2400" b="1" dirty="0"/>
              <a:t>，完全由外部输入决定；如果在该引脚悬空（在无信号输入）的情况下，读取该端口的电平是不确定的。</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3074" name="Picture 2"/>
          <p:cNvPicPr>
            <a:picLocks noChangeAspect="1" noChangeArrowheads="1"/>
          </p:cNvPicPr>
          <p:nvPr/>
        </p:nvPicPr>
        <p:blipFill>
          <a:blip r:embed="rId3"/>
          <a:srcRect/>
          <a:stretch>
            <a:fillRect/>
          </a:stretch>
        </p:blipFill>
        <p:spPr bwMode="auto">
          <a:xfrm>
            <a:off x="278850" y="1043571"/>
            <a:ext cx="7745477" cy="4355449"/>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下拉输入模式</a:t>
            </a:r>
          </a:p>
        </p:txBody>
      </p:sp>
      <p:sp>
        <p:nvSpPr>
          <p:cNvPr id="146435" name="Rectangle 3"/>
          <p:cNvSpPr>
            <a:spLocks noChangeArrowheads="1"/>
          </p:cNvSpPr>
          <p:nvPr/>
        </p:nvSpPr>
        <p:spPr bwMode="auto">
          <a:xfrm>
            <a:off x="7724356" y="1097041"/>
            <a:ext cx="3608170" cy="50123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400" b="1" dirty="0"/>
              <a:t>下拉输入模式下，</a:t>
            </a:r>
            <a:r>
              <a:rPr lang="en-US" altLang="zh-CN" sz="2400" b="1" dirty="0"/>
              <a:t>I/O</a:t>
            </a:r>
            <a:r>
              <a:rPr lang="zh-CN" altLang="en-US" sz="2400" b="1" dirty="0"/>
              <a:t>端口的电平信号直接进入输入数据寄存器。</a:t>
            </a:r>
            <a:r>
              <a:rPr lang="zh-CN" altLang="en-US" sz="2400" b="1" dirty="0">
                <a:highlight>
                  <a:srgbClr val="FFFF00"/>
                </a:highlight>
              </a:rPr>
              <a:t>但是在</a:t>
            </a:r>
            <a:r>
              <a:rPr lang="en-US" altLang="zh-CN" sz="2400" b="1" dirty="0">
                <a:highlight>
                  <a:srgbClr val="FFFF00"/>
                </a:highlight>
              </a:rPr>
              <a:t>I/O</a:t>
            </a:r>
            <a:r>
              <a:rPr lang="zh-CN" altLang="en-US" sz="2400" b="1" dirty="0">
                <a:highlight>
                  <a:srgbClr val="FFFF00"/>
                </a:highlight>
              </a:rPr>
              <a:t>端口悬空（在无信号输入）的情况下，输入端的电平可以保持在低电平</a:t>
            </a:r>
            <a:r>
              <a:rPr lang="zh-CN" altLang="en-US" sz="2400" b="1" dirty="0"/>
              <a:t>；并且在</a:t>
            </a:r>
            <a:r>
              <a:rPr lang="en-US" altLang="zh-CN" sz="2400" b="1" dirty="0"/>
              <a:t>I/O</a:t>
            </a:r>
            <a:r>
              <a:rPr lang="zh-CN" altLang="en-US" sz="2400" b="1" dirty="0"/>
              <a:t>端口输入为高电平的时候，输入端的电平也还是高电平。</a:t>
            </a:r>
            <a:endParaRPr kumimoji="0" lang="zh-CN" altLang="en-US"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4098" name="Picture 2"/>
          <p:cNvPicPr>
            <a:picLocks noChangeAspect="1" noChangeArrowheads="1"/>
          </p:cNvPicPr>
          <p:nvPr/>
        </p:nvPicPr>
        <p:blipFill>
          <a:blip r:embed="rId3"/>
          <a:srcRect/>
          <a:stretch>
            <a:fillRect/>
          </a:stretch>
        </p:blipFill>
        <p:spPr bwMode="auto">
          <a:xfrm>
            <a:off x="254648" y="1052125"/>
            <a:ext cx="7285571" cy="411703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上拉输入模式</a:t>
            </a:r>
          </a:p>
        </p:txBody>
      </p:sp>
      <p:sp>
        <p:nvSpPr>
          <p:cNvPr id="146435" name="Rectangle 3"/>
          <p:cNvSpPr>
            <a:spLocks noChangeArrowheads="1"/>
          </p:cNvSpPr>
          <p:nvPr/>
        </p:nvSpPr>
        <p:spPr bwMode="auto">
          <a:xfrm>
            <a:off x="7724356" y="1097041"/>
            <a:ext cx="3608170" cy="501239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400" b="1" dirty="0"/>
              <a:t>上拉输入模式下，</a:t>
            </a:r>
            <a:r>
              <a:rPr lang="en-US" altLang="zh-CN" sz="2400" b="1" dirty="0"/>
              <a:t>I/O</a:t>
            </a:r>
            <a:r>
              <a:rPr lang="zh-CN" altLang="en-US" sz="2400" b="1" dirty="0"/>
              <a:t>端口的电平信号直接进入输入数据寄存器。但是在</a:t>
            </a:r>
            <a:r>
              <a:rPr lang="en-US" altLang="zh-CN" sz="2400" b="1" dirty="0"/>
              <a:t>I/O</a:t>
            </a:r>
            <a:r>
              <a:rPr lang="zh-CN" altLang="en-US" sz="2400" b="1" dirty="0"/>
              <a:t>端口悬空（在无信号输入）的情况下，</a:t>
            </a:r>
            <a:r>
              <a:rPr lang="zh-CN" altLang="en-US" sz="2400" b="1" dirty="0">
                <a:highlight>
                  <a:srgbClr val="FFFF00"/>
                </a:highlight>
              </a:rPr>
              <a:t>输入端的电平可以保持在高电平；并且在</a:t>
            </a:r>
            <a:r>
              <a:rPr lang="en-US" altLang="zh-CN" sz="2400" b="1" dirty="0">
                <a:highlight>
                  <a:srgbClr val="FFFF00"/>
                </a:highlight>
              </a:rPr>
              <a:t>I/O</a:t>
            </a:r>
            <a:r>
              <a:rPr lang="zh-CN" altLang="en-US" sz="2400" b="1" dirty="0">
                <a:highlight>
                  <a:srgbClr val="FFFF00"/>
                </a:highlight>
              </a:rPr>
              <a:t>端口输入为低电平的时候，输入端的电平也还是低电平。</a:t>
            </a:r>
            <a:endParaRPr kumimoji="0" lang="zh-CN" altLang="en-US" sz="2400" b="0" i="0" u="none" strike="noStrike" cap="none" normalizeH="0" baseline="0" dirty="0">
              <a:ln>
                <a:noFill/>
              </a:ln>
              <a:solidFill>
                <a:schemeClr val="tx1"/>
              </a:solidFill>
              <a:effectLst/>
              <a:highlight>
                <a:srgbClr val="FFFF00"/>
              </a:highlight>
              <a:latin typeface="Arial" pitchFamily="34" charset="0"/>
              <a:ea typeface="宋体" pitchFamily="2" charset="-122"/>
              <a:cs typeface="宋体" pitchFamily="2" charset="-122"/>
            </a:endParaRPr>
          </a:p>
        </p:txBody>
      </p:sp>
      <p:pic>
        <p:nvPicPr>
          <p:cNvPr id="5122" name="Picture 2"/>
          <p:cNvPicPr>
            <a:picLocks noChangeAspect="1" noChangeArrowheads="1"/>
          </p:cNvPicPr>
          <p:nvPr/>
        </p:nvPicPr>
        <p:blipFill>
          <a:blip r:embed="rId3"/>
          <a:srcRect/>
          <a:stretch>
            <a:fillRect/>
          </a:stretch>
        </p:blipFill>
        <p:spPr bwMode="auto">
          <a:xfrm>
            <a:off x="278462" y="1151942"/>
            <a:ext cx="7381971" cy="405833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5820" y="615820"/>
            <a:ext cx="10431625" cy="1687257"/>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400" dirty="0"/>
              <a:t>上拉、下拉你自己按照你设计的需要，空闲时要求高电平就上拉，否则就下拉。</a:t>
            </a:r>
            <a:r>
              <a:rPr lang="zh-CN" altLang="en-US" sz="2400" dirty="0">
                <a:highlight>
                  <a:srgbClr val="FFFF00"/>
                </a:highlight>
              </a:rPr>
              <a:t>浮空一般是作为按键、</a:t>
            </a:r>
            <a:r>
              <a:rPr lang="en-US" altLang="zh-CN" sz="2400" dirty="0">
                <a:highlight>
                  <a:srgbClr val="FFFF00"/>
                </a:highlight>
              </a:rPr>
              <a:t>I2C</a:t>
            </a:r>
            <a:r>
              <a:rPr lang="zh-CN" altLang="en-US" sz="2400" dirty="0">
                <a:highlight>
                  <a:srgbClr val="FFFF00"/>
                </a:highlight>
              </a:rPr>
              <a:t>、</a:t>
            </a:r>
            <a:r>
              <a:rPr lang="en-US" altLang="zh-CN" sz="2400" dirty="0">
                <a:highlight>
                  <a:srgbClr val="FFFF00"/>
                </a:highlight>
              </a:rPr>
              <a:t>USART</a:t>
            </a:r>
            <a:r>
              <a:rPr lang="zh-CN" altLang="en-US" sz="2400" dirty="0">
                <a:highlight>
                  <a:srgbClr val="FFFF00"/>
                </a:highlight>
              </a:rPr>
              <a:t>的接收端</a:t>
            </a:r>
            <a:r>
              <a:rPr lang="zh-CN" altLang="en-US" sz="2400" dirty="0"/>
              <a:t>。模拟输入一般是</a:t>
            </a:r>
            <a:r>
              <a:rPr lang="en-US" altLang="zh-CN" sz="2400" dirty="0"/>
              <a:t>ADC</a:t>
            </a:r>
            <a:r>
              <a:rPr lang="zh-CN" altLang="en-US" sz="2400" dirty="0"/>
              <a:t>，低功耗时。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通用开漏输出模式</a:t>
            </a:r>
          </a:p>
        </p:txBody>
      </p:sp>
      <p:sp>
        <p:nvSpPr>
          <p:cNvPr id="146435" name="Rectangle 3"/>
          <p:cNvSpPr>
            <a:spLocks noChangeArrowheads="1"/>
          </p:cNvSpPr>
          <p:nvPr/>
        </p:nvSpPr>
        <p:spPr bwMode="auto">
          <a:xfrm>
            <a:off x="7724356" y="975738"/>
            <a:ext cx="3608170" cy="42473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000" dirty="0"/>
              <a:t>开漏输出模式下，通过设置位设置</a:t>
            </a:r>
            <a:r>
              <a:rPr lang="en-US" altLang="zh-CN" sz="2000" dirty="0"/>
              <a:t>/</a:t>
            </a:r>
            <a:r>
              <a:rPr lang="zh-CN" altLang="en-US" sz="2000" dirty="0"/>
              <a:t>清除寄存器或者输出数据寄存器的值，途经</a:t>
            </a:r>
            <a:r>
              <a:rPr lang="en-US" altLang="zh-CN" sz="2000" dirty="0"/>
              <a:t>N-MOS</a:t>
            </a:r>
            <a:r>
              <a:rPr lang="zh-CN" altLang="en-US" sz="2000" dirty="0"/>
              <a:t>管，最终输出到</a:t>
            </a:r>
            <a:r>
              <a:rPr lang="en-US" altLang="zh-CN" sz="2000" dirty="0"/>
              <a:t>I/O</a:t>
            </a:r>
            <a:r>
              <a:rPr lang="zh-CN" altLang="en-US" sz="2000" dirty="0"/>
              <a:t>端口。这里要</a:t>
            </a:r>
            <a:r>
              <a:rPr lang="zh-CN" altLang="en-US" sz="2000" b="1" dirty="0"/>
              <a:t>注意</a:t>
            </a:r>
            <a:r>
              <a:rPr lang="en-US" altLang="zh-CN" sz="2000" b="1" dirty="0"/>
              <a:t>N-MOS</a:t>
            </a:r>
            <a:r>
              <a:rPr lang="zh-CN" altLang="en-US" sz="2000" b="1" dirty="0"/>
              <a:t>管，当设置输出的值为高电平的时候，</a:t>
            </a:r>
            <a:r>
              <a:rPr lang="en-US" altLang="zh-CN" sz="2000" b="1" dirty="0"/>
              <a:t>N-MOS</a:t>
            </a:r>
            <a:r>
              <a:rPr lang="zh-CN" altLang="en-US" sz="2000" b="1" dirty="0"/>
              <a:t>管处于关闭状态，此时</a:t>
            </a:r>
            <a:r>
              <a:rPr lang="en-US" altLang="zh-CN" sz="2000" b="1" dirty="0"/>
              <a:t>I/O</a:t>
            </a:r>
            <a:r>
              <a:rPr lang="zh-CN" altLang="en-US" sz="2000" b="1" dirty="0"/>
              <a:t>端口的电平就不会由输出的高低电平决定，而是由</a:t>
            </a:r>
            <a:r>
              <a:rPr lang="en-US" altLang="zh-CN" sz="2000" b="1" dirty="0"/>
              <a:t>I/O</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6146" name="Picture 2"/>
          <p:cNvPicPr>
            <a:picLocks noChangeAspect="1" noChangeArrowheads="1"/>
          </p:cNvPicPr>
          <p:nvPr/>
        </p:nvPicPr>
        <p:blipFill>
          <a:blip r:embed="rId4"/>
          <a:srcRect/>
          <a:stretch>
            <a:fillRect/>
          </a:stretch>
        </p:blipFill>
        <p:spPr bwMode="auto">
          <a:xfrm>
            <a:off x="302080" y="973106"/>
            <a:ext cx="7455866" cy="4224046"/>
          </a:xfrm>
          <a:prstGeom prst="rect">
            <a:avLst/>
          </a:prstGeom>
          <a:noFill/>
          <a:ln w="9525">
            <a:noFill/>
            <a:miter lim="800000"/>
            <a:headEnd/>
            <a:tailEnd/>
          </a:ln>
          <a:effectLst/>
        </p:spPr>
      </p:pic>
      <p:sp>
        <p:nvSpPr>
          <p:cNvPr id="8" name="TextBox 7"/>
          <p:cNvSpPr txBox="1"/>
          <p:nvPr/>
        </p:nvSpPr>
        <p:spPr>
          <a:xfrm>
            <a:off x="634482" y="5169156"/>
            <a:ext cx="10636898" cy="1421415"/>
          </a:xfrm>
          <a:prstGeom prst="rect">
            <a:avLst/>
          </a:prstGeom>
          <a:noFill/>
        </p:spPr>
        <p:txBody>
          <a:bodyPr wrap="square" rtlCol="0">
            <a:spAutoFit/>
          </a:bodyPr>
          <a:lstStyle/>
          <a:p>
            <a:pPr>
              <a:lnSpc>
                <a:spcPct val="150000"/>
              </a:lnSpc>
            </a:pPr>
            <a:r>
              <a:rPr lang="zh-CN" altLang="en-US" sz="2000" b="1" dirty="0"/>
              <a:t>端口外部的上拉或者下拉决定；当设置输出的值为低电平的时候，</a:t>
            </a:r>
            <a:r>
              <a:rPr lang="en-US" altLang="zh-CN" sz="2000" b="1" dirty="0"/>
              <a:t>N-MOS</a:t>
            </a:r>
            <a:r>
              <a:rPr lang="zh-CN" altLang="en-US" sz="2000" b="1" dirty="0"/>
              <a:t>管处于开启状态，此时</a:t>
            </a:r>
            <a:r>
              <a:rPr lang="en-US" altLang="zh-CN" sz="2000" b="1" dirty="0"/>
              <a:t>I/O</a:t>
            </a:r>
            <a:r>
              <a:rPr lang="zh-CN" altLang="en-US" sz="2000" b="1" dirty="0"/>
              <a:t>端口的电平就是低电平。同时，</a:t>
            </a:r>
            <a:r>
              <a:rPr lang="en-US" altLang="zh-CN" sz="2000" b="1" dirty="0"/>
              <a:t>I/O</a:t>
            </a:r>
            <a:r>
              <a:rPr lang="zh-CN" altLang="en-US" sz="2000" b="1" dirty="0"/>
              <a:t>端口的电平也可以通过输入电路进行读取；注意，</a:t>
            </a:r>
            <a:r>
              <a:rPr lang="en-US" altLang="zh-CN" sz="2000" b="1" dirty="0"/>
              <a:t>I/O</a:t>
            </a:r>
            <a:r>
              <a:rPr lang="zh-CN" altLang="en-US" sz="2000" b="1" dirty="0"/>
              <a:t>端口的电平不一定是输出的电平。</a:t>
            </a:r>
          </a:p>
        </p:txBody>
      </p:sp>
      <p:cxnSp>
        <p:nvCxnSpPr>
          <p:cNvPr id="9" name="直接连接符 8"/>
          <p:cNvCxnSpPr/>
          <p:nvPr>
            <p:custDataLst>
              <p:tags r:id="rId2"/>
            </p:custDataLst>
          </p:nvPr>
        </p:nvCxnSpPr>
        <p:spPr>
          <a:xfrm>
            <a:off x="693472" y="11021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5820" y="615820"/>
            <a:ext cx="10431625" cy="6186309"/>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400" dirty="0"/>
              <a:t>开漏输出最主要的特性就是高电平没有驱动能力，需要借助外部上拉电阻才能真正输出高电平，</a:t>
            </a:r>
            <a:r>
              <a:rPr lang="zh-CN" altLang="en-US" sz="2400" b="1" dirty="0">
                <a:solidFill>
                  <a:srgbClr val="7030A0"/>
                </a:solidFill>
                <a:highlight>
                  <a:srgbClr val="FFFF00"/>
                </a:highlight>
              </a:rPr>
              <a:t>开漏输出模式一定要接上拉电阻，不然不能正常工作</a:t>
            </a:r>
            <a:endParaRPr lang="en-US" altLang="zh-CN" sz="2400" b="1" dirty="0">
              <a:solidFill>
                <a:srgbClr val="7030A0"/>
              </a:solidFill>
              <a:highlight>
                <a:srgbClr val="FFFF00"/>
              </a:highlight>
            </a:endParaRPr>
          </a:p>
          <a:p>
            <a:pPr>
              <a:lnSpc>
                <a:spcPct val="150000"/>
              </a:lnSpc>
              <a:buClr>
                <a:srgbClr val="C00000"/>
              </a:buClr>
              <a:buFont typeface="Wingdings" pitchFamily="2" charset="2"/>
              <a:buChar char="u"/>
            </a:pPr>
            <a:r>
              <a:rPr lang="zh-CN" altLang="en-US" sz="2400" dirty="0"/>
              <a:t>开漏输出的这一特性一个明显的优势就是可以很方便的调节输出的电平，因为输出电平完全由上拉电阻连接的电源电平决定。</a:t>
            </a:r>
            <a:r>
              <a:rPr lang="zh-CN" altLang="en-US" sz="2400" dirty="0">
                <a:highlight>
                  <a:srgbClr val="FFFF00"/>
                </a:highlight>
              </a:rPr>
              <a:t>所以在需要进行电平转换的地方，非常适合使用开漏输出</a:t>
            </a:r>
            <a:r>
              <a:rPr lang="zh-CN" altLang="en-US" sz="2400" dirty="0"/>
              <a:t>。</a:t>
            </a:r>
          </a:p>
          <a:p>
            <a:pPr>
              <a:lnSpc>
                <a:spcPct val="150000"/>
              </a:lnSpc>
              <a:buClr>
                <a:srgbClr val="C00000"/>
              </a:buClr>
              <a:buFont typeface="Wingdings" pitchFamily="2" charset="2"/>
              <a:buChar char="u"/>
            </a:pPr>
            <a:r>
              <a:rPr lang="zh-CN" altLang="en-US" sz="2400" dirty="0"/>
              <a:t>开漏输出的这一特性另一个好处在于可以实现</a:t>
            </a:r>
            <a:r>
              <a:rPr lang="en-US" altLang="zh-CN" sz="2400" dirty="0"/>
              <a:t>"</a:t>
            </a:r>
            <a:r>
              <a:rPr lang="zh-CN" altLang="en-US" sz="2400" dirty="0"/>
              <a:t>线与</a:t>
            </a:r>
            <a:r>
              <a:rPr lang="en-US" altLang="zh-CN" sz="2400" dirty="0"/>
              <a:t>"</a:t>
            </a:r>
            <a:r>
              <a:rPr lang="zh-CN" altLang="en-US" sz="2400" dirty="0"/>
              <a:t>功能，所谓的</a:t>
            </a:r>
            <a:r>
              <a:rPr lang="en-US" altLang="zh-CN" sz="2400" dirty="0"/>
              <a:t>"</a:t>
            </a:r>
            <a:r>
              <a:rPr lang="zh-CN" altLang="en-US" sz="2400" dirty="0"/>
              <a:t>线与</a:t>
            </a:r>
            <a:r>
              <a:rPr lang="en-US" altLang="zh-CN" sz="2400" dirty="0"/>
              <a:t>"</a:t>
            </a:r>
            <a:r>
              <a:rPr lang="zh-CN" altLang="en-US" sz="2400" dirty="0"/>
              <a:t>指的是多个信号线直接连接在一起，只有当</a:t>
            </a:r>
            <a:r>
              <a:rPr lang="zh-CN" altLang="en-US" sz="2400" dirty="0">
                <a:highlight>
                  <a:srgbClr val="FFFF00"/>
                </a:highlight>
              </a:rPr>
              <a:t>所有信号</a:t>
            </a:r>
            <a:r>
              <a:rPr lang="zh-CN" altLang="en-US" sz="2400" dirty="0"/>
              <a:t>全部为高电平时，合在一起的总线为高电平；只要有任意一个或者多个信号为低电平，则总线为低电平。而推挽输出就不行，如果高电平和低电平连在一起，会出现电流倒灌，损坏器件。</a:t>
            </a:r>
          </a:p>
          <a:p>
            <a:pPr>
              <a:lnSpc>
                <a:spcPct val="150000"/>
              </a:lnSpc>
            </a:pP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通用推挽输出模式</a:t>
            </a:r>
          </a:p>
          <a:p>
            <a:endParaRPr lang="zh-CN" altLang="en-US" sz="2800" b="1" dirty="0">
              <a:solidFill>
                <a:srgbClr val="7030A0"/>
              </a:solidFill>
            </a:endParaRPr>
          </a:p>
        </p:txBody>
      </p:sp>
      <p:sp>
        <p:nvSpPr>
          <p:cNvPr id="146435" name="Rectangle 3"/>
          <p:cNvSpPr>
            <a:spLocks noChangeArrowheads="1"/>
          </p:cNvSpPr>
          <p:nvPr/>
        </p:nvSpPr>
        <p:spPr bwMode="auto">
          <a:xfrm>
            <a:off x="7724356" y="975738"/>
            <a:ext cx="3608170" cy="41914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000" dirty="0"/>
              <a:t>推挽输出模式下，通过设置位设置</a:t>
            </a:r>
            <a:r>
              <a:rPr lang="en-US" altLang="zh-CN" sz="2000" dirty="0"/>
              <a:t>/</a:t>
            </a:r>
            <a:r>
              <a:rPr lang="zh-CN" altLang="en-US" sz="2000" dirty="0"/>
              <a:t>清除寄存器或者输出数据寄存器的值，途经</a:t>
            </a:r>
            <a:r>
              <a:rPr lang="en-US" altLang="zh-CN" sz="2000" dirty="0"/>
              <a:t>P-MOS</a:t>
            </a:r>
            <a:r>
              <a:rPr lang="zh-CN" altLang="en-US" sz="2000" dirty="0"/>
              <a:t>管和</a:t>
            </a:r>
            <a:r>
              <a:rPr lang="en-US" altLang="zh-CN" sz="2000" dirty="0"/>
              <a:t>N-MOS</a:t>
            </a:r>
            <a:r>
              <a:rPr lang="zh-CN" altLang="en-US" sz="2000" dirty="0"/>
              <a:t>管，最终输出到</a:t>
            </a:r>
            <a:r>
              <a:rPr lang="en-US" altLang="zh-CN" sz="2000" dirty="0"/>
              <a:t>I/O</a:t>
            </a:r>
            <a:r>
              <a:rPr lang="zh-CN" altLang="en-US" sz="2000" dirty="0"/>
              <a:t>端口。这里要</a:t>
            </a:r>
            <a:r>
              <a:rPr lang="zh-CN" altLang="en-US" sz="2000" b="1" dirty="0"/>
              <a:t>注意</a:t>
            </a:r>
            <a:r>
              <a:rPr lang="en-US" altLang="zh-CN" sz="2000" b="1" dirty="0"/>
              <a:t>P-MOS</a:t>
            </a:r>
            <a:r>
              <a:rPr lang="zh-CN" altLang="en-US" sz="2000" b="1" dirty="0"/>
              <a:t>管和</a:t>
            </a:r>
            <a:r>
              <a:rPr lang="en-US" altLang="zh-CN" sz="2000" b="1" dirty="0"/>
              <a:t>N-MOS</a:t>
            </a:r>
            <a:r>
              <a:rPr lang="zh-CN" altLang="en-US" sz="2000" b="1" dirty="0"/>
              <a:t>管，当设置输出的值为高电平的时候，</a:t>
            </a:r>
            <a:r>
              <a:rPr lang="en-US" altLang="zh-CN" sz="2000" b="1" dirty="0"/>
              <a:t>P-MOS</a:t>
            </a:r>
            <a:r>
              <a:rPr lang="zh-CN" altLang="en-US" sz="2000" b="1" dirty="0"/>
              <a:t>管处于开启状态，</a:t>
            </a:r>
            <a:r>
              <a:rPr lang="en-US" altLang="zh-CN" sz="2000" b="1" dirty="0"/>
              <a:t>N-MOS</a:t>
            </a:r>
            <a:r>
              <a:rPr lang="zh-CN" altLang="en-US" sz="2000" b="1" dirty="0"/>
              <a:t>管处于关闭状态，此时</a:t>
            </a:r>
            <a:r>
              <a:rPr lang="en-US" altLang="zh-CN" sz="2000" b="1" dirty="0"/>
              <a:t>I/O</a:t>
            </a:r>
            <a:r>
              <a:rPr lang="zh-CN" altLang="en-US" sz="2000" b="1" dirty="0"/>
              <a:t>端口的</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 name="TextBox 7"/>
          <p:cNvSpPr txBox="1"/>
          <p:nvPr/>
        </p:nvSpPr>
        <p:spPr>
          <a:xfrm>
            <a:off x="613438" y="5146929"/>
            <a:ext cx="10636898" cy="1421415"/>
          </a:xfrm>
          <a:prstGeom prst="rect">
            <a:avLst/>
          </a:prstGeom>
          <a:noFill/>
        </p:spPr>
        <p:txBody>
          <a:bodyPr wrap="square" rtlCol="0">
            <a:spAutoFit/>
          </a:bodyPr>
          <a:lstStyle/>
          <a:p>
            <a:pPr>
              <a:lnSpc>
                <a:spcPct val="150000"/>
              </a:lnSpc>
            </a:pPr>
            <a:r>
              <a:rPr lang="zh-CN" altLang="en-US" sz="2000" b="1" dirty="0"/>
              <a:t>电平就由</a:t>
            </a:r>
            <a:r>
              <a:rPr lang="en-US" altLang="zh-CN" sz="2000" b="1" dirty="0"/>
              <a:t>P-MOS</a:t>
            </a:r>
            <a:r>
              <a:rPr lang="zh-CN" altLang="en-US" sz="2000" b="1" dirty="0"/>
              <a:t>管决定：高电平；当设置输出的值为低电平的时候，</a:t>
            </a:r>
            <a:r>
              <a:rPr lang="en-US" altLang="zh-CN" sz="2000" b="1" dirty="0"/>
              <a:t>P-MOS</a:t>
            </a:r>
            <a:r>
              <a:rPr lang="zh-CN" altLang="en-US" sz="2000" b="1" dirty="0"/>
              <a:t>管处于关闭状态，</a:t>
            </a:r>
            <a:r>
              <a:rPr lang="en-US" altLang="zh-CN" sz="2000" b="1" dirty="0"/>
              <a:t>N-MOS</a:t>
            </a:r>
            <a:r>
              <a:rPr lang="zh-CN" altLang="en-US" sz="2000" b="1" dirty="0"/>
              <a:t>管处于开启状态，此时</a:t>
            </a:r>
            <a:r>
              <a:rPr lang="en-US" altLang="zh-CN" sz="2000" b="1" dirty="0"/>
              <a:t>I/O</a:t>
            </a:r>
            <a:r>
              <a:rPr lang="zh-CN" altLang="en-US" sz="2000" b="1" dirty="0"/>
              <a:t>端口的电平就由</a:t>
            </a:r>
            <a:r>
              <a:rPr lang="en-US" altLang="zh-CN" sz="2000" b="1" dirty="0"/>
              <a:t>N-MOS</a:t>
            </a:r>
            <a:r>
              <a:rPr lang="zh-CN" altLang="en-US" sz="2000" b="1" dirty="0"/>
              <a:t>管决定：低电平。</a:t>
            </a:r>
            <a:r>
              <a:rPr lang="zh-CN" altLang="en-US" sz="2000" dirty="0"/>
              <a:t>同时，</a:t>
            </a:r>
            <a:r>
              <a:rPr lang="en-US" altLang="zh-CN" sz="2000" dirty="0"/>
              <a:t>I/O</a:t>
            </a:r>
            <a:r>
              <a:rPr lang="zh-CN" altLang="en-US" sz="2000" dirty="0"/>
              <a:t>端口的电平也可以通过输入电路进行读取；注意，此时</a:t>
            </a:r>
            <a:r>
              <a:rPr lang="en-US" altLang="zh-CN" sz="2000" dirty="0"/>
              <a:t>I/O</a:t>
            </a:r>
            <a:r>
              <a:rPr lang="zh-CN" altLang="en-US" sz="2000" dirty="0"/>
              <a:t>端口的电平一定是输出的电平。</a:t>
            </a:r>
            <a:endParaRPr lang="zh-CN" altLang="en-US" sz="2000" b="1" dirty="0"/>
          </a:p>
        </p:txBody>
      </p:sp>
      <p:pic>
        <p:nvPicPr>
          <p:cNvPr id="7170" name="Picture 2"/>
          <p:cNvPicPr>
            <a:picLocks noChangeAspect="1" noChangeArrowheads="1"/>
          </p:cNvPicPr>
          <p:nvPr/>
        </p:nvPicPr>
        <p:blipFill>
          <a:blip r:embed="rId3"/>
          <a:srcRect/>
          <a:stretch>
            <a:fillRect/>
          </a:stretch>
        </p:blipFill>
        <p:spPr bwMode="auto">
          <a:xfrm>
            <a:off x="404521" y="1057470"/>
            <a:ext cx="7337086" cy="412102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推挽复用输出模式</a:t>
            </a:r>
          </a:p>
          <a:p>
            <a:endParaRPr lang="zh-CN" altLang="en-US" sz="2800" b="1" dirty="0">
              <a:solidFill>
                <a:srgbClr val="7030A0"/>
              </a:solidFill>
            </a:endParaRPr>
          </a:p>
        </p:txBody>
      </p:sp>
      <p:sp>
        <p:nvSpPr>
          <p:cNvPr id="146435" name="Rectangle 3"/>
          <p:cNvSpPr>
            <a:spLocks noChangeArrowheads="1"/>
          </p:cNvSpPr>
          <p:nvPr/>
        </p:nvSpPr>
        <p:spPr bwMode="auto">
          <a:xfrm>
            <a:off x="7724356" y="975738"/>
            <a:ext cx="3608170" cy="28074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000" dirty="0"/>
              <a:t>推挽复用输出模式，与推挽输出模式很是类似。只是输出的高低电平的来源，不是让</a:t>
            </a:r>
            <a:r>
              <a:rPr lang="en-US" altLang="zh-CN" sz="2000" dirty="0"/>
              <a:t>CPU</a:t>
            </a:r>
            <a:r>
              <a:rPr lang="zh-CN" altLang="en-US" sz="2000" dirty="0"/>
              <a:t>直接写输出数据寄存器，</a:t>
            </a:r>
            <a:r>
              <a:rPr lang="zh-CN" altLang="en-US" sz="2000" dirty="0">
                <a:highlight>
                  <a:srgbClr val="FFFF00"/>
                </a:highlight>
              </a:rPr>
              <a:t>取而代之利用片上外设模块的复用功能输出来决定的。</a:t>
            </a:r>
            <a:endParaRPr kumimoji="0" lang="zh-CN" altLang="en-US" sz="2000" b="0" i="0" u="none" strike="noStrike" cap="none" normalizeH="0" baseline="0" dirty="0">
              <a:ln>
                <a:noFill/>
              </a:ln>
              <a:solidFill>
                <a:schemeClr val="tx1"/>
              </a:solidFill>
              <a:effectLst/>
              <a:highlight>
                <a:srgbClr val="FFFF00"/>
              </a:highlight>
              <a:latin typeface="Arial" pitchFamily="34" charset="0"/>
              <a:ea typeface="宋体" pitchFamily="2" charset="-122"/>
              <a:cs typeface="宋体" pitchFamily="2" charset="-122"/>
            </a:endParaRPr>
          </a:p>
        </p:txBody>
      </p:sp>
      <p:pic>
        <p:nvPicPr>
          <p:cNvPr id="1026" name="Picture 2"/>
          <p:cNvPicPr>
            <a:picLocks noChangeAspect="1" noChangeArrowheads="1"/>
          </p:cNvPicPr>
          <p:nvPr/>
        </p:nvPicPr>
        <p:blipFill>
          <a:blip r:embed="rId3"/>
          <a:srcRect/>
          <a:stretch>
            <a:fillRect/>
          </a:stretch>
        </p:blipFill>
        <p:spPr bwMode="auto">
          <a:xfrm>
            <a:off x="403549" y="999250"/>
            <a:ext cx="7391400" cy="44862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541072" y="94977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444137" y="361260"/>
            <a:ext cx="10058400" cy="683771"/>
          </a:xfrm>
          <a:prstGeom prst="rect">
            <a:avLst/>
          </a:prstGeom>
        </p:spPr>
        <p:txBody>
          <a:bodyPr/>
          <a:lstStyle/>
          <a:p>
            <a:r>
              <a:rPr lang="zh-CN" altLang="en-US" sz="2800" b="1" dirty="0">
                <a:solidFill>
                  <a:srgbClr val="7030A0"/>
                </a:solidFill>
              </a:rPr>
              <a:t>开漏复用输出模式</a:t>
            </a:r>
          </a:p>
          <a:p>
            <a:endParaRPr lang="zh-CN" altLang="en-US" sz="2800" b="1" dirty="0">
              <a:solidFill>
                <a:srgbClr val="7030A0"/>
              </a:solidFill>
            </a:endParaRPr>
          </a:p>
        </p:txBody>
      </p:sp>
      <p:sp>
        <p:nvSpPr>
          <p:cNvPr id="146435" name="Rectangle 3"/>
          <p:cNvSpPr>
            <a:spLocks noChangeArrowheads="1"/>
          </p:cNvSpPr>
          <p:nvPr/>
        </p:nvSpPr>
        <p:spPr bwMode="auto">
          <a:xfrm>
            <a:off x="7724356" y="975738"/>
            <a:ext cx="3608170" cy="28074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000" dirty="0"/>
              <a:t>开漏复用输出模式，与开漏输出模式很是类似。只是输出的高低电平的来源，不是让</a:t>
            </a:r>
            <a:r>
              <a:rPr lang="en-US" altLang="zh-CN" sz="2000" dirty="0"/>
              <a:t>CPU</a:t>
            </a:r>
            <a:r>
              <a:rPr lang="zh-CN" altLang="en-US" sz="2000" dirty="0"/>
              <a:t>直接写输出数据寄存器，</a:t>
            </a:r>
            <a:r>
              <a:rPr lang="zh-CN" altLang="en-US" sz="2000" dirty="0">
                <a:highlight>
                  <a:srgbClr val="FFFF00"/>
                </a:highlight>
              </a:rPr>
              <a:t>取而代之利用片上外设模块的复用功能输出来决定的。</a:t>
            </a:r>
            <a:endParaRPr kumimoji="0" lang="zh-CN" altLang="en-US" sz="2000" b="0" i="0" u="none" strike="noStrike" cap="none" normalizeH="0" baseline="0" dirty="0">
              <a:ln>
                <a:noFill/>
              </a:ln>
              <a:solidFill>
                <a:schemeClr val="tx1"/>
              </a:solidFill>
              <a:effectLst/>
              <a:highlight>
                <a:srgbClr val="FFFF00"/>
              </a:highlight>
              <a:latin typeface="Arial" pitchFamily="34" charset="0"/>
              <a:ea typeface="宋体" pitchFamily="2" charset="-122"/>
              <a:cs typeface="宋体" pitchFamily="2" charset="-122"/>
            </a:endParaRPr>
          </a:p>
        </p:txBody>
      </p:sp>
      <p:pic>
        <p:nvPicPr>
          <p:cNvPr id="2050" name="Picture 2"/>
          <p:cNvPicPr>
            <a:picLocks noChangeAspect="1" noChangeArrowheads="1"/>
          </p:cNvPicPr>
          <p:nvPr/>
        </p:nvPicPr>
        <p:blipFill>
          <a:blip r:embed="rId3"/>
          <a:srcRect/>
          <a:stretch>
            <a:fillRect/>
          </a:stretch>
        </p:blipFill>
        <p:spPr bwMode="auto">
          <a:xfrm>
            <a:off x="390234" y="1093529"/>
            <a:ext cx="7324725" cy="43910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84715" y="1600095"/>
            <a:ext cx="9324392" cy="2862322"/>
          </a:xfrm>
          <a:prstGeom prst="rect">
            <a:avLst/>
          </a:prstGeom>
        </p:spPr>
        <p:txBody>
          <a:bodyPr wrap="square">
            <a:spAutoFit/>
          </a:bodyPr>
          <a:lstStyle/>
          <a:p>
            <a:pPr>
              <a:lnSpc>
                <a:spcPct val="150000"/>
              </a:lnSpc>
            </a:pPr>
            <a:r>
              <a:rPr lang="zh-CN" altLang="en-US" sz="2400" b="1" dirty="0">
                <a:solidFill>
                  <a:srgbClr val="7030A0"/>
                </a:solidFill>
              </a:rPr>
              <a:t>开漏输出和推挽输出的区别：</a:t>
            </a:r>
          </a:p>
          <a:p>
            <a:pPr>
              <a:lnSpc>
                <a:spcPct val="150000"/>
              </a:lnSpc>
            </a:pPr>
            <a:r>
              <a:rPr lang="zh-CN" altLang="en-US" sz="2400" b="1" dirty="0">
                <a:solidFill>
                  <a:srgbClr val="7030A0"/>
                </a:solidFill>
              </a:rPr>
              <a:t>开漏输出：</a:t>
            </a:r>
            <a:r>
              <a:rPr lang="zh-CN" altLang="en-US" sz="2400" dirty="0">
                <a:highlight>
                  <a:srgbClr val="FFFF00"/>
                </a:highlight>
              </a:rPr>
              <a:t>只可以输出强低电平，高电平得靠外部电阻拉高。</a:t>
            </a:r>
            <a:r>
              <a:rPr lang="zh-CN" altLang="en-US" sz="2400" dirty="0"/>
              <a:t>输出端相当于三极管的集电极。适合于做电流型的驱动，其吸收电流的能力相对强</a:t>
            </a:r>
            <a:r>
              <a:rPr lang="en-US" altLang="zh-CN" sz="2400" dirty="0"/>
              <a:t>(</a:t>
            </a:r>
            <a:r>
              <a:rPr lang="zh-CN" altLang="en-US" sz="2400" dirty="0"/>
              <a:t>一般</a:t>
            </a:r>
            <a:r>
              <a:rPr lang="en-US" altLang="zh-CN" sz="2400" dirty="0"/>
              <a:t>20ma</a:t>
            </a:r>
            <a:r>
              <a:rPr lang="zh-CN" altLang="en-US" sz="2400" dirty="0"/>
              <a:t>以内</a:t>
            </a:r>
            <a:r>
              <a:rPr lang="en-US" altLang="zh-CN" sz="2400" dirty="0"/>
              <a:t>)</a:t>
            </a:r>
            <a:r>
              <a:rPr lang="zh-CN" altLang="en-US" sz="2400" dirty="0"/>
              <a:t>；</a:t>
            </a:r>
          </a:p>
          <a:p>
            <a:pPr>
              <a:lnSpc>
                <a:spcPct val="150000"/>
              </a:lnSpc>
            </a:pPr>
            <a:r>
              <a:rPr lang="zh-CN" altLang="en-US" sz="2400" b="1" dirty="0">
                <a:solidFill>
                  <a:srgbClr val="7030A0"/>
                </a:solidFill>
              </a:rPr>
              <a:t>推挽输出</a:t>
            </a:r>
            <a:r>
              <a:rPr lang="en-US" altLang="zh-CN" sz="2400" b="1" dirty="0">
                <a:solidFill>
                  <a:srgbClr val="7030A0"/>
                </a:solidFill>
              </a:rPr>
              <a:t>:</a:t>
            </a:r>
            <a:r>
              <a:rPr lang="zh-CN" altLang="en-US" sz="2400" dirty="0"/>
              <a:t>可以输出强高、低电平，连接数字器件。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71804" y="889844"/>
            <a:ext cx="10664890" cy="4662815"/>
          </a:xfrm>
          <a:prstGeom prst="rect">
            <a:avLst/>
          </a:prstGeom>
        </p:spPr>
        <p:txBody>
          <a:bodyPr wrap="square">
            <a:spAutoFit/>
          </a:bodyPr>
          <a:lstStyle/>
          <a:p>
            <a:pPr>
              <a:lnSpc>
                <a:spcPct val="150000"/>
              </a:lnSpc>
            </a:pPr>
            <a:r>
              <a:rPr lang="zh-CN" altLang="en-US" b="1" dirty="0">
                <a:solidFill>
                  <a:srgbClr val="7030A0"/>
                </a:solidFill>
              </a:rPr>
              <a:t>在</a:t>
            </a:r>
            <a:r>
              <a:rPr lang="en-US" altLang="zh-CN" b="1" dirty="0">
                <a:solidFill>
                  <a:srgbClr val="7030A0"/>
                </a:solidFill>
              </a:rPr>
              <a:t>STM32</a:t>
            </a:r>
            <a:r>
              <a:rPr lang="zh-CN" altLang="en-US" b="1" dirty="0">
                <a:solidFill>
                  <a:srgbClr val="7030A0"/>
                </a:solidFill>
              </a:rPr>
              <a:t>中选用怎样选择</a:t>
            </a:r>
            <a:r>
              <a:rPr lang="en-US" altLang="zh-CN" b="1" dirty="0">
                <a:solidFill>
                  <a:srgbClr val="7030A0"/>
                </a:solidFill>
              </a:rPr>
              <a:t>I/O</a:t>
            </a:r>
            <a:r>
              <a:rPr lang="zh-CN" altLang="en-US" b="1" dirty="0">
                <a:solidFill>
                  <a:srgbClr val="7030A0"/>
                </a:solidFill>
              </a:rPr>
              <a:t>模式？</a:t>
            </a:r>
          </a:p>
          <a:p>
            <a:pPr>
              <a:lnSpc>
                <a:spcPct val="150000"/>
              </a:lnSpc>
            </a:pPr>
            <a:r>
              <a:rPr lang="zh-CN" altLang="en-US" dirty="0"/>
              <a:t>浮空输入</a:t>
            </a:r>
            <a:r>
              <a:rPr lang="en-US" altLang="zh-CN" dirty="0"/>
              <a:t>_IN_FLOATING ——</a:t>
            </a:r>
            <a:r>
              <a:rPr lang="zh-CN" altLang="en-US" dirty="0"/>
              <a:t>浮空输入，可以做</a:t>
            </a:r>
            <a:r>
              <a:rPr lang="en-US" altLang="zh-CN" dirty="0"/>
              <a:t>KEY</a:t>
            </a:r>
            <a:r>
              <a:rPr lang="zh-CN" altLang="en-US" dirty="0"/>
              <a:t>识别，</a:t>
            </a:r>
            <a:r>
              <a:rPr lang="en-US" altLang="zh-CN" dirty="0"/>
              <a:t>RX1</a:t>
            </a:r>
          </a:p>
          <a:p>
            <a:pPr>
              <a:lnSpc>
                <a:spcPct val="150000"/>
              </a:lnSpc>
            </a:pPr>
            <a:r>
              <a:rPr lang="zh-CN" altLang="en-US" dirty="0"/>
              <a:t>带上拉输入</a:t>
            </a:r>
            <a:r>
              <a:rPr lang="en-US" altLang="zh-CN" dirty="0"/>
              <a:t>_IPU——IO</a:t>
            </a:r>
            <a:r>
              <a:rPr lang="zh-CN" altLang="en-US" dirty="0"/>
              <a:t>内部上拉电阻输入</a:t>
            </a:r>
          </a:p>
          <a:p>
            <a:pPr>
              <a:lnSpc>
                <a:spcPct val="150000"/>
              </a:lnSpc>
            </a:pPr>
            <a:r>
              <a:rPr lang="zh-CN" altLang="en-US" dirty="0"/>
              <a:t>带下拉输入</a:t>
            </a:r>
            <a:r>
              <a:rPr lang="en-US" altLang="zh-CN" dirty="0"/>
              <a:t>_IPD—— IO</a:t>
            </a:r>
            <a:r>
              <a:rPr lang="zh-CN" altLang="en-US" dirty="0"/>
              <a:t>内部下拉电阻输入</a:t>
            </a:r>
          </a:p>
          <a:p>
            <a:pPr>
              <a:lnSpc>
                <a:spcPct val="150000"/>
              </a:lnSpc>
            </a:pPr>
            <a:r>
              <a:rPr lang="zh-CN" altLang="en-US" dirty="0"/>
              <a:t>模拟输入</a:t>
            </a:r>
            <a:r>
              <a:rPr lang="en-US" altLang="zh-CN" dirty="0"/>
              <a:t>_AIN ——</a:t>
            </a:r>
            <a:r>
              <a:rPr lang="zh-CN" altLang="en-US" dirty="0">
                <a:highlight>
                  <a:srgbClr val="FFFF00"/>
                </a:highlight>
              </a:rPr>
              <a:t>应用</a:t>
            </a:r>
            <a:r>
              <a:rPr lang="en-US" altLang="zh-CN" dirty="0">
                <a:highlight>
                  <a:srgbClr val="FFFF00"/>
                </a:highlight>
              </a:rPr>
              <a:t>ADC</a:t>
            </a:r>
            <a:r>
              <a:rPr lang="zh-CN" altLang="en-US" dirty="0">
                <a:highlight>
                  <a:srgbClr val="FFFF00"/>
                </a:highlight>
              </a:rPr>
              <a:t>模拟输入，或者低功耗下省电</a:t>
            </a:r>
          </a:p>
          <a:p>
            <a:pPr>
              <a:lnSpc>
                <a:spcPct val="150000"/>
              </a:lnSpc>
            </a:pPr>
            <a:r>
              <a:rPr lang="zh-CN" altLang="en-US" dirty="0"/>
              <a:t>开漏输出</a:t>
            </a:r>
            <a:r>
              <a:rPr lang="en-US" altLang="zh-CN" dirty="0"/>
              <a:t>_OUT_OD ——IO</a:t>
            </a:r>
            <a:r>
              <a:rPr lang="zh-CN" altLang="en-US" dirty="0"/>
              <a:t>输出</a:t>
            </a:r>
            <a:r>
              <a:rPr lang="en-US" altLang="zh-CN" dirty="0"/>
              <a:t>0</a:t>
            </a:r>
            <a:r>
              <a:rPr lang="zh-CN" altLang="en-US" dirty="0"/>
              <a:t>接</a:t>
            </a:r>
            <a:r>
              <a:rPr lang="en-US" altLang="zh-CN" dirty="0"/>
              <a:t>GND</a:t>
            </a:r>
            <a:r>
              <a:rPr lang="zh-CN" altLang="en-US" dirty="0"/>
              <a:t>，</a:t>
            </a:r>
            <a:r>
              <a:rPr lang="en-US" altLang="zh-CN" dirty="0"/>
              <a:t>IO</a:t>
            </a:r>
            <a:r>
              <a:rPr lang="zh-CN" altLang="en-US" dirty="0"/>
              <a:t>输出</a:t>
            </a:r>
            <a:r>
              <a:rPr lang="en-US" altLang="zh-CN" dirty="0"/>
              <a:t>1</a:t>
            </a:r>
            <a:r>
              <a:rPr lang="zh-CN" altLang="en-US" dirty="0"/>
              <a:t>，悬空，需要外接上拉电阻，才能实现输出高电平。当输出为</a:t>
            </a:r>
            <a:r>
              <a:rPr lang="en-US" altLang="zh-CN" dirty="0"/>
              <a:t>1</a:t>
            </a:r>
            <a:r>
              <a:rPr lang="zh-CN" altLang="en-US" dirty="0"/>
              <a:t>时，</a:t>
            </a:r>
            <a:r>
              <a:rPr lang="en-US" altLang="zh-CN" dirty="0"/>
              <a:t>IO</a:t>
            </a:r>
            <a:r>
              <a:rPr lang="zh-CN" altLang="en-US" dirty="0"/>
              <a:t>口的状态由上拉电阻拉高电平，但由于是开漏输出模式，这样</a:t>
            </a:r>
            <a:r>
              <a:rPr lang="en-US" altLang="zh-CN" dirty="0"/>
              <a:t>IO</a:t>
            </a:r>
            <a:r>
              <a:rPr lang="zh-CN" altLang="en-US" dirty="0"/>
              <a:t>口也就可以由外部电路改变为低电平或不变。可以读</a:t>
            </a:r>
            <a:r>
              <a:rPr lang="en-US" altLang="zh-CN" dirty="0"/>
              <a:t>IO</a:t>
            </a:r>
            <a:r>
              <a:rPr lang="zh-CN" altLang="en-US" dirty="0"/>
              <a:t>输入电平变化，实现</a:t>
            </a:r>
            <a:r>
              <a:rPr lang="en-US" altLang="zh-CN" dirty="0"/>
              <a:t>C51</a:t>
            </a:r>
            <a:r>
              <a:rPr lang="zh-CN" altLang="en-US" dirty="0"/>
              <a:t>的</a:t>
            </a:r>
            <a:r>
              <a:rPr lang="en-US" altLang="zh-CN" dirty="0"/>
              <a:t>IO</a:t>
            </a:r>
            <a:r>
              <a:rPr lang="zh-CN" altLang="en-US" dirty="0"/>
              <a:t>双向功能</a:t>
            </a:r>
          </a:p>
          <a:p>
            <a:pPr>
              <a:lnSpc>
                <a:spcPct val="150000"/>
              </a:lnSpc>
            </a:pPr>
            <a:r>
              <a:rPr lang="zh-CN" altLang="en-US" dirty="0"/>
              <a:t>推挽输出</a:t>
            </a:r>
            <a:r>
              <a:rPr lang="en-US" altLang="zh-CN" dirty="0"/>
              <a:t>_OUT_PP ——IO</a:t>
            </a:r>
            <a:r>
              <a:rPr lang="zh-CN" altLang="en-US" dirty="0"/>
              <a:t>输出</a:t>
            </a:r>
            <a:r>
              <a:rPr lang="en-US" altLang="zh-CN" dirty="0"/>
              <a:t>0-</a:t>
            </a:r>
            <a:r>
              <a:rPr lang="zh-CN" altLang="en-US" dirty="0"/>
              <a:t>接</a:t>
            </a:r>
            <a:r>
              <a:rPr lang="en-US" altLang="zh-CN" dirty="0"/>
              <a:t>GND</a:t>
            </a:r>
            <a:r>
              <a:rPr lang="zh-CN" altLang="en-US" dirty="0"/>
              <a:t>， </a:t>
            </a:r>
            <a:r>
              <a:rPr lang="en-US" altLang="zh-CN" dirty="0"/>
              <a:t>IO</a:t>
            </a:r>
            <a:r>
              <a:rPr lang="zh-CN" altLang="en-US" dirty="0"/>
              <a:t>输出</a:t>
            </a:r>
            <a:r>
              <a:rPr lang="en-US" altLang="zh-CN" dirty="0"/>
              <a:t>1 -</a:t>
            </a:r>
            <a:r>
              <a:rPr lang="zh-CN" altLang="en-US" dirty="0"/>
              <a:t>接</a:t>
            </a:r>
            <a:r>
              <a:rPr lang="en-US" altLang="zh-CN" dirty="0"/>
              <a:t>VCC</a:t>
            </a:r>
            <a:r>
              <a:rPr lang="zh-CN" altLang="en-US" dirty="0"/>
              <a:t>，读输入值是未知的</a:t>
            </a:r>
          </a:p>
          <a:p>
            <a:pPr>
              <a:lnSpc>
                <a:spcPct val="150000"/>
              </a:lnSpc>
            </a:pPr>
            <a:r>
              <a:rPr lang="zh-CN" altLang="en-US" dirty="0"/>
              <a:t>复用功能的推挽输出</a:t>
            </a:r>
            <a:r>
              <a:rPr lang="en-US" altLang="zh-CN" dirty="0"/>
              <a:t>_AF_PP ——</a:t>
            </a:r>
            <a:r>
              <a:rPr lang="zh-CN" altLang="en-US" dirty="0"/>
              <a:t>片内外设功能（</a:t>
            </a:r>
            <a:r>
              <a:rPr lang="en-US" altLang="zh-CN" dirty="0"/>
              <a:t>I2C</a:t>
            </a:r>
            <a:r>
              <a:rPr lang="zh-CN" altLang="en-US" dirty="0"/>
              <a:t>的</a:t>
            </a:r>
            <a:r>
              <a:rPr lang="en-US" altLang="zh-CN" dirty="0"/>
              <a:t>SCL</a:t>
            </a:r>
            <a:r>
              <a:rPr lang="zh-CN" altLang="en-US" dirty="0"/>
              <a:t>、</a:t>
            </a:r>
            <a:r>
              <a:rPr lang="en-US" altLang="zh-CN" dirty="0"/>
              <a:t>SDA</a:t>
            </a:r>
            <a:r>
              <a:rPr lang="zh-CN" altLang="en-US" dirty="0"/>
              <a:t>）</a:t>
            </a:r>
          </a:p>
          <a:p>
            <a:pPr>
              <a:lnSpc>
                <a:spcPct val="150000"/>
              </a:lnSpc>
            </a:pPr>
            <a:r>
              <a:rPr lang="zh-CN" altLang="en-US" dirty="0"/>
              <a:t>复用功能的开漏输出</a:t>
            </a:r>
            <a:r>
              <a:rPr lang="en-US" altLang="zh-CN" dirty="0"/>
              <a:t>_AF_OD——</a:t>
            </a:r>
            <a:r>
              <a:rPr lang="zh-CN" altLang="en-US" dirty="0"/>
              <a:t>片内外设功能（</a:t>
            </a:r>
            <a:r>
              <a:rPr lang="en-US" altLang="zh-CN" dirty="0"/>
              <a:t>TX1</a:t>
            </a:r>
            <a:r>
              <a:rPr lang="zh-CN" altLang="en-US" dirty="0"/>
              <a:t>、</a:t>
            </a:r>
            <a:r>
              <a:rPr lang="en-US" altLang="zh-CN" dirty="0"/>
              <a:t>MOSI</a:t>
            </a:r>
            <a:r>
              <a:rPr lang="zh-CN" altLang="en-US" dirty="0"/>
              <a:t>、</a:t>
            </a:r>
            <a:r>
              <a:rPr lang="en-US" altLang="zh-CN" dirty="0"/>
              <a:t>MISO.SCK.SS</a:t>
            </a:r>
            <a:r>
              <a:rPr lang="zh-CN" alt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5.1.3 GPIO</a:t>
            </a:r>
            <a:r>
              <a:rPr lang="zh-CN" altLang="en-US" sz="2800" b="1" dirty="0">
                <a:solidFill>
                  <a:srgbClr val="14529E"/>
                </a:solidFill>
              </a:rPr>
              <a:t>速度选择</a:t>
            </a:r>
          </a:p>
        </p:txBody>
      </p:sp>
      <p:sp>
        <p:nvSpPr>
          <p:cNvPr id="147457" name="Rectangle 1"/>
          <p:cNvSpPr>
            <a:spLocks noChangeArrowheads="1"/>
          </p:cNvSpPr>
          <p:nvPr/>
        </p:nvSpPr>
        <p:spPr bwMode="auto">
          <a:xfrm>
            <a:off x="839753" y="1408922"/>
            <a:ext cx="10814182" cy="42473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buClr>
                <a:srgbClr val="7030A0"/>
              </a:buClr>
              <a:buFont typeface="Wingdings" pitchFamily="2" charset="2"/>
              <a:buChar char="u"/>
            </a:pPr>
            <a:r>
              <a:rPr lang="en-US" altLang="zh-CN" sz="2000" dirty="0"/>
              <a:t>GPIO</a:t>
            </a:r>
            <a:r>
              <a:rPr lang="zh-CN" altLang="en-US" sz="2000" dirty="0">
                <a:highlight>
                  <a:srgbClr val="FFFF00"/>
                </a:highlight>
              </a:rPr>
              <a:t>输出模式</a:t>
            </a:r>
            <a:r>
              <a:rPr lang="zh-CN" altLang="en-US" sz="2000" dirty="0"/>
              <a:t>下，几种速度的区别：</a:t>
            </a:r>
            <a:endParaRPr lang="en-US" altLang="zh-CN" sz="2000" dirty="0"/>
          </a:p>
          <a:p>
            <a:pPr lvl="0" fontAlgn="base">
              <a:lnSpc>
                <a:spcPct val="150000"/>
              </a:lnSpc>
              <a:spcBef>
                <a:spcPct val="0"/>
              </a:spcBef>
              <a:spcAft>
                <a:spcPct val="0"/>
              </a:spcAft>
            </a:pPr>
            <a:r>
              <a:rPr lang="en-US" sz="2000" dirty="0"/>
              <a:t>GPIO </a:t>
            </a:r>
            <a:r>
              <a:rPr lang="zh-CN" altLang="en-US" sz="2000" dirty="0"/>
              <a:t>引脚速度： </a:t>
            </a:r>
            <a:r>
              <a:rPr lang="en-US" sz="2000" dirty="0"/>
              <a:t>GPIO_Speed_2MHz     (10MHz, 50MHz)</a:t>
            </a:r>
          </a:p>
          <a:p>
            <a:pPr lvl="0" fontAlgn="base">
              <a:lnSpc>
                <a:spcPct val="150000"/>
              </a:lnSpc>
              <a:spcBef>
                <a:spcPct val="0"/>
              </a:spcBef>
              <a:spcAft>
                <a:spcPct val="0"/>
              </a:spcAft>
              <a:buClr>
                <a:srgbClr val="7030A0"/>
              </a:buClr>
              <a:buFont typeface="Wingdings" pitchFamily="2" charset="2"/>
              <a:buChar char="u"/>
            </a:pPr>
            <a:r>
              <a:rPr lang="zh-CN" altLang="en-US" sz="2000" dirty="0"/>
              <a:t>又称</a:t>
            </a:r>
            <a:r>
              <a:rPr lang="zh-CN" altLang="en-US" sz="2000" dirty="0">
                <a:highlight>
                  <a:srgbClr val="FFFF00"/>
                </a:highlight>
              </a:rPr>
              <a:t>输出驱动电路的响应速度</a:t>
            </a:r>
            <a:r>
              <a:rPr lang="zh-CN" altLang="en-US" sz="2000" dirty="0"/>
              <a:t>：（芯片内部在</a:t>
            </a:r>
            <a:r>
              <a:rPr lang="en-US" altLang="zh-CN" sz="2000" dirty="0"/>
              <a:t>I/O</a:t>
            </a:r>
            <a:r>
              <a:rPr lang="zh-CN" altLang="en-US" sz="2000" dirty="0"/>
              <a:t>口的输出部分安排了多个响应速度不同的输出驱动电路，用户可以根据自己的需要选择合适的驱动电路，通过选择速度来选择不同的输出驱动模块，达到</a:t>
            </a:r>
            <a:r>
              <a:rPr lang="zh-CN" altLang="en-US" sz="2000" dirty="0">
                <a:highlight>
                  <a:srgbClr val="FFFF00"/>
                </a:highlight>
              </a:rPr>
              <a:t>最佳的噪声控制和降低功耗的目的</a:t>
            </a:r>
            <a:r>
              <a:rPr lang="zh-CN" altLang="en-US" sz="2000" dirty="0"/>
              <a:t>。）</a:t>
            </a:r>
            <a:endParaRPr lang="en-US" altLang="zh-CN" sz="2000" dirty="0"/>
          </a:p>
          <a:p>
            <a:pPr lvl="0" fontAlgn="base">
              <a:lnSpc>
                <a:spcPct val="150000"/>
              </a:lnSpc>
              <a:spcBef>
                <a:spcPct val="0"/>
              </a:spcBef>
              <a:spcAft>
                <a:spcPct val="0"/>
              </a:spcAft>
              <a:buClr>
                <a:srgbClr val="7030A0"/>
              </a:buClr>
              <a:buFont typeface="Wingdings" pitchFamily="2" charset="2"/>
              <a:buChar char="u"/>
            </a:pPr>
            <a:r>
              <a:rPr lang="zh-CN" altLang="en-US" sz="2000" dirty="0"/>
              <a:t>可理解为</a:t>
            </a:r>
            <a:r>
              <a:rPr lang="en-US" altLang="zh-CN" sz="2000" dirty="0"/>
              <a:t>: </a:t>
            </a:r>
            <a:r>
              <a:rPr lang="zh-CN" altLang="en-US" sz="2000" b="1" dirty="0"/>
              <a:t>输出驱动电路的带宽</a:t>
            </a:r>
            <a:r>
              <a:rPr lang="zh-CN" altLang="en-US" sz="2000" dirty="0"/>
              <a:t>：即一个驱动电路可以</a:t>
            </a:r>
            <a:r>
              <a:rPr lang="zh-CN" altLang="en-US" sz="2000" dirty="0">
                <a:highlight>
                  <a:srgbClr val="FFFF00"/>
                </a:highlight>
              </a:rPr>
              <a:t>不失真地通过信号的最大频率</a:t>
            </a:r>
            <a:r>
              <a:rPr lang="zh-CN" altLang="en-US" sz="2000" dirty="0"/>
              <a:t>。如果一个信号的频率超过了驱动电路的响应速度，就有可能信号失真。</a:t>
            </a:r>
            <a:endParaRPr lang="en-US" altLang="zh-CN" sz="2000" dirty="0"/>
          </a:p>
          <a:p>
            <a:pPr lvl="0" fontAlgn="base">
              <a:lnSpc>
                <a:spcPct val="150000"/>
              </a:lnSpc>
              <a:spcBef>
                <a:spcPct val="0"/>
              </a:spcBef>
              <a:spcAft>
                <a:spcPct val="0"/>
              </a:spcAft>
              <a:buClr>
                <a:srgbClr val="7030A0"/>
              </a:buClr>
              <a:buFont typeface="Wingdings" pitchFamily="2" charset="2"/>
              <a:buChar char="u"/>
            </a:pPr>
            <a:r>
              <a:rPr lang="zh-CN" altLang="en-US" sz="2000" dirty="0"/>
              <a:t>如果信号频率为</a:t>
            </a:r>
            <a:r>
              <a:rPr lang="en-US" altLang="zh-CN" sz="2000" dirty="0"/>
              <a:t>10MHz</a:t>
            </a:r>
            <a:r>
              <a:rPr lang="zh-CN" altLang="en-US" sz="2000" dirty="0"/>
              <a:t>，而你配置了</a:t>
            </a:r>
            <a:r>
              <a:rPr lang="en-US" altLang="zh-CN" sz="2000" dirty="0"/>
              <a:t>2MHz</a:t>
            </a:r>
            <a:r>
              <a:rPr lang="zh-CN" altLang="en-US" sz="2000" dirty="0"/>
              <a:t>的带宽，则</a:t>
            </a:r>
            <a:r>
              <a:rPr lang="en-US" altLang="zh-CN" sz="2000" dirty="0"/>
              <a:t>10MHz</a:t>
            </a:r>
            <a:r>
              <a:rPr lang="zh-CN" altLang="en-US" sz="2000" dirty="0"/>
              <a:t>的方波很可能就变成了正弦波。 </a:t>
            </a:r>
            <a:r>
              <a:rPr lang="en-US" sz="2000" dirty="0"/>
              <a:t> </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75387" y="1036786"/>
            <a:ext cx="10546701" cy="4524315"/>
          </a:xfrm>
          <a:prstGeom prst="rect">
            <a:avLst/>
          </a:prstGeom>
        </p:spPr>
        <p:txBody>
          <a:bodyPr wrap="square">
            <a:spAutoFit/>
          </a:bodyPr>
          <a:lstStyle/>
          <a:p>
            <a:pPr>
              <a:lnSpc>
                <a:spcPct val="150000"/>
              </a:lnSpc>
            </a:pPr>
            <a:r>
              <a:rPr lang="zh-CN" altLang="en-US" sz="2400" b="1" dirty="0">
                <a:solidFill>
                  <a:srgbClr val="7030A0"/>
                </a:solidFill>
              </a:rPr>
              <a:t>例：</a:t>
            </a:r>
          </a:p>
          <a:p>
            <a:pPr>
              <a:lnSpc>
                <a:spcPct val="150000"/>
              </a:lnSpc>
            </a:pPr>
            <a:r>
              <a:rPr lang="zh-CN" altLang="en-US" sz="2400" dirty="0"/>
              <a:t>①　</a:t>
            </a:r>
            <a:r>
              <a:rPr lang="en-US" altLang="zh-CN" sz="2400" dirty="0"/>
              <a:t>USART</a:t>
            </a:r>
            <a:r>
              <a:rPr lang="zh-CN" altLang="en-US" sz="2400" dirty="0"/>
              <a:t>串口，若最大波特率只需</a:t>
            </a:r>
            <a:r>
              <a:rPr lang="en-US" altLang="zh-CN" sz="2400" dirty="0"/>
              <a:t>115.2k</a:t>
            </a:r>
            <a:r>
              <a:rPr lang="zh-CN" altLang="en-US" sz="2400" dirty="0"/>
              <a:t>，那用</a:t>
            </a:r>
            <a:r>
              <a:rPr lang="en-US" altLang="zh-CN" sz="2400" dirty="0"/>
              <a:t>2M</a:t>
            </a:r>
            <a:r>
              <a:rPr lang="zh-CN" altLang="en-US" sz="2400" dirty="0"/>
              <a:t>的速度就够了，既省电也噪声小。</a:t>
            </a:r>
          </a:p>
          <a:p>
            <a:pPr>
              <a:lnSpc>
                <a:spcPct val="150000"/>
              </a:lnSpc>
            </a:pPr>
            <a:r>
              <a:rPr lang="zh-CN" altLang="en-US" sz="2400" dirty="0"/>
              <a:t>②　</a:t>
            </a:r>
            <a:r>
              <a:rPr lang="en-US" altLang="zh-CN" sz="2400" dirty="0"/>
              <a:t>I2C</a:t>
            </a:r>
            <a:r>
              <a:rPr lang="zh-CN" altLang="en-US" sz="2400" dirty="0"/>
              <a:t>接口，若使用</a:t>
            </a:r>
            <a:r>
              <a:rPr lang="en-US" altLang="zh-CN" sz="2400" dirty="0"/>
              <a:t>400k</a:t>
            </a:r>
            <a:r>
              <a:rPr lang="zh-CN" altLang="en-US" sz="2400" dirty="0"/>
              <a:t>波特率，若想把余量留大些，可以选用</a:t>
            </a:r>
            <a:r>
              <a:rPr lang="en-US" altLang="zh-CN" sz="2400" dirty="0"/>
              <a:t>10M</a:t>
            </a:r>
            <a:r>
              <a:rPr lang="zh-CN" altLang="en-US" sz="2400" dirty="0"/>
              <a:t>的</a:t>
            </a:r>
            <a:r>
              <a:rPr lang="en-US" altLang="zh-CN" sz="2400" dirty="0"/>
              <a:t>GPIO</a:t>
            </a:r>
            <a:r>
              <a:rPr lang="zh-CN" altLang="en-US" sz="2400" dirty="0"/>
              <a:t>引脚速度。</a:t>
            </a:r>
          </a:p>
          <a:p>
            <a:pPr>
              <a:lnSpc>
                <a:spcPct val="150000"/>
              </a:lnSpc>
            </a:pPr>
            <a:r>
              <a:rPr lang="zh-CN" altLang="en-US" sz="2400" dirty="0"/>
              <a:t>③　</a:t>
            </a:r>
            <a:r>
              <a:rPr lang="en-US" altLang="zh-CN" sz="2400" dirty="0"/>
              <a:t>SPI</a:t>
            </a:r>
            <a:r>
              <a:rPr lang="zh-CN" altLang="en-US" sz="2400" dirty="0"/>
              <a:t>接口，若使用</a:t>
            </a:r>
            <a:r>
              <a:rPr lang="en-US" altLang="zh-CN" sz="2400" dirty="0"/>
              <a:t>18M</a:t>
            </a:r>
            <a:r>
              <a:rPr lang="zh-CN" altLang="en-US" sz="2400" dirty="0"/>
              <a:t>或</a:t>
            </a:r>
            <a:r>
              <a:rPr lang="en-US" altLang="zh-CN" sz="2400" dirty="0"/>
              <a:t>9M</a:t>
            </a:r>
            <a:r>
              <a:rPr lang="zh-CN" altLang="en-US" sz="2400" dirty="0"/>
              <a:t>波特率，需要选用</a:t>
            </a:r>
            <a:r>
              <a:rPr lang="en-US" altLang="zh-CN" sz="2400" dirty="0"/>
              <a:t>50M</a:t>
            </a:r>
            <a:r>
              <a:rPr lang="zh-CN" altLang="en-US" sz="2400" dirty="0"/>
              <a:t>的</a:t>
            </a:r>
            <a:r>
              <a:rPr lang="en-US" altLang="zh-CN" sz="2400" dirty="0"/>
              <a:t>GPIO</a:t>
            </a:r>
            <a:r>
              <a:rPr lang="zh-CN" altLang="en-US" sz="2400" dirty="0"/>
              <a:t>的引脚速度。</a:t>
            </a:r>
          </a:p>
          <a:p>
            <a:pPr>
              <a:lnSpc>
                <a:spcPct val="150000"/>
              </a:lnSpc>
            </a:pPr>
            <a:r>
              <a:rPr lang="en-US" altLang="zh-CN" sz="2400" dirty="0"/>
              <a:t>(2). GPIO</a:t>
            </a:r>
            <a:r>
              <a:rPr lang="zh-CN" altLang="en-US" sz="2400" dirty="0"/>
              <a:t>的翻转速度指：输入</a:t>
            </a:r>
            <a:r>
              <a:rPr lang="en-US" altLang="zh-CN" sz="2400" dirty="0"/>
              <a:t>/</a:t>
            </a:r>
            <a:r>
              <a:rPr lang="zh-CN" altLang="en-US" sz="2400" dirty="0"/>
              <a:t>输出寄存器的</a:t>
            </a:r>
            <a:r>
              <a:rPr lang="en-US" altLang="zh-CN" sz="2400" dirty="0"/>
              <a:t>0 </a:t>
            </a:r>
            <a:r>
              <a:rPr lang="zh-CN" altLang="en-US" sz="2400" dirty="0"/>
              <a:t>，</a:t>
            </a:r>
            <a:r>
              <a:rPr lang="en-US" altLang="zh-CN" sz="2400" dirty="0"/>
              <a:t>1 </a:t>
            </a:r>
            <a:r>
              <a:rPr lang="zh-CN" altLang="en-US" sz="2400" dirty="0"/>
              <a:t>值反映到外部引脚</a:t>
            </a:r>
            <a:r>
              <a:rPr lang="en-US" altLang="zh-CN" sz="2400" dirty="0"/>
              <a:t>(APB2</a:t>
            </a:r>
            <a:r>
              <a:rPr lang="zh-CN" altLang="en-US" sz="2400" dirty="0"/>
              <a:t>上</a:t>
            </a:r>
            <a:r>
              <a:rPr lang="en-US" altLang="zh-CN" sz="2400" dirty="0"/>
              <a:t>)</a:t>
            </a:r>
            <a:r>
              <a:rPr lang="zh-CN" altLang="en-US" sz="2400" dirty="0"/>
              <a:t>高低电平的速度</a:t>
            </a:r>
            <a:r>
              <a:rPr lang="en-US" altLang="zh-CN" sz="2400" dirty="0"/>
              <a:t>.</a:t>
            </a:r>
            <a:r>
              <a:rPr lang="zh-CN" altLang="en-US" sz="2400" dirty="0"/>
              <a:t>手册上指出</a:t>
            </a:r>
            <a:r>
              <a:rPr lang="en-US" altLang="zh-CN" sz="2400" dirty="0"/>
              <a:t>GPIO</a:t>
            </a:r>
            <a:r>
              <a:rPr lang="zh-CN" altLang="en-US" sz="2400" dirty="0"/>
              <a:t>最大翻转速度可达</a:t>
            </a:r>
            <a:r>
              <a:rPr lang="en-US" altLang="zh-CN" sz="2400" dirty="0"/>
              <a:t>18MHz</a:t>
            </a:r>
            <a:r>
              <a:rPr lang="zh-CN" altLang="en-US" sz="2400"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a:lnSpc>
                <a:spcPct val="90000"/>
              </a:lnSpc>
              <a:spcBef>
                <a:spcPct val="0"/>
              </a:spcBef>
              <a:defRPr/>
            </a:pPr>
            <a:r>
              <a:rPr lang="en-US" altLang="zh-CN" sz="2800" b="1" dirty="0">
                <a:solidFill>
                  <a:srgbClr val="14529E"/>
                </a:solidFill>
              </a:rPr>
              <a:t>5.2 GPIO</a:t>
            </a:r>
            <a:r>
              <a:rPr lang="zh-CN" altLang="en-US" sz="2800" b="1" dirty="0">
                <a:solidFill>
                  <a:srgbClr val="14529E"/>
                </a:solidFill>
              </a:rPr>
              <a:t>寄存器</a:t>
            </a:r>
          </a:p>
        </p:txBody>
      </p:sp>
      <p:sp>
        <p:nvSpPr>
          <p:cNvPr id="147457" name="Rectangle 1"/>
          <p:cNvSpPr>
            <a:spLocks noChangeArrowheads="1"/>
          </p:cNvSpPr>
          <p:nvPr/>
        </p:nvSpPr>
        <p:spPr bwMode="auto">
          <a:xfrm>
            <a:off x="849084" y="1318022"/>
            <a:ext cx="10674222"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a:solidFill>
                  <a:srgbClr val="7030A0"/>
                </a:solidFill>
              </a:rPr>
              <a:t>如何操作</a:t>
            </a:r>
            <a:r>
              <a:rPr lang="en-US" altLang="zh-CN" sz="2000" b="1" dirty="0">
                <a:solidFill>
                  <a:srgbClr val="7030A0"/>
                </a:solidFill>
              </a:rPr>
              <a:t>GPIO</a:t>
            </a:r>
            <a:r>
              <a:rPr lang="zh-CN" altLang="en-US" sz="2000" b="1" dirty="0">
                <a:solidFill>
                  <a:srgbClr val="7030A0"/>
                </a:solidFill>
              </a:rPr>
              <a:t>口？</a:t>
            </a:r>
          </a:p>
          <a:p>
            <a:pPr>
              <a:lnSpc>
                <a:spcPct val="150000"/>
              </a:lnSpc>
            </a:pPr>
            <a:r>
              <a:rPr lang="zh-CN" altLang="en-US" sz="2000" b="1" dirty="0">
                <a:solidFill>
                  <a:srgbClr val="7030A0"/>
                </a:solidFill>
              </a:rPr>
              <a:t>使用</a:t>
            </a:r>
            <a:r>
              <a:rPr lang="en-US" altLang="zh-CN" sz="2000" b="1" dirty="0">
                <a:solidFill>
                  <a:srgbClr val="7030A0"/>
                </a:solidFill>
              </a:rPr>
              <a:t>GPIO</a:t>
            </a:r>
            <a:r>
              <a:rPr lang="zh-CN" altLang="en-US" sz="2000" b="1" dirty="0">
                <a:solidFill>
                  <a:srgbClr val="7030A0"/>
                </a:solidFill>
              </a:rPr>
              <a:t>口的管脚，要把他们配置为输入还是输出模式？</a:t>
            </a:r>
          </a:p>
          <a:p>
            <a:pPr>
              <a:lnSpc>
                <a:spcPct val="150000"/>
              </a:lnSpc>
            </a:pPr>
            <a:r>
              <a:rPr lang="zh-CN" altLang="en-US" sz="2000" b="1" dirty="0">
                <a:solidFill>
                  <a:srgbClr val="7030A0"/>
                </a:solidFill>
              </a:rPr>
              <a:t>什么是输入？什么是输出？</a:t>
            </a:r>
          </a:p>
          <a:p>
            <a:pPr>
              <a:lnSpc>
                <a:spcPct val="150000"/>
              </a:lnSpc>
            </a:pPr>
            <a:r>
              <a:rPr lang="zh-CN" altLang="en-US" sz="2000" dirty="0"/>
              <a:t>规定：输入输出是相对于</a:t>
            </a:r>
            <a:r>
              <a:rPr lang="en-US" altLang="zh-CN" sz="2000" dirty="0"/>
              <a:t>CPU</a:t>
            </a:r>
            <a:r>
              <a:rPr lang="zh-CN" altLang="en-US" sz="2000" dirty="0"/>
              <a:t>来说的；</a:t>
            </a:r>
          </a:p>
          <a:p>
            <a:pPr>
              <a:lnSpc>
                <a:spcPct val="150000"/>
              </a:lnSpc>
            </a:pPr>
            <a:r>
              <a:rPr lang="en-US" altLang="zh-CN" sz="2000" dirty="0"/>
              <a:t>CPU</a:t>
            </a:r>
            <a:r>
              <a:rPr lang="zh-CN" altLang="en-US" sz="2000" dirty="0"/>
              <a:t>输出一个信号到管脚上，就叫输出；</a:t>
            </a:r>
          </a:p>
          <a:p>
            <a:pPr>
              <a:lnSpc>
                <a:spcPct val="150000"/>
              </a:lnSpc>
            </a:pPr>
            <a:r>
              <a:rPr lang="en-US" altLang="zh-CN" sz="2000" dirty="0"/>
              <a:t>CPU</a:t>
            </a:r>
            <a:r>
              <a:rPr lang="zh-CN" altLang="en-US" sz="2000" dirty="0"/>
              <a:t>从管脚接收到一个信号，叫输入！</a:t>
            </a:r>
          </a:p>
          <a:p>
            <a:pPr>
              <a:lnSpc>
                <a:spcPct val="150000"/>
              </a:lnSpc>
            </a:pPr>
            <a:r>
              <a:rPr lang="zh-CN" altLang="en-US" sz="2000" b="1" dirty="0">
                <a:solidFill>
                  <a:srgbClr val="7030A0"/>
                </a:solidFill>
              </a:rPr>
              <a:t>通过寄存器操作：</a:t>
            </a:r>
            <a:endParaRPr lang="en-US" altLang="zh-CN" sz="2000" b="1" dirty="0">
              <a:solidFill>
                <a:srgbClr val="7030A0"/>
              </a:solidFill>
            </a:endParaRPr>
          </a:p>
          <a:p>
            <a:pPr>
              <a:lnSpc>
                <a:spcPct val="150000"/>
              </a:lnSpc>
            </a:pPr>
            <a:r>
              <a:rPr lang="zh-CN" altLang="en-US" sz="2000" dirty="0"/>
              <a:t>寄存器是</a:t>
            </a:r>
            <a:r>
              <a:rPr lang="en-US" altLang="zh-CN" sz="2000" dirty="0"/>
              <a:t>CPU</a:t>
            </a:r>
            <a:r>
              <a:rPr lang="zh-CN" altLang="en-US" sz="2000" dirty="0"/>
              <a:t>的组成部分，可用来存放数据、指令、地址等，操作寄存器相当于直接操作</a:t>
            </a:r>
            <a:r>
              <a:rPr lang="en-US" altLang="zh-CN" sz="2000" dirty="0"/>
              <a:t>CPU</a:t>
            </a:r>
          </a:p>
          <a:p>
            <a:pPr>
              <a:lnSpc>
                <a:spcPct val="150000"/>
              </a:lnSpc>
            </a:pPr>
            <a:r>
              <a:rPr lang="zh-CN" altLang="en-US" sz="2000" b="1" dirty="0">
                <a:solidFill>
                  <a:srgbClr val="5494C3"/>
                </a:solidFill>
              </a:rPr>
              <a:t>配置寄存器：</a:t>
            </a:r>
            <a:r>
              <a:rPr lang="zh-CN" altLang="en-US" sz="2000" dirty="0"/>
              <a:t>高</a:t>
            </a:r>
            <a:r>
              <a:rPr lang="en-US" altLang="zh-CN" sz="2000" dirty="0"/>
              <a:t>/</a:t>
            </a:r>
            <a:r>
              <a:rPr lang="zh-CN" altLang="en-US" sz="2000" dirty="0"/>
              <a:t>低  ：配置模式和初始化控制器</a:t>
            </a:r>
          </a:p>
          <a:p>
            <a:pPr>
              <a:lnSpc>
                <a:spcPct val="150000"/>
              </a:lnSpc>
            </a:pPr>
            <a:r>
              <a:rPr lang="zh-CN" altLang="en-US" sz="2000" b="1" dirty="0">
                <a:solidFill>
                  <a:srgbClr val="5494C3"/>
                </a:solidFill>
              </a:rPr>
              <a:t>数据寄存器：</a:t>
            </a:r>
            <a:r>
              <a:rPr lang="zh-CN" altLang="en-US" sz="2000" dirty="0"/>
              <a:t>输入输出数据</a:t>
            </a:r>
          </a:p>
          <a:p>
            <a:pPr>
              <a:lnSpc>
                <a:spcPct val="150000"/>
              </a:lnSpc>
            </a:pPr>
            <a:r>
              <a:rPr lang="zh-CN" altLang="en-US" sz="2000" b="1" dirty="0">
                <a:solidFill>
                  <a:srgbClr val="5494C3"/>
                </a:solidFill>
              </a:rPr>
              <a:t>状态寄存器：</a:t>
            </a:r>
            <a:r>
              <a:rPr lang="zh-CN" altLang="en-US" sz="2000" dirty="0"/>
              <a:t>状态</a:t>
            </a:r>
            <a:r>
              <a:rPr lang="en-US" altLang="zh-CN" sz="2000" dirty="0"/>
              <a:t>---</a:t>
            </a:r>
            <a:r>
              <a:rPr lang="zh-CN" altLang="en-US" sz="2000" dirty="0"/>
              <a:t>我可以查询</a:t>
            </a:r>
          </a:p>
          <a:p>
            <a:pPr>
              <a:lnSpc>
                <a:spcPct val="150000"/>
              </a:lnSpc>
            </a:pPr>
            <a:endParaRPr lang="en-US" altLang="zh-CN"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1256" y="329435"/>
            <a:ext cx="11569959" cy="4848956"/>
          </a:xfrm>
          <a:prstGeom prst="rect">
            <a:avLst/>
          </a:prstGeom>
        </p:spPr>
        <p:txBody>
          <a:bodyPr wrap="square">
            <a:spAutoFit/>
          </a:bodyPr>
          <a:lstStyle/>
          <a:p>
            <a:pPr>
              <a:lnSpc>
                <a:spcPct val="150000"/>
              </a:lnSpc>
            </a:pPr>
            <a:r>
              <a:rPr lang="en-US" altLang="zh-CN" sz="1600" b="1" dirty="0" err="1"/>
              <a:t>GPIOx</a:t>
            </a:r>
            <a:r>
              <a:rPr lang="en-US" altLang="zh-CN" sz="1600" b="1" dirty="0"/>
              <a:t>-&gt;CRL </a:t>
            </a:r>
            <a:r>
              <a:rPr lang="zh-CN" altLang="en-US" sz="1600" b="1" dirty="0"/>
              <a:t>低位（</a:t>
            </a:r>
            <a:r>
              <a:rPr lang="en-US" altLang="zh-CN" sz="1600" b="1" dirty="0"/>
              <a:t>0-7</a:t>
            </a:r>
            <a:r>
              <a:rPr lang="zh-CN" altLang="en-US" sz="1600" b="1" dirty="0"/>
              <a:t>）</a:t>
            </a:r>
            <a:r>
              <a:rPr lang="zh-CN" altLang="en-US" sz="1600" dirty="0"/>
              <a:t>端口配置寄存器（</a:t>
            </a:r>
            <a:r>
              <a:rPr lang="en-US" altLang="zh-CN" sz="1600" dirty="0"/>
              <a:t>x = A~ G</a:t>
            </a:r>
            <a:r>
              <a:rPr lang="zh-CN" altLang="en-US" sz="1600" dirty="0"/>
              <a:t>，该寄存器偏移地址为：</a:t>
            </a:r>
            <a:r>
              <a:rPr lang="en-US" altLang="zh-CN" sz="1600" dirty="0"/>
              <a:t>0x00</a:t>
            </a:r>
            <a:r>
              <a:rPr lang="zh-CN" altLang="en-US" sz="1600" dirty="0"/>
              <a:t>）：</a:t>
            </a:r>
          </a:p>
          <a:p>
            <a:pPr>
              <a:lnSpc>
                <a:spcPct val="150000"/>
              </a:lnSpc>
            </a:pPr>
            <a:r>
              <a:rPr lang="en-US" altLang="zh-CN" sz="1600" b="1" dirty="0" err="1"/>
              <a:t>GPIOx</a:t>
            </a:r>
            <a:r>
              <a:rPr lang="en-US" altLang="zh-CN" sz="1600" b="1" dirty="0"/>
              <a:t>-&gt;CRH </a:t>
            </a:r>
            <a:r>
              <a:rPr lang="zh-CN" altLang="en-US" sz="1600" b="1" dirty="0"/>
              <a:t>高位（</a:t>
            </a:r>
            <a:r>
              <a:rPr lang="en-US" altLang="zh-CN" sz="1600" b="1" dirty="0"/>
              <a:t>8-15</a:t>
            </a:r>
            <a:r>
              <a:rPr lang="zh-CN" altLang="en-US" sz="1600" b="1" dirty="0"/>
              <a:t>）</a:t>
            </a:r>
            <a:r>
              <a:rPr lang="zh-CN" altLang="en-US" sz="1600" dirty="0"/>
              <a:t>端口配置寄存器（</a:t>
            </a:r>
            <a:r>
              <a:rPr lang="en-US" altLang="zh-CN" sz="1600" dirty="0"/>
              <a:t>x = A~ G</a:t>
            </a:r>
            <a:r>
              <a:rPr lang="zh-CN" altLang="en-US" sz="1600" dirty="0"/>
              <a:t>，该寄存器偏移地址为：</a:t>
            </a:r>
            <a:r>
              <a:rPr lang="en-US" altLang="zh-CN" sz="1600" dirty="0"/>
              <a:t>0x04</a:t>
            </a:r>
            <a:r>
              <a:rPr lang="zh-CN" altLang="en-US" sz="1600" dirty="0"/>
              <a:t>）：</a:t>
            </a:r>
            <a:endParaRPr lang="en-US" altLang="zh-CN" sz="1600" dirty="0"/>
          </a:p>
          <a:p>
            <a:pPr>
              <a:lnSpc>
                <a:spcPct val="150000"/>
              </a:lnSpc>
            </a:pPr>
            <a:r>
              <a:rPr lang="zh-CN" altLang="en-US" sz="1600" dirty="0">
                <a:solidFill>
                  <a:srgbClr val="FF0000"/>
                </a:solidFill>
              </a:rPr>
              <a:t>配置引脚模式（输入 </a:t>
            </a:r>
            <a:r>
              <a:rPr lang="en-US" altLang="zh-CN" sz="1600" dirty="0">
                <a:solidFill>
                  <a:srgbClr val="FF0000"/>
                </a:solidFill>
              </a:rPr>
              <a:t>/ </a:t>
            </a:r>
            <a:r>
              <a:rPr lang="zh-CN" altLang="en-US" sz="1600" dirty="0">
                <a:solidFill>
                  <a:srgbClr val="FF0000"/>
                </a:solidFill>
              </a:rPr>
              <a:t>输出 </a:t>
            </a:r>
            <a:r>
              <a:rPr lang="en-US" altLang="zh-CN" sz="1600" dirty="0">
                <a:solidFill>
                  <a:srgbClr val="FF0000"/>
                </a:solidFill>
              </a:rPr>
              <a:t>/ </a:t>
            </a:r>
            <a:r>
              <a:rPr lang="zh-CN" altLang="en-US" sz="1600" dirty="0">
                <a:solidFill>
                  <a:srgbClr val="FF0000"/>
                </a:solidFill>
              </a:rPr>
              <a:t>复用 </a:t>
            </a:r>
            <a:r>
              <a:rPr lang="en-US" altLang="zh-CN" sz="1600" dirty="0">
                <a:solidFill>
                  <a:srgbClr val="FF0000"/>
                </a:solidFill>
              </a:rPr>
              <a:t>/ </a:t>
            </a:r>
            <a:r>
              <a:rPr lang="zh-CN" altLang="en-US" sz="1600" dirty="0">
                <a:solidFill>
                  <a:srgbClr val="FF0000"/>
                </a:solidFill>
              </a:rPr>
              <a:t>模拟）、输出类型（推挽 </a:t>
            </a:r>
            <a:r>
              <a:rPr lang="en-US" altLang="zh-CN" sz="1600" dirty="0">
                <a:solidFill>
                  <a:srgbClr val="FF0000"/>
                </a:solidFill>
              </a:rPr>
              <a:t>/ </a:t>
            </a:r>
            <a:r>
              <a:rPr lang="zh-CN" altLang="en-US" sz="1600" dirty="0">
                <a:solidFill>
                  <a:srgbClr val="FF0000"/>
                </a:solidFill>
              </a:rPr>
              <a:t>开漏）、速度</a:t>
            </a:r>
          </a:p>
          <a:p>
            <a:pPr>
              <a:lnSpc>
                <a:spcPct val="150000"/>
              </a:lnSpc>
            </a:pPr>
            <a:r>
              <a:rPr lang="en-US" altLang="zh-CN" sz="1600" b="1" dirty="0" err="1">
                <a:highlight>
                  <a:srgbClr val="FFFF00"/>
                </a:highlight>
              </a:rPr>
              <a:t>GPIOx</a:t>
            </a:r>
            <a:r>
              <a:rPr lang="en-US" altLang="zh-CN" sz="1600" b="1" dirty="0">
                <a:highlight>
                  <a:srgbClr val="FFFF00"/>
                </a:highlight>
              </a:rPr>
              <a:t>-&gt;IDR  </a:t>
            </a:r>
            <a:r>
              <a:rPr lang="zh-CN" altLang="en-US" sz="1600" dirty="0"/>
              <a:t>端口数据输入寄存器（</a:t>
            </a:r>
            <a:r>
              <a:rPr lang="en-US" altLang="zh-CN" sz="1600" dirty="0"/>
              <a:t>x = A~ G</a:t>
            </a:r>
            <a:r>
              <a:rPr lang="zh-CN" altLang="en-US" sz="1600" dirty="0"/>
              <a:t>，该寄存器偏移地址为：</a:t>
            </a:r>
            <a:r>
              <a:rPr lang="en-US" altLang="zh-CN" sz="1600" dirty="0"/>
              <a:t>0x08</a:t>
            </a:r>
            <a:r>
              <a:rPr lang="zh-CN" altLang="en-US" sz="1600" dirty="0"/>
              <a:t>）：</a:t>
            </a:r>
            <a:r>
              <a:rPr lang="zh-CN" altLang="en-US" sz="1600" dirty="0">
                <a:highlight>
                  <a:srgbClr val="FFFF00"/>
                </a:highlight>
              </a:rPr>
              <a:t>只读</a:t>
            </a:r>
            <a:r>
              <a:rPr lang="zh-CN" altLang="en-US" sz="1600" dirty="0"/>
              <a:t>，可以读取</a:t>
            </a:r>
            <a:r>
              <a:rPr lang="en-US" altLang="zh-CN" sz="1600" dirty="0"/>
              <a:t>IO</a:t>
            </a:r>
            <a:r>
              <a:rPr lang="zh-CN" altLang="en-US" sz="1600" dirty="0"/>
              <a:t>口输入的值</a:t>
            </a:r>
          </a:p>
          <a:p>
            <a:pPr>
              <a:lnSpc>
                <a:spcPct val="150000"/>
              </a:lnSpc>
            </a:pPr>
            <a:r>
              <a:rPr lang="en-US" altLang="zh-CN" sz="1600" b="1" dirty="0" err="1">
                <a:highlight>
                  <a:srgbClr val="FFFF00"/>
                </a:highlight>
              </a:rPr>
              <a:t>GPIOx</a:t>
            </a:r>
            <a:r>
              <a:rPr lang="en-US" altLang="zh-CN" sz="1600" b="1" dirty="0">
                <a:highlight>
                  <a:srgbClr val="FFFF00"/>
                </a:highlight>
              </a:rPr>
              <a:t>-&gt;ODR </a:t>
            </a:r>
            <a:r>
              <a:rPr lang="zh-CN" altLang="en-US" sz="1600" dirty="0"/>
              <a:t>端口数据输出寄存器（</a:t>
            </a:r>
            <a:r>
              <a:rPr lang="en-US" altLang="zh-CN" sz="1600" dirty="0"/>
              <a:t>x = A~ G</a:t>
            </a:r>
            <a:r>
              <a:rPr lang="zh-CN" altLang="en-US" sz="1600" dirty="0"/>
              <a:t>，该寄存器偏移地址为：</a:t>
            </a:r>
            <a:r>
              <a:rPr lang="en-US" altLang="zh-CN" sz="1600" dirty="0"/>
              <a:t>0x0C</a:t>
            </a:r>
            <a:r>
              <a:rPr lang="zh-CN" altLang="en-US" sz="1600" dirty="0"/>
              <a:t>）：可写可读，可以设置</a:t>
            </a:r>
            <a:r>
              <a:rPr lang="en-US" altLang="zh-CN" sz="1600" dirty="0"/>
              <a:t>IO</a:t>
            </a:r>
            <a:r>
              <a:rPr lang="zh-CN" altLang="en-US" sz="1600" dirty="0"/>
              <a:t>口输出的值</a:t>
            </a:r>
            <a:endParaRPr lang="en-US" altLang="zh-CN" sz="1600" dirty="0"/>
          </a:p>
          <a:p>
            <a:pPr>
              <a:lnSpc>
                <a:spcPct val="150000"/>
              </a:lnSpc>
            </a:pPr>
            <a:r>
              <a:rPr lang="en-US" altLang="zh-CN" sz="1600" b="1" dirty="0" err="1">
                <a:highlight>
                  <a:srgbClr val="FFFF00"/>
                </a:highlight>
              </a:rPr>
              <a:t>GPIOx</a:t>
            </a:r>
            <a:r>
              <a:rPr lang="en-US" altLang="zh-CN" sz="1600" b="1" dirty="0">
                <a:highlight>
                  <a:srgbClr val="FFFF00"/>
                </a:highlight>
              </a:rPr>
              <a:t>-&gt;BSRR </a:t>
            </a:r>
            <a:r>
              <a:rPr lang="zh-CN" altLang="en-US" sz="1600" dirty="0"/>
              <a:t>低位端口配置寄存器</a:t>
            </a:r>
            <a:r>
              <a:rPr lang="zh-CN" altLang="en-US" sz="1600" b="1" dirty="0"/>
              <a:t>（</a:t>
            </a:r>
            <a:r>
              <a:rPr lang="en-US" altLang="zh-CN" sz="1600" dirty="0"/>
              <a:t>x = A~ G</a:t>
            </a:r>
            <a:r>
              <a:rPr lang="zh-CN" altLang="en-US" sz="1600" dirty="0"/>
              <a:t>，该寄存器偏移地址为：</a:t>
            </a:r>
            <a:r>
              <a:rPr lang="en-US" altLang="zh-CN" sz="1600" dirty="0"/>
              <a:t>0x10</a:t>
            </a:r>
            <a:r>
              <a:rPr lang="zh-CN" altLang="en-US" sz="1600" dirty="0"/>
              <a:t>）：</a:t>
            </a:r>
            <a:r>
              <a:rPr lang="en-US" altLang="zh-CN" sz="1600" dirty="0"/>
              <a:t>0-15</a:t>
            </a:r>
            <a:r>
              <a:rPr lang="zh-CN" altLang="en-US" sz="1600" dirty="0"/>
              <a:t>位</a:t>
            </a:r>
            <a:r>
              <a:rPr lang="en-US" altLang="zh-CN" sz="1600" dirty="0"/>
              <a:t>——</a:t>
            </a:r>
            <a:r>
              <a:rPr lang="zh-CN" altLang="en-US" sz="1600" dirty="0"/>
              <a:t>为</a:t>
            </a:r>
            <a:r>
              <a:rPr lang="en-US" altLang="zh-CN" sz="1600" dirty="0"/>
              <a:t>1</a:t>
            </a:r>
            <a:r>
              <a:rPr lang="zh-CN" altLang="en-US" sz="1600" dirty="0"/>
              <a:t>时，可以使</a:t>
            </a:r>
            <a:r>
              <a:rPr lang="en-US" altLang="zh-CN" sz="1600" dirty="0" err="1"/>
              <a:t>ODRx</a:t>
            </a:r>
            <a:r>
              <a:rPr lang="zh-CN" altLang="en-US" sz="1600" dirty="0"/>
              <a:t>相应的位置</a:t>
            </a:r>
            <a:r>
              <a:rPr lang="en-US" altLang="zh-CN" sz="1600" dirty="0"/>
              <a:t>1</a:t>
            </a:r>
            <a:r>
              <a:rPr lang="zh-CN" altLang="en-US" sz="1600" dirty="0"/>
              <a:t>，为</a:t>
            </a:r>
            <a:r>
              <a:rPr lang="en-US" altLang="zh-CN" sz="1600" dirty="0"/>
              <a:t>0</a:t>
            </a:r>
            <a:r>
              <a:rPr lang="zh-CN" altLang="en-US" sz="1600" dirty="0"/>
              <a:t>时，无变化 。</a:t>
            </a:r>
            <a:r>
              <a:rPr lang="en-US" altLang="zh-CN" sz="1600" dirty="0"/>
              <a:t>15-31</a:t>
            </a:r>
            <a:r>
              <a:rPr lang="zh-CN" altLang="en-US" sz="1600" dirty="0"/>
              <a:t>位</a:t>
            </a:r>
            <a:r>
              <a:rPr lang="en-US" altLang="zh-CN" sz="1600" dirty="0"/>
              <a:t>——</a:t>
            </a:r>
            <a:r>
              <a:rPr lang="zh-CN" altLang="en-US" sz="1600" dirty="0"/>
              <a:t>为</a:t>
            </a:r>
            <a:r>
              <a:rPr lang="en-US" altLang="zh-CN" sz="1600" dirty="0"/>
              <a:t>1</a:t>
            </a:r>
            <a:r>
              <a:rPr lang="zh-CN" altLang="en-US" sz="1600" dirty="0"/>
              <a:t>时，可以使</a:t>
            </a:r>
            <a:r>
              <a:rPr lang="en-US" altLang="zh-CN" sz="1600" dirty="0" err="1"/>
              <a:t>ODRx</a:t>
            </a:r>
            <a:r>
              <a:rPr lang="zh-CN" altLang="en-US" sz="1600" dirty="0"/>
              <a:t>相应的位清零，为</a:t>
            </a:r>
            <a:r>
              <a:rPr lang="en-US" altLang="zh-CN" sz="1600" dirty="0"/>
              <a:t>0</a:t>
            </a:r>
            <a:r>
              <a:rPr lang="zh-CN" altLang="en-US" sz="1600" dirty="0"/>
              <a:t>时，无变化（注：</a:t>
            </a:r>
            <a:r>
              <a:rPr lang="zh-CN" altLang="en-US" sz="1600" dirty="0">
                <a:highlight>
                  <a:srgbClr val="FFFF00"/>
                </a:highlight>
              </a:rPr>
              <a:t>当</a:t>
            </a:r>
            <a:r>
              <a:rPr lang="en-US" altLang="zh-CN" sz="1600" dirty="0">
                <a:highlight>
                  <a:srgbClr val="FFFF00"/>
                </a:highlight>
              </a:rPr>
              <a:t>set</a:t>
            </a:r>
            <a:r>
              <a:rPr lang="zh-CN" altLang="en-US" sz="1600" dirty="0">
                <a:highlight>
                  <a:srgbClr val="FFFF00"/>
                </a:highlight>
              </a:rPr>
              <a:t>和</a:t>
            </a:r>
            <a:r>
              <a:rPr lang="en-US" altLang="zh-CN" sz="1600" dirty="0">
                <a:highlight>
                  <a:srgbClr val="FFFF00"/>
                </a:highlight>
              </a:rPr>
              <a:t>reset</a:t>
            </a:r>
            <a:r>
              <a:rPr lang="zh-CN" altLang="en-US" sz="1600" dirty="0">
                <a:highlight>
                  <a:srgbClr val="FFFF00"/>
                </a:highlight>
              </a:rPr>
              <a:t>都设置了，则</a:t>
            </a:r>
            <a:r>
              <a:rPr lang="en-US" altLang="zh-CN" sz="1600" dirty="0">
                <a:highlight>
                  <a:srgbClr val="FFFF00"/>
                </a:highlight>
              </a:rPr>
              <a:t>set</a:t>
            </a:r>
            <a:r>
              <a:rPr lang="zh-CN" altLang="en-US" sz="1600" dirty="0">
                <a:highlight>
                  <a:srgbClr val="FFFF00"/>
                </a:highlight>
              </a:rPr>
              <a:t>优先级高</a:t>
            </a:r>
            <a:r>
              <a:rPr lang="zh-CN" altLang="en-US" sz="1600" dirty="0"/>
              <a:t>）</a:t>
            </a:r>
          </a:p>
          <a:p>
            <a:pPr>
              <a:lnSpc>
                <a:spcPct val="150000"/>
              </a:lnSpc>
            </a:pPr>
            <a:r>
              <a:rPr lang="en-US" altLang="zh-CN" sz="1600" b="1" dirty="0" err="1">
                <a:highlight>
                  <a:srgbClr val="FFFF00"/>
                </a:highlight>
              </a:rPr>
              <a:t>GPIOx</a:t>
            </a:r>
            <a:r>
              <a:rPr lang="en-US" altLang="zh-CN" sz="1600" b="1" dirty="0">
                <a:highlight>
                  <a:srgbClr val="FFFF00"/>
                </a:highlight>
              </a:rPr>
              <a:t>-&gt;BRR </a:t>
            </a:r>
            <a:r>
              <a:rPr lang="zh-CN" altLang="en-US" sz="1600" dirty="0"/>
              <a:t>低位端口配置寄存器（</a:t>
            </a:r>
            <a:r>
              <a:rPr lang="en-US" altLang="zh-CN" sz="1600" dirty="0"/>
              <a:t>x = A~ G</a:t>
            </a:r>
            <a:r>
              <a:rPr lang="zh-CN" altLang="en-US" sz="1600" dirty="0"/>
              <a:t>，该寄存器偏移地址为：</a:t>
            </a:r>
            <a:r>
              <a:rPr lang="en-US" altLang="zh-CN" sz="1600" dirty="0"/>
              <a:t>0x14</a:t>
            </a:r>
            <a:r>
              <a:rPr lang="zh-CN" altLang="en-US" sz="1600" dirty="0"/>
              <a:t>）： </a:t>
            </a:r>
            <a:r>
              <a:rPr lang="en-US" altLang="zh-CN" sz="1600" dirty="0"/>
              <a:t>0-15</a:t>
            </a:r>
            <a:r>
              <a:rPr lang="zh-CN" altLang="en-US" sz="1600" dirty="0"/>
              <a:t>位</a:t>
            </a:r>
            <a:r>
              <a:rPr lang="en-US" altLang="zh-CN" sz="1600" dirty="0"/>
              <a:t>——</a:t>
            </a:r>
            <a:r>
              <a:rPr lang="zh-CN" altLang="en-US" sz="1600" dirty="0"/>
              <a:t>为</a:t>
            </a:r>
            <a:r>
              <a:rPr lang="en-US" altLang="zh-CN" sz="1600" dirty="0"/>
              <a:t>1</a:t>
            </a:r>
            <a:r>
              <a:rPr lang="zh-CN" altLang="en-US" sz="1600" dirty="0"/>
              <a:t>时，可以使</a:t>
            </a:r>
            <a:r>
              <a:rPr lang="en-US" altLang="zh-CN" sz="1600" dirty="0" err="1"/>
              <a:t>ODRx</a:t>
            </a:r>
            <a:r>
              <a:rPr lang="zh-CN" altLang="en-US" sz="1600" dirty="0"/>
              <a:t>相应的位清零，为</a:t>
            </a:r>
            <a:r>
              <a:rPr lang="en-US" altLang="zh-CN" sz="1600" dirty="0"/>
              <a:t>0</a:t>
            </a:r>
            <a:r>
              <a:rPr lang="zh-CN" altLang="en-US" sz="1600" dirty="0"/>
              <a:t>时，无变化</a:t>
            </a:r>
          </a:p>
          <a:p>
            <a:pPr>
              <a:lnSpc>
                <a:spcPct val="150000"/>
              </a:lnSpc>
            </a:pPr>
            <a:r>
              <a:rPr lang="zh-CN" altLang="en-US" sz="1600" b="1" dirty="0">
                <a:solidFill>
                  <a:srgbClr val="5494C3"/>
                </a:solidFill>
              </a:rPr>
              <a:t>注：用</a:t>
            </a:r>
            <a:r>
              <a:rPr lang="en-US" altLang="zh-CN" sz="1600" b="1" dirty="0">
                <a:solidFill>
                  <a:srgbClr val="5494C3"/>
                </a:solidFill>
              </a:rPr>
              <a:t>BSRR</a:t>
            </a:r>
            <a:r>
              <a:rPr lang="zh-CN" altLang="en-US" sz="1600" b="1" dirty="0">
                <a:solidFill>
                  <a:srgbClr val="5494C3"/>
                </a:solidFill>
              </a:rPr>
              <a:t>和</a:t>
            </a:r>
            <a:r>
              <a:rPr lang="en-US" altLang="zh-CN" sz="1600" b="1" dirty="0">
                <a:solidFill>
                  <a:srgbClr val="5494C3"/>
                </a:solidFill>
              </a:rPr>
              <a:t>BRR</a:t>
            </a:r>
            <a:r>
              <a:rPr lang="zh-CN" altLang="en-US" sz="1600" b="1" dirty="0">
                <a:solidFill>
                  <a:srgbClr val="5494C3"/>
                </a:solidFill>
              </a:rPr>
              <a:t>去改变管脚状态的时候，没有被中断打断的风险，也就不需要关闭中断</a:t>
            </a:r>
          </a:p>
          <a:p>
            <a:pPr>
              <a:lnSpc>
                <a:spcPct val="150000"/>
              </a:lnSpc>
            </a:pPr>
            <a:r>
              <a:rPr lang="en-US" altLang="zh-CN" sz="1600" b="1" dirty="0" err="1"/>
              <a:t>GPIOx</a:t>
            </a:r>
            <a:r>
              <a:rPr lang="en-US" altLang="zh-CN" sz="1600" b="1" dirty="0"/>
              <a:t>-&gt;LCKR </a:t>
            </a:r>
            <a:r>
              <a:rPr lang="zh-CN" altLang="en-US" sz="1600" dirty="0"/>
              <a:t>端口配置锁定寄存器（</a:t>
            </a:r>
            <a:r>
              <a:rPr lang="en-US" altLang="zh-CN" sz="1600" dirty="0"/>
              <a:t>x = A~ G</a:t>
            </a:r>
            <a:r>
              <a:rPr lang="zh-CN" altLang="en-US" sz="1600" dirty="0"/>
              <a:t>，该寄存器偏移地址为：</a:t>
            </a:r>
            <a:r>
              <a:rPr lang="en-US" altLang="zh-CN" sz="1600" dirty="0"/>
              <a:t>0x18</a:t>
            </a:r>
            <a:r>
              <a:rPr lang="zh-CN" altLang="en-US" sz="1600" dirty="0"/>
              <a:t>）：用来锁定对应位的端口位配置，当端口被锁定时，不再有可能修改它的值，直到系统复位。每一个锁都冻结相应的</a:t>
            </a:r>
            <a:r>
              <a:rPr lang="en-US" altLang="zh-CN" sz="1600" dirty="0"/>
              <a:t>4</a:t>
            </a:r>
            <a:r>
              <a:rPr lang="zh-CN" altLang="en-US" sz="1600" dirty="0"/>
              <a:t>位控制寄存器</a:t>
            </a:r>
            <a:r>
              <a:rPr lang="en-US" altLang="zh-CN" sz="1600" dirty="0"/>
              <a:t>(CRL,CRH)</a:t>
            </a:r>
            <a:endParaRPr lang="zh-CN" alt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61256" y="329435"/>
            <a:ext cx="11569959" cy="6740307"/>
          </a:xfrm>
          <a:prstGeom prst="rect">
            <a:avLst/>
          </a:prstGeom>
        </p:spPr>
        <p:txBody>
          <a:bodyPr wrap="square">
            <a:spAutoFit/>
          </a:bodyPr>
          <a:lstStyle/>
          <a:p>
            <a:pPr>
              <a:lnSpc>
                <a:spcPct val="150000"/>
              </a:lnSpc>
            </a:pPr>
            <a:r>
              <a:rPr lang="en-US" b="1" dirty="0" err="1">
                <a:solidFill>
                  <a:srgbClr val="C00000"/>
                </a:solidFill>
              </a:rPr>
              <a:t>GPIOx_CRL，GPIOx_CRH</a:t>
            </a:r>
            <a:r>
              <a:rPr lang="zh-CN" altLang="en-US" b="1" dirty="0">
                <a:solidFill>
                  <a:srgbClr val="C00000"/>
                </a:solidFill>
              </a:rPr>
              <a:t>端口配置寄存器</a:t>
            </a:r>
            <a:endParaRPr lang="en-US" b="1" dirty="0">
              <a:solidFill>
                <a:srgbClr val="C00000"/>
              </a:solidFill>
            </a:endParaRPr>
          </a:p>
          <a:p>
            <a:pPr>
              <a:lnSpc>
                <a:spcPct val="150000"/>
              </a:lnSpc>
            </a:pPr>
            <a:r>
              <a:rPr lang="en-US" dirty="0"/>
              <a:t>CRH</a:t>
            </a:r>
            <a:r>
              <a:rPr lang="zh-CN" altLang="en-US" dirty="0"/>
              <a:t>和</a:t>
            </a:r>
            <a:r>
              <a:rPr lang="en-US" dirty="0"/>
              <a:t>CRL</a:t>
            </a:r>
            <a:r>
              <a:rPr lang="zh-CN" altLang="en-US" dirty="0"/>
              <a:t>的使用基本相同，</a:t>
            </a:r>
            <a:r>
              <a:rPr lang="en-US" dirty="0"/>
              <a:t>CRH</a:t>
            </a:r>
            <a:r>
              <a:rPr lang="zh-CN" altLang="en-US" dirty="0"/>
              <a:t>用于控制</a:t>
            </a:r>
            <a:r>
              <a:rPr lang="en-US" dirty="0"/>
              <a:t>GPIOX（X</a:t>
            </a:r>
            <a:r>
              <a:rPr lang="zh-CN" altLang="en-US" dirty="0"/>
              <a:t>表示</a:t>
            </a:r>
            <a:r>
              <a:rPr lang="en-US" dirty="0"/>
              <a:t>A---G）</a:t>
            </a:r>
            <a:r>
              <a:rPr lang="zh-CN" altLang="en-US" dirty="0"/>
              <a:t>的高</a:t>
            </a:r>
            <a:r>
              <a:rPr lang="en-US" altLang="zh-CN" dirty="0"/>
              <a:t>8</a:t>
            </a:r>
            <a:r>
              <a:rPr lang="zh-CN" altLang="en-US" dirty="0"/>
              <a:t>位（</a:t>
            </a:r>
            <a:r>
              <a:rPr lang="en-US" dirty="0"/>
              <a:t>Pin15---Pin8）,</a:t>
            </a:r>
            <a:r>
              <a:rPr lang="zh-CN" altLang="en-US" dirty="0"/>
              <a:t>而</a:t>
            </a:r>
            <a:r>
              <a:rPr lang="en-US" dirty="0"/>
              <a:t>CRL</a:t>
            </a:r>
            <a:r>
              <a:rPr lang="zh-CN" altLang="en-US" dirty="0"/>
              <a:t>用于控制</a:t>
            </a:r>
            <a:r>
              <a:rPr lang="en-US" dirty="0"/>
              <a:t>GPIOX（X</a:t>
            </a:r>
            <a:r>
              <a:rPr lang="zh-CN" altLang="en-US" dirty="0"/>
              <a:t>表示</a:t>
            </a:r>
            <a:r>
              <a:rPr lang="en-US" dirty="0"/>
              <a:t>A---G)</a:t>
            </a:r>
            <a:r>
              <a:rPr lang="zh-CN" altLang="en-US" dirty="0"/>
              <a:t>的低</a:t>
            </a:r>
            <a:r>
              <a:rPr lang="en-US" altLang="zh-CN" dirty="0"/>
              <a:t>8</a:t>
            </a:r>
            <a:r>
              <a:rPr lang="zh-CN" altLang="en-US" dirty="0"/>
              <a:t>位（</a:t>
            </a:r>
            <a:r>
              <a:rPr lang="en-US" dirty="0"/>
              <a:t>Pin7----Pin0).</a:t>
            </a:r>
            <a:r>
              <a:rPr lang="zh-CN" altLang="en-US" dirty="0"/>
              <a:t>每个模式的</a:t>
            </a:r>
            <a:r>
              <a:rPr lang="en-US" altLang="zh-CN" dirty="0"/>
              <a:t>pin</a:t>
            </a:r>
            <a:r>
              <a:rPr lang="zh-CN" altLang="en-US" dirty="0"/>
              <a:t>脚设置需要</a:t>
            </a:r>
            <a:r>
              <a:rPr lang="en-US" altLang="zh-CN" dirty="0"/>
              <a:t>4bit</a:t>
            </a:r>
            <a:r>
              <a:rPr lang="zh-CN" altLang="en-US" dirty="0"/>
              <a:t>来完成，即</a:t>
            </a:r>
            <a:r>
              <a:rPr lang="en-US" altLang="zh-CN" dirty="0">
                <a:highlight>
                  <a:srgbClr val="FFFF00"/>
                </a:highlight>
              </a:rPr>
              <a:t>MODE[1:0]</a:t>
            </a:r>
            <a:r>
              <a:rPr lang="zh-CN" altLang="en-US" dirty="0">
                <a:highlight>
                  <a:srgbClr val="FFFF00"/>
                </a:highlight>
              </a:rPr>
              <a:t>负责设置模式位，</a:t>
            </a:r>
            <a:r>
              <a:rPr lang="en-US" altLang="zh-CN" dirty="0">
                <a:highlight>
                  <a:srgbClr val="FFFF00"/>
                </a:highlight>
              </a:rPr>
              <a:t>CNF[1:0]</a:t>
            </a:r>
            <a:r>
              <a:rPr lang="zh-CN" altLang="en-US" dirty="0">
                <a:highlight>
                  <a:srgbClr val="FFFF00"/>
                </a:highlight>
              </a:rPr>
              <a:t>负责设置配置位</a:t>
            </a:r>
            <a:r>
              <a:rPr lang="zh-CN" altLang="en-US" dirty="0"/>
              <a:t>。</a:t>
            </a:r>
            <a:endParaRPr lang="en-US" altLang="zh-CN" dirty="0"/>
          </a:p>
          <a:p>
            <a:pPr>
              <a:lnSpc>
                <a:spcPct val="150000"/>
              </a:lnSpc>
            </a:pPr>
            <a:r>
              <a:rPr lang="zh-CN" altLang="en-US" b="1" dirty="0">
                <a:solidFill>
                  <a:srgbClr val="7030A0"/>
                </a:solidFill>
              </a:rPr>
              <a:t>例如设置</a:t>
            </a:r>
            <a:r>
              <a:rPr lang="en-US" altLang="zh-CN" b="1" dirty="0">
                <a:solidFill>
                  <a:srgbClr val="7030A0"/>
                </a:solidFill>
              </a:rPr>
              <a:t>PB11</a:t>
            </a:r>
            <a:r>
              <a:rPr lang="zh-CN" altLang="en-US" b="1" dirty="0">
                <a:solidFill>
                  <a:srgbClr val="7030A0"/>
                </a:solidFill>
              </a:rPr>
              <a:t>引脚为开漏输出模式，输出频率为</a:t>
            </a:r>
            <a:r>
              <a:rPr lang="en-US" altLang="zh-CN" b="1" dirty="0">
                <a:solidFill>
                  <a:srgbClr val="7030A0"/>
                </a:solidFill>
              </a:rPr>
              <a:t>10MHz</a:t>
            </a:r>
            <a:r>
              <a:rPr lang="zh-CN" altLang="en-US" b="1" dirty="0">
                <a:solidFill>
                  <a:srgbClr val="7030A0"/>
                </a:solidFill>
              </a:rPr>
              <a:t>：</a:t>
            </a:r>
          </a:p>
          <a:p>
            <a:pPr>
              <a:lnSpc>
                <a:spcPct val="150000"/>
              </a:lnSpc>
            </a:pPr>
            <a:r>
              <a:rPr lang="zh-CN" altLang="en-US" b="1" dirty="0">
                <a:solidFill>
                  <a:srgbClr val="7030A0"/>
                </a:solidFill>
              </a:rPr>
              <a:t>步骤：</a:t>
            </a:r>
          </a:p>
          <a:p>
            <a:pPr>
              <a:lnSpc>
                <a:spcPct val="150000"/>
              </a:lnSpc>
            </a:pPr>
            <a:r>
              <a:rPr lang="zh-CN" altLang="en-US" dirty="0"/>
              <a:t>因</a:t>
            </a:r>
            <a:r>
              <a:rPr lang="en-US" altLang="zh-CN" dirty="0"/>
              <a:t>PB11</a:t>
            </a:r>
            <a:r>
              <a:rPr lang="zh-CN" altLang="en-US" dirty="0"/>
              <a:t>属于</a:t>
            </a:r>
            <a:r>
              <a:rPr lang="en-US" altLang="zh-CN" dirty="0"/>
              <a:t>GPIO8~15</a:t>
            </a:r>
            <a:r>
              <a:rPr lang="zh-CN" altLang="en-US" dirty="0"/>
              <a:t>之间，所以，需通过</a:t>
            </a:r>
            <a:r>
              <a:rPr lang="en-US" altLang="zh-CN" dirty="0"/>
              <a:t>GPIOB_CRH</a:t>
            </a:r>
            <a:r>
              <a:rPr lang="zh-CN" altLang="en-US" dirty="0"/>
              <a:t>寄存器才能实现对</a:t>
            </a:r>
            <a:r>
              <a:rPr lang="en-US" altLang="zh-CN" dirty="0"/>
              <a:t>PB11</a:t>
            </a:r>
            <a:r>
              <a:rPr lang="zh-CN" altLang="en-US" dirty="0"/>
              <a:t>的设置。</a:t>
            </a:r>
          </a:p>
          <a:p>
            <a:pPr>
              <a:lnSpc>
                <a:spcPct val="150000"/>
              </a:lnSpc>
            </a:pPr>
            <a:r>
              <a:rPr lang="zh-CN" altLang="en-US" dirty="0"/>
              <a:t>因</a:t>
            </a:r>
            <a:r>
              <a:rPr lang="en-US" altLang="zh-CN" dirty="0"/>
              <a:t>GPIOB_CRH</a:t>
            </a:r>
            <a:r>
              <a:rPr lang="zh-CN" altLang="en-US" dirty="0"/>
              <a:t>寄存器中每</a:t>
            </a:r>
            <a:r>
              <a:rPr lang="en-US" altLang="zh-CN" dirty="0"/>
              <a:t>4</a:t>
            </a:r>
            <a:r>
              <a:rPr lang="zh-CN" altLang="en-US" dirty="0"/>
              <a:t>位决定一个</a:t>
            </a:r>
            <a:r>
              <a:rPr lang="en-US" altLang="zh-CN" dirty="0"/>
              <a:t>GPIO</a:t>
            </a:r>
            <a:r>
              <a:rPr lang="zh-CN" altLang="en-US" dirty="0"/>
              <a:t>工作模式，所以，需通过设置</a:t>
            </a:r>
            <a:r>
              <a:rPr lang="en-US" altLang="zh-CN" dirty="0"/>
              <a:t>GPIOB_CRH</a:t>
            </a:r>
            <a:r>
              <a:rPr lang="zh-CN" altLang="en-US" dirty="0"/>
              <a:t>的第</a:t>
            </a:r>
            <a:r>
              <a:rPr lang="en-US" altLang="zh-CN" dirty="0"/>
              <a:t>12~15</a:t>
            </a:r>
            <a:r>
              <a:rPr lang="zh-CN" altLang="en-US" dirty="0"/>
              <a:t>位。</a:t>
            </a:r>
          </a:p>
          <a:p>
            <a:pPr>
              <a:lnSpc>
                <a:spcPct val="150000"/>
              </a:lnSpc>
            </a:pPr>
            <a:r>
              <a:rPr lang="zh-CN" altLang="en-US" dirty="0"/>
              <a:t>因</a:t>
            </a:r>
            <a:r>
              <a:rPr lang="en-US" altLang="zh-CN" dirty="0"/>
              <a:t>PB11</a:t>
            </a:r>
            <a:r>
              <a:rPr lang="zh-CN" altLang="en-US" dirty="0"/>
              <a:t>引脚“输出模式”，从图中②可以看出须把</a:t>
            </a:r>
            <a:r>
              <a:rPr lang="en-US" altLang="zh-CN" dirty="0"/>
              <a:t>GPIOB_CRH</a:t>
            </a:r>
            <a:r>
              <a:rPr lang="zh-CN" altLang="en-US" dirty="0"/>
              <a:t>寄存器的</a:t>
            </a:r>
            <a:r>
              <a:rPr lang="en-US" altLang="zh-CN" dirty="0"/>
              <a:t>MODE11[1:0]</a:t>
            </a:r>
            <a:r>
              <a:rPr lang="zh-CN" altLang="en-US" dirty="0"/>
              <a:t>设置为</a:t>
            </a:r>
            <a:r>
              <a:rPr lang="en-US" altLang="zh-CN" dirty="0"/>
              <a:t>01</a:t>
            </a:r>
            <a:r>
              <a:rPr lang="zh-CN" altLang="en-US" dirty="0"/>
              <a:t>。</a:t>
            </a:r>
          </a:p>
          <a:p>
            <a:pPr>
              <a:lnSpc>
                <a:spcPct val="150000"/>
              </a:lnSpc>
            </a:pPr>
            <a:r>
              <a:rPr lang="zh-CN" altLang="en-US" dirty="0"/>
              <a:t>根据</a:t>
            </a:r>
            <a:r>
              <a:rPr lang="en-US" altLang="zh-CN" dirty="0"/>
              <a:t>MODE[1:0]</a:t>
            </a:r>
            <a:r>
              <a:rPr lang="zh-CN" altLang="en-US" dirty="0"/>
              <a:t>的值为</a:t>
            </a:r>
            <a:r>
              <a:rPr lang="en-US" altLang="zh-CN" dirty="0"/>
              <a:t>01</a:t>
            </a:r>
            <a:r>
              <a:rPr lang="zh-CN" altLang="en-US" dirty="0"/>
              <a:t>可知，</a:t>
            </a:r>
            <a:r>
              <a:rPr lang="en-US" altLang="zh-CN" dirty="0"/>
              <a:t>CNF11[1:0]</a:t>
            </a:r>
            <a:r>
              <a:rPr lang="zh-CN" altLang="en-US" dirty="0"/>
              <a:t>需要选择“在输出模式（</a:t>
            </a:r>
            <a:r>
              <a:rPr lang="en-US" altLang="zh-CN" dirty="0"/>
              <a:t>MODE[1:0]&gt;00</a:t>
            </a:r>
            <a:r>
              <a:rPr lang="zh-CN" altLang="en-US" dirty="0"/>
              <a:t>）”中选择需要设置的值。</a:t>
            </a:r>
          </a:p>
          <a:p>
            <a:pPr>
              <a:lnSpc>
                <a:spcPct val="150000"/>
              </a:lnSpc>
            </a:pPr>
            <a:r>
              <a:rPr lang="zh-CN" altLang="en-US" dirty="0"/>
              <a:t>因</a:t>
            </a:r>
            <a:r>
              <a:rPr lang="en-US" altLang="zh-CN" dirty="0"/>
              <a:t>PB11</a:t>
            </a:r>
            <a:r>
              <a:rPr lang="zh-CN" altLang="en-US" dirty="0"/>
              <a:t>须设置为“通用开漏模式”，故</a:t>
            </a:r>
            <a:r>
              <a:rPr lang="en-US" altLang="zh-CN" dirty="0"/>
              <a:t>CNF11[1:0]</a:t>
            </a:r>
            <a:r>
              <a:rPr lang="zh-CN" altLang="en-US" dirty="0"/>
              <a:t>需设置为</a:t>
            </a:r>
            <a:r>
              <a:rPr lang="en-US" altLang="zh-CN" dirty="0"/>
              <a:t>01</a:t>
            </a:r>
            <a:r>
              <a:rPr lang="zh-CN" altLang="en-US" dirty="0"/>
              <a:t>。</a:t>
            </a:r>
          </a:p>
          <a:p>
            <a:pPr>
              <a:lnSpc>
                <a:spcPct val="150000"/>
              </a:lnSpc>
            </a:pPr>
            <a:r>
              <a:rPr lang="zh-CN" altLang="en-US" dirty="0"/>
              <a:t>最终设置指令为：</a:t>
            </a:r>
          </a:p>
          <a:p>
            <a:pPr>
              <a:lnSpc>
                <a:spcPct val="150000"/>
              </a:lnSpc>
            </a:pPr>
            <a:r>
              <a:rPr lang="en-US" altLang="zh-CN" dirty="0"/>
              <a:t>GPIOB-&gt;CRH&amp;=0XFFFF0FFF;  //</a:t>
            </a:r>
            <a:r>
              <a:rPr lang="zh-CN" altLang="en-US" dirty="0"/>
              <a:t>清除</a:t>
            </a:r>
            <a:r>
              <a:rPr lang="en-US" altLang="zh-CN" dirty="0"/>
              <a:t>GPIOB-&gt;CRH</a:t>
            </a:r>
            <a:r>
              <a:rPr lang="zh-CN" altLang="en-US" dirty="0"/>
              <a:t>的第</a:t>
            </a:r>
            <a:r>
              <a:rPr lang="en-US" altLang="zh-CN" dirty="0"/>
              <a:t>12~15</a:t>
            </a:r>
            <a:r>
              <a:rPr lang="zh-CN" altLang="en-US" dirty="0"/>
              <a:t>位。</a:t>
            </a:r>
          </a:p>
          <a:p>
            <a:pPr>
              <a:lnSpc>
                <a:spcPct val="150000"/>
              </a:lnSpc>
            </a:pPr>
            <a:r>
              <a:rPr lang="en-US" altLang="zh-CN" dirty="0"/>
              <a:t>GPIOB-&gt;CRH|=5&lt;&lt;12; //</a:t>
            </a:r>
            <a:r>
              <a:rPr lang="zh-CN" altLang="en-US" dirty="0"/>
              <a:t>设置</a:t>
            </a:r>
            <a:r>
              <a:rPr lang="en-US" altLang="zh-CN" dirty="0"/>
              <a:t>GPIOB-&gt;CRH</a:t>
            </a:r>
            <a:r>
              <a:rPr lang="zh-CN" altLang="en-US" dirty="0"/>
              <a:t>的第</a:t>
            </a:r>
            <a:r>
              <a:rPr lang="en-US" altLang="zh-CN" dirty="0"/>
              <a:t>12~15</a:t>
            </a:r>
            <a:r>
              <a:rPr lang="zh-CN" altLang="en-US" dirty="0"/>
              <a:t>位为</a:t>
            </a:r>
            <a:r>
              <a:rPr lang="en-US" altLang="zh-CN" dirty="0"/>
              <a:t>0101</a:t>
            </a:r>
            <a:r>
              <a:rPr lang="zh-CN" altLang="en-US" dirty="0"/>
              <a:t>（</a:t>
            </a:r>
            <a:r>
              <a:rPr lang="en-US" altLang="zh-CN" dirty="0"/>
              <a:t>10MHz</a:t>
            </a:r>
            <a:r>
              <a:rPr lang="zh-CN" altLang="en-US" dirty="0"/>
              <a:t>开漏输出模式）。</a:t>
            </a:r>
          </a:p>
          <a:p>
            <a:pPr>
              <a:lnSpc>
                <a:spcPct val="150000"/>
              </a:lnSpc>
            </a:pPr>
            <a:endParaRPr lang="zh-CN" altLang="en-US" b="1" dirty="0">
              <a:solidFill>
                <a:srgbClr val="C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5" name="Picture 3"/>
          <p:cNvPicPr>
            <a:picLocks noChangeAspect="1" noChangeArrowheads="1"/>
          </p:cNvPicPr>
          <p:nvPr/>
        </p:nvPicPr>
        <p:blipFill>
          <a:blip r:embed="rId2"/>
          <a:srcRect/>
          <a:stretch>
            <a:fillRect/>
          </a:stretch>
        </p:blipFill>
        <p:spPr bwMode="auto">
          <a:xfrm>
            <a:off x="270262" y="1711"/>
            <a:ext cx="7679418" cy="6856289"/>
          </a:xfrm>
          <a:prstGeom prst="rect">
            <a:avLst/>
          </a:prstGeom>
          <a:noFill/>
          <a:ln w="9525">
            <a:noFill/>
            <a:miter lim="800000"/>
            <a:headEnd/>
            <a:tailEnd/>
          </a:ln>
          <a:effectLst/>
        </p:spPr>
      </p:pic>
      <p:sp>
        <p:nvSpPr>
          <p:cNvPr id="5" name="矩形 4"/>
          <p:cNvSpPr/>
          <p:nvPr/>
        </p:nvSpPr>
        <p:spPr>
          <a:xfrm>
            <a:off x="8021216" y="1690502"/>
            <a:ext cx="3574154" cy="2535053"/>
          </a:xfrm>
          <a:prstGeom prst="rect">
            <a:avLst/>
          </a:prstGeom>
        </p:spPr>
        <p:txBody>
          <a:bodyPr wrap="square">
            <a:spAutoFit/>
          </a:bodyPr>
          <a:lstStyle/>
          <a:p>
            <a:pPr>
              <a:lnSpc>
                <a:spcPct val="150000"/>
              </a:lnSpc>
            </a:pPr>
            <a:r>
              <a:rPr lang="en-US" altLang="zh-CN" b="1" dirty="0" err="1">
                <a:solidFill>
                  <a:srgbClr val="7030A0"/>
                </a:solidFill>
              </a:rPr>
              <a:t>MODEy</a:t>
            </a:r>
            <a:r>
              <a:rPr lang="en-US" altLang="zh-CN" b="1" dirty="0">
                <a:solidFill>
                  <a:srgbClr val="7030A0"/>
                </a:solidFill>
              </a:rPr>
              <a:t>[1:0]</a:t>
            </a:r>
            <a:r>
              <a:rPr lang="zh-CN" altLang="en-US" b="1" dirty="0">
                <a:solidFill>
                  <a:srgbClr val="7030A0"/>
                </a:solidFill>
              </a:rPr>
              <a:t>：</a:t>
            </a:r>
            <a:r>
              <a:rPr lang="zh-CN" altLang="en-US" b="1" dirty="0"/>
              <a:t> 来确定输入输出模式（在输出模式的时候设置速度）</a:t>
            </a:r>
            <a:br>
              <a:rPr lang="zh-CN" altLang="en-US" b="1" dirty="0"/>
            </a:br>
            <a:r>
              <a:rPr lang="en-US" altLang="zh-CN" b="1" dirty="0" err="1">
                <a:solidFill>
                  <a:srgbClr val="7030A0"/>
                </a:solidFill>
              </a:rPr>
              <a:t>CNFy</a:t>
            </a:r>
            <a:r>
              <a:rPr lang="en-US" altLang="zh-CN" b="1" dirty="0">
                <a:solidFill>
                  <a:srgbClr val="7030A0"/>
                </a:solidFill>
              </a:rPr>
              <a:t>[1:0] :</a:t>
            </a:r>
            <a:r>
              <a:rPr lang="zh-CN" altLang="en-US" b="1" dirty="0"/>
              <a:t>根据</a:t>
            </a:r>
            <a:r>
              <a:rPr lang="en-US" altLang="zh-CN" b="1" dirty="0" err="1"/>
              <a:t>MODEy</a:t>
            </a:r>
            <a:r>
              <a:rPr lang="zh-CN" altLang="en-US" b="1" dirty="0"/>
              <a:t>里面的值 设置</a:t>
            </a:r>
            <a:r>
              <a:rPr lang="en-US" altLang="zh-CN" b="1" dirty="0"/>
              <a:t>IO</a:t>
            </a:r>
            <a:r>
              <a:rPr lang="zh-CN" altLang="en-US" b="1" dirty="0"/>
              <a:t>口 上拉，下拉，模拟，推挽。</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
          <p:cNvSpPr>
            <a:spLocks noChangeArrowheads="1"/>
          </p:cNvSpPr>
          <p:nvPr/>
        </p:nvSpPr>
        <p:spPr bwMode="auto">
          <a:xfrm>
            <a:off x="419875" y="3771973"/>
            <a:ext cx="10636900" cy="28064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endParaRPr lang="en-US" altLang="zh-CN" sz="2000" dirty="0"/>
          </a:p>
          <a:p>
            <a:pPr>
              <a:lnSpc>
                <a:spcPct val="150000"/>
              </a:lnSpc>
            </a:pPr>
            <a:r>
              <a:rPr lang="zh-CN" altLang="en-US" sz="2000" dirty="0"/>
              <a:t>使用</a:t>
            </a:r>
            <a:r>
              <a:rPr lang="en-US" sz="2000" dirty="0"/>
              <a:t>BRR</a:t>
            </a:r>
            <a:r>
              <a:rPr lang="zh-CN" altLang="en-US" sz="2000" dirty="0"/>
              <a:t>和</a:t>
            </a:r>
            <a:r>
              <a:rPr lang="en-US" sz="2000" dirty="0"/>
              <a:t>BSRR</a:t>
            </a:r>
            <a:r>
              <a:rPr lang="zh-CN" altLang="en-US" sz="2000" dirty="0"/>
              <a:t>寄存器可以方便地快速地实现对端口某些特定位的操作，而不影响其它位的状态。</a:t>
            </a:r>
          </a:p>
          <a:p>
            <a:pPr>
              <a:lnSpc>
                <a:spcPct val="150000"/>
              </a:lnSpc>
            </a:pPr>
            <a:r>
              <a:rPr lang="zh-CN" altLang="en-US" sz="2000" dirty="0"/>
              <a:t>比如希望快速地对</a:t>
            </a:r>
            <a:r>
              <a:rPr lang="en-US" sz="2000" dirty="0"/>
              <a:t>GPIOE</a:t>
            </a:r>
            <a:r>
              <a:rPr lang="zh-CN" altLang="en-US" sz="2000" dirty="0"/>
              <a:t>的位</a:t>
            </a:r>
            <a:r>
              <a:rPr lang="en-US" altLang="zh-CN" sz="2000" dirty="0"/>
              <a:t>7</a:t>
            </a:r>
            <a:r>
              <a:rPr lang="zh-CN" altLang="en-US" sz="2000" dirty="0"/>
              <a:t>进行翻转，则可以：</a:t>
            </a:r>
          </a:p>
          <a:p>
            <a:pPr>
              <a:lnSpc>
                <a:spcPct val="150000"/>
              </a:lnSpc>
            </a:pPr>
            <a:r>
              <a:rPr lang="en-US" sz="2000" dirty="0">
                <a:highlight>
                  <a:srgbClr val="FFFF00"/>
                </a:highlight>
              </a:rPr>
              <a:t>GPIOE-&gt;BSRR = 0x80; // </a:t>
            </a:r>
            <a:r>
              <a:rPr lang="zh-CN" altLang="en-US" sz="2000" dirty="0">
                <a:highlight>
                  <a:srgbClr val="FFFF00"/>
                </a:highlight>
              </a:rPr>
              <a:t>置</a:t>
            </a:r>
            <a:r>
              <a:rPr lang="en-US" altLang="zh-CN" sz="2000" dirty="0">
                <a:highlight>
                  <a:srgbClr val="FFFF00"/>
                </a:highlight>
              </a:rPr>
              <a:t>'1'</a:t>
            </a:r>
            <a:br>
              <a:rPr lang="en-US" altLang="zh-CN" sz="2000" dirty="0">
                <a:highlight>
                  <a:srgbClr val="FFFF00"/>
                </a:highlight>
              </a:rPr>
            </a:br>
            <a:r>
              <a:rPr lang="en-US" sz="2000" dirty="0">
                <a:highlight>
                  <a:srgbClr val="FFFF00"/>
                </a:highlight>
              </a:rPr>
              <a:t>GPIOE-&gt;BRR = 0x80; // </a:t>
            </a:r>
            <a:r>
              <a:rPr lang="zh-CN" altLang="en-US" sz="2000" dirty="0">
                <a:highlight>
                  <a:srgbClr val="FFFF00"/>
                </a:highlight>
              </a:rPr>
              <a:t>置</a:t>
            </a:r>
            <a:r>
              <a:rPr lang="en-US" altLang="zh-CN" sz="2000" dirty="0">
                <a:highlight>
                  <a:srgbClr val="FFFF00"/>
                </a:highlight>
              </a:rPr>
              <a:t>'0’</a:t>
            </a:r>
            <a:endParaRPr lang="zh-CN" altLang="en-US" sz="2000" dirty="0">
              <a:highlight>
                <a:srgbClr val="FFFF00"/>
              </a:highlight>
            </a:endParaRPr>
          </a:p>
        </p:txBody>
      </p:sp>
      <p:graphicFrame>
        <p:nvGraphicFramePr>
          <p:cNvPr id="3" name="表格 2"/>
          <p:cNvGraphicFramePr>
            <a:graphicFrameLocks noGrp="1"/>
          </p:cNvGraphicFramePr>
          <p:nvPr/>
        </p:nvGraphicFramePr>
        <p:xfrm>
          <a:off x="492449" y="1139543"/>
          <a:ext cx="8128000" cy="2748280"/>
        </p:xfrm>
        <a:graphic>
          <a:graphicData uri="http://schemas.openxmlformats.org/drawingml/2006/table">
            <a:tbl>
              <a:tblPr firstRow="1" bandRow="1">
                <a:tableStyleId>{5C22544A-7EE6-4342-B048-85BDC9FD1C3A}</a:tableStyleId>
              </a:tblPr>
              <a:tblGrid>
                <a:gridCol w="1466979">
                  <a:extLst>
                    <a:ext uri="{9D8B030D-6E8A-4147-A177-3AD203B41FA5}">
                      <a16:colId xmlns:a16="http://schemas.microsoft.com/office/drawing/2014/main" val="20000"/>
                    </a:ext>
                  </a:extLst>
                </a:gridCol>
                <a:gridCol w="6661021">
                  <a:extLst>
                    <a:ext uri="{9D8B030D-6E8A-4147-A177-3AD203B41FA5}">
                      <a16:colId xmlns:a16="http://schemas.microsoft.com/office/drawing/2014/main" val="20001"/>
                    </a:ext>
                  </a:extLst>
                </a:gridCol>
              </a:tblGrid>
              <a:tr h="370840">
                <a:tc>
                  <a:txBody>
                    <a:bodyPr/>
                    <a:lstStyle/>
                    <a:p>
                      <a:r>
                        <a:rPr lang="zh-CN" altLang="en-US" sz="1800" b="0" i="0" kern="1200" dirty="0">
                          <a:solidFill>
                            <a:schemeClr val="lt1"/>
                          </a:solidFill>
                          <a:latin typeface="+mn-lt"/>
                          <a:ea typeface="+mn-ea"/>
                          <a:cs typeface="+mn-cs"/>
                        </a:rPr>
                        <a:t>位</a:t>
                      </a:r>
                      <a:endParaRPr lang="zh-CN" altLang="en-US" dirty="0"/>
                    </a:p>
                  </a:txBody>
                  <a:tcPr/>
                </a:tc>
                <a:tc>
                  <a:txBody>
                    <a:bodyPr/>
                    <a:lstStyle/>
                    <a:p>
                      <a:r>
                        <a:rPr lang="zh-CN" altLang="en-US" dirty="0"/>
                        <a:t>、</a:t>
                      </a:r>
                    </a:p>
                  </a:txBody>
                  <a:tcPr/>
                </a:tc>
                <a:extLst>
                  <a:ext uri="{0D108BD9-81ED-4DB2-BD59-A6C34878D82A}">
                    <a16:rowId xmlns:a16="http://schemas.microsoft.com/office/drawing/2014/main" val="10000"/>
                  </a:ext>
                </a:extLst>
              </a:tr>
              <a:tr h="370840">
                <a:tc>
                  <a:txBody>
                    <a:bodyPr/>
                    <a:lstStyle/>
                    <a:p>
                      <a:r>
                        <a:rPr lang="zh-CN" altLang="en-US" sz="1800" b="0" i="0" kern="1200" dirty="0">
                          <a:solidFill>
                            <a:schemeClr val="dk1"/>
                          </a:solidFill>
                          <a:latin typeface="+mn-lt"/>
                          <a:ea typeface="+mn-ea"/>
                          <a:cs typeface="+mn-cs"/>
                        </a:rPr>
                        <a:t>位</a:t>
                      </a:r>
                      <a:r>
                        <a:rPr lang="en-US" altLang="zh-CN" sz="1800" b="0" i="0" kern="1200" dirty="0">
                          <a:solidFill>
                            <a:schemeClr val="dk1"/>
                          </a:solidFill>
                          <a:latin typeface="+mn-lt"/>
                          <a:ea typeface="+mn-ea"/>
                          <a:cs typeface="+mn-cs"/>
                        </a:rPr>
                        <a:t>31</a:t>
                      </a:r>
                      <a:r>
                        <a:rPr lang="zh-CN" altLang="en-US" sz="1800" b="0" i="0" kern="1200" dirty="0">
                          <a:solidFill>
                            <a:schemeClr val="dk1"/>
                          </a:solidFill>
                          <a:latin typeface="+mn-lt"/>
                          <a:ea typeface="+mn-ea"/>
                          <a:cs typeface="+mn-cs"/>
                        </a:rPr>
                        <a:t>：</a:t>
                      </a:r>
                      <a:r>
                        <a:rPr lang="en-US" altLang="zh-CN" sz="1800" b="0" i="0" kern="1200" dirty="0">
                          <a:solidFill>
                            <a:schemeClr val="dk1"/>
                          </a:solidFill>
                          <a:latin typeface="+mn-lt"/>
                          <a:ea typeface="+mn-ea"/>
                          <a:cs typeface="+mn-cs"/>
                        </a:rPr>
                        <a:t>16</a:t>
                      </a:r>
                      <a:endParaRPr lang="zh-CN" altLang="en-US" dirty="0"/>
                    </a:p>
                  </a:txBody>
                  <a:tcPr/>
                </a:tc>
                <a:tc>
                  <a:txBody>
                    <a:bodyPr/>
                    <a:lstStyle/>
                    <a:p>
                      <a:pPr latinLnBrk="1"/>
                      <a:r>
                        <a:rPr lang="en-US" altLang="zh-CN" sz="1800" b="0" i="0" kern="1200" dirty="0" err="1">
                          <a:solidFill>
                            <a:schemeClr val="dk1"/>
                          </a:solidFill>
                          <a:latin typeface="+mn-lt"/>
                          <a:ea typeface="+mn-ea"/>
                          <a:cs typeface="+mn-cs"/>
                        </a:rPr>
                        <a:t>BRy</a:t>
                      </a:r>
                      <a:r>
                        <a:rPr lang="en-US" altLang="zh-CN" sz="1800" b="0" i="0" kern="1200" dirty="0">
                          <a:solidFill>
                            <a:schemeClr val="dk1"/>
                          </a:solidFill>
                          <a:latin typeface="+mn-lt"/>
                          <a:ea typeface="+mn-ea"/>
                          <a:cs typeface="+mn-cs"/>
                        </a:rPr>
                        <a:t>:</a:t>
                      </a:r>
                      <a:r>
                        <a:rPr lang="zh-CN" altLang="en-US" sz="1800" b="0" i="0" kern="1200" dirty="0">
                          <a:solidFill>
                            <a:schemeClr val="dk1"/>
                          </a:solidFill>
                          <a:latin typeface="+mn-lt"/>
                          <a:ea typeface="+mn-ea"/>
                          <a:cs typeface="+mn-cs"/>
                        </a:rPr>
                        <a:t>清除端口</a:t>
                      </a:r>
                      <a:r>
                        <a:rPr lang="en-US" altLang="zh-CN" sz="1800" b="0" i="0" kern="1200" dirty="0">
                          <a:solidFill>
                            <a:schemeClr val="dk1"/>
                          </a:solidFill>
                          <a:latin typeface="+mn-lt"/>
                          <a:ea typeface="+mn-ea"/>
                          <a:cs typeface="+mn-cs"/>
                        </a:rPr>
                        <a:t>x</a:t>
                      </a:r>
                      <a:r>
                        <a:rPr lang="zh-CN" altLang="en-US" sz="1800" b="0" i="0" kern="1200" dirty="0">
                          <a:solidFill>
                            <a:schemeClr val="dk1"/>
                          </a:solidFill>
                          <a:latin typeface="+mn-lt"/>
                          <a:ea typeface="+mn-ea"/>
                          <a:cs typeface="+mn-cs"/>
                        </a:rPr>
                        <a:t>的位</a:t>
                      </a:r>
                      <a:r>
                        <a:rPr lang="en-US" altLang="zh-CN" sz="1800" b="0" i="0" kern="1200" dirty="0">
                          <a:solidFill>
                            <a:schemeClr val="dk1"/>
                          </a:solidFill>
                          <a:latin typeface="+mn-lt"/>
                          <a:ea typeface="+mn-ea"/>
                          <a:cs typeface="+mn-cs"/>
                        </a:rPr>
                        <a:t>y</a:t>
                      </a:r>
                      <a:r>
                        <a:rPr lang="zh-CN" altLang="en-US" sz="1800" b="0" i="0" kern="1200" dirty="0">
                          <a:solidFill>
                            <a:schemeClr val="dk1"/>
                          </a:solidFill>
                          <a:latin typeface="+mn-lt"/>
                          <a:ea typeface="+mn-ea"/>
                          <a:cs typeface="+mn-cs"/>
                        </a:rPr>
                        <a:t>（</a:t>
                      </a:r>
                      <a:r>
                        <a:rPr lang="en-US" altLang="zh-CN" sz="1800" b="0" i="0" kern="1200" dirty="0">
                          <a:solidFill>
                            <a:schemeClr val="dk1"/>
                          </a:solidFill>
                          <a:latin typeface="+mn-lt"/>
                          <a:ea typeface="+mn-ea"/>
                          <a:cs typeface="+mn-cs"/>
                        </a:rPr>
                        <a:t>y=0...15</a:t>
                      </a:r>
                      <a:r>
                        <a:rPr lang="zh-CN" altLang="en-US" sz="1800" b="0" i="0" kern="1200" dirty="0">
                          <a:solidFill>
                            <a:schemeClr val="dk1"/>
                          </a:solidFill>
                          <a:latin typeface="+mn-lt"/>
                          <a:ea typeface="+mn-ea"/>
                          <a:cs typeface="+mn-cs"/>
                        </a:rPr>
                        <a:t>）</a:t>
                      </a:r>
                    </a:p>
                    <a:p>
                      <a:pPr latinLnBrk="1"/>
                      <a:r>
                        <a:rPr lang="zh-CN" altLang="en-US" sz="1800" b="0" i="0" kern="1200" dirty="0">
                          <a:solidFill>
                            <a:schemeClr val="dk1"/>
                          </a:solidFill>
                          <a:latin typeface="+mn-lt"/>
                          <a:ea typeface="+mn-ea"/>
                          <a:cs typeface="+mn-cs"/>
                        </a:rPr>
                        <a:t>这些位只能写入并只能以字（</a:t>
                      </a:r>
                      <a:r>
                        <a:rPr lang="en-US" altLang="zh-CN" sz="1800" b="0" i="0" kern="1200" dirty="0">
                          <a:solidFill>
                            <a:schemeClr val="dk1"/>
                          </a:solidFill>
                          <a:latin typeface="+mn-lt"/>
                          <a:ea typeface="+mn-ea"/>
                          <a:cs typeface="+mn-cs"/>
                        </a:rPr>
                        <a:t>16</a:t>
                      </a:r>
                      <a:r>
                        <a:rPr lang="zh-CN" altLang="en-US" sz="1800" b="0" i="0" kern="1200" dirty="0">
                          <a:solidFill>
                            <a:schemeClr val="dk1"/>
                          </a:solidFill>
                          <a:latin typeface="+mn-lt"/>
                          <a:ea typeface="+mn-ea"/>
                          <a:cs typeface="+mn-cs"/>
                        </a:rPr>
                        <a:t>位）的形式操作</a:t>
                      </a:r>
                    </a:p>
                    <a:p>
                      <a:pPr latinLnBrk="1"/>
                      <a:r>
                        <a:rPr lang="en-US" altLang="zh-CN" sz="1800" b="0" i="0" kern="1200" dirty="0">
                          <a:solidFill>
                            <a:schemeClr val="dk1"/>
                          </a:solidFill>
                          <a:latin typeface="+mn-lt"/>
                          <a:ea typeface="+mn-ea"/>
                          <a:cs typeface="+mn-cs"/>
                        </a:rPr>
                        <a:t>0:</a:t>
                      </a:r>
                      <a:r>
                        <a:rPr lang="zh-CN" altLang="en-US" sz="1800" b="0" i="0" kern="1200" dirty="0">
                          <a:solidFill>
                            <a:schemeClr val="dk1"/>
                          </a:solidFill>
                          <a:latin typeface="+mn-lt"/>
                          <a:ea typeface="+mn-ea"/>
                          <a:cs typeface="+mn-cs"/>
                        </a:rPr>
                        <a:t>对对应的</a:t>
                      </a:r>
                      <a:r>
                        <a:rPr lang="en-US" altLang="zh-CN" sz="1800" b="0" i="0" kern="1200" dirty="0" err="1">
                          <a:solidFill>
                            <a:schemeClr val="dk1"/>
                          </a:solidFill>
                          <a:latin typeface="+mn-lt"/>
                          <a:ea typeface="+mn-ea"/>
                          <a:cs typeface="+mn-cs"/>
                        </a:rPr>
                        <a:t>ODRy</a:t>
                      </a:r>
                      <a:r>
                        <a:rPr lang="zh-CN" altLang="en-US" sz="1800" b="0" i="0" kern="1200" dirty="0">
                          <a:solidFill>
                            <a:schemeClr val="dk1"/>
                          </a:solidFill>
                          <a:latin typeface="+mn-lt"/>
                          <a:ea typeface="+mn-ea"/>
                          <a:cs typeface="+mn-cs"/>
                        </a:rPr>
                        <a:t>位不产生影响</a:t>
                      </a:r>
                    </a:p>
                    <a:p>
                      <a:pPr latinLnBrk="1"/>
                      <a:r>
                        <a:rPr lang="en-US" altLang="zh-CN" sz="1800" b="0" i="0" kern="1200" dirty="0">
                          <a:solidFill>
                            <a:schemeClr val="dk1"/>
                          </a:solidFill>
                          <a:latin typeface="+mn-lt"/>
                          <a:ea typeface="+mn-ea"/>
                          <a:cs typeface="+mn-cs"/>
                        </a:rPr>
                        <a:t>1:</a:t>
                      </a:r>
                      <a:r>
                        <a:rPr lang="zh-CN" altLang="en-US" sz="1800" b="0" i="0" kern="1200" dirty="0">
                          <a:solidFill>
                            <a:schemeClr val="dk1"/>
                          </a:solidFill>
                          <a:latin typeface="+mn-lt"/>
                          <a:ea typeface="+mn-ea"/>
                          <a:cs typeface="+mn-cs"/>
                        </a:rPr>
                        <a:t>清除对应的</a:t>
                      </a:r>
                      <a:r>
                        <a:rPr lang="en-US" altLang="zh-CN" sz="1800" b="0" i="0" kern="1200" dirty="0" err="1">
                          <a:solidFill>
                            <a:schemeClr val="dk1"/>
                          </a:solidFill>
                          <a:latin typeface="+mn-lt"/>
                          <a:ea typeface="+mn-ea"/>
                          <a:cs typeface="+mn-cs"/>
                        </a:rPr>
                        <a:t>ODRy</a:t>
                      </a:r>
                      <a:r>
                        <a:rPr lang="zh-CN" altLang="en-US" sz="1800" b="0" i="0" kern="1200" dirty="0">
                          <a:solidFill>
                            <a:schemeClr val="dk1"/>
                          </a:solidFill>
                          <a:latin typeface="+mn-lt"/>
                          <a:ea typeface="+mn-ea"/>
                          <a:cs typeface="+mn-cs"/>
                        </a:rPr>
                        <a:t>位为</a:t>
                      </a:r>
                      <a:r>
                        <a:rPr lang="en-US" altLang="zh-CN" sz="1800" b="0" i="0" kern="1200" dirty="0">
                          <a:solidFill>
                            <a:schemeClr val="dk1"/>
                          </a:solidFill>
                          <a:latin typeface="+mn-lt"/>
                          <a:ea typeface="+mn-ea"/>
                          <a:cs typeface="+mn-cs"/>
                        </a:rPr>
                        <a:t>0</a:t>
                      </a:r>
                    </a:p>
                  </a:txBody>
                  <a:tcPr/>
                </a:tc>
                <a:extLst>
                  <a:ext uri="{0D108BD9-81ED-4DB2-BD59-A6C34878D82A}">
                    <a16:rowId xmlns:a16="http://schemas.microsoft.com/office/drawing/2014/main" val="10001"/>
                  </a:ext>
                </a:extLst>
              </a:tr>
              <a:tr h="370840">
                <a:tc>
                  <a:txBody>
                    <a:bodyPr/>
                    <a:lstStyle/>
                    <a:p>
                      <a:r>
                        <a:rPr lang="zh-CN" altLang="en-US" sz="1800" b="0" i="0" kern="1200" dirty="0">
                          <a:solidFill>
                            <a:schemeClr val="dk1"/>
                          </a:solidFill>
                          <a:latin typeface="+mn-lt"/>
                          <a:ea typeface="+mn-ea"/>
                          <a:cs typeface="+mn-cs"/>
                        </a:rPr>
                        <a:t>位</a:t>
                      </a:r>
                      <a:r>
                        <a:rPr lang="en-US" altLang="zh-CN" sz="1800" b="0" i="0" kern="1200" dirty="0">
                          <a:solidFill>
                            <a:schemeClr val="dk1"/>
                          </a:solidFill>
                          <a:latin typeface="+mn-lt"/>
                          <a:ea typeface="+mn-ea"/>
                          <a:cs typeface="+mn-cs"/>
                        </a:rPr>
                        <a:t>15:0</a:t>
                      </a:r>
                      <a:endParaRPr lang="zh-CN" altLang="en-US" dirty="0"/>
                    </a:p>
                  </a:txBody>
                  <a:tcPr/>
                </a:tc>
                <a:tc>
                  <a:txBody>
                    <a:bodyPr/>
                    <a:lstStyle/>
                    <a:p>
                      <a:pPr latinLnBrk="1"/>
                      <a:r>
                        <a:rPr lang="en-US" altLang="zh-CN" sz="1800" b="0" i="0" kern="1200" dirty="0" err="1">
                          <a:solidFill>
                            <a:schemeClr val="dk1"/>
                          </a:solidFill>
                          <a:latin typeface="+mn-lt"/>
                          <a:ea typeface="+mn-ea"/>
                          <a:cs typeface="+mn-cs"/>
                        </a:rPr>
                        <a:t>BSy</a:t>
                      </a:r>
                      <a:r>
                        <a:rPr lang="en-US" altLang="zh-CN" sz="1800" b="0" i="0" kern="1200" dirty="0">
                          <a:solidFill>
                            <a:schemeClr val="dk1"/>
                          </a:solidFill>
                          <a:latin typeface="+mn-lt"/>
                          <a:ea typeface="+mn-ea"/>
                          <a:cs typeface="+mn-cs"/>
                        </a:rPr>
                        <a:t>:</a:t>
                      </a:r>
                      <a:r>
                        <a:rPr lang="zh-CN" altLang="en-US" sz="1800" b="0" i="0" kern="1200" dirty="0">
                          <a:solidFill>
                            <a:schemeClr val="dk1"/>
                          </a:solidFill>
                          <a:latin typeface="+mn-lt"/>
                          <a:ea typeface="+mn-ea"/>
                          <a:cs typeface="+mn-cs"/>
                        </a:rPr>
                        <a:t>设置端口</a:t>
                      </a:r>
                      <a:r>
                        <a:rPr lang="en-US" altLang="zh-CN" sz="1800" b="0" i="0" kern="1200" dirty="0">
                          <a:solidFill>
                            <a:schemeClr val="dk1"/>
                          </a:solidFill>
                          <a:latin typeface="+mn-lt"/>
                          <a:ea typeface="+mn-ea"/>
                          <a:cs typeface="+mn-cs"/>
                        </a:rPr>
                        <a:t>x</a:t>
                      </a:r>
                      <a:r>
                        <a:rPr lang="zh-CN" altLang="en-US" sz="1800" b="0" i="0" kern="1200" dirty="0">
                          <a:solidFill>
                            <a:schemeClr val="dk1"/>
                          </a:solidFill>
                          <a:latin typeface="+mn-lt"/>
                          <a:ea typeface="+mn-ea"/>
                          <a:cs typeface="+mn-cs"/>
                        </a:rPr>
                        <a:t>的位</a:t>
                      </a:r>
                      <a:r>
                        <a:rPr lang="en-US" altLang="zh-CN" sz="1800" b="0" i="0" kern="1200" dirty="0">
                          <a:solidFill>
                            <a:schemeClr val="dk1"/>
                          </a:solidFill>
                          <a:latin typeface="+mn-lt"/>
                          <a:ea typeface="+mn-ea"/>
                          <a:cs typeface="+mn-cs"/>
                        </a:rPr>
                        <a:t>y</a:t>
                      </a:r>
                      <a:r>
                        <a:rPr lang="zh-CN" altLang="en-US" sz="1800" b="0" i="0" kern="1200" dirty="0">
                          <a:solidFill>
                            <a:schemeClr val="dk1"/>
                          </a:solidFill>
                          <a:latin typeface="+mn-lt"/>
                          <a:ea typeface="+mn-ea"/>
                          <a:cs typeface="+mn-cs"/>
                        </a:rPr>
                        <a:t>（</a:t>
                      </a:r>
                      <a:r>
                        <a:rPr lang="en-US" altLang="zh-CN" sz="1800" b="0" i="0" kern="1200" dirty="0">
                          <a:solidFill>
                            <a:schemeClr val="dk1"/>
                          </a:solidFill>
                          <a:latin typeface="+mn-lt"/>
                          <a:ea typeface="+mn-ea"/>
                          <a:cs typeface="+mn-cs"/>
                        </a:rPr>
                        <a:t>y=0...15</a:t>
                      </a:r>
                      <a:r>
                        <a:rPr lang="zh-CN" altLang="en-US" sz="1800" b="0" i="0" kern="1200" dirty="0">
                          <a:solidFill>
                            <a:schemeClr val="dk1"/>
                          </a:solidFill>
                          <a:latin typeface="+mn-lt"/>
                          <a:ea typeface="+mn-ea"/>
                          <a:cs typeface="+mn-cs"/>
                        </a:rPr>
                        <a:t>）</a:t>
                      </a:r>
                    </a:p>
                    <a:p>
                      <a:pPr latinLnBrk="1"/>
                      <a:r>
                        <a:rPr lang="zh-CN" altLang="en-US" sz="1800" b="0" i="0" kern="1200" dirty="0">
                          <a:solidFill>
                            <a:schemeClr val="dk1"/>
                          </a:solidFill>
                          <a:latin typeface="+mn-lt"/>
                          <a:ea typeface="+mn-ea"/>
                          <a:cs typeface="+mn-cs"/>
                        </a:rPr>
                        <a:t>这些位只能写入并只能以字（</a:t>
                      </a:r>
                      <a:r>
                        <a:rPr lang="en-US" altLang="zh-CN" sz="1800" b="0" i="0" kern="1200" dirty="0">
                          <a:solidFill>
                            <a:schemeClr val="dk1"/>
                          </a:solidFill>
                          <a:latin typeface="+mn-lt"/>
                          <a:ea typeface="+mn-ea"/>
                          <a:cs typeface="+mn-cs"/>
                        </a:rPr>
                        <a:t>16</a:t>
                      </a:r>
                      <a:r>
                        <a:rPr lang="zh-CN" altLang="en-US" sz="1800" b="0" i="0" kern="1200" dirty="0">
                          <a:solidFill>
                            <a:schemeClr val="dk1"/>
                          </a:solidFill>
                          <a:latin typeface="+mn-lt"/>
                          <a:ea typeface="+mn-ea"/>
                          <a:cs typeface="+mn-cs"/>
                        </a:rPr>
                        <a:t>位）的形式操作</a:t>
                      </a:r>
                    </a:p>
                    <a:p>
                      <a:pPr latinLnBrk="1"/>
                      <a:r>
                        <a:rPr lang="en-US" altLang="zh-CN" sz="1800" b="0" i="0" kern="1200" dirty="0">
                          <a:solidFill>
                            <a:schemeClr val="dk1"/>
                          </a:solidFill>
                          <a:latin typeface="+mn-lt"/>
                          <a:ea typeface="+mn-ea"/>
                          <a:cs typeface="+mn-cs"/>
                        </a:rPr>
                        <a:t>0:</a:t>
                      </a:r>
                      <a:r>
                        <a:rPr lang="zh-CN" altLang="en-US" sz="1800" b="0" i="0" kern="1200" dirty="0">
                          <a:solidFill>
                            <a:schemeClr val="dk1"/>
                          </a:solidFill>
                          <a:latin typeface="+mn-lt"/>
                          <a:ea typeface="+mn-ea"/>
                          <a:cs typeface="+mn-cs"/>
                        </a:rPr>
                        <a:t>对对应的</a:t>
                      </a:r>
                      <a:r>
                        <a:rPr lang="en-US" altLang="zh-CN" sz="1800" b="0" i="0" kern="1200" dirty="0" err="1">
                          <a:solidFill>
                            <a:schemeClr val="dk1"/>
                          </a:solidFill>
                          <a:latin typeface="+mn-lt"/>
                          <a:ea typeface="+mn-ea"/>
                          <a:cs typeface="+mn-cs"/>
                        </a:rPr>
                        <a:t>ODRy</a:t>
                      </a:r>
                      <a:r>
                        <a:rPr lang="zh-CN" altLang="en-US" sz="1800" b="0" i="0" kern="1200" dirty="0">
                          <a:solidFill>
                            <a:schemeClr val="dk1"/>
                          </a:solidFill>
                          <a:latin typeface="+mn-lt"/>
                          <a:ea typeface="+mn-ea"/>
                          <a:cs typeface="+mn-cs"/>
                        </a:rPr>
                        <a:t>位不产生影响</a:t>
                      </a:r>
                    </a:p>
                    <a:p>
                      <a:pPr latinLnBrk="1"/>
                      <a:r>
                        <a:rPr lang="en-US" altLang="zh-CN" sz="1800" b="0" i="0" kern="1200" dirty="0">
                          <a:solidFill>
                            <a:schemeClr val="dk1"/>
                          </a:solidFill>
                          <a:latin typeface="+mn-lt"/>
                          <a:ea typeface="+mn-ea"/>
                          <a:cs typeface="+mn-cs"/>
                        </a:rPr>
                        <a:t>1:</a:t>
                      </a:r>
                      <a:r>
                        <a:rPr lang="zh-CN" altLang="en-US" sz="1800" b="0" i="0" kern="1200" dirty="0">
                          <a:solidFill>
                            <a:schemeClr val="dk1"/>
                          </a:solidFill>
                          <a:latin typeface="+mn-lt"/>
                          <a:ea typeface="+mn-ea"/>
                          <a:cs typeface="+mn-cs"/>
                        </a:rPr>
                        <a:t>清除对应的</a:t>
                      </a:r>
                      <a:r>
                        <a:rPr lang="en-US" altLang="zh-CN" sz="1800" b="0" i="0" kern="1200" dirty="0" err="1">
                          <a:solidFill>
                            <a:schemeClr val="dk1"/>
                          </a:solidFill>
                          <a:latin typeface="+mn-lt"/>
                          <a:ea typeface="+mn-ea"/>
                          <a:cs typeface="+mn-cs"/>
                        </a:rPr>
                        <a:t>ODRy</a:t>
                      </a:r>
                      <a:r>
                        <a:rPr lang="zh-CN" altLang="en-US" sz="1800" b="0" i="0" kern="1200" dirty="0">
                          <a:solidFill>
                            <a:schemeClr val="dk1"/>
                          </a:solidFill>
                          <a:latin typeface="+mn-lt"/>
                          <a:ea typeface="+mn-ea"/>
                          <a:cs typeface="+mn-cs"/>
                        </a:rPr>
                        <a:t>位为</a:t>
                      </a:r>
                      <a:r>
                        <a:rPr lang="en-US" altLang="zh-CN" sz="1800" b="0" i="0" kern="1200" dirty="0">
                          <a:solidFill>
                            <a:schemeClr val="dk1"/>
                          </a:solidFill>
                          <a:latin typeface="+mn-lt"/>
                          <a:ea typeface="+mn-ea"/>
                          <a:cs typeface="+mn-cs"/>
                        </a:rPr>
                        <a:t>1</a:t>
                      </a:r>
                    </a:p>
                  </a:txBody>
                  <a:tcPr/>
                </a:tc>
                <a:extLst>
                  <a:ext uri="{0D108BD9-81ED-4DB2-BD59-A6C34878D82A}">
                    <a16:rowId xmlns:a16="http://schemas.microsoft.com/office/drawing/2014/main" val="10002"/>
                  </a:ext>
                </a:extLst>
              </a:tr>
            </a:tbl>
          </a:graphicData>
        </a:graphic>
      </p:graphicFrame>
      <p:sp>
        <p:nvSpPr>
          <p:cNvPr id="4" name="TextBox 3"/>
          <p:cNvSpPr txBox="1"/>
          <p:nvPr/>
        </p:nvSpPr>
        <p:spPr>
          <a:xfrm>
            <a:off x="326569" y="531845"/>
            <a:ext cx="8518851" cy="461665"/>
          </a:xfrm>
          <a:prstGeom prst="rect">
            <a:avLst/>
          </a:prstGeom>
          <a:noFill/>
        </p:spPr>
        <p:txBody>
          <a:bodyPr wrap="square" rtlCol="0">
            <a:spAutoFit/>
          </a:bodyPr>
          <a:lstStyle/>
          <a:p>
            <a:r>
              <a:rPr lang="en-US" altLang="zh-CN" sz="2400" b="1" dirty="0">
                <a:solidFill>
                  <a:srgbClr val="C00000"/>
                </a:solidFill>
                <a:highlight>
                  <a:srgbClr val="FFFF00"/>
                </a:highlight>
              </a:rPr>
              <a:t>BRR(</a:t>
            </a:r>
            <a:r>
              <a:rPr lang="zh-CN" altLang="en-US" sz="2400" b="1" dirty="0">
                <a:solidFill>
                  <a:srgbClr val="C00000"/>
                </a:solidFill>
                <a:highlight>
                  <a:srgbClr val="FFFF00"/>
                </a:highlight>
              </a:rPr>
              <a:t>端口位清除寄存器</a:t>
            </a:r>
            <a:r>
              <a:rPr lang="en-US" altLang="zh-CN" sz="2400" b="1" dirty="0">
                <a:solidFill>
                  <a:srgbClr val="C00000"/>
                </a:solidFill>
                <a:highlight>
                  <a:srgbClr val="FFFF00"/>
                </a:highlight>
              </a:rPr>
              <a:t>)</a:t>
            </a:r>
            <a:r>
              <a:rPr lang="zh-CN" altLang="en-US" sz="2400" b="1" dirty="0">
                <a:solidFill>
                  <a:srgbClr val="C00000"/>
                </a:solidFill>
                <a:highlight>
                  <a:srgbClr val="FFFF00"/>
                </a:highlight>
              </a:rPr>
              <a:t>、</a:t>
            </a:r>
            <a:r>
              <a:rPr lang="en-US" altLang="zh-CN" sz="2400" b="1" dirty="0">
                <a:solidFill>
                  <a:srgbClr val="C00000"/>
                </a:solidFill>
                <a:highlight>
                  <a:srgbClr val="FFFF00"/>
                </a:highlight>
              </a:rPr>
              <a:t>BSRR(</a:t>
            </a:r>
            <a:r>
              <a:rPr lang="zh-CN" altLang="en-US" sz="2400" b="1" dirty="0">
                <a:solidFill>
                  <a:srgbClr val="C00000"/>
                </a:solidFill>
                <a:highlight>
                  <a:srgbClr val="FFFF00"/>
                </a:highlight>
              </a:rPr>
              <a:t>端口位设置</a:t>
            </a:r>
            <a:r>
              <a:rPr lang="en-US" altLang="zh-CN" sz="2400" b="1" dirty="0">
                <a:solidFill>
                  <a:srgbClr val="C00000"/>
                </a:solidFill>
                <a:highlight>
                  <a:srgbClr val="FFFF00"/>
                </a:highlight>
              </a:rPr>
              <a:t>/</a:t>
            </a:r>
            <a:r>
              <a:rPr lang="zh-CN" altLang="en-US" sz="2400" b="1" dirty="0">
                <a:solidFill>
                  <a:srgbClr val="C00000"/>
                </a:solidFill>
                <a:highlight>
                  <a:srgbClr val="FFFF00"/>
                </a:highlight>
              </a:rPr>
              <a:t>清除寄存器</a:t>
            </a:r>
            <a:r>
              <a:rPr lang="en-US" altLang="zh-CN" sz="2400" b="1" dirty="0">
                <a:solidFill>
                  <a:srgbClr val="C00000"/>
                </a:solidFill>
                <a:highlight>
                  <a:srgbClr val="FFFF00"/>
                </a:highlight>
              </a:rPr>
              <a:t>)</a:t>
            </a:r>
            <a:endParaRPr lang="zh-CN" altLang="en-US" sz="2400" b="1" dirty="0">
              <a:solidFill>
                <a:srgbClr val="C00000"/>
              </a:solidFill>
              <a:highlight>
                <a:srgbClr val="FFFF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4800" y="419506"/>
            <a:ext cx="10854612" cy="5853269"/>
          </a:xfrm>
          <a:prstGeom prst="rect">
            <a:avLst/>
          </a:prstGeom>
        </p:spPr>
        <p:txBody>
          <a:bodyPr wrap="square">
            <a:spAutoFit/>
          </a:bodyPr>
          <a:lstStyle/>
          <a:p>
            <a:pPr>
              <a:lnSpc>
                <a:spcPct val="150000"/>
              </a:lnSpc>
            </a:pPr>
            <a:r>
              <a:rPr lang="zh-CN" altLang="en-US" dirty="0"/>
              <a:t>假如想在一个操作中对</a:t>
            </a:r>
            <a:r>
              <a:rPr lang="en-US" altLang="zh-CN" dirty="0"/>
              <a:t>GPIOE</a:t>
            </a:r>
            <a:r>
              <a:rPr lang="zh-CN" altLang="en-US" dirty="0"/>
              <a:t>的位</a:t>
            </a:r>
            <a:r>
              <a:rPr lang="en-US" altLang="zh-CN" dirty="0"/>
              <a:t>1</a:t>
            </a:r>
            <a:r>
              <a:rPr lang="zh-CN" altLang="en-US" dirty="0"/>
              <a:t>置</a:t>
            </a:r>
            <a:r>
              <a:rPr lang="en-US" altLang="zh-CN" dirty="0"/>
              <a:t>'1'</a:t>
            </a:r>
            <a:r>
              <a:rPr lang="zh-CN" altLang="en-US" dirty="0"/>
              <a:t>，位</a:t>
            </a:r>
            <a:r>
              <a:rPr lang="en-US" altLang="zh-CN" dirty="0"/>
              <a:t>15</a:t>
            </a:r>
            <a:r>
              <a:rPr lang="zh-CN" altLang="en-US" dirty="0"/>
              <a:t>置</a:t>
            </a:r>
            <a:r>
              <a:rPr lang="en-US" altLang="zh-CN" dirty="0"/>
              <a:t>'0'</a:t>
            </a:r>
            <a:r>
              <a:rPr lang="zh-CN" altLang="en-US" dirty="0"/>
              <a:t>，则使用</a:t>
            </a:r>
            <a:r>
              <a:rPr lang="en-US" altLang="zh-CN" dirty="0"/>
              <a:t>BSRR</a:t>
            </a:r>
            <a:r>
              <a:rPr lang="zh-CN" altLang="en-US" dirty="0"/>
              <a:t>非常方便：</a:t>
            </a:r>
          </a:p>
          <a:p>
            <a:pPr>
              <a:lnSpc>
                <a:spcPct val="150000"/>
              </a:lnSpc>
            </a:pPr>
            <a:r>
              <a:rPr lang="en-US" altLang="zh-CN" dirty="0"/>
              <a:t>GPIOE-&gt;BSRR = 0x80000002;</a:t>
            </a:r>
          </a:p>
          <a:p>
            <a:pPr>
              <a:lnSpc>
                <a:spcPct val="150000"/>
              </a:lnSpc>
            </a:pPr>
            <a:r>
              <a:rPr lang="zh-CN" altLang="en-US" dirty="0"/>
              <a:t>低</a:t>
            </a:r>
            <a:r>
              <a:rPr lang="en-US" altLang="zh-CN" dirty="0"/>
              <a:t>16</a:t>
            </a:r>
            <a:r>
              <a:rPr lang="zh-CN" altLang="en-US" dirty="0"/>
              <a:t>位中的</a:t>
            </a:r>
            <a:r>
              <a:rPr lang="en-US" altLang="zh-CN" dirty="0"/>
              <a:t>0002</a:t>
            </a:r>
            <a:r>
              <a:rPr lang="zh-CN" altLang="en-US" dirty="0"/>
              <a:t>将位</a:t>
            </a:r>
            <a:r>
              <a:rPr lang="en-US" altLang="zh-CN" dirty="0"/>
              <a:t>1</a:t>
            </a:r>
            <a:r>
              <a:rPr lang="zh-CN" altLang="en-US" dirty="0"/>
              <a:t>置‘</a:t>
            </a:r>
            <a:r>
              <a:rPr lang="en-US" altLang="zh-CN" dirty="0"/>
              <a:t>1’</a:t>
            </a:r>
            <a:r>
              <a:rPr lang="zh-CN" altLang="en-US" dirty="0"/>
              <a:t>，高</a:t>
            </a:r>
            <a:r>
              <a:rPr lang="en-US" altLang="zh-CN" dirty="0"/>
              <a:t>16</a:t>
            </a:r>
            <a:r>
              <a:rPr lang="zh-CN" altLang="en-US" dirty="0"/>
              <a:t>位中的</a:t>
            </a:r>
            <a:r>
              <a:rPr lang="en-US" altLang="zh-CN" dirty="0"/>
              <a:t>8000</a:t>
            </a:r>
            <a:r>
              <a:rPr lang="zh-CN" altLang="en-US" dirty="0"/>
              <a:t>将位</a:t>
            </a:r>
            <a:r>
              <a:rPr lang="en-US" altLang="zh-CN" dirty="0"/>
              <a:t>15</a:t>
            </a:r>
            <a:r>
              <a:rPr lang="zh-CN" altLang="en-US" dirty="0"/>
              <a:t>置清零，一步就可以做到。</a:t>
            </a:r>
          </a:p>
          <a:p>
            <a:pPr>
              <a:lnSpc>
                <a:spcPct val="150000"/>
              </a:lnSpc>
            </a:pPr>
            <a:r>
              <a:rPr lang="zh-CN" altLang="en-US" dirty="0"/>
              <a:t>如果没有</a:t>
            </a:r>
            <a:r>
              <a:rPr lang="en-US" altLang="zh-CN" dirty="0"/>
              <a:t>BSRR</a:t>
            </a:r>
            <a:r>
              <a:rPr lang="zh-CN" altLang="en-US" dirty="0"/>
              <a:t>的高</a:t>
            </a:r>
            <a:r>
              <a:rPr lang="en-US" altLang="zh-CN" dirty="0"/>
              <a:t>16</a:t>
            </a:r>
            <a:r>
              <a:rPr lang="zh-CN" altLang="en-US" dirty="0"/>
              <a:t>位，则要分</a:t>
            </a:r>
            <a:r>
              <a:rPr lang="en-US" altLang="zh-CN" dirty="0"/>
              <a:t>2</a:t>
            </a:r>
            <a:r>
              <a:rPr lang="zh-CN" altLang="en-US" dirty="0"/>
              <a:t>次操作，结果造成位</a:t>
            </a:r>
            <a:r>
              <a:rPr lang="en-US" altLang="zh-CN" dirty="0"/>
              <a:t>1</a:t>
            </a:r>
            <a:r>
              <a:rPr lang="zh-CN" altLang="en-US" dirty="0"/>
              <a:t>和位</a:t>
            </a:r>
            <a:r>
              <a:rPr lang="en-US" altLang="zh-CN" dirty="0"/>
              <a:t>15</a:t>
            </a:r>
            <a:r>
              <a:rPr lang="zh-CN" altLang="en-US" dirty="0"/>
              <a:t>的变化不同步！</a:t>
            </a:r>
          </a:p>
          <a:p>
            <a:pPr>
              <a:lnSpc>
                <a:spcPct val="150000"/>
              </a:lnSpc>
            </a:pPr>
            <a:r>
              <a:rPr lang="en-US" altLang="zh-CN" dirty="0"/>
              <a:t>GPIOE-&gt;BSRR = 0x02;</a:t>
            </a:r>
          </a:p>
          <a:p>
            <a:pPr>
              <a:lnSpc>
                <a:spcPct val="150000"/>
              </a:lnSpc>
            </a:pPr>
            <a:r>
              <a:rPr lang="en-US" altLang="zh-CN" dirty="0"/>
              <a:t>GPIOE-&gt;BRR = 0x8000;</a:t>
            </a:r>
          </a:p>
          <a:p>
            <a:pPr>
              <a:lnSpc>
                <a:spcPct val="150000"/>
              </a:lnSpc>
            </a:pPr>
            <a:r>
              <a:rPr lang="zh-CN" altLang="en-US" b="1" dirty="0">
                <a:solidFill>
                  <a:srgbClr val="00B0F0"/>
                </a:solidFill>
              </a:rPr>
              <a:t>规则：</a:t>
            </a:r>
          </a:p>
          <a:p>
            <a:pPr>
              <a:lnSpc>
                <a:spcPct val="150000"/>
              </a:lnSpc>
              <a:buClr>
                <a:srgbClr val="00B0F0"/>
              </a:buClr>
              <a:buFont typeface="Wingdings" pitchFamily="2" charset="2"/>
              <a:buChar char="u"/>
            </a:pPr>
            <a:r>
              <a:rPr lang="zh-CN" altLang="en-US" dirty="0">
                <a:highlight>
                  <a:srgbClr val="FFFF00"/>
                </a:highlight>
              </a:rPr>
              <a:t>一、置</a:t>
            </a:r>
            <a:r>
              <a:rPr lang="en-US" altLang="zh-CN" dirty="0">
                <a:highlight>
                  <a:srgbClr val="FFFF00"/>
                </a:highlight>
              </a:rPr>
              <a:t>GPIOD-&gt;BSRR</a:t>
            </a:r>
            <a:r>
              <a:rPr lang="zh-CN" altLang="en-US" dirty="0">
                <a:highlight>
                  <a:srgbClr val="FFFF00"/>
                </a:highlight>
              </a:rPr>
              <a:t>低</a:t>
            </a:r>
            <a:r>
              <a:rPr lang="en-US" altLang="zh-CN" dirty="0">
                <a:highlight>
                  <a:srgbClr val="FFFF00"/>
                </a:highlight>
              </a:rPr>
              <a:t>16</a:t>
            </a:r>
            <a:r>
              <a:rPr lang="zh-CN" altLang="en-US" dirty="0">
                <a:highlight>
                  <a:srgbClr val="FFFF00"/>
                </a:highlight>
              </a:rPr>
              <a:t>位的某位为</a:t>
            </a:r>
            <a:r>
              <a:rPr lang="en-US" altLang="zh-CN" dirty="0">
                <a:highlight>
                  <a:srgbClr val="FFFF00"/>
                </a:highlight>
              </a:rPr>
              <a:t>'1'</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端口置</a:t>
            </a:r>
            <a:r>
              <a:rPr lang="en-US" altLang="zh-CN" dirty="0">
                <a:highlight>
                  <a:srgbClr val="FFFF00"/>
                </a:highlight>
              </a:rPr>
              <a:t>'1'</a:t>
            </a:r>
            <a:r>
              <a:rPr lang="zh-CN" altLang="en-US" dirty="0">
                <a:highlight>
                  <a:srgbClr val="FFFF00"/>
                </a:highlight>
              </a:rPr>
              <a:t>；而置</a:t>
            </a:r>
            <a:r>
              <a:rPr lang="en-US" altLang="zh-CN" dirty="0">
                <a:highlight>
                  <a:srgbClr val="FFFF00"/>
                </a:highlight>
              </a:rPr>
              <a:t>GPIOD-&gt;BSRR</a:t>
            </a:r>
            <a:r>
              <a:rPr lang="zh-CN" altLang="en-US" dirty="0">
                <a:highlight>
                  <a:srgbClr val="FFFF00"/>
                </a:highlight>
              </a:rPr>
              <a:t>低</a:t>
            </a:r>
            <a:r>
              <a:rPr lang="en-US" altLang="zh-CN" dirty="0">
                <a:highlight>
                  <a:srgbClr val="FFFF00"/>
                </a:highlight>
              </a:rPr>
              <a:t>16</a:t>
            </a:r>
            <a:r>
              <a:rPr lang="zh-CN" altLang="en-US" dirty="0">
                <a:highlight>
                  <a:srgbClr val="FFFF00"/>
                </a:highlight>
              </a:rPr>
              <a:t>位</a:t>
            </a:r>
          </a:p>
          <a:p>
            <a:pPr>
              <a:lnSpc>
                <a:spcPct val="150000"/>
              </a:lnSpc>
            </a:pPr>
            <a:r>
              <a:rPr lang="zh-CN" altLang="en-US" dirty="0">
                <a:highlight>
                  <a:srgbClr val="FFFF00"/>
                </a:highlight>
              </a:rPr>
              <a:t>的某位为</a:t>
            </a:r>
            <a:r>
              <a:rPr lang="en-US" altLang="zh-CN" dirty="0">
                <a:highlight>
                  <a:srgbClr val="FFFF00"/>
                </a:highlight>
              </a:rPr>
              <a:t>'0'</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端口不变。</a:t>
            </a:r>
          </a:p>
          <a:p>
            <a:pPr>
              <a:lnSpc>
                <a:spcPct val="150000"/>
              </a:lnSpc>
              <a:buClr>
                <a:schemeClr val="accent3"/>
              </a:buClr>
              <a:buFont typeface="Wingdings" pitchFamily="2" charset="2"/>
              <a:buChar char="u"/>
            </a:pPr>
            <a:r>
              <a:rPr lang="zh-CN" altLang="en-US" dirty="0">
                <a:highlight>
                  <a:srgbClr val="FFFF00"/>
                </a:highlight>
              </a:rPr>
              <a:t>二、置</a:t>
            </a:r>
            <a:r>
              <a:rPr lang="en-US" altLang="zh-CN" dirty="0">
                <a:highlight>
                  <a:srgbClr val="FFFF00"/>
                </a:highlight>
              </a:rPr>
              <a:t>GPIOD-&gt;BSRR</a:t>
            </a:r>
            <a:r>
              <a:rPr lang="zh-CN" altLang="en-US" dirty="0">
                <a:highlight>
                  <a:srgbClr val="FFFF00"/>
                </a:highlight>
              </a:rPr>
              <a:t>高</a:t>
            </a:r>
            <a:r>
              <a:rPr lang="en-US" altLang="zh-CN" dirty="0">
                <a:highlight>
                  <a:srgbClr val="FFFF00"/>
                </a:highlight>
              </a:rPr>
              <a:t>16</a:t>
            </a:r>
            <a:r>
              <a:rPr lang="zh-CN" altLang="en-US" dirty="0">
                <a:highlight>
                  <a:srgbClr val="FFFF00"/>
                </a:highlight>
              </a:rPr>
              <a:t>位的某位为</a:t>
            </a:r>
            <a:r>
              <a:rPr lang="en-US" altLang="zh-CN" dirty="0">
                <a:highlight>
                  <a:srgbClr val="FFFF00"/>
                </a:highlight>
              </a:rPr>
              <a:t>'1'</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端口置</a:t>
            </a:r>
            <a:r>
              <a:rPr lang="en-US" altLang="zh-CN" dirty="0">
                <a:highlight>
                  <a:srgbClr val="FFFF00"/>
                </a:highlight>
              </a:rPr>
              <a:t>'0'</a:t>
            </a:r>
            <a:r>
              <a:rPr lang="zh-CN" altLang="en-US" dirty="0">
                <a:highlight>
                  <a:srgbClr val="FFFF00"/>
                </a:highlight>
              </a:rPr>
              <a:t>；而置</a:t>
            </a:r>
            <a:r>
              <a:rPr lang="en-US" altLang="zh-CN" dirty="0">
                <a:highlight>
                  <a:srgbClr val="FFFF00"/>
                </a:highlight>
              </a:rPr>
              <a:t>GPIOD-&gt;BSRR</a:t>
            </a:r>
            <a:r>
              <a:rPr lang="zh-CN" altLang="en-US" dirty="0">
                <a:highlight>
                  <a:srgbClr val="FFFF00"/>
                </a:highlight>
              </a:rPr>
              <a:t>高</a:t>
            </a:r>
            <a:r>
              <a:rPr lang="en-US" altLang="zh-CN" dirty="0">
                <a:highlight>
                  <a:srgbClr val="FFFF00"/>
                </a:highlight>
              </a:rPr>
              <a:t>16</a:t>
            </a:r>
            <a:r>
              <a:rPr lang="zh-CN" altLang="en-US" dirty="0">
                <a:highlight>
                  <a:srgbClr val="FFFF00"/>
                </a:highlight>
              </a:rPr>
              <a:t>位</a:t>
            </a:r>
          </a:p>
          <a:p>
            <a:pPr>
              <a:lnSpc>
                <a:spcPct val="150000"/>
              </a:lnSpc>
            </a:pPr>
            <a:r>
              <a:rPr lang="zh-CN" altLang="en-US" dirty="0">
                <a:highlight>
                  <a:srgbClr val="FFFF00"/>
                </a:highlight>
              </a:rPr>
              <a:t>的某位为</a:t>
            </a:r>
            <a:r>
              <a:rPr lang="en-US" altLang="zh-CN" dirty="0">
                <a:highlight>
                  <a:srgbClr val="FFFF00"/>
                </a:highlight>
              </a:rPr>
              <a:t>'0'</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端口不变。</a:t>
            </a:r>
          </a:p>
          <a:p>
            <a:pPr>
              <a:lnSpc>
                <a:spcPct val="150000"/>
              </a:lnSpc>
              <a:buClr>
                <a:srgbClr val="00B0F0"/>
              </a:buClr>
              <a:buFont typeface="Wingdings" pitchFamily="2" charset="2"/>
              <a:buChar char="u"/>
            </a:pPr>
            <a:r>
              <a:rPr lang="zh-CN" altLang="en-US" dirty="0">
                <a:highlight>
                  <a:srgbClr val="FFFF00"/>
                </a:highlight>
              </a:rPr>
              <a:t>三、置</a:t>
            </a:r>
            <a:r>
              <a:rPr lang="en-US" altLang="zh-CN" dirty="0">
                <a:highlight>
                  <a:srgbClr val="FFFF00"/>
                </a:highlight>
              </a:rPr>
              <a:t>GPIOD-&gt;BRR</a:t>
            </a:r>
            <a:r>
              <a:rPr lang="zh-CN" altLang="en-US" dirty="0">
                <a:highlight>
                  <a:srgbClr val="FFFF00"/>
                </a:highlight>
              </a:rPr>
              <a:t>低</a:t>
            </a:r>
            <a:r>
              <a:rPr lang="en-US" altLang="zh-CN" dirty="0">
                <a:highlight>
                  <a:srgbClr val="FFFF00"/>
                </a:highlight>
              </a:rPr>
              <a:t>16</a:t>
            </a:r>
            <a:r>
              <a:rPr lang="zh-CN" altLang="en-US" dirty="0">
                <a:highlight>
                  <a:srgbClr val="FFFF00"/>
                </a:highlight>
              </a:rPr>
              <a:t>位的某位为</a:t>
            </a:r>
            <a:r>
              <a:rPr lang="en-US" altLang="zh-CN" dirty="0">
                <a:highlight>
                  <a:srgbClr val="FFFF00"/>
                </a:highlight>
              </a:rPr>
              <a:t>'1'</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端口置</a:t>
            </a:r>
            <a:r>
              <a:rPr lang="en-US" altLang="zh-CN" dirty="0">
                <a:highlight>
                  <a:srgbClr val="FFFF00"/>
                </a:highlight>
              </a:rPr>
              <a:t>'0'</a:t>
            </a:r>
            <a:r>
              <a:rPr lang="zh-CN" altLang="en-US" dirty="0">
                <a:highlight>
                  <a:srgbClr val="FFFF00"/>
                </a:highlight>
              </a:rPr>
              <a:t>；而置</a:t>
            </a:r>
            <a:r>
              <a:rPr lang="en-US" altLang="zh-CN" dirty="0">
                <a:highlight>
                  <a:srgbClr val="FFFF00"/>
                </a:highlight>
              </a:rPr>
              <a:t>GPIOD-&gt;BRR</a:t>
            </a:r>
            <a:r>
              <a:rPr lang="zh-CN" altLang="en-US" dirty="0">
                <a:highlight>
                  <a:srgbClr val="FFFF00"/>
                </a:highlight>
              </a:rPr>
              <a:t>低</a:t>
            </a:r>
            <a:r>
              <a:rPr lang="en-US" altLang="zh-CN" dirty="0">
                <a:highlight>
                  <a:srgbClr val="FFFF00"/>
                </a:highlight>
              </a:rPr>
              <a:t>16</a:t>
            </a:r>
            <a:r>
              <a:rPr lang="zh-CN" altLang="en-US" dirty="0">
                <a:highlight>
                  <a:srgbClr val="FFFF00"/>
                </a:highlight>
              </a:rPr>
              <a:t>位的</a:t>
            </a:r>
          </a:p>
          <a:p>
            <a:pPr>
              <a:lnSpc>
                <a:spcPct val="150000"/>
              </a:lnSpc>
            </a:pPr>
            <a:r>
              <a:rPr lang="zh-CN" altLang="en-US" dirty="0">
                <a:highlight>
                  <a:srgbClr val="FFFF00"/>
                </a:highlight>
              </a:rPr>
              <a:t>某位为</a:t>
            </a:r>
            <a:r>
              <a:rPr lang="en-US" altLang="zh-CN" dirty="0">
                <a:highlight>
                  <a:srgbClr val="FFFF00"/>
                </a:highlight>
              </a:rPr>
              <a:t>'0'</a:t>
            </a:r>
            <a:r>
              <a:rPr lang="zh-CN" altLang="en-US" dirty="0">
                <a:highlight>
                  <a:srgbClr val="FFFF00"/>
                </a:highlight>
              </a:rPr>
              <a:t>，则对应的</a:t>
            </a:r>
            <a:r>
              <a:rPr lang="en-US" altLang="zh-CN" dirty="0">
                <a:highlight>
                  <a:srgbClr val="FFFF00"/>
                </a:highlight>
              </a:rPr>
              <a:t>I/O</a:t>
            </a:r>
            <a:r>
              <a:rPr lang="zh-CN" altLang="en-US" dirty="0">
                <a:highlight>
                  <a:srgbClr val="FFFF00"/>
                </a:highlight>
              </a:rPr>
              <a:t>端口不变。</a:t>
            </a:r>
          </a:p>
          <a:p>
            <a:pPr>
              <a:lnSpc>
                <a:spcPct val="150000"/>
              </a:lnSpc>
            </a:pP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a:lnSpc>
                <a:spcPct val="90000"/>
              </a:lnSpc>
              <a:spcBef>
                <a:spcPct val="0"/>
              </a:spcBef>
              <a:defRPr/>
            </a:pPr>
            <a:r>
              <a:rPr lang="en-US" altLang="zh-CN" sz="2800" b="1" dirty="0">
                <a:solidFill>
                  <a:srgbClr val="14529E"/>
                </a:solidFill>
              </a:rPr>
              <a:t>5.3 GPIO</a:t>
            </a:r>
            <a:r>
              <a:rPr lang="zh-CN" altLang="en-US" sz="2800" b="1" dirty="0">
                <a:solidFill>
                  <a:srgbClr val="14529E"/>
                </a:solidFill>
              </a:rPr>
              <a:t>库函数</a:t>
            </a:r>
          </a:p>
        </p:txBody>
      </p:sp>
      <p:sp>
        <p:nvSpPr>
          <p:cNvPr id="147457" name="Rectangle 1"/>
          <p:cNvSpPr>
            <a:spLocks noChangeArrowheads="1"/>
          </p:cNvSpPr>
          <p:nvPr/>
        </p:nvSpPr>
        <p:spPr bwMode="auto">
          <a:xfrm>
            <a:off x="587827" y="1327353"/>
            <a:ext cx="10674222"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a:solidFill>
                  <a:srgbClr val="7030A0"/>
                </a:solidFill>
              </a:rPr>
              <a:t>例：</a:t>
            </a:r>
            <a:r>
              <a:rPr lang="zh-CN" altLang="en-US" sz="2000" dirty="0"/>
              <a:t>      </a:t>
            </a:r>
            <a:endParaRPr lang="en-US" altLang="zh-CN" sz="2000" dirty="0"/>
          </a:p>
          <a:p>
            <a:pPr>
              <a:lnSpc>
                <a:spcPct val="150000"/>
              </a:lnSpc>
            </a:pPr>
            <a:r>
              <a:rPr lang="zh-CN" altLang="en-US" sz="2000" dirty="0"/>
              <a:t>点灯是所有学单片机的人都应该学会的第一项技能。</a:t>
            </a:r>
            <a:r>
              <a:rPr lang="en-US" altLang="zh-CN" sz="2000" dirty="0"/>
              <a:t>51</a:t>
            </a:r>
            <a:r>
              <a:rPr lang="zh-CN" altLang="en-US" sz="2000" dirty="0"/>
              <a:t>单片机的点灯是，通过控制寄存器将片外引脚拉低拉高，输出高低电平，以控制</a:t>
            </a:r>
            <a:r>
              <a:rPr lang="en-US" altLang="zh-CN" sz="2000" dirty="0"/>
              <a:t>LED</a:t>
            </a:r>
            <a:r>
              <a:rPr lang="zh-CN" altLang="en-US" sz="2000" dirty="0"/>
              <a:t>亮灭。</a:t>
            </a:r>
          </a:p>
          <a:p>
            <a:pPr>
              <a:lnSpc>
                <a:spcPct val="150000"/>
              </a:lnSpc>
            </a:pPr>
            <a:r>
              <a:rPr lang="en-US" altLang="zh-CN" sz="2000" b="1" dirty="0">
                <a:solidFill>
                  <a:srgbClr val="FF0000"/>
                </a:solidFill>
              </a:rPr>
              <a:t>51</a:t>
            </a:r>
            <a:r>
              <a:rPr lang="zh-CN" altLang="en-US" sz="2000" b="1" dirty="0">
                <a:solidFill>
                  <a:srgbClr val="FF0000"/>
                </a:solidFill>
              </a:rPr>
              <a:t>过程：</a:t>
            </a:r>
            <a:r>
              <a:rPr lang="zh-CN" altLang="en-US" sz="2000" dirty="0"/>
              <a:t>单片机给指令</a:t>
            </a:r>
            <a:r>
              <a:rPr lang="en-US" altLang="zh-CN" sz="2000" dirty="0"/>
              <a:t>-&gt;</a:t>
            </a:r>
            <a:r>
              <a:rPr lang="zh-CN" altLang="en-US" sz="2000" dirty="0"/>
              <a:t>控制寄存器</a:t>
            </a:r>
            <a:r>
              <a:rPr lang="en-US" altLang="zh-CN" sz="2000" dirty="0"/>
              <a:t>-&gt;</a:t>
            </a:r>
            <a:r>
              <a:rPr lang="zh-CN" altLang="en-US" sz="2000" dirty="0"/>
              <a:t>给</a:t>
            </a:r>
            <a:r>
              <a:rPr lang="en-US" altLang="zh-CN" sz="2000" dirty="0"/>
              <a:t>IO</a:t>
            </a:r>
            <a:r>
              <a:rPr lang="zh-CN" altLang="en-US" sz="2000" dirty="0"/>
              <a:t>口电平</a:t>
            </a:r>
            <a:r>
              <a:rPr lang="en-US" altLang="zh-CN" sz="2000" dirty="0"/>
              <a:t>-&gt;</a:t>
            </a:r>
            <a:r>
              <a:rPr lang="zh-CN" altLang="en-US" sz="2000" dirty="0"/>
              <a:t>控制</a:t>
            </a:r>
            <a:r>
              <a:rPr lang="en-US" altLang="zh-CN" sz="2000" dirty="0"/>
              <a:t>LED</a:t>
            </a:r>
            <a:r>
              <a:rPr lang="zh-CN" altLang="en-US" sz="2000" dirty="0"/>
              <a:t>亮灭</a:t>
            </a:r>
          </a:p>
          <a:p>
            <a:pPr>
              <a:lnSpc>
                <a:spcPct val="150000"/>
              </a:lnSpc>
            </a:pPr>
            <a:r>
              <a:rPr lang="en-US" altLang="zh-CN" sz="2000" b="1" dirty="0">
                <a:solidFill>
                  <a:srgbClr val="FF0000"/>
                </a:solidFill>
              </a:rPr>
              <a:t>stm32</a:t>
            </a:r>
            <a:r>
              <a:rPr lang="zh-CN" altLang="en-US" sz="2000" b="1" dirty="0">
                <a:solidFill>
                  <a:srgbClr val="FF0000"/>
                </a:solidFill>
              </a:rPr>
              <a:t>过程：</a:t>
            </a:r>
            <a:r>
              <a:rPr lang="zh-CN" altLang="en-US" sz="2000" dirty="0"/>
              <a:t>通过使能外设</a:t>
            </a:r>
            <a:r>
              <a:rPr lang="en-US" altLang="zh-CN" sz="2000" dirty="0"/>
              <a:t>GPIO</a:t>
            </a:r>
            <a:r>
              <a:rPr lang="zh-CN" altLang="en-US" sz="2000" dirty="0"/>
              <a:t>时钟，发出指令给外设</a:t>
            </a:r>
            <a:r>
              <a:rPr lang="en-US" altLang="zh-CN" sz="2000" dirty="0"/>
              <a:t>GPIO</a:t>
            </a:r>
            <a:r>
              <a:rPr lang="zh-CN" altLang="en-US" sz="2000" dirty="0"/>
              <a:t>，外设</a:t>
            </a:r>
            <a:r>
              <a:rPr lang="en-US" altLang="zh-CN" sz="2000" dirty="0"/>
              <a:t>GPIO</a:t>
            </a:r>
            <a:r>
              <a:rPr lang="zh-CN" altLang="en-US" sz="2000" dirty="0"/>
              <a:t>收到指令后，着手配置自己的寄存器，然后给</a:t>
            </a:r>
            <a:r>
              <a:rPr lang="en-US" altLang="zh-CN" sz="2000" dirty="0"/>
              <a:t>IO</a:t>
            </a:r>
            <a:r>
              <a:rPr lang="zh-CN" altLang="en-US" sz="2000" dirty="0"/>
              <a:t>口模式，让其实现各种功能。</a:t>
            </a:r>
          </a:p>
          <a:p>
            <a:pPr>
              <a:lnSpc>
                <a:spcPct val="150000"/>
              </a:lnSpc>
            </a:pPr>
            <a:r>
              <a:rPr lang="en-US" altLang="zh-CN" sz="2000" dirty="0"/>
              <a:t>CPU</a:t>
            </a:r>
            <a:r>
              <a:rPr lang="zh-CN" altLang="en-US" sz="2000" dirty="0"/>
              <a:t>给指令</a:t>
            </a:r>
            <a:r>
              <a:rPr lang="en-US" altLang="zh-CN" sz="2000" dirty="0"/>
              <a:t>-&gt;GPIO</a:t>
            </a:r>
            <a:r>
              <a:rPr lang="zh-CN" altLang="en-US" sz="2000" dirty="0"/>
              <a:t>收到指令</a:t>
            </a:r>
            <a:r>
              <a:rPr lang="en-US" altLang="zh-CN" sz="2000" dirty="0"/>
              <a:t>-&gt;</a:t>
            </a:r>
            <a:r>
              <a:rPr lang="zh-CN" altLang="en-US" sz="2000" dirty="0"/>
              <a:t>配置内部寄存器</a:t>
            </a:r>
            <a:r>
              <a:rPr lang="en-US" altLang="zh-CN" sz="2000" dirty="0"/>
              <a:t>-&gt;</a:t>
            </a:r>
            <a:r>
              <a:rPr lang="zh-CN" altLang="en-US" sz="2000" dirty="0"/>
              <a:t>配置</a:t>
            </a:r>
            <a:r>
              <a:rPr lang="en-US" altLang="zh-CN" sz="2000" dirty="0"/>
              <a:t>IO</a:t>
            </a:r>
            <a:r>
              <a:rPr lang="zh-CN" altLang="en-US" sz="2000" dirty="0"/>
              <a:t>口模式（注意是模式）</a:t>
            </a:r>
            <a:r>
              <a:rPr lang="en-US" altLang="zh-CN" sz="2000" dirty="0"/>
              <a:t>-&gt;</a:t>
            </a:r>
            <a:r>
              <a:rPr lang="zh-CN" altLang="en-US" sz="2000" dirty="0"/>
              <a:t>控制</a:t>
            </a:r>
            <a:r>
              <a:rPr lang="en-US" altLang="zh-CN" sz="2000" dirty="0"/>
              <a:t>LED</a:t>
            </a:r>
            <a:r>
              <a:rPr lang="zh-CN" altLang="en-US" sz="2000" dirty="0"/>
              <a:t>亮灭。</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22039" y="321821"/>
            <a:ext cx="10192139" cy="7059881"/>
          </a:xfrm>
          <a:prstGeom prst="rect">
            <a:avLst/>
          </a:prstGeom>
        </p:spPr>
        <p:txBody>
          <a:bodyPr wrap="square">
            <a:spAutoFit/>
          </a:bodyPr>
          <a:lstStyle/>
          <a:p>
            <a:pPr>
              <a:lnSpc>
                <a:spcPct val="150000"/>
              </a:lnSpc>
            </a:pPr>
            <a:r>
              <a:rPr lang="en-US" sz="1600" dirty="0"/>
              <a:t>void </a:t>
            </a:r>
            <a:r>
              <a:rPr lang="en-US" sz="1600" dirty="0" err="1"/>
              <a:t>led_init</a:t>
            </a:r>
            <a:r>
              <a:rPr lang="en-US" sz="1600" dirty="0"/>
              <a:t>(void)</a:t>
            </a:r>
          </a:p>
          <a:p>
            <a:pPr>
              <a:lnSpc>
                <a:spcPct val="150000"/>
              </a:lnSpc>
            </a:pPr>
            <a:r>
              <a:rPr lang="en-US" sz="1600" dirty="0"/>
              <a:t>{</a:t>
            </a:r>
          </a:p>
          <a:p>
            <a:pPr>
              <a:lnSpc>
                <a:spcPct val="150000"/>
              </a:lnSpc>
            </a:pPr>
            <a:r>
              <a:rPr lang="en-US" sz="1600" dirty="0" err="1"/>
              <a:t>GPIO_InitTypeDef</a:t>
            </a:r>
            <a:r>
              <a:rPr lang="en-US" sz="1600" dirty="0"/>
              <a:t>  </a:t>
            </a:r>
            <a:r>
              <a:rPr lang="en-US" sz="1600" dirty="0" err="1"/>
              <a:t>GPIO_InitStruct</a:t>
            </a:r>
            <a:r>
              <a:rPr lang="en-US" sz="1600" dirty="0"/>
              <a:t>;                    //</a:t>
            </a:r>
            <a:r>
              <a:rPr lang="zh-CN" altLang="en-US" sz="1600" dirty="0"/>
              <a:t>定义初始化结构体</a:t>
            </a:r>
          </a:p>
          <a:p>
            <a:pPr>
              <a:lnSpc>
                <a:spcPct val="150000"/>
              </a:lnSpc>
            </a:pPr>
            <a:r>
              <a:rPr lang="en-US" sz="1600" dirty="0"/>
              <a:t>RCC_APB2PeriphClockCmd(RCC_APB2Periph_GPIOA,ENABLE); //</a:t>
            </a:r>
            <a:r>
              <a:rPr lang="zh-CN" altLang="en-US" sz="1600" dirty="0"/>
              <a:t>使能</a:t>
            </a:r>
            <a:r>
              <a:rPr lang="en-US" sz="1600" dirty="0"/>
              <a:t>GPIOA</a:t>
            </a:r>
            <a:r>
              <a:rPr lang="zh-CN" altLang="en-US" sz="1600" dirty="0"/>
              <a:t>时钟</a:t>
            </a:r>
          </a:p>
          <a:p>
            <a:pPr>
              <a:lnSpc>
                <a:spcPct val="150000"/>
              </a:lnSpc>
            </a:pPr>
            <a:r>
              <a:rPr lang="zh-CN" altLang="en-US" sz="1600" dirty="0"/>
              <a:t> </a:t>
            </a:r>
          </a:p>
          <a:p>
            <a:pPr>
              <a:lnSpc>
                <a:spcPct val="150000"/>
              </a:lnSpc>
            </a:pPr>
            <a:r>
              <a:rPr lang="en-US" sz="1600" dirty="0" err="1"/>
              <a:t>GPIO_InitStruct.GPIO_Mode</a:t>
            </a:r>
            <a:r>
              <a:rPr lang="en-US" sz="1600" dirty="0"/>
              <a:t>    = </a:t>
            </a:r>
            <a:r>
              <a:rPr lang="en-US" sz="1600" dirty="0" err="1"/>
              <a:t>GPIO_Mode_Out_PP</a:t>
            </a:r>
            <a:r>
              <a:rPr lang="en-US" sz="1600" dirty="0"/>
              <a:t>;     //</a:t>
            </a:r>
            <a:r>
              <a:rPr lang="zh-CN" altLang="en-US" sz="1600" dirty="0"/>
              <a:t>配置模式</a:t>
            </a:r>
          </a:p>
          <a:p>
            <a:pPr>
              <a:lnSpc>
                <a:spcPct val="150000"/>
              </a:lnSpc>
            </a:pPr>
            <a:r>
              <a:rPr lang="en-US" sz="1600" dirty="0" err="1"/>
              <a:t>GPIO_InitStruct.GPIO_Pin</a:t>
            </a:r>
            <a:r>
              <a:rPr lang="en-US" sz="1600" dirty="0"/>
              <a:t>     = GPIO_Pin_0;           //</a:t>
            </a:r>
            <a:r>
              <a:rPr lang="zh-CN" altLang="en-US" sz="1600" dirty="0"/>
              <a:t>配置哪个</a:t>
            </a:r>
            <a:r>
              <a:rPr lang="en-US" sz="1600" dirty="0"/>
              <a:t>IO</a:t>
            </a:r>
            <a:r>
              <a:rPr lang="zh-CN" altLang="en-US" sz="1600" dirty="0"/>
              <a:t>口</a:t>
            </a:r>
          </a:p>
          <a:p>
            <a:pPr>
              <a:lnSpc>
                <a:spcPct val="150000"/>
              </a:lnSpc>
            </a:pPr>
            <a:r>
              <a:rPr lang="en-US" sz="1600" dirty="0" err="1"/>
              <a:t>GPIO_InitStruct.GPIO_Speed</a:t>
            </a:r>
            <a:r>
              <a:rPr lang="en-US" sz="1600" dirty="0"/>
              <a:t>   = GPIO_Speed_50MHz;     //</a:t>
            </a:r>
            <a:r>
              <a:rPr lang="zh-CN" altLang="en-US" sz="1600" dirty="0"/>
              <a:t>配置</a:t>
            </a:r>
            <a:r>
              <a:rPr lang="en-US" sz="1600" dirty="0"/>
              <a:t>IO</a:t>
            </a:r>
            <a:r>
              <a:rPr lang="zh-CN" altLang="en-US" sz="1600" dirty="0"/>
              <a:t>口速度</a:t>
            </a:r>
            <a:r>
              <a:rPr lang="en-US" altLang="zh-CN" sz="1600" dirty="0"/>
              <a:t>,</a:t>
            </a:r>
            <a:r>
              <a:rPr lang="zh-CN" altLang="en-US" sz="1600" dirty="0"/>
              <a:t>仅输出有效</a:t>
            </a:r>
          </a:p>
          <a:p>
            <a:pPr>
              <a:lnSpc>
                <a:spcPct val="150000"/>
              </a:lnSpc>
            </a:pPr>
            <a:r>
              <a:rPr lang="en-US" sz="1600" dirty="0" err="1"/>
              <a:t>GPIO_Init</a:t>
            </a:r>
            <a:r>
              <a:rPr lang="en-US" sz="1600" dirty="0"/>
              <a:t>(</a:t>
            </a:r>
            <a:r>
              <a:rPr lang="en-US" sz="1600" dirty="0" err="1"/>
              <a:t>GPIOA,&amp;GPIO_InitStruct</a:t>
            </a:r>
            <a:r>
              <a:rPr lang="en-US" sz="1600" dirty="0"/>
              <a:t>);                   //</a:t>
            </a:r>
            <a:r>
              <a:rPr lang="zh-CN" altLang="en-US" sz="1600" dirty="0"/>
              <a:t>初始化</a:t>
            </a:r>
            <a:r>
              <a:rPr lang="en-US" sz="1600" dirty="0"/>
              <a:t>GPIOA</a:t>
            </a:r>
            <a:r>
              <a:rPr lang="zh-CN" altLang="en-US" sz="1600" dirty="0"/>
              <a:t>的参数为以上结构体</a:t>
            </a:r>
          </a:p>
          <a:p>
            <a:pPr>
              <a:lnSpc>
                <a:spcPct val="150000"/>
              </a:lnSpc>
            </a:pPr>
            <a:r>
              <a:rPr lang="en-US" altLang="zh-CN" sz="1600" dirty="0"/>
              <a:t>}</a:t>
            </a:r>
          </a:p>
          <a:p>
            <a:pPr>
              <a:lnSpc>
                <a:spcPct val="150000"/>
              </a:lnSpc>
            </a:pPr>
            <a:r>
              <a:rPr lang="en-US" sz="1600" dirty="0"/>
              <a:t>main( )</a:t>
            </a:r>
          </a:p>
          <a:p>
            <a:pPr>
              <a:lnSpc>
                <a:spcPct val="150000"/>
              </a:lnSpc>
            </a:pPr>
            <a:r>
              <a:rPr lang="en-US" sz="1600" dirty="0"/>
              <a:t>{</a:t>
            </a:r>
          </a:p>
          <a:p>
            <a:pPr>
              <a:lnSpc>
                <a:spcPct val="150000"/>
              </a:lnSpc>
            </a:pPr>
            <a:r>
              <a:rPr lang="en-US" sz="1600" dirty="0" err="1"/>
              <a:t>led_init</a:t>
            </a:r>
            <a:r>
              <a:rPr lang="en-US" sz="1600" dirty="0"/>
              <a:t>(void); //</a:t>
            </a:r>
            <a:r>
              <a:rPr lang="zh-CN" altLang="en-US" sz="1600" dirty="0"/>
              <a:t>调用</a:t>
            </a:r>
            <a:r>
              <a:rPr lang="en-US" sz="1600" dirty="0"/>
              <a:t>LED</a:t>
            </a:r>
            <a:r>
              <a:rPr lang="zh-CN" altLang="en-US" sz="1600" dirty="0"/>
              <a:t>初始化函数</a:t>
            </a:r>
          </a:p>
          <a:p>
            <a:pPr>
              <a:lnSpc>
                <a:spcPct val="150000"/>
              </a:lnSpc>
            </a:pPr>
            <a:r>
              <a:rPr lang="en-US" sz="1600" dirty="0" err="1"/>
              <a:t>GPIO_ResetBits</a:t>
            </a:r>
            <a:r>
              <a:rPr lang="en-US" sz="1600" dirty="0"/>
              <a:t>(GPIOA,GPIO_Pin_0) //</a:t>
            </a:r>
            <a:r>
              <a:rPr lang="zh-CN" altLang="en-US" sz="1600" dirty="0"/>
              <a:t>拉低电平</a:t>
            </a:r>
          </a:p>
          <a:p>
            <a:pPr>
              <a:lnSpc>
                <a:spcPct val="150000"/>
              </a:lnSpc>
            </a:pPr>
            <a:r>
              <a:rPr lang="en-US" sz="1600" dirty="0" err="1"/>
              <a:t>GPIO_SetBits</a:t>
            </a:r>
            <a:r>
              <a:rPr lang="en-US" sz="1600" dirty="0"/>
              <a:t>(GPIOA,GPIO_Pin_0) //</a:t>
            </a:r>
            <a:r>
              <a:rPr lang="zh-CN" altLang="en-US" sz="1600" dirty="0"/>
              <a:t>拉高电平</a:t>
            </a:r>
          </a:p>
          <a:p>
            <a:pPr>
              <a:lnSpc>
                <a:spcPct val="150000"/>
              </a:lnSpc>
            </a:pPr>
            <a:r>
              <a:rPr lang="en-US" sz="1600" dirty="0"/>
              <a:t>while(1); //</a:t>
            </a:r>
            <a:r>
              <a:rPr lang="zh-CN" altLang="en-US" sz="1600" dirty="0"/>
              <a:t>死循环</a:t>
            </a:r>
            <a:r>
              <a:rPr lang="en-US" altLang="zh-CN" sz="1600" dirty="0"/>
              <a:t>(</a:t>
            </a:r>
            <a:r>
              <a:rPr lang="zh-CN" altLang="en-US" sz="1600" dirty="0"/>
              <a:t>停止程序</a:t>
            </a:r>
            <a:r>
              <a:rPr lang="en-US" altLang="zh-CN" sz="1600" dirty="0"/>
              <a:t>)</a:t>
            </a:r>
          </a:p>
          <a:p>
            <a:pPr>
              <a:lnSpc>
                <a:spcPct val="150000"/>
              </a:lnSpc>
            </a:pPr>
            <a:r>
              <a:rPr lang="en-US" altLang="zh-CN" sz="1600" dirty="0"/>
              <a:t>}</a:t>
            </a:r>
          </a:p>
          <a:p>
            <a:pPr>
              <a:lnSpc>
                <a:spcPct val="150000"/>
              </a:lnSpc>
            </a:pPr>
            <a:endParaRPr lang="en-US" altLang="zh-CN" sz="1600" dirty="0"/>
          </a:p>
          <a:p>
            <a:pPr>
              <a:lnSpc>
                <a:spcPct val="150000"/>
              </a:lnSpc>
            </a:pP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a:spLocks/>
          </p:cNvSpPr>
          <p:nvPr/>
        </p:nvSpPr>
        <p:spPr>
          <a:xfrm>
            <a:off x="630748" y="436783"/>
            <a:ext cx="10058400" cy="4023360"/>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99329" name="Rectangle 1"/>
          <p:cNvSpPr>
            <a:spLocks noChangeArrowheads="1"/>
          </p:cNvSpPr>
          <p:nvPr/>
        </p:nvSpPr>
        <p:spPr bwMode="auto">
          <a:xfrm>
            <a:off x="429209" y="503834"/>
            <a:ext cx="11467719" cy="500361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400" b="1" dirty="0">
                <a:solidFill>
                  <a:srgbClr val="C00000"/>
                </a:solidFill>
              </a:rPr>
              <a:t>步骤：</a:t>
            </a:r>
          </a:p>
          <a:p>
            <a:pPr>
              <a:lnSpc>
                <a:spcPct val="150000"/>
              </a:lnSpc>
            </a:pPr>
            <a:r>
              <a:rPr lang="en-US" altLang="zh-CN" sz="2400" dirty="0"/>
              <a:t>1</a:t>
            </a:r>
            <a:r>
              <a:rPr lang="zh-CN" altLang="en-US" sz="2400" dirty="0"/>
              <a:t>、首先必须先使能时钟，</a:t>
            </a:r>
            <a:br>
              <a:rPr lang="zh-CN" altLang="en-US" sz="2400" dirty="0"/>
            </a:br>
            <a:r>
              <a:rPr lang="en-US" altLang="zh-CN" sz="2400" dirty="0"/>
              <a:t>2</a:t>
            </a:r>
            <a:r>
              <a:rPr lang="zh-CN" altLang="en-US" sz="2400" dirty="0"/>
              <a:t>、定义初始化结构体，结构体是</a:t>
            </a:r>
            <a:r>
              <a:rPr lang="zh-CN" altLang="en-US" sz="2400" u="sng" dirty="0"/>
              <a:t>外设的初始化参数</a:t>
            </a:r>
            <a:r>
              <a:rPr lang="zh-CN" altLang="en-US" sz="2400" dirty="0"/>
              <a:t>。</a:t>
            </a:r>
            <a:br>
              <a:rPr lang="zh-CN" altLang="en-US" sz="2400" dirty="0"/>
            </a:br>
            <a:r>
              <a:rPr lang="en-US" altLang="zh-CN" sz="2400" dirty="0"/>
              <a:t>3</a:t>
            </a:r>
            <a:r>
              <a:rPr lang="zh-CN" altLang="en-US" sz="2400" dirty="0"/>
              <a:t>、初始化结构体中的参数。</a:t>
            </a:r>
          </a:p>
          <a:p>
            <a:pPr>
              <a:lnSpc>
                <a:spcPct val="150000"/>
              </a:lnSpc>
            </a:pPr>
            <a:r>
              <a:rPr lang="en-US" altLang="zh-CN" sz="2400" dirty="0"/>
              <a:t>3</a:t>
            </a:r>
            <a:r>
              <a:rPr lang="zh-CN" altLang="en-US" sz="2400" dirty="0"/>
              <a:t>、调用外设初始化函数，初始化函数也是在官方库函数的对应头文件里。比如找</a:t>
            </a:r>
            <a:r>
              <a:rPr lang="en-US" altLang="zh-CN" sz="2400" dirty="0"/>
              <a:t>GPIO</a:t>
            </a:r>
            <a:r>
              <a:rPr lang="zh-CN" altLang="en-US" sz="2400" dirty="0"/>
              <a:t>函数则应该在“</a:t>
            </a:r>
            <a:r>
              <a:rPr lang="en-US" altLang="zh-CN" sz="2400" dirty="0"/>
              <a:t>stm32f10x_gpio.h”</a:t>
            </a:r>
            <a:r>
              <a:rPr lang="zh-CN" altLang="en-US" sz="2400" dirty="0"/>
              <a:t>里。</a:t>
            </a:r>
          </a:p>
          <a:p>
            <a:pPr>
              <a:lnSpc>
                <a:spcPct val="150000"/>
              </a:lnSpc>
            </a:pPr>
            <a:r>
              <a:rPr lang="en-US" altLang="zh-CN" sz="2400" dirty="0"/>
              <a:t>4</a:t>
            </a:r>
            <a:r>
              <a:rPr lang="zh-CN" altLang="en-US" sz="2400" dirty="0"/>
              <a:t>、初始化完成后，在主函数中调用初始化函数，再调用官方库函数，即可进行相应的操作。</a:t>
            </a:r>
          </a:p>
          <a:p>
            <a:pPr>
              <a:lnSpc>
                <a:spcPct val="150000"/>
              </a:lnSpc>
            </a:pPr>
            <a:endParaRPr lang="en-US" sz="24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42595" y="321564"/>
            <a:ext cx="11448661" cy="6001643"/>
          </a:xfrm>
          <a:prstGeom prst="rect">
            <a:avLst/>
          </a:prstGeom>
        </p:spPr>
        <p:txBody>
          <a:bodyPr wrap="square">
            <a:spAutoFit/>
          </a:bodyPr>
          <a:lstStyle/>
          <a:p>
            <a:pPr>
              <a:lnSpc>
                <a:spcPct val="150000"/>
              </a:lnSpc>
            </a:pPr>
            <a:r>
              <a:rPr lang="en-US" b="1" dirty="0">
                <a:solidFill>
                  <a:srgbClr val="C00000"/>
                </a:solidFill>
              </a:rPr>
              <a:t>1.void  </a:t>
            </a:r>
            <a:r>
              <a:rPr lang="en-US" b="1" dirty="0" err="1">
                <a:solidFill>
                  <a:srgbClr val="C00000"/>
                </a:solidFill>
              </a:rPr>
              <a:t>GPIO_Init</a:t>
            </a:r>
            <a:r>
              <a:rPr lang="en-US" b="1" dirty="0">
                <a:solidFill>
                  <a:srgbClr val="C00000"/>
                </a:solidFill>
              </a:rPr>
              <a:t>  (</a:t>
            </a:r>
            <a:r>
              <a:rPr lang="en-US" b="1" dirty="0" err="1">
                <a:solidFill>
                  <a:srgbClr val="C00000"/>
                </a:solidFill>
              </a:rPr>
              <a:t>GPIO_TypeDef</a:t>
            </a:r>
            <a:r>
              <a:rPr lang="en-US" b="1" dirty="0">
                <a:solidFill>
                  <a:srgbClr val="C00000"/>
                </a:solidFill>
              </a:rPr>
              <a:t>* </a:t>
            </a:r>
            <a:r>
              <a:rPr lang="en-US" b="1" dirty="0" err="1">
                <a:solidFill>
                  <a:srgbClr val="C00000"/>
                </a:solidFill>
              </a:rPr>
              <a:t>GPIOx，GPIO_InitTypeDef</a:t>
            </a:r>
            <a:r>
              <a:rPr lang="en-US" b="1" dirty="0">
                <a:solidFill>
                  <a:srgbClr val="C00000"/>
                </a:solidFill>
              </a:rPr>
              <a:t>* </a:t>
            </a:r>
            <a:r>
              <a:rPr lang="en-US" b="1" dirty="0" err="1">
                <a:solidFill>
                  <a:srgbClr val="C00000"/>
                </a:solidFill>
              </a:rPr>
              <a:t>GPIO_InitStruct</a:t>
            </a:r>
            <a:r>
              <a:rPr lang="en-US" b="1" dirty="0">
                <a:solidFill>
                  <a:srgbClr val="C00000"/>
                </a:solidFill>
              </a:rPr>
              <a:t>)</a:t>
            </a:r>
          </a:p>
          <a:p>
            <a:pPr>
              <a:lnSpc>
                <a:spcPct val="150000"/>
              </a:lnSpc>
            </a:pPr>
            <a:r>
              <a:rPr lang="zh-CN" altLang="en-US" sz="1400" b="1" dirty="0">
                <a:solidFill>
                  <a:srgbClr val="7030A0"/>
                </a:solidFill>
              </a:rPr>
              <a:t>函数解释：</a:t>
            </a:r>
            <a:r>
              <a:rPr lang="en-US" sz="1400" dirty="0"/>
              <a:t>GPIO</a:t>
            </a:r>
            <a:r>
              <a:rPr lang="zh-CN" altLang="en-US" sz="1400" dirty="0"/>
              <a:t>的初始化函数，该函数的作用是对</a:t>
            </a:r>
            <a:r>
              <a:rPr lang="en-US" sz="1400" dirty="0" err="1"/>
              <a:t>io</a:t>
            </a:r>
            <a:r>
              <a:rPr lang="zh-CN" altLang="en-US" sz="1400" dirty="0"/>
              <a:t>进行初始化。</a:t>
            </a:r>
          </a:p>
          <a:p>
            <a:pPr>
              <a:lnSpc>
                <a:spcPct val="150000"/>
              </a:lnSpc>
            </a:pPr>
            <a:r>
              <a:rPr lang="zh-CN" altLang="en-US" sz="1400" b="1" dirty="0">
                <a:solidFill>
                  <a:srgbClr val="7030A0"/>
                </a:solidFill>
              </a:rPr>
              <a:t>参数</a:t>
            </a:r>
            <a:r>
              <a:rPr lang="zh-CN" altLang="en-US" sz="1400" dirty="0"/>
              <a:t>（</a:t>
            </a:r>
            <a:r>
              <a:rPr lang="en-US" altLang="zh-CN" sz="1400" dirty="0"/>
              <a:t>1</a:t>
            </a:r>
            <a:r>
              <a:rPr lang="zh-CN" altLang="en-US" sz="1400" dirty="0"/>
              <a:t>）</a:t>
            </a:r>
            <a:r>
              <a:rPr lang="en-US" sz="1400" dirty="0" err="1"/>
              <a:t>GPIOx，GPIO</a:t>
            </a:r>
            <a:r>
              <a:rPr lang="zh-CN" altLang="en-US" sz="1400" dirty="0"/>
              <a:t>的分组，如 </a:t>
            </a:r>
            <a:r>
              <a:rPr lang="en-US" sz="1400" dirty="0"/>
              <a:t>GPIOA，GPIOB，GPIOC</a:t>
            </a:r>
            <a:r>
              <a:rPr lang="zh-CN" altLang="en-US" sz="1400" dirty="0"/>
              <a:t>等的宏定义。</a:t>
            </a:r>
          </a:p>
          <a:p>
            <a:pPr>
              <a:lnSpc>
                <a:spcPct val="150000"/>
              </a:lnSpc>
            </a:pPr>
            <a:r>
              <a:rPr lang="zh-CN" altLang="en-US" sz="1400" dirty="0"/>
              <a:t>      （</a:t>
            </a:r>
            <a:r>
              <a:rPr lang="en-US" altLang="zh-CN" sz="1400" dirty="0"/>
              <a:t>2</a:t>
            </a:r>
            <a:r>
              <a:rPr lang="zh-CN" altLang="en-US" sz="1400" dirty="0"/>
              <a:t>）</a:t>
            </a:r>
            <a:r>
              <a:rPr lang="en-US" sz="1400" dirty="0" err="1"/>
              <a:t>GPIO_InitStruct，GPIO</a:t>
            </a:r>
            <a:r>
              <a:rPr lang="zh-CN" altLang="en-US" sz="1400" dirty="0"/>
              <a:t>的初始化相关结构体。该结构体里的成员变量决定了我们具体的初始化参数。以下进行说明：</a:t>
            </a:r>
          </a:p>
          <a:p>
            <a:pPr>
              <a:lnSpc>
                <a:spcPct val="150000"/>
              </a:lnSpc>
            </a:pPr>
            <a:r>
              <a:rPr lang="zh-CN" altLang="en-US" sz="1400" dirty="0"/>
              <a:t> </a:t>
            </a:r>
            <a:r>
              <a:rPr lang="en-US" sz="1400" dirty="0" err="1"/>
              <a:t>GPIO_Pin</a:t>
            </a:r>
            <a:r>
              <a:rPr lang="en-US" sz="1400" dirty="0"/>
              <a:t>：</a:t>
            </a:r>
            <a:r>
              <a:rPr lang="zh-CN" altLang="en-US" sz="1400" dirty="0"/>
              <a:t>指定具体的</a:t>
            </a:r>
            <a:r>
              <a:rPr lang="en-US" sz="1400" dirty="0" err="1"/>
              <a:t>io</a:t>
            </a:r>
            <a:r>
              <a:rPr lang="zh-CN" altLang="en-US" sz="1400" dirty="0"/>
              <a:t>脚，如</a:t>
            </a:r>
            <a:r>
              <a:rPr lang="en-US" sz="1400" dirty="0"/>
              <a:t>GPIO_Pin_0，GPIO_Pin_1</a:t>
            </a:r>
            <a:r>
              <a:rPr lang="zh-CN" altLang="en-US" sz="1400" dirty="0"/>
              <a:t>这样的宏定义</a:t>
            </a:r>
            <a:r>
              <a:rPr lang="zh-CN" altLang="en-US" sz="1400" b="1" dirty="0">
                <a:solidFill>
                  <a:srgbClr val="C00000"/>
                </a:solidFill>
              </a:rPr>
              <a:t>，使用“</a:t>
            </a:r>
            <a:r>
              <a:rPr lang="en-US" altLang="zh-CN" sz="1400" b="1" dirty="0">
                <a:solidFill>
                  <a:srgbClr val="C00000"/>
                </a:solidFill>
              </a:rPr>
              <a:t>|</a:t>
            </a:r>
            <a:r>
              <a:rPr lang="zh-CN" altLang="en-US" sz="1400" b="1" dirty="0">
                <a:solidFill>
                  <a:srgbClr val="C00000"/>
                </a:solidFill>
              </a:rPr>
              <a:t>”可以一次选中多个引脚。</a:t>
            </a:r>
          </a:p>
          <a:p>
            <a:pPr>
              <a:lnSpc>
                <a:spcPct val="150000"/>
              </a:lnSpc>
            </a:pPr>
            <a:r>
              <a:rPr lang="zh-CN" altLang="en-US" sz="1400" dirty="0"/>
              <a:t> </a:t>
            </a:r>
            <a:r>
              <a:rPr lang="en-US" sz="1400" dirty="0" err="1"/>
              <a:t>GPIO_Mode</a:t>
            </a:r>
            <a:r>
              <a:rPr lang="en-US" sz="1400" dirty="0"/>
              <a:t>：</a:t>
            </a:r>
            <a:r>
              <a:rPr lang="zh-CN" altLang="en-US" sz="1400" dirty="0"/>
              <a:t>指定</a:t>
            </a:r>
            <a:r>
              <a:rPr lang="en-US" sz="1400" dirty="0"/>
              <a:t>GPIO</a:t>
            </a:r>
            <a:r>
              <a:rPr lang="zh-CN" altLang="en-US" sz="1400" dirty="0"/>
              <a:t>的模式，有八种模式：</a:t>
            </a:r>
          </a:p>
          <a:p>
            <a:pPr>
              <a:lnSpc>
                <a:spcPct val="150000"/>
              </a:lnSpc>
            </a:pPr>
            <a:r>
              <a:rPr lang="en-US" sz="1400" dirty="0"/>
              <a:t>       </a:t>
            </a:r>
            <a:r>
              <a:rPr lang="en-US" sz="1400" dirty="0" err="1"/>
              <a:t>GPIO_Mode_AIN</a:t>
            </a:r>
            <a:endParaRPr lang="en-US" sz="1400" dirty="0"/>
          </a:p>
          <a:p>
            <a:pPr>
              <a:lnSpc>
                <a:spcPct val="150000"/>
              </a:lnSpc>
            </a:pPr>
            <a:r>
              <a:rPr lang="en-US" sz="1400" dirty="0"/>
              <a:t>       </a:t>
            </a:r>
            <a:r>
              <a:rPr lang="en-US" sz="1400" dirty="0" err="1"/>
              <a:t>GPIO_Mode_IN_FLOATING</a:t>
            </a:r>
            <a:endParaRPr lang="en-US" sz="1400" dirty="0"/>
          </a:p>
          <a:p>
            <a:pPr>
              <a:lnSpc>
                <a:spcPct val="150000"/>
              </a:lnSpc>
            </a:pPr>
            <a:r>
              <a:rPr lang="en-US" sz="1400" dirty="0"/>
              <a:t>       </a:t>
            </a:r>
            <a:r>
              <a:rPr lang="en-US" sz="1400" dirty="0" err="1"/>
              <a:t>GPIO_Mode_IPD</a:t>
            </a:r>
            <a:endParaRPr lang="en-US" sz="1400" dirty="0"/>
          </a:p>
          <a:p>
            <a:pPr>
              <a:lnSpc>
                <a:spcPct val="150000"/>
              </a:lnSpc>
            </a:pPr>
            <a:r>
              <a:rPr lang="en-US" sz="1400" dirty="0"/>
              <a:t>       </a:t>
            </a:r>
            <a:r>
              <a:rPr lang="en-US" sz="1400" dirty="0" err="1"/>
              <a:t>GPIO_Mode_IPU</a:t>
            </a:r>
            <a:endParaRPr lang="en-US" sz="1400" dirty="0"/>
          </a:p>
          <a:p>
            <a:pPr>
              <a:lnSpc>
                <a:spcPct val="150000"/>
              </a:lnSpc>
            </a:pPr>
            <a:r>
              <a:rPr lang="en-US" sz="1400" dirty="0"/>
              <a:t>       </a:t>
            </a:r>
            <a:r>
              <a:rPr lang="en-US" sz="1400" dirty="0" err="1"/>
              <a:t>GPIO_Mode_Out_OD</a:t>
            </a:r>
            <a:endParaRPr lang="en-US" sz="1400" dirty="0"/>
          </a:p>
          <a:p>
            <a:pPr>
              <a:lnSpc>
                <a:spcPct val="150000"/>
              </a:lnSpc>
            </a:pPr>
            <a:r>
              <a:rPr lang="en-US" sz="1400" dirty="0"/>
              <a:t>       </a:t>
            </a:r>
            <a:r>
              <a:rPr lang="en-US" sz="1400" dirty="0" err="1"/>
              <a:t>GPIO_Mode_Out_PP</a:t>
            </a:r>
            <a:endParaRPr lang="en-US" sz="1400" dirty="0"/>
          </a:p>
          <a:p>
            <a:pPr>
              <a:lnSpc>
                <a:spcPct val="150000"/>
              </a:lnSpc>
            </a:pPr>
            <a:r>
              <a:rPr lang="en-US" sz="1400" dirty="0"/>
              <a:t>       </a:t>
            </a:r>
            <a:r>
              <a:rPr lang="en-US" sz="1400" dirty="0" err="1"/>
              <a:t>GPIO_Mode_AF_OD</a:t>
            </a:r>
            <a:endParaRPr lang="en-US" sz="1400" dirty="0"/>
          </a:p>
          <a:p>
            <a:pPr>
              <a:lnSpc>
                <a:spcPct val="150000"/>
              </a:lnSpc>
            </a:pPr>
            <a:r>
              <a:rPr lang="en-US" sz="1400" dirty="0"/>
              <a:t>       </a:t>
            </a:r>
            <a:r>
              <a:rPr lang="en-US" sz="1400" dirty="0" err="1"/>
              <a:t>GPIO_Mode_AF_PP</a:t>
            </a:r>
            <a:endParaRPr lang="en-US" sz="1400" dirty="0"/>
          </a:p>
          <a:p>
            <a:pPr>
              <a:lnSpc>
                <a:spcPct val="150000"/>
              </a:lnSpc>
            </a:pPr>
            <a:r>
              <a:rPr lang="en-US" sz="1400" dirty="0"/>
              <a:t> </a:t>
            </a:r>
            <a:r>
              <a:rPr lang="en-US" sz="1400" dirty="0" err="1"/>
              <a:t>GPIO_Speed</a:t>
            </a:r>
            <a:r>
              <a:rPr lang="en-US" sz="1400" dirty="0"/>
              <a:t>：</a:t>
            </a:r>
            <a:r>
              <a:rPr lang="zh-CN" altLang="en-US" sz="1400" dirty="0"/>
              <a:t>指定</a:t>
            </a:r>
            <a:r>
              <a:rPr lang="en-US" sz="1400" dirty="0"/>
              <a:t>IO</a:t>
            </a:r>
            <a:r>
              <a:rPr lang="zh-CN" altLang="en-US" sz="1400" dirty="0"/>
              <a:t>最快翻转速度，也就是当使用</a:t>
            </a:r>
            <a:r>
              <a:rPr lang="en-US" sz="1400" dirty="0"/>
              <a:t>IO</a:t>
            </a:r>
            <a:r>
              <a:rPr lang="zh-CN" altLang="en-US" sz="1400" dirty="0"/>
              <a:t>产生频率的最大速度。有四种模式：</a:t>
            </a:r>
          </a:p>
          <a:p>
            <a:pPr>
              <a:lnSpc>
                <a:spcPct val="150000"/>
              </a:lnSpc>
            </a:pPr>
            <a:r>
              <a:rPr lang="zh-CN" altLang="en-US" sz="1400" dirty="0"/>
              <a:t>                </a:t>
            </a:r>
            <a:r>
              <a:rPr lang="en-US" sz="1400" dirty="0"/>
              <a:t>GPIO_Speed_10MHz,</a:t>
            </a:r>
          </a:p>
          <a:p>
            <a:pPr>
              <a:lnSpc>
                <a:spcPct val="150000"/>
              </a:lnSpc>
            </a:pPr>
            <a:r>
              <a:rPr lang="en-US" sz="1400" dirty="0"/>
              <a:t>                GPIO_Speed_2MHz</a:t>
            </a:r>
          </a:p>
          <a:p>
            <a:pPr>
              <a:lnSpc>
                <a:spcPct val="150000"/>
              </a:lnSpc>
            </a:pPr>
            <a:r>
              <a:rPr lang="en-US" sz="1400" dirty="0"/>
              <a:t>                GPIO_Speed_50MHz</a:t>
            </a:r>
          </a:p>
        </p:txBody>
      </p:sp>
      <p:sp>
        <p:nvSpPr>
          <p:cNvPr id="6" name="TextBox 5"/>
          <p:cNvSpPr txBox="1"/>
          <p:nvPr/>
        </p:nvSpPr>
        <p:spPr>
          <a:xfrm>
            <a:off x="5691674" y="2146041"/>
            <a:ext cx="5756988" cy="2585323"/>
          </a:xfrm>
          <a:prstGeom prst="rect">
            <a:avLst/>
          </a:prstGeom>
          <a:noFill/>
        </p:spPr>
        <p:txBody>
          <a:bodyPr wrap="square" rtlCol="0">
            <a:spAutoFit/>
          </a:bodyPr>
          <a:lstStyle/>
          <a:p>
            <a:pPr>
              <a:lnSpc>
                <a:spcPct val="150000"/>
              </a:lnSpc>
            </a:pPr>
            <a:r>
              <a:rPr lang="en-US" altLang="zh-CN" dirty="0" err="1"/>
              <a:t>typedef</a:t>
            </a:r>
            <a:r>
              <a:rPr lang="en-US" altLang="zh-CN" dirty="0"/>
              <a:t> </a:t>
            </a:r>
            <a:r>
              <a:rPr lang="en-US" altLang="zh-CN" dirty="0" err="1"/>
              <a:t>struct</a:t>
            </a:r>
            <a:endParaRPr lang="en-US" altLang="zh-CN" dirty="0"/>
          </a:p>
          <a:p>
            <a:pPr>
              <a:lnSpc>
                <a:spcPct val="150000"/>
              </a:lnSpc>
            </a:pPr>
            <a:r>
              <a:rPr lang="en-US" altLang="zh-CN" dirty="0"/>
              <a:t>{</a:t>
            </a:r>
          </a:p>
          <a:p>
            <a:pPr>
              <a:lnSpc>
                <a:spcPct val="150000"/>
              </a:lnSpc>
            </a:pPr>
            <a:r>
              <a:rPr lang="en-US" altLang="zh-CN" dirty="0"/>
              <a:t>u16 </a:t>
            </a:r>
            <a:r>
              <a:rPr lang="en-US" altLang="zh-CN" dirty="0" err="1"/>
              <a:t>GPIO_Pin</a:t>
            </a:r>
            <a:r>
              <a:rPr lang="en-US" altLang="zh-CN" dirty="0"/>
              <a:t>;</a:t>
            </a:r>
          </a:p>
          <a:p>
            <a:pPr>
              <a:lnSpc>
                <a:spcPct val="150000"/>
              </a:lnSpc>
            </a:pPr>
            <a:r>
              <a:rPr lang="en-US" altLang="zh-CN" dirty="0" err="1"/>
              <a:t>GPIOSpeed_TypeDef</a:t>
            </a:r>
            <a:r>
              <a:rPr lang="en-US" altLang="zh-CN" dirty="0"/>
              <a:t> </a:t>
            </a:r>
            <a:r>
              <a:rPr lang="en-US" altLang="zh-CN" dirty="0" err="1"/>
              <a:t>GPIO_Speed</a:t>
            </a:r>
            <a:r>
              <a:rPr lang="en-US" altLang="zh-CN" dirty="0"/>
              <a:t>;</a:t>
            </a:r>
          </a:p>
          <a:p>
            <a:pPr>
              <a:lnSpc>
                <a:spcPct val="150000"/>
              </a:lnSpc>
            </a:pPr>
            <a:r>
              <a:rPr lang="en-US" altLang="zh-CN" dirty="0" err="1"/>
              <a:t>GPIOMode_TypeDef</a:t>
            </a:r>
            <a:r>
              <a:rPr lang="en-US" altLang="zh-CN" dirty="0"/>
              <a:t> </a:t>
            </a:r>
            <a:r>
              <a:rPr lang="en-US" altLang="zh-CN" dirty="0" err="1"/>
              <a:t>GPIO_Mode</a:t>
            </a:r>
            <a:r>
              <a:rPr lang="en-US" altLang="zh-CN" dirty="0"/>
              <a:t>;</a:t>
            </a:r>
          </a:p>
          <a:p>
            <a:pPr>
              <a:lnSpc>
                <a:spcPct val="150000"/>
              </a:lnSpc>
            </a:pPr>
            <a:r>
              <a:rPr lang="en-US" altLang="zh-CN" dirty="0"/>
              <a:t>}</a:t>
            </a:r>
            <a:r>
              <a:rPr lang="en-US" altLang="zh-CN" dirty="0" err="1"/>
              <a:t>GPIO_InitTypeDef</a:t>
            </a:r>
            <a:r>
              <a:rPr lang="en-US" altLang="zh-CN" dirty="0"/>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1"/>
          <p:cNvSpPr>
            <a:spLocks noChangeArrowheads="1"/>
          </p:cNvSpPr>
          <p:nvPr/>
        </p:nvSpPr>
        <p:spPr bwMode="auto">
          <a:xfrm>
            <a:off x="326571" y="354553"/>
            <a:ext cx="11336694" cy="59093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261938" fontAlgn="base">
              <a:lnSpc>
                <a:spcPct val="150000"/>
              </a:lnSpc>
              <a:spcBef>
                <a:spcPct val="0"/>
              </a:spcBef>
              <a:spcAft>
                <a:spcPct val="0"/>
              </a:spcAft>
            </a:pPr>
            <a:r>
              <a:rPr lang="en-US" altLang="zh-CN" sz="2000" b="1" dirty="0" err="1">
                <a:solidFill>
                  <a:srgbClr val="C00000"/>
                </a:solidFill>
              </a:rPr>
              <a:t>GPIO_SetBits</a:t>
            </a:r>
            <a:r>
              <a:rPr lang="en-US" altLang="zh-CN" sz="2000" b="1" dirty="0">
                <a:solidFill>
                  <a:srgbClr val="C00000"/>
                </a:solidFill>
              </a:rPr>
              <a:t>(</a:t>
            </a:r>
            <a:r>
              <a:rPr lang="en-US" altLang="zh-CN" sz="2000" b="1" dirty="0" err="1">
                <a:solidFill>
                  <a:srgbClr val="C00000"/>
                </a:solidFill>
              </a:rPr>
              <a:t>GPIO_TypeDef</a:t>
            </a:r>
            <a:r>
              <a:rPr lang="en-US" altLang="zh-CN" sz="2000" b="1" dirty="0">
                <a:solidFill>
                  <a:srgbClr val="C00000"/>
                </a:solidFill>
              </a:rPr>
              <a:t>* GPIOx,u16 </a:t>
            </a:r>
            <a:r>
              <a:rPr lang="en-US" altLang="zh-CN" sz="2000" b="1" dirty="0" err="1">
                <a:solidFill>
                  <a:srgbClr val="C00000"/>
                </a:solidFill>
              </a:rPr>
              <a:t>GPIO_Pin</a:t>
            </a:r>
            <a:r>
              <a:rPr lang="en-US" altLang="zh-CN" sz="2000" b="1" dirty="0">
                <a:solidFill>
                  <a:srgbClr val="C00000"/>
                </a:solidFill>
              </a:rPr>
              <a:t>)</a:t>
            </a:r>
          </a:p>
          <a:p>
            <a:pPr indent="261938" fontAlgn="base">
              <a:lnSpc>
                <a:spcPct val="150000"/>
              </a:lnSpc>
              <a:spcBef>
                <a:spcPct val="0"/>
              </a:spcBef>
              <a:spcAft>
                <a:spcPct val="0"/>
              </a:spcAft>
            </a:pPr>
            <a:r>
              <a:rPr lang="en-US" altLang="zh-CN" sz="2000" b="1" dirty="0" err="1">
                <a:solidFill>
                  <a:srgbClr val="C00000"/>
                </a:solidFill>
              </a:rPr>
              <a:t>GPIO_ResetBits</a:t>
            </a:r>
            <a:r>
              <a:rPr lang="en-US" altLang="zh-CN" sz="2000" b="1" dirty="0">
                <a:solidFill>
                  <a:srgbClr val="C00000"/>
                </a:solidFill>
              </a:rPr>
              <a:t>(</a:t>
            </a:r>
            <a:r>
              <a:rPr lang="en-US" altLang="zh-CN" sz="2000" b="1" dirty="0" err="1">
                <a:solidFill>
                  <a:srgbClr val="C00000"/>
                </a:solidFill>
              </a:rPr>
              <a:t>GPIO_TypeDef</a:t>
            </a:r>
            <a:r>
              <a:rPr lang="en-US" altLang="zh-CN" sz="2000" b="1" dirty="0">
                <a:solidFill>
                  <a:srgbClr val="C00000"/>
                </a:solidFill>
              </a:rPr>
              <a:t>* GPIOx,u16 </a:t>
            </a:r>
            <a:r>
              <a:rPr lang="en-US" altLang="zh-CN" sz="2000" b="1" dirty="0" err="1">
                <a:solidFill>
                  <a:srgbClr val="C00000"/>
                </a:solidFill>
              </a:rPr>
              <a:t>GPIO_Pin</a:t>
            </a:r>
            <a:r>
              <a:rPr lang="en-US" altLang="zh-CN" sz="2000" b="1" dirty="0">
                <a:solidFill>
                  <a:srgbClr val="C00000"/>
                </a:solidFill>
              </a:rPr>
              <a:t>)</a:t>
            </a:r>
          </a:p>
          <a:p>
            <a:pPr lvl="0" indent="261938" fontAlgn="base">
              <a:lnSpc>
                <a:spcPct val="150000"/>
              </a:lnSpc>
              <a:spcBef>
                <a:spcPct val="0"/>
              </a:spcBef>
              <a:spcAft>
                <a:spcPct val="0"/>
              </a:spcAft>
            </a:pPr>
            <a:r>
              <a:rPr lang="zh-CN" altLang="en-US" sz="2000" b="1" dirty="0">
                <a:solidFill>
                  <a:srgbClr val="7030A0"/>
                </a:solidFill>
              </a:rPr>
              <a:t>功能：</a:t>
            </a:r>
            <a:r>
              <a:rPr lang="zh-CN" altLang="en-US" sz="2000" dirty="0"/>
              <a:t>将</a:t>
            </a:r>
            <a:r>
              <a:rPr lang="en-US" altLang="zh-CN" sz="2000" dirty="0"/>
              <a:t>GPIO</a:t>
            </a:r>
            <a:r>
              <a:rPr lang="zh-CN" altLang="en-US" sz="2000" dirty="0"/>
              <a:t>某引脚进行输出高，输出低设置。</a:t>
            </a:r>
            <a:endParaRPr lang="en-US" altLang="zh-CN" sz="2000" dirty="0"/>
          </a:p>
          <a:p>
            <a:pPr lvl="0" indent="261938" fontAlgn="base">
              <a:lnSpc>
                <a:spcPct val="150000"/>
              </a:lnSpc>
              <a:spcBef>
                <a:spcPct val="0"/>
              </a:spcBef>
              <a:spcAft>
                <a:spcPct val="0"/>
              </a:spcAft>
            </a:pPr>
            <a:r>
              <a:rPr lang="en-US" altLang="zh-CN" sz="2000" dirty="0" err="1"/>
              <a:t>GPIO_SetBits</a:t>
            </a:r>
            <a:r>
              <a:rPr lang="zh-CN" altLang="en-US" sz="2000" dirty="0"/>
              <a:t>实际上就是通过配置</a:t>
            </a:r>
            <a:r>
              <a:rPr lang="en-US" altLang="zh-CN" sz="2000" dirty="0" err="1"/>
              <a:t>GPIOx_BSRR</a:t>
            </a:r>
            <a:r>
              <a:rPr lang="zh-CN" altLang="en-US" sz="2000" dirty="0"/>
              <a:t>，来配置</a:t>
            </a:r>
            <a:r>
              <a:rPr lang="en-US" altLang="zh-CN" sz="2000" dirty="0" err="1"/>
              <a:t>GPIOx_ODR</a:t>
            </a:r>
            <a:r>
              <a:rPr lang="zh-CN" altLang="en-US" sz="2000" dirty="0"/>
              <a:t>，不管是输出  模式还是输入模式都可以使用该函数，并将</a:t>
            </a:r>
            <a:r>
              <a:rPr lang="en-US" altLang="zh-CN" sz="2000" dirty="0"/>
              <a:t>ODR</a:t>
            </a:r>
            <a:r>
              <a:rPr lang="zh-CN" altLang="en-US" sz="2000" dirty="0"/>
              <a:t>相应位置位。</a:t>
            </a:r>
            <a:endParaRPr lang="en-US" altLang="zh-CN" sz="2000" dirty="0"/>
          </a:p>
          <a:p>
            <a:pPr lvl="0" indent="261938" fontAlgn="base">
              <a:lnSpc>
                <a:spcPct val="150000"/>
              </a:lnSpc>
              <a:spcBef>
                <a:spcPct val="0"/>
              </a:spcBef>
              <a:spcAft>
                <a:spcPct val="0"/>
              </a:spcAft>
            </a:pPr>
            <a:r>
              <a:rPr lang="zh-CN" altLang="en-US" sz="2000" b="1" dirty="0">
                <a:solidFill>
                  <a:srgbClr val="7030A0"/>
                </a:solidFill>
              </a:rPr>
              <a:t>例：</a:t>
            </a:r>
            <a:r>
              <a:rPr lang="zh-CN" altLang="en-US" sz="2000" dirty="0"/>
              <a:t>如果我们要开启</a:t>
            </a:r>
            <a:r>
              <a:rPr lang="en-US" altLang="zh-CN" sz="2000" dirty="0"/>
              <a:t>GPIOA</a:t>
            </a:r>
            <a:r>
              <a:rPr lang="zh-CN" altLang="en-US" sz="2000" dirty="0"/>
              <a:t>的</a:t>
            </a:r>
            <a:r>
              <a:rPr lang="en-US" altLang="zh-CN" sz="2000" dirty="0"/>
              <a:t>Pin1</a:t>
            </a:r>
            <a:r>
              <a:rPr lang="zh-CN" altLang="en-US" sz="2000" dirty="0"/>
              <a:t>，</a:t>
            </a:r>
            <a:r>
              <a:rPr lang="en-US" altLang="zh-CN" sz="2000" dirty="0"/>
              <a:t>Pin1</a:t>
            </a:r>
            <a:r>
              <a:rPr lang="zh-CN" altLang="en-US" sz="2000" dirty="0"/>
              <a:t>和</a:t>
            </a:r>
            <a:r>
              <a:rPr lang="en-US" altLang="zh-CN" sz="2000" dirty="0"/>
              <a:t>Pin3</a:t>
            </a:r>
            <a:r>
              <a:rPr lang="zh-CN" altLang="en-US" sz="2000" dirty="0"/>
              <a:t>，那么就要先进行相关配置。</a:t>
            </a:r>
            <a:endParaRPr lang="en-US" altLang="zh-CN" sz="2000" dirty="0"/>
          </a:p>
          <a:p>
            <a:pPr lvl="0" indent="261938" fontAlgn="base">
              <a:lnSpc>
                <a:spcPct val="150000"/>
              </a:lnSpc>
              <a:spcBef>
                <a:spcPct val="0"/>
              </a:spcBef>
              <a:spcAft>
                <a:spcPct val="0"/>
              </a:spcAft>
            </a:pPr>
            <a:r>
              <a:rPr lang="en-US" sz="1600" dirty="0"/>
              <a:t>void </a:t>
            </a:r>
            <a:r>
              <a:rPr lang="en-US" sz="1600" dirty="0" err="1"/>
              <a:t>LED_GPIO_Config</a:t>
            </a:r>
            <a:r>
              <a:rPr lang="en-US" sz="1600" dirty="0"/>
              <a:t>(void)</a:t>
            </a:r>
          </a:p>
          <a:p>
            <a:pPr lvl="0" indent="261938" fontAlgn="base">
              <a:lnSpc>
                <a:spcPct val="150000"/>
              </a:lnSpc>
              <a:spcBef>
                <a:spcPct val="0"/>
              </a:spcBef>
              <a:spcAft>
                <a:spcPct val="0"/>
              </a:spcAft>
            </a:pPr>
            <a:r>
              <a:rPr lang="en-US" sz="1600" dirty="0"/>
              <a:t> { </a:t>
            </a:r>
            <a:r>
              <a:rPr lang="en-US" sz="1600" i="1" dirty="0"/>
              <a:t>/*</a:t>
            </a:r>
            <a:r>
              <a:rPr lang="zh-CN" altLang="en-US" sz="1600" i="1" dirty="0"/>
              <a:t>定义一个</a:t>
            </a:r>
            <a:r>
              <a:rPr lang="en-US" sz="1600" i="1" dirty="0" err="1"/>
              <a:t>GPIO_InitTypeDef</a:t>
            </a:r>
            <a:r>
              <a:rPr lang="zh-CN" altLang="en-US" sz="1600" i="1" dirty="0"/>
              <a:t>类型的结构体*</a:t>
            </a:r>
            <a:r>
              <a:rPr lang="en-US" altLang="zh-CN" sz="1600" i="1" dirty="0"/>
              <a:t>/</a:t>
            </a:r>
            <a:r>
              <a:rPr lang="zh-CN" altLang="en-US" sz="1600" dirty="0"/>
              <a:t> </a:t>
            </a:r>
            <a:r>
              <a:rPr lang="en-US" sz="1600" dirty="0" err="1"/>
              <a:t>GPIO_InitTypeDef</a:t>
            </a:r>
            <a:r>
              <a:rPr lang="en-US" sz="1600" dirty="0"/>
              <a:t> </a:t>
            </a:r>
            <a:r>
              <a:rPr lang="en-US" sz="1600" dirty="0" err="1"/>
              <a:t>GPIO_InitStructure</a:t>
            </a:r>
            <a:r>
              <a:rPr lang="en-US" sz="1600" dirty="0"/>
              <a:t>; </a:t>
            </a:r>
          </a:p>
          <a:p>
            <a:pPr lvl="0" indent="261938" fontAlgn="base">
              <a:lnSpc>
                <a:spcPct val="150000"/>
              </a:lnSpc>
              <a:spcBef>
                <a:spcPct val="0"/>
              </a:spcBef>
              <a:spcAft>
                <a:spcPct val="0"/>
              </a:spcAft>
            </a:pPr>
            <a:r>
              <a:rPr lang="en-US" sz="1600" i="1" dirty="0"/>
              <a:t>/*</a:t>
            </a:r>
            <a:r>
              <a:rPr lang="zh-CN" altLang="en-US" sz="1600" i="1" dirty="0"/>
              <a:t>开启</a:t>
            </a:r>
            <a:r>
              <a:rPr lang="en-US" sz="1600" i="1" dirty="0"/>
              <a:t>GPIOA</a:t>
            </a:r>
            <a:r>
              <a:rPr lang="zh-CN" altLang="en-US" sz="1600" i="1" dirty="0"/>
              <a:t>的外设时钟*</a:t>
            </a:r>
            <a:r>
              <a:rPr lang="en-US" altLang="zh-CN" sz="1600" i="1" dirty="0"/>
              <a:t>/</a:t>
            </a:r>
            <a:r>
              <a:rPr lang="zh-CN" altLang="en-US" sz="1600" dirty="0"/>
              <a:t> </a:t>
            </a:r>
            <a:r>
              <a:rPr lang="en-US" sz="1600" dirty="0"/>
              <a:t>RCC_APB2PeriphClockCmd(RCC_APB2Periph_GPIOA,ENABLE); </a:t>
            </a:r>
          </a:p>
          <a:p>
            <a:pPr lvl="0" indent="261938" fontAlgn="base">
              <a:lnSpc>
                <a:spcPct val="150000"/>
              </a:lnSpc>
              <a:spcBef>
                <a:spcPct val="0"/>
              </a:spcBef>
              <a:spcAft>
                <a:spcPct val="0"/>
              </a:spcAft>
            </a:pPr>
            <a:r>
              <a:rPr lang="en-US" sz="1600" i="1" dirty="0"/>
              <a:t>/*</a:t>
            </a:r>
            <a:r>
              <a:rPr lang="zh-CN" altLang="en-US" sz="1600" i="1" dirty="0"/>
              <a:t>选择要控制的</a:t>
            </a:r>
            <a:r>
              <a:rPr lang="en-US" sz="1600" i="1" dirty="0"/>
              <a:t>GPIOA</a:t>
            </a:r>
            <a:r>
              <a:rPr lang="zh-CN" altLang="en-US" sz="1600" i="1" dirty="0"/>
              <a:t>引脚*</a:t>
            </a:r>
            <a:r>
              <a:rPr lang="en-US" altLang="zh-CN" sz="1600" i="1" dirty="0"/>
              <a:t>/</a:t>
            </a:r>
            <a:r>
              <a:rPr lang="zh-CN" altLang="en-US" sz="1600" dirty="0"/>
              <a:t> </a:t>
            </a:r>
            <a:r>
              <a:rPr lang="en-US" sz="1600" dirty="0" err="1"/>
              <a:t>GPIO_InitStructure.GPIO_Pin</a:t>
            </a:r>
            <a:r>
              <a:rPr lang="en-US" sz="1600" dirty="0"/>
              <a:t> = GPIO_Pin_1 | GPIO_Pin_2 | GPIO_Pin_3; </a:t>
            </a:r>
          </a:p>
          <a:p>
            <a:pPr lvl="0" indent="261938" fontAlgn="base">
              <a:lnSpc>
                <a:spcPct val="150000"/>
              </a:lnSpc>
              <a:spcBef>
                <a:spcPct val="0"/>
              </a:spcBef>
              <a:spcAft>
                <a:spcPct val="0"/>
              </a:spcAft>
            </a:pPr>
            <a:r>
              <a:rPr lang="en-US" sz="1600" i="1" dirty="0"/>
              <a:t>/*</a:t>
            </a:r>
            <a:r>
              <a:rPr lang="zh-CN" altLang="en-US" sz="1600" i="1" dirty="0"/>
              <a:t>设置引脚模式为通用推挽输出*</a:t>
            </a:r>
            <a:r>
              <a:rPr lang="en-US" altLang="zh-CN" sz="1600" i="1" dirty="0"/>
              <a:t>/</a:t>
            </a:r>
            <a:r>
              <a:rPr lang="zh-CN" altLang="en-US" sz="1600" dirty="0"/>
              <a:t> </a:t>
            </a:r>
            <a:r>
              <a:rPr lang="en-US" sz="1600" dirty="0" err="1"/>
              <a:t>GPIO_InitStructure.GPIO_Mode</a:t>
            </a:r>
            <a:r>
              <a:rPr lang="en-US" sz="1600" dirty="0"/>
              <a:t> = </a:t>
            </a:r>
            <a:r>
              <a:rPr lang="en-US" sz="1600" dirty="0" err="1"/>
              <a:t>GPIO_Mode_Out_PP</a:t>
            </a:r>
            <a:r>
              <a:rPr lang="en-US" sz="1600" dirty="0"/>
              <a:t>;</a:t>
            </a:r>
          </a:p>
          <a:p>
            <a:pPr lvl="0" indent="261938" fontAlgn="base">
              <a:lnSpc>
                <a:spcPct val="150000"/>
              </a:lnSpc>
              <a:spcBef>
                <a:spcPct val="0"/>
              </a:spcBef>
              <a:spcAft>
                <a:spcPct val="0"/>
              </a:spcAft>
            </a:pPr>
            <a:r>
              <a:rPr lang="en-US" sz="1600" dirty="0"/>
              <a:t> </a:t>
            </a:r>
            <a:r>
              <a:rPr lang="en-US" sz="1600" i="1" dirty="0"/>
              <a:t>/*</a:t>
            </a:r>
            <a:r>
              <a:rPr lang="zh-CN" altLang="en-US" sz="1600" i="1" dirty="0"/>
              <a:t>设置引脚速率为</a:t>
            </a:r>
            <a:r>
              <a:rPr lang="en-US" altLang="zh-CN" sz="1600" i="1" dirty="0"/>
              <a:t>50</a:t>
            </a:r>
            <a:r>
              <a:rPr lang="en-US" sz="1600" i="1" dirty="0"/>
              <a:t>MHz */</a:t>
            </a:r>
            <a:r>
              <a:rPr lang="en-US" sz="1600" dirty="0"/>
              <a:t> </a:t>
            </a:r>
            <a:r>
              <a:rPr lang="en-US" sz="1600" dirty="0" err="1"/>
              <a:t>GPIO_InitStructure.GPIO_Speed</a:t>
            </a:r>
            <a:r>
              <a:rPr lang="en-US" sz="1600" dirty="0"/>
              <a:t> = GPIO_Speed_50MHz; </a:t>
            </a:r>
          </a:p>
          <a:p>
            <a:pPr lvl="0" indent="261938" fontAlgn="base">
              <a:lnSpc>
                <a:spcPct val="150000"/>
              </a:lnSpc>
              <a:spcBef>
                <a:spcPct val="0"/>
              </a:spcBef>
              <a:spcAft>
                <a:spcPct val="0"/>
              </a:spcAft>
            </a:pPr>
            <a:r>
              <a:rPr lang="en-US" sz="1600" i="1" dirty="0"/>
              <a:t>/*</a:t>
            </a:r>
            <a:r>
              <a:rPr lang="zh-CN" altLang="en-US" sz="1600" i="1" dirty="0"/>
              <a:t>调用库函数，初始化</a:t>
            </a:r>
            <a:r>
              <a:rPr lang="en-US" sz="1600" i="1" dirty="0"/>
              <a:t>GPIOA*/</a:t>
            </a:r>
            <a:r>
              <a:rPr lang="en-US" sz="1600" dirty="0"/>
              <a:t> </a:t>
            </a:r>
            <a:r>
              <a:rPr lang="en-US" sz="1600" dirty="0" err="1"/>
              <a:t>GPIO_Init</a:t>
            </a:r>
            <a:r>
              <a:rPr lang="en-US" sz="1600" dirty="0"/>
              <a:t>(GPIOA, &amp;</a:t>
            </a:r>
            <a:r>
              <a:rPr lang="en-US" sz="1600" dirty="0" err="1"/>
              <a:t>GPIO_InitStructure</a:t>
            </a:r>
            <a:r>
              <a:rPr lang="en-US" sz="1600" dirty="0"/>
              <a:t>); }</a:t>
            </a:r>
            <a:endParaRPr lang="en-US" altLang="zh-CN" sz="1600" dirty="0"/>
          </a:p>
          <a:p>
            <a:pPr lvl="0" indent="261938" fontAlgn="base">
              <a:lnSpc>
                <a:spcPct val="150000"/>
              </a:lnSpc>
              <a:spcBef>
                <a:spcPct val="0"/>
              </a:spcBef>
              <a:spcAft>
                <a:spcPct val="0"/>
              </a:spcAft>
            </a:pP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 name="TextBox 3"/>
          <p:cNvSpPr txBox="1"/>
          <p:nvPr/>
        </p:nvSpPr>
        <p:spPr>
          <a:xfrm>
            <a:off x="261256" y="5775650"/>
            <a:ext cx="11653935" cy="646331"/>
          </a:xfrm>
          <a:prstGeom prst="rect">
            <a:avLst/>
          </a:prstGeom>
          <a:noFill/>
        </p:spPr>
        <p:txBody>
          <a:bodyPr wrap="square" rtlCol="0">
            <a:spAutoFit/>
          </a:bodyPr>
          <a:lstStyle/>
          <a:p>
            <a:r>
              <a:rPr lang="zh-CN" altLang="en-US" b="1" dirty="0">
                <a:solidFill>
                  <a:srgbClr val="7030A0"/>
                </a:solidFill>
              </a:rPr>
              <a:t>我们可以看到，配置</a:t>
            </a:r>
            <a:r>
              <a:rPr lang="en-US" altLang="zh-CN" b="1" dirty="0">
                <a:solidFill>
                  <a:srgbClr val="7030A0"/>
                </a:solidFill>
              </a:rPr>
              <a:t>GPIO</a:t>
            </a:r>
            <a:r>
              <a:rPr lang="zh-CN" altLang="en-US" b="1" dirty="0">
                <a:solidFill>
                  <a:srgbClr val="7030A0"/>
                </a:solidFill>
              </a:rPr>
              <a:t>的时候要先定义一个</a:t>
            </a:r>
            <a:r>
              <a:rPr lang="en-US" altLang="zh-CN" b="1" dirty="0">
                <a:solidFill>
                  <a:srgbClr val="7030A0"/>
                </a:solidFill>
              </a:rPr>
              <a:t>GPIO</a:t>
            </a:r>
            <a:r>
              <a:rPr lang="zh-CN" altLang="en-US" b="1" dirty="0">
                <a:solidFill>
                  <a:srgbClr val="7030A0"/>
                </a:solidFill>
              </a:rPr>
              <a:t>结构体，再给结构体内的成员赋值。其相关值都是设定好的，我们只需要配置和使用，配置完成即可调用。相关名称与函数定义在</a:t>
            </a:r>
            <a:r>
              <a:rPr lang="en-US" altLang="zh-CN" b="1" dirty="0">
                <a:solidFill>
                  <a:srgbClr val="7030A0"/>
                </a:solidFill>
              </a:rPr>
              <a:t>stm32f10x_gpio.c</a:t>
            </a:r>
            <a:r>
              <a:rPr lang="zh-CN" altLang="en-US" b="1" dirty="0">
                <a:solidFill>
                  <a:srgbClr val="7030A0"/>
                </a:solidFill>
              </a:rPr>
              <a:t>文件中</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8105" y="330575"/>
            <a:ext cx="10901266" cy="5262979"/>
          </a:xfrm>
          <a:prstGeom prst="rect">
            <a:avLst/>
          </a:prstGeom>
        </p:spPr>
        <p:txBody>
          <a:bodyPr wrap="square">
            <a:spAutoFit/>
          </a:bodyPr>
          <a:lstStyle/>
          <a:p>
            <a:pPr>
              <a:lnSpc>
                <a:spcPct val="150000"/>
              </a:lnSpc>
            </a:pPr>
            <a:r>
              <a:rPr lang="en-US" sz="1600" dirty="0"/>
              <a:t>#</a:t>
            </a:r>
            <a:r>
              <a:rPr lang="en-US" sz="1600" dirty="0" err="1"/>
              <a:t>ifndef</a:t>
            </a:r>
            <a:r>
              <a:rPr lang="en-US" sz="1600" dirty="0"/>
              <a:t> __LED_H </a:t>
            </a:r>
            <a:r>
              <a:rPr lang="en-US" sz="1600" i="1" dirty="0"/>
              <a:t>//</a:t>
            </a:r>
            <a:r>
              <a:rPr lang="zh-CN" altLang="en-US" sz="1600" i="1" dirty="0"/>
              <a:t>如果未定义</a:t>
            </a:r>
            <a:r>
              <a:rPr lang="en-US" altLang="zh-CN" sz="1600" i="1" dirty="0"/>
              <a:t>__</a:t>
            </a:r>
            <a:r>
              <a:rPr lang="en-US" sz="1600" i="1" dirty="0"/>
              <a:t>LED_H</a:t>
            </a:r>
            <a:r>
              <a:rPr lang="en-US" sz="1600" dirty="0"/>
              <a:t> </a:t>
            </a:r>
          </a:p>
          <a:p>
            <a:pPr>
              <a:lnSpc>
                <a:spcPct val="150000"/>
              </a:lnSpc>
            </a:pPr>
            <a:r>
              <a:rPr lang="en-US" sz="1600" dirty="0"/>
              <a:t>#define __LED_H </a:t>
            </a:r>
            <a:r>
              <a:rPr lang="en-US" sz="1600" i="1" dirty="0"/>
              <a:t>//</a:t>
            </a:r>
            <a:r>
              <a:rPr lang="zh-CN" altLang="en-US" sz="1600" i="1" dirty="0"/>
              <a:t>如果未定义</a:t>
            </a:r>
            <a:r>
              <a:rPr lang="en-US" altLang="zh-CN" sz="1600" i="1" dirty="0"/>
              <a:t>__</a:t>
            </a:r>
            <a:r>
              <a:rPr lang="en-US" sz="1600" i="1" dirty="0"/>
              <a:t>LED_H</a:t>
            </a:r>
            <a:r>
              <a:rPr lang="en-US" sz="1600" dirty="0"/>
              <a:t> </a:t>
            </a:r>
          </a:p>
          <a:p>
            <a:pPr>
              <a:lnSpc>
                <a:spcPct val="150000"/>
              </a:lnSpc>
            </a:pPr>
            <a:r>
              <a:rPr lang="en-US" sz="1600" dirty="0"/>
              <a:t>#include "stm32f10x.h" </a:t>
            </a:r>
            <a:r>
              <a:rPr lang="en-US" sz="1600" i="1" dirty="0"/>
              <a:t>//</a:t>
            </a:r>
            <a:r>
              <a:rPr lang="zh-CN" altLang="en-US" sz="1600" i="1" dirty="0"/>
              <a:t>导入</a:t>
            </a:r>
            <a:r>
              <a:rPr lang="en-US" sz="1600" i="1" dirty="0"/>
              <a:t>STM32</a:t>
            </a:r>
            <a:r>
              <a:rPr lang="zh-CN" altLang="en-US" sz="1600" i="1" dirty="0"/>
              <a:t>库文件</a:t>
            </a:r>
            <a:r>
              <a:rPr lang="zh-CN" altLang="en-US" sz="1600" dirty="0"/>
              <a:t> </a:t>
            </a:r>
            <a:endParaRPr lang="en-US" altLang="zh-CN" sz="1600" dirty="0"/>
          </a:p>
          <a:p>
            <a:pPr>
              <a:lnSpc>
                <a:spcPct val="150000"/>
              </a:lnSpc>
            </a:pPr>
            <a:r>
              <a:rPr lang="en-US" altLang="zh-CN" sz="1600" dirty="0"/>
              <a:t>#</a:t>
            </a:r>
            <a:r>
              <a:rPr lang="en-US" sz="1600" dirty="0"/>
              <a:t>include "stm32f10x_gpio.h" </a:t>
            </a:r>
            <a:r>
              <a:rPr lang="en-US" sz="1600" i="1" dirty="0"/>
              <a:t>//</a:t>
            </a:r>
            <a:r>
              <a:rPr lang="zh-CN" altLang="en-US" sz="1600" i="1" dirty="0"/>
              <a:t>导入</a:t>
            </a:r>
            <a:r>
              <a:rPr lang="en-US" sz="1600" i="1" dirty="0"/>
              <a:t>STM32</a:t>
            </a:r>
            <a:r>
              <a:rPr lang="zh-CN" altLang="en-US" sz="1600" i="1" dirty="0"/>
              <a:t>库</a:t>
            </a:r>
            <a:r>
              <a:rPr lang="en-US" sz="1600" i="1" dirty="0"/>
              <a:t>GPIO</a:t>
            </a:r>
            <a:r>
              <a:rPr lang="zh-CN" altLang="en-US" sz="1600" i="1" dirty="0"/>
              <a:t>文件</a:t>
            </a:r>
            <a:r>
              <a:rPr lang="zh-CN" altLang="en-US" sz="1600" dirty="0"/>
              <a:t> </a:t>
            </a:r>
            <a:endParaRPr lang="en-US" altLang="zh-CN" sz="1600" dirty="0"/>
          </a:p>
          <a:p>
            <a:pPr>
              <a:lnSpc>
                <a:spcPct val="150000"/>
              </a:lnSpc>
            </a:pPr>
            <a:r>
              <a:rPr lang="en-US" altLang="zh-CN" sz="1600" dirty="0"/>
              <a:t>#</a:t>
            </a:r>
            <a:r>
              <a:rPr lang="en-US" sz="1600" dirty="0"/>
              <a:t>define ON 1 </a:t>
            </a:r>
            <a:r>
              <a:rPr lang="en-US" sz="1600" i="1" dirty="0"/>
              <a:t>//</a:t>
            </a:r>
            <a:r>
              <a:rPr lang="zh-CN" altLang="en-US" sz="1600" i="1" dirty="0"/>
              <a:t>定义</a:t>
            </a:r>
            <a:r>
              <a:rPr lang="en-US" sz="1600" i="1" dirty="0"/>
              <a:t>ON </a:t>
            </a:r>
            <a:r>
              <a:rPr lang="zh-CN" altLang="en-US" sz="1600" i="1" dirty="0"/>
              <a:t>为</a:t>
            </a:r>
            <a:r>
              <a:rPr lang="en-US" altLang="zh-CN" sz="1600" i="1" dirty="0"/>
              <a:t>0</a:t>
            </a:r>
            <a:r>
              <a:rPr lang="zh-CN" altLang="en-US" sz="1600" dirty="0"/>
              <a:t> </a:t>
            </a:r>
            <a:endParaRPr lang="en-US" altLang="zh-CN" sz="1600" dirty="0"/>
          </a:p>
          <a:p>
            <a:pPr>
              <a:lnSpc>
                <a:spcPct val="150000"/>
              </a:lnSpc>
            </a:pPr>
            <a:r>
              <a:rPr lang="en-US" altLang="zh-CN" sz="1600" dirty="0"/>
              <a:t>#</a:t>
            </a:r>
            <a:r>
              <a:rPr lang="en-US" sz="1600" dirty="0"/>
              <a:t>define OFF 0 </a:t>
            </a:r>
            <a:r>
              <a:rPr lang="en-US" sz="1600" i="1" dirty="0"/>
              <a:t>//</a:t>
            </a:r>
            <a:r>
              <a:rPr lang="zh-CN" altLang="en-US" sz="1600" i="1" dirty="0"/>
              <a:t>定义</a:t>
            </a:r>
            <a:r>
              <a:rPr lang="en-US" sz="1600" i="1" dirty="0"/>
              <a:t>OFF</a:t>
            </a:r>
            <a:r>
              <a:rPr lang="zh-CN" altLang="en-US" sz="1600" i="1" dirty="0"/>
              <a:t>为</a:t>
            </a:r>
            <a:r>
              <a:rPr lang="en-US" altLang="zh-CN" sz="1600" i="1" dirty="0"/>
              <a:t>1</a:t>
            </a:r>
            <a:r>
              <a:rPr lang="zh-CN" altLang="en-US" sz="1600" dirty="0"/>
              <a:t> </a:t>
            </a:r>
            <a:r>
              <a:rPr lang="en-US" altLang="zh-CN" sz="1600" i="1" dirty="0"/>
              <a:t>//</a:t>
            </a:r>
            <a:r>
              <a:rPr lang="zh-CN" altLang="en-US" sz="1600" i="1" dirty="0"/>
              <a:t>如果</a:t>
            </a:r>
            <a:r>
              <a:rPr lang="en-US" sz="1600" i="1" dirty="0"/>
              <a:t>a</a:t>
            </a:r>
            <a:r>
              <a:rPr lang="zh-CN" altLang="en-US" sz="1600" i="1" dirty="0"/>
              <a:t>的值是</a:t>
            </a:r>
            <a:r>
              <a:rPr lang="en-US" altLang="zh-CN" sz="1600" i="1" dirty="0"/>
              <a:t>1</a:t>
            </a:r>
            <a:r>
              <a:rPr lang="zh-CN" altLang="en-US" sz="1600" i="1" dirty="0"/>
              <a:t>则调用</a:t>
            </a:r>
            <a:r>
              <a:rPr lang="en-US" sz="1600" i="1" dirty="0"/>
              <a:t>STM32</a:t>
            </a:r>
            <a:r>
              <a:rPr lang="zh-CN" altLang="en-US" sz="1600" i="1" dirty="0"/>
              <a:t>官方库调用引脚电流拉高函数 </a:t>
            </a:r>
            <a:r>
              <a:rPr lang="en-US" sz="1600" i="1" dirty="0" err="1"/>
              <a:t>GPIO_SetBits</a:t>
            </a:r>
            <a:r>
              <a:rPr lang="en-US" sz="1600" i="1" dirty="0"/>
              <a:t>;</a:t>
            </a:r>
            <a:r>
              <a:rPr lang="zh-CN" altLang="en-US" sz="1600" i="1" dirty="0"/>
              <a:t>若</a:t>
            </a:r>
            <a:r>
              <a:rPr lang="en-US" sz="1600" i="1" dirty="0"/>
              <a:t>a</a:t>
            </a:r>
            <a:r>
              <a:rPr lang="zh-CN" altLang="en-US" sz="1600" i="1" dirty="0"/>
              <a:t>的值是</a:t>
            </a:r>
            <a:r>
              <a:rPr lang="en-US" altLang="zh-CN" sz="1600" i="1" dirty="0"/>
              <a:t>0 </a:t>
            </a:r>
            <a:r>
              <a:rPr lang="zh-CN" altLang="en-US" sz="1600" i="1" dirty="0"/>
              <a:t>则调用</a:t>
            </a:r>
            <a:r>
              <a:rPr lang="en-US" sz="1600" i="1" dirty="0"/>
              <a:t>STM32</a:t>
            </a:r>
            <a:r>
              <a:rPr lang="zh-CN" altLang="en-US" sz="1600" i="1" dirty="0"/>
              <a:t>官方库调用引脚电流拉高函数</a:t>
            </a:r>
            <a:r>
              <a:rPr lang="en-US" sz="1600" i="1" dirty="0" err="1"/>
              <a:t>GPIO_ResetBits</a:t>
            </a:r>
            <a:r>
              <a:rPr lang="en-US" sz="1600" i="1" dirty="0"/>
              <a:t>.</a:t>
            </a:r>
            <a:r>
              <a:rPr lang="en-US" sz="1600" dirty="0"/>
              <a:t> </a:t>
            </a:r>
            <a:r>
              <a:rPr lang="en-US" sz="1600" i="1" dirty="0"/>
              <a:t>//</a:t>
            </a:r>
            <a:r>
              <a:rPr lang="zh-CN" altLang="en-US" sz="1600" i="1" dirty="0"/>
              <a:t>设置</a:t>
            </a:r>
            <a:r>
              <a:rPr lang="en-US" sz="1600" i="1" dirty="0"/>
              <a:t>GPIOC_Pin_0</a:t>
            </a:r>
            <a:r>
              <a:rPr lang="zh-CN" altLang="en-US" sz="1600" i="1" dirty="0"/>
              <a:t>的引脚是</a:t>
            </a:r>
            <a:r>
              <a:rPr lang="en-US" sz="1600" i="1" dirty="0"/>
              <a:t>LED1</a:t>
            </a:r>
            <a:r>
              <a:rPr lang="en-US" sz="1600" dirty="0"/>
              <a:t> </a:t>
            </a:r>
          </a:p>
          <a:p>
            <a:pPr>
              <a:lnSpc>
                <a:spcPct val="150000"/>
              </a:lnSpc>
            </a:pPr>
            <a:r>
              <a:rPr lang="en-US" sz="1600" b="1" dirty="0"/>
              <a:t>#define LED1(a) if (a) \</a:t>
            </a:r>
            <a:r>
              <a:rPr lang="en-US" sz="1600" dirty="0"/>
              <a:t> </a:t>
            </a:r>
          </a:p>
          <a:p>
            <a:pPr>
              <a:lnSpc>
                <a:spcPct val="150000"/>
              </a:lnSpc>
            </a:pPr>
            <a:r>
              <a:rPr lang="en-US" sz="1600" dirty="0" err="1"/>
              <a:t>GPIO_SetBits</a:t>
            </a:r>
            <a:r>
              <a:rPr lang="en-US" sz="1600" dirty="0"/>
              <a:t>(GPIOA,GPIO_Pin_0);\</a:t>
            </a:r>
          </a:p>
          <a:p>
            <a:pPr>
              <a:lnSpc>
                <a:spcPct val="150000"/>
              </a:lnSpc>
            </a:pPr>
            <a:r>
              <a:rPr lang="en-US" sz="1600" dirty="0"/>
              <a:t> else \ </a:t>
            </a:r>
          </a:p>
          <a:p>
            <a:pPr>
              <a:lnSpc>
                <a:spcPct val="150000"/>
              </a:lnSpc>
            </a:pPr>
            <a:r>
              <a:rPr lang="en-US" sz="1600" dirty="0" err="1"/>
              <a:t>GPIO_ResetBits</a:t>
            </a:r>
            <a:r>
              <a:rPr lang="en-US" sz="1600" dirty="0"/>
              <a:t>(GPIOA,GPIO_Pin_0)</a:t>
            </a:r>
          </a:p>
          <a:p>
            <a:pPr>
              <a:lnSpc>
                <a:spcPct val="150000"/>
              </a:lnSpc>
            </a:pPr>
            <a:r>
              <a:rPr lang="en-US" sz="1600" dirty="0"/>
              <a:t> </a:t>
            </a:r>
            <a:r>
              <a:rPr lang="en-US" sz="1600" b="1" dirty="0"/>
              <a:t>#define LED2(a) if (a) \</a:t>
            </a:r>
            <a:r>
              <a:rPr lang="en-US" sz="1600" dirty="0"/>
              <a:t> </a:t>
            </a:r>
          </a:p>
          <a:p>
            <a:pPr>
              <a:lnSpc>
                <a:spcPct val="150000"/>
              </a:lnSpc>
            </a:pPr>
            <a:r>
              <a:rPr lang="en-US" sz="1600" dirty="0" err="1"/>
              <a:t>GPIO_SetBits</a:t>
            </a:r>
            <a:r>
              <a:rPr lang="en-US" sz="1600" dirty="0"/>
              <a:t>(GPIOA,GPIO_Pin_1);\ </a:t>
            </a:r>
          </a:p>
          <a:p>
            <a:pPr>
              <a:lnSpc>
                <a:spcPct val="150000"/>
              </a:lnSpc>
            </a:pPr>
            <a:r>
              <a:rPr lang="en-US" sz="1600" dirty="0"/>
              <a:t>else \ </a:t>
            </a:r>
          </a:p>
        </p:txBody>
      </p:sp>
      <p:sp>
        <p:nvSpPr>
          <p:cNvPr id="3" name="TextBox 2"/>
          <p:cNvSpPr txBox="1"/>
          <p:nvPr/>
        </p:nvSpPr>
        <p:spPr>
          <a:xfrm>
            <a:off x="5337110" y="2911151"/>
            <a:ext cx="5458408" cy="3862596"/>
          </a:xfrm>
          <a:prstGeom prst="rect">
            <a:avLst/>
          </a:prstGeom>
          <a:noFill/>
        </p:spPr>
        <p:txBody>
          <a:bodyPr wrap="square" rtlCol="0">
            <a:spAutoFit/>
          </a:bodyPr>
          <a:lstStyle/>
          <a:p>
            <a:pPr>
              <a:lnSpc>
                <a:spcPct val="150000"/>
              </a:lnSpc>
            </a:pPr>
            <a:r>
              <a:rPr lang="en-US" sz="1400" dirty="0" err="1"/>
              <a:t>GPIO_ResetBits</a:t>
            </a:r>
            <a:r>
              <a:rPr lang="en-US" sz="1400" dirty="0"/>
              <a:t>(GPIOA,GPIO_Pin_1) </a:t>
            </a:r>
          </a:p>
          <a:p>
            <a:pPr>
              <a:lnSpc>
                <a:spcPct val="150000"/>
              </a:lnSpc>
            </a:pPr>
            <a:r>
              <a:rPr lang="en-US" sz="1400" b="1" dirty="0"/>
              <a:t>#define LED3(a) if (a) \</a:t>
            </a:r>
          </a:p>
          <a:p>
            <a:pPr>
              <a:lnSpc>
                <a:spcPct val="150000"/>
              </a:lnSpc>
            </a:pPr>
            <a:r>
              <a:rPr lang="en-US" sz="1400" dirty="0"/>
              <a:t> </a:t>
            </a:r>
            <a:r>
              <a:rPr lang="en-US" sz="1400" dirty="0" err="1"/>
              <a:t>GPIO_SetBits</a:t>
            </a:r>
            <a:r>
              <a:rPr lang="en-US" sz="1400" dirty="0"/>
              <a:t>(GPIOA,GPIO_Pin_2);\ </a:t>
            </a:r>
          </a:p>
          <a:p>
            <a:pPr>
              <a:lnSpc>
                <a:spcPct val="150000"/>
              </a:lnSpc>
            </a:pPr>
            <a:r>
              <a:rPr lang="en-US" sz="1400" dirty="0"/>
              <a:t>else \ </a:t>
            </a:r>
          </a:p>
          <a:p>
            <a:pPr>
              <a:lnSpc>
                <a:spcPct val="150000"/>
              </a:lnSpc>
            </a:pPr>
            <a:r>
              <a:rPr lang="en-US" sz="1400" dirty="0" err="1"/>
              <a:t>GPIO_ResetBits</a:t>
            </a:r>
            <a:r>
              <a:rPr lang="en-US" sz="1400" dirty="0"/>
              <a:t>(GPIOA,GPIO_Pin_2) </a:t>
            </a:r>
          </a:p>
          <a:p>
            <a:pPr>
              <a:lnSpc>
                <a:spcPct val="150000"/>
              </a:lnSpc>
            </a:pPr>
            <a:r>
              <a:rPr lang="en-US" sz="1400" b="1" dirty="0"/>
              <a:t>#define LED4(a) if (a) \</a:t>
            </a:r>
            <a:r>
              <a:rPr lang="en-US" sz="1400" dirty="0"/>
              <a:t> </a:t>
            </a:r>
          </a:p>
          <a:p>
            <a:pPr>
              <a:lnSpc>
                <a:spcPct val="150000"/>
              </a:lnSpc>
            </a:pPr>
            <a:r>
              <a:rPr lang="en-US" sz="1400" dirty="0" err="1"/>
              <a:t>GPIO_SetBits</a:t>
            </a:r>
            <a:r>
              <a:rPr lang="en-US" sz="1400" dirty="0"/>
              <a:t>(GPIOA,GPIO_Pin_3);\ </a:t>
            </a:r>
          </a:p>
          <a:p>
            <a:pPr>
              <a:lnSpc>
                <a:spcPct val="150000"/>
              </a:lnSpc>
            </a:pPr>
            <a:r>
              <a:rPr lang="en-US" sz="1400" dirty="0"/>
              <a:t>else \ </a:t>
            </a:r>
          </a:p>
          <a:p>
            <a:pPr>
              <a:lnSpc>
                <a:spcPct val="150000"/>
              </a:lnSpc>
            </a:pPr>
            <a:r>
              <a:rPr lang="en-US" sz="1400" dirty="0" err="1"/>
              <a:t>GPIO_ResetBits</a:t>
            </a:r>
            <a:r>
              <a:rPr lang="en-US" sz="1400" dirty="0"/>
              <a:t>(GPIOA,GPIO_Pin_3)</a:t>
            </a:r>
          </a:p>
          <a:p>
            <a:pPr>
              <a:lnSpc>
                <a:spcPct val="150000"/>
              </a:lnSpc>
            </a:pPr>
            <a:r>
              <a:rPr lang="en-US" sz="1400" dirty="0"/>
              <a:t> void </a:t>
            </a:r>
            <a:r>
              <a:rPr lang="en-US" sz="1400" dirty="0" err="1"/>
              <a:t>LED_GPIO_Config</a:t>
            </a:r>
            <a:r>
              <a:rPr lang="en-US" sz="1400" dirty="0"/>
              <a:t>(void);</a:t>
            </a:r>
          </a:p>
          <a:p>
            <a:pPr>
              <a:lnSpc>
                <a:spcPct val="150000"/>
              </a:lnSpc>
            </a:pPr>
            <a:r>
              <a:rPr lang="en-US" sz="1400" dirty="0"/>
              <a:t> </a:t>
            </a:r>
            <a:r>
              <a:rPr lang="en-US" sz="1400" b="1" dirty="0"/>
              <a:t>#</a:t>
            </a:r>
            <a:r>
              <a:rPr lang="en-US" sz="1400" b="1" dirty="0" err="1"/>
              <a:t>endif</a:t>
            </a:r>
            <a:r>
              <a:rPr lang="en-US" sz="1400" b="1" dirty="0"/>
              <a:t> </a:t>
            </a:r>
            <a:r>
              <a:rPr lang="en-US" sz="1400" b="1" i="1" dirty="0"/>
              <a:t>//</a:t>
            </a:r>
            <a:r>
              <a:rPr lang="zh-CN" altLang="en-US" sz="1400" b="1" i="1" dirty="0"/>
              <a:t>定义</a:t>
            </a:r>
            <a:r>
              <a:rPr lang="en-US" altLang="zh-CN" sz="1400" b="1" i="1" dirty="0"/>
              <a:t>__</a:t>
            </a:r>
            <a:r>
              <a:rPr lang="en-US" sz="1400" b="1" i="1" dirty="0"/>
              <a:t>LED_H</a:t>
            </a:r>
            <a:r>
              <a:rPr lang="zh-CN" altLang="en-US" sz="1400" b="1" i="1" dirty="0"/>
              <a:t>完成</a:t>
            </a:r>
            <a:endParaRPr lang="zh-CN" altLang="en-US" sz="1400" dirty="0"/>
          </a:p>
          <a:p>
            <a:endParaRPr lang="zh-CN" altLang="en-US" sz="1400" dirty="0"/>
          </a:p>
        </p:txBody>
      </p:sp>
      <p:sp>
        <p:nvSpPr>
          <p:cNvPr id="5" name="TextBox 4"/>
          <p:cNvSpPr txBox="1"/>
          <p:nvPr/>
        </p:nvSpPr>
        <p:spPr>
          <a:xfrm>
            <a:off x="5421085" y="531845"/>
            <a:ext cx="5747657" cy="369332"/>
          </a:xfrm>
          <a:prstGeom prst="rect">
            <a:avLst/>
          </a:prstGeom>
          <a:noFill/>
        </p:spPr>
        <p:txBody>
          <a:bodyPr wrap="square" rtlCol="0">
            <a:spAutoFit/>
          </a:bodyPr>
          <a:lstStyle/>
          <a:p>
            <a:r>
              <a:rPr lang="en-US" altLang="zh-CN" b="1" dirty="0" err="1">
                <a:solidFill>
                  <a:srgbClr val="7030A0"/>
                </a:solidFill>
              </a:rPr>
              <a:t>led.h</a:t>
            </a:r>
            <a:r>
              <a:rPr lang="zh-CN" altLang="en-US" b="1" dirty="0">
                <a:solidFill>
                  <a:srgbClr val="7030A0"/>
                </a:solidFill>
              </a:rPr>
              <a:t>文件代码如下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799" y="153293"/>
            <a:ext cx="10901266" cy="6555641"/>
          </a:xfrm>
          <a:prstGeom prst="rect">
            <a:avLst/>
          </a:prstGeom>
        </p:spPr>
        <p:txBody>
          <a:bodyPr wrap="square">
            <a:spAutoFit/>
          </a:bodyPr>
          <a:lstStyle/>
          <a:p>
            <a:pPr>
              <a:lnSpc>
                <a:spcPct val="150000"/>
              </a:lnSpc>
            </a:pPr>
            <a:r>
              <a:rPr lang="en-US" sz="2000" b="1" dirty="0"/>
              <a:t>#include "</a:t>
            </a:r>
            <a:r>
              <a:rPr lang="en-US" sz="2000" b="1" dirty="0" err="1"/>
              <a:t>led.h</a:t>
            </a:r>
            <a:r>
              <a:rPr lang="en-US" sz="2000" b="1" dirty="0"/>
              <a:t>" </a:t>
            </a:r>
            <a:r>
              <a:rPr lang="en-US" sz="2000" b="1" i="1" dirty="0"/>
              <a:t>//</a:t>
            </a:r>
            <a:r>
              <a:rPr lang="zh-CN" altLang="en-US" sz="2000" b="1" i="1" dirty="0"/>
              <a:t>导入</a:t>
            </a:r>
            <a:r>
              <a:rPr lang="en-US" sz="2000" b="1" i="1" dirty="0"/>
              <a:t>led</a:t>
            </a:r>
            <a:r>
              <a:rPr lang="zh-CN" altLang="en-US" sz="2000" b="1" i="1" dirty="0"/>
              <a:t>头文件</a:t>
            </a:r>
            <a:r>
              <a:rPr lang="zh-CN" altLang="en-US" sz="2000" dirty="0"/>
              <a:t> </a:t>
            </a:r>
            <a:endParaRPr lang="en-US" altLang="zh-CN" sz="2000" dirty="0"/>
          </a:p>
          <a:p>
            <a:pPr>
              <a:lnSpc>
                <a:spcPct val="150000"/>
              </a:lnSpc>
            </a:pPr>
            <a:r>
              <a:rPr lang="en-US" altLang="zh-CN" sz="2000" b="1" dirty="0"/>
              <a:t>#</a:t>
            </a:r>
            <a:r>
              <a:rPr lang="en-US" sz="2000" b="1" dirty="0"/>
              <a:t>include "stm32f10x.h" </a:t>
            </a:r>
            <a:r>
              <a:rPr lang="en-US" sz="2000" b="1" i="1" dirty="0"/>
              <a:t>//</a:t>
            </a:r>
            <a:r>
              <a:rPr lang="zh-CN" altLang="en-US" sz="2000" b="1" i="1" dirty="0"/>
              <a:t>导入</a:t>
            </a:r>
            <a:r>
              <a:rPr lang="en-US" sz="2000" b="1" i="1" dirty="0"/>
              <a:t>STM32</a:t>
            </a:r>
            <a:r>
              <a:rPr lang="zh-CN" altLang="en-US" sz="2000" b="1" i="1" dirty="0"/>
              <a:t>官方库</a:t>
            </a:r>
            <a:r>
              <a:rPr lang="zh-CN" altLang="en-US" sz="2000" dirty="0"/>
              <a:t> </a:t>
            </a:r>
            <a:endParaRPr lang="en-US" altLang="zh-CN" sz="2000" dirty="0"/>
          </a:p>
          <a:p>
            <a:pPr>
              <a:lnSpc>
                <a:spcPct val="150000"/>
              </a:lnSpc>
            </a:pPr>
            <a:r>
              <a:rPr lang="en-US" altLang="zh-CN" sz="2000" b="1" dirty="0"/>
              <a:t>#</a:t>
            </a:r>
            <a:r>
              <a:rPr lang="en-US" sz="2000" b="1" dirty="0"/>
              <a:t>include "stm32f10x_rcc.h" </a:t>
            </a:r>
            <a:r>
              <a:rPr lang="en-US" sz="2000" b="1" i="1" dirty="0"/>
              <a:t>//</a:t>
            </a:r>
          </a:p>
          <a:p>
            <a:pPr>
              <a:lnSpc>
                <a:spcPct val="150000"/>
              </a:lnSpc>
            </a:pPr>
            <a:r>
              <a:rPr lang="zh-CN" altLang="en-US" sz="2000" b="1" i="1" dirty="0"/>
              <a:t>导入</a:t>
            </a:r>
            <a:r>
              <a:rPr lang="en-US" sz="2000" b="1" i="1" dirty="0"/>
              <a:t>STM32</a:t>
            </a:r>
            <a:r>
              <a:rPr lang="zh-CN" altLang="en-US" sz="2000" b="1" i="1" dirty="0"/>
              <a:t>的</a:t>
            </a:r>
            <a:r>
              <a:rPr lang="en-US" sz="2000" b="1" i="1" dirty="0"/>
              <a:t>RCC</a:t>
            </a:r>
            <a:r>
              <a:rPr lang="zh-CN" altLang="en-US" sz="2000" b="1" i="1" dirty="0"/>
              <a:t>时钟库</a:t>
            </a:r>
            <a:r>
              <a:rPr lang="zh-CN" altLang="en-US" sz="2000" dirty="0"/>
              <a:t> </a:t>
            </a:r>
            <a:endParaRPr lang="en-US" altLang="zh-CN" sz="2000" dirty="0"/>
          </a:p>
          <a:p>
            <a:pPr>
              <a:lnSpc>
                <a:spcPct val="150000"/>
              </a:lnSpc>
            </a:pPr>
            <a:r>
              <a:rPr lang="en-US" altLang="zh-CN" sz="2000" b="1" dirty="0"/>
              <a:t>#</a:t>
            </a:r>
            <a:r>
              <a:rPr lang="en-US" sz="2000" b="1" dirty="0"/>
              <a:t>include "</a:t>
            </a:r>
            <a:r>
              <a:rPr lang="en-US" sz="2000" b="1" dirty="0" err="1"/>
              <a:t>delay.h</a:t>
            </a:r>
            <a:r>
              <a:rPr lang="en-US" sz="2000" b="1" dirty="0"/>
              <a:t>" </a:t>
            </a:r>
            <a:r>
              <a:rPr lang="en-US" sz="2000" b="1" i="1" dirty="0"/>
              <a:t>//</a:t>
            </a:r>
            <a:r>
              <a:rPr lang="zh-CN" altLang="en-US" sz="2000" b="1" i="1" dirty="0"/>
              <a:t>导入延时函数</a:t>
            </a:r>
            <a:endParaRPr lang="en-US" altLang="zh-CN" sz="2000" b="1" i="1" dirty="0"/>
          </a:p>
          <a:p>
            <a:pPr>
              <a:lnSpc>
                <a:spcPct val="150000"/>
              </a:lnSpc>
            </a:pPr>
            <a:r>
              <a:rPr lang="en-US" dirty="0"/>
              <a:t>void </a:t>
            </a:r>
            <a:r>
              <a:rPr lang="en-US" dirty="0" err="1"/>
              <a:t>LED_Run</a:t>
            </a:r>
            <a:r>
              <a:rPr lang="en-US" dirty="0"/>
              <a:t>(void) </a:t>
            </a:r>
            <a:r>
              <a:rPr lang="en-US" i="1" dirty="0"/>
              <a:t>//</a:t>
            </a:r>
            <a:r>
              <a:rPr lang="zh-CN" altLang="en-US" i="1" dirty="0"/>
              <a:t>定义一个流水灯程序</a:t>
            </a:r>
            <a:r>
              <a:rPr lang="zh-CN" altLang="en-US" dirty="0"/>
              <a:t> </a:t>
            </a:r>
            <a:endParaRPr lang="en-US" altLang="zh-CN" dirty="0"/>
          </a:p>
          <a:p>
            <a:pPr>
              <a:lnSpc>
                <a:spcPct val="150000"/>
              </a:lnSpc>
            </a:pPr>
            <a:r>
              <a:rPr lang="en-US" altLang="zh-CN" dirty="0"/>
              <a:t>{ </a:t>
            </a:r>
          </a:p>
          <a:p>
            <a:pPr>
              <a:lnSpc>
                <a:spcPct val="150000"/>
              </a:lnSpc>
            </a:pPr>
            <a:r>
              <a:rPr lang="en-US" dirty="0"/>
              <a:t>LED1(ON); </a:t>
            </a:r>
            <a:r>
              <a:rPr lang="en-US" i="1" dirty="0"/>
              <a:t>//LED1</a:t>
            </a:r>
            <a:r>
              <a:rPr lang="zh-CN" altLang="en-US" i="1" dirty="0"/>
              <a:t>亮</a:t>
            </a:r>
            <a:r>
              <a:rPr lang="zh-CN" altLang="en-US" dirty="0"/>
              <a:t> </a:t>
            </a:r>
            <a:endParaRPr lang="en-US" altLang="zh-CN" dirty="0"/>
          </a:p>
          <a:p>
            <a:pPr>
              <a:lnSpc>
                <a:spcPct val="150000"/>
              </a:lnSpc>
            </a:pPr>
            <a:r>
              <a:rPr lang="en-US" dirty="0" err="1"/>
              <a:t>Delay_ms</a:t>
            </a:r>
            <a:r>
              <a:rPr lang="en-US" dirty="0"/>
              <a:t>(500); </a:t>
            </a:r>
            <a:r>
              <a:rPr lang="en-US" i="1" dirty="0"/>
              <a:t>//</a:t>
            </a:r>
            <a:r>
              <a:rPr lang="zh-CN" altLang="en-US" i="1" dirty="0"/>
              <a:t>亮</a:t>
            </a:r>
            <a:r>
              <a:rPr lang="en-US" altLang="zh-CN" i="1" dirty="0"/>
              <a:t>500</a:t>
            </a:r>
            <a:r>
              <a:rPr lang="en-US" i="1" dirty="0"/>
              <a:t>ms</a:t>
            </a:r>
          </a:p>
          <a:p>
            <a:pPr>
              <a:lnSpc>
                <a:spcPct val="150000"/>
              </a:lnSpc>
            </a:pPr>
            <a:r>
              <a:rPr lang="en-US" dirty="0"/>
              <a:t> LED1(OFF) </a:t>
            </a:r>
            <a:r>
              <a:rPr lang="en-US" i="1" dirty="0"/>
              <a:t>//LED2</a:t>
            </a:r>
            <a:r>
              <a:rPr lang="zh-CN" altLang="en-US" i="1" dirty="0"/>
              <a:t>熄灭，下同</a:t>
            </a:r>
            <a:r>
              <a:rPr lang="zh-CN" altLang="en-US" dirty="0"/>
              <a:t> </a:t>
            </a:r>
            <a:endParaRPr lang="en-US" altLang="zh-CN" dirty="0"/>
          </a:p>
          <a:p>
            <a:pPr>
              <a:lnSpc>
                <a:spcPct val="150000"/>
              </a:lnSpc>
            </a:pPr>
            <a:r>
              <a:rPr lang="en-US" dirty="0"/>
              <a:t>LED2(ON); </a:t>
            </a:r>
          </a:p>
          <a:p>
            <a:pPr>
              <a:lnSpc>
                <a:spcPct val="150000"/>
              </a:lnSpc>
            </a:pPr>
            <a:r>
              <a:rPr lang="en-US" dirty="0" err="1"/>
              <a:t>Delay_ms</a:t>
            </a:r>
            <a:r>
              <a:rPr lang="en-US" dirty="0"/>
              <a:t>(500); </a:t>
            </a:r>
          </a:p>
          <a:p>
            <a:pPr>
              <a:lnSpc>
                <a:spcPct val="150000"/>
              </a:lnSpc>
            </a:pPr>
            <a:r>
              <a:rPr lang="en-US" dirty="0"/>
              <a:t>LED2(OFF);</a:t>
            </a:r>
          </a:p>
          <a:p>
            <a:pPr>
              <a:lnSpc>
                <a:spcPct val="150000"/>
              </a:lnSpc>
            </a:pPr>
            <a:r>
              <a:rPr lang="en-US" dirty="0"/>
              <a:t> LED3(ON); </a:t>
            </a:r>
          </a:p>
          <a:p>
            <a:pPr>
              <a:lnSpc>
                <a:spcPct val="150000"/>
              </a:lnSpc>
            </a:pPr>
            <a:r>
              <a:rPr lang="en-US" dirty="0" err="1"/>
              <a:t>Delay_ms</a:t>
            </a:r>
            <a:r>
              <a:rPr lang="en-US" dirty="0"/>
              <a:t>(500); LED3(OFF); }</a:t>
            </a:r>
            <a:endParaRPr lang="zh-CN" altLang="en-US" b="1" dirty="0"/>
          </a:p>
        </p:txBody>
      </p:sp>
      <p:sp>
        <p:nvSpPr>
          <p:cNvPr id="7" name="TextBox 6"/>
          <p:cNvSpPr txBox="1"/>
          <p:nvPr/>
        </p:nvSpPr>
        <p:spPr>
          <a:xfrm>
            <a:off x="6923313" y="681133"/>
            <a:ext cx="4450703" cy="2529282"/>
          </a:xfrm>
          <a:prstGeom prst="rect">
            <a:avLst/>
          </a:prstGeom>
          <a:noFill/>
        </p:spPr>
        <p:txBody>
          <a:bodyPr wrap="square" rtlCol="0">
            <a:spAutoFit/>
          </a:bodyPr>
          <a:lstStyle/>
          <a:p>
            <a:pPr>
              <a:lnSpc>
                <a:spcPct val="150000"/>
              </a:lnSpc>
            </a:pPr>
            <a:r>
              <a:rPr lang="zh-CN" altLang="en-US" b="1" dirty="0">
                <a:solidFill>
                  <a:srgbClr val="7030A0"/>
                </a:solidFill>
              </a:rPr>
              <a:t>从这些代码可以看出，</a:t>
            </a:r>
            <a:r>
              <a:rPr lang="en-US" b="1" dirty="0">
                <a:solidFill>
                  <a:srgbClr val="7030A0"/>
                </a:solidFill>
              </a:rPr>
              <a:t>STM32</a:t>
            </a:r>
            <a:r>
              <a:rPr lang="zh-CN" altLang="en-US" b="1" dirty="0">
                <a:solidFill>
                  <a:srgbClr val="7030A0"/>
                </a:solidFill>
              </a:rPr>
              <a:t>的库函数都是直接访问了相关硬件的寄存器，因此除了直接利用</a:t>
            </a:r>
            <a:r>
              <a:rPr lang="en-US" b="1" dirty="0">
                <a:solidFill>
                  <a:srgbClr val="7030A0"/>
                </a:solidFill>
              </a:rPr>
              <a:t>STM32</a:t>
            </a:r>
            <a:r>
              <a:rPr lang="zh-CN" altLang="en-US" b="1" dirty="0">
                <a:solidFill>
                  <a:srgbClr val="7030A0"/>
                </a:solidFill>
              </a:rPr>
              <a:t>固件库的函数来开发应用应用程序外，也可以补使用固件库而直接对寄存器访问来编写程序。</a:t>
            </a:r>
          </a:p>
          <a:p>
            <a:pPr>
              <a:lnSpc>
                <a:spcPct val="150000"/>
              </a:lnSpc>
            </a:pPr>
            <a:endParaRPr lang="zh-CN" altLang="en-US" b="1" dirty="0">
              <a:solidFill>
                <a:srgbClr val="7030A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7909" y="737103"/>
            <a:ext cx="11402009" cy="5108386"/>
          </a:xfrm>
          <a:prstGeom prst="rect">
            <a:avLst/>
          </a:prstGeom>
          <a:noFill/>
        </p:spPr>
        <p:txBody>
          <a:bodyPr wrap="square" rtlCol="0">
            <a:spAutoFit/>
          </a:bodyPr>
          <a:lstStyle/>
          <a:p>
            <a:pPr>
              <a:lnSpc>
                <a:spcPct val="150000"/>
              </a:lnSpc>
            </a:pPr>
            <a:r>
              <a:rPr lang="en-US" sz="2000" b="1" dirty="0">
                <a:solidFill>
                  <a:srgbClr val="C00000"/>
                </a:solidFill>
              </a:rPr>
              <a:t>void  </a:t>
            </a:r>
            <a:r>
              <a:rPr lang="en-US" sz="2000" b="1" dirty="0" err="1">
                <a:solidFill>
                  <a:srgbClr val="C00000"/>
                </a:solidFill>
              </a:rPr>
              <a:t>GPIO_WriteBit</a:t>
            </a:r>
            <a:r>
              <a:rPr lang="en-US" sz="2000" b="1" dirty="0">
                <a:solidFill>
                  <a:srgbClr val="C00000"/>
                </a:solidFill>
              </a:rPr>
              <a:t>(</a:t>
            </a:r>
            <a:r>
              <a:rPr lang="en-US" sz="2000" b="1" dirty="0" err="1">
                <a:solidFill>
                  <a:srgbClr val="C00000"/>
                </a:solidFill>
              </a:rPr>
              <a:t>GPIO_TypeDef</a:t>
            </a:r>
            <a:r>
              <a:rPr lang="en-US" sz="2000" b="1" dirty="0">
                <a:solidFill>
                  <a:srgbClr val="C00000"/>
                </a:solidFill>
              </a:rPr>
              <a:t>* GPIOx，uint16_t  </a:t>
            </a:r>
            <a:r>
              <a:rPr lang="en-US" sz="2000" b="1" dirty="0" err="1">
                <a:solidFill>
                  <a:srgbClr val="C00000"/>
                </a:solidFill>
              </a:rPr>
              <a:t>GPIO_Pin，BitActionBitVal</a:t>
            </a:r>
            <a:r>
              <a:rPr lang="en-US" sz="2000" b="1" dirty="0">
                <a:solidFill>
                  <a:srgbClr val="C00000"/>
                </a:solidFill>
              </a:rPr>
              <a:t>)</a:t>
            </a:r>
            <a:endParaRPr lang="en-US" sz="2000" dirty="0">
              <a:solidFill>
                <a:srgbClr val="C00000"/>
              </a:solidFill>
            </a:endParaRPr>
          </a:p>
          <a:p>
            <a:pPr>
              <a:lnSpc>
                <a:spcPct val="150000"/>
              </a:lnSpc>
            </a:pPr>
            <a:r>
              <a:rPr lang="zh-CN" altLang="en-US" sz="2000" b="1" dirty="0"/>
              <a:t>函数解释</a:t>
            </a:r>
            <a:r>
              <a:rPr lang="zh-CN" altLang="en-US" sz="2000" dirty="0"/>
              <a:t>：</a:t>
            </a:r>
            <a:r>
              <a:rPr lang="zh-CN" altLang="en-US" sz="2000" b="1" dirty="0">
                <a:solidFill>
                  <a:srgbClr val="7030A0"/>
                </a:solidFill>
              </a:rPr>
              <a:t>对某一位进行写入操作。</a:t>
            </a:r>
          </a:p>
          <a:p>
            <a:pPr>
              <a:lnSpc>
                <a:spcPct val="150000"/>
              </a:lnSpc>
            </a:pPr>
            <a:r>
              <a:rPr lang="zh-CN" altLang="en-US" sz="2000" b="1" dirty="0"/>
              <a:t>参数</a:t>
            </a:r>
            <a:r>
              <a:rPr lang="zh-CN" altLang="en-US" sz="2000" dirty="0"/>
              <a:t>：（</a:t>
            </a:r>
            <a:r>
              <a:rPr lang="en-US" altLang="zh-CN" sz="2000" dirty="0"/>
              <a:t>1</a:t>
            </a:r>
            <a:r>
              <a:rPr lang="zh-CN" altLang="en-US" sz="2000" dirty="0"/>
              <a:t>）</a:t>
            </a:r>
            <a:r>
              <a:rPr lang="en-US" sz="2000" b="1" dirty="0" err="1"/>
              <a:t>GPIOx</a:t>
            </a:r>
            <a:r>
              <a:rPr lang="en-US" sz="2000" dirty="0" err="1"/>
              <a:t>，GPIO</a:t>
            </a:r>
            <a:r>
              <a:rPr lang="zh-CN" altLang="en-US" sz="2000" dirty="0"/>
              <a:t>的分组，如 </a:t>
            </a:r>
            <a:r>
              <a:rPr lang="en-US" sz="2000" dirty="0"/>
              <a:t>GPIOA，GPIOB，GPIOC</a:t>
            </a:r>
            <a:r>
              <a:rPr lang="zh-CN" altLang="en-US" sz="2000" dirty="0"/>
              <a:t>等的宏定义。</a:t>
            </a:r>
          </a:p>
          <a:p>
            <a:pPr>
              <a:lnSpc>
                <a:spcPct val="150000"/>
              </a:lnSpc>
            </a:pPr>
            <a:r>
              <a:rPr lang="zh-CN" altLang="en-US" sz="2000" dirty="0"/>
              <a:t>         （</a:t>
            </a:r>
            <a:r>
              <a:rPr lang="en-US" altLang="zh-CN" sz="2000" dirty="0"/>
              <a:t>2</a:t>
            </a:r>
            <a:r>
              <a:rPr lang="zh-CN" altLang="en-US" sz="2000" dirty="0"/>
              <a:t>）</a:t>
            </a:r>
            <a:r>
              <a:rPr lang="en-US" sz="2000" b="1" dirty="0" err="1"/>
              <a:t>GPIO_Pin</a:t>
            </a:r>
            <a:r>
              <a:rPr lang="en-US" sz="2000" dirty="0"/>
              <a:t>：</a:t>
            </a:r>
            <a:r>
              <a:rPr lang="zh-CN" altLang="en-US" sz="2000" dirty="0"/>
              <a:t>指定具体的</a:t>
            </a:r>
            <a:r>
              <a:rPr lang="en-US" sz="2000" dirty="0" err="1"/>
              <a:t>io</a:t>
            </a:r>
            <a:r>
              <a:rPr lang="zh-CN" altLang="en-US" sz="2000" dirty="0"/>
              <a:t>脚，如</a:t>
            </a:r>
            <a:r>
              <a:rPr lang="en-US" sz="2000" dirty="0"/>
              <a:t>GPIO_Pin_0，GPIO_Pin_1</a:t>
            </a:r>
            <a:r>
              <a:rPr lang="zh-CN" altLang="en-US" sz="2000" dirty="0"/>
              <a:t>这样的宏定义。</a:t>
            </a:r>
          </a:p>
          <a:p>
            <a:pPr>
              <a:lnSpc>
                <a:spcPct val="150000"/>
              </a:lnSpc>
            </a:pPr>
            <a:r>
              <a:rPr lang="zh-CN" altLang="en-US" sz="2000" dirty="0"/>
              <a:t>         （</a:t>
            </a:r>
            <a:r>
              <a:rPr lang="en-US" altLang="zh-CN" sz="2000" dirty="0"/>
              <a:t>3</a:t>
            </a:r>
            <a:r>
              <a:rPr lang="zh-CN" altLang="en-US" sz="2000" dirty="0"/>
              <a:t>）</a:t>
            </a:r>
            <a:r>
              <a:rPr lang="en-US" sz="2000" b="1" dirty="0" err="1"/>
              <a:t>BitVal</a:t>
            </a:r>
            <a:r>
              <a:rPr lang="en-US" sz="2000" dirty="0"/>
              <a:t>：</a:t>
            </a:r>
            <a:r>
              <a:rPr lang="zh-CN" altLang="en-US" sz="2000" dirty="0"/>
              <a:t>写入高电平或者低电平（</a:t>
            </a:r>
            <a:r>
              <a:rPr lang="en-US" sz="2000" b="1" dirty="0" err="1"/>
              <a:t>Bit_RESET</a:t>
            </a:r>
            <a:r>
              <a:rPr lang="en-US" sz="2000" dirty="0"/>
              <a:t>：</a:t>
            </a:r>
            <a:r>
              <a:rPr lang="zh-CN" altLang="en-US" sz="2000" dirty="0"/>
              <a:t>写入低电平 </a:t>
            </a:r>
            <a:r>
              <a:rPr lang="en-US" sz="2000" b="1" dirty="0" err="1"/>
              <a:t>Bit_SET</a:t>
            </a:r>
            <a:r>
              <a:rPr lang="en-US" sz="2000" dirty="0"/>
              <a:t>：</a:t>
            </a:r>
            <a:r>
              <a:rPr lang="zh-CN" altLang="en-US" sz="2000" dirty="0"/>
              <a:t>写入高电平）</a:t>
            </a:r>
            <a:endParaRPr lang="en-US" altLang="zh-CN" sz="2000" dirty="0"/>
          </a:p>
          <a:p>
            <a:pPr>
              <a:lnSpc>
                <a:spcPct val="150000"/>
              </a:lnSpc>
            </a:pPr>
            <a:r>
              <a:rPr lang="en-US" altLang="zh-CN" sz="2000" b="1" dirty="0">
                <a:solidFill>
                  <a:srgbClr val="C00000"/>
                </a:solidFill>
              </a:rPr>
              <a:t>void  </a:t>
            </a:r>
            <a:r>
              <a:rPr lang="en-US" altLang="zh-CN" sz="2000" b="1" dirty="0" err="1">
                <a:solidFill>
                  <a:srgbClr val="C00000"/>
                </a:solidFill>
              </a:rPr>
              <a:t>GPIO_Write</a:t>
            </a:r>
            <a:r>
              <a:rPr lang="en-US" altLang="zh-CN" sz="2000" b="1" dirty="0">
                <a:solidFill>
                  <a:srgbClr val="C00000"/>
                </a:solidFill>
              </a:rPr>
              <a:t>(</a:t>
            </a:r>
            <a:r>
              <a:rPr lang="en-US" altLang="zh-CN" sz="2000" b="1" dirty="0" err="1">
                <a:solidFill>
                  <a:srgbClr val="C00000"/>
                </a:solidFill>
              </a:rPr>
              <a:t>GPIO_TypeDef</a:t>
            </a:r>
            <a:r>
              <a:rPr lang="en-US" altLang="zh-CN" sz="2000" b="1" dirty="0">
                <a:solidFill>
                  <a:srgbClr val="C00000"/>
                </a:solidFill>
              </a:rPr>
              <a:t>* </a:t>
            </a:r>
            <a:r>
              <a:rPr lang="en-US" altLang="zh-CN" sz="2000" b="1" dirty="0" err="1">
                <a:solidFill>
                  <a:srgbClr val="C00000"/>
                </a:solidFill>
              </a:rPr>
              <a:t>GPIOx</a:t>
            </a:r>
            <a:r>
              <a:rPr lang="zh-CN" altLang="en-US" sz="2000" b="1" dirty="0">
                <a:solidFill>
                  <a:srgbClr val="C00000"/>
                </a:solidFill>
              </a:rPr>
              <a:t>，</a:t>
            </a:r>
            <a:r>
              <a:rPr lang="en-US" altLang="zh-CN" sz="2000" b="1" dirty="0">
                <a:solidFill>
                  <a:srgbClr val="C00000"/>
                </a:solidFill>
              </a:rPr>
              <a:t>uint16_t  </a:t>
            </a:r>
            <a:r>
              <a:rPr lang="en-US" altLang="zh-CN" sz="2000" b="1" dirty="0" err="1">
                <a:solidFill>
                  <a:srgbClr val="C00000"/>
                </a:solidFill>
              </a:rPr>
              <a:t>PortVal</a:t>
            </a:r>
            <a:r>
              <a:rPr lang="en-US" altLang="zh-CN" sz="2000" b="1" dirty="0">
                <a:solidFill>
                  <a:srgbClr val="C00000"/>
                </a:solidFill>
              </a:rPr>
              <a:t>)</a:t>
            </a:r>
            <a:endParaRPr lang="zh-CN" altLang="en-US" sz="2000" dirty="0">
              <a:solidFill>
                <a:srgbClr val="C00000"/>
              </a:solidFill>
            </a:endParaRPr>
          </a:p>
          <a:p>
            <a:pPr>
              <a:lnSpc>
                <a:spcPct val="150000"/>
              </a:lnSpc>
            </a:pPr>
            <a:r>
              <a:rPr lang="zh-CN" altLang="en-US" sz="2000" b="1" dirty="0"/>
              <a:t>函数解释</a:t>
            </a:r>
            <a:r>
              <a:rPr lang="zh-CN" altLang="en-US" sz="2000" dirty="0"/>
              <a:t>：对</a:t>
            </a:r>
            <a:r>
              <a:rPr lang="en-US" altLang="zh-CN" sz="2000" dirty="0"/>
              <a:t>GPIO</a:t>
            </a:r>
            <a:r>
              <a:rPr lang="zh-CN" altLang="en-US" sz="2000" dirty="0"/>
              <a:t>端口进行写入操作，</a:t>
            </a:r>
            <a:r>
              <a:rPr lang="zh-CN" altLang="en-US" sz="2000" b="1" dirty="0">
                <a:solidFill>
                  <a:srgbClr val="7030A0"/>
                </a:solidFill>
              </a:rPr>
              <a:t>适用于对统一端口的多个管脚的写入</a:t>
            </a:r>
            <a:r>
              <a:rPr lang="zh-CN" altLang="en-US" sz="2000" dirty="0"/>
              <a:t>。</a:t>
            </a:r>
          </a:p>
          <a:p>
            <a:pPr>
              <a:lnSpc>
                <a:spcPct val="150000"/>
              </a:lnSpc>
            </a:pPr>
            <a:r>
              <a:rPr lang="zh-CN" altLang="en-US" sz="2000" b="1" dirty="0"/>
              <a:t>参数</a:t>
            </a:r>
            <a:r>
              <a:rPr lang="zh-CN" altLang="en-US" sz="2000" dirty="0"/>
              <a:t>：（</a:t>
            </a:r>
            <a:r>
              <a:rPr lang="en-US" altLang="zh-CN" sz="2000" dirty="0"/>
              <a:t>1</a:t>
            </a:r>
            <a:r>
              <a:rPr lang="zh-CN" altLang="en-US" sz="2000" dirty="0"/>
              <a:t>）</a:t>
            </a:r>
            <a:r>
              <a:rPr lang="en-US" altLang="zh-CN" sz="2000" b="1" dirty="0" err="1"/>
              <a:t>GPIOx</a:t>
            </a:r>
            <a:r>
              <a:rPr lang="zh-CN" altLang="en-US" sz="2000" dirty="0"/>
              <a:t>，</a:t>
            </a:r>
            <a:r>
              <a:rPr lang="en-US" altLang="zh-CN" sz="2000" dirty="0"/>
              <a:t>GPIO</a:t>
            </a:r>
            <a:r>
              <a:rPr lang="zh-CN" altLang="en-US" sz="2000" dirty="0"/>
              <a:t>的分组，如 </a:t>
            </a:r>
            <a:r>
              <a:rPr lang="en-US" altLang="zh-CN" sz="2000" dirty="0"/>
              <a:t>GPIOA</a:t>
            </a:r>
            <a:r>
              <a:rPr lang="zh-CN" altLang="en-US" sz="2000" dirty="0"/>
              <a:t>，</a:t>
            </a:r>
            <a:r>
              <a:rPr lang="en-US" altLang="zh-CN" sz="2000" dirty="0"/>
              <a:t>GPIOB</a:t>
            </a:r>
            <a:r>
              <a:rPr lang="zh-CN" altLang="en-US" sz="2000" dirty="0"/>
              <a:t>，</a:t>
            </a:r>
            <a:r>
              <a:rPr lang="en-US" altLang="zh-CN" sz="2000" dirty="0"/>
              <a:t>GPIOC</a:t>
            </a:r>
            <a:r>
              <a:rPr lang="zh-CN" altLang="en-US" sz="2000" dirty="0"/>
              <a:t>等的宏定义。</a:t>
            </a:r>
          </a:p>
          <a:p>
            <a:pPr>
              <a:lnSpc>
                <a:spcPct val="150000"/>
              </a:lnSpc>
            </a:pPr>
            <a:r>
              <a:rPr lang="zh-CN" altLang="en-US" sz="2000" dirty="0"/>
              <a:t>         （</a:t>
            </a:r>
            <a:r>
              <a:rPr lang="en-US" altLang="zh-CN" sz="2000" dirty="0"/>
              <a:t>2</a:t>
            </a:r>
            <a:r>
              <a:rPr lang="zh-CN" altLang="en-US" sz="2000" dirty="0"/>
              <a:t>）</a:t>
            </a:r>
            <a:r>
              <a:rPr lang="en-US" altLang="zh-CN" sz="2000" b="1" dirty="0" err="1"/>
              <a:t>BitVal</a:t>
            </a:r>
            <a:r>
              <a:rPr lang="zh-CN" altLang="en-US" sz="2000" dirty="0"/>
              <a:t>：写入高电平或者低电平（</a:t>
            </a:r>
            <a:r>
              <a:rPr lang="en-US" altLang="zh-CN" sz="2000" b="1" dirty="0" err="1"/>
              <a:t>Bit_RESET</a:t>
            </a:r>
            <a:r>
              <a:rPr lang="zh-CN" altLang="en-US" sz="2000" dirty="0"/>
              <a:t>：写入低电平 </a:t>
            </a:r>
            <a:r>
              <a:rPr lang="en-US" altLang="zh-CN" sz="2000" b="1" dirty="0" err="1"/>
              <a:t>Bit_SET</a:t>
            </a:r>
            <a:r>
              <a:rPr lang="zh-CN" altLang="en-US" sz="2000" dirty="0"/>
              <a:t>：写入高电平）</a:t>
            </a:r>
          </a:p>
          <a:p>
            <a:pPr>
              <a:lnSpc>
                <a:spcPct val="150000"/>
              </a:lnSpc>
            </a:pPr>
            <a:endParaRPr lang="zh-CN" alt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298581" y="457200"/>
            <a:ext cx="7621766" cy="31393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sz="2400" b="1" dirty="0">
                <a:solidFill>
                  <a:srgbClr val="FF0000"/>
                </a:solidFill>
              </a:rPr>
              <a:t>注：</a:t>
            </a:r>
            <a:endParaRPr lang="en-US" altLang="zh-CN" sz="2400" b="1" dirty="0">
              <a:solidFill>
                <a:srgbClr val="FF0000"/>
              </a:solidFill>
            </a:endParaRPr>
          </a:p>
          <a:p>
            <a:pPr lvl="0" fontAlgn="base">
              <a:lnSpc>
                <a:spcPct val="150000"/>
              </a:lnSpc>
              <a:spcBef>
                <a:spcPct val="0"/>
              </a:spcBef>
              <a:spcAft>
                <a:spcPct val="0"/>
              </a:spcAft>
            </a:pPr>
            <a:r>
              <a:rPr lang="zh-CN" altLang="en-US" b="1" dirty="0">
                <a:solidFill>
                  <a:srgbClr val="7030A0"/>
                </a:solidFill>
              </a:rPr>
              <a:t>对单个</a:t>
            </a:r>
            <a:r>
              <a:rPr lang="en-US" altLang="zh-CN" b="1" dirty="0">
                <a:solidFill>
                  <a:srgbClr val="7030A0"/>
                </a:solidFill>
              </a:rPr>
              <a:t>IO</a:t>
            </a:r>
            <a:r>
              <a:rPr lang="zh-CN" altLang="en-US" b="1" dirty="0">
                <a:solidFill>
                  <a:srgbClr val="7030A0"/>
                </a:solidFill>
              </a:rPr>
              <a:t>口置</a:t>
            </a:r>
            <a:r>
              <a:rPr lang="en-US" altLang="zh-CN" b="1" dirty="0">
                <a:solidFill>
                  <a:srgbClr val="7030A0"/>
                </a:solidFill>
              </a:rPr>
              <a:t>0</a:t>
            </a:r>
            <a:r>
              <a:rPr lang="zh-CN" altLang="en-US" b="1" dirty="0">
                <a:solidFill>
                  <a:srgbClr val="7030A0"/>
                </a:solidFill>
              </a:rPr>
              <a:t>或</a:t>
            </a:r>
            <a:r>
              <a:rPr lang="en-US" altLang="zh-CN" b="1" dirty="0">
                <a:solidFill>
                  <a:srgbClr val="7030A0"/>
                </a:solidFill>
              </a:rPr>
              <a:t>1</a:t>
            </a:r>
            <a:r>
              <a:rPr lang="zh-CN" altLang="en-US" b="1" dirty="0">
                <a:solidFill>
                  <a:srgbClr val="7030A0"/>
                </a:solidFill>
              </a:rPr>
              <a:t>：</a:t>
            </a:r>
            <a:br>
              <a:rPr lang="zh-CN" altLang="en-US" dirty="0"/>
            </a:br>
            <a:r>
              <a:rPr lang="en-US" altLang="zh-CN" dirty="0" err="1"/>
              <a:t>GPIO_WriteBit</a:t>
            </a:r>
            <a:r>
              <a:rPr lang="en-US" altLang="zh-CN" dirty="0"/>
              <a:t>(GPIOA,GPIO_Pin_8 , 0);</a:t>
            </a:r>
            <a:br>
              <a:rPr lang="zh-CN" altLang="en-US" dirty="0"/>
            </a:br>
            <a:r>
              <a:rPr lang="zh-CN" altLang="en-US" b="1" dirty="0">
                <a:solidFill>
                  <a:srgbClr val="7030A0"/>
                </a:solidFill>
              </a:rPr>
              <a:t>同时对多个</a:t>
            </a:r>
            <a:r>
              <a:rPr lang="en-US" altLang="zh-CN" b="1" dirty="0">
                <a:solidFill>
                  <a:srgbClr val="7030A0"/>
                </a:solidFill>
              </a:rPr>
              <a:t>IO</a:t>
            </a:r>
            <a:r>
              <a:rPr lang="zh-CN" altLang="en-US" b="1" dirty="0">
                <a:solidFill>
                  <a:srgbClr val="7030A0"/>
                </a:solidFill>
              </a:rPr>
              <a:t>口置</a:t>
            </a:r>
            <a:r>
              <a:rPr lang="en-US" altLang="zh-CN" b="1" dirty="0">
                <a:solidFill>
                  <a:srgbClr val="7030A0"/>
                </a:solidFill>
              </a:rPr>
              <a:t>1</a:t>
            </a:r>
            <a:r>
              <a:rPr lang="zh-CN" altLang="en-US" b="1" dirty="0">
                <a:solidFill>
                  <a:srgbClr val="7030A0"/>
                </a:solidFill>
              </a:rPr>
              <a:t>：</a:t>
            </a:r>
            <a:br>
              <a:rPr lang="zh-CN" altLang="en-US" dirty="0"/>
            </a:br>
            <a:r>
              <a:rPr lang="en-US" altLang="zh-CN" dirty="0" err="1"/>
              <a:t>GPIO_SetBits</a:t>
            </a:r>
            <a:r>
              <a:rPr lang="en-US" altLang="zh-CN" dirty="0"/>
              <a:t>(GPIOD,GPIO_Pin_0 | GPIO_Pin_5 | GPIO_Pin_6);</a:t>
            </a:r>
            <a:br>
              <a:rPr lang="zh-CN" altLang="en-US" dirty="0"/>
            </a:br>
            <a:r>
              <a:rPr lang="zh-CN" altLang="en-US" dirty="0"/>
              <a:t>对于单个引脚的操作，两个函数没有区别。</a:t>
            </a:r>
            <a:br>
              <a:rPr lang="zh-CN" altLang="en-US" dirty="0"/>
            </a:br>
            <a:r>
              <a:rPr lang="zh-CN" altLang="en-US" dirty="0"/>
              <a:t>图中两种写法没有区别。</a:t>
            </a:r>
            <a:endParaRPr kumimoji="0" lang="en-US"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8193" name="Picture 1"/>
          <p:cNvPicPr>
            <a:picLocks noChangeAspect="1" noChangeArrowheads="1"/>
          </p:cNvPicPr>
          <p:nvPr/>
        </p:nvPicPr>
        <p:blipFill>
          <a:blip r:embed="rId2"/>
          <a:srcRect/>
          <a:stretch>
            <a:fillRect/>
          </a:stretch>
        </p:blipFill>
        <p:spPr bwMode="auto">
          <a:xfrm>
            <a:off x="4818484" y="3222707"/>
            <a:ext cx="6256953" cy="3216191"/>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2"/>
          <a:srcRect/>
          <a:stretch>
            <a:fillRect/>
          </a:stretch>
        </p:blipFill>
        <p:spPr bwMode="auto">
          <a:xfrm>
            <a:off x="1414463" y="490538"/>
            <a:ext cx="9363075" cy="587692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2"/>
          <a:srcRect/>
          <a:stretch>
            <a:fillRect/>
          </a:stretch>
        </p:blipFill>
        <p:spPr bwMode="auto">
          <a:xfrm>
            <a:off x="459047" y="326377"/>
            <a:ext cx="8810625" cy="2305050"/>
          </a:xfrm>
          <a:prstGeom prst="rect">
            <a:avLst/>
          </a:prstGeom>
          <a:noFill/>
          <a:ln w="9525">
            <a:noFill/>
            <a:miter lim="800000"/>
            <a:headEnd/>
            <a:tailEnd/>
          </a:ln>
          <a:effectLst/>
        </p:spPr>
      </p:pic>
      <p:pic>
        <p:nvPicPr>
          <p:cNvPr id="67588" name="Picture 4"/>
          <p:cNvPicPr>
            <a:picLocks noChangeAspect="1" noChangeArrowheads="1"/>
          </p:cNvPicPr>
          <p:nvPr/>
        </p:nvPicPr>
        <p:blipFill>
          <a:blip r:embed="rId3"/>
          <a:srcRect/>
          <a:stretch>
            <a:fillRect/>
          </a:stretch>
        </p:blipFill>
        <p:spPr bwMode="auto">
          <a:xfrm>
            <a:off x="539135" y="2759238"/>
            <a:ext cx="5534025" cy="2085975"/>
          </a:xfrm>
          <a:prstGeom prst="rect">
            <a:avLst/>
          </a:prstGeom>
          <a:noFill/>
          <a:ln w="9525">
            <a:noFill/>
            <a:miter lim="800000"/>
            <a:headEnd/>
            <a:tailEnd/>
          </a:ln>
          <a:effectLst/>
        </p:spPr>
      </p:pic>
      <p:pic>
        <p:nvPicPr>
          <p:cNvPr id="67589" name="Picture 5"/>
          <p:cNvPicPr>
            <a:picLocks noChangeAspect="1" noChangeArrowheads="1"/>
          </p:cNvPicPr>
          <p:nvPr/>
        </p:nvPicPr>
        <p:blipFill>
          <a:blip r:embed="rId4"/>
          <a:srcRect/>
          <a:stretch>
            <a:fillRect/>
          </a:stretch>
        </p:blipFill>
        <p:spPr bwMode="auto">
          <a:xfrm>
            <a:off x="6189987" y="2820469"/>
            <a:ext cx="4048125" cy="340042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a:lnSpc>
                <a:spcPct val="90000"/>
              </a:lnSpc>
              <a:spcBef>
                <a:spcPct val="0"/>
              </a:spcBef>
              <a:defRPr/>
            </a:pPr>
            <a:r>
              <a:rPr lang="en-US" altLang="zh-CN" sz="2800" b="1" dirty="0">
                <a:solidFill>
                  <a:srgbClr val="14529E"/>
                </a:solidFill>
              </a:rPr>
              <a:t>5.4 </a:t>
            </a:r>
            <a:r>
              <a:rPr lang="zh-CN" altLang="en-US" sz="2800" b="1" dirty="0">
                <a:solidFill>
                  <a:srgbClr val="14529E"/>
                </a:solidFill>
              </a:rPr>
              <a:t>库函数与寄存器的关系</a:t>
            </a:r>
          </a:p>
        </p:txBody>
      </p:sp>
      <p:sp>
        <p:nvSpPr>
          <p:cNvPr id="147457" name="Rectangle 1"/>
          <p:cNvSpPr>
            <a:spLocks noChangeArrowheads="1"/>
          </p:cNvSpPr>
          <p:nvPr/>
        </p:nvSpPr>
        <p:spPr bwMode="auto">
          <a:xfrm>
            <a:off x="849084" y="1318022"/>
            <a:ext cx="10674222" cy="55861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dirty="0"/>
              <a:t>由上述库函数的内容可以看出，库函数的本质也是对外设的寄存器进行操作。</a:t>
            </a:r>
            <a:endParaRPr lang="en-US" altLang="zh-CN" sz="2000" dirty="0"/>
          </a:p>
          <a:p>
            <a:pPr>
              <a:lnSpc>
                <a:spcPct val="150000"/>
              </a:lnSpc>
            </a:pPr>
            <a:r>
              <a:rPr lang="en-US" altLang="zh-CN" sz="2000" b="1" dirty="0">
                <a:solidFill>
                  <a:srgbClr val="7030A0"/>
                </a:solidFill>
              </a:rPr>
              <a:t>1.</a:t>
            </a:r>
            <a:r>
              <a:rPr lang="en-US" sz="2000" b="1" dirty="0">
                <a:solidFill>
                  <a:srgbClr val="7030A0"/>
                </a:solidFill>
              </a:rPr>
              <a:t> </a:t>
            </a:r>
            <a:r>
              <a:rPr lang="en-US" sz="2000" b="1" dirty="0" err="1">
                <a:solidFill>
                  <a:srgbClr val="7030A0"/>
                </a:solidFill>
              </a:rPr>
              <a:t>GPIO_Configuration</a:t>
            </a:r>
            <a:r>
              <a:rPr lang="en-US" sz="2000" b="1" dirty="0">
                <a:solidFill>
                  <a:srgbClr val="7030A0"/>
                </a:solidFill>
              </a:rPr>
              <a:t>(void)</a:t>
            </a:r>
            <a:r>
              <a:rPr lang="zh-CN" altLang="en-US" sz="2000" b="1" dirty="0">
                <a:solidFill>
                  <a:srgbClr val="7030A0"/>
                </a:solidFill>
              </a:rPr>
              <a:t>分析</a:t>
            </a:r>
            <a:endParaRPr lang="en-US" altLang="zh-CN" sz="2000" b="1" dirty="0">
              <a:solidFill>
                <a:srgbClr val="7030A0"/>
              </a:solidFill>
            </a:endParaRPr>
          </a:p>
          <a:p>
            <a:pPr>
              <a:lnSpc>
                <a:spcPct val="150000"/>
              </a:lnSpc>
            </a:pPr>
            <a:r>
              <a:rPr lang="en-US" sz="1400" dirty="0"/>
              <a:t>void </a:t>
            </a:r>
            <a:r>
              <a:rPr lang="en-US" sz="1400" dirty="0" err="1"/>
              <a:t>GPIO_Configuration</a:t>
            </a:r>
            <a:r>
              <a:rPr lang="en-US" sz="1400" dirty="0"/>
              <a:t>(void)</a:t>
            </a:r>
          </a:p>
          <a:p>
            <a:pPr>
              <a:lnSpc>
                <a:spcPct val="150000"/>
              </a:lnSpc>
            </a:pPr>
            <a:r>
              <a:rPr lang="en-US" sz="1400" dirty="0"/>
              <a:t> { </a:t>
            </a:r>
            <a:r>
              <a:rPr lang="en-US" sz="1400" b="1" dirty="0" err="1">
                <a:solidFill>
                  <a:srgbClr val="FF0000"/>
                </a:solidFill>
              </a:rPr>
              <a:t>GPIO</a:t>
            </a:r>
            <a:r>
              <a:rPr lang="en-US" sz="1400" b="1" i="1" dirty="0" err="1">
                <a:solidFill>
                  <a:srgbClr val="FF0000"/>
                </a:solidFill>
              </a:rPr>
              <a:t>_InitTypeDef</a:t>
            </a:r>
            <a:r>
              <a:rPr lang="en-US" sz="1400" b="1" i="1" dirty="0">
                <a:solidFill>
                  <a:srgbClr val="FF0000"/>
                </a:solidFill>
              </a:rPr>
              <a:t> </a:t>
            </a:r>
            <a:r>
              <a:rPr lang="en-US" sz="1400" b="1" i="1" dirty="0" err="1">
                <a:solidFill>
                  <a:srgbClr val="FF0000"/>
                </a:solidFill>
              </a:rPr>
              <a:t>GPIO_</a:t>
            </a:r>
            <a:r>
              <a:rPr lang="en-US" sz="1400" b="1" dirty="0" err="1">
                <a:solidFill>
                  <a:srgbClr val="FF0000"/>
                </a:solidFill>
              </a:rPr>
              <a:t>InitStructure</a:t>
            </a:r>
            <a:r>
              <a:rPr lang="en-US" sz="1400" b="1" dirty="0">
                <a:solidFill>
                  <a:srgbClr val="FF0000"/>
                </a:solidFill>
              </a:rPr>
              <a:t>;</a:t>
            </a:r>
          </a:p>
          <a:p>
            <a:pPr>
              <a:lnSpc>
                <a:spcPct val="150000"/>
              </a:lnSpc>
            </a:pPr>
            <a:r>
              <a:rPr lang="en-US" sz="1400" dirty="0"/>
              <a:t> /* ---------------------------------GPIOA </a:t>
            </a:r>
            <a:r>
              <a:rPr lang="zh-CN" altLang="en-US" sz="1400" dirty="0"/>
              <a:t>配置</a:t>
            </a:r>
            <a:r>
              <a:rPr lang="en-US" altLang="zh-CN" sz="1400" dirty="0"/>
              <a:t>--------------------------------*/ </a:t>
            </a:r>
          </a:p>
          <a:p>
            <a:pPr>
              <a:lnSpc>
                <a:spcPct val="150000"/>
              </a:lnSpc>
            </a:pPr>
            <a:r>
              <a:rPr lang="en-US" sz="1400" dirty="0" err="1"/>
              <a:t>GPIO</a:t>
            </a:r>
            <a:r>
              <a:rPr lang="en-US" sz="1400" i="1" dirty="0" err="1"/>
              <a:t>_InitStructure.GPIO_</a:t>
            </a:r>
            <a:r>
              <a:rPr lang="en-US" sz="1400" dirty="0" err="1"/>
              <a:t>Pin</a:t>
            </a:r>
            <a:r>
              <a:rPr lang="en-US" sz="1400" dirty="0"/>
              <a:t> = GPIO</a:t>
            </a:r>
            <a:r>
              <a:rPr lang="en-US" sz="1400" i="1" dirty="0"/>
              <a:t>_Pin_</a:t>
            </a:r>
            <a:r>
              <a:rPr lang="en-US" sz="1400" dirty="0"/>
              <a:t>9;</a:t>
            </a:r>
          </a:p>
          <a:p>
            <a:pPr>
              <a:lnSpc>
                <a:spcPct val="150000"/>
              </a:lnSpc>
            </a:pPr>
            <a:r>
              <a:rPr lang="en-US" sz="1400" dirty="0" err="1"/>
              <a:t>GPIO</a:t>
            </a:r>
            <a:r>
              <a:rPr lang="en-US" sz="1400" i="1" dirty="0" err="1"/>
              <a:t>_InitStructure.GPIO_</a:t>
            </a:r>
            <a:r>
              <a:rPr lang="en-US" sz="1400" dirty="0" err="1"/>
              <a:t>Mode</a:t>
            </a:r>
            <a:r>
              <a:rPr lang="en-US" sz="1400" dirty="0"/>
              <a:t> = </a:t>
            </a:r>
            <a:r>
              <a:rPr lang="en-US" sz="1400" dirty="0" err="1"/>
              <a:t>GPIO</a:t>
            </a:r>
            <a:r>
              <a:rPr lang="en-US" sz="1400" i="1" dirty="0" err="1"/>
              <a:t>_Mode_</a:t>
            </a:r>
            <a:r>
              <a:rPr lang="en-US" sz="1400" dirty="0" err="1"/>
              <a:t>AF_PP</a:t>
            </a:r>
            <a:r>
              <a:rPr lang="en-US" sz="1400" dirty="0"/>
              <a:t>; </a:t>
            </a:r>
            <a:r>
              <a:rPr lang="en-US" sz="1400" dirty="0" err="1"/>
              <a:t>GPIO</a:t>
            </a:r>
            <a:r>
              <a:rPr lang="en-US" sz="1400" i="1" dirty="0" err="1"/>
              <a:t>_InitStructure.GPIO_</a:t>
            </a:r>
            <a:r>
              <a:rPr lang="en-US" sz="1400" dirty="0" err="1"/>
              <a:t>Speed</a:t>
            </a:r>
            <a:r>
              <a:rPr lang="en-US" sz="1400" dirty="0"/>
              <a:t> = GPIO</a:t>
            </a:r>
            <a:r>
              <a:rPr lang="en-US" sz="1400" i="1" dirty="0"/>
              <a:t>_Speed_</a:t>
            </a:r>
            <a:r>
              <a:rPr lang="en-US" sz="1400" dirty="0"/>
              <a:t>50MHz; </a:t>
            </a:r>
          </a:p>
          <a:p>
            <a:pPr>
              <a:lnSpc>
                <a:spcPct val="150000"/>
              </a:lnSpc>
            </a:pPr>
            <a:r>
              <a:rPr lang="en-US" sz="1400" dirty="0" err="1"/>
              <a:t>GPIO</a:t>
            </a:r>
            <a:r>
              <a:rPr lang="en-US" sz="1400" i="1" dirty="0" err="1"/>
              <a:t>_Init</a:t>
            </a:r>
            <a:r>
              <a:rPr lang="en-US" sz="1400" i="1" dirty="0"/>
              <a:t>(GPIOA, &amp;</a:t>
            </a:r>
            <a:r>
              <a:rPr lang="en-US" sz="1400" i="1" dirty="0" err="1"/>
              <a:t>GPIO_</a:t>
            </a:r>
            <a:r>
              <a:rPr lang="en-US" sz="1400" dirty="0" err="1"/>
              <a:t>InitStructure</a:t>
            </a:r>
            <a:r>
              <a:rPr lang="en-US" sz="1400" dirty="0"/>
              <a:t>);</a:t>
            </a:r>
          </a:p>
          <a:p>
            <a:pPr>
              <a:lnSpc>
                <a:spcPct val="150000"/>
              </a:lnSpc>
            </a:pPr>
            <a:r>
              <a:rPr lang="en-US" altLang="zh-CN" sz="1400" dirty="0"/>
              <a:t>}</a:t>
            </a:r>
          </a:p>
          <a:p>
            <a:pPr>
              <a:lnSpc>
                <a:spcPct val="150000"/>
              </a:lnSpc>
            </a:pPr>
            <a:r>
              <a:rPr lang="en-US" altLang="zh-CN" sz="1400" dirty="0" err="1"/>
              <a:t>typedef</a:t>
            </a:r>
            <a:r>
              <a:rPr lang="en-US" altLang="zh-CN" sz="1400" dirty="0"/>
              <a:t> </a:t>
            </a:r>
            <a:r>
              <a:rPr lang="en-US" altLang="zh-CN" sz="1400" dirty="0" err="1"/>
              <a:t>struct</a:t>
            </a:r>
            <a:endParaRPr lang="en-US" altLang="zh-CN" sz="1400" dirty="0"/>
          </a:p>
          <a:p>
            <a:pPr>
              <a:lnSpc>
                <a:spcPct val="150000"/>
              </a:lnSpc>
            </a:pPr>
            <a:r>
              <a:rPr lang="en-US" altLang="zh-CN" sz="1400" dirty="0"/>
              <a:t>{</a:t>
            </a:r>
          </a:p>
          <a:p>
            <a:pPr>
              <a:lnSpc>
                <a:spcPct val="150000"/>
              </a:lnSpc>
            </a:pPr>
            <a:r>
              <a:rPr lang="en-US" altLang="zh-CN" sz="1400" dirty="0"/>
              <a:t>u16 </a:t>
            </a:r>
            <a:r>
              <a:rPr lang="en-US" altLang="zh-CN" sz="1400" dirty="0" err="1"/>
              <a:t>GPIO_Pin</a:t>
            </a:r>
            <a:r>
              <a:rPr lang="en-US" altLang="zh-CN" sz="1400" dirty="0"/>
              <a:t>;</a:t>
            </a:r>
          </a:p>
          <a:p>
            <a:pPr>
              <a:lnSpc>
                <a:spcPct val="150000"/>
              </a:lnSpc>
            </a:pPr>
            <a:r>
              <a:rPr lang="en-US" altLang="zh-CN" sz="1400" dirty="0" err="1"/>
              <a:t>GPIOSpeed_TypeDef</a:t>
            </a:r>
            <a:r>
              <a:rPr lang="en-US" altLang="zh-CN" sz="1400" dirty="0"/>
              <a:t> </a:t>
            </a:r>
            <a:r>
              <a:rPr lang="en-US" altLang="zh-CN" sz="1400" dirty="0" err="1"/>
              <a:t>GPIO_Speed</a:t>
            </a:r>
            <a:r>
              <a:rPr lang="en-US" altLang="zh-CN" sz="1400" dirty="0"/>
              <a:t>;</a:t>
            </a:r>
          </a:p>
          <a:p>
            <a:pPr>
              <a:lnSpc>
                <a:spcPct val="150000"/>
              </a:lnSpc>
            </a:pPr>
            <a:r>
              <a:rPr lang="en-US" altLang="zh-CN" sz="1400" dirty="0" err="1"/>
              <a:t>GPIOMode_TypeDef</a:t>
            </a:r>
            <a:r>
              <a:rPr lang="en-US" altLang="zh-CN" sz="1400" dirty="0"/>
              <a:t> </a:t>
            </a:r>
            <a:r>
              <a:rPr lang="en-US" altLang="zh-CN" sz="1400" dirty="0" err="1"/>
              <a:t>GPIO_Mode</a:t>
            </a:r>
            <a:r>
              <a:rPr lang="en-US" altLang="zh-CN" sz="1400" dirty="0"/>
              <a:t>;</a:t>
            </a:r>
          </a:p>
          <a:p>
            <a:pPr>
              <a:lnSpc>
                <a:spcPct val="150000"/>
              </a:lnSpc>
            </a:pPr>
            <a:r>
              <a:rPr lang="en-US" altLang="zh-CN" sz="1400" dirty="0"/>
              <a:t>}</a:t>
            </a:r>
            <a:r>
              <a:rPr lang="en-US" altLang="zh-CN" sz="1400" dirty="0" err="1"/>
              <a:t>GPIO_InitTypeDef</a:t>
            </a:r>
            <a:r>
              <a:rPr lang="en-US" altLang="zh-CN" sz="1400" dirty="0"/>
              <a:t>;</a:t>
            </a:r>
            <a:endParaRPr lang="zh-CN" altLang="en-US" sz="1400" dirty="0"/>
          </a:p>
          <a:p>
            <a:pPr>
              <a:lnSpc>
                <a:spcPct val="150000"/>
              </a:lnSpc>
            </a:pPr>
            <a:endParaRPr lang="en-US" altLang="zh-CN"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2"/>
          <a:srcRect/>
          <a:stretch>
            <a:fillRect/>
          </a:stretch>
        </p:blipFill>
        <p:spPr bwMode="auto">
          <a:xfrm>
            <a:off x="304606" y="571404"/>
            <a:ext cx="11601450" cy="435292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a:blip r:embed="rId2"/>
          <a:srcRect/>
          <a:stretch>
            <a:fillRect/>
          </a:stretch>
        </p:blipFill>
        <p:spPr bwMode="auto">
          <a:xfrm>
            <a:off x="261744" y="722928"/>
            <a:ext cx="11672109" cy="1845468"/>
          </a:xfrm>
          <a:prstGeom prst="rect">
            <a:avLst/>
          </a:prstGeom>
          <a:noFill/>
          <a:ln w="9525">
            <a:noFill/>
            <a:miter lim="800000"/>
            <a:headEnd/>
            <a:tailEnd/>
          </a:ln>
          <a:effectLst/>
        </p:spPr>
      </p:pic>
      <p:sp>
        <p:nvSpPr>
          <p:cNvPr id="4" name="TextBox 3"/>
          <p:cNvSpPr txBox="1"/>
          <p:nvPr/>
        </p:nvSpPr>
        <p:spPr>
          <a:xfrm>
            <a:off x="466531" y="5430416"/>
            <a:ext cx="10963469" cy="873060"/>
          </a:xfrm>
          <a:prstGeom prst="rect">
            <a:avLst/>
          </a:prstGeom>
          <a:noFill/>
        </p:spPr>
        <p:txBody>
          <a:bodyPr wrap="square" rtlCol="0">
            <a:spAutoFit/>
          </a:bodyPr>
          <a:lstStyle/>
          <a:p>
            <a:pPr>
              <a:lnSpc>
                <a:spcPct val="150000"/>
              </a:lnSpc>
            </a:pPr>
            <a:r>
              <a:rPr lang="zh-CN" altLang="en-US" dirty="0"/>
              <a:t>其中</a:t>
            </a:r>
            <a:r>
              <a:rPr lang="en-US" altLang="zh-CN" dirty="0"/>
              <a:t>GPIO_Speed_10Mhz</a:t>
            </a:r>
            <a:r>
              <a:rPr lang="zh-CN" altLang="en-US" dirty="0"/>
              <a:t>已经定义为</a:t>
            </a:r>
            <a:r>
              <a:rPr lang="en-US" altLang="zh-CN" dirty="0"/>
              <a:t>1</a:t>
            </a:r>
            <a:r>
              <a:rPr lang="zh-CN" altLang="en-US" dirty="0"/>
              <a:t>，</a:t>
            </a:r>
            <a:r>
              <a:rPr lang="en-US" altLang="zh-CN" dirty="0"/>
              <a:t> GPIO_Speed_2Mhz</a:t>
            </a:r>
            <a:r>
              <a:rPr lang="zh-CN" altLang="en-US" dirty="0"/>
              <a:t>，</a:t>
            </a:r>
            <a:r>
              <a:rPr lang="en-US" altLang="zh-CN" dirty="0"/>
              <a:t> GPIO_Speed_50Mhz</a:t>
            </a:r>
            <a:r>
              <a:rPr lang="zh-CN" altLang="en-US" dirty="0"/>
              <a:t>依次被编译器赋予</a:t>
            </a:r>
            <a:r>
              <a:rPr lang="en-US" altLang="zh-CN" dirty="0"/>
              <a:t>2,3.</a:t>
            </a:r>
            <a:endParaRPr lang="zh-CN" altLang="en-US" dirty="0"/>
          </a:p>
        </p:txBody>
      </p:sp>
      <p:sp>
        <p:nvSpPr>
          <p:cNvPr id="7" name="TextBox 6"/>
          <p:cNvSpPr txBox="1"/>
          <p:nvPr/>
        </p:nvSpPr>
        <p:spPr>
          <a:xfrm>
            <a:off x="886408" y="2808514"/>
            <a:ext cx="6727371" cy="2169825"/>
          </a:xfrm>
          <a:prstGeom prst="rect">
            <a:avLst/>
          </a:prstGeom>
          <a:noFill/>
        </p:spPr>
        <p:txBody>
          <a:bodyPr wrap="square" rtlCol="0">
            <a:spAutoFit/>
          </a:bodyPr>
          <a:lstStyle/>
          <a:p>
            <a:pPr>
              <a:lnSpc>
                <a:spcPct val="150000"/>
              </a:lnSpc>
            </a:pPr>
            <a:r>
              <a:rPr lang="en-US" dirty="0" err="1"/>
              <a:t>typedef</a:t>
            </a:r>
            <a:r>
              <a:rPr lang="en-US" dirty="0"/>
              <a:t> </a:t>
            </a:r>
            <a:r>
              <a:rPr lang="en-US" dirty="0" err="1"/>
              <a:t>enum</a:t>
            </a:r>
            <a:r>
              <a:rPr lang="en-US" dirty="0"/>
              <a:t> </a:t>
            </a:r>
          </a:p>
          <a:p>
            <a:pPr>
              <a:lnSpc>
                <a:spcPct val="150000"/>
              </a:lnSpc>
            </a:pPr>
            <a:r>
              <a:rPr lang="en-US" dirty="0"/>
              <a:t>{ GPIO_Speed_10MHz = 1, </a:t>
            </a:r>
          </a:p>
          <a:p>
            <a:pPr>
              <a:lnSpc>
                <a:spcPct val="150000"/>
              </a:lnSpc>
            </a:pPr>
            <a:r>
              <a:rPr lang="en-US" dirty="0"/>
              <a:t>GPIO_Speed_2MHz, </a:t>
            </a:r>
          </a:p>
          <a:p>
            <a:pPr>
              <a:lnSpc>
                <a:spcPct val="150000"/>
              </a:lnSpc>
            </a:pPr>
            <a:r>
              <a:rPr lang="en-US" dirty="0"/>
              <a:t>GPIO_Speed_50MHz </a:t>
            </a:r>
          </a:p>
          <a:p>
            <a:pPr>
              <a:lnSpc>
                <a:spcPct val="150000"/>
              </a:lnSpc>
            </a:pPr>
            <a:r>
              <a:rPr lang="en-US" dirty="0"/>
              <a:t>}</a:t>
            </a:r>
            <a:r>
              <a:rPr lang="en-US" dirty="0" err="1"/>
              <a:t>GPIOSpeed_TypeDef</a:t>
            </a:r>
            <a:r>
              <a:rPr lang="en-US" dirty="0"/>
              <a:t>;</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srcRect/>
          <a:stretch>
            <a:fillRect/>
          </a:stretch>
        </p:blipFill>
        <p:spPr bwMode="auto">
          <a:xfrm>
            <a:off x="290514" y="480617"/>
            <a:ext cx="10672956" cy="2092565"/>
          </a:xfrm>
          <a:prstGeom prst="rect">
            <a:avLst/>
          </a:prstGeom>
          <a:noFill/>
          <a:ln w="9525">
            <a:noFill/>
            <a:miter lim="800000"/>
            <a:headEnd/>
            <a:tailEnd/>
          </a:ln>
          <a:effectLst/>
        </p:spPr>
      </p:pic>
      <p:sp>
        <p:nvSpPr>
          <p:cNvPr id="7" name="TextBox 6"/>
          <p:cNvSpPr txBox="1"/>
          <p:nvPr/>
        </p:nvSpPr>
        <p:spPr>
          <a:xfrm>
            <a:off x="7693388" y="2402329"/>
            <a:ext cx="3937120" cy="4662815"/>
          </a:xfrm>
          <a:prstGeom prst="rect">
            <a:avLst/>
          </a:prstGeom>
          <a:noFill/>
        </p:spPr>
        <p:txBody>
          <a:bodyPr wrap="square" rtlCol="0">
            <a:spAutoFit/>
          </a:bodyPr>
          <a:lstStyle/>
          <a:p>
            <a:pPr>
              <a:lnSpc>
                <a:spcPct val="150000"/>
              </a:lnSpc>
            </a:pPr>
            <a:r>
              <a:rPr lang="zh-CN" altLang="en-US" b="1" dirty="0">
                <a:solidFill>
                  <a:srgbClr val="FF0000"/>
                </a:solidFill>
              </a:rPr>
              <a:t>从</a:t>
            </a:r>
            <a:r>
              <a:rPr lang="en-US" b="1" dirty="0" err="1">
                <a:solidFill>
                  <a:srgbClr val="FF0000"/>
                </a:solidFill>
              </a:rPr>
              <a:t>GPIO_Init</a:t>
            </a:r>
            <a:r>
              <a:rPr lang="zh-CN" altLang="en-US" b="1" dirty="0">
                <a:solidFill>
                  <a:srgbClr val="FF0000"/>
                </a:solidFill>
              </a:rPr>
              <a:t>函数中可以看出，库函数屏蔽了对寄存器的操作，直接通过参数对功能进行设置即可。固件库首先将各个设备所有寄存器的配置字进行预定义，然后封装在结构或枚举变量中，待用户调用对应的固件库函数时，会根据用户传入的参数从这些封装好的结构或枚举变量中取出对应的配置字，最后写入寄存器，完成对底层寄存器的配置。</a:t>
            </a:r>
          </a:p>
          <a:p>
            <a:pPr>
              <a:lnSpc>
                <a:spcPct val="150000"/>
              </a:lnSpc>
            </a:pPr>
            <a:endParaRPr lang="zh-CN" altLang="en-US" b="1" dirty="0">
              <a:solidFill>
                <a:srgbClr val="FF0000"/>
              </a:solidFill>
            </a:endParaRPr>
          </a:p>
        </p:txBody>
      </p:sp>
      <p:sp>
        <p:nvSpPr>
          <p:cNvPr id="8" name="TextBox 7"/>
          <p:cNvSpPr txBox="1"/>
          <p:nvPr/>
        </p:nvSpPr>
        <p:spPr>
          <a:xfrm>
            <a:off x="579700" y="2530962"/>
            <a:ext cx="7142683" cy="4401205"/>
          </a:xfrm>
          <a:prstGeom prst="rect">
            <a:avLst/>
          </a:prstGeom>
          <a:noFill/>
        </p:spPr>
        <p:txBody>
          <a:bodyPr wrap="square" rtlCol="0">
            <a:spAutoFit/>
          </a:bodyPr>
          <a:lstStyle/>
          <a:p>
            <a:pPr>
              <a:lnSpc>
                <a:spcPct val="150000"/>
              </a:lnSpc>
            </a:pPr>
            <a:r>
              <a:rPr lang="en-US" altLang="en-US" sz="1600" dirty="0" err="1"/>
              <a:t>Typedef</a:t>
            </a:r>
            <a:r>
              <a:rPr lang="en-US" altLang="en-US" sz="1600" dirty="0"/>
              <a:t> </a:t>
            </a:r>
            <a:r>
              <a:rPr lang="en-US" altLang="en-US" sz="1600" dirty="0" err="1"/>
              <a:t>enum</a:t>
            </a:r>
            <a:endParaRPr lang="zh-CN" altLang="en-US" sz="1600" dirty="0"/>
          </a:p>
          <a:p>
            <a:pPr>
              <a:lnSpc>
                <a:spcPct val="150000"/>
              </a:lnSpc>
            </a:pPr>
            <a:r>
              <a:rPr lang="en-US" altLang="en-US" sz="1600" dirty="0"/>
              <a:t>{</a:t>
            </a:r>
            <a:r>
              <a:rPr lang="en-US" altLang="en-US" sz="1600" dirty="0" err="1"/>
              <a:t>GPIO_Mode_AIN</a:t>
            </a:r>
            <a:r>
              <a:rPr lang="en-US" altLang="en-US" sz="1600" dirty="0"/>
              <a:t> = 0x0, </a:t>
            </a:r>
            <a:r>
              <a:rPr lang="zh-CN" altLang="en-US" sz="1600" dirty="0"/>
              <a:t>模拟输入</a:t>
            </a:r>
          </a:p>
          <a:p>
            <a:pPr>
              <a:lnSpc>
                <a:spcPct val="150000"/>
              </a:lnSpc>
            </a:pPr>
            <a:r>
              <a:rPr lang="en-US" altLang="en-US" sz="1600" dirty="0" err="1"/>
              <a:t>GPIO_Mode_IN_FLOATING</a:t>
            </a:r>
            <a:r>
              <a:rPr lang="en-US" altLang="en-US" sz="1600" dirty="0"/>
              <a:t> = 0x04, </a:t>
            </a:r>
            <a:r>
              <a:rPr lang="zh-CN" altLang="en-US" sz="1600" dirty="0"/>
              <a:t>浮空输入</a:t>
            </a:r>
          </a:p>
          <a:p>
            <a:pPr>
              <a:lnSpc>
                <a:spcPct val="150000"/>
              </a:lnSpc>
            </a:pPr>
            <a:r>
              <a:rPr lang="en-US" altLang="en-US" sz="1600" dirty="0" err="1"/>
              <a:t>GPIO_Mode_IPD</a:t>
            </a:r>
            <a:r>
              <a:rPr lang="en-US" altLang="en-US" sz="1600" dirty="0"/>
              <a:t> = 0x28, </a:t>
            </a:r>
            <a:r>
              <a:rPr lang="zh-CN" altLang="en-US" sz="1600" dirty="0"/>
              <a:t>带下拉输入</a:t>
            </a:r>
          </a:p>
          <a:p>
            <a:pPr>
              <a:lnSpc>
                <a:spcPct val="150000"/>
              </a:lnSpc>
            </a:pPr>
            <a:r>
              <a:rPr lang="en-US" altLang="en-US" sz="1600" dirty="0" err="1"/>
              <a:t>GPIO_Mode_IPU</a:t>
            </a:r>
            <a:r>
              <a:rPr lang="en-US" altLang="en-US" sz="1600" dirty="0"/>
              <a:t> = 0x48, </a:t>
            </a:r>
            <a:r>
              <a:rPr lang="zh-CN" altLang="en-US" sz="1600" dirty="0"/>
              <a:t>带上拉输入</a:t>
            </a:r>
          </a:p>
          <a:p>
            <a:pPr>
              <a:lnSpc>
                <a:spcPct val="150000"/>
              </a:lnSpc>
            </a:pPr>
            <a:r>
              <a:rPr lang="en-US" altLang="en-US" sz="1600" dirty="0" err="1"/>
              <a:t>GPIO_Mode_Out_OD</a:t>
            </a:r>
            <a:r>
              <a:rPr lang="en-US" altLang="en-US" sz="1600" dirty="0"/>
              <a:t> = 0x14, </a:t>
            </a:r>
            <a:r>
              <a:rPr lang="zh-CN" altLang="en-US" sz="1600" dirty="0"/>
              <a:t>表示配置相应管脚为</a:t>
            </a:r>
            <a:r>
              <a:rPr lang="en-US" altLang="en-US" sz="1600" dirty="0"/>
              <a:t> GPIO </a:t>
            </a:r>
            <a:r>
              <a:rPr lang="zh-CN" altLang="en-US" sz="1600" dirty="0"/>
              <a:t>开漏输出</a:t>
            </a:r>
            <a:r>
              <a:rPr lang="en-US" altLang="en-US" sz="1600" dirty="0"/>
              <a:t>(</a:t>
            </a:r>
            <a:r>
              <a:rPr lang="zh-CN" altLang="en-US" sz="1600" dirty="0"/>
              <a:t>真双向</a:t>
            </a:r>
            <a:r>
              <a:rPr lang="en-US" altLang="en-US" sz="1600" dirty="0"/>
              <a:t> IO)</a:t>
            </a:r>
            <a:endParaRPr lang="zh-CN" altLang="en-US" sz="1600" dirty="0"/>
          </a:p>
          <a:p>
            <a:pPr>
              <a:lnSpc>
                <a:spcPct val="150000"/>
              </a:lnSpc>
            </a:pPr>
            <a:r>
              <a:rPr lang="en-US" altLang="en-US" sz="1600" dirty="0" err="1"/>
              <a:t>GPIO_Mode_Out_PP</a:t>
            </a:r>
            <a:r>
              <a:rPr lang="en-US" altLang="en-US" sz="1600" dirty="0"/>
              <a:t> = 0x10, </a:t>
            </a:r>
            <a:r>
              <a:rPr lang="zh-CN" altLang="en-US" sz="1600" dirty="0"/>
              <a:t>通用推挽输出模式</a:t>
            </a:r>
          </a:p>
          <a:p>
            <a:pPr>
              <a:lnSpc>
                <a:spcPct val="150000"/>
              </a:lnSpc>
            </a:pPr>
            <a:r>
              <a:rPr lang="en-US" altLang="en-US" sz="1600" dirty="0" err="1"/>
              <a:t>GPIO_Mode_AF_OD</a:t>
            </a:r>
            <a:r>
              <a:rPr lang="en-US" altLang="en-US" sz="1600" dirty="0"/>
              <a:t> = 0x1C, </a:t>
            </a:r>
            <a:r>
              <a:rPr lang="zh-CN" altLang="en-US" sz="1600" dirty="0"/>
              <a:t>表示配置相应管脚为复用功能的开漏输出</a:t>
            </a:r>
          </a:p>
          <a:p>
            <a:pPr>
              <a:lnSpc>
                <a:spcPct val="150000"/>
              </a:lnSpc>
            </a:pPr>
            <a:r>
              <a:rPr lang="en-US" altLang="en-US" sz="1600" dirty="0" err="1"/>
              <a:t>GPIO_Mode_AF_PP</a:t>
            </a:r>
            <a:r>
              <a:rPr lang="en-US" altLang="en-US" sz="1600" dirty="0"/>
              <a:t> = 0x18 </a:t>
            </a:r>
            <a:r>
              <a:rPr lang="zh-CN" altLang="en-US" sz="1600" dirty="0"/>
              <a:t>复用功能的推挽输出模式</a:t>
            </a:r>
          </a:p>
          <a:p>
            <a:pPr>
              <a:lnSpc>
                <a:spcPct val="150000"/>
              </a:lnSpc>
            </a:pPr>
            <a:r>
              <a:rPr lang="en-US" altLang="en-US" sz="1600" dirty="0"/>
              <a:t>}</a:t>
            </a:r>
            <a:r>
              <a:rPr lang="en-US" altLang="en-US" sz="1600" dirty="0" err="1"/>
              <a:t>GPIOMode_TypeDef</a:t>
            </a:r>
            <a:r>
              <a:rPr lang="en-US" altLang="en-US" sz="1600" dirty="0"/>
              <a:t>;</a:t>
            </a:r>
            <a:endParaRPr lang="zh-CN" altLang="en-US" sz="1600" dirty="0"/>
          </a:p>
          <a:p>
            <a:endParaRPr lang="zh-CN" alt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1"/>
          <p:cNvPicPr>
            <a:picLocks noChangeAspect="1" noChangeArrowheads="1"/>
          </p:cNvPicPr>
          <p:nvPr/>
        </p:nvPicPr>
        <p:blipFill>
          <a:blip r:embed="rId2"/>
          <a:srcRect/>
          <a:stretch>
            <a:fillRect/>
          </a:stretch>
        </p:blipFill>
        <p:spPr bwMode="auto">
          <a:xfrm>
            <a:off x="667042" y="588023"/>
            <a:ext cx="9458325" cy="50101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srcRect/>
          <a:stretch>
            <a:fillRect/>
          </a:stretch>
        </p:blipFill>
        <p:spPr bwMode="auto">
          <a:xfrm>
            <a:off x="437277" y="1110342"/>
            <a:ext cx="11299258" cy="3367088"/>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2"/>
          <a:srcRect/>
          <a:stretch>
            <a:fillRect/>
          </a:stretch>
        </p:blipFill>
        <p:spPr bwMode="auto">
          <a:xfrm>
            <a:off x="242888" y="342900"/>
            <a:ext cx="11706225" cy="61722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2"/>
          <a:srcRect/>
          <a:stretch>
            <a:fillRect/>
          </a:stretch>
        </p:blipFill>
        <p:spPr bwMode="auto">
          <a:xfrm>
            <a:off x="321841" y="315360"/>
            <a:ext cx="10520329" cy="6226317"/>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srcRect/>
          <a:stretch>
            <a:fillRect/>
          </a:stretch>
        </p:blipFill>
        <p:spPr bwMode="auto">
          <a:xfrm>
            <a:off x="751697" y="670249"/>
            <a:ext cx="4362450" cy="5181600"/>
          </a:xfrm>
          <a:prstGeom prst="rect">
            <a:avLst/>
          </a:prstGeom>
          <a:noFill/>
          <a:ln w="9525">
            <a:noFill/>
            <a:miter lim="800000"/>
            <a:headEnd/>
            <a:tailEnd/>
          </a:ln>
          <a:effectLst/>
        </p:spPr>
      </p:pic>
      <p:pic>
        <p:nvPicPr>
          <p:cNvPr id="4" name="Picture 2"/>
          <p:cNvPicPr>
            <a:picLocks noChangeAspect="1" noChangeArrowheads="1"/>
          </p:cNvPicPr>
          <p:nvPr/>
        </p:nvPicPr>
        <p:blipFill>
          <a:blip r:embed="rId3"/>
          <a:srcRect/>
          <a:stretch>
            <a:fillRect/>
          </a:stretch>
        </p:blipFill>
        <p:spPr bwMode="auto">
          <a:xfrm>
            <a:off x="6686938" y="657225"/>
            <a:ext cx="4267200" cy="5543550"/>
          </a:xfrm>
          <a:prstGeom prst="rect">
            <a:avLst/>
          </a:prstGeom>
          <a:noFill/>
          <a:ln w="9525">
            <a:noFill/>
            <a:miter lim="800000"/>
            <a:headEnd/>
            <a:tailEnd/>
          </a:ln>
          <a:effectLst/>
        </p:spPr>
      </p:pic>
      <p:sp>
        <p:nvSpPr>
          <p:cNvPr id="5" name="TextBox 4"/>
          <p:cNvSpPr txBox="1"/>
          <p:nvPr/>
        </p:nvSpPr>
        <p:spPr>
          <a:xfrm>
            <a:off x="326572" y="419878"/>
            <a:ext cx="1017037" cy="369332"/>
          </a:xfrm>
          <a:prstGeom prst="rect">
            <a:avLst/>
          </a:prstGeom>
          <a:noFill/>
        </p:spPr>
        <p:txBody>
          <a:bodyPr wrap="square" rtlCol="0">
            <a:spAutoFit/>
          </a:bodyPr>
          <a:lstStyle/>
          <a:p>
            <a:r>
              <a:rPr lang="en-US" altLang="zh-CN" b="1" dirty="0">
                <a:solidFill>
                  <a:schemeClr val="accent2">
                    <a:lumMod val="75000"/>
                  </a:schemeClr>
                </a:solidFill>
              </a:rPr>
              <a:t>1</a:t>
            </a:r>
            <a:endParaRPr lang="zh-CN" altLang="en-US" b="1" dirty="0">
              <a:solidFill>
                <a:schemeClr val="accent2">
                  <a:lumMod val="75000"/>
                </a:schemeClr>
              </a:solidFill>
            </a:endParaRPr>
          </a:p>
        </p:txBody>
      </p:sp>
      <p:sp>
        <p:nvSpPr>
          <p:cNvPr id="6" name="TextBox 5"/>
          <p:cNvSpPr txBox="1"/>
          <p:nvPr/>
        </p:nvSpPr>
        <p:spPr>
          <a:xfrm>
            <a:off x="6064909" y="419873"/>
            <a:ext cx="905069" cy="369332"/>
          </a:xfrm>
          <a:prstGeom prst="rect">
            <a:avLst/>
          </a:prstGeom>
          <a:noFill/>
        </p:spPr>
        <p:txBody>
          <a:bodyPr wrap="square" rtlCol="0">
            <a:spAutoFit/>
          </a:bodyPr>
          <a:lstStyle/>
          <a:p>
            <a:r>
              <a:rPr lang="en-US" altLang="zh-CN" b="1" dirty="0">
                <a:solidFill>
                  <a:schemeClr val="accent2">
                    <a:lumMod val="75000"/>
                  </a:schemeClr>
                </a:solidFill>
              </a:rPr>
              <a:t>2</a:t>
            </a:r>
            <a:endParaRPr lang="zh-CN" altLang="en-US" b="1" dirty="0">
              <a:solidFill>
                <a:schemeClr val="accent2">
                  <a:lumMod val="75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srcRect/>
          <a:stretch>
            <a:fillRect/>
          </a:stretch>
        </p:blipFill>
        <p:spPr bwMode="auto">
          <a:xfrm>
            <a:off x="294887" y="326863"/>
            <a:ext cx="11639550" cy="885825"/>
          </a:xfrm>
          <a:prstGeom prst="rect">
            <a:avLst/>
          </a:prstGeom>
          <a:noFill/>
          <a:ln w="9525">
            <a:noFill/>
            <a:miter lim="800000"/>
            <a:headEnd/>
            <a:tailEnd/>
          </a:ln>
          <a:effectLst/>
        </p:spPr>
      </p:pic>
      <p:pic>
        <p:nvPicPr>
          <p:cNvPr id="72707" name="Picture 3"/>
          <p:cNvPicPr>
            <a:picLocks noChangeAspect="1" noChangeArrowheads="1"/>
          </p:cNvPicPr>
          <p:nvPr/>
        </p:nvPicPr>
        <p:blipFill>
          <a:blip r:embed="rId3"/>
          <a:srcRect/>
          <a:stretch>
            <a:fillRect/>
          </a:stretch>
        </p:blipFill>
        <p:spPr bwMode="auto">
          <a:xfrm>
            <a:off x="323267" y="1246317"/>
            <a:ext cx="11601450" cy="2219325"/>
          </a:xfrm>
          <a:prstGeom prst="rect">
            <a:avLst/>
          </a:prstGeom>
          <a:noFill/>
          <a:ln w="9525">
            <a:noFill/>
            <a:miter lim="800000"/>
            <a:headEnd/>
            <a:tailEnd/>
          </a:ln>
          <a:effectLst/>
        </p:spPr>
      </p:pic>
      <p:pic>
        <p:nvPicPr>
          <p:cNvPr id="72708" name="Picture 4"/>
          <p:cNvPicPr>
            <a:picLocks noChangeAspect="1" noChangeArrowheads="1"/>
          </p:cNvPicPr>
          <p:nvPr/>
        </p:nvPicPr>
        <p:blipFill>
          <a:blip r:embed="rId4"/>
          <a:srcRect/>
          <a:stretch>
            <a:fillRect/>
          </a:stretch>
        </p:blipFill>
        <p:spPr bwMode="auto">
          <a:xfrm>
            <a:off x="375265" y="3491303"/>
            <a:ext cx="11534775" cy="752475"/>
          </a:xfrm>
          <a:prstGeom prst="rect">
            <a:avLst/>
          </a:prstGeom>
          <a:noFill/>
          <a:ln w="9525">
            <a:noFill/>
            <a:miter lim="800000"/>
            <a:headEnd/>
            <a:tailEnd/>
          </a:ln>
          <a:effectLst/>
        </p:spPr>
      </p:pic>
      <p:pic>
        <p:nvPicPr>
          <p:cNvPr id="72709" name="Picture 5"/>
          <p:cNvPicPr>
            <a:picLocks noChangeAspect="1" noChangeArrowheads="1"/>
          </p:cNvPicPr>
          <p:nvPr/>
        </p:nvPicPr>
        <p:blipFill>
          <a:blip r:embed="rId5"/>
          <a:srcRect/>
          <a:stretch>
            <a:fillRect/>
          </a:stretch>
        </p:blipFill>
        <p:spPr bwMode="auto">
          <a:xfrm>
            <a:off x="267283" y="4411435"/>
            <a:ext cx="11601450" cy="15621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1" name="Picture 3"/>
          <p:cNvPicPr>
            <a:picLocks noChangeAspect="1" noChangeArrowheads="1"/>
          </p:cNvPicPr>
          <p:nvPr/>
        </p:nvPicPr>
        <p:blipFill>
          <a:blip r:embed="rId2"/>
          <a:srcRect/>
          <a:stretch>
            <a:fillRect/>
          </a:stretch>
        </p:blipFill>
        <p:spPr bwMode="auto">
          <a:xfrm>
            <a:off x="911484" y="331625"/>
            <a:ext cx="8988295" cy="6194343"/>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2"/>
          <a:srcRect/>
          <a:stretch>
            <a:fillRect/>
          </a:stretch>
        </p:blipFill>
        <p:spPr bwMode="auto">
          <a:xfrm>
            <a:off x="760444" y="601144"/>
            <a:ext cx="4419600" cy="523875"/>
          </a:xfrm>
          <a:prstGeom prst="rect">
            <a:avLst/>
          </a:prstGeom>
          <a:noFill/>
          <a:ln w="9525">
            <a:noFill/>
            <a:miter lim="800000"/>
            <a:headEnd/>
            <a:tailEnd/>
          </a:ln>
          <a:effectLst/>
        </p:spPr>
      </p:pic>
      <p:pic>
        <p:nvPicPr>
          <p:cNvPr id="74755" name="Picture 3"/>
          <p:cNvPicPr>
            <a:picLocks noChangeAspect="1" noChangeArrowheads="1"/>
          </p:cNvPicPr>
          <p:nvPr/>
        </p:nvPicPr>
        <p:blipFill>
          <a:blip r:embed="rId3"/>
          <a:srcRect/>
          <a:stretch>
            <a:fillRect/>
          </a:stretch>
        </p:blipFill>
        <p:spPr bwMode="auto">
          <a:xfrm>
            <a:off x="911873" y="1050666"/>
            <a:ext cx="9696450" cy="539115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2"/>
          <a:srcRect/>
          <a:stretch>
            <a:fillRect/>
          </a:stretch>
        </p:blipFill>
        <p:spPr bwMode="auto">
          <a:xfrm>
            <a:off x="890880" y="536316"/>
            <a:ext cx="5353050" cy="550545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2"/>
          <a:srcRect/>
          <a:stretch>
            <a:fillRect/>
          </a:stretch>
        </p:blipFill>
        <p:spPr bwMode="auto">
          <a:xfrm>
            <a:off x="942975" y="785813"/>
            <a:ext cx="10306050" cy="528637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2122" y="329746"/>
            <a:ext cx="11265160" cy="7013715"/>
          </a:xfrm>
          <a:prstGeom prst="rect">
            <a:avLst/>
          </a:prstGeom>
        </p:spPr>
        <p:txBody>
          <a:bodyPr wrap="square">
            <a:spAutoFit/>
          </a:bodyPr>
          <a:lstStyle/>
          <a:p>
            <a:pPr>
              <a:lnSpc>
                <a:spcPct val="150000"/>
              </a:lnSpc>
            </a:pPr>
            <a:r>
              <a:rPr lang="en-US" dirty="0"/>
              <a:t>#include “stm32f10x_lib.h”//</a:t>
            </a:r>
            <a:r>
              <a:rPr lang="zh-CN" altLang="en-US" dirty="0"/>
              <a:t>头文件</a:t>
            </a:r>
            <a:br>
              <a:rPr lang="zh-CN" altLang="en-US" dirty="0"/>
            </a:br>
            <a:r>
              <a:rPr lang="en-US" dirty="0"/>
              <a:t>void </a:t>
            </a:r>
            <a:r>
              <a:rPr lang="en-US" dirty="0" err="1"/>
              <a:t>GPIO_Configuration</a:t>
            </a:r>
            <a:r>
              <a:rPr lang="en-US" dirty="0"/>
              <a:t>(void)</a:t>
            </a:r>
            <a:br>
              <a:rPr lang="en-US" dirty="0"/>
            </a:br>
            <a:r>
              <a:rPr lang="en-US" dirty="0"/>
              <a:t>{</a:t>
            </a:r>
          </a:p>
          <a:p>
            <a:pPr>
              <a:lnSpc>
                <a:spcPct val="150000"/>
              </a:lnSpc>
            </a:pPr>
            <a:r>
              <a:rPr lang="en-US" dirty="0" err="1"/>
              <a:t>SystemI</a:t>
            </a:r>
            <a:r>
              <a:rPr lang="en-US" altLang="zh-CN" dirty="0" err="1"/>
              <a:t>nit</a:t>
            </a:r>
            <a:r>
              <a:rPr lang="en-US" altLang="zh-CN" dirty="0"/>
              <a:t>();</a:t>
            </a:r>
            <a:br>
              <a:rPr lang="en-US" dirty="0"/>
            </a:br>
            <a:r>
              <a:rPr lang="en-US" dirty="0"/>
              <a:t>RCC_APB2PeriphClockCmd(RCC_APB2Periph_GPIOA, ENABLE); //</a:t>
            </a:r>
            <a:r>
              <a:rPr lang="zh-CN" altLang="en-US" dirty="0"/>
              <a:t>开 </a:t>
            </a:r>
            <a:r>
              <a:rPr lang="en-US" dirty="0"/>
              <a:t>GPIOA </a:t>
            </a:r>
            <a:r>
              <a:rPr lang="zh-CN" altLang="en-US" dirty="0"/>
              <a:t>时钟</a:t>
            </a:r>
            <a:br>
              <a:rPr lang="zh-CN" altLang="en-US" dirty="0"/>
            </a:br>
            <a:r>
              <a:rPr lang="en-US" dirty="0" err="1"/>
              <a:t>GPIO_InitTypeDef</a:t>
            </a:r>
            <a:r>
              <a:rPr lang="en-US" dirty="0"/>
              <a:t> </a:t>
            </a:r>
            <a:r>
              <a:rPr lang="en-US" dirty="0" err="1"/>
              <a:t>GPIO_InitStructure</a:t>
            </a:r>
            <a:r>
              <a:rPr lang="en-US" dirty="0"/>
              <a:t>;</a:t>
            </a:r>
            <a:br>
              <a:rPr lang="en-US" dirty="0"/>
            </a:br>
            <a:r>
              <a:rPr lang="en-US" dirty="0" err="1"/>
              <a:t>GPIO_InitStructure.GPIO_Pin</a:t>
            </a:r>
            <a:r>
              <a:rPr lang="en-US" dirty="0"/>
              <a:t> = GPIO_Pin_2| GPIO_Pin_3;//</a:t>
            </a:r>
            <a:r>
              <a:rPr lang="zh-CN" altLang="en-US" dirty="0"/>
              <a:t>设置</a:t>
            </a:r>
            <a:r>
              <a:rPr lang="en-US" dirty="0"/>
              <a:t>led</a:t>
            </a:r>
            <a:r>
              <a:rPr lang="zh-CN" altLang="en-US" dirty="0"/>
              <a:t>灯连在第二、三管脚</a:t>
            </a:r>
            <a:br>
              <a:rPr lang="zh-CN" altLang="en-US" dirty="0"/>
            </a:br>
            <a:r>
              <a:rPr lang="en-US" dirty="0" err="1"/>
              <a:t>GPIO_InitStructure.GPIO_Mode</a:t>
            </a:r>
            <a:r>
              <a:rPr lang="en-US" dirty="0"/>
              <a:t> = </a:t>
            </a:r>
            <a:r>
              <a:rPr lang="en-US" dirty="0" err="1"/>
              <a:t>GPIO_Mode_Out_PP</a:t>
            </a:r>
            <a:r>
              <a:rPr lang="en-US" dirty="0"/>
              <a:t>; //GPIO</a:t>
            </a:r>
            <a:r>
              <a:rPr lang="zh-CN" altLang="en-US" dirty="0"/>
              <a:t>的工作状态为推挽输出</a:t>
            </a:r>
            <a:br>
              <a:rPr lang="zh-CN" altLang="en-US" dirty="0"/>
            </a:br>
            <a:r>
              <a:rPr lang="en-US" dirty="0" err="1"/>
              <a:t>GPIO_InitStructure.GPIO_Speed</a:t>
            </a:r>
            <a:r>
              <a:rPr lang="en-US" dirty="0"/>
              <a:t> = GPIO_Speed_50MHz; // GPIO</a:t>
            </a:r>
            <a:r>
              <a:rPr lang="zh-CN" altLang="en-US" dirty="0"/>
              <a:t>的速率最高输出速率 </a:t>
            </a:r>
            <a:r>
              <a:rPr lang="en-US" altLang="zh-CN" dirty="0"/>
              <a:t>50</a:t>
            </a:r>
            <a:r>
              <a:rPr lang="en-US" dirty="0"/>
              <a:t>Hz</a:t>
            </a:r>
            <a:br>
              <a:rPr lang="en-US" dirty="0"/>
            </a:br>
            <a:r>
              <a:rPr lang="en-US" dirty="0" err="1"/>
              <a:t>GPIO_Init</a:t>
            </a:r>
            <a:r>
              <a:rPr lang="en-US" dirty="0"/>
              <a:t>(GPIOA, &amp;</a:t>
            </a:r>
            <a:r>
              <a:rPr lang="en-US" dirty="0" err="1"/>
              <a:t>GPIO_InitStructure</a:t>
            </a:r>
            <a:r>
              <a:rPr lang="en-US" dirty="0"/>
              <a:t>); //</a:t>
            </a:r>
            <a:r>
              <a:rPr lang="zh-CN" altLang="en-US" dirty="0"/>
              <a:t>初始化 </a:t>
            </a:r>
            <a:r>
              <a:rPr lang="en-US" dirty="0"/>
              <a:t>GPIOA</a:t>
            </a:r>
            <a:br>
              <a:rPr lang="en-US" dirty="0"/>
            </a:br>
            <a:r>
              <a:rPr lang="en-US" dirty="0"/>
              <a:t>}</a:t>
            </a:r>
            <a:br>
              <a:rPr lang="en-US" dirty="0"/>
            </a:br>
            <a:r>
              <a:rPr lang="en-US" dirty="0"/>
              <a:t>void Delay(vu32 </a:t>
            </a:r>
            <a:r>
              <a:rPr lang="en-US" dirty="0" err="1"/>
              <a:t>nCount</a:t>
            </a:r>
            <a:r>
              <a:rPr lang="en-US" dirty="0"/>
              <a:t>) //</a:t>
            </a:r>
            <a:r>
              <a:rPr lang="zh-CN" altLang="en-US" dirty="0"/>
              <a:t>延时函数，不解释</a:t>
            </a:r>
            <a:br>
              <a:rPr lang="zh-CN" altLang="en-US" dirty="0"/>
            </a:br>
            <a:r>
              <a:rPr lang="en-US" altLang="zh-CN" dirty="0"/>
              <a:t>{</a:t>
            </a:r>
            <a:br>
              <a:rPr lang="zh-CN" altLang="en-US" dirty="0"/>
            </a:br>
            <a:r>
              <a:rPr lang="zh-CN" altLang="en-US" dirty="0"/>
              <a:t>     </a:t>
            </a:r>
            <a:r>
              <a:rPr lang="en-US" dirty="0"/>
              <a:t>for(; </a:t>
            </a:r>
            <a:r>
              <a:rPr lang="en-US" dirty="0" err="1"/>
              <a:t>nCount</a:t>
            </a:r>
            <a:r>
              <a:rPr lang="en-US" dirty="0"/>
              <a:t> != 0; </a:t>
            </a:r>
            <a:r>
              <a:rPr lang="en-US" dirty="0" err="1"/>
              <a:t>nCount</a:t>
            </a:r>
            <a:r>
              <a:rPr lang="en-US" dirty="0"/>
              <a:t>--);</a:t>
            </a:r>
            <a:br>
              <a:rPr lang="en-US" dirty="0"/>
            </a:br>
            <a:r>
              <a:rPr lang="en-US" dirty="0"/>
              <a:t>}</a:t>
            </a:r>
            <a:br>
              <a:rPr lang="en-US" sz="1600" dirty="0"/>
            </a:br>
            <a:br>
              <a:rPr lang="en-US" sz="1600" dirty="0"/>
            </a:br>
            <a:endParaRPr lang="zh-CN" alt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2122" y="413725"/>
            <a:ext cx="11041225" cy="6324808"/>
          </a:xfrm>
          <a:prstGeom prst="rect">
            <a:avLst/>
          </a:prstGeom>
        </p:spPr>
        <p:txBody>
          <a:bodyPr wrap="square">
            <a:spAutoFit/>
          </a:bodyPr>
          <a:lstStyle/>
          <a:p>
            <a:pPr>
              <a:lnSpc>
                <a:spcPct val="150000"/>
              </a:lnSpc>
            </a:pPr>
            <a:r>
              <a:rPr lang="en-US" dirty="0"/>
              <a:t>main()</a:t>
            </a:r>
            <a:br>
              <a:rPr lang="en-US" dirty="0"/>
            </a:br>
            <a:r>
              <a:rPr lang="en-US" dirty="0"/>
              <a:t>{</a:t>
            </a:r>
            <a:br>
              <a:rPr lang="en-US" dirty="0"/>
            </a:br>
            <a:r>
              <a:rPr lang="en-US" dirty="0"/>
              <a:t>   </a:t>
            </a:r>
            <a:r>
              <a:rPr lang="en-US" dirty="0" err="1"/>
              <a:t>GPIO_Configuration</a:t>
            </a:r>
            <a:r>
              <a:rPr lang="en-US" dirty="0"/>
              <a:t>() </a:t>
            </a:r>
            <a:r>
              <a:rPr lang="zh-CN" altLang="en-US" dirty="0"/>
              <a:t>；</a:t>
            </a:r>
            <a:br>
              <a:rPr lang="en-US" dirty="0"/>
            </a:br>
            <a:r>
              <a:rPr lang="en-US" dirty="0"/>
              <a:t>while(1)</a:t>
            </a:r>
            <a:br>
              <a:rPr lang="en-US" dirty="0"/>
            </a:br>
            <a:r>
              <a:rPr lang="en-US" dirty="0"/>
              <a:t>{   </a:t>
            </a:r>
            <a:br>
              <a:rPr lang="en-US" dirty="0"/>
            </a:br>
            <a:r>
              <a:rPr lang="en-US" dirty="0" err="1"/>
              <a:t>GPIO_SetBits</a:t>
            </a:r>
            <a:r>
              <a:rPr lang="en-US" dirty="0"/>
              <a:t>(GPIOA, GPIO_Pin_2);//</a:t>
            </a:r>
            <a:r>
              <a:rPr lang="zh-CN" altLang="en-US" dirty="0"/>
              <a:t>将 </a:t>
            </a:r>
            <a:r>
              <a:rPr lang="en-US" dirty="0"/>
              <a:t>GPIO</a:t>
            </a:r>
            <a:r>
              <a:rPr lang="zh-CN" altLang="en-US" dirty="0"/>
              <a:t>的</a:t>
            </a:r>
            <a:r>
              <a:rPr lang="en-US" dirty="0"/>
              <a:t>A</a:t>
            </a:r>
            <a:r>
              <a:rPr lang="zh-CN" altLang="en-US" dirty="0"/>
              <a:t>端口第二个管脚置为高电平，即</a:t>
            </a:r>
            <a:r>
              <a:rPr lang="en-US" dirty="0"/>
              <a:t>PA.1=1;</a:t>
            </a:r>
            <a:br>
              <a:rPr lang="en-US" dirty="0"/>
            </a:br>
            <a:r>
              <a:rPr lang="en-US" dirty="0"/>
              <a:t>Delay(0xfffff);</a:t>
            </a:r>
            <a:br>
              <a:rPr lang="en-US" dirty="0"/>
            </a:br>
            <a:r>
              <a:rPr lang="en-US" dirty="0" err="1"/>
              <a:t>GPIO_ResetBits</a:t>
            </a:r>
            <a:r>
              <a:rPr lang="en-US" dirty="0"/>
              <a:t>(GPIOA, GPIO_Pin_2);//</a:t>
            </a:r>
            <a:r>
              <a:rPr lang="zh-CN" altLang="en-US" dirty="0"/>
              <a:t>将 </a:t>
            </a:r>
            <a:r>
              <a:rPr lang="en-US" dirty="0"/>
              <a:t>GPIO</a:t>
            </a:r>
            <a:r>
              <a:rPr lang="zh-CN" altLang="en-US" dirty="0"/>
              <a:t>的 </a:t>
            </a:r>
            <a:r>
              <a:rPr lang="en-US" dirty="0"/>
              <a:t>A</a:t>
            </a:r>
            <a:r>
              <a:rPr lang="zh-CN" altLang="en-US" dirty="0"/>
              <a:t>端口第二个管脚置为低电平，即</a:t>
            </a:r>
            <a:r>
              <a:rPr lang="en-US" dirty="0"/>
              <a:t>PA.1=0;</a:t>
            </a:r>
          </a:p>
          <a:p>
            <a:pPr>
              <a:lnSpc>
                <a:spcPct val="150000"/>
              </a:lnSpc>
            </a:pPr>
            <a:r>
              <a:rPr lang="en-US" dirty="0"/>
              <a:t>Delay(0xfffff);</a:t>
            </a:r>
          </a:p>
          <a:p>
            <a:pPr>
              <a:lnSpc>
                <a:spcPct val="150000"/>
              </a:lnSpc>
            </a:pPr>
            <a:r>
              <a:rPr lang="en-US" dirty="0" err="1"/>
              <a:t>GPIO_SetBits</a:t>
            </a:r>
            <a:r>
              <a:rPr lang="en-US" dirty="0"/>
              <a:t>(GPIOA, GPIO_Pin_3);//</a:t>
            </a:r>
            <a:r>
              <a:rPr lang="zh-CN" altLang="en-US" dirty="0"/>
              <a:t>将 </a:t>
            </a:r>
            <a:r>
              <a:rPr lang="en-US" dirty="0"/>
              <a:t>GPIO</a:t>
            </a:r>
            <a:r>
              <a:rPr lang="zh-CN" altLang="en-US" dirty="0"/>
              <a:t>的</a:t>
            </a:r>
            <a:r>
              <a:rPr lang="en-US" dirty="0"/>
              <a:t>A</a:t>
            </a:r>
            <a:r>
              <a:rPr lang="zh-CN" altLang="en-US" dirty="0"/>
              <a:t>端口第二个管脚置为高电平，即</a:t>
            </a:r>
            <a:r>
              <a:rPr lang="en-US" dirty="0"/>
              <a:t>PA.1=1;</a:t>
            </a:r>
            <a:br>
              <a:rPr lang="en-US" dirty="0"/>
            </a:br>
            <a:r>
              <a:rPr lang="en-US" dirty="0"/>
              <a:t>Delay(0xfffff);</a:t>
            </a:r>
            <a:br>
              <a:rPr lang="en-US" dirty="0"/>
            </a:br>
            <a:r>
              <a:rPr lang="en-US" dirty="0" err="1"/>
              <a:t>GPIO_ResetBits</a:t>
            </a:r>
            <a:r>
              <a:rPr lang="en-US" dirty="0"/>
              <a:t>(GPIOA, GPIO_Pin_3);//</a:t>
            </a:r>
            <a:r>
              <a:rPr lang="zh-CN" altLang="en-US" dirty="0"/>
              <a:t>将 </a:t>
            </a:r>
            <a:r>
              <a:rPr lang="en-US" dirty="0"/>
              <a:t>GPIO</a:t>
            </a:r>
            <a:r>
              <a:rPr lang="zh-CN" altLang="en-US" dirty="0"/>
              <a:t>的 </a:t>
            </a:r>
            <a:r>
              <a:rPr lang="en-US" dirty="0"/>
              <a:t>A</a:t>
            </a:r>
            <a:r>
              <a:rPr lang="zh-CN" altLang="en-US" dirty="0"/>
              <a:t>端口第二个管脚置为低电平，即</a:t>
            </a:r>
            <a:r>
              <a:rPr lang="en-US" dirty="0"/>
              <a:t>PA.1=0;</a:t>
            </a:r>
            <a:br>
              <a:rPr lang="en-US" dirty="0"/>
            </a:br>
            <a:r>
              <a:rPr lang="en-US" dirty="0"/>
              <a:t>Delay(0xfffff);</a:t>
            </a:r>
            <a:br>
              <a:rPr lang="en-US" dirty="0"/>
            </a:br>
            <a:r>
              <a:rPr lang="en-US" dirty="0"/>
              <a:t>}</a:t>
            </a:r>
            <a:br>
              <a:rPr lang="en-US" dirty="0"/>
            </a:br>
            <a:r>
              <a:rPr lang="en-US" dirty="0"/>
              <a:t>}</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7.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8.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9.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0.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1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3720</TotalTime>
  <Words>5768</Words>
  <Application>Microsoft Office PowerPoint</Application>
  <PresentationFormat>宽屏</PresentationFormat>
  <Paragraphs>285</Paragraphs>
  <Slides>53</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53</vt:i4>
      </vt:variant>
    </vt:vector>
  </HeadingPairs>
  <TitlesOfParts>
    <vt:vector size="60" baseType="lpstr">
      <vt:lpstr>等线</vt:lpstr>
      <vt:lpstr>Arial</vt:lpstr>
      <vt:lpstr>Century Gothic</vt:lpstr>
      <vt:lpstr>Verdana</vt:lpstr>
      <vt:lpstr>Wingdings</vt:lpstr>
      <vt:lpstr>Office 主题</vt:lpstr>
      <vt:lpstr>mjwangyu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宇佩 马</cp:lastModifiedBy>
  <cp:revision>377</cp:revision>
  <dcterms:created xsi:type="dcterms:W3CDTF">2017-06-03T01:25:00Z</dcterms:created>
  <dcterms:modified xsi:type="dcterms:W3CDTF">2026-06-14T07:29:45Z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