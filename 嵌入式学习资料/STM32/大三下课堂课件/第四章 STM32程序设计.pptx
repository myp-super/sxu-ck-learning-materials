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Default Extension="wdp" ContentType="image/vnd.ms-photo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7"/>
  </p:notesMasterIdLst>
  <p:sldIdLst>
    <p:sldId id="256" r:id="rId3"/>
    <p:sldId id="400" r:id="rId4"/>
    <p:sldId id="401" r:id="rId5"/>
    <p:sldId id="402" r:id="rId6"/>
    <p:sldId id="405" r:id="rId7"/>
    <p:sldId id="406" r:id="rId8"/>
    <p:sldId id="407" r:id="rId9"/>
    <p:sldId id="415" r:id="rId10"/>
    <p:sldId id="431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6" r:id="rId19"/>
    <p:sldId id="417" r:id="rId20"/>
    <p:sldId id="418" r:id="rId21"/>
    <p:sldId id="419" r:id="rId22"/>
    <p:sldId id="421" r:id="rId23"/>
    <p:sldId id="422" r:id="rId24"/>
    <p:sldId id="423" r:id="rId25"/>
    <p:sldId id="424" r:id="rId2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07">
          <p15:clr>
            <a:srgbClr val="A4A3A4"/>
          </p15:clr>
        </p15:guide>
        <p15:guide id="2" pos="375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29E"/>
    <a:srgbClr val="5494C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 autoAdjust="0"/>
  </p:normalViewPr>
  <p:slideViewPr>
    <p:cSldViewPr snapToGrid="0" showGuides="1">
      <p:cViewPr varScale="1">
        <p:scale>
          <a:sx n="68" d="100"/>
          <a:sy n="68" d="100"/>
        </p:scale>
        <p:origin x="-552" y="-60"/>
      </p:cViewPr>
      <p:guideLst>
        <p:guide orient="horz" pos="2107"/>
        <p:guide pos="37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7AC20-8C1D-44D7-B35A-E6F76E68648C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C7271-7ECD-45B6-A4AF-14DDD8E7181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对角圆角矩形 5"/>
          <p:cNvSpPr/>
          <p:nvPr userDrawn="1"/>
        </p:nvSpPr>
        <p:spPr>
          <a:xfrm flipH="1">
            <a:off x="260350" y="330200"/>
            <a:ext cx="11671300" cy="6197600"/>
          </a:xfrm>
          <a:prstGeom prst="round2DiagRect">
            <a:avLst>
              <a:gd name="adj1" fmla="val 4989"/>
              <a:gd name="adj2" fmla="val 0"/>
            </a:avLst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A473D-8055-43E1-A01D-B0413067B7D8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D81A-C667-4EE5-93BD-6120260630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背景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9"/>
          <p:cNvSpPr>
            <a:spLocks noGrp="1"/>
          </p:cNvSpPr>
          <p:nvPr>
            <p:ph type="pic" sz="quarter" idx="13" hasCustomPrompt="1"/>
          </p:nvPr>
        </p:nvSpPr>
        <p:spPr>
          <a:xfrm>
            <a:off x="183526" y="301839"/>
            <a:ext cx="7882284" cy="44336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8" name="图片占位符 9"/>
          <p:cNvSpPr>
            <a:spLocks noGrp="1"/>
          </p:cNvSpPr>
          <p:nvPr>
            <p:ph type="pic" sz="quarter" idx="14" hasCustomPrompt="1"/>
          </p:nvPr>
        </p:nvSpPr>
        <p:spPr>
          <a:xfrm>
            <a:off x="8174953" y="287325"/>
            <a:ext cx="3856784" cy="21693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9" name="图片占位符 9"/>
          <p:cNvSpPr>
            <a:spLocks noGrp="1"/>
          </p:cNvSpPr>
          <p:nvPr>
            <p:ph type="pic" sz="quarter" idx="15" hasCustomPrompt="1"/>
          </p:nvPr>
        </p:nvSpPr>
        <p:spPr>
          <a:xfrm>
            <a:off x="8174953" y="2575658"/>
            <a:ext cx="3856784" cy="21693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9"/>
          <p:cNvSpPr>
            <a:spLocks noGrp="1"/>
          </p:cNvSpPr>
          <p:nvPr>
            <p:ph type="pic" sz="quarter" idx="13" hasCustomPrompt="1"/>
          </p:nvPr>
        </p:nvSpPr>
        <p:spPr>
          <a:xfrm>
            <a:off x="631384" y="347886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8" name="图片占位符 9"/>
          <p:cNvSpPr>
            <a:spLocks noGrp="1"/>
          </p:cNvSpPr>
          <p:nvPr>
            <p:ph type="pic" sz="quarter" idx="15" hasCustomPrompt="1"/>
          </p:nvPr>
        </p:nvSpPr>
        <p:spPr>
          <a:xfrm>
            <a:off x="4300500" y="347886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9" name="图片占位符 9"/>
          <p:cNvSpPr>
            <a:spLocks noGrp="1"/>
          </p:cNvSpPr>
          <p:nvPr>
            <p:ph type="pic" sz="quarter" idx="16" hasCustomPrompt="1"/>
          </p:nvPr>
        </p:nvSpPr>
        <p:spPr>
          <a:xfrm>
            <a:off x="7969616" y="347886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7" hasCustomPrompt="1"/>
          </p:nvPr>
        </p:nvSpPr>
        <p:spPr>
          <a:xfrm>
            <a:off x="631384" y="2423590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8" hasCustomPrompt="1"/>
          </p:nvPr>
        </p:nvSpPr>
        <p:spPr>
          <a:xfrm>
            <a:off x="4300500" y="2423590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9" hasCustomPrompt="1"/>
          </p:nvPr>
        </p:nvSpPr>
        <p:spPr>
          <a:xfrm>
            <a:off x="7969616" y="2423590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20" hasCustomPrompt="1"/>
          </p:nvPr>
        </p:nvSpPr>
        <p:spPr>
          <a:xfrm>
            <a:off x="631384" y="4499294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4" name="图片占位符 9"/>
          <p:cNvSpPr>
            <a:spLocks noGrp="1"/>
          </p:cNvSpPr>
          <p:nvPr>
            <p:ph type="pic" sz="quarter" idx="21" hasCustomPrompt="1"/>
          </p:nvPr>
        </p:nvSpPr>
        <p:spPr>
          <a:xfrm>
            <a:off x="4300500" y="4499294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22" hasCustomPrompt="1"/>
          </p:nvPr>
        </p:nvSpPr>
        <p:spPr>
          <a:xfrm>
            <a:off x="7969616" y="4499294"/>
            <a:ext cx="3574901" cy="20108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背景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9"/>
          <p:cNvSpPr>
            <a:spLocks noGrp="1"/>
          </p:cNvSpPr>
          <p:nvPr>
            <p:ph type="pic" sz="quarter" idx="13" hasCustomPrompt="1"/>
          </p:nvPr>
        </p:nvSpPr>
        <p:spPr>
          <a:xfrm>
            <a:off x="947430" y="523274"/>
            <a:ext cx="5109526" cy="28740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9" name="图片占位符 9"/>
          <p:cNvSpPr>
            <a:spLocks noGrp="1"/>
          </p:cNvSpPr>
          <p:nvPr>
            <p:ph type="pic" sz="quarter" idx="16" hasCustomPrompt="1"/>
          </p:nvPr>
        </p:nvSpPr>
        <p:spPr>
          <a:xfrm>
            <a:off x="6136402" y="523274"/>
            <a:ext cx="5109526" cy="28740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20" hasCustomPrompt="1"/>
          </p:nvPr>
        </p:nvSpPr>
        <p:spPr>
          <a:xfrm>
            <a:off x="947430" y="3469401"/>
            <a:ext cx="5109526" cy="28740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22" hasCustomPrompt="1"/>
          </p:nvPr>
        </p:nvSpPr>
        <p:spPr>
          <a:xfrm>
            <a:off x="6136402" y="3469401"/>
            <a:ext cx="5109526" cy="28740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975" b="1"/>
            </a:lvl1pPr>
          </a:lstStyle>
          <a:p>
            <a:r>
              <a:rPr lang="zh-CN" altLang="en-US" dirty="0"/>
              <a:t>点击中心图标添加图片</a:t>
            </a:r>
            <a:endParaRPr lang="en-US" altLang="zh-CN" dirty="0"/>
          </a:p>
          <a:p>
            <a:r>
              <a:rPr lang="en-US" altLang="zh-CN" dirty="0"/>
              <a:t>(SAYOU)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权声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5444248" y="3083669"/>
            <a:ext cx="1303506" cy="1303506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14" tIns="32257" rIns="64514" bIns="32257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800" b="1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142690" y="4587099"/>
            <a:ext cx="1906622" cy="646382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95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微信公众号</a:t>
            </a:r>
          </a:p>
        </p:txBody>
      </p:sp>
      <p:pic>
        <p:nvPicPr>
          <p:cNvPr id="14" name="图片 13" descr="图片包含 文字, 纵横字谜&#10;&#10;已生成极高可信度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6401" y="3125822"/>
            <a:ext cx="1219200" cy="121919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2731852" y="3083669"/>
            <a:ext cx="1303506" cy="1303506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14" tIns="32257" rIns="64514" bIns="32257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800" b="1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430294" y="4587099"/>
            <a:ext cx="1906622" cy="646382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95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微博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2787981" y="3139797"/>
            <a:ext cx="1191249" cy="1191249"/>
            <a:chOff x="4094696" y="2530197"/>
            <a:chExt cx="1191249" cy="1191249"/>
          </a:xfrm>
        </p:grpSpPr>
        <p:sp>
          <p:nvSpPr>
            <p:cNvPr id="15" name="矩形 14"/>
            <p:cNvSpPr/>
            <p:nvPr userDrawn="1"/>
          </p:nvSpPr>
          <p:spPr>
            <a:xfrm>
              <a:off x="4094696" y="2530197"/>
              <a:ext cx="1191249" cy="1191249"/>
            </a:xfrm>
            <a:prstGeom prst="rect">
              <a:avLst/>
            </a:prstGeom>
            <a:solidFill>
              <a:schemeClr val="tx1"/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 sz="2345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147387" y="2582888"/>
              <a:ext cx="1085866" cy="1085866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 userDrawn="1"/>
        </p:nvSpPr>
        <p:spPr>
          <a:xfrm>
            <a:off x="8156642" y="3083669"/>
            <a:ext cx="1303506" cy="1303506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14" tIns="32257" rIns="64514" bIns="32257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800" b="1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55085" y="4587099"/>
            <a:ext cx="1906622" cy="646382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95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QQ</a:t>
            </a:r>
            <a:endParaRPr lang="zh-CN" altLang="en-US" sz="1695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8212772" y="3139797"/>
            <a:ext cx="1191249" cy="1191249"/>
            <a:chOff x="7049311" y="3295887"/>
            <a:chExt cx="1191249" cy="1191249"/>
          </a:xfrm>
        </p:grpSpPr>
        <p:sp>
          <p:nvSpPr>
            <p:cNvPr id="17" name="矩形 16"/>
            <p:cNvSpPr/>
            <p:nvPr userDrawn="1"/>
          </p:nvSpPr>
          <p:spPr>
            <a:xfrm>
              <a:off x="7049311" y="3295887"/>
              <a:ext cx="1191249" cy="1191249"/>
            </a:xfrm>
            <a:prstGeom prst="rect">
              <a:avLst/>
            </a:prstGeom>
            <a:solidFill>
              <a:schemeClr val="tx1"/>
            </a:solidFill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 sz="2345"/>
            </a:p>
          </p:txBody>
        </p:sp>
        <p:pic>
          <p:nvPicPr>
            <p:cNvPr id="18" name="图片 17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095938" y="3342514"/>
              <a:ext cx="1097994" cy="1097994"/>
            </a:xfrm>
            <a:prstGeom prst="rect">
              <a:avLst/>
            </a:prstGeom>
          </p:spPr>
        </p:pic>
      </p:grpSp>
      <p:sp>
        <p:nvSpPr>
          <p:cNvPr id="21" name="矩形 20"/>
          <p:cNvSpPr/>
          <p:nvPr userDrawn="1"/>
        </p:nvSpPr>
        <p:spPr>
          <a:xfrm>
            <a:off x="5142690" y="1623060"/>
            <a:ext cx="1906622" cy="60167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和我联系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5B134-9E54-4233-9AD4-A661A84126CB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5ECC8-A750-41F8-9F51-0C19912CE8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362400" y="136525"/>
            <a:ext cx="5466080" cy="617538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62400" y="754064"/>
            <a:ext cx="5466080" cy="40075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consectetuer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</a:t>
            </a: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773278" y="754063"/>
            <a:ext cx="644324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A473D-8055-43E1-A01D-B0413067B7D8}" type="datetimeFigureOut">
              <a:rPr lang="zh-CN" altLang="en-US" smtClean="0"/>
              <a:pPr/>
              <a:t>2020/10/13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8D81A-C667-4EE5-93BD-6120260630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txStyles>
    <p:titleStyle>
      <a:lvl1pPr algn="l" defTabSz="1044575" rtl="0" eaLnBrk="1" latinLnBrk="0" hangingPunct="1">
        <a:lnSpc>
          <a:spcPct val="90000"/>
        </a:lnSpc>
        <a:spcBef>
          <a:spcPct val="0"/>
        </a:spcBef>
        <a:buNone/>
        <a:defRPr sz="50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985" indent="-260985" algn="l" defTabSz="1044575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83590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45" kern="1200">
          <a:solidFill>
            <a:schemeClr val="tx1"/>
          </a:solidFill>
          <a:latin typeface="+mn-lt"/>
          <a:ea typeface="+mn-ea"/>
          <a:cs typeface="+mn-cs"/>
        </a:defRPr>
      </a:lvl2pPr>
      <a:lvl3pPr marL="1306195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5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351405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874010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396615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919220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441190" indent="-260985" algn="l" defTabSz="1044575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22605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1045210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3pPr>
      <a:lvl4pPr marL="1567815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089785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612390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134995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180205" algn="l" defTabSz="1044575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6%87%E4%BB%B6%E5%8C%85%E5%90%AB/18707044" TargetMode="External"/><Relationship Id="rId2" Type="http://schemas.openxmlformats.org/officeDocument/2006/relationships/hyperlink" Target="https://baike.baidu.com/item/%E5%AE%8F%E5%AE%9A%E4%B9%89/8711494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ike.baidu.com/item/%E6%9D%A1%E4%BB%B6%E7%BC%96%E8%AF%91/769295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3135044" y="1380931"/>
            <a:ext cx="7872925" cy="2056324"/>
          </a:xfrm>
          <a:prstGeom prst="roundRect">
            <a:avLst>
              <a:gd name="adj" fmla="val 18269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6000" dirty="0" smtClean="0">
                <a:solidFill>
                  <a:schemeClr val="tx1"/>
                </a:solidFill>
              </a:rPr>
              <a:t>第四章</a:t>
            </a:r>
            <a:r>
              <a:rPr lang="en-US" altLang="zh-CN" sz="6000" dirty="0" smtClean="0">
                <a:solidFill>
                  <a:schemeClr val="tx1"/>
                </a:solidFill>
              </a:rPr>
              <a:t/>
            </a:r>
            <a:br>
              <a:rPr lang="en-US" altLang="zh-CN" sz="6000" dirty="0" smtClean="0">
                <a:solidFill>
                  <a:schemeClr val="tx1"/>
                </a:solidFill>
              </a:rPr>
            </a:br>
            <a:r>
              <a:rPr lang="en-US" altLang="zh-CN" sz="6000" dirty="0" smtClean="0">
                <a:solidFill>
                  <a:schemeClr val="tx1"/>
                </a:solidFill>
              </a:rPr>
              <a:t>STM32</a:t>
            </a:r>
            <a:r>
              <a:rPr lang="zh-CN" altLang="en-US" sz="6000" dirty="0" smtClean="0">
                <a:solidFill>
                  <a:schemeClr val="tx1"/>
                </a:solidFill>
              </a:rPr>
              <a:t>程序设计</a:t>
            </a:r>
            <a:endParaRPr lang="zh-CN" altLang="en-US" sz="6000" dirty="0">
              <a:solidFill>
                <a:schemeClr val="tx1"/>
              </a:solidFill>
            </a:endParaRPr>
          </a:p>
        </p:txBody>
      </p:sp>
      <p:pic>
        <p:nvPicPr>
          <p:cNvPr id="6" name="图片 5" descr="A000220150319H47PPIC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H="1">
            <a:off x="454660" y="3429000"/>
            <a:ext cx="2596515" cy="2995295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17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077273" y="763659"/>
            <a:ext cx="1352760" cy="135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1427480" y="1276350"/>
            <a:ext cx="9674225" cy="9525"/>
          </a:xfrm>
          <a:prstGeom prst="line">
            <a:avLst/>
          </a:prstGeom>
          <a:ln w="19050" cap="flat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/>
          <p:cNvSpPr txBox="1">
            <a:spLocks/>
          </p:cNvSpPr>
          <p:nvPr/>
        </p:nvSpPr>
        <p:spPr>
          <a:xfrm>
            <a:off x="1097280" y="538540"/>
            <a:ext cx="10058400" cy="145075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嵌入式</a:t>
            </a:r>
            <a:r>
              <a:rPr kumimoji="0" lang="en-US" altLang="zh-CN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语言知识精编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1919" y="1313212"/>
            <a:ext cx="9912220" cy="529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9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1.</a:t>
            </a:r>
            <a:r>
              <a:rPr lang="zh-CN" altLang="en-US" b="1" dirty="0" smtClean="0">
                <a:solidFill>
                  <a:srgbClr val="C00000"/>
                </a:solidFill>
              </a:rPr>
              <a:t>关键字</a:t>
            </a:r>
          </a:p>
          <a:p>
            <a:pPr>
              <a:lnSpc>
                <a:spcPts val="2900"/>
              </a:lnSpc>
            </a:pPr>
            <a:r>
              <a:rPr lang="zh-CN" altLang="en-US" dirty="0" smtClean="0"/>
              <a:t>      关键字是一列具有固定名称和特定含义的特殊标识符，又称保留字。在编写程序时一般不允许将关键字另作他用。</a:t>
            </a:r>
          </a:p>
          <a:p>
            <a:pPr>
              <a:lnSpc>
                <a:spcPts val="29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(1).const </a:t>
            </a:r>
            <a:r>
              <a:rPr lang="zh-CN" altLang="en-US" dirty="0" smtClean="0"/>
              <a:t>定义常量</a:t>
            </a:r>
          </a:p>
          <a:p>
            <a:pPr>
              <a:lnSpc>
                <a:spcPts val="2900"/>
              </a:lnSpc>
            </a:pPr>
            <a:r>
              <a:rPr lang="en-US" dirty="0" smtClean="0"/>
              <a:t>const</a:t>
            </a:r>
            <a:r>
              <a:rPr lang="en-US" u="sng" dirty="0" smtClean="0"/>
              <a:t> float</a:t>
            </a:r>
            <a:r>
              <a:rPr lang="en-US" dirty="0" smtClean="0"/>
              <a:t> Pi=3.14; </a:t>
            </a:r>
            <a:r>
              <a:rPr lang="zh-CN" altLang="en-US" dirty="0" smtClean="0"/>
              <a:t>类型说明符省略则默认为整型</a:t>
            </a:r>
            <a:r>
              <a:rPr lang="en-US" dirty="0" smtClean="0"/>
              <a:t>int.</a:t>
            </a:r>
            <a:endParaRPr lang="zh-CN" altLang="en-US" dirty="0" smtClean="0"/>
          </a:p>
          <a:p>
            <a:pPr>
              <a:lnSpc>
                <a:spcPts val="29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(2).</a:t>
            </a:r>
            <a:r>
              <a:rPr lang="en-US" b="1" dirty="0" err="1" smtClean="0">
                <a:solidFill>
                  <a:srgbClr val="7030A0"/>
                </a:solidFill>
              </a:rPr>
              <a:t>typedef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zh-CN" altLang="en-US" dirty="0" smtClean="0"/>
              <a:t>给一个已经存在的数据类型</a:t>
            </a:r>
            <a:r>
              <a:rPr lang="en-US" dirty="0" smtClean="0"/>
              <a:t>(</a:t>
            </a:r>
            <a:r>
              <a:rPr lang="zh-CN" altLang="en-US" dirty="0" smtClean="0"/>
              <a:t>注意是类型而不是变量</a:t>
            </a:r>
            <a:r>
              <a:rPr lang="en-US" dirty="0" smtClean="0"/>
              <a:t>)</a:t>
            </a:r>
            <a:r>
              <a:rPr lang="zh-CN" altLang="en-US" dirty="0" smtClean="0"/>
              <a:t>取一个别名，而不是定义一个新的数据类型。</a:t>
            </a:r>
            <a:endParaRPr lang="en-US" altLang="zh-CN" dirty="0" smtClean="0"/>
          </a:p>
          <a:p>
            <a:pPr>
              <a:lnSpc>
                <a:spcPts val="29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(a) </a:t>
            </a:r>
            <a:r>
              <a:rPr lang="zh-CN" altLang="en-US" b="1" dirty="0" smtClean="0">
                <a:solidFill>
                  <a:srgbClr val="0070C0"/>
                </a:solidFill>
              </a:rPr>
              <a:t>基本类型自定义。</a:t>
            </a:r>
            <a:r>
              <a:rPr lang="zh-CN" altLang="en-US" dirty="0" smtClean="0"/>
              <a:t>对所有系统默认的基本类型可以利用自定义语句来重新定义类型名。</a:t>
            </a:r>
          </a:p>
          <a:p>
            <a:pPr>
              <a:lnSpc>
                <a:spcPts val="2900"/>
              </a:lnSpc>
            </a:pPr>
            <a:r>
              <a:rPr lang="en-US" dirty="0" err="1" smtClean="0"/>
              <a:t>Typedef</a:t>
            </a:r>
            <a:r>
              <a:rPr lang="en-US" dirty="0" smtClean="0"/>
              <a:t> float REAL;</a:t>
            </a:r>
            <a:endParaRPr lang="zh-CN" altLang="en-US" dirty="0" smtClean="0"/>
          </a:p>
          <a:p>
            <a:pPr>
              <a:lnSpc>
                <a:spcPts val="2900"/>
              </a:lnSpc>
            </a:pPr>
            <a:r>
              <a:rPr lang="en-US" dirty="0" err="1" smtClean="0"/>
              <a:t>Typedef</a:t>
            </a:r>
            <a:r>
              <a:rPr lang="en-US" dirty="0" smtClean="0"/>
              <a:t> char CHARACTER;</a:t>
            </a:r>
            <a:endParaRPr lang="zh-CN" altLang="en-US" dirty="0" smtClean="0"/>
          </a:p>
          <a:p>
            <a:pPr>
              <a:lnSpc>
                <a:spcPts val="2900"/>
              </a:lnSpc>
            </a:pPr>
            <a:r>
              <a:rPr lang="en-US" dirty="0" smtClean="0"/>
              <a:t>Main()</a:t>
            </a:r>
            <a:endParaRPr lang="zh-CN" altLang="en-US" dirty="0" smtClean="0"/>
          </a:p>
          <a:p>
            <a:pPr>
              <a:lnSpc>
                <a:spcPts val="2900"/>
              </a:lnSpc>
            </a:pPr>
            <a:r>
              <a:rPr lang="en-US" dirty="0" smtClean="0"/>
              <a:t>{</a:t>
            </a:r>
            <a:endParaRPr lang="zh-CN" altLang="en-US" dirty="0" smtClean="0"/>
          </a:p>
          <a:p>
            <a:pPr>
              <a:lnSpc>
                <a:spcPts val="2900"/>
              </a:lnSpc>
            </a:pPr>
            <a:r>
              <a:rPr lang="en-US" dirty="0" smtClean="0"/>
              <a:t>REAL f1;</a:t>
            </a:r>
            <a:endParaRPr lang="zh-CN" altLang="en-US" dirty="0" smtClean="0"/>
          </a:p>
          <a:p>
            <a:pPr>
              <a:lnSpc>
                <a:spcPts val="2900"/>
              </a:lnSpc>
            </a:pPr>
            <a:r>
              <a:rPr lang="en-US" dirty="0" smtClean="0"/>
              <a:t>CHARACTER c1;}	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7395" y="549248"/>
            <a:ext cx="106493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在</a:t>
            </a:r>
            <a:r>
              <a:rPr lang="en-US" dirty="0" smtClean="0"/>
              <a:t>STM32</a:t>
            </a:r>
            <a:r>
              <a:rPr lang="zh-CN" altLang="en-US" dirty="0" smtClean="0"/>
              <a:t>的项目文件</a:t>
            </a:r>
            <a:r>
              <a:rPr lang="en-US" dirty="0" smtClean="0"/>
              <a:t>stm32f10x_type.h</a:t>
            </a:r>
            <a:r>
              <a:rPr lang="zh-CN" altLang="en-US" dirty="0" smtClean="0"/>
              <a:t>中，利用</a:t>
            </a:r>
            <a:r>
              <a:rPr lang="en-US" dirty="0" err="1" smtClean="0"/>
              <a:t>typedef</a:t>
            </a:r>
            <a:r>
              <a:rPr lang="zh-CN" altLang="en-US" dirty="0" smtClean="0"/>
              <a:t>定义了许多数据类型：</a:t>
            </a:r>
            <a:endParaRPr lang="zh-CN" altLang="en-US" dirty="0"/>
          </a:p>
        </p:txBody>
      </p:sp>
      <p:pic>
        <p:nvPicPr>
          <p:cNvPr id="1034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053" y="942392"/>
            <a:ext cx="6685655" cy="508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91" y="348018"/>
            <a:ext cx="8628743" cy="61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1"/>
          <p:cNvSpPr>
            <a:spLocks noChangeArrowheads="1"/>
          </p:cNvSpPr>
          <p:nvPr/>
        </p:nvSpPr>
        <p:spPr bwMode="auto">
          <a:xfrm>
            <a:off x="354563" y="597159"/>
            <a:ext cx="785637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n-ea"/>
                <a:cs typeface="Times New Roman" pitchFamily="18" charset="0"/>
              </a:rPr>
              <a:t>(b) 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n-ea"/>
                <a:cs typeface="Times New Roman" pitchFamily="18" charset="0"/>
              </a:rPr>
              <a:t>数组类型自定义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。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格式：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typedef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类型说明符 用户类型名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[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数组长度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]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功能：定义数组用户类型名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7927" y="2278711"/>
            <a:ext cx="8982075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"/>
          <p:cNvSpPr>
            <a:spLocks noChangeArrowheads="1"/>
          </p:cNvSpPr>
          <p:nvPr/>
        </p:nvSpPr>
        <p:spPr bwMode="auto">
          <a:xfrm>
            <a:off x="373225" y="597159"/>
            <a:ext cx="446003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000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ea"/>
                <a:ea typeface="+mj-ea"/>
                <a:cs typeface="Times New Roman" pitchFamily="18" charset="0"/>
              </a:rPr>
              <a:t>(c) 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ea"/>
                <a:ea typeface="+mj-ea"/>
                <a:cs typeface="Times New Roman" pitchFamily="18" charset="0"/>
              </a:rPr>
              <a:t>结构型、共用型自定义。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+mj-ea"/>
              <a:ea typeface="+mj-ea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格式：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typedef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struct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{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类型说明符 成员名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类型说明符 成员民给；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……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类型说明符 成员民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n;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}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用户类型名；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功能：定义数组用户类型名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4634" y="1066606"/>
            <a:ext cx="32004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34144" y="1729176"/>
            <a:ext cx="254317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左右箭头 7"/>
          <p:cNvSpPr/>
          <p:nvPr/>
        </p:nvSpPr>
        <p:spPr>
          <a:xfrm>
            <a:off x="6876661" y="2967135"/>
            <a:ext cx="839755" cy="289249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 smtClean="0">
              <a:solidFill>
                <a:srgbClr val="5494C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>
            <a:spLocks/>
          </p:cNvSpPr>
          <p:nvPr/>
        </p:nvSpPr>
        <p:spPr>
          <a:xfrm>
            <a:off x="630748" y="866009"/>
            <a:ext cx="10058400" cy="402336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329" name="Rectangle 1"/>
          <p:cNvSpPr>
            <a:spLocks noChangeArrowheads="1"/>
          </p:cNvSpPr>
          <p:nvPr/>
        </p:nvSpPr>
        <p:spPr bwMode="auto">
          <a:xfrm>
            <a:off x="429209" y="933061"/>
            <a:ext cx="5443029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ea"/>
                <a:ea typeface="+mj-ea"/>
                <a:cs typeface="Times New Roman" pitchFamily="18" charset="0"/>
              </a:rPr>
              <a:t>(d) 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ea"/>
                <a:ea typeface="+mj-ea"/>
                <a:cs typeface="Times New Roman" pitchFamily="18" charset="0"/>
              </a:rPr>
              <a:t>指针类型自定义。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+mj-ea"/>
              <a:ea typeface="+mj-ea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格式：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typedef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类型说明符 *用户类型名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功能：定义指针用户类型名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ctr"/>
              </a:tabLst>
            </a:pP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7851" y="2827079"/>
            <a:ext cx="844867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6098" y="599707"/>
            <a:ext cx="1124649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(3)Volatile</a:t>
            </a:r>
            <a:r>
              <a:rPr lang="zh-CN" altLang="en-US" b="1" dirty="0" smtClean="0"/>
              <a:t> 本意是</a:t>
            </a:r>
            <a:r>
              <a:rPr lang="en-US" b="1" dirty="0" smtClean="0"/>
              <a:t>“</a:t>
            </a:r>
            <a:r>
              <a:rPr lang="zh-CN" altLang="en-US" b="1" dirty="0" smtClean="0"/>
              <a:t>易变的</a:t>
            </a:r>
            <a:r>
              <a:rPr lang="en-US" b="1" dirty="0" smtClean="0"/>
              <a:t>” </a:t>
            </a:r>
            <a:r>
              <a:rPr lang="zh-CN" altLang="en-US" dirty="0" smtClean="0"/>
              <a:t>因为访问寄存器要比访问内存单元快的多</a:t>
            </a:r>
            <a:r>
              <a:rPr lang="en-US" dirty="0" smtClean="0"/>
              <a:t>,</a:t>
            </a:r>
            <a:r>
              <a:rPr lang="zh-CN" altLang="en-US" dirty="0" smtClean="0"/>
              <a:t>所以编译器一般都会作减少存取内存的优化，但有可能会读脏数据。当要求使用</a:t>
            </a:r>
            <a:r>
              <a:rPr lang="en-US" dirty="0" smtClean="0"/>
              <a:t>volatile</a:t>
            </a:r>
            <a:r>
              <a:rPr lang="zh-CN" altLang="en-US" dirty="0" smtClean="0"/>
              <a:t>声明变量值的时候，系统总是重新从它所在的内存读取数据，即使它前面的指令刚刚从该处读取过数据。精确地说就是，遇到这个关键字声明的变量，编译器对访问该变量的代码就不再进行优化，从而可以提供对特殊地址的稳定访问；如果不使用</a:t>
            </a:r>
            <a:r>
              <a:rPr lang="en-US" dirty="0" err="1" smtClean="0"/>
              <a:t>valatile</a:t>
            </a:r>
            <a:r>
              <a:rPr lang="zh-CN" altLang="en-US" dirty="0" smtClean="0"/>
              <a:t>，则编译器将对所声明的语句进行优化。（简洁的说就是：</a:t>
            </a:r>
            <a:r>
              <a:rPr lang="en-US" dirty="0" smtClean="0"/>
              <a:t>volatile</a:t>
            </a:r>
            <a:r>
              <a:rPr lang="zh-CN" altLang="en-US" dirty="0" smtClean="0"/>
              <a:t>关键词影响编译器编译的结果，用</a:t>
            </a:r>
            <a:r>
              <a:rPr lang="en-US" dirty="0" smtClean="0"/>
              <a:t>volatile</a:t>
            </a:r>
            <a:r>
              <a:rPr lang="zh-CN" altLang="en-US" dirty="0" smtClean="0"/>
              <a:t>声明的变量表示该变量随时可能发生变化，与该变量有关的运算，不要进行编译优化，以免出错）</a:t>
            </a:r>
            <a:endParaRPr lang="zh-CN" altLang="en-US" dirty="0"/>
          </a:p>
        </p:txBody>
      </p:sp>
      <p:pic>
        <p:nvPicPr>
          <p:cNvPr id="9830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5737" y="3236071"/>
            <a:ext cx="363855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1423" y="3686467"/>
            <a:ext cx="2524125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1"/>
          <p:cNvSpPr>
            <a:spLocks noChangeArrowheads="1"/>
          </p:cNvSpPr>
          <p:nvPr/>
        </p:nvSpPr>
        <p:spPr bwMode="auto">
          <a:xfrm>
            <a:off x="401216" y="867747"/>
            <a:ext cx="10889841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1938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ea"/>
                <a:cs typeface="Arial" pitchFamily="34" charset="0"/>
              </a:rPr>
              <a:t>2.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n-ea"/>
                <a:cs typeface="Arial" pitchFamily="34" charset="0"/>
              </a:rPr>
              <a:t>符号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n-ea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        在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ARM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系统中，对于引脚的处理已经不是简单意义上的位处理，而是用了多个寄存器对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rgbClr val="4D4D4D"/>
              </a:solidFill>
              <a:effectLst/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0" marR="0" lvl="0" indent="261938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其进行控制。要控制每一个引脚，必须借助于左移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&lt;&lt;,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右移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&gt;&gt;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，和位逻辑等运算符。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228" y="2689698"/>
            <a:ext cx="116681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590" y="462254"/>
            <a:ext cx="82010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99070" y="4249998"/>
            <a:ext cx="600075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4405" y="668693"/>
            <a:ext cx="859155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88774" y="802632"/>
            <a:ext cx="1115319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C00000"/>
                </a:solidFill>
              </a:rPr>
              <a:t>3.</a:t>
            </a:r>
            <a:r>
              <a:rPr lang="zh-CN" altLang="en-US" b="1" dirty="0" smtClean="0">
                <a:solidFill>
                  <a:srgbClr val="C00000"/>
                </a:solidFill>
              </a:rPr>
              <a:t>预处理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7030A0"/>
                </a:solidFill>
              </a:rPr>
              <a:t>预处理的概念：</a:t>
            </a:r>
            <a:r>
              <a:rPr lang="zh-CN" altLang="en-US" dirty="0" smtClean="0"/>
              <a:t>在编译之前进行的处理。</a:t>
            </a:r>
            <a:r>
              <a:rPr lang="en-US" dirty="0" smtClean="0"/>
              <a:t> C</a:t>
            </a:r>
            <a:r>
              <a:rPr lang="zh-CN" altLang="en-US" dirty="0" smtClean="0"/>
              <a:t>语言的预处理主要有三个方面的内容：</a:t>
            </a:r>
            <a:r>
              <a:rPr lang="en-US" dirty="0" smtClean="0"/>
              <a:t> 1.</a:t>
            </a:r>
            <a:r>
              <a:rPr lang="en-US" dirty="0" smtClean="0">
                <a:hlinkClick r:id="rId2"/>
              </a:rPr>
              <a:t>宏定义</a:t>
            </a:r>
            <a:r>
              <a:rPr lang="zh-CN" altLang="en-US" dirty="0" smtClean="0"/>
              <a:t>；</a:t>
            </a:r>
            <a:r>
              <a:rPr lang="en-US" dirty="0" smtClean="0"/>
              <a:t> 2.</a:t>
            </a:r>
            <a:r>
              <a:rPr lang="en-US" dirty="0" smtClean="0">
                <a:hlinkClick r:id="rId3"/>
              </a:rPr>
              <a:t>文件包含</a:t>
            </a:r>
            <a:r>
              <a:rPr lang="zh-CN" altLang="en-US" dirty="0" smtClean="0"/>
              <a:t>；</a:t>
            </a:r>
            <a:r>
              <a:rPr lang="en-US" dirty="0" smtClean="0"/>
              <a:t> 3.</a:t>
            </a:r>
            <a:r>
              <a:rPr lang="en-US" dirty="0" smtClean="0">
                <a:hlinkClick r:id="rId4"/>
              </a:rPr>
              <a:t>条件编译</a:t>
            </a:r>
            <a:r>
              <a:rPr lang="zh-CN" altLang="en-US" dirty="0" smtClean="0"/>
              <a:t>。 预处理命令以符号</a:t>
            </a:r>
            <a:r>
              <a:rPr lang="en-US" dirty="0" smtClean="0"/>
              <a:t>“#”</a:t>
            </a:r>
            <a:r>
              <a:rPr lang="zh-CN" altLang="en-US" dirty="0" smtClean="0"/>
              <a:t>开头。</a:t>
            </a:r>
            <a:endParaRPr lang="en-US" altLang="zh-CN" dirty="0" smtClean="0"/>
          </a:p>
          <a:p>
            <a:pPr>
              <a:buClr>
                <a:schemeClr val="accent2"/>
              </a:buClr>
              <a:buFont typeface="Wingdings" pitchFamily="2" charset="2"/>
              <a:buChar char="u"/>
            </a:pPr>
            <a:r>
              <a:rPr lang="en-US" b="1" dirty="0" smtClean="0">
                <a:solidFill>
                  <a:schemeClr val="accent2"/>
                </a:solidFill>
              </a:rPr>
              <a:t>#define</a:t>
            </a:r>
            <a:r>
              <a:rPr lang="zh-CN" altLang="en-US" b="1" dirty="0" smtClean="0">
                <a:solidFill>
                  <a:schemeClr val="accent2"/>
                </a:solidFill>
              </a:rPr>
              <a:t>命令     </a:t>
            </a:r>
            <a:r>
              <a:rPr lang="en-US" dirty="0" smtClean="0"/>
              <a:t>#define</a:t>
            </a:r>
            <a:r>
              <a:rPr lang="zh-CN" altLang="en-US" dirty="0" smtClean="0"/>
              <a:t>定义数值宏</a:t>
            </a:r>
            <a:r>
              <a:rPr lang="en-US" dirty="0" smtClean="0"/>
              <a:t>(</a:t>
            </a:r>
            <a:r>
              <a:rPr lang="zh-CN" altLang="en-US" dirty="0" smtClean="0"/>
              <a:t>宏代换、宏替换</a:t>
            </a:r>
            <a:r>
              <a:rPr lang="en-US" dirty="0" smtClean="0"/>
              <a:t>)</a:t>
            </a:r>
            <a:r>
              <a:rPr lang="zh-CN" altLang="en-US" dirty="0" smtClean="0"/>
              <a:t>常量</a:t>
            </a:r>
            <a:r>
              <a:rPr lang="en-US" dirty="0" smtClean="0"/>
              <a:t>.</a:t>
            </a:r>
            <a:endParaRPr lang="zh-CN" altLang="en-US" dirty="0" smtClean="0"/>
          </a:p>
          <a:p>
            <a:r>
              <a:rPr lang="en-US" dirty="0" smtClean="0"/>
              <a:t>#define PI 3.14</a:t>
            </a:r>
            <a:endParaRPr lang="zh-CN" altLang="en-US" dirty="0" smtClean="0"/>
          </a:p>
          <a:p>
            <a:r>
              <a:rPr lang="zh-CN" altLang="en-US" dirty="0" smtClean="0"/>
              <a:t>撤销宏用</a:t>
            </a:r>
            <a:r>
              <a:rPr lang="en-US" dirty="0" smtClean="0"/>
              <a:t>#</a:t>
            </a:r>
            <a:r>
              <a:rPr lang="en-US" dirty="0" err="1" smtClean="0"/>
              <a:t>undef</a:t>
            </a:r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main()  </a:t>
            </a:r>
            <a:endParaRPr lang="zh-CN" altLang="en-US" dirty="0" smtClean="0"/>
          </a:p>
          <a:p>
            <a:r>
              <a:rPr lang="en-US" dirty="0" smtClean="0"/>
              <a:t>    {  </a:t>
            </a:r>
            <a:endParaRPr lang="zh-CN" altLang="en-US" dirty="0" smtClean="0"/>
          </a:p>
          <a:p>
            <a:r>
              <a:rPr lang="en-US" dirty="0" smtClean="0"/>
              <a:t>    #define MODI 10  </a:t>
            </a:r>
            <a:endParaRPr lang="zh-CN" alt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MODI &lt;&lt; </a:t>
            </a:r>
            <a:r>
              <a:rPr lang="en-US" dirty="0" err="1" smtClean="0"/>
              <a:t>endl</a:t>
            </a:r>
            <a:r>
              <a:rPr lang="en-US" dirty="0" smtClean="0"/>
              <a:t>;  </a:t>
            </a:r>
            <a:endParaRPr lang="zh-CN" altLang="en-US" dirty="0" smtClean="0"/>
          </a:p>
          <a:p>
            <a:r>
              <a:rPr lang="en-US" dirty="0" smtClean="0"/>
              <a:t>    #</a:t>
            </a:r>
            <a:r>
              <a:rPr lang="en-US" dirty="0" err="1" smtClean="0"/>
              <a:t>undef</a:t>
            </a:r>
            <a:r>
              <a:rPr lang="en-US" dirty="0" smtClean="0"/>
              <a:t> MODI  </a:t>
            </a:r>
            <a:endParaRPr lang="zh-CN" alt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cout</a:t>
            </a:r>
            <a:r>
              <a:rPr lang="en-US" dirty="0" smtClean="0"/>
              <a:t> &lt;&lt; MODI + 1 &lt;&lt; </a:t>
            </a:r>
            <a:r>
              <a:rPr lang="en-US" dirty="0" err="1" smtClean="0"/>
              <a:t>endl</a:t>
            </a:r>
            <a:r>
              <a:rPr lang="en-US" dirty="0" smtClean="0"/>
              <a:t>;  </a:t>
            </a:r>
            <a:endParaRPr lang="zh-CN" altLang="en-US" dirty="0" smtClean="0"/>
          </a:p>
          <a:p>
            <a:r>
              <a:rPr lang="en-US" dirty="0" smtClean="0"/>
              <a:t>        return 0;  </a:t>
            </a:r>
            <a:endParaRPr lang="zh-CN" altLang="en-US" dirty="0" smtClean="0"/>
          </a:p>
          <a:p>
            <a:r>
              <a:rPr lang="en-US" dirty="0" smtClean="0"/>
              <a:t>} </a:t>
            </a:r>
            <a:endParaRPr lang="zh-CN" altLang="en-US" dirty="0" smtClean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11959" y="2388636"/>
            <a:ext cx="66340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#define TEST_A 1  </a:t>
            </a:r>
            <a:br>
              <a:rPr lang="en-US" dirty="0" smtClean="0"/>
            </a:br>
            <a:r>
              <a:rPr lang="en-US" dirty="0" smtClean="0"/>
              <a:t>#define TEST_CLASS_A clase_T1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#include "</a:t>
            </a:r>
            <a:r>
              <a:rPr lang="en-US" dirty="0" err="1" smtClean="0"/>
              <a:t>TEST.h</a:t>
            </a:r>
            <a:r>
              <a:rPr lang="en-US" dirty="0" smtClean="0"/>
              <a:t>" 在该范围内TEST_CLASS_A被替换为clase_T1</a:t>
            </a:r>
            <a:br>
              <a:rPr lang="en-US" dirty="0" smtClean="0"/>
            </a:br>
            <a:r>
              <a:rPr lang="en-US" dirty="0" smtClean="0"/>
              <a:t>#</a:t>
            </a:r>
            <a:r>
              <a:rPr lang="en-US" dirty="0" err="1" smtClean="0"/>
              <a:t>undef</a:t>
            </a:r>
            <a:r>
              <a:rPr lang="en-US" dirty="0" smtClean="0"/>
              <a:t> TEST_A  </a:t>
            </a:r>
            <a:br>
              <a:rPr lang="en-US" dirty="0" smtClean="0"/>
            </a:br>
            <a:r>
              <a:rPr lang="en-US" dirty="0" smtClean="0"/>
              <a:t>#</a:t>
            </a:r>
            <a:r>
              <a:rPr lang="en-US" dirty="0" err="1" smtClean="0"/>
              <a:t>undef</a:t>
            </a:r>
            <a:r>
              <a:rPr lang="en-US" dirty="0" smtClean="0"/>
              <a:t> TEST_CLASS_A  </a:t>
            </a:r>
            <a:br>
              <a:rPr lang="en-US" dirty="0" smtClean="0"/>
            </a:br>
            <a:r>
              <a:rPr lang="en-US" dirty="0" smtClean="0"/>
              <a:t>#define TEST_A 2  </a:t>
            </a:r>
            <a:br>
              <a:rPr lang="en-US" dirty="0" smtClean="0"/>
            </a:br>
            <a:r>
              <a:rPr lang="en-US" dirty="0" smtClean="0"/>
              <a:t>#define TEST_CLASS_A </a:t>
            </a:r>
            <a:r>
              <a:rPr lang="en-US" dirty="0" err="1" smtClean="0"/>
              <a:t>clase</a:t>
            </a:r>
            <a:r>
              <a:rPr lang="en-US" dirty="0" smtClean="0"/>
              <a:t> T1 clase_T2  </a:t>
            </a:r>
            <a:br>
              <a:rPr lang="en-US" dirty="0" smtClean="0"/>
            </a:br>
            <a:r>
              <a:rPr lang="en-US" dirty="0" smtClean="0"/>
              <a:t>#include "</a:t>
            </a:r>
            <a:r>
              <a:rPr lang="en-US" dirty="0" err="1" smtClean="0"/>
              <a:t>TEST.h</a:t>
            </a:r>
            <a:r>
              <a:rPr lang="en-US" dirty="0" smtClean="0"/>
              <a:t>" </a:t>
            </a:r>
            <a:r>
              <a:rPr lang="en-US" dirty="0" err="1" smtClean="0"/>
              <a:t>在该范围内TEST_CLASS_A被替换为clase</a:t>
            </a:r>
            <a:r>
              <a:rPr lang="en-US" dirty="0" smtClean="0"/>
              <a:t> T2</a:t>
            </a:r>
            <a:br>
              <a:rPr lang="en-US" dirty="0" smtClean="0"/>
            </a:br>
            <a:r>
              <a:rPr lang="en-US" dirty="0" smtClean="0"/>
              <a:t>#</a:t>
            </a:r>
            <a:r>
              <a:rPr lang="en-US" dirty="0" err="1" smtClean="0"/>
              <a:t>undef</a:t>
            </a:r>
            <a:r>
              <a:rPr lang="en-US" dirty="0" smtClean="0"/>
              <a:t> TEST_A  </a:t>
            </a:r>
            <a:br>
              <a:rPr lang="en-US" dirty="0" smtClean="0"/>
            </a:br>
            <a:r>
              <a:rPr lang="en-US" dirty="0" smtClean="0"/>
              <a:t>#</a:t>
            </a:r>
            <a:r>
              <a:rPr lang="en-US" dirty="0" err="1" smtClean="0"/>
              <a:t>undef</a:t>
            </a:r>
            <a:r>
              <a:rPr lang="en-US" dirty="0" smtClean="0"/>
              <a:t> TEST_CLASS_A  </a:t>
            </a:r>
            <a:br>
              <a:rPr lang="en-US" dirty="0" smtClean="0"/>
            </a:br>
            <a:r>
              <a:rPr lang="zh-CN" altLang="en-US" b="1" dirty="0" smtClean="0">
                <a:solidFill>
                  <a:srgbClr val="0070C0"/>
                </a:solidFill>
              </a:rPr>
              <a:t>以上代码的目的就是用宏来实现用同一段代码（在这里为头文件中的代码）得到两种不同的结果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8705" y="725069"/>
            <a:ext cx="2350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#define</a:t>
            </a:r>
            <a:r>
              <a:rPr lang="zh-CN" altLang="en-US" b="1" dirty="0" smtClean="0">
                <a:solidFill>
                  <a:srgbClr val="7030A0"/>
                </a:solidFill>
              </a:rPr>
              <a:t>的扩展用法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pic>
        <p:nvPicPr>
          <p:cNvPr id="931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1763" y="1181489"/>
            <a:ext cx="67056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541176" y="2090057"/>
            <a:ext cx="767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/>
              <a:t>   </a:t>
            </a:r>
            <a:r>
              <a:rPr lang="zh-CN" b="1" dirty="0" smtClean="0">
                <a:solidFill>
                  <a:srgbClr val="7030A0"/>
                </a:solidFill>
              </a:rPr>
              <a:t>在嵌入式系统中，经常对外设某个地址进行访问，也可以用到</a:t>
            </a:r>
            <a:r>
              <a:rPr lang="en-US" altLang="zh-CN" b="1" dirty="0" smtClean="0">
                <a:solidFill>
                  <a:srgbClr val="7030A0"/>
                </a:solidFill>
              </a:rPr>
              <a:t>#define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931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4482" y="2599840"/>
            <a:ext cx="9863527" cy="381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7767" y="713307"/>
            <a:ext cx="8991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15347" y="867947"/>
            <a:ext cx="1046272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Font typeface="Wingdings" pitchFamily="2" charset="2"/>
              <a:buChar char="u"/>
            </a:pPr>
            <a:r>
              <a:rPr lang="zh-CN" altLang="en-US" sz="2400" b="1" dirty="0" smtClean="0">
                <a:solidFill>
                  <a:schemeClr val="accent2"/>
                </a:solidFill>
              </a:rPr>
              <a:t>条件编译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      可以按照不同的条件去编译不同的程序部分，因此产生不同的目标代码。这对于程序的一直和调试时很有用的。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B050"/>
                </a:solidFill>
              </a:rPr>
              <a:t>if</a:t>
            </a:r>
            <a:r>
              <a:rPr lang="zh-CN" altLang="en-US" sz="2400" b="1" dirty="0" smtClean="0">
                <a:solidFill>
                  <a:srgbClr val="00B050"/>
                </a:solidFill>
              </a:rPr>
              <a:t>格式：</a:t>
            </a:r>
            <a:endParaRPr lang="en-US" altLang="zh-CN" sz="2400" b="1" dirty="0" smtClean="0">
              <a:solidFill>
                <a:srgbClr val="00B050"/>
              </a:solidFill>
            </a:endParaRPr>
          </a:p>
          <a:p>
            <a:pPr fontAlgn="base"/>
            <a:r>
              <a:rPr lang="en-US" sz="2400" dirty="0" smtClean="0"/>
              <a:t>    #if </a:t>
            </a:r>
            <a:r>
              <a:rPr lang="zh-CN" altLang="en-US" sz="2400" dirty="0" smtClean="0"/>
              <a:t>条件</a:t>
            </a:r>
          </a:p>
          <a:p>
            <a:pPr fontAlgn="base"/>
            <a:r>
              <a:rPr lang="zh-CN" altLang="en-US" sz="2400" dirty="0" smtClean="0"/>
              <a:t>         语句序列①</a:t>
            </a:r>
          </a:p>
          <a:p>
            <a:pPr fontAlgn="base"/>
            <a:r>
              <a:rPr lang="en-US" altLang="zh-CN" sz="2400" dirty="0" smtClean="0"/>
              <a:t>    #</a:t>
            </a:r>
            <a:r>
              <a:rPr lang="en-US" sz="2400" dirty="0" smtClean="0"/>
              <a:t>else</a:t>
            </a:r>
          </a:p>
          <a:p>
            <a:pPr fontAlgn="base"/>
            <a:r>
              <a:rPr lang="en-US" sz="2400" dirty="0" smtClean="0"/>
              <a:t>         </a:t>
            </a:r>
            <a:r>
              <a:rPr lang="zh-CN" altLang="en-US" sz="2400" dirty="0" smtClean="0"/>
              <a:t>语句序列②</a:t>
            </a:r>
            <a:endParaRPr lang="en-US" altLang="zh-CN" sz="2400" dirty="0" smtClean="0"/>
          </a:p>
          <a:p>
            <a:pPr fontAlgn="base"/>
            <a:r>
              <a:rPr lang="en-US" altLang="zh-CN" sz="2400" dirty="0" smtClean="0"/>
              <a:t>    #</a:t>
            </a:r>
            <a:r>
              <a:rPr lang="en-US" sz="2400" dirty="0" err="1" smtClean="0"/>
              <a:t>endif</a:t>
            </a:r>
            <a:endParaRPr lang="en-US" sz="2400" dirty="0" smtClean="0"/>
          </a:p>
          <a:p>
            <a:pPr fontAlgn="base">
              <a:lnSpc>
                <a:spcPct val="150000"/>
              </a:lnSpc>
            </a:pPr>
            <a:r>
              <a:rPr lang="zh-CN" altLang="en-US" sz="2400" dirty="0" smtClean="0"/>
              <a:t>      命令中的条件通常是一个符号常量，利用定义该符号常量所给定的值来确定条件是否成立。</a:t>
            </a:r>
          </a:p>
          <a:p>
            <a:pPr fontAlgn="base"/>
            <a:endParaRPr lang="en-US" sz="2400" dirty="0" smtClean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4238" y="437893"/>
            <a:ext cx="11421217" cy="5048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1"/>
          <p:cNvSpPr>
            <a:spLocks noChangeArrowheads="1"/>
          </p:cNvSpPr>
          <p:nvPr/>
        </p:nvSpPr>
        <p:spPr bwMode="auto">
          <a:xfrm>
            <a:off x="651556" y="912414"/>
            <a:ext cx="10019666" cy="410881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err="1" smtClean="0">
                <a:ln>
                  <a:noFill/>
                </a:ln>
                <a:solidFill>
                  <a:srgbClr val="00B050"/>
                </a:solidFill>
                <a:effectLst/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ifdef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格式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    #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ifdef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     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宏名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宏名可以是前面定义过的，也可以是前面没有定义过的。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         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语句序列①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    #else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        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语句序列②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    #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endif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accent6"/>
                </a:solidFill>
                <a:effectLst/>
                <a:latin typeface="+mj-ea"/>
                <a:ea typeface="+mj-ea"/>
                <a:cs typeface="Arial" pitchFamily="34" charset="0"/>
              </a:rPr>
              <a:t>功能：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当宏名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(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标识符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已被定义时（用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#define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定义），编译语句序列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①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，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否则编译语句序列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②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。其中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#else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和语句序列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②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可有可无。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0073" y="530586"/>
            <a:ext cx="9296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4.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指针和数组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指针就是地址，对指针的操作就是对地址的操作。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利用指针可以将数值存储到指定的内存地址</a:t>
            </a:r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153" y="1611863"/>
            <a:ext cx="31813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4415" y="4054345"/>
            <a:ext cx="71056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749281" y="4068147"/>
            <a:ext cx="2472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强制类型转换</a:t>
            </a:r>
            <a:endParaRPr lang="zh-CN" altLang="en-US" dirty="0"/>
          </a:p>
        </p:txBody>
      </p:sp>
      <p:sp>
        <p:nvSpPr>
          <p:cNvPr id="12" name="右箭头 11"/>
          <p:cNvSpPr/>
          <p:nvPr/>
        </p:nvSpPr>
        <p:spPr>
          <a:xfrm>
            <a:off x="3881535" y="4226767"/>
            <a:ext cx="727787" cy="177281"/>
          </a:xfrm>
          <a:prstGeom prst="rightArrow">
            <a:avLst/>
          </a:prstGeom>
          <a:solidFill>
            <a:schemeClr val="accent4"/>
          </a:solidFill>
          <a:ln>
            <a:solidFill>
              <a:schemeClr val="tx2"/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dirty="0" smtClean="0">
              <a:solidFill>
                <a:srgbClr val="5494C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0935" y="381259"/>
            <a:ext cx="11197493" cy="5916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665" y="619125"/>
            <a:ext cx="41052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307" y="1689100"/>
            <a:ext cx="11278327" cy="3405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681031" y="1248357"/>
            <a:ext cx="10767630" cy="11276"/>
          </a:xfrm>
          <a:prstGeom prst="line">
            <a:avLst/>
          </a:prstGeom>
          <a:ln w="19050" cap="flat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>
          <a:xfrm>
            <a:off x="1041296" y="706493"/>
            <a:ext cx="10058400" cy="683771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 smtClean="0">
                <a:solidFill>
                  <a:srgbClr val="14529E"/>
                </a:solidFill>
              </a:rPr>
              <a:t>4.2 </a:t>
            </a:r>
            <a:r>
              <a:rPr lang="en-US" altLang="zh-CN" sz="3200" b="1" dirty="0" smtClean="0">
                <a:solidFill>
                  <a:srgbClr val="14529E"/>
                </a:solidFill>
              </a:rPr>
              <a:t>Cortex</a:t>
            </a:r>
            <a:r>
              <a:rPr lang="zh-CN" altLang="en-US" sz="3200" b="1" dirty="0" smtClean="0">
                <a:solidFill>
                  <a:srgbClr val="14529E"/>
                </a:solidFill>
              </a:rPr>
              <a:t>微控制软件接口标准</a:t>
            </a:r>
          </a:p>
        </p:txBody>
      </p:sp>
      <p:sp>
        <p:nvSpPr>
          <p:cNvPr id="9" name="矩形 8"/>
          <p:cNvSpPr/>
          <p:nvPr/>
        </p:nvSpPr>
        <p:spPr>
          <a:xfrm>
            <a:off x="690465" y="1430131"/>
            <a:ext cx="106928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ARM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：芯片架构商</a:t>
            </a:r>
            <a:r>
              <a:rPr lang="zh-CN" altLang="en-US" sz="2400" dirty="0" smtClean="0"/>
              <a:t>，负责芯片内核的架构设计。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ST,TI: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芯片生产商，</a:t>
            </a:r>
            <a:r>
              <a:rPr lang="zh-CN" altLang="en-US" sz="2400" dirty="0" smtClean="0"/>
              <a:t>根据</a:t>
            </a:r>
            <a:r>
              <a:rPr lang="en-US" sz="2400" dirty="0" smtClean="0"/>
              <a:t>ARM</a:t>
            </a:r>
            <a:r>
              <a:rPr lang="zh-CN" altLang="en-US" sz="2400" dirty="0" smtClean="0"/>
              <a:t>公司提供的芯片内核标准设计自己的芯片。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任何一个</a:t>
            </a: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Cortex-M3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芯片，他们的内核结构都是一样的，不同的是他们的存储器容量，片上外设，</a:t>
            </a: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IO</a:t>
            </a:r>
            <a:r>
              <a:rPr lang="zh-CN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以及其他模块的区别。</a:t>
            </a:r>
            <a:r>
              <a:rPr lang="zh-CN" altLang="en-US" sz="2400" dirty="0" smtClean="0"/>
              <a:t>不同公司设计的</a:t>
            </a:r>
            <a:r>
              <a:rPr lang="en-US" sz="2400" dirty="0" smtClean="0"/>
              <a:t>cortex-M3</a:t>
            </a:r>
            <a:r>
              <a:rPr lang="zh-CN" altLang="en-US" sz="2400" dirty="0" smtClean="0"/>
              <a:t>芯片他们的端口数量，串口数量，控制方法这些都是有区别的，这些资源他们可以根据自己的需求理念来设计。同一家公司设计的多种</a:t>
            </a:r>
            <a:r>
              <a:rPr lang="en-US" sz="2400" dirty="0" smtClean="0"/>
              <a:t>cortex-M3</a:t>
            </a:r>
            <a:r>
              <a:rPr lang="zh-CN" altLang="en-US" sz="2400" dirty="0" smtClean="0"/>
              <a:t>内核芯片的片上外设也会有很大的区别，比如</a:t>
            </a:r>
            <a:r>
              <a:rPr lang="en-US" sz="2400" dirty="0" smtClean="0"/>
              <a:t>STM32F103RBT</a:t>
            </a:r>
            <a:r>
              <a:rPr lang="zh-CN" altLang="en-US" sz="2400" dirty="0" smtClean="0"/>
              <a:t>和</a:t>
            </a:r>
            <a:r>
              <a:rPr lang="en-US" sz="2400" dirty="0" smtClean="0"/>
              <a:t>STM32F103ZET</a:t>
            </a:r>
            <a:r>
              <a:rPr lang="zh-CN" altLang="en-US" sz="2400" dirty="0" smtClean="0"/>
              <a:t>，他们的片上外设就有很大的区别。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5538" y="914400"/>
            <a:ext cx="740092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929" y="437083"/>
            <a:ext cx="5172463" cy="366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6770913" y="546644"/>
            <a:ext cx="501364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CMSIS</a:t>
            </a:r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</a:rPr>
              <a:t>分为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</a:rPr>
              <a:t>个基本功能层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：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①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 </a:t>
            </a:r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</a:rPr>
              <a:t>核内外设访问层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：</a:t>
            </a:r>
            <a:r>
              <a:rPr lang="en-US" dirty="0" smtClean="0"/>
              <a:t>ARM</a:t>
            </a:r>
            <a:r>
              <a:rPr lang="zh-CN" altLang="en-US" dirty="0" smtClean="0"/>
              <a:t>公司提供的访问，定义处理器内部寄存器地址以及功能函数。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②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 </a:t>
            </a:r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</a:rPr>
              <a:t>中间件访问层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：</a:t>
            </a:r>
            <a:r>
              <a:rPr lang="zh-CN" altLang="en-US" dirty="0" smtClean="0"/>
              <a:t>定义访问中间件的通用</a:t>
            </a:r>
            <a:r>
              <a:rPr lang="en-US" dirty="0" smtClean="0"/>
              <a:t>API</a:t>
            </a:r>
            <a:r>
              <a:rPr lang="zh-CN" altLang="en-US" dirty="0" smtClean="0"/>
              <a:t>，也是</a:t>
            </a:r>
            <a:r>
              <a:rPr lang="en-US" dirty="0" smtClean="0"/>
              <a:t>ARM</a:t>
            </a:r>
            <a:r>
              <a:rPr lang="zh-CN" altLang="en-US" dirty="0" smtClean="0"/>
              <a:t>公司提供。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③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 </a:t>
            </a:r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</a:rPr>
              <a:t>外设访问层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</a:rPr>
              <a:t>：</a:t>
            </a:r>
            <a:r>
              <a:rPr lang="zh-CN" altLang="en-US" dirty="0" smtClean="0"/>
              <a:t>定义硬件寄存器的地址以及外设的访问函数。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zh-CN" altLang="en-US" dirty="0" smtClean="0"/>
              <a:t>从图中可以看出，</a:t>
            </a:r>
            <a:r>
              <a:rPr lang="en-US" b="1" dirty="0" smtClean="0"/>
              <a:t>CMSIS</a:t>
            </a:r>
            <a:r>
              <a:rPr lang="zh-CN" altLang="en-US" b="1" dirty="0" smtClean="0"/>
              <a:t>层在整个系统中是处于中间层，向下负责与内核和各个外设直接打交道，向上提供实时操作系统用户程序调用的函数接口</a:t>
            </a:r>
            <a:r>
              <a:rPr lang="zh-CN" altLang="en-US" dirty="0" smtClean="0"/>
              <a:t>。如果没有</a:t>
            </a:r>
            <a:r>
              <a:rPr lang="en-US" dirty="0" smtClean="0"/>
              <a:t>CMSIS</a:t>
            </a:r>
            <a:r>
              <a:rPr lang="zh-CN" altLang="en-US" dirty="0" smtClean="0"/>
              <a:t>标准，那么各个芯片公司就会设计自己喜欢的风格的库函数，而</a:t>
            </a:r>
            <a:r>
              <a:rPr lang="en-US" dirty="0" smtClean="0"/>
              <a:t>CMSIS</a:t>
            </a:r>
            <a:r>
              <a:rPr lang="zh-CN" altLang="en-US" dirty="0" smtClean="0"/>
              <a:t>标准就是要强制规定，芯片生产公司设计的库函数必须按照</a:t>
            </a:r>
            <a:r>
              <a:rPr lang="en-US" dirty="0" smtClean="0"/>
              <a:t>CMSIS</a:t>
            </a:r>
            <a:r>
              <a:rPr lang="zh-CN" altLang="en-US" dirty="0" smtClean="0"/>
              <a:t>这套规范来设计。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67477" y="404473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</a:rPr>
              <a:t>例：</a:t>
            </a:r>
            <a:r>
              <a:rPr lang="zh-CN" altLang="en-US" dirty="0" smtClean="0"/>
              <a:t>我们在使用</a:t>
            </a:r>
            <a:r>
              <a:rPr lang="en-US" altLang="zh-CN" dirty="0" smtClean="0"/>
              <a:t>STM32</a:t>
            </a:r>
            <a:r>
              <a:rPr lang="zh-CN" altLang="en-US" dirty="0" smtClean="0"/>
              <a:t>芯片的时候首先要进行系统初始化，</a:t>
            </a:r>
            <a:r>
              <a:rPr lang="en-US" altLang="zh-CN" dirty="0" smtClean="0"/>
              <a:t>CMSIS</a:t>
            </a:r>
            <a:r>
              <a:rPr lang="zh-CN" altLang="en-US" dirty="0" smtClean="0"/>
              <a:t>规范就规定，系统初始化函数名字必须为</a:t>
            </a:r>
            <a:r>
              <a:rPr lang="en-US" altLang="zh-CN" dirty="0" err="1" smtClean="0"/>
              <a:t>SystemInit</a:t>
            </a:r>
            <a:r>
              <a:rPr lang="zh-CN" altLang="en-US" dirty="0" smtClean="0"/>
              <a:t>，所以各个芯片公司写自己的库函数的时候就必须用</a:t>
            </a:r>
            <a:r>
              <a:rPr lang="en-US" altLang="zh-CN" dirty="0" err="1" smtClean="0"/>
              <a:t>SystemInit</a:t>
            </a:r>
            <a:r>
              <a:rPr lang="zh-CN" altLang="en-US" dirty="0" smtClean="0"/>
              <a:t>对系统进行初始化。</a:t>
            </a:r>
            <a:r>
              <a:rPr lang="en-US" altLang="zh-CN" dirty="0" smtClean="0"/>
              <a:t>CMSIS</a:t>
            </a:r>
            <a:r>
              <a:rPr lang="zh-CN" altLang="en-US" dirty="0" smtClean="0"/>
              <a:t>还对各个外设驱动文件的文件名字规范化，以及函数名字规范化等等一系列规定。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>
            <a:off x="1427480" y="1257688"/>
            <a:ext cx="9674225" cy="9525"/>
          </a:xfrm>
          <a:prstGeom prst="line">
            <a:avLst/>
          </a:prstGeom>
          <a:ln w="19050" cap="flat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>
            <a:spLocks/>
          </p:cNvSpPr>
          <p:nvPr/>
        </p:nvSpPr>
        <p:spPr>
          <a:xfrm>
            <a:off x="1059957" y="650509"/>
            <a:ext cx="10058400" cy="683771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 smtClean="0">
                <a:solidFill>
                  <a:srgbClr val="14529E"/>
                </a:solidFill>
              </a:rPr>
              <a:t>4.3 </a:t>
            </a:r>
            <a:r>
              <a:rPr lang="en-US" altLang="zh-CN" sz="3200" b="1" dirty="0" err="1" smtClean="0">
                <a:solidFill>
                  <a:srgbClr val="14529E"/>
                </a:solidFill>
              </a:rPr>
              <a:t>FWLib</a:t>
            </a:r>
            <a:r>
              <a:rPr lang="zh-CN" altLang="en-US" sz="3200" b="1" dirty="0" smtClean="0">
                <a:solidFill>
                  <a:srgbClr val="14529E"/>
                </a:solidFill>
              </a:rPr>
              <a:t>固件库</a:t>
            </a:r>
          </a:p>
        </p:txBody>
      </p:sp>
      <p:sp>
        <p:nvSpPr>
          <p:cNvPr id="80897" name="Rectangle 1"/>
          <p:cNvSpPr>
            <a:spLocks noChangeArrowheads="1"/>
          </p:cNvSpPr>
          <p:nvPr/>
        </p:nvSpPr>
        <p:spPr bwMode="auto">
          <a:xfrm>
            <a:off x="671804" y="1343608"/>
            <a:ext cx="1079551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        STM32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标准外设库之前的版本也称固件函数库或简称固件库。是一个固件函数包，由程序、数据结构和宏组成，把开阔微控制器所有外设的性能特征。该函数库还包括每一个外设的驱动描述和应用实例，为开发者访问底层硬件提供了一个中间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API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，开发者 无需掌握底层硬件的细节，可以轻松应用每一个外设。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rgbClr val="4D4D4D"/>
              </a:solidFill>
              <a:effectLst/>
              <a:latin typeface="Arial" pitchFamily="34" charset="0"/>
              <a:ea typeface="宋体" pitchFamily="2" charset="-122"/>
              <a:cs typeface="Arial" pitchFamily="34" charset="0"/>
            </a:endParaRPr>
          </a:p>
          <a:p>
            <a:pPr>
              <a:lnSpc>
                <a:spcPct val="1500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000" dirty="0" smtClean="0"/>
              <a:t>①每个外设驱动都由一组函数组成，这组函数覆盖了该外设所有功能。</a:t>
            </a:r>
          </a:p>
          <a:p>
            <a:pPr>
              <a:lnSpc>
                <a:spcPct val="1500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000" dirty="0" smtClean="0"/>
              <a:t>②每个器件的开发都由一个通用</a:t>
            </a:r>
            <a:r>
              <a:rPr lang="en-US" sz="2000" dirty="0" smtClean="0"/>
              <a:t>API</a:t>
            </a:r>
            <a:r>
              <a:rPr lang="zh-CN" altLang="en-US" sz="2000" dirty="0" smtClean="0"/>
              <a:t>驱动，</a:t>
            </a:r>
            <a:r>
              <a:rPr lang="en-US" sz="2000" dirty="0" smtClean="0"/>
              <a:t>API</a:t>
            </a:r>
            <a:r>
              <a:rPr lang="zh-CN" altLang="en-US" sz="2000" dirty="0" smtClean="0"/>
              <a:t>对该驱动程序的结构、参数名称和函数都进行了标准化</a:t>
            </a:r>
          </a:p>
          <a:p>
            <a:pPr>
              <a:lnSpc>
                <a:spcPct val="1500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000" dirty="0" smtClean="0"/>
              <a:t>③严格按照</a:t>
            </a:r>
            <a:r>
              <a:rPr lang="en-US" sz="2000" dirty="0" smtClean="0"/>
              <a:t>ANSI-C</a:t>
            </a:r>
            <a:r>
              <a:rPr lang="zh-CN" altLang="en-US" sz="2000" dirty="0" smtClean="0"/>
              <a:t>标准编写，使固件库的使用不受开发环境的影响，可移植性好</a:t>
            </a:r>
          </a:p>
          <a:p>
            <a:pPr>
              <a:lnSpc>
                <a:spcPct val="1500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000" dirty="0" smtClean="0"/>
              <a:t>④有动态的校验对输入进行检测，使软件有很好的鲁棒性</a:t>
            </a:r>
          </a:p>
          <a:p>
            <a:pPr>
              <a:lnSpc>
                <a:spcPct val="1500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u"/>
            </a:pPr>
            <a:r>
              <a:rPr lang="zh-CN" altLang="en-US" sz="2000" dirty="0" smtClean="0"/>
              <a:t>⑤对相应系列的微控制器具有通用性，使用时对固件库进行相应的配置即可。</a:t>
            </a:r>
            <a:endParaRPr kumimoji="0" lang="zh-CN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M_BEAUTIFY_ZORDER_FLAG_TAG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M_BEAUTIFY_ZORDER_FLAG_TAG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M_BEAUTIFY_ZORDER_FLAG_TAG" val="2"/>
</p:tagLst>
</file>

<file path=ppt/theme/theme1.xml><?xml version="1.0" encoding="utf-8"?>
<a:theme xmlns:a="http://schemas.openxmlformats.org/drawingml/2006/main" name="Office 主题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accent1"/>
          </a:solidFill>
        </a:ln>
      </a:spPr>
      <a:bodyPr rtlCol="0" anchor="ctr"/>
      <a:lstStyle>
        <a:defPPr algn="ctr">
          <a:defRPr sz="5400" dirty="0" smtClean="0">
            <a:solidFill>
              <a:srgbClr val="5494C3"/>
            </a:solidFill>
          </a:defRPr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jwangyu">
  <a:themeElements>
    <a:clrScheme name="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18C80"/>
      </a:accent1>
      <a:accent2>
        <a:srgbClr val="F2CF61"/>
      </a:accent2>
      <a:accent3>
        <a:srgbClr val="A6E582"/>
      </a:accent3>
      <a:accent4>
        <a:srgbClr val="51D9B5"/>
      </a:accent4>
      <a:accent5>
        <a:srgbClr val="D95B5B"/>
      </a:accent5>
      <a:accent6>
        <a:srgbClr val="BFBFBF"/>
      </a:accent6>
      <a:hlink>
        <a:srgbClr val="D95B5B"/>
      </a:hlink>
      <a:folHlink>
        <a:srgbClr val="F2CF61"/>
      </a:folHlink>
    </a:clrScheme>
    <a:fontScheme name="雅黑light">
      <a:majorFont>
        <a:latin typeface="Century Gothic"/>
        <a:ea typeface="微软雅黑"/>
        <a:cs typeface=""/>
      </a:majorFont>
      <a:minorFont>
        <a:latin typeface="Century Gothic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</TotalTime>
  <Words>935</Words>
  <Application>Microsoft Office PowerPoint</Application>
  <PresentationFormat>自定义</PresentationFormat>
  <Paragraphs>87</Paragraphs>
  <Slides>24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Office 主题</vt:lpstr>
      <vt:lpstr>mjwangyu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mjwangyu</dc:creator>
  <cp:lastModifiedBy>asus</cp:lastModifiedBy>
  <cp:revision>238</cp:revision>
  <dcterms:created xsi:type="dcterms:W3CDTF">2017-06-03T01:25:00Z</dcterms:created>
  <dcterms:modified xsi:type="dcterms:W3CDTF">2020-10-13T03:46:26Z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